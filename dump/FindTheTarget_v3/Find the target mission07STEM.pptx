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6"/>
  </p:notesMasterIdLst>
  <p:sldIdLst>
    <p:sldId id="256" r:id="rId2"/>
    <p:sldId id="257" r:id="rId3"/>
    <p:sldId id="258" r:id="rId4"/>
    <p:sldId id="273" r:id="rId5"/>
    <p:sldId id="274" r:id="rId6"/>
    <p:sldId id="321" r:id="rId7"/>
    <p:sldId id="1475" r:id="rId8"/>
    <p:sldId id="1476" r:id="rId9"/>
    <p:sldId id="290" r:id="rId10"/>
    <p:sldId id="1477" r:id="rId11"/>
    <p:sldId id="275" r:id="rId12"/>
    <p:sldId id="276" r:id="rId13"/>
    <p:sldId id="1478" r:id="rId14"/>
    <p:sldId id="2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584"/>
    <p:restoredTop sz="94658"/>
  </p:normalViewPr>
  <p:slideViewPr>
    <p:cSldViewPr snapToGrid="0">
      <p:cViewPr varScale="1">
        <p:scale>
          <a:sx n="105" d="100"/>
          <a:sy n="105" d="100"/>
        </p:scale>
        <p:origin x="192" y="5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8DB04E-F611-394E-8DBD-34F4C3830E6A}" type="datetimeFigureOut">
              <a:rPr lang="en-US" smtClean="0"/>
              <a:t>7/1/26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CFFD86-B72B-3649-BE88-98970F51E448}" type="slidenum">
              <a:rPr lang="en-US" smtClean="0"/>
              <a:t>‹#›</a:t>
            </a:fld>
            <a:endParaRPr lang="en-US"/>
          </a:p>
        </p:txBody>
      </p:sp>
    </p:spTree>
    <p:extLst>
      <p:ext uri="{BB962C8B-B14F-4D97-AF65-F5344CB8AC3E}">
        <p14:creationId xmlns:p14="http://schemas.microsoft.com/office/powerpoint/2010/main" val="740535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EE3E3-A12E-03DD-BC3C-E441D9A116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A8DC6F-2C95-B61A-84B9-969CB3099B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939087-0245-11B6-0B3E-DDF0C7486201}"/>
              </a:ext>
            </a:extLst>
          </p:cNvPr>
          <p:cNvSpPr>
            <a:spLocks noGrp="1"/>
          </p:cNvSpPr>
          <p:nvPr>
            <p:ph type="dt" sz="half" idx="10"/>
          </p:nvPr>
        </p:nvSpPr>
        <p:spPr/>
        <p:txBody>
          <a:bodyPr/>
          <a:lstStyle/>
          <a:p>
            <a:fld id="{7858C810-0766-C44A-AFD5-6FE5D2ACE351}" type="datetime1">
              <a:rPr lang="en-US" smtClean="0"/>
              <a:t>7/1/26</a:t>
            </a:fld>
            <a:endParaRPr lang="en-US"/>
          </a:p>
        </p:txBody>
      </p:sp>
      <p:sp>
        <p:nvSpPr>
          <p:cNvPr id="5" name="Footer Placeholder 4">
            <a:extLst>
              <a:ext uri="{FF2B5EF4-FFF2-40B4-BE49-F238E27FC236}">
                <a16:creationId xmlns:a16="http://schemas.microsoft.com/office/drawing/2014/main" id="{30225576-0427-503B-C1EF-BAEB172209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0BD714-BD4E-F37E-6C95-4244C86865F3}"/>
              </a:ext>
            </a:extLst>
          </p:cNvPr>
          <p:cNvSpPr>
            <a:spLocks noGrp="1"/>
          </p:cNvSpPr>
          <p:nvPr>
            <p:ph type="sldNum" sz="quarter" idx="12"/>
          </p:nvPr>
        </p:nvSpPr>
        <p:spPr/>
        <p:txBody>
          <a:bodyPr/>
          <a:lstStyle/>
          <a:p>
            <a:fld id="{0A6ADF2A-7A11-0149-A2B5-0401FD350CDC}" type="slidenum">
              <a:rPr lang="en-US" smtClean="0"/>
              <a:t>‹#›</a:t>
            </a:fld>
            <a:endParaRPr lang="en-US"/>
          </a:p>
        </p:txBody>
      </p:sp>
    </p:spTree>
    <p:extLst>
      <p:ext uri="{BB962C8B-B14F-4D97-AF65-F5344CB8AC3E}">
        <p14:creationId xmlns:p14="http://schemas.microsoft.com/office/powerpoint/2010/main" val="3255188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30769-56A6-0A95-898E-48A967E705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53BFBB-89BC-D538-F717-376702412D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C97AF0-2C19-24C0-35E6-EE35BA09BECF}"/>
              </a:ext>
            </a:extLst>
          </p:cNvPr>
          <p:cNvSpPr>
            <a:spLocks noGrp="1"/>
          </p:cNvSpPr>
          <p:nvPr>
            <p:ph type="dt" sz="half" idx="10"/>
          </p:nvPr>
        </p:nvSpPr>
        <p:spPr/>
        <p:txBody>
          <a:bodyPr/>
          <a:lstStyle/>
          <a:p>
            <a:fld id="{CE74D17C-1CFE-E74F-80B0-337EAEC96B81}" type="datetime1">
              <a:rPr lang="en-US" smtClean="0"/>
              <a:t>7/1/26</a:t>
            </a:fld>
            <a:endParaRPr lang="en-US"/>
          </a:p>
        </p:txBody>
      </p:sp>
      <p:sp>
        <p:nvSpPr>
          <p:cNvPr id="5" name="Footer Placeholder 4">
            <a:extLst>
              <a:ext uri="{FF2B5EF4-FFF2-40B4-BE49-F238E27FC236}">
                <a16:creationId xmlns:a16="http://schemas.microsoft.com/office/drawing/2014/main" id="{F611666F-C9F3-A0EB-0E95-BB6D555A13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8A33F4-9AEA-1902-D33F-65D81A91977B}"/>
              </a:ext>
            </a:extLst>
          </p:cNvPr>
          <p:cNvSpPr>
            <a:spLocks noGrp="1"/>
          </p:cNvSpPr>
          <p:nvPr>
            <p:ph type="sldNum" sz="quarter" idx="12"/>
          </p:nvPr>
        </p:nvSpPr>
        <p:spPr/>
        <p:txBody>
          <a:bodyPr/>
          <a:lstStyle/>
          <a:p>
            <a:fld id="{0A6ADF2A-7A11-0149-A2B5-0401FD350CDC}" type="slidenum">
              <a:rPr lang="en-US" smtClean="0"/>
              <a:t>‹#›</a:t>
            </a:fld>
            <a:endParaRPr lang="en-US"/>
          </a:p>
        </p:txBody>
      </p:sp>
    </p:spTree>
    <p:extLst>
      <p:ext uri="{BB962C8B-B14F-4D97-AF65-F5344CB8AC3E}">
        <p14:creationId xmlns:p14="http://schemas.microsoft.com/office/powerpoint/2010/main" val="2167346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1B1F2-B045-F5D6-6FC7-5834FE4BC4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FD59F8E-8DD7-D017-2774-ECBD717C240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9867F5-CABD-7296-FA84-8814A2205994}"/>
              </a:ext>
            </a:extLst>
          </p:cNvPr>
          <p:cNvSpPr>
            <a:spLocks noGrp="1"/>
          </p:cNvSpPr>
          <p:nvPr>
            <p:ph type="dt" sz="half" idx="10"/>
          </p:nvPr>
        </p:nvSpPr>
        <p:spPr/>
        <p:txBody>
          <a:bodyPr/>
          <a:lstStyle/>
          <a:p>
            <a:fld id="{7C2E77EA-7CE8-A14E-B21C-542576F5BC47}" type="datetime1">
              <a:rPr lang="en-US" smtClean="0"/>
              <a:t>7/1/26</a:t>
            </a:fld>
            <a:endParaRPr lang="en-US"/>
          </a:p>
        </p:txBody>
      </p:sp>
      <p:sp>
        <p:nvSpPr>
          <p:cNvPr id="5" name="Footer Placeholder 4">
            <a:extLst>
              <a:ext uri="{FF2B5EF4-FFF2-40B4-BE49-F238E27FC236}">
                <a16:creationId xmlns:a16="http://schemas.microsoft.com/office/drawing/2014/main" id="{135D259E-4AFB-3F8F-8ACC-CEBF5CF52A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3F8691-3C22-3F24-4946-587EEFD6A1C4}"/>
              </a:ext>
            </a:extLst>
          </p:cNvPr>
          <p:cNvSpPr>
            <a:spLocks noGrp="1"/>
          </p:cNvSpPr>
          <p:nvPr>
            <p:ph type="sldNum" sz="quarter" idx="12"/>
          </p:nvPr>
        </p:nvSpPr>
        <p:spPr/>
        <p:txBody>
          <a:bodyPr/>
          <a:lstStyle/>
          <a:p>
            <a:fld id="{0A6ADF2A-7A11-0149-A2B5-0401FD350CDC}" type="slidenum">
              <a:rPr lang="en-US" smtClean="0"/>
              <a:t>‹#›</a:t>
            </a:fld>
            <a:endParaRPr lang="en-US"/>
          </a:p>
        </p:txBody>
      </p:sp>
    </p:spTree>
    <p:extLst>
      <p:ext uri="{BB962C8B-B14F-4D97-AF65-F5344CB8AC3E}">
        <p14:creationId xmlns:p14="http://schemas.microsoft.com/office/powerpoint/2010/main" val="3446925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FA0BC-D085-8897-28E5-1C624F6DEF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47B375-7B0C-CD4D-5366-0F004FDCF0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D1771-83C5-137E-CB43-0F6A988F82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3A065C-C622-03DE-BD5D-8E1E64582FE2}"/>
              </a:ext>
            </a:extLst>
          </p:cNvPr>
          <p:cNvSpPr>
            <a:spLocks noGrp="1"/>
          </p:cNvSpPr>
          <p:nvPr>
            <p:ph type="dt" sz="half" idx="10"/>
          </p:nvPr>
        </p:nvSpPr>
        <p:spPr/>
        <p:txBody>
          <a:bodyPr/>
          <a:lstStyle/>
          <a:p>
            <a:fld id="{4B22106F-ECB9-4545-8799-D37B789719B1}" type="datetime1">
              <a:rPr lang="en-US" smtClean="0"/>
              <a:t>7/1/26</a:t>
            </a:fld>
            <a:endParaRPr lang="en-US"/>
          </a:p>
        </p:txBody>
      </p:sp>
      <p:sp>
        <p:nvSpPr>
          <p:cNvPr id="6" name="Footer Placeholder 5">
            <a:extLst>
              <a:ext uri="{FF2B5EF4-FFF2-40B4-BE49-F238E27FC236}">
                <a16:creationId xmlns:a16="http://schemas.microsoft.com/office/drawing/2014/main" id="{28AA1CC6-1D7A-2C37-173B-746A980D3C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0FA377-BE79-ECD1-5282-E76B175EFBB1}"/>
              </a:ext>
            </a:extLst>
          </p:cNvPr>
          <p:cNvSpPr>
            <a:spLocks noGrp="1"/>
          </p:cNvSpPr>
          <p:nvPr>
            <p:ph type="sldNum" sz="quarter" idx="12"/>
          </p:nvPr>
        </p:nvSpPr>
        <p:spPr/>
        <p:txBody>
          <a:bodyPr/>
          <a:lstStyle/>
          <a:p>
            <a:fld id="{0A6ADF2A-7A11-0149-A2B5-0401FD350CDC}" type="slidenum">
              <a:rPr lang="en-US" smtClean="0"/>
              <a:t>‹#›</a:t>
            </a:fld>
            <a:endParaRPr lang="en-US"/>
          </a:p>
        </p:txBody>
      </p:sp>
    </p:spTree>
    <p:extLst>
      <p:ext uri="{BB962C8B-B14F-4D97-AF65-F5344CB8AC3E}">
        <p14:creationId xmlns:p14="http://schemas.microsoft.com/office/powerpoint/2010/main" val="2096123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81FE0-5B51-9BD8-FC15-A52498E66C8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4CB815D-5396-E543-980E-E7577B0B12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EC5E18-6C3D-B01E-6274-6FFD56D77E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A5EFCC-5EA0-3730-BF2E-5B9D6BDD08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B4420C-C2E6-C1A7-493C-C6CB79D5EA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32EB37-2343-3879-C83C-1DCB6D8DF534}"/>
              </a:ext>
            </a:extLst>
          </p:cNvPr>
          <p:cNvSpPr>
            <a:spLocks noGrp="1"/>
          </p:cNvSpPr>
          <p:nvPr>
            <p:ph type="dt" sz="half" idx="10"/>
          </p:nvPr>
        </p:nvSpPr>
        <p:spPr/>
        <p:txBody>
          <a:bodyPr/>
          <a:lstStyle/>
          <a:p>
            <a:fld id="{CF574663-AF93-C04C-8C74-56F34326762F}" type="datetime1">
              <a:rPr lang="en-US" smtClean="0"/>
              <a:t>7/1/26</a:t>
            </a:fld>
            <a:endParaRPr lang="en-US"/>
          </a:p>
        </p:txBody>
      </p:sp>
      <p:sp>
        <p:nvSpPr>
          <p:cNvPr id="8" name="Footer Placeholder 7">
            <a:extLst>
              <a:ext uri="{FF2B5EF4-FFF2-40B4-BE49-F238E27FC236}">
                <a16:creationId xmlns:a16="http://schemas.microsoft.com/office/drawing/2014/main" id="{0B4426E3-59F7-0C68-4432-5BFEF6A4134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AEFE71-3DF4-F0C9-0148-37B1E2340D6D}"/>
              </a:ext>
            </a:extLst>
          </p:cNvPr>
          <p:cNvSpPr>
            <a:spLocks noGrp="1"/>
          </p:cNvSpPr>
          <p:nvPr>
            <p:ph type="sldNum" sz="quarter" idx="12"/>
          </p:nvPr>
        </p:nvSpPr>
        <p:spPr/>
        <p:txBody>
          <a:bodyPr/>
          <a:lstStyle/>
          <a:p>
            <a:fld id="{0A6ADF2A-7A11-0149-A2B5-0401FD350CDC}" type="slidenum">
              <a:rPr lang="en-US" smtClean="0"/>
              <a:t>‹#›</a:t>
            </a:fld>
            <a:endParaRPr lang="en-US"/>
          </a:p>
        </p:txBody>
      </p:sp>
    </p:spTree>
    <p:extLst>
      <p:ext uri="{BB962C8B-B14F-4D97-AF65-F5344CB8AC3E}">
        <p14:creationId xmlns:p14="http://schemas.microsoft.com/office/powerpoint/2010/main" val="4218339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E2DB7-7357-FF18-5817-FC3E7D6A95D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4027371-253C-B217-B065-FFE5DB3C4C9C}"/>
              </a:ext>
            </a:extLst>
          </p:cNvPr>
          <p:cNvSpPr>
            <a:spLocks noGrp="1"/>
          </p:cNvSpPr>
          <p:nvPr>
            <p:ph type="dt" sz="half" idx="10"/>
          </p:nvPr>
        </p:nvSpPr>
        <p:spPr/>
        <p:txBody>
          <a:bodyPr/>
          <a:lstStyle/>
          <a:p>
            <a:fld id="{32A6F05E-6610-7443-A524-1C15F787A25C}" type="datetime1">
              <a:rPr lang="en-US" smtClean="0"/>
              <a:t>7/1/26</a:t>
            </a:fld>
            <a:endParaRPr lang="en-US"/>
          </a:p>
        </p:txBody>
      </p:sp>
      <p:sp>
        <p:nvSpPr>
          <p:cNvPr id="4" name="Footer Placeholder 3">
            <a:extLst>
              <a:ext uri="{FF2B5EF4-FFF2-40B4-BE49-F238E27FC236}">
                <a16:creationId xmlns:a16="http://schemas.microsoft.com/office/drawing/2014/main" id="{71262831-2555-E974-AB50-7A2EC2561F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594D0A-5539-D16B-D343-DA0CA5E71538}"/>
              </a:ext>
            </a:extLst>
          </p:cNvPr>
          <p:cNvSpPr>
            <a:spLocks noGrp="1"/>
          </p:cNvSpPr>
          <p:nvPr>
            <p:ph type="sldNum" sz="quarter" idx="12"/>
          </p:nvPr>
        </p:nvSpPr>
        <p:spPr/>
        <p:txBody>
          <a:bodyPr/>
          <a:lstStyle/>
          <a:p>
            <a:fld id="{0A6ADF2A-7A11-0149-A2B5-0401FD350CDC}" type="slidenum">
              <a:rPr lang="en-US" smtClean="0"/>
              <a:t>‹#›</a:t>
            </a:fld>
            <a:endParaRPr lang="en-US"/>
          </a:p>
        </p:txBody>
      </p:sp>
    </p:spTree>
    <p:extLst>
      <p:ext uri="{BB962C8B-B14F-4D97-AF65-F5344CB8AC3E}">
        <p14:creationId xmlns:p14="http://schemas.microsoft.com/office/powerpoint/2010/main" val="3858939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9136C1-7303-D673-FAA1-A1B7CC8912E4}"/>
              </a:ext>
            </a:extLst>
          </p:cNvPr>
          <p:cNvSpPr>
            <a:spLocks noGrp="1"/>
          </p:cNvSpPr>
          <p:nvPr>
            <p:ph type="dt" sz="half" idx="10"/>
          </p:nvPr>
        </p:nvSpPr>
        <p:spPr/>
        <p:txBody>
          <a:bodyPr/>
          <a:lstStyle/>
          <a:p>
            <a:fld id="{5F5DA10D-6838-574E-8438-B580A88E7440}" type="datetime1">
              <a:rPr lang="en-US" smtClean="0"/>
              <a:t>7/1/26</a:t>
            </a:fld>
            <a:endParaRPr lang="en-US"/>
          </a:p>
        </p:txBody>
      </p:sp>
      <p:sp>
        <p:nvSpPr>
          <p:cNvPr id="3" name="Footer Placeholder 2">
            <a:extLst>
              <a:ext uri="{FF2B5EF4-FFF2-40B4-BE49-F238E27FC236}">
                <a16:creationId xmlns:a16="http://schemas.microsoft.com/office/drawing/2014/main" id="{0B67FA1E-9313-B39C-C1EA-C305B192F6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D824C1-2723-EDF1-5132-C29190FA2284}"/>
              </a:ext>
            </a:extLst>
          </p:cNvPr>
          <p:cNvSpPr>
            <a:spLocks noGrp="1"/>
          </p:cNvSpPr>
          <p:nvPr>
            <p:ph type="sldNum" sz="quarter" idx="12"/>
          </p:nvPr>
        </p:nvSpPr>
        <p:spPr/>
        <p:txBody>
          <a:bodyPr/>
          <a:lstStyle/>
          <a:p>
            <a:fld id="{0A6ADF2A-7A11-0149-A2B5-0401FD350CDC}" type="slidenum">
              <a:rPr lang="en-US" smtClean="0"/>
              <a:t>‹#›</a:t>
            </a:fld>
            <a:endParaRPr lang="en-US"/>
          </a:p>
        </p:txBody>
      </p:sp>
    </p:spTree>
    <p:extLst>
      <p:ext uri="{BB962C8B-B14F-4D97-AF65-F5344CB8AC3E}">
        <p14:creationId xmlns:p14="http://schemas.microsoft.com/office/powerpoint/2010/main" val="57803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7B047-B881-C8B0-ED79-C77524BFFB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D322046-3746-49BD-FA5D-6A4FD45713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3F5EFE-8BA5-0684-3000-2F155F1A82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D92A8E-EA01-0D7F-03B6-2D0F76AB9B9B}"/>
              </a:ext>
            </a:extLst>
          </p:cNvPr>
          <p:cNvSpPr>
            <a:spLocks noGrp="1"/>
          </p:cNvSpPr>
          <p:nvPr>
            <p:ph type="dt" sz="half" idx="10"/>
          </p:nvPr>
        </p:nvSpPr>
        <p:spPr/>
        <p:txBody>
          <a:bodyPr/>
          <a:lstStyle/>
          <a:p>
            <a:fld id="{CDFCDAC5-B5DF-BC44-B5EE-6E4DE2FEA173}" type="datetime1">
              <a:rPr lang="en-US" smtClean="0"/>
              <a:t>7/1/26</a:t>
            </a:fld>
            <a:endParaRPr lang="en-US"/>
          </a:p>
        </p:txBody>
      </p:sp>
      <p:sp>
        <p:nvSpPr>
          <p:cNvPr id="6" name="Footer Placeholder 5">
            <a:extLst>
              <a:ext uri="{FF2B5EF4-FFF2-40B4-BE49-F238E27FC236}">
                <a16:creationId xmlns:a16="http://schemas.microsoft.com/office/drawing/2014/main" id="{DB8420EE-CA18-0141-E7FF-6BF0F7F9EC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C33981-2664-7410-8E56-593DC01490B2}"/>
              </a:ext>
            </a:extLst>
          </p:cNvPr>
          <p:cNvSpPr>
            <a:spLocks noGrp="1"/>
          </p:cNvSpPr>
          <p:nvPr>
            <p:ph type="sldNum" sz="quarter" idx="12"/>
          </p:nvPr>
        </p:nvSpPr>
        <p:spPr/>
        <p:txBody>
          <a:bodyPr/>
          <a:lstStyle/>
          <a:p>
            <a:fld id="{0A6ADF2A-7A11-0149-A2B5-0401FD350CDC}" type="slidenum">
              <a:rPr lang="en-US" smtClean="0"/>
              <a:t>‹#›</a:t>
            </a:fld>
            <a:endParaRPr lang="en-US"/>
          </a:p>
        </p:txBody>
      </p:sp>
    </p:spTree>
    <p:extLst>
      <p:ext uri="{BB962C8B-B14F-4D97-AF65-F5344CB8AC3E}">
        <p14:creationId xmlns:p14="http://schemas.microsoft.com/office/powerpoint/2010/main" val="2831130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3D31B-1A18-B5CA-A46D-9B02D54F28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C1A6F1-C41C-C356-88ED-300E25D80A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1BD61B-173B-A176-472E-39E3B2608E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F63898-4BEA-B9BC-119D-E6A4D6ED12B4}"/>
              </a:ext>
            </a:extLst>
          </p:cNvPr>
          <p:cNvSpPr>
            <a:spLocks noGrp="1"/>
          </p:cNvSpPr>
          <p:nvPr>
            <p:ph type="dt" sz="half" idx="10"/>
          </p:nvPr>
        </p:nvSpPr>
        <p:spPr/>
        <p:txBody>
          <a:bodyPr/>
          <a:lstStyle/>
          <a:p>
            <a:fld id="{DB048263-04E6-194B-92A0-2E122B9E43D3}" type="datetime1">
              <a:rPr lang="en-US" smtClean="0"/>
              <a:t>7/1/26</a:t>
            </a:fld>
            <a:endParaRPr lang="en-US"/>
          </a:p>
        </p:txBody>
      </p:sp>
      <p:sp>
        <p:nvSpPr>
          <p:cNvPr id="6" name="Footer Placeholder 5">
            <a:extLst>
              <a:ext uri="{FF2B5EF4-FFF2-40B4-BE49-F238E27FC236}">
                <a16:creationId xmlns:a16="http://schemas.microsoft.com/office/drawing/2014/main" id="{53414CCD-A6AF-AD3E-3793-B9AA5B3480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BB4205-9080-DA28-84A1-A4B0866E0D32}"/>
              </a:ext>
            </a:extLst>
          </p:cNvPr>
          <p:cNvSpPr>
            <a:spLocks noGrp="1"/>
          </p:cNvSpPr>
          <p:nvPr>
            <p:ph type="sldNum" sz="quarter" idx="12"/>
          </p:nvPr>
        </p:nvSpPr>
        <p:spPr/>
        <p:txBody>
          <a:bodyPr/>
          <a:lstStyle/>
          <a:p>
            <a:fld id="{0A6ADF2A-7A11-0149-A2B5-0401FD350CDC}" type="slidenum">
              <a:rPr lang="en-US" smtClean="0"/>
              <a:t>‹#›</a:t>
            </a:fld>
            <a:endParaRPr lang="en-US"/>
          </a:p>
        </p:txBody>
      </p:sp>
    </p:spTree>
    <p:extLst>
      <p:ext uri="{BB962C8B-B14F-4D97-AF65-F5344CB8AC3E}">
        <p14:creationId xmlns:p14="http://schemas.microsoft.com/office/powerpoint/2010/main" val="1576928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7D69D-2790-5CA4-7EC2-EF998AEC21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DBAA47-53A8-B435-CEC4-3E45A6F7F7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C7EC5F-173A-51BD-627D-E10A0DB2BD2B}"/>
              </a:ext>
            </a:extLst>
          </p:cNvPr>
          <p:cNvSpPr>
            <a:spLocks noGrp="1"/>
          </p:cNvSpPr>
          <p:nvPr>
            <p:ph type="dt" sz="half" idx="10"/>
          </p:nvPr>
        </p:nvSpPr>
        <p:spPr/>
        <p:txBody>
          <a:bodyPr/>
          <a:lstStyle/>
          <a:p>
            <a:fld id="{42B0E08D-CC60-8041-A63E-E07E6E85572F}" type="datetime1">
              <a:rPr lang="en-US" smtClean="0"/>
              <a:t>7/1/26</a:t>
            </a:fld>
            <a:endParaRPr lang="en-US"/>
          </a:p>
        </p:txBody>
      </p:sp>
      <p:sp>
        <p:nvSpPr>
          <p:cNvPr id="5" name="Footer Placeholder 4">
            <a:extLst>
              <a:ext uri="{FF2B5EF4-FFF2-40B4-BE49-F238E27FC236}">
                <a16:creationId xmlns:a16="http://schemas.microsoft.com/office/drawing/2014/main" id="{90C194C6-E846-6444-48DF-CF5021BEEE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129AC8-ECBE-A135-7389-AAAA78F67C4F}"/>
              </a:ext>
            </a:extLst>
          </p:cNvPr>
          <p:cNvSpPr>
            <a:spLocks noGrp="1"/>
          </p:cNvSpPr>
          <p:nvPr>
            <p:ph type="sldNum" sz="quarter" idx="12"/>
          </p:nvPr>
        </p:nvSpPr>
        <p:spPr/>
        <p:txBody>
          <a:bodyPr/>
          <a:lstStyle/>
          <a:p>
            <a:fld id="{0A6ADF2A-7A11-0149-A2B5-0401FD350CDC}" type="slidenum">
              <a:rPr lang="en-US" smtClean="0"/>
              <a:t>‹#›</a:t>
            </a:fld>
            <a:endParaRPr lang="en-US"/>
          </a:p>
        </p:txBody>
      </p:sp>
    </p:spTree>
    <p:extLst>
      <p:ext uri="{BB962C8B-B14F-4D97-AF65-F5344CB8AC3E}">
        <p14:creationId xmlns:p14="http://schemas.microsoft.com/office/powerpoint/2010/main" val="816803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8F8459-E936-AD1C-35C0-B53E7338D2C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A26679-5E14-10EA-D007-18AF0F16E4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B460C0-1D6A-2C90-15E3-663460ED9419}"/>
              </a:ext>
            </a:extLst>
          </p:cNvPr>
          <p:cNvSpPr>
            <a:spLocks noGrp="1"/>
          </p:cNvSpPr>
          <p:nvPr>
            <p:ph type="dt" sz="half" idx="10"/>
          </p:nvPr>
        </p:nvSpPr>
        <p:spPr/>
        <p:txBody>
          <a:bodyPr/>
          <a:lstStyle/>
          <a:p>
            <a:fld id="{DD31B1A2-1241-BD4C-99DC-DDC40F05E0EF}" type="datetime1">
              <a:rPr lang="en-US" smtClean="0"/>
              <a:t>7/1/26</a:t>
            </a:fld>
            <a:endParaRPr lang="en-US"/>
          </a:p>
        </p:txBody>
      </p:sp>
      <p:sp>
        <p:nvSpPr>
          <p:cNvPr id="5" name="Footer Placeholder 4">
            <a:extLst>
              <a:ext uri="{FF2B5EF4-FFF2-40B4-BE49-F238E27FC236}">
                <a16:creationId xmlns:a16="http://schemas.microsoft.com/office/drawing/2014/main" id="{7797C362-75A1-6DD8-713F-4E2296E5CE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4E8837-8777-38E5-31A3-A264DFE092DB}"/>
              </a:ext>
            </a:extLst>
          </p:cNvPr>
          <p:cNvSpPr>
            <a:spLocks noGrp="1"/>
          </p:cNvSpPr>
          <p:nvPr>
            <p:ph type="sldNum" sz="quarter" idx="12"/>
          </p:nvPr>
        </p:nvSpPr>
        <p:spPr/>
        <p:txBody>
          <a:bodyPr/>
          <a:lstStyle/>
          <a:p>
            <a:fld id="{0A6ADF2A-7A11-0149-A2B5-0401FD350CDC}" type="slidenum">
              <a:rPr lang="en-US" smtClean="0"/>
              <a:t>‹#›</a:t>
            </a:fld>
            <a:endParaRPr lang="en-US"/>
          </a:p>
        </p:txBody>
      </p:sp>
    </p:spTree>
    <p:extLst>
      <p:ext uri="{BB962C8B-B14F-4D97-AF65-F5344CB8AC3E}">
        <p14:creationId xmlns:p14="http://schemas.microsoft.com/office/powerpoint/2010/main" val="1055419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04A0E3-88B0-33ED-EBCA-D81D49715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51C583-7646-A97C-F84D-33FDAFBBF1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A46BBE-DF8C-ADB5-D14F-C6C06CE08E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EE20C0C-3D4F-3046-AA20-03CB67D55289}" type="datetime1">
              <a:rPr lang="en-US" smtClean="0"/>
              <a:t>7/1/26</a:t>
            </a:fld>
            <a:endParaRPr lang="en-US"/>
          </a:p>
        </p:txBody>
      </p:sp>
      <p:sp>
        <p:nvSpPr>
          <p:cNvPr id="5" name="Footer Placeholder 4">
            <a:extLst>
              <a:ext uri="{FF2B5EF4-FFF2-40B4-BE49-F238E27FC236}">
                <a16:creationId xmlns:a16="http://schemas.microsoft.com/office/drawing/2014/main" id="{A3E1927C-0368-83AA-983E-3063248350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F3D566D-0744-0DE1-D6E2-C9EDC6DDB7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A6ADF2A-7A11-0149-A2B5-0401FD350CDC}" type="slidenum">
              <a:rPr lang="en-US" smtClean="0"/>
              <a:t>‹#›</a:t>
            </a:fld>
            <a:endParaRPr lang="en-US"/>
          </a:p>
        </p:txBody>
      </p:sp>
    </p:spTree>
    <p:extLst>
      <p:ext uri="{BB962C8B-B14F-4D97-AF65-F5344CB8AC3E}">
        <p14:creationId xmlns:p14="http://schemas.microsoft.com/office/powerpoint/2010/main" val="1778165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AlHPDRQ08jU" TargetMode="External"/><Relationship Id="rId2" Type="http://schemas.openxmlformats.org/officeDocument/2006/relationships/hyperlink" Target="https://www.youtube.com/watch?v=qPTIi7Ds15M" TargetMode="Externa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hyperlink" Target="https://www.britannica.com/story/how-does-gps-work"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ghoztlighting.com/wp-content/uploads/2019/07/Screen-Shot-2019-07-15-at-10.32.36-PM.png" TargetMode="Externa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file:////var/folders/wh/6pwstxyx6nz7wrsmgf7t8hmw0000gn/T/com.microsoft.Word/WebArchiveCopyPasteTempFiles/61EFe0XFNrL._AC_SL1001_.jpg" TargetMode="External"/><Relationship Id="rId2" Type="http://schemas.openxmlformats.org/officeDocument/2006/relationships/image" Target="../media/image20.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769A8-DB95-C5FC-75A1-075704F360D3}"/>
              </a:ext>
            </a:extLst>
          </p:cNvPr>
          <p:cNvSpPr>
            <a:spLocks noGrp="1"/>
          </p:cNvSpPr>
          <p:nvPr>
            <p:ph type="ctrTitle"/>
          </p:nvPr>
        </p:nvSpPr>
        <p:spPr/>
        <p:txBody>
          <a:bodyPr>
            <a:normAutofit fontScale="90000"/>
          </a:bodyPr>
          <a:lstStyle/>
          <a:p>
            <a:r>
              <a:rPr lang="en-US" dirty="0"/>
              <a:t>North County Soccer Park</a:t>
            </a:r>
            <a:br>
              <a:rPr lang="en-US" dirty="0"/>
            </a:br>
            <a:r>
              <a:rPr lang="en-US" dirty="0"/>
              <a:t>Ages 5-11 Activities</a:t>
            </a:r>
            <a:br>
              <a:rPr lang="en-US" dirty="0"/>
            </a:br>
            <a:r>
              <a:rPr lang="en-US" dirty="0"/>
              <a:t>STEM Slides</a:t>
            </a:r>
          </a:p>
        </p:txBody>
      </p:sp>
      <p:sp>
        <p:nvSpPr>
          <p:cNvPr id="3" name="Subtitle 2">
            <a:extLst>
              <a:ext uri="{FF2B5EF4-FFF2-40B4-BE49-F238E27FC236}">
                <a16:creationId xmlns:a16="http://schemas.microsoft.com/office/drawing/2014/main" id="{C5283E04-8337-8E1A-CCC9-08179438D13C}"/>
              </a:ext>
            </a:extLst>
          </p:cNvPr>
          <p:cNvSpPr>
            <a:spLocks noGrp="1"/>
          </p:cNvSpPr>
          <p:nvPr>
            <p:ph type="subTitle" idx="1"/>
          </p:nvPr>
        </p:nvSpPr>
        <p:spPr/>
        <p:txBody>
          <a:bodyPr/>
          <a:lstStyle/>
          <a:p>
            <a:r>
              <a:rPr lang="en-US" dirty="0"/>
              <a:t>Kevin Bowen</a:t>
            </a:r>
          </a:p>
          <a:p>
            <a:r>
              <a:rPr lang="en-US" dirty="0"/>
              <a:t>President Porpoise Robotics</a:t>
            </a:r>
          </a:p>
          <a:p>
            <a:r>
              <a:rPr lang="en-US" dirty="0"/>
              <a:t>kbowen6@icloud.com</a:t>
            </a:r>
          </a:p>
        </p:txBody>
      </p:sp>
      <p:sp>
        <p:nvSpPr>
          <p:cNvPr id="4" name="TextBox 3">
            <a:extLst>
              <a:ext uri="{FF2B5EF4-FFF2-40B4-BE49-F238E27FC236}">
                <a16:creationId xmlns:a16="http://schemas.microsoft.com/office/drawing/2014/main" id="{60BFF513-D70C-DE42-F723-5E5B142D8D28}"/>
              </a:ext>
            </a:extLst>
          </p:cNvPr>
          <p:cNvSpPr txBox="1"/>
          <p:nvPr/>
        </p:nvSpPr>
        <p:spPr>
          <a:xfrm>
            <a:off x="224916" y="6181942"/>
            <a:ext cx="11122597" cy="584775"/>
          </a:xfrm>
          <a:prstGeom prst="rect">
            <a:avLst/>
          </a:prstGeom>
          <a:noFill/>
        </p:spPr>
        <p:txBody>
          <a:bodyPr wrap="none" rtlCol="0">
            <a:spAutoFit/>
          </a:bodyPr>
          <a:lstStyle/>
          <a:p>
            <a:pPr algn="ctr"/>
            <a:r>
              <a:rPr lang="en-US" sz="1600" dirty="0"/>
              <a:t>This document is proprietary. It is to be used in conjunction with Porpoise Robotics lessons.</a:t>
            </a:r>
          </a:p>
          <a:p>
            <a:pPr algn="ctr"/>
            <a:r>
              <a:rPr lang="en-US" sz="1600" dirty="0"/>
              <a:t>No part of this document may be copied in any manner to a third party without the prior written consent of Porpoise Robotics</a:t>
            </a:r>
          </a:p>
        </p:txBody>
      </p:sp>
    </p:spTree>
    <p:extLst>
      <p:ext uri="{BB962C8B-B14F-4D97-AF65-F5344CB8AC3E}">
        <p14:creationId xmlns:p14="http://schemas.microsoft.com/office/powerpoint/2010/main" val="2563395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F1364-9106-8A55-1FBF-266E38FF9D19}"/>
              </a:ext>
            </a:extLst>
          </p:cNvPr>
          <p:cNvSpPr>
            <a:spLocks noGrp="1"/>
          </p:cNvSpPr>
          <p:nvPr>
            <p:ph type="title"/>
          </p:nvPr>
        </p:nvSpPr>
        <p:spPr>
          <a:xfrm>
            <a:off x="1098308" y="198995"/>
            <a:ext cx="2788722" cy="833099"/>
          </a:xfrm>
        </p:spPr>
        <p:txBody>
          <a:bodyPr>
            <a:normAutofit fontScale="90000"/>
          </a:bodyPr>
          <a:lstStyle/>
          <a:p>
            <a:r>
              <a:rPr lang="en-US" sz="3100" b="1" dirty="0"/>
              <a:t>Find the Target</a:t>
            </a:r>
            <a:br>
              <a:rPr lang="en-US" sz="2800" dirty="0"/>
            </a:br>
            <a:r>
              <a:rPr lang="en-US" sz="2800" dirty="0"/>
              <a:t>(up to five systems)</a:t>
            </a:r>
          </a:p>
        </p:txBody>
      </p:sp>
      <p:grpSp>
        <p:nvGrpSpPr>
          <p:cNvPr id="28" name="Group 27">
            <a:extLst>
              <a:ext uri="{FF2B5EF4-FFF2-40B4-BE49-F238E27FC236}">
                <a16:creationId xmlns:a16="http://schemas.microsoft.com/office/drawing/2014/main" id="{7F144743-294A-3EB8-2EA1-4E0DAE5764E7}"/>
              </a:ext>
            </a:extLst>
          </p:cNvPr>
          <p:cNvGrpSpPr/>
          <p:nvPr/>
        </p:nvGrpSpPr>
        <p:grpSpPr>
          <a:xfrm>
            <a:off x="23327" y="219557"/>
            <a:ext cx="12030186" cy="4138863"/>
            <a:chOff x="23327" y="219557"/>
            <a:chExt cx="12030186" cy="4138863"/>
          </a:xfrm>
        </p:grpSpPr>
        <p:sp>
          <p:nvSpPr>
            <p:cNvPr id="3" name="Rectangle 2">
              <a:extLst>
                <a:ext uri="{FF2B5EF4-FFF2-40B4-BE49-F238E27FC236}">
                  <a16:creationId xmlns:a16="http://schemas.microsoft.com/office/drawing/2014/main" id="{F813F2E3-EAA8-5A5A-CDE5-9FF6403F41B3}"/>
                </a:ext>
              </a:extLst>
            </p:cNvPr>
            <p:cNvSpPr/>
            <p:nvPr/>
          </p:nvSpPr>
          <p:spPr>
            <a:xfrm>
              <a:off x="5441669" y="219557"/>
              <a:ext cx="6611844" cy="4138863"/>
            </a:xfrm>
            <a:prstGeom prst="rect">
              <a:avLst/>
            </a:prstGeom>
            <a:pattFill prst="ltDnDiag">
              <a:fgClr>
                <a:schemeClr val="accent6">
                  <a:lumMod val="40000"/>
                  <a:lumOff val="60000"/>
                </a:schemeClr>
              </a:fgClr>
              <a:bgClr>
                <a:schemeClr val="bg1"/>
              </a:bgClr>
            </a:pattFill>
            <a:ln w="508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Target</a:t>
              </a:r>
            </a:p>
          </p:txBody>
        </p:sp>
        <p:sp>
          <p:nvSpPr>
            <p:cNvPr id="4" name="TextBox 3">
              <a:extLst>
                <a:ext uri="{FF2B5EF4-FFF2-40B4-BE49-F238E27FC236}">
                  <a16:creationId xmlns:a16="http://schemas.microsoft.com/office/drawing/2014/main" id="{F0E55FB2-9206-6DCA-7FB2-04137D1D2E26}"/>
                </a:ext>
              </a:extLst>
            </p:cNvPr>
            <p:cNvSpPr txBox="1"/>
            <p:nvPr/>
          </p:nvSpPr>
          <p:spPr>
            <a:xfrm>
              <a:off x="23327" y="1759528"/>
              <a:ext cx="2341502" cy="2585323"/>
            </a:xfrm>
            <a:prstGeom prst="rect">
              <a:avLst/>
            </a:prstGeom>
            <a:noFill/>
            <a:ln w="25400">
              <a:solidFill>
                <a:schemeClr val="accent1">
                  <a:shade val="15000"/>
                </a:schemeClr>
              </a:solidFill>
            </a:ln>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6" name="TextBox 5">
              <a:extLst>
                <a:ext uri="{FF2B5EF4-FFF2-40B4-BE49-F238E27FC236}">
                  <a16:creationId xmlns:a16="http://schemas.microsoft.com/office/drawing/2014/main" id="{07B3DD97-2C94-EAFE-EF35-45046909EFCF}"/>
                </a:ext>
              </a:extLst>
            </p:cNvPr>
            <p:cNvSpPr txBox="1"/>
            <p:nvPr/>
          </p:nvSpPr>
          <p:spPr>
            <a:xfrm>
              <a:off x="401771" y="1812943"/>
              <a:ext cx="1393074" cy="923330"/>
            </a:xfrm>
            <a:prstGeom prst="rect">
              <a:avLst/>
            </a:prstGeom>
            <a:noFill/>
            <a:ln w="19050">
              <a:solidFill>
                <a:schemeClr val="accent1">
                  <a:shade val="15000"/>
                </a:schemeClr>
              </a:solidFill>
            </a:ln>
          </p:spPr>
          <p:txBody>
            <a:bodyPr wrap="none" rtlCol="0">
              <a:spAutoFit/>
            </a:bodyPr>
            <a:lstStyle/>
            <a:p>
              <a:endParaRPr lang="en-US" dirty="0"/>
            </a:p>
            <a:p>
              <a:r>
                <a:rPr lang="en-US" dirty="0"/>
                <a:t>Map of Field</a:t>
              </a:r>
            </a:p>
            <a:p>
              <a:endParaRPr lang="en-US" dirty="0"/>
            </a:p>
          </p:txBody>
        </p:sp>
        <p:sp>
          <p:nvSpPr>
            <p:cNvPr id="7" name="TextBox 6">
              <a:extLst>
                <a:ext uri="{FF2B5EF4-FFF2-40B4-BE49-F238E27FC236}">
                  <a16:creationId xmlns:a16="http://schemas.microsoft.com/office/drawing/2014/main" id="{F7816D88-3983-8C09-A970-85304E32205D}"/>
                </a:ext>
              </a:extLst>
            </p:cNvPr>
            <p:cNvSpPr txBox="1"/>
            <p:nvPr/>
          </p:nvSpPr>
          <p:spPr>
            <a:xfrm>
              <a:off x="249378" y="1413164"/>
              <a:ext cx="2115451" cy="369332"/>
            </a:xfrm>
            <a:prstGeom prst="rect">
              <a:avLst/>
            </a:prstGeom>
            <a:noFill/>
          </p:spPr>
          <p:txBody>
            <a:bodyPr wrap="none" rtlCol="0">
              <a:spAutoFit/>
            </a:bodyPr>
            <a:lstStyle/>
            <a:p>
              <a:r>
                <a:rPr lang="en-US" dirty="0"/>
                <a:t>Personal Computer</a:t>
              </a:r>
            </a:p>
          </p:txBody>
        </p:sp>
        <p:sp>
          <p:nvSpPr>
            <p:cNvPr id="8" name="TextBox 7">
              <a:extLst>
                <a:ext uri="{FF2B5EF4-FFF2-40B4-BE49-F238E27FC236}">
                  <a16:creationId xmlns:a16="http://schemas.microsoft.com/office/drawing/2014/main" id="{3E65EA7F-947A-DA4E-5912-2D4BB108FF0E}"/>
                </a:ext>
              </a:extLst>
            </p:cNvPr>
            <p:cNvSpPr txBox="1"/>
            <p:nvPr/>
          </p:nvSpPr>
          <p:spPr>
            <a:xfrm>
              <a:off x="2991699" y="1532488"/>
              <a:ext cx="2301464" cy="1200329"/>
            </a:xfrm>
            <a:prstGeom prst="rect">
              <a:avLst/>
            </a:prstGeom>
            <a:noFill/>
            <a:ln w="19050">
              <a:solidFill>
                <a:schemeClr val="accent1">
                  <a:shade val="15000"/>
                </a:schemeClr>
              </a:solidFill>
            </a:ln>
          </p:spPr>
          <p:txBody>
            <a:bodyPr wrap="none" rtlCol="0">
              <a:spAutoFit/>
            </a:bodyPr>
            <a:lstStyle/>
            <a:p>
              <a:endParaRPr lang="en-US" dirty="0"/>
            </a:p>
            <a:p>
              <a:r>
                <a:rPr lang="en-US" dirty="0"/>
                <a:t>ESP-32 with ESP Now</a:t>
              </a:r>
            </a:p>
            <a:p>
              <a:r>
                <a:rPr lang="en-US" dirty="0" err="1"/>
                <a:t>WiFi</a:t>
              </a:r>
              <a:r>
                <a:rPr lang="en-US" dirty="0"/>
                <a:t> to </a:t>
              </a:r>
              <a:r>
                <a:rPr lang="en-US" dirty="0" err="1"/>
                <a:t>WiFi</a:t>
              </a:r>
              <a:r>
                <a:rPr lang="en-US" dirty="0"/>
                <a:t> Comms</a:t>
              </a:r>
            </a:p>
            <a:p>
              <a:endParaRPr lang="en-US" dirty="0"/>
            </a:p>
          </p:txBody>
        </p:sp>
        <p:sp>
          <p:nvSpPr>
            <p:cNvPr id="10" name="TextBox 9">
              <a:extLst>
                <a:ext uri="{FF2B5EF4-FFF2-40B4-BE49-F238E27FC236}">
                  <a16:creationId xmlns:a16="http://schemas.microsoft.com/office/drawing/2014/main" id="{11816AD2-5553-3E06-CEF4-22B5C51145AA}"/>
                </a:ext>
              </a:extLst>
            </p:cNvPr>
            <p:cNvSpPr txBox="1"/>
            <p:nvPr/>
          </p:nvSpPr>
          <p:spPr>
            <a:xfrm>
              <a:off x="2951015" y="3144980"/>
              <a:ext cx="1191416" cy="1200329"/>
            </a:xfrm>
            <a:prstGeom prst="rect">
              <a:avLst/>
            </a:prstGeom>
            <a:noFill/>
            <a:ln w="19050">
              <a:solidFill>
                <a:schemeClr val="accent1">
                  <a:shade val="15000"/>
                </a:schemeClr>
              </a:solidFill>
            </a:ln>
          </p:spPr>
          <p:txBody>
            <a:bodyPr wrap="none" rtlCol="0">
              <a:spAutoFit/>
            </a:bodyPr>
            <a:lstStyle/>
            <a:p>
              <a:endParaRPr lang="en-US" dirty="0"/>
            </a:p>
            <a:p>
              <a:r>
                <a:rPr lang="en-US" dirty="0"/>
                <a:t>Bluetooth</a:t>
              </a:r>
            </a:p>
            <a:p>
              <a:r>
                <a:rPr lang="en-US" dirty="0"/>
                <a:t>Controller</a:t>
              </a:r>
            </a:p>
            <a:p>
              <a:endParaRPr lang="en-US" dirty="0"/>
            </a:p>
          </p:txBody>
        </p:sp>
        <p:sp>
          <p:nvSpPr>
            <p:cNvPr id="11" name="TextBox 10">
              <a:extLst>
                <a:ext uri="{FF2B5EF4-FFF2-40B4-BE49-F238E27FC236}">
                  <a16:creationId xmlns:a16="http://schemas.microsoft.com/office/drawing/2014/main" id="{11626D92-26ED-AB06-1DCE-C1F57C7595FF}"/>
                </a:ext>
              </a:extLst>
            </p:cNvPr>
            <p:cNvSpPr txBox="1"/>
            <p:nvPr/>
          </p:nvSpPr>
          <p:spPr>
            <a:xfrm>
              <a:off x="249378" y="2943090"/>
              <a:ext cx="2011576" cy="1200329"/>
            </a:xfrm>
            <a:prstGeom prst="rect">
              <a:avLst/>
            </a:prstGeom>
            <a:noFill/>
            <a:ln w="19050">
              <a:solidFill>
                <a:schemeClr val="accent1">
                  <a:shade val="15000"/>
                </a:schemeClr>
              </a:solidFill>
            </a:ln>
          </p:spPr>
          <p:txBody>
            <a:bodyPr wrap="none" rtlCol="0">
              <a:spAutoFit/>
            </a:bodyPr>
            <a:lstStyle/>
            <a:p>
              <a:r>
                <a:rPr lang="en-US" dirty="0"/>
                <a:t>Vehicle location</a:t>
              </a:r>
            </a:p>
            <a:p>
              <a:r>
                <a:rPr lang="en-US" dirty="0"/>
                <a:t>Vehicle Waypoints</a:t>
              </a:r>
            </a:p>
            <a:p>
              <a:r>
                <a:rPr lang="en-US" dirty="0"/>
                <a:t>Range to Target</a:t>
              </a:r>
            </a:p>
            <a:p>
              <a:r>
                <a:rPr lang="en-US" dirty="0"/>
                <a:t>Range to Obstacle</a:t>
              </a:r>
            </a:p>
          </p:txBody>
        </p:sp>
        <p:cxnSp>
          <p:nvCxnSpPr>
            <p:cNvPr id="13" name="Straight Arrow Connector 12">
              <a:extLst>
                <a:ext uri="{FF2B5EF4-FFF2-40B4-BE49-F238E27FC236}">
                  <a16:creationId xmlns:a16="http://schemas.microsoft.com/office/drawing/2014/main" id="{351A865C-4A69-E8CA-24F2-F902E4CC32A8}"/>
                </a:ext>
              </a:extLst>
            </p:cNvPr>
            <p:cNvCxnSpPr>
              <a:endCxn id="8" idx="1"/>
            </p:cNvCxnSpPr>
            <p:nvPr/>
          </p:nvCxnSpPr>
          <p:spPr>
            <a:xfrm flipV="1">
              <a:off x="2364829" y="2132653"/>
              <a:ext cx="626870" cy="94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8B916707-BDE1-5399-A19B-5A679ECE59B7}"/>
                </a:ext>
              </a:extLst>
            </p:cNvPr>
            <p:cNvSpPr/>
            <p:nvPr/>
          </p:nvSpPr>
          <p:spPr>
            <a:xfrm>
              <a:off x="11245516" y="2132653"/>
              <a:ext cx="336884" cy="3126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D65B6ED-C34D-25EA-ED94-6ABD726704B0}"/>
                </a:ext>
              </a:extLst>
            </p:cNvPr>
            <p:cNvSpPr txBox="1"/>
            <p:nvPr/>
          </p:nvSpPr>
          <p:spPr>
            <a:xfrm>
              <a:off x="11022985" y="1597830"/>
              <a:ext cx="781945" cy="369332"/>
            </a:xfrm>
            <a:prstGeom prst="rect">
              <a:avLst/>
            </a:prstGeom>
            <a:noFill/>
          </p:spPr>
          <p:txBody>
            <a:bodyPr wrap="none" rtlCol="0">
              <a:spAutoFit/>
            </a:bodyPr>
            <a:lstStyle/>
            <a:p>
              <a:r>
                <a:rPr lang="en-US" dirty="0"/>
                <a:t>Target</a:t>
              </a:r>
            </a:p>
          </p:txBody>
        </p:sp>
        <p:sp>
          <p:nvSpPr>
            <p:cNvPr id="16" name="Oval 15">
              <a:extLst>
                <a:ext uri="{FF2B5EF4-FFF2-40B4-BE49-F238E27FC236}">
                  <a16:creationId xmlns:a16="http://schemas.microsoft.com/office/drawing/2014/main" id="{8E0F1FC7-5E64-73CF-54CD-8C5D909EBD43}"/>
                </a:ext>
              </a:extLst>
            </p:cNvPr>
            <p:cNvSpPr/>
            <p:nvPr/>
          </p:nvSpPr>
          <p:spPr>
            <a:xfrm>
              <a:off x="5763491" y="2288989"/>
              <a:ext cx="156542" cy="1563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2C9598B-1F63-F893-B964-238DCB71F5AA}"/>
                </a:ext>
              </a:extLst>
            </p:cNvPr>
            <p:cNvSpPr/>
            <p:nvPr/>
          </p:nvSpPr>
          <p:spPr>
            <a:xfrm>
              <a:off x="6220691" y="1541026"/>
              <a:ext cx="156542" cy="1563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54017F01-FD85-7577-EB98-1D8CCD3FB673}"/>
                </a:ext>
              </a:extLst>
            </p:cNvPr>
            <p:cNvSpPr/>
            <p:nvPr/>
          </p:nvSpPr>
          <p:spPr>
            <a:xfrm>
              <a:off x="7287491" y="761016"/>
              <a:ext cx="156542" cy="1563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BD936CE-A3E1-01D7-380D-0AEE2B55187B}"/>
                </a:ext>
              </a:extLst>
            </p:cNvPr>
            <p:cNvSpPr/>
            <p:nvPr/>
          </p:nvSpPr>
          <p:spPr>
            <a:xfrm>
              <a:off x="8591049" y="685839"/>
              <a:ext cx="156542" cy="1563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C316C90-3172-0AED-D8C7-6738FF8A61AE}"/>
                </a:ext>
              </a:extLst>
            </p:cNvPr>
            <p:cNvSpPr/>
            <p:nvPr/>
          </p:nvSpPr>
          <p:spPr>
            <a:xfrm>
              <a:off x="9972878" y="761016"/>
              <a:ext cx="156542" cy="1563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FBE5826-16EB-553E-F2BA-1D82FA15F018}"/>
                </a:ext>
              </a:extLst>
            </p:cNvPr>
            <p:cNvSpPr/>
            <p:nvPr/>
          </p:nvSpPr>
          <p:spPr>
            <a:xfrm>
              <a:off x="10584873" y="1256828"/>
              <a:ext cx="156542" cy="1563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33027D5-94D1-EA48-5C2E-ED4188B358B2}"/>
                </a:ext>
              </a:extLst>
            </p:cNvPr>
            <p:cNvSpPr/>
            <p:nvPr/>
          </p:nvSpPr>
          <p:spPr>
            <a:xfrm>
              <a:off x="11055934" y="1907996"/>
              <a:ext cx="156542" cy="1563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2F200B6-09CD-5515-9C38-6CA53B254AC4}"/>
                </a:ext>
              </a:extLst>
            </p:cNvPr>
            <p:cNvSpPr/>
            <p:nvPr/>
          </p:nvSpPr>
          <p:spPr>
            <a:xfrm>
              <a:off x="7444033" y="1967162"/>
              <a:ext cx="497792" cy="3218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F085F29-BB7A-0031-CD5E-F4BD3E7F5C77}"/>
                </a:ext>
              </a:extLst>
            </p:cNvPr>
            <p:cNvSpPr/>
            <p:nvPr/>
          </p:nvSpPr>
          <p:spPr>
            <a:xfrm>
              <a:off x="8940324" y="2742758"/>
              <a:ext cx="497792" cy="3218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F3EA6BB-AAE0-2E5A-5ED9-6498BB4AD5D3}"/>
                </a:ext>
              </a:extLst>
            </p:cNvPr>
            <p:cNvSpPr/>
            <p:nvPr/>
          </p:nvSpPr>
          <p:spPr>
            <a:xfrm>
              <a:off x="9690019" y="1801821"/>
              <a:ext cx="497792" cy="3218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7FA9633C-CBD6-E126-9B05-2B57D5D217B4}"/>
                </a:ext>
              </a:extLst>
            </p:cNvPr>
            <p:cNvSpPr txBox="1"/>
            <p:nvPr/>
          </p:nvSpPr>
          <p:spPr>
            <a:xfrm>
              <a:off x="7121231" y="1683507"/>
              <a:ext cx="1206741" cy="369332"/>
            </a:xfrm>
            <a:prstGeom prst="rect">
              <a:avLst/>
            </a:prstGeom>
            <a:noFill/>
          </p:spPr>
          <p:txBody>
            <a:bodyPr wrap="none" rtlCol="0">
              <a:spAutoFit/>
            </a:bodyPr>
            <a:lstStyle/>
            <a:p>
              <a:r>
                <a:rPr lang="en-US" dirty="0"/>
                <a:t>Obstacles</a:t>
              </a:r>
            </a:p>
          </p:txBody>
        </p:sp>
        <p:sp>
          <p:nvSpPr>
            <p:cNvPr id="27" name="TextBox 26">
              <a:extLst>
                <a:ext uri="{FF2B5EF4-FFF2-40B4-BE49-F238E27FC236}">
                  <a16:creationId xmlns:a16="http://schemas.microsoft.com/office/drawing/2014/main" id="{815B243F-BAA6-9F66-BA75-E98C75899B6C}"/>
                </a:ext>
              </a:extLst>
            </p:cNvPr>
            <p:cNvSpPr txBox="1"/>
            <p:nvPr/>
          </p:nvSpPr>
          <p:spPr>
            <a:xfrm>
              <a:off x="6220691" y="540325"/>
              <a:ext cx="1231940" cy="369332"/>
            </a:xfrm>
            <a:prstGeom prst="rect">
              <a:avLst/>
            </a:prstGeom>
            <a:noFill/>
          </p:spPr>
          <p:txBody>
            <a:bodyPr wrap="none" rtlCol="0">
              <a:spAutoFit/>
            </a:bodyPr>
            <a:lstStyle/>
            <a:p>
              <a:r>
                <a:rPr lang="en-US" dirty="0"/>
                <a:t>Waypoints</a:t>
              </a:r>
            </a:p>
          </p:txBody>
        </p:sp>
      </p:grpSp>
      <p:sp>
        <p:nvSpPr>
          <p:cNvPr id="29" name="TextBox 28">
            <a:extLst>
              <a:ext uri="{FF2B5EF4-FFF2-40B4-BE49-F238E27FC236}">
                <a16:creationId xmlns:a16="http://schemas.microsoft.com/office/drawing/2014/main" id="{BBA2C15F-6F7F-AE72-7E4E-D3BAF8E7238C}"/>
              </a:ext>
            </a:extLst>
          </p:cNvPr>
          <p:cNvSpPr txBox="1"/>
          <p:nvPr/>
        </p:nvSpPr>
        <p:spPr>
          <a:xfrm>
            <a:off x="235524" y="4780529"/>
            <a:ext cx="11459612" cy="1200329"/>
          </a:xfrm>
          <a:prstGeom prst="rect">
            <a:avLst/>
          </a:prstGeom>
          <a:noFill/>
        </p:spPr>
        <p:txBody>
          <a:bodyPr wrap="none" rtlCol="0">
            <a:spAutoFit/>
          </a:bodyPr>
          <a:lstStyle/>
          <a:p>
            <a:r>
              <a:rPr lang="en-US" dirty="0"/>
              <a:t>The student will turn on the computer and see the map of the Field, the vehicle status and range to target</a:t>
            </a:r>
          </a:p>
          <a:p>
            <a:r>
              <a:rPr lang="en-US" dirty="0"/>
              <a:t>The student will turn on the vehicle, link to the controller and see the camera image and if there are targets in range</a:t>
            </a:r>
          </a:p>
          <a:p>
            <a:r>
              <a:rPr lang="en-US" dirty="0"/>
              <a:t>The student will drive the car to the waypoint to the target or freeform to the target while avoiding obstacles.</a:t>
            </a:r>
          </a:p>
          <a:p>
            <a:r>
              <a:rPr lang="en-US" dirty="0"/>
              <a:t>The student will close to the target and capture with grippers, then return to base.</a:t>
            </a:r>
          </a:p>
        </p:txBody>
      </p:sp>
      <p:sp>
        <p:nvSpPr>
          <p:cNvPr id="5" name="TextBox 4">
            <a:extLst>
              <a:ext uri="{FF2B5EF4-FFF2-40B4-BE49-F238E27FC236}">
                <a16:creationId xmlns:a16="http://schemas.microsoft.com/office/drawing/2014/main" id="{00511EA0-3F5B-E469-2222-B6126A4DCE78}"/>
              </a:ext>
            </a:extLst>
          </p:cNvPr>
          <p:cNvSpPr txBox="1"/>
          <p:nvPr/>
        </p:nvSpPr>
        <p:spPr>
          <a:xfrm>
            <a:off x="5521564" y="3317219"/>
            <a:ext cx="1211998" cy="646331"/>
          </a:xfrm>
          <a:prstGeom prst="rect">
            <a:avLst/>
          </a:prstGeom>
          <a:noFill/>
          <a:ln w="19050">
            <a:solidFill>
              <a:schemeClr val="accent1">
                <a:shade val="15000"/>
              </a:schemeClr>
            </a:solidFill>
          </a:ln>
        </p:spPr>
        <p:txBody>
          <a:bodyPr wrap="none" rtlCol="0">
            <a:spAutoFit/>
          </a:bodyPr>
          <a:lstStyle/>
          <a:p>
            <a:pPr algn="ctr"/>
            <a:r>
              <a:rPr lang="en-US" dirty="0"/>
              <a:t>Pathfinder</a:t>
            </a:r>
          </a:p>
          <a:p>
            <a:pPr algn="ctr"/>
            <a:r>
              <a:rPr lang="en-US" dirty="0"/>
              <a:t>Vehicles</a:t>
            </a:r>
          </a:p>
        </p:txBody>
      </p:sp>
      <p:sp>
        <p:nvSpPr>
          <p:cNvPr id="9" name="Slide Number Placeholder 8">
            <a:extLst>
              <a:ext uri="{FF2B5EF4-FFF2-40B4-BE49-F238E27FC236}">
                <a16:creationId xmlns:a16="http://schemas.microsoft.com/office/drawing/2014/main" id="{8FF0F433-A9A3-98B8-2860-FB1C84CCCD47}"/>
              </a:ext>
            </a:extLst>
          </p:cNvPr>
          <p:cNvSpPr>
            <a:spLocks noGrp="1"/>
          </p:cNvSpPr>
          <p:nvPr>
            <p:ph type="sldNum" sz="quarter" idx="12"/>
          </p:nvPr>
        </p:nvSpPr>
        <p:spPr/>
        <p:txBody>
          <a:bodyPr/>
          <a:lstStyle/>
          <a:p>
            <a:fld id="{0A6ADF2A-7A11-0149-A2B5-0401FD350CDC}" type="slidenum">
              <a:rPr lang="en-US" smtClean="0"/>
              <a:t>2</a:t>
            </a:fld>
            <a:endParaRPr lang="en-US"/>
          </a:p>
        </p:txBody>
      </p:sp>
    </p:spTree>
    <p:extLst>
      <p:ext uri="{BB962C8B-B14F-4D97-AF65-F5344CB8AC3E}">
        <p14:creationId xmlns:p14="http://schemas.microsoft.com/office/powerpoint/2010/main" val="1804110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D3149-3681-1252-87F5-5AAE366D63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37DFE1-4554-35C9-B88F-66366B05B2D1}"/>
              </a:ext>
            </a:extLst>
          </p:cNvPr>
          <p:cNvSpPr>
            <a:spLocks noGrp="1"/>
          </p:cNvSpPr>
          <p:nvPr>
            <p:ph type="title"/>
          </p:nvPr>
        </p:nvSpPr>
        <p:spPr>
          <a:xfrm>
            <a:off x="1307103" y="62907"/>
            <a:ext cx="4172591" cy="1200329"/>
          </a:xfrm>
        </p:spPr>
        <p:txBody>
          <a:bodyPr>
            <a:normAutofit/>
          </a:bodyPr>
          <a:lstStyle/>
          <a:p>
            <a:r>
              <a:rPr lang="en-US" sz="4800" dirty="0"/>
              <a:t>Find the Target</a:t>
            </a:r>
          </a:p>
        </p:txBody>
      </p:sp>
      <p:sp>
        <p:nvSpPr>
          <p:cNvPr id="3" name="Rectangle 2">
            <a:extLst>
              <a:ext uri="{FF2B5EF4-FFF2-40B4-BE49-F238E27FC236}">
                <a16:creationId xmlns:a16="http://schemas.microsoft.com/office/drawing/2014/main" id="{25458F3D-163B-AF72-2FC3-4D5E99526A7C}"/>
              </a:ext>
            </a:extLst>
          </p:cNvPr>
          <p:cNvSpPr/>
          <p:nvPr/>
        </p:nvSpPr>
        <p:spPr>
          <a:xfrm>
            <a:off x="6798015" y="1559636"/>
            <a:ext cx="5222015" cy="5107381"/>
          </a:xfrm>
          <a:prstGeom prst="rect">
            <a:avLst/>
          </a:prstGeom>
          <a:noFill/>
          <a:ln w="508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6C7BD46-303B-E22F-9A63-55C3067EE6DE}"/>
              </a:ext>
            </a:extLst>
          </p:cNvPr>
          <p:cNvSpPr txBox="1"/>
          <p:nvPr/>
        </p:nvSpPr>
        <p:spPr>
          <a:xfrm>
            <a:off x="139074" y="1782504"/>
            <a:ext cx="2341502" cy="2585323"/>
          </a:xfrm>
          <a:prstGeom prst="rect">
            <a:avLst/>
          </a:prstGeom>
          <a:noFill/>
          <a:ln w="25400">
            <a:solidFill>
              <a:schemeClr val="accent1">
                <a:shade val="15000"/>
              </a:schemeClr>
            </a:solidFill>
          </a:ln>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6" name="TextBox 5">
            <a:extLst>
              <a:ext uri="{FF2B5EF4-FFF2-40B4-BE49-F238E27FC236}">
                <a16:creationId xmlns:a16="http://schemas.microsoft.com/office/drawing/2014/main" id="{134157BB-F336-16FB-3112-A2F371FAE04A}"/>
              </a:ext>
            </a:extLst>
          </p:cNvPr>
          <p:cNvSpPr txBox="1"/>
          <p:nvPr/>
        </p:nvSpPr>
        <p:spPr>
          <a:xfrm>
            <a:off x="517518" y="1835919"/>
            <a:ext cx="1393074" cy="923330"/>
          </a:xfrm>
          <a:prstGeom prst="rect">
            <a:avLst/>
          </a:prstGeom>
          <a:noFill/>
          <a:ln w="19050">
            <a:solidFill>
              <a:schemeClr val="accent1">
                <a:shade val="15000"/>
              </a:schemeClr>
            </a:solidFill>
          </a:ln>
        </p:spPr>
        <p:txBody>
          <a:bodyPr wrap="none" rtlCol="0">
            <a:spAutoFit/>
          </a:bodyPr>
          <a:lstStyle/>
          <a:p>
            <a:endParaRPr lang="en-US" dirty="0"/>
          </a:p>
          <a:p>
            <a:r>
              <a:rPr lang="en-US" dirty="0"/>
              <a:t>Map of Field</a:t>
            </a:r>
          </a:p>
          <a:p>
            <a:endParaRPr lang="en-US" dirty="0"/>
          </a:p>
        </p:txBody>
      </p:sp>
      <p:sp>
        <p:nvSpPr>
          <p:cNvPr id="7" name="TextBox 6">
            <a:extLst>
              <a:ext uri="{FF2B5EF4-FFF2-40B4-BE49-F238E27FC236}">
                <a16:creationId xmlns:a16="http://schemas.microsoft.com/office/drawing/2014/main" id="{ADA1606B-2082-1253-9EFD-14A7321A7C13}"/>
              </a:ext>
            </a:extLst>
          </p:cNvPr>
          <p:cNvSpPr txBox="1"/>
          <p:nvPr/>
        </p:nvSpPr>
        <p:spPr>
          <a:xfrm>
            <a:off x="365125" y="1436140"/>
            <a:ext cx="2115451" cy="369332"/>
          </a:xfrm>
          <a:prstGeom prst="rect">
            <a:avLst/>
          </a:prstGeom>
          <a:noFill/>
        </p:spPr>
        <p:txBody>
          <a:bodyPr wrap="none" rtlCol="0">
            <a:spAutoFit/>
          </a:bodyPr>
          <a:lstStyle/>
          <a:p>
            <a:r>
              <a:rPr lang="en-US" dirty="0"/>
              <a:t>Personal Computer</a:t>
            </a:r>
          </a:p>
        </p:txBody>
      </p:sp>
      <p:sp>
        <p:nvSpPr>
          <p:cNvPr id="8" name="TextBox 7">
            <a:extLst>
              <a:ext uri="{FF2B5EF4-FFF2-40B4-BE49-F238E27FC236}">
                <a16:creationId xmlns:a16="http://schemas.microsoft.com/office/drawing/2014/main" id="{20DE3003-7FFE-98E7-6684-7F93512E9DB0}"/>
              </a:ext>
            </a:extLst>
          </p:cNvPr>
          <p:cNvSpPr txBox="1"/>
          <p:nvPr/>
        </p:nvSpPr>
        <p:spPr>
          <a:xfrm>
            <a:off x="3107446" y="1555464"/>
            <a:ext cx="2301464" cy="1200329"/>
          </a:xfrm>
          <a:prstGeom prst="rect">
            <a:avLst/>
          </a:prstGeom>
          <a:noFill/>
          <a:ln w="19050">
            <a:solidFill>
              <a:schemeClr val="accent1">
                <a:shade val="15000"/>
              </a:schemeClr>
            </a:solidFill>
          </a:ln>
        </p:spPr>
        <p:txBody>
          <a:bodyPr wrap="none" rtlCol="0">
            <a:spAutoFit/>
          </a:bodyPr>
          <a:lstStyle/>
          <a:p>
            <a:endParaRPr lang="en-US" dirty="0"/>
          </a:p>
          <a:p>
            <a:r>
              <a:rPr lang="en-US" dirty="0"/>
              <a:t>ESP-32 with ESP Now</a:t>
            </a:r>
          </a:p>
          <a:p>
            <a:r>
              <a:rPr lang="en-US" dirty="0" err="1"/>
              <a:t>WiFi</a:t>
            </a:r>
            <a:r>
              <a:rPr lang="en-US" dirty="0"/>
              <a:t> to </a:t>
            </a:r>
            <a:r>
              <a:rPr lang="en-US" dirty="0" err="1"/>
              <a:t>WiFi</a:t>
            </a:r>
            <a:r>
              <a:rPr lang="en-US" dirty="0"/>
              <a:t> Comms</a:t>
            </a:r>
          </a:p>
          <a:p>
            <a:endParaRPr lang="en-US" dirty="0"/>
          </a:p>
        </p:txBody>
      </p:sp>
      <p:sp>
        <p:nvSpPr>
          <p:cNvPr id="10" name="TextBox 9">
            <a:extLst>
              <a:ext uri="{FF2B5EF4-FFF2-40B4-BE49-F238E27FC236}">
                <a16:creationId xmlns:a16="http://schemas.microsoft.com/office/drawing/2014/main" id="{CE5BC3C1-85D1-2124-D5E5-022B13935BC5}"/>
              </a:ext>
            </a:extLst>
          </p:cNvPr>
          <p:cNvSpPr txBox="1"/>
          <p:nvPr/>
        </p:nvSpPr>
        <p:spPr>
          <a:xfrm>
            <a:off x="3066762" y="4181420"/>
            <a:ext cx="1191416" cy="1200329"/>
          </a:xfrm>
          <a:prstGeom prst="rect">
            <a:avLst/>
          </a:prstGeom>
          <a:noFill/>
          <a:ln w="19050">
            <a:solidFill>
              <a:schemeClr val="accent1">
                <a:shade val="15000"/>
              </a:schemeClr>
            </a:solidFill>
          </a:ln>
        </p:spPr>
        <p:txBody>
          <a:bodyPr wrap="none" rtlCol="0">
            <a:spAutoFit/>
          </a:bodyPr>
          <a:lstStyle/>
          <a:p>
            <a:endParaRPr lang="en-US" dirty="0"/>
          </a:p>
          <a:p>
            <a:r>
              <a:rPr lang="en-US" dirty="0"/>
              <a:t>Bluetooth</a:t>
            </a:r>
          </a:p>
          <a:p>
            <a:r>
              <a:rPr lang="en-US" dirty="0"/>
              <a:t>Controller</a:t>
            </a:r>
          </a:p>
          <a:p>
            <a:endParaRPr lang="en-US" dirty="0"/>
          </a:p>
        </p:txBody>
      </p:sp>
      <p:sp>
        <p:nvSpPr>
          <p:cNvPr id="11" name="TextBox 10">
            <a:extLst>
              <a:ext uri="{FF2B5EF4-FFF2-40B4-BE49-F238E27FC236}">
                <a16:creationId xmlns:a16="http://schemas.microsoft.com/office/drawing/2014/main" id="{0E20360C-317F-E163-5F2B-E21F14A2645C}"/>
              </a:ext>
            </a:extLst>
          </p:cNvPr>
          <p:cNvSpPr txBox="1"/>
          <p:nvPr/>
        </p:nvSpPr>
        <p:spPr>
          <a:xfrm>
            <a:off x="245812" y="2752327"/>
            <a:ext cx="2009204" cy="923330"/>
          </a:xfrm>
          <a:prstGeom prst="rect">
            <a:avLst/>
          </a:prstGeom>
          <a:noFill/>
          <a:ln w="19050">
            <a:solidFill>
              <a:schemeClr val="accent1">
                <a:shade val="15000"/>
              </a:schemeClr>
            </a:solidFill>
          </a:ln>
        </p:spPr>
        <p:txBody>
          <a:bodyPr wrap="none" rtlCol="0">
            <a:spAutoFit/>
          </a:bodyPr>
          <a:lstStyle/>
          <a:p>
            <a:r>
              <a:rPr lang="en-US" dirty="0"/>
              <a:t>Vehicle location</a:t>
            </a:r>
          </a:p>
          <a:p>
            <a:r>
              <a:rPr lang="en-US" dirty="0"/>
              <a:t>Vehicle Waypoints</a:t>
            </a:r>
          </a:p>
          <a:p>
            <a:r>
              <a:rPr lang="en-US" dirty="0"/>
              <a:t>Target</a:t>
            </a:r>
          </a:p>
        </p:txBody>
      </p:sp>
      <p:cxnSp>
        <p:nvCxnSpPr>
          <p:cNvPr id="13" name="Straight Arrow Connector 12">
            <a:extLst>
              <a:ext uri="{FF2B5EF4-FFF2-40B4-BE49-F238E27FC236}">
                <a16:creationId xmlns:a16="http://schemas.microsoft.com/office/drawing/2014/main" id="{FD0841A7-49D7-FF05-E829-00FC2BD88F4C}"/>
              </a:ext>
            </a:extLst>
          </p:cNvPr>
          <p:cNvCxnSpPr>
            <a:endCxn id="8" idx="1"/>
          </p:cNvCxnSpPr>
          <p:nvPr/>
        </p:nvCxnSpPr>
        <p:spPr>
          <a:xfrm flipV="1">
            <a:off x="2480576" y="2155629"/>
            <a:ext cx="626870" cy="94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B16E564C-02CE-A719-C196-7BDF997D9250}"/>
              </a:ext>
            </a:extLst>
          </p:cNvPr>
          <p:cNvSpPr txBox="1"/>
          <p:nvPr/>
        </p:nvSpPr>
        <p:spPr>
          <a:xfrm>
            <a:off x="7642237" y="969643"/>
            <a:ext cx="2571153" cy="369332"/>
          </a:xfrm>
          <a:prstGeom prst="rect">
            <a:avLst/>
          </a:prstGeom>
          <a:noFill/>
        </p:spPr>
        <p:txBody>
          <a:bodyPr wrap="none" rtlCol="0">
            <a:spAutoFit/>
          </a:bodyPr>
          <a:lstStyle/>
          <a:p>
            <a:r>
              <a:rPr lang="en-US" dirty="0"/>
              <a:t>Pathfinder Gen 3Vehicle</a:t>
            </a:r>
          </a:p>
        </p:txBody>
      </p:sp>
      <p:sp>
        <p:nvSpPr>
          <p:cNvPr id="9" name="TextBox 8">
            <a:extLst>
              <a:ext uri="{FF2B5EF4-FFF2-40B4-BE49-F238E27FC236}">
                <a16:creationId xmlns:a16="http://schemas.microsoft.com/office/drawing/2014/main" id="{4739CC04-F2EA-FE36-D9BD-FE88A206BBFF}"/>
              </a:ext>
            </a:extLst>
          </p:cNvPr>
          <p:cNvSpPr txBox="1"/>
          <p:nvPr/>
        </p:nvSpPr>
        <p:spPr>
          <a:xfrm>
            <a:off x="7276521" y="1852531"/>
            <a:ext cx="2183546" cy="2031325"/>
          </a:xfrm>
          <a:prstGeom prst="rect">
            <a:avLst/>
          </a:prstGeom>
          <a:noFill/>
          <a:ln w="19050">
            <a:solidFill>
              <a:schemeClr val="accent1">
                <a:shade val="15000"/>
              </a:schemeClr>
            </a:solidFill>
          </a:ln>
        </p:spPr>
        <p:txBody>
          <a:bodyPr wrap="none" rtlCol="0">
            <a:spAutoFit/>
          </a:bodyPr>
          <a:lstStyle/>
          <a:p>
            <a:pPr algn="ctr"/>
            <a:endParaRPr lang="en-US" dirty="0"/>
          </a:p>
          <a:p>
            <a:pPr algn="ctr"/>
            <a:endParaRPr lang="en-US" dirty="0"/>
          </a:p>
          <a:p>
            <a:pPr algn="ctr"/>
            <a:r>
              <a:rPr lang="en-US" dirty="0"/>
              <a:t>ESP-32 Dev Module</a:t>
            </a:r>
          </a:p>
          <a:p>
            <a:pPr algn="ctr"/>
            <a:r>
              <a:rPr lang="en-US" dirty="0"/>
              <a:t>with ESP Now</a:t>
            </a:r>
          </a:p>
          <a:p>
            <a:pPr algn="ctr"/>
            <a:r>
              <a:rPr lang="en-US" dirty="0" err="1"/>
              <a:t>WiFi</a:t>
            </a:r>
            <a:r>
              <a:rPr lang="en-US" dirty="0"/>
              <a:t> to </a:t>
            </a:r>
            <a:r>
              <a:rPr lang="en-US" dirty="0" err="1"/>
              <a:t>WiFi</a:t>
            </a:r>
            <a:r>
              <a:rPr lang="en-US" dirty="0"/>
              <a:t> Comms</a:t>
            </a:r>
          </a:p>
          <a:p>
            <a:pPr algn="ctr"/>
            <a:endParaRPr lang="en-US" dirty="0"/>
          </a:p>
          <a:p>
            <a:pPr algn="ctr"/>
            <a:endParaRPr lang="en-US" dirty="0"/>
          </a:p>
        </p:txBody>
      </p:sp>
      <p:sp>
        <p:nvSpPr>
          <p:cNvPr id="14" name="TextBox 13">
            <a:extLst>
              <a:ext uri="{FF2B5EF4-FFF2-40B4-BE49-F238E27FC236}">
                <a16:creationId xmlns:a16="http://schemas.microsoft.com/office/drawing/2014/main" id="{27A5BFC3-7BA2-5873-EE9B-68F4021AF09F}"/>
              </a:ext>
            </a:extLst>
          </p:cNvPr>
          <p:cNvSpPr txBox="1"/>
          <p:nvPr/>
        </p:nvSpPr>
        <p:spPr>
          <a:xfrm>
            <a:off x="10503220" y="2382995"/>
            <a:ext cx="1482522" cy="369332"/>
          </a:xfrm>
          <a:prstGeom prst="rect">
            <a:avLst/>
          </a:prstGeom>
          <a:noFill/>
          <a:ln w="19050">
            <a:solidFill>
              <a:schemeClr val="accent1">
                <a:shade val="15000"/>
              </a:schemeClr>
            </a:solidFill>
          </a:ln>
        </p:spPr>
        <p:txBody>
          <a:bodyPr wrap="none" rtlCol="0">
            <a:spAutoFit/>
          </a:bodyPr>
          <a:lstStyle/>
          <a:p>
            <a:r>
              <a:rPr lang="en-US" dirty="0"/>
              <a:t>Range Finder</a:t>
            </a:r>
          </a:p>
        </p:txBody>
      </p:sp>
      <p:sp>
        <p:nvSpPr>
          <p:cNvPr id="15" name="TextBox 14">
            <a:extLst>
              <a:ext uri="{FF2B5EF4-FFF2-40B4-BE49-F238E27FC236}">
                <a16:creationId xmlns:a16="http://schemas.microsoft.com/office/drawing/2014/main" id="{25133D7B-46AC-31C0-6588-90F1A761AD73}"/>
              </a:ext>
            </a:extLst>
          </p:cNvPr>
          <p:cNvSpPr txBox="1"/>
          <p:nvPr/>
        </p:nvSpPr>
        <p:spPr>
          <a:xfrm>
            <a:off x="10503220" y="2997560"/>
            <a:ext cx="938077" cy="369332"/>
          </a:xfrm>
          <a:prstGeom prst="rect">
            <a:avLst/>
          </a:prstGeom>
          <a:noFill/>
          <a:ln w="19050">
            <a:solidFill>
              <a:schemeClr val="accent1">
                <a:shade val="15000"/>
              </a:schemeClr>
            </a:solidFill>
          </a:ln>
        </p:spPr>
        <p:txBody>
          <a:bodyPr wrap="none" rtlCol="0">
            <a:spAutoFit/>
          </a:bodyPr>
          <a:lstStyle/>
          <a:p>
            <a:r>
              <a:rPr lang="en-US" dirty="0"/>
              <a:t>Gripper</a:t>
            </a:r>
          </a:p>
        </p:txBody>
      </p:sp>
      <p:cxnSp>
        <p:nvCxnSpPr>
          <p:cNvPr id="18" name="Straight Arrow Connector 17">
            <a:extLst>
              <a:ext uri="{FF2B5EF4-FFF2-40B4-BE49-F238E27FC236}">
                <a16:creationId xmlns:a16="http://schemas.microsoft.com/office/drawing/2014/main" id="{C5B20F6C-1685-EFB0-CD24-F9291E5C158C}"/>
              </a:ext>
            </a:extLst>
          </p:cNvPr>
          <p:cNvCxnSpPr>
            <a:cxnSpLocks/>
          </p:cNvCxnSpPr>
          <p:nvPr/>
        </p:nvCxnSpPr>
        <p:spPr>
          <a:xfrm flipH="1">
            <a:off x="9447360" y="2550437"/>
            <a:ext cx="10558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6779FB44-C1FE-399F-C967-8B0384F99450}"/>
              </a:ext>
            </a:extLst>
          </p:cNvPr>
          <p:cNvCxnSpPr>
            <a:cxnSpLocks/>
            <a:endCxn id="15" idx="1"/>
          </p:cNvCxnSpPr>
          <p:nvPr/>
        </p:nvCxnSpPr>
        <p:spPr>
          <a:xfrm>
            <a:off x="9447360" y="3182226"/>
            <a:ext cx="10558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Down Arrow 22">
            <a:extLst>
              <a:ext uri="{FF2B5EF4-FFF2-40B4-BE49-F238E27FC236}">
                <a16:creationId xmlns:a16="http://schemas.microsoft.com/office/drawing/2014/main" id="{6D53965A-0A18-CC2A-DE21-8F6E47D39CB3}"/>
              </a:ext>
            </a:extLst>
          </p:cNvPr>
          <p:cNvSpPr/>
          <p:nvPr/>
        </p:nvSpPr>
        <p:spPr>
          <a:xfrm rot="15114947">
            <a:off x="4782928" y="3838931"/>
            <a:ext cx="326352" cy="137009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own Arrow 23">
            <a:extLst>
              <a:ext uri="{FF2B5EF4-FFF2-40B4-BE49-F238E27FC236}">
                <a16:creationId xmlns:a16="http://schemas.microsoft.com/office/drawing/2014/main" id="{352F9FDA-935F-CBAF-2869-3397B35E921C}"/>
              </a:ext>
            </a:extLst>
          </p:cNvPr>
          <p:cNvSpPr/>
          <p:nvPr/>
        </p:nvSpPr>
        <p:spPr>
          <a:xfrm rot="6596216">
            <a:off x="6062126" y="3820269"/>
            <a:ext cx="326352" cy="136848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ADC9EAC6-6DAA-A3C5-E1B9-BC6DC4853449}"/>
              </a:ext>
            </a:extLst>
          </p:cNvPr>
          <p:cNvSpPr txBox="1"/>
          <p:nvPr/>
        </p:nvSpPr>
        <p:spPr>
          <a:xfrm>
            <a:off x="4551655" y="4844990"/>
            <a:ext cx="2310697" cy="369332"/>
          </a:xfrm>
          <a:prstGeom prst="rect">
            <a:avLst/>
          </a:prstGeom>
          <a:noFill/>
        </p:spPr>
        <p:txBody>
          <a:bodyPr wrap="none" rtlCol="0">
            <a:spAutoFit/>
          </a:bodyPr>
          <a:lstStyle/>
          <a:p>
            <a:r>
              <a:rPr lang="en-US" dirty="0"/>
              <a:t>Bluetooth RF Comms</a:t>
            </a:r>
          </a:p>
        </p:txBody>
      </p:sp>
      <p:sp>
        <p:nvSpPr>
          <p:cNvPr id="26" name="TextBox 25">
            <a:extLst>
              <a:ext uri="{FF2B5EF4-FFF2-40B4-BE49-F238E27FC236}">
                <a16:creationId xmlns:a16="http://schemas.microsoft.com/office/drawing/2014/main" id="{BEDC6CA3-ACA2-5448-788D-DF5BEB98E600}"/>
              </a:ext>
            </a:extLst>
          </p:cNvPr>
          <p:cNvSpPr txBox="1"/>
          <p:nvPr/>
        </p:nvSpPr>
        <p:spPr>
          <a:xfrm>
            <a:off x="5360925" y="2051867"/>
            <a:ext cx="1343573" cy="646331"/>
          </a:xfrm>
          <a:prstGeom prst="rect">
            <a:avLst/>
          </a:prstGeom>
          <a:noFill/>
        </p:spPr>
        <p:txBody>
          <a:bodyPr wrap="none" rtlCol="0">
            <a:spAutoFit/>
          </a:bodyPr>
          <a:lstStyle/>
          <a:p>
            <a:pPr algn="ctr"/>
            <a:r>
              <a:rPr lang="en-US" dirty="0"/>
              <a:t>Direct</a:t>
            </a:r>
          </a:p>
          <a:p>
            <a:pPr algn="ctr"/>
            <a:r>
              <a:rPr lang="en-US" dirty="0" err="1"/>
              <a:t>WiFi</a:t>
            </a:r>
            <a:r>
              <a:rPr lang="en-US" dirty="0"/>
              <a:t> to </a:t>
            </a:r>
            <a:r>
              <a:rPr lang="en-US" dirty="0" err="1"/>
              <a:t>WiFi</a:t>
            </a:r>
            <a:endParaRPr lang="en-US" dirty="0"/>
          </a:p>
        </p:txBody>
      </p:sp>
      <p:sp>
        <p:nvSpPr>
          <p:cNvPr id="28" name="Up-Down Arrow 27">
            <a:extLst>
              <a:ext uri="{FF2B5EF4-FFF2-40B4-BE49-F238E27FC236}">
                <a16:creationId xmlns:a16="http://schemas.microsoft.com/office/drawing/2014/main" id="{27BE876D-AB0D-CE6D-4E6C-268C4990D9FA}"/>
              </a:ext>
            </a:extLst>
          </p:cNvPr>
          <p:cNvSpPr/>
          <p:nvPr/>
        </p:nvSpPr>
        <p:spPr>
          <a:xfrm rot="16200000">
            <a:off x="5915864" y="1380247"/>
            <a:ext cx="375198" cy="1346126"/>
          </a:xfrm>
          <a:prstGeom prst="upDownArrow">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1C5EFAC-ECF1-8F2C-007A-986EB8C7D710}"/>
              </a:ext>
            </a:extLst>
          </p:cNvPr>
          <p:cNvSpPr txBox="1"/>
          <p:nvPr/>
        </p:nvSpPr>
        <p:spPr>
          <a:xfrm>
            <a:off x="6883840" y="4130473"/>
            <a:ext cx="2580175" cy="1477328"/>
          </a:xfrm>
          <a:prstGeom prst="rect">
            <a:avLst/>
          </a:prstGeom>
          <a:noFill/>
          <a:ln w="19050">
            <a:solidFill>
              <a:schemeClr val="accent1">
                <a:shade val="15000"/>
              </a:schemeClr>
            </a:solidFill>
          </a:ln>
        </p:spPr>
        <p:txBody>
          <a:bodyPr wrap="square" rtlCol="0">
            <a:spAutoFit/>
          </a:bodyPr>
          <a:lstStyle/>
          <a:p>
            <a:pPr algn="ctr"/>
            <a:endParaRPr lang="en-US" dirty="0"/>
          </a:p>
          <a:p>
            <a:pPr algn="ctr"/>
            <a:r>
              <a:rPr lang="en-US" dirty="0"/>
              <a:t>ESP-32 Dev Module Vehicle Bluetooth Control</a:t>
            </a:r>
          </a:p>
          <a:p>
            <a:pPr algn="ctr"/>
            <a:endParaRPr lang="en-US" dirty="0"/>
          </a:p>
        </p:txBody>
      </p:sp>
      <p:sp>
        <p:nvSpPr>
          <p:cNvPr id="21" name="TextBox 20">
            <a:extLst>
              <a:ext uri="{FF2B5EF4-FFF2-40B4-BE49-F238E27FC236}">
                <a16:creationId xmlns:a16="http://schemas.microsoft.com/office/drawing/2014/main" id="{2EEEB2C9-D209-E50D-E256-8739F4F0E794}"/>
              </a:ext>
            </a:extLst>
          </p:cNvPr>
          <p:cNvSpPr txBox="1"/>
          <p:nvPr/>
        </p:nvSpPr>
        <p:spPr>
          <a:xfrm>
            <a:off x="7252663" y="5915181"/>
            <a:ext cx="3136949" cy="369332"/>
          </a:xfrm>
          <a:prstGeom prst="rect">
            <a:avLst/>
          </a:prstGeom>
          <a:noFill/>
          <a:ln w="19050">
            <a:solidFill>
              <a:schemeClr val="accent1">
                <a:shade val="15000"/>
              </a:schemeClr>
            </a:solidFill>
          </a:ln>
        </p:spPr>
        <p:txBody>
          <a:bodyPr wrap="none" rtlCol="0">
            <a:spAutoFit/>
          </a:bodyPr>
          <a:lstStyle/>
          <a:p>
            <a:r>
              <a:rPr lang="en-US" dirty="0"/>
              <a:t>Web Cam with ESP-32 </a:t>
            </a:r>
            <a:r>
              <a:rPr lang="en-US" dirty="0" err="1"/>
              <a:t>Wrover</a:t>
            </a:r>
            <a:endParaRPr lang="en-US" dirty="0"/>
          </a:p>
        </p:txBody>
      </p:sp>
      <p:sp>
        <p:nvSpPr>
          <p:cNvPr id="22" name="TextBox 21">
            <a:extLst>
              <a:ext uri="{FF2B5EF4-FFF2-40B4-BE49-F238E27FC236}">
                <a16:creationId xmlns:a16="http://schemas.microsoft.com/office/drawing/2014/main" id="{C7E63846-12F1-010D-E691-52DCEEE34881}"/>
              </a:ext>
            </a:extLst>
          </p:cNvPr>
          <p:cNvSpPr txBox="1"/>
          <p:nvPr/>
        </p:nvSpPr>
        <p:spPr>
          <a:xfrm>
            <a:off x="2093278" y="5926756"/>
            <a:ext cx="1909946" cy="369332"/>
          </a:xfrm>
          <a:prstGeom prst="rect">
            <a:avLst/>
          </a:prstGeom>
          <a:noFill/>
          <a:ln w="19050">
            <a:solidFill>
              <a:schemeClr val="accent1">
                <a:shade val="15000"/>
              </a:schemeClr>
            </a:solidFill>
          </a:ln>
        </p:spPr>
        <p:txBody>
          <a:bodyPr wrap="none" rtlCol="0">
            <a:spAutoFit/>
          </a:bodyPr>
          <a:lstStyle/>
          <a:p>
            <a:r>
              <a:rPr lang="en-US" dirty="0"/>
              <a:t>Router 2.4G (Alvi)</a:t>
            </a:r>
          </a:p>
        </p:txBody>
      </p:sp>
      <p:sp>
        <p:nvSpPr>
          <p:cNvPr id="29" name="Up-Down Arrow 28">
            <a:extLst>
              <a:ext uri="{FF2B5EF4-FFF2-40B4-BE49-F238E27FC236}">
                <a16:creationId xmlns:a16="http://schemas.microsoft.com/office/drawing/2014/main" id="{0135A389-42F2-20A1-7E02-A4A91B467AAE}"/>
              </a:ext>
            </a:extLst>
          </p:cNvPr>
          <p:cNvSpPr/>
          <p:nvPr/>
        </p:nvSpPr>
        <p:spPr>
          <a:xfrm rot="16200000">
            <a:off x="5232176" y="4749970"/>
            <a:ext cx="375198" cy="2833102"/>
          </a:xfrm>
          <a:prstGeom prst="upDownArrow">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Up-Down Arrow 29">
            <a:extLst>
              <a:ext uri="{FF2B5EF4-FFF2-40B4-BE49-F238E27FC236}">
                <a16:creationId xmlns:a16="http://schemas.microsoft.com/office/drawing/2014/main" id="{2B90F362-A650-6BC7-E87C-3AB2EBF2744D}"/>
              </a:ext>
            </a:extLst>
          </p:cNvPr>
          <p:cNvSpPr/>
          <p:nvPr/>
        </p:nvSpPr>
        <p:spPr>
          <a:xfrm rot="16200000">
            <a:off x="1452244" y="5628819"/>
            <a:ext cx="375198" cy="904623"/>
          </a:xfrm>
          <a:prstGeom prst="upDownArrow">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Up-Down Arrow 30">
            <a:extLst>
              <a:ext uri="{FF2B5EF4-FFF2-40B4-BE49-F238E27FC236}">
                <a16:creationId xmlns:a16="http://schemas.microsoft.com/office/drawing/2014/main" id="{71856707-158F-BB6A-A5E7-5FF7C0663AC8}"/>
              </a:ext>
            </a:extLst>
          </p:cNvPr>
          <p:cNvSpPr/>
          <p:nvPr/>
        </p:nvSpPr>
        <p:spPr>
          <a:xfrm>
            <a:off x="994529" y="4367826"/>
            <a:ext cx="375198" cy="1724215"/>
          </a:xfrm>
          <a:prstGeom prst="upDownArrow">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F1E4D1C-381F-DA80-F47C-978DD8432414}"/>
              </a:ext>
            </a:extLst>
          </p:cNvPr>
          <p:cNvSpPr txBox="1"/>
          <p:nvPr/>
        </p:nvSpPr>
        <p:spPr>
          <a:xfrm>
            <a:off x="10501245" y="1772424"/>
            <a:ext cx="611065" cy="369332"/>
          </a:xfrm>
          <a:prstGeom prst="rect">
            <a:avLst/>
          </a:prstGeom>
          <a:noFill/>
          <a:ln w="19050">
            <a:solidFill>
              <a:schemeClr val="accent1">
                <a:shade val="15000"/>
              </a:schemeClr>
            </a:solidFill>
          </a:ln>
        </p:spPr>
        <p:txBody>
          <a:bodyPr wrap="none" rtlCol="0">
            <a:spAutoFit/>
          </a:bodyPr>
          <a:lstStyle/>
          <a:p>
            <a:r>
              <a:rPr lang="en-US" dirty="0"/>
              <a:t>GPS</a:t>
            </a:r>
          </a:p>
        </p:txBody>
      </p:sp>
      <p:cxnSp>
        <p:nvCxnSpPr>
          <p:cNvPr id="17" name="Straight Arrow Connector 16">
            <a:extLst>
              <a:ext uri="{FF2B5EF4-FFF2-40B4-BE49-F238E27FC236}">
                <a16:creationId xmlns:a16="http://schemas.microsoft.com/office/drawing/2014/main" id="{DAB45278-C6F2-4DAA-9160-13CBDFC0B4B1}"/>
              </a:ext>
            </a:extLst>
          </p:cNvPr>
          <p:cNvCxnSpPr>
            <a:cxnSpLocks/>
            <a:endCxn id="12" idx="1"/>
          </p:cNvCxnSpPr>
          <p:nvPr/>
        </p:nvCxnSpPr>
        <p:spPr>
          <a:xfrm>
            <a:off x="9445385" y="1957090"/>
            <a:ext cx="10558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CDF3C8F0-C384-19B9-BCF8-43EAE963CBBD}"/>
              </a:ext>
            </a:extLst>
          </p:cNvPr>
          <p:cNvSpPr txBox="1"/>
          <p:nvPr/>
        </p:nvSpPr>
        <p:spPr>
          <a:xfrm>
            <a:off x="10513120" y="3541842"/>
            <a:ext cx="992579" cy="369332"/>
          </a:xfrm>
          <a:prstGeom prst="rect">
            <a:avLst/>
          </a:prstGeom>
          <a:noFill/>
          <a:ln w="19050">
            <a:solidFill>
              <a:schemeClr val="accent1">
                <a:shade val="15000"/>
              </a:schemeClr>
            </a:solidFill>
          </a:ln>
        </p:spPr>
        <p:txBody>
          <a:bodyPr wrap="none" rtlCol="0">
            <a:spAutoFit/>
          </a:bodyPr>
          <a:lstStyle/>
          <a:p>
            <a:r>
              <a:rPr lang="en-US" dirty="0"/>
              <a:t>16 LEDs</a:t>
            </a:r>
          </a:p>
        </p:txBody>
      </p:sp>
      <p:cxnSp>
        <p:nvCxnSpPr>
          <p:cNvPr id="27" name="Straight Arrow Connector 26">
            <a:extLst>
              <a:ext uri="{FF2B5EF4-FFF2-40B4-BE49-F238E27FC236}">
                <a16:creationId xmlns:a16="http://schemas.microsoft.com/office/drawing/2014/main" id="{DA3CB43D-F73D-9979-F034-CB3374787F8E}"/>
              </a:ext>
            </a:extLst>
          </p:cNvPr>
          <p:cNvCxnSpPr>
            <a:cxnSpLocks/>
            <a:endCxn id="20" idx="1"/>
          </p:cNvCxnSpPr>
          <p:nvPr/>
        </p:nvCxnSpPr>
        <p:spPr>
          <a:xfrm>
            <a:off x="9457260" y="3726508"/>
            <a:ext cx="10558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A569B25A-605F-A437-B0FD-7C615B0E3A95}"/>
              </a:ext>
            </a:extLst>
          </p:cNvPr>
          <p:cNvSpPr txBox="1"/>
          <p:nvPr/>
        </p:nvSpPr>
        <p:spPr>
          <a:xfrm>
            <a:off x="430574" y="3938737"/>
            <a:ext cx="1639680" cy="369332"/>
          </a:xfrm>
          <a:prstGeom prst="rect">
            <a:avLst/>
          </a:prstGeom>
          <a:noFill/>
          <a:ln w="19050">
            <a:solidFill>
              <a:schemeClr val="accent1">
                <a:shade val="15000"/>
              </a:schemeClr>
            </a:solidFill>
          </a:ln>
        </p:spPr>
        <p:txBody>
          <a:bodyPr wrap="none" rtlCol="0">
            <a:spAutoFit/>
          </a:bodyPr>
          <a:lstStyle/>
          <a:p>
            <a:r>
              <a:rPr lang="en-US" dirty="0"/>
              <a:t>Camera Image</a:t>
            </a:r>
          </a:p>
        </p:txBody>
      </p:sp>
      <p:sp>
        <p:nvSpPr>
          <p:cNvPr id="33" name="Slide Number Placeholder 32">
            <a:extLst>
              <a:ext uri="{FF2B5EF4-FFF2-40B4-BE49-F238E27FC236}">
                <a16:creationId xmlns:a16="http://schemas.microsoft.com/office/drawing/2014/main" id="{5B67B5DA-A59D-1777-43F9-B505027AB13D}"/>
              </a:ext>
            </a:extLst>
          </p:cNvPr>
          <p:cNvSpPr>
            <a:spLocks noGrp="1"/>
          </p:cNvSpPr>
          <p:nvPr>
            <p:ph type="sldNum" sz="quarter" idx="12"/>
          </p:nvPr>
        </p:nvSpPr>
        <p:spPr/>
        <p:txBody>
          <a:bodyPr/>
          <a:lstStyle/>
          <a:p>
            <a:fld id="{0A6ADF2A-7A11-0149-A2B5-0401FD350CDC}" type="slidenum">
              <a:rPr lang="en-US" smtClean="0"/>
              <a:t>3</a:t>
            </a:fld>
            <a:endParaRPr lang="en-US"/>
          </a:p>
        </p:txBody>
      </p:sp>
    </p:spTree>
    <p:extLst>
      <p:ext uri="{BB962C8B-B14F-4D97-AF65-F5344CB8AC3E}">
        <p14:creationId xmlns:p14="http://schemas.microsoft.com/office/powerpoint/2010/main" val="1968986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CBC6A-F42D-55AF-E50F-2D1E9950C78D}"/>
              </a:ext>
            </a:extLst>
          </p:cNvPr>
          <p:cNvSpPr>
            <a:spLocks noGrp="1"/>
          </p:cNvSpPr>
          <p:nvPr>
            <p:ph type="title"/>
          </p:nvPr>
        </p:nvSpPr>
        <p:spPr>
          <a:xfrm>
            <a:off x="1935678" y="1"/>
            <a:ext cx="9418122" cy="700643"/>
          </a:xfrm>
        </p:spPr>
        <p:txBody>
          <a:bodyPr>
            <a:normAutofit/>
          </a:bodyPr>
          <a:lstStyle/>
          <a:p>
            <a:r>
              <a:rPr lang="en-US" sz="2800" b="1" dirty="0"/>
              <a:t>Find the Target Gen 3 Vehicle</a:t>
            </a:r>
          </a:p>
        </p:txBody>
      </p:sp>
      <p:sp>
        <p:nvSpPr>
          <p:cNvPr id="3" name="Slide Number Placeholder 2">
            <a:extLst>
              <a:ext uri="{FF2B5EF4-FFF2-40B4-BE49-F238E27FC236}">
                <a16:creationId xmlns:a16="http://schemas.microsoft.com/office/drawing/2014/main" id="{1DB0FB52-6DBB-401A-AA1F-CCD33EAA2F70}"/>
              </a:ext>
            </a:extLst>
          </p:cNvPr>
          <p:cNvSpPr>
            <a:spLocks noGrp="1"/>
          </p:cNvSpPr>
          <p:nvPr>
            <p:ph type="sldNum" sz="quarter" idx="12"/>
          </p:nvPr>
        </p:nvSpPr>
        <p:spPr/>
        <p:txBody>
          <a:bodyPr/>
          <a:lstStyle/>
          <a:p>
            <a:fld id="{0A6ADF2A-7A11-0149-A2B5-0401FD350CDC}" type="slidenum">
              <a:rPr lang="en-US" smtClean="0"/>
              <a:t>4</a:t>
            </a:fld>
            <a:endParaRPr lang="en-US"/>
          </a:p>
        </p:txBody>
      </p:sp>
      <p:pic>
        <p:nvPicPr>
          <p:cNvPr id="4" name="Picture 3">
            <a:extLst>
              <a:ext uri="{FF2B5EF4-FFF2-40B4-BE49-F238E27FC236}">
                <a16:creationId xmlns:a16="http://schemas.microsoft.com/office/drawing/2014/main" id="{4F4950E0-408E-B0A2-5ADF-4B0461B0AD80}"/>
              </a:ext>
            </a:extLst>
          </p:cNvPr>
          <p:cNvPicPr>
            <a:picLocks noChangeAspect="1"/>
          </p:cNvPicPr>
          <p:nvPr/>
        </p:nvPicPr>
        <p:blipFill>
          <a:blip r:embed="rId2"/>
          <a:stretch>
            <a:fillRect/>
          </a:stretch>
        </p:blipFill>
        <p:spPr>
          <a:xfrm>
            <a:off x="-50518" y="1708095"/>
            <a:ext cx="5917350" cy="3141785"/>
          </a:xfrm>
          <a:prstGeom prst="rect">
            <a:avLst/>
          </a:prstGeom>
        </p:spPr>
      </p:pic>
      <p:pic>
        <p:nvPicPr>
          <p:cNvPr id="5" name="Picture 4" descr="IMG_2914.jpeg">
            <a:extLst>
              <a:ext uri="{FF2B5EF4-FFF2-40B4-BE49-F238E27FC236}">
                <a16:creationId xmlns:a16="http://schemas.microsoft.com/office/drawing/2014/main" id="{5E18BD85-6580-15DC-9B48-8B997F15BFCC}"/>
              </a:ext>
            </a:extLst>
          </p:cNvPr>
          <p:cNvPicPr>
            <a:picLocks noChangeAspect="1"/>
          </p:cNvPicPr>
          <p:nvPr/>
        </p:nvPicPr>
        <p:blipFill>
          <a:blip r:embed="rId3"/>
          <a:stretch>
            <a:fillRect/>
          </a:stretch>
        </p:blipFill>
        <p:spPr>
          <a:xfrm>
            <a:off x="6274649" y="1500317"/>
            <a:ext cx="5709706" cy="4282280"/>
          </a:xfrm>
          <a:prstGeom prst="rect">
            <a:avLst/>
          </a:prstGeom>
        </p:spPr>
      </p:pic>
    </p:spTree>
    <p:extLst>
      <p:ext uri="{BB962C8B-B14F-4D97-AF65-F5344CB8AC3E}">
        <p14:creationId xmlns:p14="http://schemas.microsoft.com/office/powerpoint/2010/main" val="2184493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815F7-2BA9-21F1-B739-8BC6CC4C65E2}"/>
              </a:ext>
            </a:extLst>
          </p:cNvPr>
          <p:cNvSpPr>
            <a:spLocks noGrp="1"/>
          </p:cNvSpPr>
          <p:nvPr>
            <p:ph type="title"/>
          </p:nvPr>
        </p:nvSpPr>
        <p:spPr>
          <a:xfrm>
            <a:off x="838200" y="0"/>
            <a:ext cx="10515600" cy="598043"/>
          </a:xfrm>
        </p:spPr>
        <p:txBody>
          <a:bodyPr>
            <a:normAutofit fontScale="90000"/>
          </a:bodyPr>
          <a:lstStyle/>
          <a:p>
            <a:r>
              <a:rPr lang="en-US" dirty="0"/>
              <a:t>Global Positioning System</a:t>
            </a:r>
          </a:p>
        </p:txBody>
      </p:sp>
      <p:sp>
        <p:nvSpPr>
          <p:cNvPr id="3" name="Slide Number Placeholder 2">
            <a:extLst>
              <a:ext uri="{FF2B5EF4-FFF2-40B4-BE49-F238E27FC236}">
                <a16:creationId xmlns:a16="http://schemas.microsoft.com/office/drawing/2014/main" id="{01A48236-EF86-84A2-1549-5C1E35411F33}"/>
              </a:ext>
            </a:extLst>
          </p:cNvPr>
          <p:cNvSpPr>
            <a:spLocks noGrp="1"/>
          </p:cNvSpPr>
          <p:nvPr>
            <p:ph type="sldNum" sz="quarter" idx="12"/>
          </p:nvPr>
        </p:nvSpPr>
        <p:spPr/>
        <p:txBody>
          <a:bodyPr/>
          <a:lstStyle/>
          <a:p>
            <a:fld id="{0A6ADF2A-7A11-0149-A2B5-0401FD350CDC}" type="slidenum">
              <a:rPr lang="en-US" smtClean="0"/>
              <a:t>5</a:t>
            </a:fld>
            <a:endParaRPr lang="en-US"/>
          </a:p>
        </p:txBody>
      </p:sp>
      <p:sp>
        <p:nvSpPr>
          <p:cNvPr id="4" name="TextBox 3">
            <a:extLst>
              <a:ext uri="{FF2B5EF4-FFF2-40B4-BE49-F238E27FC236}">
                <a16:creationId xmlns:a16="http://schemas.microsoft.com/office/drawing/2014/main" id="{A8A32C1A-1754-C329-3847-701B182B583A}"/>
              </a:ext>
            </a:extLst>
          </p:cNvPr>
          <p:cNvSpPr txBox="1"/>
          <p:nvPr/>
        </p:nvSpPr>
        <p:spPr>
          <a:xfrm>
            <a:off x="202946" y="5799508"/>
            <a:ext cx="11150854" cy="923330"/>
          </a:xfrm>
          <a:prstGeom prst="rect">
            <a:avLst/>
          </a:prstGeom>
          <a:noFill/>
        </p:spPr>
        <p:txBody>
          <a:bodyPr wrap="square" rtlCol="0">
            <a:spAutoFit/>
          </a:bodyPr>
          <a:lstStyle/>
          <a:p>
            <a:r>
              <a:rPr lang="en-US" dirty="0">
                <a:hlinkClick r:id="rId2"/>
              </a:rPr>
              <a:t>How GPS Works Simplified 9min	    https://www.youtube.com/watch?v=AlHPDRQ08jU</a:t>
            </a:r>
          </a:p>
          <a:p>
            <a:r>
              <a:rPr lang="en-US" dirty="0">
                <a:hlinkClick r:id="rId2"/>
              </a:rPr>
              <a:t>How does GPS Navigation Work 9min	    https://www.youtube.com/watch?v=PaxinQDZUVM</a:t>
            </a:r>
          </a:p>
          <a:p>
            <a:r>
              <a:rPr lang="en-US" dirty="0">
                <a:hlinkClick r:id="rId2"/>
              </a:rPr>
              <a:t>How does GPS Work 17 minutes	    https://www.youtube.com/watch?v=qPTIi7Ds15M</a:t>
            </a:r>
            <a:endParaRPr lang="en-US" dirty="0"/>
          </a:p>
        </p:txBody>
      </p:sp>
      <p:sp>
        <p:nvSpPr>
          <p:cNvPr id="5" name="TextBox 4">
            <a:extLst>
              <a:ext uri="{FF2B5EF4-FFF2-40B4-BE49-F238E27FC236}">
                <a16:creationId xmlns:a16="http://schemas.microsoft.com/office/drawing/2014/main" id="{FAAEC98F-959A-6F08-85CA-E391905BACF6}"/>
              </a:ext>
            </a:extLst>
          </p:cNvPr>
          <p:cNvSpPr txBox="1"/>
          <p:nvPr/>
        </p:nvSpPr>
        <p:spPr>
          <a:xfrm>
            <a:off x="30562" y="598043"/>
            <a:ext cx="8203143" cy="1200329"/>
          </a:xfrm>
          <a:prstGeom prst="rect">
            <a:avLst/>
          </a:prstGeom>
          <a:noFill/>
        </p:spPr>
        <p:txBody>
          <a:bodyPr wrap="none" rtlCol="0">
            <a:spAutoFit/>
          </a:bodyPr>
          <a:lstStyle/>
          <a:p>
            <a:r>
              <a:rPr lang="en-US" dirty="0"/>
              <a:t>GPS works by measuring your distance from at least four satellites orbiting Earth. </a:t>
            </a:r>
          </a:p>
          <a:p>
            <a:r>
              <a:rPr lang="en-US" dirty="0"/>
              <a:t>The receiver calculates how long a radio signal takes to travel from </a:t>
            </a:r>
          </a:p>
          <a:p>
            <a:r>
              <a:rPr lang="en-US" dirty="0"/>
              <a:t>the satellite to your device and multiplies it by the speed of light. </a:t>
            </a:r>
          </a:p>
          <a:p>
            <a:r>
              <a:rPr lang="en-US" dirty="0"/>
              <a:t>This creates an invisible sphere of possible locations around each satellite. [</a:t>
            </a:r>
            <a:r>
              <a:rPr lang="en-US" dirty="0">
                <a:hlinkClick r:id="rId3"/>
              </a:rPr>
              <a:t>1</a:t>
            </a:r>
            <a:r>
              <a:rPr lang="en-US" dirty="0"/>
              <a:t>, </a:t>
            </a:r>
            <a:r>
              <a:rPr lang="en-US" dirty="0">
                <a:hlinkClick r:id="rId4"/>
              </a:rPr>
              <a:t>2</a:t>
            </a:r>
            <a:r>
              <a:rPr lang="en-US" dirty="0"/>
              <a:t>]</a:t>
            </a:r>
          </a:p>
        </p:txBody>
      </p:sp>
      <p:pic>
        <p:nvPicPr>
          <p:cNvPr id="6" name="Picture 5" descr="How Do GPS Trackers Work – GPS Tracker Shop">
            <a:extLst>
              <a:ext uri="{FF2B5EF4-FFF2-40B4-BE49-F238E27FC236}">
                <a16:creationId xmlns:a16="http://schemas.microsoft.com/office/drawing/2014/main" id="{53725740-FE32-4BA4-440D-EE34494ADDEE}"/>
              </a:ext>
            </a:extLst>
          </p:cNvPr>
          <p:cNvPicPr>
            <a:picLocks noChangeAspect="1"/>
          </p:cNvPicPr>
          <p:nvPr/>
        </p:nvPicPr>
        <p:blipFill>
          <a:blip r:embed="rId5"/>
          <a:stretch>
            <a:fillRect/>
          </a:stretch>
        </p:blipFill>
        <p:spPr>
          <a:xfrm>
            <a:off x="30562" y="1798372"/>
            <a:ext cx="7101677" cy="3979799"/>
          </a:xfrm>
          <a:prstGeom prst="rect">
            <a:avLst/>
          </a:prstGeom>
        </p:spPr>
      </p:pic>
      <p:pic>
        <p:nvPicPr>
          <p:cNvPr id="7" name="Picture 6" descr="How Does GPS Work? | GlobalSpec">
            <a:extLst>
              <a:ext uri="{FF2B5EF4-FFF2-40B4-BE49-F238E27FC236}">
                <a16:creationId xmlns:a16="http://schemas.microsoft.com/office/drawing/2014/main" id="{D22BAF31-23A7-743F-7AF8-6511F08F73C5}"/>
              </a:ext>
            </a:extLst>
          </p:cNvPr>
          <p:cNvPicPr>
            <a:picLocks noChangeAspect="1"/>
          </p:cNvPicPr>
          <p:nvPr/>
        </p:nvPicPr>
        <p:blipFill>
          <a:blip r:embed="rId6"/>
          <a:stretch>
            <a:fillRect/>
          </a:stretch>
        </p:blipFill>
        <p:spPr>
          <a:xfrm>
            <a:off x="7490206" y="2176907"/>
            <a:ext cx="4498848" cy="3949836"/>
          </a:xfrm>
          <a:prstGeom prst="rect">
            <a:avLst/>
          </a:prstGeom>
        </p:spPr>
      </p:pic>
      <p:sp>
        <p:nvSpPr>
          <p:cNvPr id="8" name="Donut 7">
            <a:extLst>
              <a:ext uri="{FF2B5EF4-FFF2-40B4-BE49-F238E27FC236}">
                <a16:creationId xmlns:a16="http://schemas.microsoft.com/office/drawing/2014/main" id="{9C06840A-F07A-1A24-20EE-157C98B090E4}"/>
              </a:ext>
            </a:extLst>
          </p:cNvPr>
          <p:cNvSpPr/>
          <p:nvPr/>
        </p:nvSpPr>
        <p:spPr>
          <a:xfrm>
            <a:off x="9265920" y="449115"/>
            <a:ext cx="1914144" cy="1798372"/>
          </a:xfrm>
          <a:prstGeom prst="donut">
            <a:avLst>
              <a:gd name="adj" fmla="val 246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893BDC6C-3ECC-B0AB-C5E9-BF058A0F70DA}"/>
              </a:ext>
            </a:extLst>
          </p:cNvPr>
          <p:cNvSpPr txBox="1"/>
          <p:nvPr/>
        </p:nvSpPr>
        <p:spPr>
          <a:xfrm>
            <a:off x="8664162" y="4080"/>
            <a:ext cx="3309176" cy="369332"/>
          </a:xfrm>
          <a:prstGeom prst="rect">
            <a:avLst/>
          </a:prstGeom>
          <a:noFill/>
        </p:spPr>
        <p:txBody>
          <a:bodyPr wrap="none" rtlCol="0">
            <a:spAutoFit/>
          </a:bodyPr>
          <a:lstStyle/>
          <a:p>
            <a:r>
              <a:rPr lang="en-US" dirty="0"/>
              <a:t>One satellite possible locations</a:t>
            </a:r>
          </a:p>
        </p:txBody>
      </p:sp>
      <p:sp>
        <p:nvSpPr>
          <p:cNvPr id="10" name="Oval 9">
            <a:extLst>
              <a:ext uri="{FF2B5EF4-FFF2-40B4-BE49-F238E27FC236}">
                <a16:creationId xmlns:a16="http://schemas.microsoft.com/office/drawing/2014/main" id="{3B7E56B9-9513-523F-E68F-079150A8C3E2}"/>
              </a:ext>
            </a:extLst>
          </p:cNvPr>
          <p:cNvSpPr/>
          <p:nvPr/>
        </p:nvSpPr>
        <p:spPr>
          <a:xfrm>
            <a:off x="10318750" y="598043"/>
            <a:ext cx="129794"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DD392D1-1F1C-8CFE-2C2C-4A76498D1FB1}"/>
              </a:ext>
            </a:extLst>
          </p:cNvPr>
          <p:cNvSpPr/>
          <p:nvPr/>
        </p:nvSpPr>
        <p:spPr>
          <a:xfrm>
            <a:off x="10812526" y="1311275"/>
            <a:ext cx="129794"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2ECAB27-2A2C-516A-4186-C912860792D8}"/>
              </a:ext>
            </a:extLst>
          </p:cNvPr>
          <p:cNvSpPr/>
          <p:nvPr/>
        </p:nvSpPr>
        <p:spPr>
          <a:xfrm>
            <a:off x="9739630" y="750443"/>
            <a:ext cx="129794"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A1E31F6-6898-EA00-B4EA-AF98C1AC8A19}"/>
              </a:ext>
            </a:extLst>
          </p:cNvPr>
          <p:cNvSpPr/>
          <p:nvPr/>
        </p:nvSpPr>
        <p:spPr>
          <a:xfrm>
            <a:off x="10233406" y="1463675"/>
            <a:ext cx="129794"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047D015-7BE7-3724-FF30-140C1DD30EFA}"/>
              </a:ext>
            </a:extLst>
          </p:cNvPr>
          <p:cNvSpPr/>
          <p:nvPr/>
        </p:nvSpPr>
        <p:spPr>
          <a:xfrm>
            <a:off x="9593326" y="1396619"/>
            <a:ext cx="129794"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FE7D2003-20C2-B3C4-4E5B-BFABBA6DE211}"/>
              </a:ext>
            </a:extLst>
          </p:cNvPr>
          <p:cNvSpPr/>
          <p:nvPr/>
        </p:nvSpPr>
        <p:spPr>
          <a:xfrm>
            <a:off x="10087102" y="2109851"/>
            <a:ext cx="129794"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8906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1800" y="407062"/>
            <a:ext cx="6172200" cy="450188"/>
          </a:xfrm>
        </p:spPr>
        <p:txBody>
          <a:bodyPr>
            <a:noAutofit/>
          </a:bodyPr>
          <a:lstStyle/>
          <a:p>
            <a:r>
              <a:rPr lang="en-US" sz="2800" dirty="0"/>
              <a:t>Ultrasonic Range Finder</a:t>
            </a:r>
          </a:p>
        </p:txBody>
      </p:sp>
      <p:sp>
        <p:nvSpPr>
          <p:cNvPr id="3" name="Slide Number Placeholder 2"/>
          <p:cNvSpPr>
            <a:spLocks noGrp="1"/>
          </p:cNvSpPr>
          <p:nvPr>
            <p:ph type="sldNum" sz="quarter" idx="12"/>
          </p:nvPr>
        </p:nvSpPr>
        <p:spPr/>
        <p:txBody>
          <a:bodyPr/>
          <a:lstStyle/>
          <a:p>
            <a:fld id="{9E372B65-9E1D-D94D-B5C7-40F9D8A71554}" type="slidenum">
              <a:rPr lang="en-US" smtClean="0"/>
              <a:t>6</a:t>
            </a:fld>
            <a:endParaRPr lang="en-US"/>
          </a:p>
        </p:txBody>
      </p:sp>
      <p:sp>
        <p:nvSpPr>
          <p:cNvPr id="5" name="Rectangle 4"/>
          <p:cNvSpPr/>
          <p:nvPr/>
        </p:nvSpPr>
        <p:spPr>
          <a:xfrm>
            <a:off x="1524000" y="995855"/>
            <a:ext cx="9144000" cy="3416320"/>
          </a:xfrm>
          <a:prstGeom prst="rect">
            <a:avLst/>
          </a:prstGeom>
        </p:spPr>
        <p:txBody>
          <a:bodyPr wrap="square">
            <a:spAutoFit/>
          </a:bodyPr>
          <a:lstStyle/>
          <a:p>
            <a:r>
              <a:rPr lang="en-US" dirty="0"/>
              <a:t>The Ping Sensor, also known as an Ultrasonic Ranger, can be used to measure the distance from the sensor to the closest object to the sensor.  A typical device, the HC-SR04 contains two ultrasonic transducers, one to transmit from and one to receive with, a transmit pulse generator, a receiver, interference filter and timing logic.</a:t>
            </a:r>
          </a:p>
          <a:p>
            <a:r>
              <a:rPr lang="en-US" dirty="0"/>
              <a:t> </a:t>
            </a:r>
          </a:p>
          <a:p>
            <a:r>
              <a:rPr lang="en-US" dirty="0"/>
              <a:t>To take a measurement we send the sensor a pulse and wait for a response.  When we pulse the sensor it sends out a burst of eight  40kHz pulses on the transmitter and starts looking for the echo of those pulses on the receiver.  When the receiver detects the echo, it sends us a signal.  The width of the return pulse is proportional to the distance to the object.  The delay from the pulse we send out, to the return pulse, is the amount of time it takes for sound to travel out from the sensor, to the object, and back.  Knowing the speed of sound, which is 1126 ft/sec, or 343 m/s, the distance can be calculated.</a:t>
            </a:r>
          </a:p>
        </p:txBody>
      </p:sp>
      <p:pic>
        <p:nvPicPr>
          <p:cNvPr id="6" name="Picture 5" descr="untrasonics"/>
          <p:cNvPicPr/>
          <p:nvPr/>
        </p:nvPicPr>
        <p:blipFill>
          <a:blip r:embed="rId2"/>
          <a:srcRect/>
          <a:stretch>
            <a:fillRect/>
          </a:stretch>
        </p:blipFill>
        <p:spPr bwMode="auto">
          <a:xfrm>
            <a:off x="3879817" y="5080794"/>
            <a:ext cx="2124605" cy="1538288"/>
          </a:xfrm>
          <a:prstGeom prst="rect">
            <a:avLst/>
          </a:prstGeom>
          <a:noFill/>
          <a:ln w="9525">
            <a:noFill/>
            <a:miter lim="800000"/>
            <a:headEnd/>
            <a:tailEnd/>
          </a:ln>
        </p:spPr>
      </p:pic>
      <p:pic>
        <p:nvPicPr>
          <p:cNvPr id="7" name="Picture 6"/>
          <p:cNvPicPr>
            <a:picLocks noChangeAspect="1"/>
          </p:cNvPicPr>
          <p:nvPr/>
        </p:nvPicPr>
        <p:blipFill>
          <a:blip r:embed="rId3"/>
          <a:stretch>
            <a:fillRect/>
          </a:stretch>
        </p:blipFill>
        <p:spPr>
          <a:xfrm>
            <a:off x="6533589" y="4940455"/>
            <a:ext cx="1874759" cy="1781021"/>
          </a:xfrm>
          <a:prstGeom prst="rect">
            <a:avLst/>
          </a:prstGeom>
        </p:spPr>
      </p:pic>
    </p:spTree>
    <p:extLst>
      <p:ext uri="{BB962C8B-B14F-4D97-AF65-F5344CB8AC3E}">
        <p14:creationId xmlns:p14="http://schemas.microsoft.com/office/powerpoint/2010/main" val="1880800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CE83E-40DD-3AC2-56F8-8F4ACA853E8D}"/>
              </a:ext>
            </a:extLst>
          </p:cNvPr>
          <p:cNvSpPr>
            <a:spLocks noGrp="1"/>
          </p:cNvSpPr>
          <p:nvPr>
            <p:ph type="title"/>
          </p:nvPr>
        </p:nvSpPr>
        <p:spPr>
          <a:xfrm>
            <a:off x="753359" y="0"/>
            <a:ext cx="10515600" cy="492714"/>
          </a:xfrm>
        </p:spPr>
        <p:txBody>
          <a:bodyPr>
            <a:normAutofit/>
          </a:bodyPr>
          <a:lstStyle/>
          <a:p>
            <a:r>
              <a:rPr lang="en-US" sz="2800" b="1" dirty="0"/>
              <a:t>Nintendo Switch Controller</a:t>
            </a:r>
          </a:p>
        </p:txBody>
      </p:sp>
      <p:pic>
        <p:nvPicPr>
          <p:cNvPr id="1028" name="Picture 4">
            <a:extLst>
              <a:ext uri="{FF2B5EF4-FFF2-40B4-BE49-F238E27FC236}">
                <a16:creationId xmlns:a16="http://schemas.microsoft.com/office/drawing/2014/main" id="{CB325508-6153-0AAB-7757-33AD83ECC6F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611" t="1667" r="3722" b="48667"/>
          <a:stretch>
            <a:fillRect/>
          </a:stretch>
        </p:blipFill>
        <p:spPr bwMode="auto">
          <a:xfrm>
            <a:off x="6983730" y="617220"/>
            <a:ext cx="5242458" cy="459486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34466AB-A203-BE28-5604-DBEFB1C3F389}"/>
              </a:ext>
            </a:extLst>
          </p:cNvPr>
          <p:cNvSpPr txBox="1"/>
          <p:nvPr/>
        </p:nvSpPr>
        <p:spPr>
          <a:xfrm>
            <a:off x="753359" y="845820"/>
            <a:ext cx="4893061" cy="5355312"/>
          </a:xfrm>
          <a:prstGeom prst="rect">
            <a:avLst/>
          </a:prstGeom>
          <a:noFill/>
        </p:spPr>
        <p:txBody>
          <a:bodyPr wrap="square" rtlCol="0">
            <a:spAutoFit/>
          </a:bodyPr>
          <a:lstStyle/>
          <a:p>
            <a:r>
              <a:rPr lang="en-US" dirty="0"/>
              <a:t>The Nintendo controller has all the features of the PS3 plus it does not have to determine its MAC address before pairing to a vehicle</a:t>
            </a:r>
          </a:p>
          <a:p>
            <a:endParaRPr lang="en-US" dirty="0"/>
          </a:p>
          <a:p>
            <a:r>
              <a:rPr lang="en-US" dirty="0"/>
              <a:t>It is charged via a 5V DC wall plug to the controller via a ‘C’ cable connector. The charge lasts much longer than the PS3</a:t>
            </a:r>
          </a:p>
          <a:p>
            <a:endParaRPr lang="en-US" dirty="0"/>
          </a:p>
          <a:p>
            <a:r>
              <a:rPr lang="en-US" dirty="0"/>
              <a:t>To Pair the controller with a Pathfinder Gen 3 vehicle, connect you ESP-32 to a PC.</a:t>
            </a:r>
          </a:p>
          <a:p>
            <a:r>
              <a:rPr lang="en-US" dirty="0"/>
              <a:t>Open any Arduino program and select the ESP-32 Dev  Board and the correct port.</a:t>
            </a:r>
          </a:p>
          <a:p>
            <a:r>
              <a:rPr lang="en-US" dirty="0"/>
              <a:t>Open the Serial Monitor and type ‘pair’ into the </a:t>
            </a:r>
            <a:r>
              <a:rPr lang="en-US" dirty="0" err="1"/>
              <a:t>inut</a:t>
            </a:r>
            <a:r>
              <a:rPr lang="en-US" dirty="0"/>
              <a:t> line and hit return.</a:t>
            </a:r>
          </a:p>
          <a:p>
            <a:r>
              <a:rPr lang="en-US" dirty="0"/>
              <a:t>On the controller, select ‘A” and ‘Home”. The vehicle will link to the controller and the monitor will print the controller MAC address. The address is not necessary, as the program will remember to controller.</a:t>
            </a:r>
          </a:p>
        </p:txBody>
      </p:sp>
    </p:spTree>
    <p:extLst>
      <p:ext uri="{BB962C8B-B14F-4D97-AF65-F5344CB8AC3E}">
        <p14:creationId xmlns:p14="http://schemas.microsoft.com/office/powerpoint/2010/main" val="1336686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6B045-B939-7AC8-F463-03607EDC7B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74D3F7-6994-11C9-B1B4-5033CA6AC7CF}"/>
              </a:ext>
            </a:extLst>
          </p:cNvPr>
          <p:cNvSpPr>
            <a:spLocks noGrp="1"/>
          </p:cNvSpPr>
          <p:nvPr>
            <p:ph type="title"/>
          </p:nvPr>
        </p:nvSpPr>
        <p:spPr>
          <a:xfrm>
            <a:off x="753359" y="0"/>
            <a:ext cx="10515600" cy="492714"/>
          </a:xfrm>
        </p:spPr>
        <p:txBody>
          <a:bodyPr>
            <a:normAutofit/>
          </a:bodyPr>
          <a:lstStyle/>
          <a:p>
            <a:r>
              <a:rPr lang="en-US" sz="2800" b="1" dirty="0"/>
              <a:t>Nintendo Switch Controller</a:t>
            </a:r>
          </a:p>
        </p:txBody>
      </p:sp>
      <p:pic>
        <p:nvPicPr>
          <p:cNvPr id="1026" name="Picture 2">
            <a:extLst>
              <a:ext uri="{FF2B5EF4-FFF2-40B4-BE49-F238E27FC236}">
                <a16:creationId xmlns:a16="http://schemas.microsoft.com/office/drawing/2014/main" id="{38231461-6E76-0847-A7AB-276BA8B1E3F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4500" b="12334"/>
          <a:stretch>
            <a:fillRect/>
          </a:stretch>
        </p:blipFill>
        <p:spPr bwMode="auto">
          <a:xfrm>
            <a:off x="914400" y="573151"/>
            <a:ext cx="9704070" cy="612973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86724929-83CE-6BB5-0B97-2892BE059356}"/>
              </a:ext>
            </a:extLst>
          </p:cNvPr>
          <p:cNvSpPr/>
          <p:nvPr/>
        </p:nvSpPr>
        <p:spPr>
          <a:xfrm>
            <a:off x="5569362" y="573151"/>
            <a:ext cx="182880" cy="580478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4147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 single Neopixel">
            <a:hlinkClick r:id="rId2"/>
            <a:extLst>
              <a:ext uri="{FF2B5EF4-FFF2-40B4-BE49-F238E27FC236}">
                <a16:creationId xmlns:a16="http://schemas.microsoft.com/office/drawing/2014/main" id="{F017ABE5-292A-0D48-9DE6-645B475ED8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4018" y="0"/>
            <a:ext cx="2774730" cy="160934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B2313AE-3789-C34B-8323-A6A71773B43A}"/>
              </a:ext>
            </a:extLst>
          </p:cNvPr>
          <p:cNvSpPr/>
          <p:nvPr/>
        </p:nvSpPr>
        <p:spPr>
          <a:xfrm>
            <a:off x="195072" y="17240"/>
            <a:ext cx="8838946" cy="4801314"/>
          </a:xfrm>
          <a:prstGeom prst="rect">
            <a:avLst/>
          </a:prstGeom>
        </p:spPr>
        <p:txBody>
          <a:bodyPr wrap="square">
            <a:spAutoFit/>
          </a:bodyPr>
          <a:lstStyle/>
          <a:p>
            <a:pPr fontAlgn="base"/>
            <a:r>
              <a:rPr lang="en-US" b="1" dirty="0">
                <a:latin typeface="Open Sans" panose="020B0606030504020204" pitchFamily="34" charset="0"/>
              </a:rPr>
              <a:t>What is a </a:t>
            </a:r>
            <a:r>
              <a:rPr lang="en-US" b="1" dirty="0" err="1">
                <a:latin typeface="Open Sans" panose="020B0606030504020204" pitchFamily="34" charset="0"/>
              </a:rPr>
              <a:t>Neopixel</a:t>
            </a:r>
            <a:r>
              <a:rPr lang="en-US" b="1" dirty="0">
                <a:latin typeface="Open Sans" panose="020B0606030504020204" pitchFamily="34" charset="0"/>
              </a:rPr>
              <a:t>?</a:t>
            </a:r>
          </a:p>
          <a:p>
            <a:pPr fontAlgn="base"/>
            <a:endParaRPr lang="en-US" b="1" dirty="0">
              <a:latin typeface="Open Sans" panose="020B0606030504020204" pitchFamily="34" charset="0"/>
            </a:endParaRPr>
          </a:p>
          <a:p>
            <a:pPr fontAlgn="base"/>
            <a:r>
              <a:rPr lang="en-US" dirty="0">
                <a:latin typeface="Roboto" panose="02000000000000000000" pitchFamily="2" charset="0"/>
              </a:rPr>
              <a:t>A </a:t>
            </a:r>
            <a:r>
              <a:rPr lang="en-US" dirty="0" err="1">
                <a:latin typeface="Roboto" panose="02000000000000000000" pitchFamily="2" charset="0"/>
              </a:rPr>
              <a:t>Neopixel</a:t>
            </a:r>
            <a:r>
              <a:rPr lang="en-US" dirty="0">
                <a:latin typeface="Roboto" panose="02000000000000000000" pitchFamily="2" charset="0"/>
              </a:rPr>
              <a:t> LED is an addressable LED. What does that mean? That means that each LED has a smart controller chip that allows you to send a digital message to command each LED to a given color and brightness.</a:t>
            </a:r>
          </a:p>
          <a:p>
            <a:pPr fontAlgn="base"/>
            <a:endParaRPr lang="en-US" b="0" i="0" u="none" strike="noStrike" dirty="0">
              <a:effectLst/>
              <a:latin typeface="Roboto" panose="02000000000000000000" pitchFamily="2" charset="0"/>
            </a:endParaRPr>
          </a:p>
          <a:p>
            <a:pPr fontAlgn="base"/>
            <a:r>
              <a:rPr lang="en-US" dirty="0"/>
              <a:t>Each one has a power and a ground plus they each have a “data in” and “data out” signal. A color command can be sent to the “data in” pin and the LED will pass along subsequent messages to the next LED.</a:t>
            </a:r>
          </a:p>
          <a:p>
            <a:pPr fontAlgn="base"/>
            <a:endParaRPr lang="en-US" b="0" i="0" u="none" strike="noStrike" dirty="0">
              <a:effectLst/>
              <a:latin typeface="Roboto" panose="02000000000000000000" pitchFamily="2" charset="0"/>
            </a:endParaRPr>
          </a:p>
          <a:p>
            <a:pPr fontAlgn="base"/>
            <a:r>
              <a:rPr lang="en-US" dirty="0"/>
              <a:t>When you have a strip of </a:t>
            </a:r>
            <a:r>
              <a:rPr lang="en-US" dirty="0" err="1"/>
              <a:t>neopixels</a:t>
            </a:r>
            <a:r>
              <a:rPr lang="en-US" dirty="0"/>
              <a:t>, they are connected together as shown in the diagram below. This allows the data to be passed all the way down the string so that every LED can be commanded. Power and ground are shared. The data out comes out of the last LED in the string and can be connected to another strip in order to continue the chain.</a:t>
            </a:r>
          </a:p>
          <a:p>
            <a:pPr fontAlgn="base"/>
            <a:r>
              <a:rPr lang="en-US" dirty="0"/>
              <a:t>In theory, a </a:t>
            </a:r>
            <a:r>
              <a:rPr lang="en-US" dirty="0" err="1"/>
              <a:t>neopixel</a:t>
            </a:r>
            <a:r>
              <a:rPr lang="en-US" dirty="0"/>
              <a:t> string can be of unlimited length. However, the longer the string, the more data must be sent during each refresh cycle. The maximum string size is 350 LEDs for RGB or 260 LEDs for RGBW in order to maintain a 40 Hz refresh rate.</a:t>
            </a:r>
            <a:endParaRPr lang="en-US" b="0" i="0" u="none" strike="noStrike" dirty="0">
              <a:effectLst/>
              <a:latin typeface="Roboto" panose="02000000000000000000" pitchFamily="2" charset="0"/>
            </a:endParaRPr>
          </a:p>
        </p:txBody>
      </p:sp>
      <p:pic>
        <p:nvPicPr>
          <p:cNvPr id="3074" name="Picture 2">
            <a:extLst>
              <a:ext uri="{FF2B5EF4-FFF2-40B4-BE49-F238E27FC236}">
                <a16:creationId xmlns:a16="http://schemas.microsoft.com/office/drawing/2014/main" id="{635BAB20-8DEB-3A42-9B69-803E343B43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072" y="4808220"/>
            <a:ext cx="11188700" cy="144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5316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75F50-C557-A5A4-A003-3989AFCA30D7}"/>
              </a:ext>
            </a:extLst>
          </p:cNvPr>
          <p:cNvSpPr>
            <a:spLocks noGrp="1"/>
          </p:cNvSpPr>
          <p:nvPr>
            <p:ph type="title"/>
          </p:nvPr>
        </p:nvSpPr>
        <p:spPr>
          <a:xfrm>
            <a:off x="727841" y="0"/>
            <a:ext cx="10515600" cy="706930"/>
          </a:xfrm>
        </p:spPr>
        <p:txBody>
          <a:bodyPr>
            <a:normAutofit/>
          </a:bodyPr>
          <a:lstStyle/>
          <a:p>
            <a:r>
              <a:rPr lang="en-US" sz="2800" b="1" dirty="0"/>
              <a:t>Canva Color Wheel</a:t>
            </a:r>
          </a:p>
        </p:txBody>
      </p:sp>
      <p:pic>
        <p:nvPicPr>
          <p:cNvPr id="1026" name="Picture 2" descr="Complementary colors">
            <a:extLst>
              <a:ext uri="{FF2B5EF4-FFF2-40B4-BE49-F238E27FC236}">
                <a16:creationId xmlns:a16="http://schemas.microsoft.com/office/drawing/2014/main" id="{E9FCF15D-07CC-A43A-B124-F05A6B04FA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294993"/>
            <a:ext cx="6194024" cy="356300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279C951-24F5-673E-B0EC-CBA8A7393574}"/>
              </a:ext>
            </a:extLst>
          </p:cNvPr>
          <p:cNvSpPr txBox="1"/>
          <p:nvPr/>
        </p:nvSpPr>
        <p:spPr>
          <a:xfrm>
            <a:off x="134937" y="1040448"/>
            <a:ext cx="5114980" cy="2523768"/>
          </a:xfrm>
          <a:prstGeom prst="rect">
            <a:avLst/>
          </a:prstGeom>
          <a:noFill/>
        </p:spPr>
        <p:txBody>
          <a:bodyPr wrap="square" rtlCol="0">
            <a:spAutoFit/>
          </a:bodyPr>
          <a:lstStyle/>
          <a:p>
            <a:pPr algn="l">
              <a:spcAft>
                <a:spcPts val="1200"/>
              </a:spcAft>
            </a:pPr>
            <a:r>
              <a:rPr lang="en-US" sz="2000" b="1" i="0" u="none" strike="noStrike" dirty="0">
                <a:solidFill>
                  <a:srgbClr val="0D1216"/>
                </a:solidFill>
                <a:effectLst/>
                <a:latin typeface="Canva Sans"/>
              </a:rPr>
              <a:t>Complementary</a:t>
            </a:r>
          </a:p>
          <a:p>
            <a:pPr algn="l">
              <a:spcBef>
                <a:spcPts val="1200"/>
              </a:spcBef>
            </a:pPr>
            <a:r>
              <a:rPr lang="en-US" sz="2000" b="0" i="0" u="none" strike="noStrike" dirty="0">
                <a:solidFill>
                  <a:srgbClr val="0D1216"/>
                </a:solidFill>
                <a:effectLst/>
                <a:latin typeface="Canva Sans"/>
              </a:rPr>
              <a:t>Two colors that are on opposite sides of the color wheel. This combination provides a high contrast and high impact color combination – together, these colors will appear brighter and more prominent.</a:t>
            </a:r>
          </a:p>
          <a:p>
            <a:endParaRPr lang="en-US" dirty="0"/>
          </a:p>
        </p:txBody>
      </p:sp>
      <p:pic>
        <p:nvPicPr>
          <p:cNvPr id="1028" name="Picture 4" descr="Triadic colors">
            <a:extLst>
              <a:ext uri="{FF2B5EF4-FFF2-40B4-BE49-F238E27FC236}">
                <a16:creationId xmlns:a16="http://schemas.microsoft.com/office/drawing/2014/main" id="{590A6C26-EE7A-811E-0D27-7CE6CBF5C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9418" y="3359989"/>
            <a:ext cx="5863039" cy="337261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7069F6C-4820-08EB-7FE8-857B7C2164AB}"/>
              </a:ext>
            </a:extLst>
          </p:cNvPr>
          <p:cNvSpPr txBox="1"/>
          <p:nvPr/>
        </p:nvSpPr>
        <p:spPr>
          <a:xfrm>
            <a:off x="6441912" y="1131566"/>
            <a:ext cx="5615151" cy="2554545"/>
          </a:xfrm>
          <a:prstGeom prst="rect">
            <a:avLst/>
          </a:prstGeom>
          <a:noFill/>
        </p:spPr>
        <p:txBody>
          <a:bodyPr wrap="square" rtlCol="0">
            <a:spAutoFit/>
          </a:bodyPr>
          <a:lstStyle/>
          <a:p>
            <a:pPr algn="l">
              <a:spcAft>
                <a:spcPts val="1200"/>
              </a:spcAft>
            </a:pPr>
            <a:r>
              <a:rPr lang="en-US" sz="2000" b="1" i="0" u="none" strike="noStrike" dirty="0">
                <a:solidFill>
                  <a:srgbClr val="0D1216"/>
                </a:solidFill>
                <a:effectLst/>
                <a:latin typeface="Canva Sans"/>
              </a:rPr>
              <a:t>Triadic</a:t>
            </a:r>
          </a:p>
          <a:p>
            <a:pPr algn="l">
              <a:spcBef>
                <a:spcPts val="1200"/>
              </a:spcBef>
            </a:pPr>
            <a:r>
              <a:rPr lang="en-US" sz="2000" b="0" i="0" u="none" strike="noStrike" dirty="0">
                <a:solidFill>
                  <a:srgbClr val="0D1216"/>
                </a:solidFill>
                <a:effectLst/>
                <a:latin typeface="Canva Sans"/>
              </a:rPr>
              <a:t>Three colors that are evenly spaced on the color wheel. This provides a high contrast color scheme, but less so than the complementary color combination — making it more versatile. This combination creates bold, vibrant color palettes.</a:t>
            </a:r>
          </a:p>
          <a:p>
            <a:endParaRPr lang="en-US" sz="2000" dirty="0"/>
          </a:p>
        </p:txBody>
      </p:sp>
      <p:sp>
        <p:nvSpPr>
          <p:cNvPr id="9" name="TextBox 8">
            <a:extLst>
              <a:ext uri="{FF2B5EF4-FFF2-40B4-BE49-F238E27FC236}">
                <a16:creationId xmlns:a16="http://schemas.microsoft.com/office/drawing/2014/main" id="{400CEE79-CBC6-4DC3-CFA0-97DAD87F0ABC}"/>
              </a:ext>
            </a:extLst>
          </p:cNvPr>
          <p:cNvSpPr txBox="1"/>
          <p:nvPr/>
        </p:nvSpPr>
        <p:spPr>
          <a:xfrm>
            <a:off x="6096000" y="319691"/>
            <a:ext cx="4369530" cy="369332"/>
          </a:xfrm>
          <a:prstGeom prst="rect">
            <a:avLst/>
          </a:prstGeom>
          <a:noFill/>
        </p:spPr>
        <p:txBody>
          <a:bodyPr wrap="none" rtlCol="0">
            <a:spAutoFit/>
          </a:bodyPr>
          <a:lstStyle/>
          <a:p>
            <a:r>
              <a:rPr lang="en-US" dirty="0">
                <a:solidFill>
                  <a:schemeClr val="accent2"/>
                </a:solidFill>
              </a:rPr>
              <a:t>https://</a:t>
            </a:r>
            <a:r>
              <a:rPr lang="en-US" dirty="0" err="1">
                <a:solidFill>
                  <a:schemeClr val="accent2"/>
                </a:solidFill>
              </a:rPr>
              <a:t>www.canva.com</a:t>
            </a:r>
            <a:r>
              <a:rPr lang="en-US" dirty="0">
                <a:solidFill>
                  <a:schemeClr val="accent2"/>
                </a:solidFill>
              </a:rPr>
              <a:t>/colors/color-wheel/</a:t>
            </a:r>
          </a:p>
        </p:txBody>
      </p:sp>
      <p:sp>
        <p:nvSpPr>
          <p:cNvPr id="11" name="TextBox 10">
            <a:extLst>
              <a:ext uri="{FF2B5EF4-FFF2-40B4-BE49-F238E27FC236}">
                <a16:creationId xmlns:a16="http://schemas.microsoft.com/office/drawing/2014/main" id="{CD9838E7-A954-4899-3DDF-2BC0C715B263}"/>
              </a:ext>
            </a:extLst>
          </p:cNvPr>
          <p:cNvSpPr txBox="1"/>
          <p:nvPr/>
        </p:nvSpPr>
        <p:spPr>
          <a:xfrm>
            <a:off x="8280765" y="3372614"/>
            <a:ext cx="2140651" cy="369332"/>
          </a:xfrm>
          <a:prstGeom prst="rect">
            <a:avLst/>
          </a:prstGeom>
          <a:noFill/>
        </p:spPr>
        <p:txBody>
          <a:bodyPr wrap="none" rtlCol="0">
            <a:spAutoFit/>
          </a:bodyPr>
          <a:lstStyle/>
          <a:p>
            <a:r>
              <a:rPr lang="en-US" dirty="0"/>
              <a:t>625-740 nanometers</a:t>
            </a:r>
          </a:p>
        </p:txBody>
      </p:sp>
      <p:sp>
        <p:nvSpPr>
          <p:cNvPr id="12" name="TextBox 11">
            <a:extLst>
              <a:ext uri="{FF2B5EF4-FFF2-40B4-BE49-F238E27FC236}">
                <a16:creationId xmlns:a16="http://schemas.microsoft.com/office/drawing/2014/main" id="{26EB6BAE-87B2-ABDD-9F68-A7379D8793CE}"/>
              </a:ext>
            </a:extLst>
          </p:cNvPr>
          <p:cNvSpPr txBox="1"/>
          <p:nvPr/>
        </p:nvSpPr>
        <p:spPr>
          <a:xfrm>
            <a:off x="6659474" y="5855265"/>
            <a:ext cx="957313" cy="369332"/>
          </a:xfrm>
          <a:prstGeom prst="rect">
            <a:avLst/>
          </a:prstGeom>
          <a:noFill/>
        </p:spPr>
        <p:txBody>
          <a:bodyPr wrap="none" rtlCol="0">
            <a:spAutoFit/>
          </a:bodyPr>
          <a:lstStyle/>
          <a:p>
            <a:r>
              <a:rPr lang="en-US" dirty="0"/>
              <a:t>440-485</a:t>
            </a:r>
          </a:p>
        </p:txBody>
      </p:sp>
      <p:sp>
        <p:nvSpPr>
          <p:cNvPr id="13" name="TextBox 12">
            <a:extLst>
              <a:ext uri="{FF2B5EF4-FFF2-40B4-BE49-F238E27FC236}">
                <a16:creationId xmlns:a16="http://schemas.microsoft.com/office/drawing/2014/main" id="{DD2A5FC2-F8CD-8E95-483F-01D2BF91D282}"/>
              </a:ext>
            </a:extLst>
          </p:cNvPr>
          <p:cNvSpPr txBox="1"/>
          <p:nvPr/>
        </p:nvSpPr>
        <p:spPr>
          <a:xfrm>
            <a:off x="8318651" y="6538309"/>
            <a:ext cx="957313" cy="369332"/>
          </a:xfrm>
          <a:prstGeom prst="rect">
            <a:avLst/>
          </a:prstGeom>
          <a:noFill/>
        </p:spPr>
        <p:txBody>
          <a:bodyPr wrap="none" rtlCol="0">
            <a:spAutoFit/>
          </a:bodyPr>
          <a:lstStyle/>
          <a:p>
            <a:r>
              <a:rPr lang="en-US" dirty="0"/>
              <a:t>485-500</a:t>
            </a:r>
          </a:p>
        </p:txBody>
      </p:sp>
      <p:sp>
        <p:nvSpPr>
          <p:cNvPr id="14" name="TextBox 13">
            <a:extLst>
              <a:ext uri="{FF2B5EF4-FFF2-40B4-BE49-F238E27FC236}">
                <a16:creationId xmlns:a16="http://schemas.microsoft.com/office/drawing/2014/main" id="{5AB4F5A0-9E8C-4EF4-522D-F79FC1843E95}"/>
              </a:ext>
            </a:extLst>
          </p:cNvPr>
          <p:cNvSpPr txBox="1"/>
          <p:nvPr/>
        </p:nvSpPr>
        <p:spPr>
          <a:xfrm>
            <a:off x="6560779" y="4281371"/>
            <a:ext cx="957313" cy="369332"/>
          </a:xfrm>
          <a:prstGeom prst="rect">
            <a:avLst/>
          </a:prstGeom>
          <a:noFill/>
        </p:spPr>
        <p:txBody>
          <a:bodyPr wrap="none" rtlCol="0">
            <a:spAutoFit/>
          </a:bodyPr>
          <a:lstStyle/>
          <a:p>
            <a:r>
              <a:rPr lang="en-US" dirty="0"/>
              <a:t>380-440</a:t>
            </a:r>
          </a:p>
        </p:txBody>
      </p:sp>
      <p:sp>
        <p:nvSpPr>
          <p:cNvPr id="15" name="TextBox 14">
            <a:extLst>
              <a:ext uri="{FF2B5EF4-FFF2-40B4-BE49-F238E27FC236}">
                <a16:creationId xmlns:a16="http://schemas.microsoft.com/office/drawing/2014/main" id="{8B357F12-2B92-F15A-ABC9-CB938C59F597}"/>
              </a:ext>
            </a:extLst>
          </p:cNvPr>
          <p:cNvSpPr txBox="1"/>
          <p:nvPr/>
        </p:nvSpPr>
        <p:spPr>
          <a:xfrm>
            <a:off x="9986873" y="4217440"/>
            <a:ext cx="957313" cy="369332"/>
          </a:xfrm>
          <a:prstGeom prst="rect">
            <a:avLst/>
          </a:prstGeom>
          <a:noFill/>
        </p:spPr>
        <p:txBody>
          <a:bodyPr wrap="none" rtlCol="0">
            <a:spAutoFit/>
          </a:bodyPr>
          <a:lstStyle/>
          <a:p>
            <a:r>
              <a:rPr lang="en-US" dirty="0"/>
              <a:t>565-590</a:t>
            </a:r>
          </a:p>
        </p:txBody>
      </p:sp>
      <p:sp>
        <p:nvSpPr>
          <p:cNvPr id="16" name="TextBox 15">
            <a:extLst>
              <a:ext uri="{FF2B5EF4-FFF2-40B4-BE49-F238E27FC236}">
                <a16:creationId xmlns:a16="http://schemas.microsoft.com/office/drawing/2014/main" id="{3F71698A-4476-EBF5-51DE-1A84B2774E17}"/>
              </a:ext>
            </a:extLst>
          </p:cNvPr>
          <p:cNvSpPr txBox="1"/>
          <p:nvPr/>
        </p:nvSpPr>
        <p:spPr>
          <a:xfrm>
            <a:off x="9320816" y="3704363"/>
            <a:ext cx="957313" cy="369332"/>
          </a:xfrm>
          <a:prstGeom prst="rect">
            <a:avLst/>
          </a:prstGeom>
          <a:noFill/>
        </p:spPr>
        <p:txBody>
          <a:bodyPr wrap="none" rtlCol="0">
            <a:spAutoFit/>
          </a:bodyPr>
          <a:lstStyle/>
          <a:p>
            <a:r>
              <a:rPr lang="en-US" dirty="0"/>
              <a:t>590-625</a:t>
            </a:r>
          </a:p>
        </p:txBody>
      </p:sp>
      <p:sp>
        <p:nvSpPr>
          <p:cNvPr id="23" name="TextBox 22">
            <a:extLst>
              <a:ext uri="{FF2B5EF4-FFF2-40B4-BE49-F238E27FC236}">
                <a16:creationId xmlns:a16="http://schemas.microsoft.com/office/drawing/2014/main" id="{134F912B-ED8B-3859-E7D9-99079B584E23}"/>
              </a:ext>
            </a:extLst>
          </p:cNvPr>
          <p:cNvSpPr txBox="1"/>
          <p:nvPr/>
        </p:nvSpPr>
        <p:spPr>
          <a:xfrm>
            <a:off x="9799473" y="5670599"/>
            <a:ext cx="957313" cy="369332"/>
          </a:xfrm>
          <a:prstGeom prst="rect">
            <a:avLst/>
          </a:prstGeom>
          <a:noFill/>
        </p:spPr>
        <p:txBody>
          <a:bodyPr wrap="none" rtlCol="0">
            <a:spAutoFit/>
          </a:bodyPr>
          <a:lstStyle/>
          <a:p>
            <a:r>
              <a:rPr lang="en-US" dirty="0"/>
              <a:t>500-565</a:t>
            </a:r>
          </a:p>
        </p:txBody>
      </p:sp>
      <p:sp>
        <p:nvSpPr>
          <p:cNvPr id="24" name="TextBox 23">
            <a:extLst>
              <a:ext uri="{FF2B5EF4-FFF2-40B4-BE49-F238E27FC236}">
                <a16:creationId xmlns:a16="http://schemas.microsoft.com/office/drawing/2014/main" id="{E3E7985E-1D64-0445-D4D6-A3FBC3FBB9A3}"/>
              </a:ext>
            </a:extLst>
          </p:cNvPr>
          <p:cNvSpPr txBox="1"/>
          <p:nvPr/>
        </p:nvSpPr>
        <p:spPr>
          <a:xfrm>
            <a:off x="2274770" y="6488668"/>
            <a:ext cx="641266" cy="369332"/>
          </a:xfrm>
          <a:prstGeom prst="rect">
            <a:avLst/>
          </a:prstGeom>
          <a:noFill/>
        </p:spPr>
        <p:txBody>
          <a:bodyPr wrap="none" rtlCol="0">
            <a:spAutoFit/>
          </a:bodyPr>
          <a:lstStyle/>
          <a:p>
            <a:r>
              <a:rPr lang="en-US" dirty="0"/>
              <a:t>Cyan</a:t>
            </a:r>
          </a:p>
        </p:txBody>
      </p:sp>
      <p:sp>
        <p:nvSpPr>
          <p:cNvPr id="25" name="TextBox 24">
            <a:extLst>
              <a:ext uri="{FF2B5EF4-FFF2-40B4-BE49-F238E27FC236}">
                <a16:creationId xmlns:a16="http://schemas.microsoft.com/office/drawing/2014/main" id="{047537DF-5AB7-AD27-E519-99CC88A235CC}"/>
              </a:ext>
            </a:extLst>
          </p:cNvPr>
          <p:cNvSpPr txBox="1"/>
          <p:nvPr/>
        </p:nvSpPr>
        <p:spPr>
          <a:xfrm>
            <a:off x="266512" y="4010159"/>
            <a:ext cx="1019382" cy="369332"/>
          </a:xfrm>
          <a:prstGeom prst="rect">
            <a:avLst/>
          </a:prstGeom>
          <a:noFill/>
        </p:spPr>
        <p:txBody>
          <a:bodyPr wrap="none" rtlCol="0">
            <a:spAutoFit/>
          </a:bodyPr>
          <a:lstStyle/>
          <a:p>
            <a:r>
              <a:rPr lang="en-US" dirty="0"/>
              <a:t>Magenta</a:t>
            </a:r>
          </a:p>
        </p:txBody>
      </p:sp>
      <p:sp>
        <p:nvSpPr>
          <p:cNvPr id="26" name="TextBox 25">
            <a:extLst>
              <a:ext uri="{FF2B5EF4-FFF2-40B4-BE49-F238E27FC236}">
                <a16:creationId xmlns:a16="http://schemas.microsoft.com/office/drawing/2014/main" id="{799F313D-EDE7-51CE-C397-D14F2692E32D}"/>
              </a:ext>
            </a:extLst>
          </p:cNvPr>
          <p:cNvSpPr txBox="1"/>
          <p:nvPr/>
        </p:nvSpPr>
        <p:spPr>
          <a:xfrm>
            <a:off x="4335517" y="4217440"/>
            <a:ext cx="787588" cy="369332"/>
          </a:xfrm>
          <a:prstGeom prst="rect">
            <a:avLst/>
          </a:prstGeom>
          <a:noFill/>
        </p:spPr>
        <p:txBody>
          <a:bodyPr wrap="none" rtlCol="0">
            <a:spAutoFit/>
          </a:bodyPr>
          <a:lstStyle/>
          <a:p>
            <a:r>
              <a:rPr lang="en-US" dirty="0"/>
              <a:t>Yellow</a:t>
            </a:r>
          </a:p>
        </p:txBody>
      </p:sp>
      <p:sp>
        <p:nvSpPr>
          <p:cNvPr id="27" name="TextBox 26">
            <a:extLst>
              <a:ext uri="{FF2B5EF4-FFF2-40B4-BE49-F238E27FC236}">
                <a16:creationId xmlns:a16="http://schemas.microsoft.com/office/drawing/2014/main" id="{A29AF66A-55CB-D029-C6DA-EED6D7B0654B}"/>
              </a:ext>
            </a:extLst>
          </p:cNvPr>
          <p:cNvSpPr txBox="1"/>
          <p:nvPr/>
        </p:nvSpPr>
        <p:spPr>
          <a:xfrm>
            <a:off x="2333298" y="3231929"/>
            <a:ext cx="542906" cy="369332"/>
          </a:xfrm>
          <a:prstGeom prst="rect">
            <a:avLst/>
          </a:prstGeom>
          <a:noFill/>
        </p:spPr>
        <p:txBody>
          <a:bodyPr wrap="none" rtlCol="0">
            <a:spAutoFit/>
          </a:bodyPr>
          <a:lstStyle/>
          <a:p>
            <a:r>
              <a:rPr lang="en-US" dirty="0"/>
              <a:t>Red</a:t>
            </a:r>
          </a:p>
        </p:txBody>
      </p:sp>
      <p:sp>
        <p:nvSpPr>
          <p:cNvPr id="28" name="TextBox 27">
            <a:extLst>
              <a:ext uri="{FF2B5EF4-FFF2-40B4-BE49-F238E27FC236}">
                <a16:creationId xmlns:a16="http://schemas.microsoft.com/office/drawing/2014/main" id="{D939FC7A-121E-71C4-FE70-625D81326F4E}"/>
              </a:ext>
            </a:extLst>
          </p:cNvPr>
          <p:cNvSpPr txBox="1"/>
          <p:nvPr/>
        </p:nvSpPr>
        <p:spPr>
          <a:xfrm>
            <a:off x="3831021" y="6224597"/>
            <a:ext cx="760336" cy="369332"/>
          </a:xfrm>
          <a:prstGeom prst="rect">
            <a:avLst/>
          </a:prstGeom>
          <a:noFill/>
        </p:spPr>
        <p:txBody>
          <a:bodyPr wrap="none" rtlCol="0">
            <a:spAutoFit/>
          </a:bodyPr>
          <a:lstStyle/>
          <a:p>
            <a:r>
              <a:rPr lang="en-US" dirty="0"/>
              <a:t>Green</a:t>
            </a:r>
          </a:p>
        </p:txBody>
      </p:sp>
      <p:sp>
        <p:nvSpPr>
          <p:cNvPr id="29" name="TextBox 28">
            <a:extLst>
              <a:ext uri="{FF2B5EF4-FFF2-40B4-BE49-F238E27FC236}">
                <a16:creationId xmlns:a16="http://schemas.microsoft.com/office/drawing/2014/main" id="{002A6121-1A8E-DB19-B2A4-50A361F05902}"/>
              </a:ext>
            </a:extLst>
          </p:cNvPr>
          <p:cNvSpPr txBox="1"/>
          <p:nvPr/>
        </p:nvSpPr>
        <p:spPr>
          <a:xfrm>
            <a:off x="409903" y="6039931"/>
            <a:ext cx="599844" cy="369332"/>
          </a:xfrm>
          <a:prstGeom prst="rect">
            <a:avLst/>
          </a:prstGeom>
          <a:noFill/>
        </p:spPr>
        <p:txBody>
          <a:bodyPr wrap="none" rtlCol="0">
            <a:spAutoFit/>
          </a:bodyPr>
          <a:lstStyle/>
          <a:p>
            <a:r>
              <a:rPr lang="en-US" dirty="0"/>
              <a:t>Blue</a:t>
            </a:r>
          </a:p>
        </p:txBody>
      </p:sp>
      <p:sp>
        <p:nvSpPr>
          <p:cNvPr id="30" name="TextBox 29">
            <a:extLst>
              <a:ext uri="{FF2B5EF4-FFF2-40B4-BE49-F238E27FC236}">
                <a16:creationId xmlns:a16="http://schemas.microsoft.com/office/drawing/2014/main" id="{B0DEC198-EC14-49E9-88B0-7741371ED449}"/>
              </a:ext>
            </a:extLst>
          </p:cNvPr>
          <p:cNvSpPr txBox="1"/>
          <p:nvPr/>
        </p:nvSpPr>
        <p:spPr>
          <a:xfrm>
            <a:off x="3542016" y="3110327"/>
            <a:ext cx="2601161" cy="369332"/>
          </a:xfrm>
          <a:prstGeom prst="rect">
            <a:avLst/>
          </a:prstGeom>
          <a:noFill/>
        </p:spPr>
        <p:txBody>
          <a:bodyPr wrap="none" rtlCol="0">
            <a:spAutoFit/>
          </a:bodyPr>
          <a:lstStyle/>
          <a:p>
            <a:r>
              <a:rPr lang="en-US" dirty="0"/>
              <a:t>RGB (TV) Vs MCY (Printer)</a:t>
            </a:r>
          </a:p>
        </p:txBody>
      </p:sp>
      <p:sp>
        <p:nvSpPr>
          <p:cNvPr id="31" name="Triangle 30">
            <a:extLst>
              <a:ext uri="{FF2B5EF4-FFF2-40B4-BE49-F238E27FC236}">
                <a16:creationId xmlns:a16="http://schemas.microsoft.com/office/drawing/2014/main" id="{258599A5-A844-E9B4-2F55-4307DAB285B7}"/>
              </a:ext>
            </a:extLst>
          </p:cNvPr>
          <p:cNvSpPr/>
          <p:nvPr/>
        </p:nvSpPr>
        <p:spPr>
          <a:xfrm>
            <a:off x="2021808" y="4330994"/>
            <a:ext cx="1354768" cy="1139640"/>
          </a:xfrm>
          <a:prstGeom prst="triangle">
            <a:avLst>
              <a:gd name="adj" fmla="val 47929"/>
            </a:avLst>
          </a:prstGeom>
          <a:noFill/>
          <a:ln w="317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riangle 31">
            <a:extLst>
              <a:ext uri="{FF2B5EF4-FFF2-40B4-BE49-F238E27FC236}">
                <a16:creationId xmlns:a16="http://schemas.microsoft.com/office/drawing/2014/main" id="{890B4CAA-9D70-8982-7832-A9AA77240737}"/>
              </a:ext>
            </a:extLst>
          </p:cNvPr>
          <p:cNvSpPr/>
          <p:nvPr/>
        </p:nvSpPr>
        <p:spPr>
          <a:xfrm rot="3649119">
            <a:off x="2174208" y="4404564"/>
            <a:ext cx="1354768" cy="1139640"/>
          </a:xfrm>
          <a:prstGeom prst="triangle">
            <a:avLst>
              <a:gd name="adj" fmla="val 47929"/>
            </a:avLst>
          </a:prstGeom>
          <a:noFill/>
          <a:ln w="317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999B50C6-96BE-4A08-9EC7-3817D72BD2FC}"/>
              </a:ext>
            </a:extLst>
          </p:cNvPr>
          <p:cNvSpPr txBox="1"/>
          <p:nvPr/>
        </p:nvSpPr>
        <p:spPr>
          <a:xfrm>
            <a:off x="10252850" y="6406481"/>
            <a:ext cx="1698607" cy="369332"/>
          </a:xfrm>
          <a:prstGeom prst="rect">
            <a:avLst/>
          </a:prstGeom>
          <a:noFill/>
        </p:spPr>
        <p:txBody>
          <a:bodyPr wrap="none" rtlCol="0">
            <a:spAutoFit/>
          </a:bodyPr>
          <a:lstStyle/>
          <a:p>
            <a:r>
              <a:rPr lang="en-US" dirty="0"/>
              <a:t>Traffic Light GYR</a:t>
            </a:r>
          </a:p>
        </p:txBody>
      </p:sp>
    </p:spTree>
    <p:extLst>
      <p:ext uri="{BB962C8B-B14F-4D97-AF65-F5344CB8AC3E}">
        <p14:creationId xmlns:p14="http://schemas.microsoft.com/office/powerpoint/2010/main" val="3908937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7D579-78F4-B435-1887-CC57B4E4D2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7F77D0-B91F-3922-1B9C-037135301EF0}"/>
              </a:ext>
            </a:extLst>
          </p:cNvPr>
          <p:cNvSpPr>
            <a:spLocks noGrp="1"/>
          </p:cNvSpPr>
          <p:nvPr>
            <p:ph type="title"/>
          </p:nvPr>
        </p:nvSpPr>
        <p:spPr>
          <a:xfrm>
            <a:off x="838200" y="0"/>
            <a:ext cx="10515600" cy="598043"/>
          </a:xfrm>
        </p:spPr>
        <p:txBody>
          <a:bodyPr>
            <a:normAutofit fontScale="90000"/>
          </a:bodyPr>
          <a:lstStyle/>
          <a:p>
            <a:r>
              <a:rPr lang="en-US" b="1" dirty="0" err="1"/>
              <a:t>Freenove</a:t>
            </a:r>
            <a:r>
              <a:rPr lang="en-US" b="1" dirty="0"/>
              <a:t> ESP32-Wrover CAM Board</a:t>
            </a:r>
          </a:p>
        </p:txBody>
      </p:sp>
      <p:sp>
        <p:nvSpPr>
          <p:cNvPr id="3" name="Slide Number Placeholder 2">
            <a:extLst>
              <a:ext uri="{FF2B5EF4-FFF2-40B4-BE49-F238E27FC236}">
                <a16:creationId xmlns:a16="http://schemas.microsoft.com/office/drawing/2014/main" id="{B76C2CDE-63C9-BB05-F1E2-567856EF7A20}"/>
              </a:ext>
            </a:extLst>
          </p:cNvPr>
          <p:cNvSpPr>
            <a:spLocks noGrp="1"/>
          </p:cNvSpPr>
          <p:nvPr>
            <p:ph type="sldNum" sz="quarter" idx="12"/>
          </p:nvPr>
        </p:nvSpPr>
        <p:spPr/>
        <p:txBody>
          <a:bodyPr/>
          <a:lstStyle/>
          <a:p>
            <a:fld id="{0A6ADF2A-7A11-0149-A2B5-0401FD350CDC}" type="slidenum">
              <a:rPr lang="en-US" smtClean="0"/>
              <a:t>11</a:t>
            </a:fld>
            <a:endParaRPr lang="en-US"/>
          </a:p>
        </p:txBody>
      </p:sp>
      <p:pic>
        <p:nvPicPr>
          <p:cNvPr id="5" name="Picture 4" descr="Freenove ESP32 CAM Dev Board Kit, Dual-core 32-bit 240 MHz Microcontroller, Onboard Camera WiFi+BT, Python C Code, Example Projects Tutorial">
            <a:extLst>
              <a:ext uri="{FF2B5EF4-FFF2-40B4-BE49-F238E27FC236}">
                <a16:creationId xmlns:a16="http://schemas.microsoft.com/office/drawing/2014/main" id="{3FECE54E-39FF-3B69-7786-5FBA309941CF}"/>
              </a:ext>
            </a:extLst>
          </p:cNvPr>
          <p:cNvPicPr>
            <a:picLocks noChangeAspect="1"/>
          </p:cNvPicPr>
          <p:nvPr/>
        </p:nvPicPr>
        <p:blipFill>
          <a:blip r:embed="rId2"/>
          <a:srcRect l="53812"/>
          <a:stretch>
            <a:fillRect/>
          </a:stretch>
        </p:blipFill>
        <p:spPr>
          <a:xfrm>
            <a:off x="9982200" y="1282700"/>
            <a:ext cx="1988527" cy="4292600"/>
          </a:xfrm>
          <a:prstGeom prst="rect">
            <a:avLst/>
          </a:prstGeom>
        </p:spPr>
      </p:pic>
      <p:pic>
        <p:nvPicPr>
          <p:cNvPr id="6" name="Picture 5" descr="ESP32 Camerawebserver example video streaming on browser">
            <a:extLst>
              <a:ext uri="{FF2B5EF4-FFF2-40B4-BE49-F238E27FC236}">
                <a16:creationId xmlns:a16="http://schemas.microsoft.com/office/drawing/2014/main" id="{98D4388B-3451-2A6C-CC13-06E708F3B73C}"/>
              </a:ext>
            </a:extLst>
          </p:cNvPr>
          <p:cNvPicPr>
            <a:picLocks noChangeAspect="1"/>
          </p:cNvPicPr>
          <p:nvPr/>
        </p:nvPicPr>
        <p:blipFill>
          <a:blip r:embed="rId3"/>
          <a:stretch>
            <a:fillRect/>
          </a:stretch>
        </p:blipFill>
        <p:spPr>
          <a:xfrm>
            <a:off x="126918" y="967155"/>
            <a:ext cx="8356193" cy="5593078"/>
          </a:xfrm>
          <a:prstGeom prst="rect">
            <a:avLst/>
          </a:prstGeom>
        </p:spPr>
      </p:pic>
    </p:spTree>
    <p:extLst>
      <p:ext uri="{BB962C8B-B14F-4D97-AF65-F5344CB8AC3E}">
        <p14:creationId xmlns:p14="http://schemas.microsoft.com/office/powerpoint/2010/main" val="2105585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74738-E8F1-FBD9-C000-F8307BCE0E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7F2A36-EA60-2A70-1D35-590F8C86394C}"/>
              </a:ext>
            </a:extLst>
          </p:cNvPr>
          <p:cNvSpPr>
            <a:spLocks noGrp="1"/>
          </p:cNvSpPr>
          <p:nvPr>
            <p:ph type="title"/>
          </p:nvPr>
        </p:nvSpPr>
        <p:spPr>
          <a:xfrm>
            <a:off x="838200" y="0"/>
            <a:ext cx="10515600" cy="598043"/>
          </a:xfrm>
        </p:spPr>
        <p:txBody>
          <a:bodyPr>
            <a:normAutofit fontScale="90000"/>
          </a:bodyPr>
          <a:lstStyle/>
          <a:p>
            <a:r>
              <a:rPr lang="en-US" dirty="0"/>
              <a:t>ESP NOW</a:t>
            </a:r>
          </a:p>
        </p:txBody>
      </p:sp>
      <p:sp>
        <p:nvSpPr>
          <p:cNvPr id="3" name="Slide Number Placeholder 2">
            <a:extLst>
              <a:ext uri="{FF2B5EF4-FFF2-40B4-BE49-F238E27FC236}">
                <a16:creationId xmlns:a16="http://schemas.microsoft.com/office/drawing/2014/main" id="{AC74C784-754E-FD7E-F4C5-A1580F1FB6A8}"/>
              </a:ext>
            </a:extLst>
          </p:cNvPr>
          <p:cNvSpPr>
            <a:spLocks noGrp="1"/>
          </p:cNvSpPr>
          <p:nvPr>
            <p:ph type="sldNum" sz="quarter" idx="12"/>
          </p:nvPr>
        </p:nvSpPr>
        <p:spPr/>
        <p:txBody>
          <a:bodyPr/>
          <a:lstStyle/>
          <a:p>
            <a:fld id="{0A6ADF2A-7A11-0149-A2B5-0401FD350CDC}" type="slidenum">
              <a:rPr lang="en-US" smtClean="0"/>
              <a:t>12</a:t>
            </a:fld>
            <a:endParaRPr lang="en-US"/>
          </a:p>
        </p:txBody>
      </p:sp>
      <p:sp>
        <p:nvSpPr>
          <p:cNvPr id="4" name="TextBox 3">
            <a:extLst>
              <a:ext uri="{FF2B5EF4-FFF2-40B4-BE49-F238E27FC236}">
                <a16:creationId xmlns:a16="http://schemas.microsoft.com/office/drawing/2014/main" id="{D7E8E9F0-723D-6C1D-15DC-2AFCF0DDE815}"/>
              </a:ext>
            </a:extLst>
          </p:cNvPr>
          <p:cNvSpPr txBox="1"/>
          <p:nvPr/>
        </p:nvSpPr>
        <p:spPr>
          <a:xfrm>
            <a:off x="492369" y="6356350"/>
            <a:ext cx="9353651" cy="369332"/>
          </a:xfrm>
          <a:prstGeom prst="rect">
            <a:avLst/>
          </a:prstGeom>
          <a:noFill/>
        </p:spPr>
        <p:txBody>
          <a:bodyPr wrap="none" rtlCol="0">
            <a:spAutoFit/>
          </a:bodyPr>
          <a:lstStyle/>
          <a:p>
            <a:r>
              <a:rPr lang="en-US" b="1" dirty="0"/>
              <a:t>Introducing ESP-NOW  5 min </a:t>
            </a:r>
            <a:r>
              <a:rPr lang="en-US" dirty="0"/>
              <a:t>https://</a:t>
            </a:r>
            <a:r>
              <a:rPr lang="en-US" dirty="0" err="1"/>
              <a:t>randomnerdtutorials.com</a:t>
            </a:r>
            <a:r>
              <a:rPr lang="en-US" dirty="0"/>
              <a:t>/esp-now-esp32-arduino-ide/</a:t>
            </a:r>
          </a:p>
        </p:txBody>
      </p:sp>
      <p:pic>
        <p:nvPicPr>
          <p:cNvPr id="5" name="Picture 4" descr="ESP-NOW master ESP32 sending data to multiple ESP32 slaves">
            <a:extLst>
              <a:ext uri="{FF2B5EF4-FFF2-40B4-BE49-F238E27FC236}">
                <a16:creationId xmlns:a16="http://schemas.microsoft.com/office/drawing/2014/main" id="{2396C6AD-0BBF-2F35-7A04-019CCE1DC4B6}"/>
              </a:ext>
            </a:extLst>
          </p:cNvPr>
          <p:cNvPicPr>
            <a:picLocks noChangeAspect="1"/>
          </p:cNvPicPr>
          <p:nvPr/>
        </p:nvPicPr>
        <p:blipFill>
          <a:blip r:embed="rId2"/>
          <a:stretch>
            <a:fillRect/>
          </a:stretch>
        </p:blipFill>
        <p:spPr>
          <a:xfrm>
            <a:off x="7220341" y="888604"/>
            <a:ext cx="4140200" cy="2425700"/>
          </a:xfrm>
          <a:prstGeom prst="rect">
            <a:avLst/>
          </a:prstGeom>
        </p:spPr>
      </p:pic>
      <p:pic>
        <p:nvPicPr>
          <p:cNvPr id="6" name="Picture 5" descr="ESP-NOW One ESP32 slave receiving data from multiple masters">
            <a:extLst>
              <a:ext uri="{FF2B5EF4-FFF2-40B4-BE49-F238E27FC236}">
                <a16:creationId xmlns:a16="http://schemas.microsoft.com/office/drawing/2014/main" id="{97CB0F11-63FC-6E1F-1EE5-368E598A6D45}"/>
              </a:ext>
            </a:extLst>
          </p:cNvPr>
          <p:cNvPicPr>
            <a:picLocks noChangeAspect="1"/>
          </p:cNvPicPr>
          <p:nvPr/>
        </p:nvPicPr>
        <p:blipFill>
          <a:blip r:embed="rId3"/>
          <a:stretch>
            <a:fillRect/>
          </a:stretch>
        </p:blipFill>
        <p:spPr>
          <a:xfrm>
            <a:off x="7245741" y="3690888"/>
            <a:ext cx="4114800" cy="2374900"/>
          </a:xfrm>
          <a:prstGeom prst="rect">
            <a:avLst/>
          </a:prstGeom>
        </p:spPr>
      </p:pic>
      <p:pic>
        <p:nvPicPr>
          <p:cNvPr id="7" name="Picture 6" descr="ESP-NOW One ESP32 board sending data to another ESP32 board">
            <a:extLst>
              <a:ext uri="{FF2B5EF4-FFF2-40B4-BE49-F238E27FC236}">
                <a16:creationId xmlns:a16="http://schemas.microsoft.com/office/drawing/2014/main" id="{EFA7D315-0896-A3FE-9717-3873F0036019}"/>
              </a:ext>
            </a:extLst>
          </p:cNvPr>
          <p:cNvPicPr>
            <a:picLocks noChangeAspect="1"/>
          </p:cNvPicPr>
          <p:nvPr/>
        </p:nvPicPr>
        <p:blipFill>
          <a:blip r:embed="rId4"/>
          <a:stretch>
            <a:fillRect/>
          </a:stretch>
        </p:blipFill>
        <p:spPr>
          <a:xfrm>
            <a:off x="975461" y="730339"/>
            <a:ext cx="4762500" cy="2667000"/>
          </a:xfrm>
          <a:prstGeom prst="rect">
            <a:avLst/>
          </a:prstGeom>
        </p:spPr>
      </p:pic>
      <p:pic>
        <p:nvPicPr>
          <p:cNvPr id="8" name="Picture 7" descr="ESP-NOW Two-Way Communication between two ESP32 boards">
            <a:extLst>
              <a:ext uri="{FF2B5EF4-FFF2-40B4-BE49-F238E27FC236}">
                <a16:creationId xmlns:a16="http://schemas.microsoft.com/office/drawing/2014/main" id="{42B87602-FA6E-3934-5929-18321C6D0660}"/>
              </a:ext>
            </a:extLst>
          </p:cNvPr>
          <p:cNvPicPr>
            <a:picLocks noChangeAspect="1"/>
          </p:cNvPicPr>
          <p:nvPr/>
        </p:nvPicPr>
        <p:blipFill>
          <a:blip r:embed="rId5"/>
          <a:stretch>
            <a:fillRect/>
          </a:stretch>
        </p:blipFill>
        <p:spPr>
          <a:xfrm>
            <a:off x="884021" y="3799713"/>
            <a:ext cx="4987290" cy="2458148"/>
          </a:xfrm>
          <a:prstGeom prst="rect">
            <a:avLst/>
          </a:prstGeom>
        </p:spPr>
      </p:pic>
    </p:spTree>
    <p:extLst>
      <p:ext uri="{BB962C8B-B14F-4D97-AF65-F5344CB8AC3E}">
        <p14:creationId xmlns:p14="http://schemas.microsoft.com/office/powerpoint/2010/main" val="3898927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39D2D-1DA7-7B5F-5C57-EF296D272B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EE663D-8417-4DAE-D4DA-059884962781}"/>
              </a:ext>
            </a:extLst>
          </p:cNvPr>
          <p:cNvSpPr>
            <a:spLocks noGrp="1"/>
          </p:cNvSpPr>
          <p:nvPr>
            <p:ph type="title"/>
          </p:nvPr>
        </p:nvSpPr>
        <p:spPr>
          <a:xfrm>
            <a:off x="838200" y="0"/>
            <a:ext cx="10515600" cy="598043"/>
          </a:xfrm>
        </p:spPr>
        <p:txBody>
          <a:bodyPr>
            <a:normAutofit fontScale="90000"/>
          </a:bodyPr>
          <a:lstStyle/>
          <a:p>
            <a:r>
              <a:rPr lang="en-US" dirty="0"/>
              <a:t>ESP NOW</a:t>
            </a:r>
          </a:p>
        </p:txBody>
      </p:sp>
      <p:sp>
        <p:nvSpPr>
          <p:cNvPr id="3" name="Slide Number Placeholder 2">
            <a:extLst>
              <a:ext uri="{FF2B5EF4-FFF2-40B4-BE49-F238E27FC236}">
                <a16:creationId xmlns:a16="http://schemas.microsoft.com/office/drawing/2014/main" id="{E0C7BACA-CBDD-5B08-DEB6-136E39F0A372}"/>
              </a:ext>
            </a:extLst>
          </p:cNvPr>
          <p:cNvSpPr>
            <a:spLocks noGrp="1"/>
          </p:cNvSpPr>
          <p:nvPr>
            <p:ph type="sldNum" sz="quarter" idx="12"/>
          </p:nvPr>
        </p:nvSpPr>
        <p:spPr/>
        <p:txBody>
          <a:bodyPr/>
          <a:lstStyle/>
          <a:p>
            <a:fld id="{0A6ADF2A-7A11-0149-A2B5-0401FD350CDC}" type="slidenum">
              <a:rPr lang="en-US" smtClean="0"/>
              <a:t>13</a:t>
            </a:fld>
            <a:endParaRPr lang="en-US"/>
          </a:p>
        </p:txBody>
      </p:sp>
      <p:sp>
        <p:nvSpPr>
          <p:cNvPr id="4" name="TextBox 3">
            <a:extLst>
              <a:ext uri="{FF2B5EF4-FFF2-40B4-BE49-F238E27FC236}">
                <a16:creationId xmlns:a16="http://schemas.microsoft.com/office/drawing/2014/main" id="{E14899FF-DF5B-A1BB-5835-7ADC9617E2FF}"/>
              </a:ext>
            </a:extLst>
          </p:cNvPr>
          <p:cNvSpPr txBox="1"/>
          <p:nvPr/>
        </p:nvSpPr>
        <p:spPr>
          <a:xfrm>
            <a:off x="492369" y="6356350"/>
            <a:ext cx="9353651" cy="369332"/>
          </a:xfrm>
          <a:prstGeom prst="rect">
            <a:avLst/>
          </a:prstGeom>
          <a:noFill/>
        </p:spPr>
        <p:txBody>
          <a:bodyPr wrap="none" rtlCol="0">
            <a:spAutoFit/>
          </a:bodyPr>
          <a:lstStyle/>
          <a:p>
            <a:r>
              <a:rPr lang="en-US" b="1" dirty="0"/>
              <a:t>Introducing ESP-NOW  5 min </a:t>
            </a:r>
            <a:r>
              <a:rPr lang="en-US" dirty="0"/>
              <a:t>https://</a:t>
            </a:r>
            <a:r>
              <a:rPr lang="en-US" dirty="0" err="1"/>
              <a:t>randomnerdtutorials.com</a:t>
            </a:r>
            <a:r>
              <a:rPr lang="en-US" dirty="0"/>
              <a:t>/esp-now-esp32-arduino-ide/</a:t>
            </a:r>
          </a:p>
        </p:txBody>
      </p:sp>
      <p:pic>
        <p:nvPicPr>
          <p:cNvPr id="9" name="Picture 8" descr="ESP-NOW Communication between multiple ESP32 boards">
            <a:extLst>
              <a:ext uri="{FF2B5EF4-FFF2-40B4-BE49-F238E27FC236}">
                <a16:creationId xmlns:a16="http://schemas.microsoft.com/office/drawing/2014/main" id="{40D60779-F837-6731-BA09-C5F76FE23A6B}"/>
              </a:ext>
            </a:extLst>
          </p:cNvPr>
          <p:cNvPicPr>
            <a:picLocks noChangeAspect="1"/>
          </p:cNvPicPr>
          <p:nvPr/>
        </p:nvPicPr>
        <p:blipFill>
          <a:blip r:embed="rId2"/>
          <a:stretch>
            <a:fillRect/>
          </a:stretch>
        </p:blipFill>
        <p:spPr>
          <a:xfrm>
            <a:off x="-1" y="995483"/>
            <a:ext cx="5019773" cy="3541347"/>
          </a:xfrm>
          <a:prstGeom prst="rect">
            <a:avLst/>
          </a:prstGeom>
        </p:spPr>
      </p:pic>
      <p:sp>
        <p:nvSpPr>
          <p:cNvPr id="10" name="Rectangle 9">
            <a:extLst>
              <a:ext uri="{FF2B5EF4-FFF2-40B4-BE49-F238E27FC236}">
                <a16:creationId xmlns:a16="http://schemas.microsoft.com/office/drawing/2014/main" id="{71AC383E-B042-093D-B498-B1BEF6DE0359}"/>
              </a:ext>
            </a:extLst>
          </p:cNvPr>
          <p:cNvSpPr/>
          <p:nvPr/>
        </p:nvSpPr>
        <p:spPr>
          <a:xfrm>
            <a:off x="5304678" y="201457"/>
            <a:ext cx="6611844" cy="4138863"/>
          </a:xfrm>
          <a:prstGeom prst="rect">
            <a:avLst/>
          </a:prstGeom>
          <a:pattFill prst="ltDnDiag">
            <a:fgClr>
              <a:schemeClr val="accent6">
                <a:lumMod val="40000"/>
                <a:lumOff val="60000"/>
              </a:schemeClr>
            </a:fgClr>
            <a:bgClr>
              <a:schemeClr val="bg1"/>
            </a:bgClr>
          </a:pattFill>
          <a:ln w="508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Target</a:t>
            </a:r>
          </a:p>
        </p:txBody>
      </p:sp>
      <p:sp>
        <p:nvSpPr>
          <p:cNvPr id="11" name="TextBox 10">
            <a:extLst>
              <a:ext uri="{FF2B5EF4-FFF2-40B4-BE49-F238E27FC236}">
                <a16:creationId xmlns:a16="http://schemas.microsoft.com/office/drawing/2014/main" id="{A35F9B52-F8FB-2BD7-8247-3B6F0B0009A9}"/>
              </a:ext>
            </a:extLst>
          </p:cNvPr>
          <p:cNvSpPr txBox="1"/>
          <p:nvPr/>
        </p:nvSpPr>
        <p:spPr>
          <a:xfrm>
            <a:off x="6214140" y="2664227"/>
            <a:ext cx="1211998" cy="646331"/>
          </a:xfrm>
          <a:prstGeom prst="rect">
            <a:avLst/>
          </a:prstGeom>
          <a:noFill/>
          <a:ln w="19050">
            <a:solidFill>
              <a:schemeClr val="accent1">
                <a:shade val="15000"/>
              </a:schemeClr>
            </a:solidFill>
          </a:ln>
        </p:spPr>
        <p:txBody>
          <a:bodyPr wrap="none" rtlCol="0">
            <a:spAutoFit/>
          </a:bodyPr>
          <a:lstStyle/>
          <a:p>
            <a:pPr algn="ctr"/>
            <a:r>
              <a:rPr lang="en-US" dirty="0"/>
              <a:t>Pathfinder</a:t>
            </a:r>
          </a:p>
          <a:p>
            <a:pPr algn="ctr"/>
            <a:r>
              <a:rPr lang="en-US" dirty="0"/>
              <a:t>Vehicle 2</a:t>
            </a:r>
          </a:p>
        </p:txBody>
      </p:sp>
      <p:sp>
        <p:nvSpPr>
          <p:cNvPr id="12" name="TextBox 11">
            <a:extLst>
              <a:ext uri="{FF2B5EF4-FFF2-40B4-BE49-F238E27FC236}">
                <a16:creationId xmlns:a16="http://schemas.microsoft.com/office/drawing/2014/main" id="{F9CCCD56-50C6-51D9-0F30-1905D950466A}"/>
              </a:ext>
            </a:extLst>
          </p:cNvPr>
          <p:cNvSpPr txBox="1"/>
          <p:nvPr/>
        </p:nvSpPr>
        <p:spPr>
          <a:xfrm>
            <a:off x="6214140" y="988134"/>
            <a:ext cx="1211998" cy="646331"/>
          </a:xfrm>
          <a:prstGeom prst="rect">
            <a:avLst/>
          </a:prstGeom>
          <a:noFill/>
          <a:ln w="19050">
            <a:solidFill>
              <a:schemeClr val="accent1">
                <a:shade val="15000"/>
              </a:schemeClr>
            </a:solidFill>
          </a:ln>
        </p:spPr>
        <p:txBody>
          <a:bodyPr wrap="none" rtlCol="0">
            <a:spAutoFit/>
          </a:bodyPr>
          <a:lstStyle/>
          <a:p>
            <a:pPr algn="ctr"/>
            <a:r>
              <a:rPr lang="en-US" dirty="0"/>
              <a:t>Pathfinder</a:t>
            </a:r>
          </a:p>
          <a:p>
            <a:pPr algn="ctr"/>
            <a:r>
              <a:rPr lang="en-US" dirty="0"/>
              <a:t>Vehicle 1</a:t>
            </a:r>
          </a:p>
        </p:txBody>
      </p:sp>
      <p:sp>
        <p:nvSpPr>
          <p:cNvPr id="13" name="TextBox 12">
            <a:extLst>
              <a:ext uri="{FF2B5EF4-FFF2-40B4-BE49-F238E27FC236}">
                <a16:creationId xmlns:a16="http://schemas.microsoft.com/office/drawing/2014/main" id="{AACEC23B-994D-BAE6-093E-46BFC9E701C2}"/>
              </a:ext>
            </a:extLst>
          </p:cNvPr>
          <p:cNvSpPr txBox="1"/>
          <p:nvPr/>
        </p:nvSpPr>
        <p:spPr>
          <a:xfrm>
            <a:off x="9240021" y="2830865"/>
            <a:ext cx="1211998" cy="646331"/>
          </a:xfrm>
          <a:prstGeom prst="rect">
            <a:avLst/>
          </a:prstGeom>
          <a:noFill/>
          <a:ln w="19050">
            <a:solidFill>
              <a:schemeClr val="accent1">
                <a:shade val="15000"/>
              </a:schemeClr>
            </a:solidFill>
          </a:ln>
        </p:spPr>
        <p:txBody>
          <a:bodyPr wrap="none" rtlCol="0">
            <a:spAutoFit/>
          </a:bodyPr>
          <a:lstStyle/>
          <a:p>
            <a:pPr algn="ctr"/>
            <a:r>
              <a:rPr lang="en-US" dirty="0"/>
              <a:t>Pathfinder</a:t>
            </a:r>
          </a:p>
          <a:p>
            <a:pPr algn="ctr"/>
            <a:r>
              <a:rPr lang="en-US" dirty="0"/>
              <a:t>Vehicle 4</a:t>
            </a:r>
          </a:p>
        </p:txBody>
      </p:sp>
      <p:sp>
        <p:nvSpPr>
          <p:cNvPr id="14" name="TextBox 13">
            <a:extLst>
              <a:ext uri="{FF2B5EF4-FFF2-40B4-BE49-F238E27FC236}">
                <a16:creationId xmlns:a16="http://schemas.microsoft.com/office/drawing/2014/main" id="{646D94DC-2FCB-FC81-B998-1C79EC6DC2ED}"/>
              </a:ext>
            </a:extLst>
          </p:cNvPr>
          <p:cNvSpPr txBox="1"/>
          <p:nvPr/>
        </p:nvSpPr>
        <p:spPr>
          <a:xfrm>
            <a:off x="9240021" y="995483"/>
            <a:ext cx="1211998" cy="646331"/>
          </a:xfrm>
          <a:prstGeom prst="rect">
            <a:avLst/>
          </a:prstGeom>
          <a:noFill/>
          <a:ln w="19050">
            <a:solidFill>
              <a:schemeClr val="accent1">
                <a:shade val="15000"/>
              </a:schemeClr>
            </a:solidFill>
          </a:ln>
        </p:spPr>
        <p:txBody>
          <a:bodyPr wrap="none" rtlCol="0">
            <a:spAutoFit/>
          </a:bodyPr>
          <a:lstStyle/>
          <a:p>
            <a:pPr algn="ctr"/>
            <a:r>
              <a:rPr lang="en-US" dirty="0"/>
              <a:t>Pathfinder</a:t>
            </a:r>
          </a:p>
          <a:p>
            <a:pPr algn="ctr"/>
            <a:r>
              <a:rPr lang="en-US" dirty="0"/>
              <a:t>Vehicle 3</a:t>
            </a:r>
          </a:p>
        </p:txBody>
      </p:sp>
      <p:sp>
        <p:nvSpPr>
          <p:cNvPr id="15" name="TextBox 14">
            <a:extLst>
              <a:ext uri="{FF2B5EF4-FFF2-40B4-BE49-F238E27FC236}">
                <a16:creationId xmlns:a16="http://schemas.microsoft.com/office/drawing/2014/main" id="{76577135-B4AD-B2D7-D0A8-5F0D3188F26E}"/>
              </a:ext>
            </a:extLst>
          </p:cNvPr>
          <p:cNvSpPr txBox="1"/>
          <p:nvPr/>
        </p:nvSpPr>
        <p:spPr>
          <a:xfrm>
            <a:off x="7205003" y="4302115"/>
            <a:ext cx="1436868" cy="923330"/>
          </a:xfrm>
          <a:prstGeom prst="rect">
            <a:avLst/>
          </a:prstGeom>
          <a:noFill/>
          <a:ln w="19050">
            <a:solidFill>
              <a:schemeClr val="accent1">
                <a:shade val="15000"/>
              </a:schemeClr>
            </a:solidFill>
          </a:ln>
        </p:spPr>
        <p:txBody>
          <a:bodyPr wrap="none" rtlCol="0">
            <a:spAutoFit/>
          </a:bodyPr>
          <a:lstStyle/>
          <a:p>
            <a:pPr algn="ctr"/>
            <a:r>
              <a:rPr lang="en-US" dirty="0"/>
              <a:t>Base Station</a:t>
            </a:r>
          </a:p>
          <a:p>
            <a:pPr algn="ctr"/>
            <a:r>
              <a:rPr lang="en-US" dirty="0"/>
              <a:t>Pathfinder</a:t>
            </a:r>
          </a:p>
          <a:p>
            <a:pPr algn="ctr"/>
            <a:r>
              <a:rPr lang="en-US" dirty="0"/>
              <a:t>Vehicle 5</a:t>
            </a:r>
          </a:p>
        </p:txBody>
      </p:sp>
      <p:sp>
        <p:nvSpPr>
          <p:cNvPr id="16" name="TextBox 15">
            <a:extLst>
              <a:ext uri="{FF2B5EF4-FFF2-40B4-BE49-F238E27FC236}">
                <a16:creationId xmlns:a16="http://schemas.microsoft.com/office/drawing/2014/main" id="{D5ED5C3B-A3C4-0CB4-F363-9346DF0E7C3C}"/>
              </a:ext>
            </a:extLst>
          </p:cNvPr>
          <p:cNvSpPr txBox="1"/>
          <p:nvPr/>
        </p:nvSpPr>
        <p:spPr>
          <a:xfrm>
            <a:off x="9390234" y="4473180"/>
            <a:ext cx="1436868" cy="923330"/>
          </a:xfrm>
          <a:prstGeom prst="rect">
            <a:avLst/>
          </a:prstGeom>
          <a:noFill/>
          <a:ln w="19050">
            <a:solidFill>
              <a:schemeClr val="accent1">
                <a:shade val="15000"/>
              </a:schemeClr>
            </a:solidFill>
          </a:ln>
        </p:spPr>
        <p:txBody>
          <a:bodyPr wrap="none" rtlCol="0">
            <a:spAutoFit/>
          </a:bodyPr>
          <a:lstStyle/>
          <a:p>
            <a:pPr algn="ctr"/>
            <a:r>
              <a:rPr lang="en-US" dirty="0"/>
              <a:t>Base Station</a:t>
            </a:r>
          </a:p>
          <a:p>
            <a:pPr algn="ctr"/>
            <a:r>
              <a:rPr lang="en-US" dirty="0"/>
              <a:t>Personal</a:t>
            </a:r>
          </a:p>
          <a:p>
            <a:pPr algn="ctr"/>
            <a:r>
              <a:rPr lang="en-US" dirty="0"/>
              <a:t>Computer</a:t>
            </a:r>
          </a:p>
        </p:txBody>
      </p:sp>
      <p:sp>
        <p:nvSpPr>
          <p:cNvPr id="17" name="Right Arrow 16">
            <a:extLst>
              <a:ext uri="{FF2B5EF4-FFF2-40B4-BE49-F238E27FC236}">
                <a16:creationId xmlns:a16="http://schemas.microsoft.com/office/drawing/2014/main" id="{491108F1-D94C-E177-2681-EE4AE5E98FB2}"/>
              </a:ext>
            </a:extLst>
          </p:cNvPr>
          <p:cNvSpPr/>
          <p:nvPr/>
        </p:nvSpPr>
        <p:spPr>
          <a:xfrm>
            <a:off x="8641871" y="4763780"/>
            <a:ext cx="748363" cy="1710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B7EB7C28-3BC7-B62D-21C3-6D6894F0A966}"/>
              </a:ext>
            </a:extLst>
          </p:cNvPr>
          <p:cNvCxnSpPr/>
          <p:nvPr/>
        </p:nvCxnSpPr>
        <p:spPr>
          <a:xfrm>
            <a:off x="6820139" y="3310558"/>
            <a:ext cx="994933" cy="102976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DA8FBF5B-CFCF-0B73-6529-92472B4DD3F1}"/>
              </a:ext>
            </a:extLst>
          </p:cNvPr>
          <p:cNvCxnSpPr>
            <a:cxnSpLocks/>
            <a:stCxn id="13" idx="2"/>
          </p:cNvCxnSpPr>
          <p:nvPr/>
        </p:nvCxnSpPr>
        <p:spPr>
          <a:xfrm flipH="1">
            <a:off x="7775518" y="3477196"/>
            <a:ext cx="2070502" cy="86312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E7659938-5A99-4FD2-399B-ED28180592A0}"/>
              </a:ext>
            </a:extLst>
          </p:cNvPr>
          <p:cNvCxnSpPr>
            <a:cxnSpLocks/>
            <a:stCxn id="14" idx="2"/>
          </p:cNvCxnSpPr>
          <p:nvPr/>
        </p:nvCxnSpPr>
        <p:spPr>
          <a:xfrm flipH="1">
            <a:off x="7811002" y="1641814"/>
            <a:ext cx="2035018" cy="272363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1545A868-5D88-B3C9-23A7-199A87A53C02}"/>
              </a:ext>
            </a:extLst>
          </p:cNvPr>
          <p:cNvCxnSpPr>
            <a:cxnSpLocks/>
            <a:stCxn id="12" idx="2"/>
          </p:cNvCxnSpPr>
          <p:nvPr/>
        </p:nvCxnSpPr>
        <p:spPr>
          <a:xfrm>
            <a:off x="6820139" y="1634465"/>
            <a:ext cx="1087360" cy="266765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80871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57679-59FC-1048-A764-14DD3F19D4FF}"/>
              </a:ext>
            </a:extLst>
          </p:cNvPr>
          <p:cNvSpPr>
            <a:spLocks noGrp="1"/>
          </p:cNvSpPr>
          <p:nvPr>
            <p:ph type="title"/>
          </p:nvPr>
        </p:nvSpPr>
        <p:spPr>
          <a:xfrm>
            <a:off x="2971799" y="-38084"/>
            <a:ext cx="4170405" cy="669591"/>
          </a:xfrm>
        </p:spPr>
        <p:txBody>
          <a:bodyPr>
            <a:normAutofit fontScale="90000"/>
          </a:bodyPr>
          <a:lstStyle/>
          <a:p>
            <a:r>
              <a:rPr lang="en-US" sz="2800" b="1" dirty="0"/>
              <a:t>ESP32-Wroom-32E Pinout</a:t>
            </a:r>
          </a:p>
        </p:txBody>
      </p:sp>
      <p:sp>
        <p:nvSpPr>
          <p:cNvPr id="3" name="Date Placeholder 2">
            <a:extLst>
              <a:ext uri="{FF2B5EF4-FFF2-40B4-BE49-F238E27FC236}">
                <a16:creationId xmlns:a16="http://schemas.microsoft.com/office/drawing/2014/main" id="{B1434B0E-44DB-CE4D-99C5-93DF6AEA5238}"/>
              </a:ext>
            </a:extLst>
          </p:cNvPr>
          <p:cNvSpPr>
            <a:spLocks noGrp="1"/>
          </p:cNvSpPr>
          <p:nvPr>
            <p:ph type="dt" sz="half" idx="10"/>
          </p:nvPr>
        </p:nvSpPr>
        <p:spPr/>
        <p:txBody>
          <a:bodyPr/>
          <a:lstStyle/>
          <a:p>
            <a:r>
              <a:rPr lang="en-US"/>
              <a:t>8/5/21</a:t>
            </a:r>
          </a:p>
        </p:txBody>
      </p:sp>
      <p:sp>
        <p:nvSpPr>
          <p:cNvPr id="4" name="Slide Number Placeholder 3">
            <a:extLst>
              <a:ext uri="{FF2B5EF4-FFF2-40B4-BE49-F238E27FC236}">
                <a16:creationId xmlns:a16="http://schemas.microsoft.com/office/drawing/2014/main" id="{B072934C-142B-9341-ACFC-529849AA473B}"/>
              </a:ext>
            </a:extLst>
          </p:cNvPr>
          <p:cNvSpPr>
            <a:spLocks noGrp="1"/>
          </p:cNvSpPr>
          <p:nvPr>
            <p:ph type="sldNum" sz="quarter" idx="12"/>
          </p:nvPr>
        </p:nvSpPr>
        <p:spPr/>
        <p:txBody>
          <a:bodyPr/>
          <a:lstStyle/>
          <a:p>
            <a:fld id="{AB599DCD-C60C-C64E-8775-518368A573FB}" type="slidenum">
              <a:rPr lang="en-US" smtClean="0"/>
              <a:t>14</a:t>
            </a:fld>
            <a:endParaRPr lang="en-US"/>
          </a:p>
        </p:txBody>
      </p:sp>
      <p:sp>
        <p:nvSpPr>
          <p:cNvPr id="6" name="Rectangle 4">
            <a:extLst>
              <a:ext uri="{FF2B5EF4-FFF2-40B4-BE49-F238E27FC236}">
                <a16:creationId xmlns:a16="http://schemas.microsoft.com/office/drawing/2014/main" id="{E069DEEB-EE82-8D4F-B471-038077231780}"/>
              </a:ext>
            </a:extLst>
          </p:cNvPr>
          <p:cNvSpPr>
            <a:spLocks noChangeArrowheads="1"/>
          </p:cNvSpPr>
          <p:nvPr/>
        </p:nvSpPr>
        <p:spPr bwMode="auto">
          <a:xfrm>
            <a:off x="511169" y="661837"/>
            <a:ext cx="19594122" cy="53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1027" name="Picture 1" descr="/var/folders/wh/6pwstxyx6nz7wrsmgf7t8hmw0000gn/T/com.microsoft.Word/WebArchiveCopyPasteTempFiles/61EFe0XFNrL._AC_SL1001_.jpg">
            <a:extLst>
              <a:ext uri="{FF2B5EF4-FFF2-40B4-BE49-F238E27FC236}">
                <a16:creationId xmlns:a16="http://schemas.microsoft.com/office/drawing/2014/main" id="{66DD5359-A0AE-554A-B4FF-2C7B38A03C03}"/>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t="46562"/>
          <a:stretch>
            <a:fillRect/>
          </a:stretch>
        </p:blipFill>
        <p:spPr bwMode="auto">
          <a:xfrm>
            <a:off x="495951" y="437711"/>
            <a:ext cx="11259849" cy="591863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E3E4513-57D3-CF43-A79A-97DD1DBE697A}"/>
              </a:ext>
            </a:extLst>
          </p:cNvPr>
          <p:cNvSpPr txBox="1"/>
          <p:nvPr/>
        </p:nvSpPr>
        <p:spPr>
          <a:xfrm>
            <a:off x="4722594" y="5943600"/>
            <a:ext cx="2665602" cy="369332"/>
          </a:xfrm>
          <a:prstGeom prst="rect">
            <a:avLst/>
          </a:prstGeom>
          <a:noFill/>
        </p:spPr>
        <p:txBody>
          <a:bodyPr wrap="none" rtlCol="0">
            <a:spAutoFit/>
          </a:bodyPr>
          <a:lstStyle/>
          <a:p>
            <a:r>
              <a:rPr lang="en-US" dirty="0"/>
              <a:t>Enable    Micro USB   Boot </a:t>
            </a:r>
          </a:p>
        </p:txBody>
      </p:sp>
      <p:sp>
        <p:nvSpPr>
          <p:cNvPr id="5" name="TextBox 4">
            <a:extLst>
              <a:ext uri="{FF2B5EF4-FFF2-40B4-BE49-F238E27FC236}">
                <a16:creationId xmlns:a16="http://schemas.microsoft.com/office/drawing/2014/main" id="{D753370B-92EA-404A-8CC7-D39BBC6EE4C6}"/>
              </a:ext>
            </a:extLst>
          </p:cNvPr>
          <p:cNvSpPr txBox="1"/>
          <p:nvPr/>
        </p:nvSpPr>
        <p:spPr>
          <a:xfrm>
            <a:off x="10321871" y="5052449"/>
            <a:ext cx="526106" cy="861774"/>
          </a:xfrm>
          <a:prstGeom prst="rect">
            <a:avLst/>
          </a:prstGeom>
          <a:noFill/>
        </p:spPr>
        <p:txBody>
          <a:bodyPr wrap="none" rtlCol="0">
            <a:spAutoFit/>
          </a:bodyPr>
          <a:lstStyle/>
          <a:p>
            <a:r>
              <a:rPr lang="en-US" sz="1600" dirty="0"/>
              <a:t>SD0</a:t>
            </a:r>
          </a:p>
          <a:p>
            <a:r>
              <a:rPr lang="en-US" sz="1600" dirty="0"/>
              <a:t>SD1</a:t>
            </a:r>
          </a:p>
          <a:p>
            <a:r>
              <a:rPr lang="en-US" sz="1600" dirty="0"/>
              <a:t>CLK</a:t>
            </a:r>
          </a:p>
        </p:txBody>
      </p:sp>
    </p:spTree>
    <p:extLst>
      <p:ext uri="{BB962C8B-B14F-4D97-AF65-F5344CB8AC3E}">
        <p14:creationId xmlns:p14="http://schemas.microsoft.com/office/powerpoint/2010/main" val="1009593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38667</TotalTime>
  <Words>1157</Words>
  <Application>Microsoft Macintosh PowerPoint</Application>
  <PresentationFormat>Widescreen</PresentationFormat>
  <Paragraphs>163</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Aptos Display</vt:lpstr>
      <vt:lpstr>Arial</vt:lpstr>
      <vt:lpstr>Canva Sans</vt:lpstr>
      <vt:lpstr>Open Sans</vt:lpstr>
      <vt:lpstr>Roboto</vt:lpstr>
      <vt:lpstr>Office Theme</vt:lpstr>
      <vt:lpstr>North County Soccer Park Ages 5-11 Activities STEM Slides</vt:lpstr>
      <vt:lpstr>Find the Target (up to five systems)</vt:lpstr>
      <vt:lpstr>Find the Target</vt:lpstr>
      <vt:lpstr>Find the Target Gen 3 Vehicle</vt:lpstr>
      <vt:lpstr>Global Positioning System</vt:lpstr>
      <vt:lpstr>Ultrasonic Range Finder</vt:lpstr>
      <vt:lpstr>Nintendo Switch Controller</vt:lpstr>
      <vt:lpstr>Nintendo Switch Controller</vt:lpstr>
      <vt:lpstr>PowerPoint Presentation</vt:lpstr>
      <vt:lpstr>Canva Color Wheel</vt:lpstr>
      <vt:lpstr>Freenove ESP32-Wrover CAM Board</vt:lpstr>
      <vt:lpstr>ESP NOW</vt:lpstr>
      <vt:lpstr>ESP NOW</vt:lpstr>
      <vt:lpstr>ESP32-Wroom-32E Pinout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Kevin Bowen</dc:creator>
  <cp:lastModifiedBy>Kevin Bowen</cp:lastModifiedBy>
  <cp:revision>17</cp:revision>
  <cp:lastPrinted>2026-06-26T19:42:37Z</cp:lastPrinted>
  <dcterms:created xsi:type="dcterms:W3CDTF">2026-02-03T21:51:04Z</dcterms:created>
  <dcterms:modified xsi:type="dcterms:W3CDTF">2026-07-05T13:22:04Z</dcterms:modified>
</cp:coreProperties>
</file>