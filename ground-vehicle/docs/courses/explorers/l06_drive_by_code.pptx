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BEFORE CLASS: tape one square per team on the floor, about 4 feet on a side, with START marked. Hard floor is better than carpet for repeatable results.</a:t>
            </a:r>
          </a:p>
          <a:p>
            <a:r>
              <a:rPr sz="1200">
                <a:latin typeface="Calibri"/>
              </a:rPr>
              <a:t>Sticky notes for marking where each run ends are a big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them out. The third one is the real lesson of the day: tuning is a skill, and it has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Ask what drive(50, -50) does before you show the slide, and what a team's wake-up speed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Put the agenda on the board as well, with the driving or uploading block circled. Students settle when they can see when the hands-on part starts.</a:t>
            </a:r>
          </a:p>
          <a:p>
            <a:r>
              <a:rPr sz="1200">
                <a:latin typeface="Calibri"/>
              </a:rPr>
              <a:t>The timings are a guide for a one-hour session. If the hands-on block runs long, take the time out of the check yourself questions, never out of the pack-up - a rushed pack-up is how cables and controllers go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These are all in the engine room, explorer.h. Each one runs the motors, waits, then stops.</a:t>
            </a:r>
          </a:p>
          <a:p>
            <a:r>
              <a:rPr sz="1200">
                <a:latin typeface="Calibri"/>
              </a:rPr>
              <a:t>How fast they go is set by setDriveSpeed(), which is in the program's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3000, and 2500.</a:t>
            </a:r>
          </a:p>
          <a:p>
            <a:r>
              <a:rPr sz="1200">
                <a:latin typeface="Calibri"/>
              </a:rPr>
              <a:t>A good feel for it: a blink of an eye takes very roughly 100 to 400 milliseconds. Have them blink and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TURN_TIME starts at 500 on purpose. It's a guess, and it's almost certainly wrong for your vehicle and your floor. Finding the right number is today's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Why setup() and not loop()? Ask. (Because we want it to drive the square ONCE. In loop() it would go round and round forever.)</a:t>
            </a:r>
          </a:p>
          <a:p>
            <a:r>
              <a:rPr sz="1200">
                <a:latin typeface="Calibri"/>
              </a:rPr>
              <a:t>To run it again you switch the vehicle off and on - that restarts the program, and setup() runs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Left: what we asked for. Right: what usually happens the first time, when each corner turns a little too little.</a:t>
            </a:r>
          </a:p>
          <a:p>
            <a:r>
              <a:rPr sz="1200">
                <a:latin typeface="Calibri"/>
              </a:rPr>
              <a:t>Point at the gap at the end of the right-hand path. Nothing is broken - every turn was just a bit short, and the small mistakes added up.</a:t>
            </a:r>
          </a:p>
          <a:p>
            <a:r>
              <a:rPr sz="1200">
                <a:latin typeface="Calibri"/>
              </a:rPr>
              <a:t>The vehicle has no eyes. It doesn't know it missed. That's the big idea of today: a robot that drives by the clock is only as good as its numbers.</a:t>
            </a:r>
          </a:p>
          <a:p>
            <a:r>
              <a:rPr sz="1200">
                <a:latin typeface="Calibri"/>
              </a:rPr>
              <a:t>Ask: if the corners were turning TOO FAR, which way would the path go wrong? (It would curl inward.)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Show how to line up the vehicle: back wheels on the corner, nose pointing exactly along one side. A crooked start makes a crooked square, and that's a variable they should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first run will almost never come home. Celebrate that - it's what makes the next 20 minutes interesting.</a:t>
            </a:r>
          </a:p>
          <a:p>
            <a:r>
              <a:rPr sz="1200">
                <a:latin typeface="Calibri"/>
              </a:rPr>
              <a:t>If a vehicle drives straight off the square on the very first side, check SIDE_TIME hasn't been changed, and that the vehicle was pointing along the tape.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breath between parts of the lesson. Read the title out and point at where it sits on the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the scientific method in disguise: one variable at a time, everything else the same.</a:t>
            </a:r>
          </a:p>
          <a:p>
            <a:r>
              <a:rPr sz="1200">
                <a:latin typeface="Calibri"/>
              </a:rPr>
              <a:t>Turns too SHORT means the vehicle under-rotates, so TURN_TIME needs to get BIGGER. Students often get the direction backward the first time; let the next run tell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Level 2: SIDE_TIME. Level 3: a for loop that runs four times with forward() and spinRight() inside it. A triangle turns 120 degrees at each corner instead of 90, so TURN_TIME becomes about one-and-a-third times as long, and the loop runs three times.</a:t>
            </a:r>
          </a:p>
          <a:p>
            <a:r>
              <a:rPr sz="1200">
                <a:latin typeface="Calibri"/>
              </a:rPr>
              <a:t>Put every team's best TURN_TIME on the board. They'll all be different - that's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Dead reckoning: if you know your speed, your direction and how long you've been going, you can work out where you are - without looking. Ships did exactly this before satellite navigation, and small errors piled up just like today.</a:t>
            </a:r>
          </a:p>
          <a:p>
            <a:r>
              <a:rPr sz="1200">
                <a:latin typeface="Calibri"/>
              </a:rPr>
              <a:t>Ask: what could the vehicle use to check where it really is? (A camera, a distance sensor, a line on the floor to follow.)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Read each word out and have the room say it back. Saying a word out loud is half of owning it.</a:t>
            </a:r>
          </a:p>
          <a:p>
            <a:r>
              <a:rPr sz="1200">
                <a:latin typeface="Calibri"/>
              </a:rPr>
              <a:t>These are also in the glossary at the back of the Mission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Answers: 1 2000. 2 spins right on the spot for half a second. 3 bigger. 4 so you know which change made the difference. 5 different motors, battery charge,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Make sure every team has written down its best TURN_TIME. Lesson 7 starts from it.</a:t>
            </a:r>
          </a:p>
          <a:p>
            <a:r>
              <a:rPr sz="1200">
                <a:latin typeface="Calibri"/>
              </a:rPr>
              <a:t>Batteries: today's floor work drains them. Charge every pack before next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Drive by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No controller today. You write the moves, the vehicle drives them all by itself - and you find out how good your numbers really 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One hour.  Teams of three, one vehicle per team.</a:t>
            </a:r>
          </a:p>
        </p:txBody>
      </p:sp>
      <p:pic>
        <p:nvPicPr>
          <p:cNvPr id="8" name="Picture 7" descr="vehicle-top-plate-esp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44001"/>
            <a:ext cx="4480560" cy="37186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Today's mission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today, you can: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Write a program that drives the vehicle by itself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Measure time in milliseconds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Tune a number by testing, measuring, and changing one thing at a time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Explain why a robot that drives by the clock makes mistakes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Last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wheels turned - safely up on the stand.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drive(50, -50) made the vehicle spin.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Today: the FLOOR! But no controller. The vehicle drives a plan you wrote.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That's called AUTOPILOT.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Switch jobs!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331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52450"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Warm-up: what does drive(50, -50) do?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0:05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Autopilot moves, and milliseconds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0:13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Upload e06a_drive_a_square and run it on the floor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0:28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Tune TURN_TIME until it comes home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0:52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3000">
                          <a:solidFill>
                            <a:srgbClr val="222222"/>
                          </a:solidFill>
                          <a:latin typeface="Calibri"/>
                        </a:rPr>
                        <a:t>Mission Log and pack up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Autopilot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10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Drive a square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Tune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Autopilot moves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600" b="0">
                <a:solidFill>
                  <a:srgbClr val="222222"/>
                </a:solidFill>
                <a:latin typeface="Calibri"/>
              </a:defRPr>
            </a:pPr>
            <a:r>
              <a:rPr sz="1600" b="0">
                <a:solidFill>
                  <a:srgbClr val="222222"/>
                </a:solidFill>
                <a:latin typeface="Calibri"/>
              </a:rPr>
              <a:t>Every move takes a time, in MILLISECONDS.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91640"/>
          <a:ext cx="11185854" cy="421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5272"/>
                <a:gridCol w="8120582"/>
              </a:tblGrid>
              <a:tr h="602342"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Move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602342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forward(1000)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Drive forward for 1000 milliseconds, then stop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02342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backward(1000)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Drive backward for 1000 milliseconds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602342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spinLeft(500)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Spin left on the spot for 500 milliseconds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02342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spinRight(500)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Spin right on the spot for 500 milliseconds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602342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pause(1000)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Stop and wait for 1000 milliseconds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602348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onsolas"/>
                        </a:rPr>
                        <a:t>countdown(5)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5... 4... 3... 2... 1... GO! on the lights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Milliseconds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A millisecond is one thousandth of a second.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1000 milliseconds = 1 second.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500 = half a second.  250 = a quarter of a second.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Why so small? Because a robot can do a LOT in one second.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Quick! How many milliseconds in 3 seconds? In 2 and a half?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settings you'll tune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e06a_drive_a_square.ino, line 31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const int SPEED_LIMIT = 50;    // Learner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const int DRIVE_SPEED = 60;    // Percent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const int SIDE_TIME   = 1500;  // Milliseconds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000">
                <a:latin typeface="Consolas"/>
              </a:defRPr>
            </a:pPr>
            <a:r>
              <a:rPr sz="2000">
                <a:solidFill>
                  <a:srgbClr val="222222"/>
                </a:solidFill>
                <a:latin typeface="Consolas"/>
              </a:rPr>
              <a:t>const int TURN_TIME   = 500;   // TUNE ME!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const means this number won't change while the program runs.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NAME is how the program uses it.</a:t>
            </a:r>
          </a:p>
          <a:p>
            <a:pPr algn="l">
              <a:lnSpc>
                <a:spcPct val="100000"/>
              </a:lnSpc>
              <a:spcAft>
                <a:spcPts val="10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Change the number here, and every move that uses the name changes too.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mission lives in setup()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e06a_drive_a_square.ino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11185855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void setup()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startRover();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setSpeedLimit(SPEED_LIMIT);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setDriveSpeed(DRIVE_SPEED);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countdown(5);                // 5 seconds to step back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666666"/>
                </a:solidFill>
                <a:latin typeface="Consolas"/>
              </a:rPr>
              <a:t>  // The mission happens ONCE, so it goes in setup().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forward(SIDE_TIME);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spinRight(TURN_TIME);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forward(SIDE_TIME);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spinRight(TURN_TIME);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forward(SIDE_TIME);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spinRight(TURN_TIME);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forward(SIDE_TIME);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spinRight(TURN_TIME);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  setAllLights(GREEN);         // Mission complete!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50">
                <a:latin typeface="Consolas"/>
              </a:defRPr>
            </a:pPr>
            <a:r>
              <a:rPr sz="155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Driving a square, by the clock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318607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What you WANT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744903" y="1874520"/>
            <a:ext cx="0" cy="2834640"/>
          </a:xfrm>
          <a:prstGeom prst="line">
            <a:avLst/>
          </a:prstGeom>
          <a:ln w="444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44903" y="1874520"/>
            <a:ext cx="2834640" cy="0"/>
          </a:xfrm>
          <a:prstGeom prst="line">
            <a:avLst/>
          </a:prstGeom>
          <a:ln w="444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579543" y="1874520"/>
            <a:ext cx="0" cy="2834640"/>
          </a:xfrm>
          <a:prstGeom prst="line">
            <a:avLst/>
          </a:prstGeom>
          <a:ln w="444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744903" y="4709160"/>
            <a:ext cx="2834640" cy="0"/>
          </a:xfrm>
          <a:prstGeom prst="line">
            <a:avLst/>
          </a:prstGeom>
          <a:ln w="44450">
            <a:solidFill>
              <a:srgbClr val="0E7C86"/>
            </a:solidFill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50543" y="4818888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8F0D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1280160"/>
            <a:ext cx="5318607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  <a:defRPr sz="2200" b="1">
                <a:solidFill>
                  <a:srgbClr val="B46A0F"/>
                </a:solidFill>
                <a:latin typeface="Calibri"/>
              </a:defRPr>
            </a:pPr>
            <a:r>
              <a:rPr sz="2200" b="1">
                <a:solidFill>
                  <a:srgbClr val="B46A0F"/>
                </a:solidFill>
                <a:latin typeface="Calibri"/>
              </a:rPr>
              <a:t>What usually happens FIRST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723261" y="2216419"/>
            <a:ext cx="0" cy="1968920"/>
          </a:xfrm>
          <a:prstGeom prst="line">
            <a:avLst/>
          </a:prstGeom>
          <a:ln w="44450">
            <a:solidFill>
              <a:srgbClr val="B46A0F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723261" y="1874520"/>
            <a:ext cx="1939008" cy="341899"/>
          </a:xfrm>
          <a:prstGeom prst="line">
            <a:avLst/>
          </a:prstGeom>
          <a:ln w="44450">
            <a:solidFill>
              <a:srgbClr val="B46A0F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62269" y="1874520"/>
            <a:ext cx="673410" cy="1850179"/>
          </a:xfrm>
          <a:prstGeom prst="line">
            <a:avLst/>
          </a:prstGeom>
          <a:ln w="44450">
            <a:solidFill>
              <a:srgbClr val="B46A0F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630544" y="3724699"/>
            <a:ext cx="1705135" cy="984461"/>
          </a:xfrm>
          <a:prstGeom prst="line">
            <a:avLst/>
          </a:prstGeom>
          <a:ln w="44450">
            <a:solidFill>
              <a:srgbClr val="B46A0F"/>
            </a:solidFill>
            <a:prstDash val="dash"/>
            <a:headEnd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28901" y="4295067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D8F0D8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9144" y="4526280"/>
            <a:ext cx="201168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800" b="1">
                <a:solidFill>
                  <a:srgbClr val="B46A0F"/>
                </a:solidFill>
                <a:latin typeface="Calibri"/>
              </a:defRPr>
            </a:pPr>
            <a:r>
              <a:rPr sz="1800" b="1">
                <a:solidFill>
                  <a:srgbClr val="B46A0F"/>
                </a:solidFill>
                <a:latin typeface="Calibri"/>
              </a:rPr>
              <a:t>ends up here!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The vehicle can't see where it is. Tiny mistakes add up. Change TURN_TIME by 50 at a time until it comes home.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Drive a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15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Drive a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Tune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Your square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11185855" cy="4343400"/>
          </a:xfrm>
          <a:prstGeom prst="rect">
            <a:avLst/>
          </a:prstGeom>
          <a:solidFill>
            <a:srgbClr val="EEF3F8"/>
          </a:solidFill>
          <a:ln w="19050">
            <a:solidFill>
              <a:srgbClr val="0E7C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666666"/>
                </a:solidFill>
                <a:latin typeface="Calibri"/>
              </a:rPr>
              <a:t>PLACEHOLDER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PHOTO: the tape square on the floor, START marked</a:t>
            </a:r>
          </a:p>
          <a:p>
            <a:pPr algn="ctr">
              <a:lnSpc>
                <a:spcPct val="100000"/>
              </a:lnSpc>
              <a:spcAft>
                <a:spcPts val="700"/>
              </a:spcAft>
              <a:defRPr sz="1600" b="0">
                <a:solidFill>
                  <a:srgbClr val="0E7C86"/>
                </a:solidFill>
                <a:latin typeface="Calibri"/>
              </a:defRPr>
            </a:pPr>
            <a:r>
              <a:rPr sz="1600" b="0">
                <a:solidFill>
                  <a:srgbClr val="0E7C86"/>
                </a:solidFill>
                <a:latin typeface="Calibri"/>
              </a:rPr>
              <a:t>About 4 feet on a side. An X or an arrow on the START corner showing which way the vehicle faces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86984"/>
            <a:ext cx="11185855" cy="676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Start on the corner, pointing along the tape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Drive a square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e06a_drive_a_square</a:t>
            </a:r>
            <a:r>
              <a:rPr sz="1200">
                <a:solidFill>
                  <a:srgbClr val="FFFFFF"/>
                </a:solidFill>
                <a:latin typeface="Calibri"/>
              </a:rPr>
              <a:t>     (15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Upload it with the wheels UP. The wheels will practice on the stand. That's fine!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Unplug the cable.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Put the vehicle on START, pointing along the tape.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Power ON and step back behind the line. 5-second countdown!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000" b="0">
                <a:solidFill>
                  <a:srgbClr val="222222"/>
                </a:solidFill>
                <a:latin typeface="Calibri"/>
              </a:defRPr>
            </a:pPr>
            <a:r>
              <a:rPr sz="2000" b="0">
                <a:solidFill>
                  <a:srgbClr val="222222"/>
                </a:solidFill>
                <a:latin typeface="Calibri"/>
              </a:rPr>
              <a:t>Where did it end up? Mark it with a sticky note.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935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500" b="0">
                <a:solidFill>
                  <a:srgbClr val="222222"/>
                </a:solidFill>
                <a:latin typeface="Calibri"/>
              </a:defRPr>
            </a:pPr>
            <a:r>
              <a:rPr sz="2500" b="0">
                <a:solidFill>
                  <a:srgbClr val="222222"/>
                </a:solidFill>
                <a:latin typeface="Calibri"/>
              </a:rPr>
              <a:t>Countdown, four sides and four turns, then green lights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313236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715572"/>
            <a:ext cx="4525238" cy="1459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Did it come back to START?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700" b="0">
                <a:solidFill>
                  <a:srgbClr val="222222"/>
                </a:solidFill>
                <a:latin typeface="Calibri"/>
              </a:defRPr>
            </a:pPr>
            <a:r>
              <a:rPr sz="2700" b="0">
                <a:solidFill>
                  <a:srgbClr val="222222"/>
                </a:solidFill>
                <a:latin typeface="Calibri"/>
              </a:rPr>
              <a:t>Were the corners too much, or too little?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Everybody behind the line before the countdown ends. Never grab a moving vehicle - wait for it to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Tune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25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Drive a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Tune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How engineers tune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PREDICT what will happen.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TEST it.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MEASURE: where did it end up? Too far, or not far enough?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CHANGE ONE THING - like TURN_TIME, by 50.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Test again!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Change ONE number at a time. Change two, and you won't know which one helped.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Tune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MISSION: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e06a_drive_a_square</a:t>
            </a:r>
            <a:r>
              <a:rPr sz="1200">
                <a:solidFill>
                  <a:srgbClr val="FFFFFF"/>
                </a:solidFill>
                <a:latin typeface="Calibri"/>
              </a:rPr>
              <a:t>     (24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Turns too SHORT? Make TURN_TIME (line 34) bigger by 50. Too LONG? Smaller by 50.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Write every test in your Mission Log: TURN_TIME, and where it ended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LEVEL 2: make the square bigger. Which number do you change?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200" b="0">
                <a:solidFill>
                  <a:srgbClr val="222222"/>
                </a:solidFill>
                <a:latin typeface="Calibri"/>
              </a:defRPr>
            </a:pPr>
            <a:r>
              <a:rPr sz="2200" b="0">
                <a:solidFill>
                  <a:srgbClr val="222222"/>
                </a:solidFill>
                <a:latin typeface="Calibri"/>
              </a:rPr>
              <a:t>LEVEL 3: swap the eight moves for a for loop. Then drive a TRIANGLE.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632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Each test ends a little closer to 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010325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412661"/>
            <a:ext cx="4525238" cy="17628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What's your best TURN_TIME?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600" b="0">
                <a:solidFill>
                  <a:srgbClr val="222222"/>
                </a:solidFill>
                <a:latin typeface="Calibri"/>
              </a:defRPr>
            </a:pPr>
            <a:r>
              <a:rPr sz="2600" b="0">
                <a:solidFill>
                  <a:srgbClr val="222222"/>
                </a:solidFill>
                <a:latin typeface="Calibri"/>
              </a:rPr>
              <a:t>Is it the same as other teams'? Why not?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Every upload: wheels up, then unplug, then floor.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Why isn't every vehicle the same?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3986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Every motor is a tiny bit different.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floor matters: carpet, tile, wood.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battery matters: a full battery pushes harder.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The vehicle can't SEE where it is. It just counts time.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That's called DEAD RECKONING. Sailors navigated this way for hundreds of years.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Real rovers drive by the clock AND check sensors. Sensors come in the next course!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New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506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8442154"/>
              </a:tblGrid>
              <a:tr h="843491"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Word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 b="1">
                          <a:solidFill>
                            <a:srgbClr val="FFFFFF"/>
                          </a:solidFill>
                          <a:latin typeface="Calibri"/>
                        </a:rPr>
                        <a:t>What it means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Autopilot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The vehicle drives a plan by itself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Millisecond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One thousandth of a second. 1000 ms = 1 second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const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A number with a name, that doesn't change while the program runs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843491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Tune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Change a number a little at a time until it works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843495"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Dead reckoning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900">
                          <a:solidFill>
                            <a:srgbClr val="222222"/>
                          </a:solidFill>
                          <a:latin typeface="Calibri"/>
                        </a:rPr>
                        <a:t>Working out where you are from speed and time, without looking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74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1.  How many milliseconds in 2 seconds?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2.  What does spinRight(500) do?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3.  The corners turn too little. Make TURN_TIME bigger or smaller?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4.  Why change only one number at a time?</a:t>
            </a:r>
          </a:p>
          <a:p>
            <a:pPr algn="l">
              <a:lnSpc>
                <a:spcPct val="100000"/>
              </a:lnSpc>
              <a:spcAft>
                <a:spcPts val="1400"/>
              </a:spcAft>
              <a:defRPr sz="3000" b="0">
                <a:solidFill>
                  <a:srgbClr val="222222"/>
                </a:solidFill>
                <a:latin typeface="Calibri"/>
              </a:defRPr>
            </a:pPr>
            <a:r>
              <a:rPr sz="3000" b="0">
                <a:solidFill>
                  <a:srgbClr val="222222"/>
                </a:solidFill>
                <a:latin typeface="Calibri"/>
              </a:rPr>
              <a:t>5.  Why might your best TURN_TIME not work on another team's vehicle?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Mission Log, then pack up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Explorers  |  Lesson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74267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In your Mission 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74267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Your tuning table: every TURN_TIME you tried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Circle your best TURN_TIME - you need it next lesson!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Stamp: Autopilot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02790" y="1188720"/>
            <a:ext cx="598598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200" b="1">
                <a:solidFill>
                  <a:srgbClr val="0E7C86"/>
                </a:solidFill>
                <a:latin typeface="Calibri"/>
              </a:defRPr>
            </a:pPr>
            <a:r>
              <a:rPr sz="2200" b="1">
                <a:solidFill>
                  <a:srgbClr val="0E7C86"/>
                </a:solidFill>
                <a:latin typeface="Calibri"/>
              </a:rPr>
              <a:t>Pack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2790" y="1700784"/>
            <a:ext cx="5985985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Crew Chief: vehicle power OFF.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Unplug the cable and coil it up.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Vehicle and controller back in their spot, stickers matching.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2900" b="0">
                <a:solidFill>
                  <a:srgbClr val="222222"/>
                </a:solidFill>
                <a:latin typeface="Calibri"/>
              </a:defRPr>
            </a:pPr>
            <a:r>
              <a:rPr sz="2900" b="0">
                <a:solidFill>
                  <a:srgbClr val="222222"/>
                </a:solidFill>
                <a:latin typeface="Calibri"/>
              </a:rPr>
              <a:t>Close the laptop. Push your chairs 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Last job: every team member says one thing they learned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