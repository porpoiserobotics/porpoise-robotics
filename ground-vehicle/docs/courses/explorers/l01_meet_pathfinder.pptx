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BEFORE CLASS: every vehicle charged, on its stand, switched off, with e01a_learner_drive already uploaded and its controller claimed with e00_claim_controller. The arena is taped on the floor. The README has the full checklist.</a:t>
            </a:r>
          </a:p>
          <a:p>
            <a:r>
              <a:rPr sz="1200">
                <a:latin typeface="Calibri"/>
              </a:rPr>
              <a:t>Introduce yourself, then go round the room for names. Ask who has built or programmed anything before - a LEGO kit, Scratch, Minecraft redstone all count. It tells you who can help their team, and makes beginners feel normal.</a:t>
            </a:r>
          </a:p>
          <a:p>
            <a:r>
              <a:rPr sz="1200">
                <a:latin typeface="Calibri"/>
              </a:rPr>
              <a:t>Promise them one thing right now: everybody drives a robot before this hour is 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these out. Come back to this slide in the last five minutes and ask for a thumbs-up, sideways or down on each one.</a:t>
            </a:r>
          </a:p>
          <a:p>
            <a:r>
              <a:rPr sz="1200">
                <a:latin typeface="Calibri"/>
              </a:rPr>
              <a:t>The fourth one is the one they care about. Say so, and say that the first three are how they earn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the tone in the next two minutes: this is a room where being wrong is normal and asking is good.</a:t>
            </a:r>
          </a:p>
          <a:p>
            <a:r>
              <a:rPr sz="1200">
                <a:latin typeface="Calibri"/>
              </a:rPr>
              <a:t>The last bullet matters most. A nine-year-old whose vehicle does something strange needs to hear that this is the job, not a sign they're bad at it. Say it slowly.</a:t>
            </a:r>
          </a:p>
          <a:p>
            <a:r>
              <a:rPr sz="1200">
                <a:latin typeface="Calibri"/>
              </a:rPr>
              <a:t>If you have a few older students, ask them now to be the people who help, not the people who grab the keyboard. Most rise to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One line each - this is a map, not a lesson.</a:t>
            </a:r>
          </a:p>
          <a:p>
            <a:r>
              <a:rPr sz="1200">
                <a:latin typeface="Calibri"/>
              </a:rPr>
              <a:t>Point at Lesson 12 and tell them families are invited to watch, if they are. Having somebody to show is a strong motivator all term.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agenda on the board as well, with the driving or uploading block circled. Students settle when they can see when the hands-on part starts.</a:t>
            </a:r>
          </a:p>
          <a:p>
            <a:r>
              <a:rPr sz="1200">
                <a:latin typeface="Calibri"/>
              </a:rPr>
              <a:t>The timings are a guide for a one-hour session. If the hands-on block runs long, take the time out of the check yourself questions, never out of the pack-up - a rushed pack-up is how cables and controllers go missing.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Hand this out before ANYTHING is taught, so the answers show where students start rather than what the first ten minutes taught them.</a:t>
            </a:r>
          </a:p>
          <a:p>
            <a:r>
              <a:rPr sz="1200">
                <a:latin typeface="Calibri"/>
              </a:rPr>
              <a:t>Give every student an Explorer code: team number plus a letter (3A, 3B, 3C). Write it on a sticky note on their desk; they copy it onto the questionnaire and the Mission Log cover. Keep the list of codes and names yourself. The questionnaires never carry names, which is what lets students be honest.</a:t>
            </a:r>
          </a:p>
          <a:p>
            <a:r>
              <a:rPr sz="1200">
                <a:latin typeface="Calibri"/>
              </a:rPr>
              <a:t>Read every question aloud, at a steady pace, for the whole room. Nine-year-olds read at very different speeds, and you are measuring what they know, not how fast they read.</a:t>
            </a:r>
          </a:p>
          <a:p>
            <a:r>
              <a:rPr sz="1200">
                <a:latin typeface="Calibri"/>
              </a:rPr>
              <a:t>Don't explain or hint at Part 2. If somebody asks, the answer is always: if you're not sure, tick I don't know yet.</a:t>
            </a:r>
          </a:p>
          <a:p>
            <a:r>
              <a:rPr sz="1200">
                <a:latin typeface="Calibri"/>
              </a:rPr>
              <a:t>Collect them straight away, and don't read them in front of the class. The README says how to type them into questionnaire_tracker.xlsx. A student who misses today does it at the start of Lesson 2, with the real date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these one at a time and make them commit before anyone explains. Then ask a thumbs-up and a thumbs-down to defend their vote.</a:t>
            </a:r>
          </a:p>
          <a:p>
            <a:r>
              <a:rPr sz="1200">
                <a:latin typeface="Calibri"/>
              </a:rPr>
              <a:t>There are no perfect answers, and that is the fun. Where most rooms land: robot vacuum YES (it senses bumps and decides where to go). TV remote NO (it does what your thumb says). Automatic door - arguable, it senses and acts but hardly thinks. Mars rover YES. Remote-control car NO - a person does the thinking. Calculator - it thinks, but doesn't sense the world or move anything.</a:t>
            </a:r>
          </a:p>
          <a:p>
            <a:r>
              <a:rPr sz="1200">
                <a:latin typeface="Calibri"/>
              </a:rPr>
              <a:t>Steer the discussion toward the three verbs on the next slide: does it SENSE, THINK and ACT by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Point at each box on a real vehicle as you say it: the controller is how it senses you today, the computer under the top plate thinks, the wheels and lights act.</a:t>
            </a:r>
          </a:p>
          <a:p>
            <a:r>
              <a:rPr sz="1200">
                <a:latin typeface="Calibri"/>
              </a:rPr>
              <a:t>Ask: does a TV remote sense, think and act? (It senses your thumb, but it doesn't decide anything - you do.) Does a robot vacuum? (Yes - it bumps, decides, and turns.) Let them argue. Arguing about the edges is how the idea sticks.</a:t>
            </a:r>
          </a:p>
          <a:p>
            <a:r>
              <a:rPr sz="1200">
                <a:latin typeface="Calibri"/>
              </a:rPr>
              <a:t>Say plainly that the 'think' box is where THEIR programs will live. Everything they write in this course goes in the middle box.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Your vehicle shares its name with that mission. It's a good story to tell: a robot the size of a microwave, driving very slowly across another planet, run by a team in Pasadena, California, a couple of hours north of here.</a:t>
            </a:r>
          </a:p>
          <a:p>
            <a:r>
              <a:rPr sz="1200">
                <a:latin typeface="Calibri"/>
              </a:rPr>
              <a:t>Sojourner landed on July 4, 1997. One centimeter a second is about the width of a fingernail every second.</a:t>
            </a:r>
          </a:p>
          <a:p>
            <a:r>
              <a:rPr sz="1200">
                <a:latin typeface="Calibri"/>
              </a:rPr>
              <a:t>The ocean line is the local hook. Porpoise Robotics builds robots for the sea, and Scripps Institution of Oceanography in La Jolla sends robot floats and gliders all over the world's oceans. Ask who has been to the Birch Aquarium or the tide pools.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each team two minutes to find every labeled part on their own vehicle. Hands on is fine; power stays OFF.</a:t>
            </a:r>
          </a:p>
          <a:p>
            <a:r>
              <a:rPr sz="1200">
                <a:latin typeface="Calibri"/>
              </a:rPr>
              <a:t>Make sure every team finds the POWER SWITCH. Ask every Crew Chief to put a finger on it. You will ask for it again in the safety section.</a:t>
            </a:r>
          </a:p>
          <a:p>
            <a:r>
              <a:rPr sz="1200">
                <a:latin typeface="Calibri"/>
              </a:rPr>
              <a:t>Don't explain the battery voltage or the motor drivers - that comes later. Names and jobs only.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the room to fill in the last column before you show it - cover it with your hand, or read the middle column and let them shout.</a:t>
            </a:r>
          </a:p>
          <a:p>
            <a:r>
              <a:rPr sz="1200">
                <a:latin typeface="Calibri"/>
              </a:rPr>
              <a:t>The comparison is loose and that's fine. If a student argues that the lights are more like a voice than a face, they have understood it perfectly.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Left: a Pathfinder on its back. The wheels are bigger than the frame on the top and the bottom, so it still touches the ground with its wheels. Ask why an explorer robot might need that. (Bumps, rocks, flips.)</a:t>
            </a:r>
          </a:p>
          <a:p>
            <a:r>
              <a:rPr sz="1200">
                <a:latin typeface="Calibri"/>
              </a:rPr>
              <a:t>Right: the controllers. Each one is locked to one vehicle,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Without this, twelve controllers in one room would grab whichever vehicle answered first. The stickers are how students keep the pairs together.</a:t>
            </a:r>
          </a:p>
          <a:p>
            <a:r>
              <a:rPr sz="1200">
                <a:latin typeface="Calibri"/>
              </a:rPr>
              <a:t>Blinking RED means the vehicle has never been told which controller is its own. That is an instructor job: run e00_claim_controller on it (the README walks you through it). It takes two minutes.</a:t>
            </a:r>
          </a:p>
          <a:p>
            <a:r>
              <a:rPr sz="1200">
                <a:latin typeface="Calibri"/>
              </a:rPr>
              <a:t>If a controller seems dead: check it's charged, and that it isn't the neighbor's. Swapped controllers are the most common 'broken vehicle' of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Assign today's jobs now, out loud, team by team. Write them on the board so you can rotate them fairly next lesson.</a:t>
            </a:r>
          </a:p>
          <a:p>
            <a:r>
              <a:rPr sz="1200">
                <a:latin typeface="Calibri"/>
              </a:rPr>
              <a:t>Teams of two: one person is Crew Chief AND Pilot. Teams of four: add a Navigator who reads the steps and keeps the Mission Log.</a:t>
            </a:r>
          </a:p>
          <a:p>
            <a:r>
              <a:rPr sz="1200">
                <a:latin typeface="Calibri"/>
              </a:rPr>
              <a:t>Crew Chief is the most important job, not the least. Give it to your most careful student first, so the others see how it's done.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Slow down. This is the slide that keeps everybody safe for twelve weeks.</a:t>
            </a:r>
          </a:p>
          <a:p>
            <a:r>
              <a:rPr sz="1200">
                <a:latin typeface="Calibri"/>
              </a:rPr>
              <a:t>Ask WHY for at least three rules and let students answer. Rules they can explain are rules they keep. (1: a vehicle on a table can drive itself off it. 3: the wires are the weakest part. 5: the battery is a 16-volt lithium pack with a lot of energy in it.)</a:t>
            </a:r>
          </a:p>
          <a:p>
            <a:r>
              <a:rPr sz="1200">
                <a:latin typeface="Calibri"/>
              </a:rPr>
              <a:t>Rule 5 is absolute. Students never charge, unplug, or swap a battery. If you have a puffy pack, show it - kids remember what they've seen far better than what they've heard.</a:t>
            </a:r>
          </a:p>
          <a:p>
            <a:r>
              <a:rPr sz="1200">
                <a:latin typeface="Calibri"/>
              </a:rPr>
              <a:t>Have every student sign the Explorer Code page in the Mission Log before anyone drives.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a real vehicle on a real stand. Anything works: a wooden block, a small sturdy box, a stack of books. All four wheels must be clear.</a:t>
            </a:r>
          </a:p>
          <a:p>
            <a:r>
              <a:rPr sz="1200">
                <a:latin typeface="Calibri"/>
              </a:rPr>
              <a:t>Crew Chiefs point at their power switch. Every one of them,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Build this on the floor before the lesson with masking tape and four plastic cups. About 10 feet by 12 feet is plenty.</a:t>
            </a:r>
          </a:p>
          <a:p>
            <a:r>
              <a:rPr sz="1200">
                <a:latin typeface="Calibri"/>
              </a:rPr>
              <a:t>Walk the course on foot first, slowly, with the class watching. Nine-year-olds learn a route far better by seeing a person do it than by looking at a map.</a:t>
            </a:r>
          </a:p>
          <a:p>
            <a:r>
              <a:rPr sz="1200">
                <a:latin typeface="Calibri"/>
              </a:rPr>
              <a:t>The garage is the hard part. Parking slowly and precisely is a far better test of control than speed, and it is what the license rewards.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If your room is small, run the arena in shifts: two or three vehicles at a time, and the waiting teams label the parts page in their Mission Log. Everybody gets a turn.</a:t>
            </a:r>
          </a:p>
          <a:p>
            <a:r>
              <a:rPr sz="1200">
                <a:latin typeface="Calibri"/>
              </a:rPr>
              <a:t>Tell them where to stand while they wait - behind the tape, not in the arena. Feet in the arena are the main hazard.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Your teacher has already uploaded e01a_learner_drive to every vehicle, so there's no laptop in this activity.</a:t>
            </a:r>
          </a:p>
          <a:p>
            <a:r>
              <a:rPr sz="1200">
                <a:latin typeface="Calibri"/>
              </a:rPr>
              <a:t>Watch the first lap of every team closely. Kids push the stick all the way at first. The learner speed limit keeps it manageable; praise smooth driving loudly.</a:t>
            </a:r>
          </a:p>
          <a:p>
            <a:r>
              <a:rPr sz="1200">
                <a:latin typeface="Calibri"/>
              </a:rPr>
              <a:t>Answers: the stick goes right to turn right, and the vehicle turns on the spot if you aren't also pushing forward. The back lights turn white when reversing - like a car's backup lights. A flashes the headlights, Y switches the lights off and on, X is party mode.</a:t>
            </a:r>
          </a:p>
          <a:p>
            <a:r>
              <a:rPr sz="1200">
                <a:latin typeface="Calibri"/>
              </a:rPr>
              <a:t>If a vehicle won't connect: is it the right controller? Is the controller charged? Is the vehicle blinking green (good) or red (needs e00)?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Say it plainly: this number is why your vehicle drives gently today. It's a percent - at 50 a full push on the stick gives half power. Pass the driving test, and you get to raise it.</a:t>
            </a:r>
          </a:p>
          <a:p>
            <a:r>
              <a:rPr sz="1200">
                <a:latin typeface="Calibri"/>
              </a:rPr>
              <a:t>Open e01a_learner_drive on your own laptop and project it. Don't let anybody change it yet - today is look, don't touch.</a:t>
            </a:r>
          </a:p>
          <a:p>
            <a:r>
              <a:rPr sz="1200">
                <a:latin typeface="Calibri"/>
              </a:rPr>
              <a:t>This is the hook for the whole course: there's a number in the program, and changing it changes the robot. By Lesson 9 they'll change it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reward system for the whole course, so make it feel like a real license. Stamp it. Make a little ceremony of the upgrade.</a:t>
            </a:r>
          </a:p>
          <a:p>
            <a:r>
              <a:rPr sz="1200">
                <a:latin typeface="Calibri"/>
              </a:rPr>
              <a:t>SPEED_LIMIT is a percent of full power. At the Learner level a full stick gives half power; at Expert it gives everything the motors have.</a:t>
            </a:r>
          </a:p>
          <a:p>
            <a:r>
              <a:rPr sz="1200">
                <a:latin typeface="Calibri"/>
              </a:rPr>
              <a:t>It is entirely your call when a team goes up a level. A team that drives carelessly at 75 can be asked to go back to 50 - say so now, before anyone has earned anything.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Answers: 1 sense, think, act. 2 the ESP32 computer. 3 whenever the cable is plugged in. 4 grown-ups only. 5 power OFF, step back, tell a grown-up.</a:t>
            </a:r>
          </a:p>
          <a:p>
            <a:r>
              <a:rPr sz="1200">
                <a:latin typeface="Calibri"/>
              </a:rPr>
              <a:t>Questions 3 to 5 are the ones that matter. Anybody who can't answer them doesn't get a Learner Permit stamp yet - say that kindly and go over it again.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Stamp the Learner Permit for every student who answered the safety questions. It's the first page they'll show their families.</a:t>
            </a:r>
          </a:p>
          <a:p>
            <a:r>
              <a:rPr sz="1200">
                <a:latin typeface="Calibri"/>
              </a:rPr>
              <a:t>Next lesson they upload their first program, so laptops need the board package and the course sketches by then. See the README.</a:t>
            </a:r>
          </a:p>
          <a:p>
            <a:r>
              <a:rPr sz="1200">
                <a:latin typeface="Calibri"/>
              </a:rPr>
              <a:t>Do not let anyone leave until their Crew Chief has shown you a switched-off vehicle.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1</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Meet Pathfinder</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What a robot is, the vehicle your team will program for twelve lessons, how we stay safe - and your very first drive.</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One hour.  Teams of three, one vehicle per team.</a:t>
            </a:r>
          </a:p>
        </p:txBody>
      </p:sp>
      <p:pic>
        <p:nvPicPr>
          <p:cNvPr id="8" name="Picture 7" descr="vehicle-turn-signal-left.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Today's mission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today, you can:</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Say the three things every robot does</a:t>
            </a:r>
          </a:p>
          <a:p>
            <a:pPr algn="l">
              <a:lnSpc>
                <a:spcPct val="100000"/>
              </a:lnSpc>
              <a:spcAft>
                <a:spcPts val="1300"/>
              </a:spcAft>
              <a:defRPr sz="1900" b="0">
                <a:solidFill>
                  <a:srgbClr val="222222"/>
                </a:solidFill>
                <a:latin typeface="Calibri"/>
              </a:defRPr>
            </a:pPr>
            <a:r>
              <a:rPr sz="1900" b="0">
                <a:solidFill>
                  <a:srgbClr val="222222"/>
                </a:solidFill>
                <a:latin typeface="Calibri"/>
              </a:rPr>
              <a:t>2.   Find the computer, motors, lights and battery on a Pathfinder</a:t>
            </a:r>
          </a:p>
          <a:p>
            <a:pPr algn="l">
              <a:lnSpc>
                <a:spcPct val="100000"/>
              </a:lnSpc>
              <a:spcAft>
                <a:spcPts val="1300"/>
              </a:spcAft>
              <a:defRPr sz="1900" b="0">
                <a:solidFill>
                  <a:srgbClr val="222222"/>
                </a:solidFill>
                <a:latin typeface="Calibri"/>
              </a:defRPr>
            </a:pPr>
            <a:r>
              <a:rPr sz="1900" b="0">
                <a:solidFill>
                  <a:srgbClr val="222222"/>
                </a:solidFill>
                <a:latin typeface="Calibri"/>
              </a:rPr>
              <a:t>3.   Explain the Explorer Code, and why each rule is there</a:t>
            </a:r>
          </a:p>
          <a:p>
            <a:pPr algn="l">
              <a:lnSpc>
                <a:spcPct val="100000"/>
              </a:lnSpc>
              <a:spcAft>
                <a:spcPts val="1300"/>
              </a:spcAft>
              <a:defRPr sz="1900" b="0">
                <a:solidFill>
                  <a:srgbClr val="222222"/>
                </a:solidFill>
                <a:latin typeface="Calibri"/>
              </a:defRPr>
            </a:pPr>
            <a:r>
              <a:rPr sz="1900" b="0">
                <a:solidFill>
                  <a:srgbClr val="222222"/>
                </a:solidFill>
                <a:latin typeface="Calibri"/>
              </a:rPr>
              <a:t>4.   Drive a Pathfinder through the course and park it in the garage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Welcome, Explorers!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r>
              <a:rPr sz="2700" b="0">
                <a:solidFill>
                  <a:srgbClr val="222222"/>
                </a:solidFill>
                <a:latin typeface="Calibri"/>
              </a:rPr>
              <a:t>For the next twelve lessons, your team gets its own robot vehicle.</a:t>
            </a:r>
          </a:p>
          <a:p>
            <a:pPr algn="l">
              <a:lnSpc>
                <a:spcPct val="100000"/>
              </a:lnSpc>
              <a:spcAft>
                <a:spcPts val="600"/>
              </a:spcAft>
              <a:defRPr sz="2700" b="0">
                <a:solidFill>
                  <a:srgbClr val="222222"/>
                </a:solidFill>
                <a:latin typeface="Calibri"/>
              </a:defRPr>
            </a:pPr>
            <a:r>
              <a:rPr sz="2700" b="0">
                <a:solidFill>
                  <a:srgbClr val="222222"/>
                </a:solidFill>
                <a:latin typeface="Calibri"/>
              </a:rPr>
              <a:t>You will make it light up, move, drive itself, and listen to your controller.</a:t>
            </a:r>
          </a:p>
          <a:p>
            <a:pPr algn="l">
              <a:lnSpc>
                <a:spcPct val="100000"/>
              </a:lnSpc>
              <a:spcAft>
                <a:spcPts val="600"/>
              </a:spcAft>
              <a:defRPr sz="2700" b="0">
                <a:solidFill>
                  <a:srgbClr val="222222"/>
                </a:solidFill>
                <a:latin typeface="Calibri"/>
              </a:defRPr>
            </a:pPr>
            <a:r>
              <a:rPr sz="2700" b="0">
                <a:solidFill>
                  <a:srgbClr val="222222"/>
                </a:solidFill>
                <a:latin typeface="Calibri"/>
              </a:rPr>
              <a:t>By the last lesson, YOU will have written the program that drives it.</a:t>
            </a:r>
          </a:p>
          <a:p>
            <a:pPr algn="l">
              <a:lnSpc>
                <a:spcPct val="100000"/>
              </a:lnSpc>
              <a:spcAft>
                <a:spcPts val="600"/>
              </a:spcAft>
              <a:defRPr sz="2700" b="0">
                <a:solidFill>
                  <a:srgbClr val="222222"/>
                </a:solidFill>
                <a:latin typeface="Calibri"/>
              </a:defRPr>
            </a:pPr>
            <a:r>
              <a:rPr sz="2700" b="0">
                <a:solidFill>
                  <a:srgbClr val="222222"/>
                </a:solidFill>
                <a:latin typeface="Calibri"/>
              </a:rPr>
              <a:t>Mistakes are part of the job. Every engineer breaks things. The good ones find out why.</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Questions are always welcome here. "I don't know - let's find out" is a great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we're going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14912"/>
        </p:xfrm>
        <a:graphic>
          <a:graphicData uri="http://schemas.openxmlformats.org/drawingml/2006/table">
            <a:tbl>
              <a:tblPr firstRow="1" bandRow="1">
                <a:tableStyleId>{5C22544A-7EE6-4342-B048-85BDC9FD1C3A}</a:tableStyleId>
              </a:tblPr>
              <a:tblGrid>
                <a:gridCol w="1315982"/>
                <a:gridCol w="9869872"/>
              </a:tblGrid>
              <a:tr h="385762">
                <a:tc>
                  <a:txBody>
                    <a:bodyPr/>
                    <a:lstStyle/>
                    <a:p>
                      <a:r>
                        <a:rPr sz="1950" b="1">
                          <a:solidFill>
                            <a:srgbClr val="FFFFFF"/>
                          </a:solidFill>
                          <a:latin typeface="Calibri"/>
                        </a:rPr>
                        <a:t>Lesson</a:t>
                      </a:r>
                    </a:p>
                  </a:txBody>
                  <a:tcPr marL="73152" marT="18288" marB="18288">
                    <a:solidFill>
                      <a:srgbClr val="1F3A5F"/>
                    </a:solidFill>
                  </a:tcPr>
                </a:tc>
                <a:tc>
                  <a:txBody>
                    <a:bodyPr/>
                    <a:lstStyle/>
                    <a:p>
                      <a:r>
                        <a:rPr sz="1950" b="1">
                          <a:solidFill>
                            <a:srgbClr val="FFFFFF"/>
                          </a:solidFill>
                          <a:latin typeface="Calibri"/>
                        </a:rPr>
                        <a:t>What you'll do</a:t>
                      </a:r>
                    </a:p>
                  </a:txBody>
                  <a:tcPr marL="73152" marT="18288" marB="18288">
                    <a:solidFill>
                      <a:srgbClr val="1F3A5F"/>
                    </a:solidFill>
                  </a:tcPr>
                </a:tc>
              </a:tr>
              <a:tr h="385762">
                <a:tc>
                  <a:txBody>
                    <a:bodyPr/>
                    <a:lstStyle/>
                    <a:p>
                      <a:r>
                        <a:rPr sz="1950">
                          <a:solidFill>
                            <a:srgbClr val="222222"/>
                          </a:solidFill>
                          <a:latin typeface="Calibri"/>
                        </a:rPr>
                        <a:t>1</a:t>
                      </a:r>
                    </a:p>
                  </a:txBody>
                  <a:tcPr marL="73152" marT="18288" marB="18288">
                    <a:solidFill>
                      <a:srgbClr val="FFFFFF"/>
                    </a:solidFill>
                  </a:tcPr>
                </a:tc>
                <a:tc>
                  <a:txBody>
                    <a:bodyPr/>
                    <a:lstStyle/>
                    <a:p>
                      <a:r>
                        <a:rPr sz="1950">
                          <a:solidFill>
                            <a:srgbClr val="222222"/>
                          </a:solidFill>
                          <a:latin typeface="Calibri"/>
                        </a:rPr>
                        <a:t>Meet Pathfinder, and drive it</a:t>
                      </a:r>
                    </a:p>
                  </a:txBody>
                  <a:tcPr marL="73152" marT="18288" marB="18288">
                    <a:solidFill>
                      <a:srgbClr val="FFFFFF"/>
                    </a:solidFill>
                  </a:tcPr>
                </a:tc>
              </a:tr>
              <a:tr h="385762">
                <a:tc>
                  <a:txBody>
                    <a:bodyPr/>
                    <a:lstStyle/>
                    <a:p>
                      <a:r>
                        <a:rPr sz="1950">
                          <a:solidFill>
                            <a:srgbClr val="222222"/>
                          </a:solidFill>
                          <a:latin typeface="Calibri"/>
                        </a:rPr>
                        <a:t>2</a:t>
                      </a:r>
                    </a:p>
                  </a:txBody>
                  <a:tcPr marL="73152" marT="18288" marB="18288">
                    <a:solidFill>
                      <a:srgbClr val="EEF3F8"/>
                    </a:solidFill>
                  </a:tcPr>
                </a:tc>
                <a:tc>
                  <a:txBody>
                    <a:bodyPr/>
                    <a:lstStyle/>
                    <a:p>
                      <a:r>
                        <a:rPr sz="1950">
                          <a:solidFill>
                            <a:srgbClr val="222222"/>
                          </a:solidFill>
                          <a:latin typeface="Calibri"/>
                        </a:rPr>
                        <a:t>Write your first program, and hunt bugs</a:t>
                      </a:r>
                    </a:p>
                  </a:txBody>
                  <a:tcPr marL="73152" marT="18288" marB="18288">
                    <a:solidFill>
                      <a:srgbClr val="EEF3F8"/>
                    </a:solidFill>
                  </a:tcPr>
                </a:tc>
              </a:tr>
              <a:tr h="385762">
                <a:tc>
                  <a:txBody>
                    <a:bodyPr/>
                    <a:lstStyle/>
                    <a:p>
                      <a:r>
                        <a:rPr sz="1950">
                          <a:solidFill>
                            <a:srgbClr val="222222"/>
                          </a:solidFill>
                          <a:latin typeface="Calibri"/>
                        </a:rPr>
                        <a:t>3</a:t>
                      </a:r>
                    </a:p>
                  </a:txBody>
                  <a:tcPr marL="73152" marT="18288" marB="18288">
                    <a:solidFill>
                      <a:srgbClr val="FFFFFF"/>
                    </a:solidFill>
                  </a:tcPr>
                </a:tc>
                <a:tc>
                  <a:txBody>
                    <a:bodyPr/>
                    <a:lstStyle/>
                    <a:p>
                      <a:r>
                        <a:rPr sz="1950">
                          <a:solidFill>
                            <a:srgbClr val="222222"/>
                          </a:solidFill>
                          <a:latin typeface="Calibri"/>
                        </a:rPr>
                        <a:t>Mix colors with light, and map every light</a:t>
                      </a:r>
                    </a:p>
                  </a:txBody>
                  <a:tcPr marL="73152" marT="18288" marB="18288">
                    <a:solidFill>
                      <a:srgbClr val="FFFFFF"/>
                    </a:solidFill>
                  </a:tcPr>
                </a:tc>
              </a:tr>
              <a:tr h="385762">
                <a:tc>
                  <a:txBody>
                    <a:bodyPr/>
                    <a:lstStyle/>
                    <a:p>
                      <a:r>
                        <a:rPr sz="1950">
                          <a:solidFill>
                            <a:srgbClr val="222222"/>
                          </a:solidFill>
                          <a:latin typeface="Calibri"/>
                        </a:rPr>
                        <a:t>4</a:t>
                      </a:r>
                    </a:p>
                  </a:txBody>
                  <a:tcPr marL="73152" marT="18288" marB="18288">
                    <a:solidFill>
                      <a:srgbClr val="EEF3F8"/>
                    </a:solidFill>
                  </a:tcPr>
                </a:tc>
                <a:tc>
                  <a:txBody>
                    <a:bodyPr/>
                    <a:lstStyle/>
                    <a:p>
                      <a:r>
                        <a:rPr sz="1950">
                          <a:solidFill>
                            <a:srgbClr val="222222"/>
                          </a:solidFill>
                          <a:latin typeface="Calibri"/>
                        </a:rPr>
                        <a:t>Loops, and a light show you design</a:t>
                      </a:r>
                    </a:p>
                  </a:txBody>
                  <a:tcPr marL="73152" marT="18288" marB="18288">
                    <a:solidFill>
                      <a:srgbClr val="EEF3F8"/>
                    </a:solidFill>
                  </a:tcPr>
                </a:tc>
              </a:tr>
              <a:tr h="385762">
                <a:tc>
                  <a:txBody>
                    <a:bodyPr/>
                    <a:lstStyle/>
                    <a:p>
                      <a:r>
                        <a:rPr sz="1950">
                          <a:solidFill>
                            <a:srgbClr val="222222"/>
                          </a:solidFill>
                          <a:latin typeface="Calibri"/>
                        </a:rPr>
                        <a:t>5</a:t>
                      </a:r>
                    </a:p>
                  </a:txBody>
                  <a:tcPr marL="73152" marT="18288" marB="18288">
                    <a:solidFill>
                      <a:srgbClr val="FFFFFF"/>
                    </a:solidFill>
                  </a:tcPr>
                </a:tc>
                <a:tc>
                  <a:txBody>
                    <a:bodyPr/>
                    <a:lstStyle/>
                    <a:p>
                      <a:r>
                        <a:rPr sz="1950">
                          <a:solidFill>
                            <a:srgbClr val="222222"/>
                          </a:solidFill>
                          <a:latin typeface="Calibri"/>
                        </a:rPr>
                        <a:t>Make the wheels move</a:t>
                      </a:r>
                    </a:p>
                  </a:txBody>
                  <a:tcPr marL="73152" marT="18288" marB="18288">
                    <a:solidFill>
                      <a:srgbClr val="FFFFFF"/>
                    </a:solidFill>
                  </a:tcPr>
                </a:tc>
              </a:tr>
              <a:tr h="385762">
                <a:tc>
                  <a:txBody>
                    <a:bodyPr/>
                    <a:lstStyle/>
                    <a:p>
                      <a:r>
                        <a:rPr sz="1950">
                          <a:solidFill>
                            <a:srgbClr val="222222"/>
                          </a:solidFill>
                          <a:latin typeface="Calibri"/>
                        </a:rPr>
                        <a:t>6</a:t>
                      </a:r>
                    </a:p>
                  </a:txBody>
                  <a:tcPr marL="73152" marT="18288" marB="18288">
                    <a:solidFill>
                      <a:srgbClr val="EEF3F8"/>
                    </a:solidFill>
                  </a:tcPr>
                </a:tc>
                <a:tc>
                  <a:txBody>
                    <a:bodyPr/>
                    <a:lstStyle/>
                    <a:p>
                      <a:r>
                        <a:rPr sz="1950">
                          <a:solidFill>
                            <a:srgbClr val="222222"/>
                          </a:solidFill>
                          <a:latin typeface="Calibri"/>
                        </a:rPr>
                        <a:t>Autopilot: drive a square by code</a:t>
                      </a:r>
                    </a:p>
                  </a:txBody>
                  <a:tcPr marL="73152" marT="18288" marB="18288">
                    <a:solidFill>
                      <a:srgbClr val="EEF3F8"/>
                    </a:solidFill>
                  </a:tcPr>
                </a:tc>
              </a:tr>
              <a:tr h="385762">
                <a:tc>
                  <a:txBody>
                    <a:bodyPr/>
                    <a:lstStyle/>
                    <a:p>
                      <a:r>
                        <a:rPr sz="1950">
                          <a:solidFill>
                            <a:srgbClr val="222222"/>
                          </a:solidFill>
                          <a:latin typeface="Calibri"/>
                        </a:rPr>
                        <a:t>7</a:t>
                      </a:r>
                    </a:p>
                  </a:txBody>
                  <a:tcPr marL="73152" marT="18288" marB="18288">
                    <a:solidFill>
                      <a:srgbClr val="FFFFFF"/>
                    </a:solidFill>
                  </a:tcPr>
                </a:tc>
                <a:tc>
                  <a:txBody>
                    <a:bodyPr/>
                    <a:lstStyle/>
                    <a:p>
                      <a:r>
                        <a:rPr sz="1950">
                          <a:solidFill>
                            <a:srgbClr val="222222"/>
                          </a:solidFill>
                          <a:latin typeface="Calibri"/>
                        </a:rPr>
                        <a:t>Mission to Mars: plan a route</a:t>
                      </a:r>
                    </a:p>
                  </a:txBody>
                  <a:tcPr marL="73152" marT="18288" marB="18288">
                    <a:solidFill>
                      <a:srgbClr val="FFFFFF"/>
                    </a:solidFill>
                  </a:tcPr>
                </a:tc>
              </a:tr>
              <a:tr h="385762">
                <a:tc>
                  <a:txBody>
                    <a:bodyPr/>
                    <a:lstStyle/>
                    <a:p>
                      <a:r>
                        <a:rPr sz="1950">
                          <a:solidFill>
                            <a:srgbClr val="222222"/>
                          </a:solidFill>
                          <a:latin typeface="Calibri"/>
                        </a:rPr>
                        <a:t>8</a:t>
                      </a:r>
                    </a:p>
                  </a:txBody>
                  <a:tcPr marL="73152" marT="18288" marB="18288">
                    <a:solidFill>
                      <a:srgbClr val="EEF3F8"/>
                    </a:solidFill>
                  </a:tcPr>
                </a:tc>
                <a:tc>
                  <a:txBody>
                    <a:bodyPr/>
                    <a:lstStyle/>
                    <a:p>
                      <a:r>
                        <a:rPr sz="1950">
                          <a:solidFill>
                            <a:srgbClr val="222222"/>
                          </a:solidFill>
                          <a:latin typeface="Calibri"/>
                        </a:rPr>
                        <a:t>Make the controller's buttons do your bidding</a:t>
                      </a:r>
                    </a:p>
                  </a:txBody>
                  <a:tcPr marL="73152" marT="18288" marB="18288">
                    <a:solidFill>
                      <a:srgbClr val="EEF3F8"/>
                    </a:solidFill>
                  </a:tcPr>
                </a:tc>
              </a:tr>
              <a:tr h="385762">
                <a:tc>
                  <a:txBody>
                    <a:bodyPr/>
                    <a:lstStyle/>
                    <a:p>
                      <a:r>
                        <a:rPr sz="1950">
                          <a:solidFill>
                            <a:srgbClr val="222222"/>
                          </a:solidFill>
                          <a:latin typeface="Calibri"/>
                        </a:rPr>
                        <a:t>9</a:t>
                      </a:r>
                    </a:p>
                  </a:txBody>
                  <a:tcPr marL="73152" marT="18288" marB="18288">
                    <a:solidFill>
                      <a:srgbClr val="FFFFFF"/>
                    </a:solidFill>
                  </a:tcPr>
                </a:tc>
                <a:tc>
                  <a:txBody>
                    <a:bodyPr/>
                    <a:lstStyle/>
                    <a:p>
                      <a:r>
                        <a:rPr sz="1950">
                          <a:solidFill>
                            <a:srgbClr val="222222"/>
                          </a:solidFill>
                          <a:latin typeface="Calibri"/>
                        </a:rPr>
                        <a:t>Joystick driving, and your driving test</a:t>
                      </a:r>
                    </a:p>
                  </a:txBody>
                  <a:tcPr marL="73152" marT="18288" marB="18288">
                    <a:solidFill>
                      <a:srgbClr val="FFFFFF"/>
                    </a:solidFill>
                  </a:tcPr>
                </a:tc>
              </a:tr>
              <a:tr h="385762">
                <a:tc>
                  <a:txBody>
                    <a:bodyPr/>
                    <a:lstStyle/>
                    <a:p>
                      <a:r>
                        <a:rPr sz="1950">
                          <a:solidFill>
                            <a:srgbClr val="222222"/>
                          </a:solidFill>
                          <a:latin typeface="Calibri"/>
                        </a:rPr>
                        <a:t>10</a:t>
                      </a:r>
                    </a:p>
                  </a:txBody>
                  <a:tcPr marL="73152" marT="18288" marB="18288">
                    <a:solidFill>
                      <a:srgbClr val="EEF3F8"/>
                    </a:solidFill>
                  </a:tcPr>
                </a:tc>
                <a:tc>
                  <a:txBody>
                    <a:bodyPr/>
                    <a:lstStyle/>
                    <a:p>
                      <a:r>
                        <a:rPr sz="1950">
                          <a:solidFill>
                            <a:srgbClr val="222222"/>
                          </a:solidFill>
                          <a:latin typeface="Calibri"/>
                        </a:rPr>
                        <a:t>Smart lights that signal, like a car</a:t>
                      </a:r>
                    </a:p>
                  </a:txBody>
                  <a:tcPr marL="73152" marT="18288" marB="18288">
                    <a:solidFill>
                      <a:srgbClr val="EEF3F8"/>
                    </a:solidFill>
                  </a:tcPr>
                </a:tc>
              </a:tr>
              <a:tr h="385762">
                <a:tc>
                  <a:txBody>
                    <a:bodyPr/>
                    <a:lstStyle/>
                    <a:p>
                      <a:r>
                        <a:rPr sz="1950">
                          <a:solidFill>
                            <a:srgbClr val="222222"/>
                          </a:solidFill>
                          <a:latin typeface="Calibri"/>
                        </a:rPr>
                        <a:t>11</a:t>
                      </a:r>
                    </a:p>
                  </a:txBody>
                  <a:tcPr marL="73152" marT="18288" marB="18288">
                    <a:solidFill>
                      <a:srgbClr val="FFFFFF"/>
                    </a:solidFill>
                  </a:tcPr>
                </a:tc>
                <a:tc>
                  <a:txBody>
                    <a:bodyPr/>
                    <a:lstStyle/>
                    <a:p>
                      <a:r>
                        <a:rPr sz="1950">
                          <a:solidFill>
                            <a:srgbClr val="222222"/>
                          </a:solidFill>
                          <a:latin typeface="Calibri"/>
                        </a:rPr>
                        <a:t>Design your own upgrade</a:t>
                      </a:r>
                    </a:p>
                  </a:txBody>
                  <a:tcPr marL="73152" marT="18288" marB="18288">
                    <a:solidFill>
                      <a:srgbClr val="FFFFFF"/>
                    </a:solidFill>
                  </a:tcPr>
                </a:tc>
              </a:tr>
              <a:tr h="385768">
                <a:tc>
                  <a:txBody>
                    <a:bodyPr/>
                    <a:lstStyle/>
                    <a:p>
                      <a:r>
                        <a:rPr sz="1950">
                          <a:solidFill>
                            <a:srgbClr val="222222"/>
                          </a:solidFill>
                          <a:latin typeface="Calibri"/>
                        </a:rPr>
                        <a:t>12</a:t>
                      </a:r>
                    </a:p>
                  </a:txBody>
                  <a:tcPr marL="73152" marT="18288" marB="18288">
                    <a:solidFill>
                      <a:srgbClr val="EEF3F8"/>
                    </a:solidFill>
                  </a:tcPr>
                </a:tc>
                <a:tc>
                  <a:txBody>
                    <a:bodyPr/>
                    <a:lstStyle/>
                    <a:p>
                      <a:r>
                        <a:rPr sz="1950">
                          <a:solidFill>
                            <a:srgbClr val="222222"/>
                          </a:solidFill>
                          <a:latin typeface="Calibri"/>
                        </a:rPr>
                        <a:t>Mission Day!</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graphicFrame>
        <p:nvGraphicFramePr>
          <p:cNvPr id="6" name="Table 5"/>
          <p:cNvGraphicFramePr>
            <a:graphicFrameLocks noGrp="1"/>
          </p:cNvGraphicFramePr>
          <p:nvPr/>
        </p:nvGraphicFramePr>
        <p:xfrm>
          <a:off x="502920" y="1188720"/>
          <a:ext cx="11185854" cy="3867150"/>
        </p:xfrm>
        <a:graphic>
          <a:graphicData uri="http://schemas.openxmlformats.org/drawingml/2006/table">
            <a:tbl>
              <a:tblPr firstRow="1" bandRow="1">
                <a:tableStyleId>{5C22544A-7EE6-4342-B048-85BDC9FD1C3A}</a:tableStyleId>
              </a:tblPr>
              <a:tblGrid>
                <a:gridCol w="1118585"/>
                <a:gridCol w="10067269"/>
              </a:tblGrid>
              <a:tr h="552450">
                <a:tc>
                  <a:txBody>
                    <a:bodyPr/>
                    <a:lstStyle/>
                    <a:p>
                      <a:r>
                        <a:rPr sz="3000" b="1">
                          <a:solidFill>
                            <a:srgbClr val="FFFFFF"/>
                          </a:solidFill>
                          <a:latin typeface="Calibri"/>
                        </a:rPr>
                        <a:t>Time</a:t>
                      </a:r>
                    </a:p>
                  </a:txBody>
                  <a:tcPr marL="73152" marT="18288" marB="18288">
                    <a:solidFill>
                      <a:srgbClr val="1F3A5F"/>
                    </a:solidFill>
                  </a:tcPr>
                </a:tc>
                <a:tc>
                  <a:txBody>
                    <a:bodyPr/>
                    <a:lstStyle/>
                    <a:p>
                      <a:r>
                        <a:rPr sz="3000" b="1">
                          <a:solidFill>
                            <a:srgbClr val="FFFFFF"/>
                          </a:solidFill>
                          <a:latin typeface="Calibri"/>
                        </a:rPr>
                        <a:t>What we do</a:t>
                      </a:r>
                    </a:p>
                  </a:txBody>
                  <a:tcPr marL="73152" marT="18288" marB="18288">
                    <a:solidFill>
                      <a:srgbClr val="1F3A5F"/>
                    </a:solidFill>
                  </a:tcPr>
                </a:tc>
              </a:tr>
              <a:tr h="552450">
                <a:tc>
                  <a:txBody>
                    <a:bodyPr/>
                    <a:lstStyle/>
                    <a:p>
                      <a:r>
                        <a:rPr sz="3000">
                          <a:solidFill>
                            <a:srgbClr val="222222"/>
                          </a:solidFill>
                          <a:latin typeface="Calibri"/>
                        </a:rPr>
                        <a:t>0:00</a:t>
                      </a:r>
                    </a:p>
                  </a:txBody>
                  <a:tcPr marL="73152" marT="18288" marB="18288">
                    <a:solidFill>
                      <a:srgbClr val="FFFFFF"/>
                    </a:solidFill>
                  </a:tcPr>
                </a:tc>
                <a:tc>
                  <a:txBody>
                    <a:bodyPr/>
                    <a:lstStyle/>
                    <a:p>
                      <a:r>
                        <a:rPr sz="3000">
                          <a:solidFill>
                            <a:srgbClr val="222222"/>
                          </a:solidFill>
                          <a:latin typeface="Calibri"/>
                        </a:rPr>
                        <a:t>Welcome, and the Starting Line questionnaire</a:t>
                      </a:r>
                    </a:p>
                  </a:txBody>
                  <a:tcPr marL="73152" marT="18288" marB="18288">
                    <a:solidFill>
                      <a:srgbClr val="FFFFFF"/>
                    </a:solidFill>
                  </a:tcPr>
                </a:tc>
              </a:tr>
              <a:tr h="552450">
                <a:tc>
                  <a:txBody>
                    <a:bodyPr/>
                    <a:lstStyle/>
                    <a:p>
                      <a:r>
                        <a:rPr sz="3000">
                          <a:solidFill>
                            <a:srgbClr val="222222"/>
                          </a:solidFill>
                          <a:latin typeface="Calibri"/>
                        </a:rPr>
                        <a:t>0:06</a:t>
                      </a:r>
                    </a:p>
                  </a:txBody>
                  <a:tcPr marL="73152" marT="18288" marB="18288">
                    <a:solidFill>
                      <a:srgbClr val="EEF3F8"/>
                    </a:solidFill>
                  </a:tcPr>
                </a:tc>
                <a:tc>
                  <a:txBody>
                    <a:bodyPr/>
                    <a:lstStyle/>
                    <a:p>
                      <a:r>
                        <a:rPr sz="3000">
                          <a:solidFill>
                            <a:srgbClr val="222222"/>
                          </a:solidFill>
                          <a:latin typeface="Calibri"/>
                        </a:rPr>
                        <a:t>The game 'Robot or not?'</a:t>
                      </a:r>
                    </a:p>
                  </a:txBody>
                  <a:tcPr marL="73152" marT="18288" marB="18288">
                    <a:solidFill>
                      <a:srgbClr val="EEF3F8"/>
                    </a:solidFill>
                  </a:tcPr>
                </a:tc>
              </a:tr>
              <a:tr h="552450">
                <a:tc>
                  <a:txBody>
                    <a:bodyPr/>
                    <a:lstStyle/>
                    <a:p>
                      <a:r>
                        <a:rPr sz="3000">
                          <a:solidFill>
                            <a:srgbClr val="222222"/>
                          </a:solidFill>
                          <a:latin typeface="Calibri"/>
                        </a:rPr>
                        <a:t>0:14</a:t>
                      </a:r>
                    </a:p>
                  </a:txBody>
                  <a:tcPr marL="73152" marT="18288" marB="18288">
                    <a:solidFill>
                      <a:srgbClr val="FFFFFF"/>
                    </a:solidFill>
                  </a:tcPr>
                </a:tc>
                <a:tc>
                  <a:txBody>
                    <a:bodyPr/>
                    <a:lstStyle/>
                    <a:p>
                      <a:r>
                        <a:rPr sz="3000">
                          <a:solidFill>
                            <a:srgbClr val="222222"/>
                          </a:solidFill>
                          <a:latin typeface="Calibri"/>
                        </a:rPr>
                        <a:t>Meet Pathfinder: every part, and what it does</a:t>
                      </a:r>
                    </a:p>
                  </a:txBody>
                  <a:tcPr marL="73152" marT="18288" marB="18288">
                    <a:solidFill>
                      <a:srgbClr val="FFFFFF"/>
                    </a:solidFill>
                  </a:tcPr>
                </a:tc>
              </a:tr>
              <a:tr h="552450">
                <a:tc>
                  <a:txBody>
                    <a:bodyPr/>
                    <a:lstStyle/>
                    <a:p>
                      <a:r>
                        <a:rPr sz="3000">
                          <a:solidFill>
                            <a:srgbClr val="222222"/>
                          </a:solidFill>
                          <a:latin typeface="Calibri"/>
                        </a:rPr>
                        <a:t>0:21</a:t>
                      </a:r>
                    </a:p>
                  </a:txBody>
                  <a:tcPr marL="73152" marT="18288" marB="18288">
                    <a:solidFill>
                      <a:srgbClr val="EEF3F8"/>
                    </a:solidFill>
                  </a:tcPr>
                </a:tc>
                <a:tc>
                  <a:txBody>
                    <a:bodyPr/>
                    <a:lstStyle/>
                    <a:p>
                      <a:r>
                        <a:rPr sz="3000">
                          <a:solidFill>
                            <a:srgbClr val="222222"/>
                          </a:solidFill>
                          <a:latin typeface="Calibri"/>
                        </a:rPr>
                        <a:t>Team jobs and the Explorer Code</a:t>
                      </a:r>
                    </a:p>
                  </a:txBody>
                  <a:tcPr marL="73152" marT="18288" marB="18288">
                    <a:solidFill>
                      <a:srgbClr val="EEF3F8"/>
                    </a:solidFill>
                  </a:tcPr>
                </a:tc>
              </a:tr>
              <a:tr h="552450">
                <a:tc>
                  <a:txBody>
                    <a:bodyPr/>
                    <a:lstStyle/>
                    <a:p>
                      <a:r>
                        <a:rPr sz="3000">
                          <a:solidFill>
                            <a:srgbClr val="222222"/>
                          </a:solidFill>
                          <a:latin typeface="Calibri"/>
                        </a:rPr>
                        <a:t>0:30</a:t>
                      </a:r>
                    </a:p>
                  </a:txBody>
                  <a:tcPr marL="73152" marT="18288" marB="18288">
                    <a:solidFill>
                      <a:srgbClr val="FFFFFF"/>
                    </a:solidFill>
                  </a:tcPr>
                </a:tc>
                <a:tc>
                  <a:txBody>
                    <a:bodyPr/>
                    <a:lstStyle/>
                    <a:p>
                      <a:r>
                        <a:rPr sz="3000">
                          <a:solidFill>
                            <a:srgbClr val="222222"/>
                          </a:solidFill>
                          <a:latin typeface="Calibri"/>
                        </a:rPr>
                        <a:t>First drive in the arena</a:t>
                      </a:r>
                    </a:p>
                  </a:txBody>
                  <a:tcPr marL="73152" marT="18288" marB="18288">
                    <a:solidFill>
                      <a:srgbClr val="FFFFFF"/>
                    </a:solidFill>
                  </a:tcPr>
                </a:tc>
              </a:tr>
              <a:tr h="552450">
                <a:tc>
                  <a:txBody>
                    <a:bodyPr/>
                    <a:lstStyle/>
                    <a:p>
                      <a:r>
                        <a:rPr sz="3000">
                          <a:solidFill>
                            <a:srgbClr val="222222"/>
                          </a:solidFill>
                          <a:latin typeface="Calibri"/>
                        </a:rPr>
                        <a:t>0:50</a:t>
                      </a:r>
                    </a:p>
                  </a:txBody>
                  <a:tcPr marL="73152" marT="18288" marB="18288">
                    <a:solidFill>
                      <a:srgbClr val="EEF3F8"/>
                    </a:solidFill>
                  </a:tcPr>
                </a:tc>
                <a:tc>
                  <a:txBody>
                    <a:bodyPr/>
                    <a:lstStyle/>
                    <a:p>
                      <a:r>
                        <a:rPr sz="3000">
                          <a:solidFill>
                            <a:srgbClr val="222222"/>
                          </a:solidFill>
                          <a:latin typeface="Calibri"/>
                        </a:rPr>
                        <a:t>Mission Log, Learner Permits, and pack up</a:t>
                      </a:r>
                    </a:p>
                  </a:txBody>
                  <a:tcPr marL="73152" marT="18288" marB="18288">
                    <a:solidFill>
                      <a:srgbClr val="EEF3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Starting Line  -  questionnaire 1 of 3</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CHECK-IN:   </a:t>
            </a:r>
            <a:r>
              <a:rPr sz="1500" b="1">
                <a:solidFill>
                  <a:srgbClr val="FFFFFF"/>
                </a:solidFill>
                <a:latin typeface="Calibri"/>
              </a:rPr>
              <a:t>Starting Line questionnaire</a:t>
            </a:r>
            <a:r>
              <a:rPr sz="1200">
                <a:solidFill>
                  <a:srgbClr val="FFFFFF"/>
                </a:solidFill>
                <a:latin typeface="Calibri"/>
              </a:rPr>
              <a:t>     (6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400" b="0">
                <a:solidFill>
                  <a:srgbClr val="222222"/>
                </a:solidFill>
                <a:latin typeface="Calibri"/>
              </a:defRPr>
            </a:pPr>
            <a:r>
              <a:rPr sz="2400" b="0">
                <a:solidFill>
                  <a:srgbClr val="222222"/>
                </a:solidFill>
                <a:latin typeface="Calibri"/>
              </a:rPr>
              <a:t>Your teacher gives you a questionnaire, and your EXPLORER CODE. Write the code at the top - not your name.</a:t>
            </a:r>
          </a:p>
          <a:p>
            <a:pPr algn="l">
              <a:lnSpc>
                <a:spcPct val="100000"/>
              </a:lnSpc>
              <a:spcAft>
                <a:spcPts val="800"/>
              </a:spcAft>
              <a:defRPr sz="2400" b="0">
                <a:solidFill>
                  <a:srgbClr val="222222"/>
                </a:solidFill>
                <a:latin typeface="Calibri"/>
              </a:defRPr>
            </a:pPr>
            <a:r>
              <a:rPr sz="2400" b="0">
                <a:solidFill>
                  <a:srgbClr val="222222"/>
                </a:solidFill>
                <a:latin typeface="Calibri"/>
              </a:rPr>
              <a:t>This is NOT a test. Nobody gets a grade.</a:t>
            </a:r>
          </a:p>
          <a:p>
            <a:pPr algn="l">
              <a:lnSpc>
                <a:spcPct val="100000"/>
              </a:lnSpc>
              <a:spcAft>
                <a:spcPts val="800"/>
              </a:spcAft>
              <a:defRPr sz="2400" b="0">
                <a:solidFill>
                  <a:srgbClr val="222222"/>
                </a:solidFill>
                <a:latin typeface="Calibri"/>
              </a:defRPr>
            </a:pPr>
            <a:r>
              <a:rPr sz="2400" b="0">
                <a:solidFill>
                  <a:srgbClr val="222222"/>
                </a:solidFill>
                <a:latin typeface="Calibri"/>
              </a:rPr>
              <a:t>Your teacher reads each question out loud. Answer on your own - no peeking!</a:t>
            </a:r>
          </a:p>
          <a:p>
            <a:pPr algn="l">
              <a:lnSpc>
                <a:spcPct val="100000"/>
              </a:lnSpc>
              <a:spcAft>
                <a:spcPts val="800"/>
              </a:spcAft>
              <a:defRPr sz="2400" b="0">
                <a:solidFill>
                  <a:srgbClr val="222222"/>
                </a:solidFill>
                <a:latin typeface="Calibri"/>
              </a:defRPr>
            </a:pPr>
            <a:r>
              <a:rPr sz="2400" b="0">
                <a:solidFill>
                  <a:srgbClr val="222222"/>
                </a:solidFill>
                <a:latin typeface="Calibri"/>
              </a:rPr>
              <a:t>Not sure? Tick "I don't know yet". Today that's the RIGHT answer for most of Part 2!</a:t>
            </a:r>
          </a:p>
          <a:p>
            <a:pPr algn="l">
              <a:lnSpc>
                <a:spcPct val="100000"/>
              </a:lnSpc>
              <a:spcAft>
                <a:spcPts val="800"/>
              </a:spcAft>
              <a:defRPr sz="2400" b="0">
                <a:solidFill>
                  <a:srgbClr val="222222"/>
                </a:solidFill>
                <a:latin typeface="Calibri"/>
              </a:defRPr>
            </a:pPr>
            <a:r>
              <a:rPr sz="2400" b="0">
                <a:solidFill>
                  <a:srgbClr val="222222"/>
                </a:solidFill>
                <a:latin typeface="Calibri"/>
              </a:rPr>
              <a:t>Done? Turn it over and wait quietly.</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3922776"/>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You won't know most of Part 2 yet. That's the point: in twelve lessons, you will.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What is a robot?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What is a robot?</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9" name="Rounded Rectangle 8"/>
          <p:cNvSpPr/>
          <p:nvPr/>
        </p:nvSpPr>
        <p:spPr>
          <a:xfrm>
            <a:off x="3335959"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Meet Pathfinder</a:t>
            </a:r>
          </a:p>
        </p:txBody>
      </p:sp>
      <p:sp>
        <p:nvSpPr>
          <p:cNvPr id="10" name="Rounded Rectangle 9"/>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Explorer Code</a:t>
            </a:r>
          </a:p>
        </p:txBody>
      </p:sp>
      <p:sp>
        <p:nvSpPr>
          <p:cNvPr id="11" name="Rounded Rectangle 10"/>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First drive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Robot or not?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UNPLUGGED:   </a:t>
            </a:r>
            <a:r>
              <a:rPr sz="1500" b="1">
                <a:solidFill>
                  <a:srgbClr val="FFFFFF"/>
                </a:solidFill>
                <a:latin typeface="Calibri"/>
              </a:rPr>
              <a:t>Thumbs up, thumbs down</a:t>
            </a:r>
            <a:r>
              <a:rPr sz="1200">
                <a:solidFill>
                  <a:srgbClr val="FFFFFF"/>
                </a:solidFill>
                <a:latin typeface="Calibri"/>
              </a:rPr>
              <a:t>     (8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400" b="0">
                <a:solidFill>
                  <a:srgbClr val="222222"/>
                </a:solidFill>
                <a:latin typeface="Calibri"/>
              </a:defRPr>
            </a:pPr>
            <a:r>
              <a:rPr sz="2400" b="0">
                <a:solidFill>
                  <a:srgbClr val="222222"/>
                </a:solidFill>
                <a:latin typeface="Calibri"/>
              </a:rPr>
              <a:t>Your teacher names something. You decide: is it a ROBOT?</a:t>
            </a:r>
          </a:p>
          <a:p>
            <a:pPr algn="l">
              <a:lnSpc>
                <a:spcPct val="100000"/>
              </a:lnSpc>
              <a:spcAft>
                <a:spcPts val="800"/>
              </a:spcAft>
              <a:defRPr sz="2400" b="0">
                <a:solidFill>
                  <a:srgbClr val="222222"/>
                </a:solidFill>
                <a:latin typeface="Calibri"/>
              </a:defRPr>
            </a:pPr>
            <a:r>
              <a:rPr sz="2400" b="0">
                <a:solidFill>
                  <a:srgbClr val="222222"/>
                </a:solidFill>
                <a:latin typeface="Calibri"/>
              </a:rPr>
              <a:t>Thumbs UP for robot. Thumbs DOWN for not a robot.</a:t>
            </a:r>
          </a:p>
          <a:p>
            <a:pPr lvl="1" algn="l">
              <a:lnSpc>
                <a:spcPct val="100000"/>
              </a:lnSpc>
              <a:spcAft>
                <a:spcPts val="800"/>
              </a:spcAft>
              <a:defRPr sz="2400" b="0">
                <a:solidFill>
                  <a:srgbClr val="222222"/>
                </a:solidFill>
                <a:latin typeface="Calibri"/>
              </a:defRPr>
            </a:pPr>
            <a:r>
              <a:rPr sz="2400" b="0">
                <a:solidFill>
                  <a:srgbClr val="222222"/>
                </a:solidFill>
                <a:latin typeface="Calibri"/>
              </a:rPr>
              <a:t>A robot vacuum.  A TV remote.  An automatic door.</a:t>
            </a:r>
          </a:p>
          <a:p>
            <a:pPr lvl="1" algn="l">
              <a:lnSpc>
                <a:spcPct val="100000"/>
              </a:lnSpc>
              <a:spcAft>
                <a:spcPts val="800"/>
              </a:spcAft>
              <a:defRPr sz="2400" b="0">
                <a:solidFill>
                  <a:srgbClr val="222222"/>
                </a:solidFill>
                <a:latin typeface="Calibri"/>
              </a:defRPr>
            </a:pPr>
            <a:r>
              <a:rPr sz="2400" b="0">
                <a:solidFill>
                  <a:srgbClr val="222222"/>
                </a:solidFill>
                <a:latin typeface="Calibri"/>
              </a:rPr>
              <a:t>A Mars rover.  A remote-control car.  A calculator.</a:t>
            </a:r>
          </a:p>
          <a:p>
            <a:pPr algn="l">
              <a:lnSpc>
                <a:spcPct val="100000"/>
              </a:lnSpc>
              <a:spcAft>
                <a:spcPts val="800"/>
              </a:spcAft>
              <a:defRPr sz="2400" b="0">
                <a:solidFill>
                  <a:srgbClr val="222222"/>
                </a:solidFill>
                <a:latin typeface="Calibri"/>
              </a:defRPr>
            </a:pPr>
            <a:r>
              <a:rPr sz="2400" b="0">
                <a:solidFill>
                  <a:srgbClr val="222222"/>
                </a:solidFill>
                <a:latin typeface="Calibri"/>
              </a:rPr>
              <a:t>Pick one and explain your vote to the person next to you.</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250755"/>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Lots of arguing. That's the point!</a:t>
            </a:r>
          </a:p>
        </p:txBody>
      </p:sp>
      <p:sp>
        <p:nvSpPr>
          <p:cNvPr id="10" name="TextBox 9"/>
          <p:cNvSpPr txBox="1"/>
          <p:nvPr/>
        </p:nvSpPr>
        <p:spPr>
          <a:xfrm>
            <a:off x="7163537" y="362819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030531"/>
            <a:ext cx="4525238" cy="2233108"/>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What does a machine need to do to count as a robot?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robot does three things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Rounded Rectangle 5"/>
          <p:cNvSpPr/>
          <p:nvPr/>
        </p:nvSpPr>
        <p:spPr>
          <a:xfrm>
            <a:off x="502920" y="1508760"/>
            <a:ext cx="3246120" cy="100584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3600" b="1">
                <a:solidFill>
                  <a:srgbClr val="1F3A5F"/>
                </a:solidFill>
                <a:latin typeface="Calibri"/>
              </a:defRPr>
            </a:pPr>
            <a:r>
              <a:rPr sz="3600" b="1">
                <a:solidFill>
                  <a:srgbClr val="1F3A5F"/>
                </a:solidFill>
                <a:latin typeface="Calibri"/>
              </a:rPr>
              <a:t>SENSE</a:t>
            </a:r>
          </a:p>
        </p:txBody>
      </p:sp>
      <p:sp>
        <p:nvSpPr>
          <p:cNvPr id="7" name="TextBox 6"/>
          <p:cNvSpPr txBox="1"/>
          <p:nvPr/>
        </p:nvSpPr>
        <p:spPr>
          <a:xfrm>
            <a:off x="502920" y="2651760"/>
            <a:ext cx="3246120"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the rover's ears</a:t>
            </a:r>
          </a:p>
        </p:txBody>
      </p:sp>
      <p:sp>
        <p:nvSpPr>
          <p:cNvPr id="8" name="TextBox 7"/>
          <p:cNvSpPr txBox="1"/>
          <p:nvPr/>
        </p:nvSpPr>
        <p:spPr>
          <a:xfrm>
            <a:off x="502920" y="3154680"/>
            <a:ext cx="3246120" cy="721360"/>
          </a:xfrm>
          <a:prstGeom prst="rect">
            <a:avLst/>
          </a:prstGeom>
          <a:noFill/>
        </p:spPr>
        <p:txBody>
          <a:bodyPr wrap="square" lIns="0" tIns="0" rIns="0" bIns="0">
            <a:spAutoFit/>
          </a:bodyPr>
          <a:lstStyle/>
          <a:p>
            <a:pPr algn="ctr">
              <a:lnSpc>
                <a:spcPct val="100000"/>
              </a:lnSpc>
              <a:spcAft>
                <a:spcPts val="100"/>
              </a:spcAft>
              <a:defRPr sz="2000" b="0">
                <a:solidFill>
                  <a:srgbClr val="222222"/>
                </a:solidFill>
                <a:latin typeface="Calibri"/>
              </a:defRPr>
            </a:pPr>
            <a:r>
              <a:rPr sz="2000" b="0">
                <a:solidFill>
                  <a:srgbClr val="222222"/>
                </a:solidFill>
                <a:latin typeface="Calibri"/>
              </a:rPr>
              <a:t>Your controller:</a:t>
            </a:r>
          </a:p>
          <a:p>
            <a:pPr algn="ctr">
              <a:lnSpc>
                <a:spcPct val="100000"/>
              </a:lnSpc>
              <a:spcAft>
                <a:spcPts val="100"/>
              </a:spcAft>
              <a:defRPr sz="2000" b="0">
                <a:solidFill>
                  <a:srgbClr val="222222"/>
                </a:solidFill>
                <a:latin typeface="Calibri"/>
              </a:defRPr>
            </a:pPr>
            <a:r>
              <a:rPr sz="2000" b="0">
                <a:solidFill>
                  <a:srgbClr val="222222"/>
                </a:solidFill>
                <a:latin typeface="Calibri"/>
              </a:rPr>
              <a:t>buttons and sticks</a:t>
            </a:r>
          </a:p>
        </p:txBody>
      </p:sp>
      <p:cxnSp>
        <p:nvCxnSpPr>
          <p:cNvPr id="9" name="Connector 8"/>
          <p:cNvCxnSpPr/>
          <p:nvPr/>
        </p:nvCxnSpPr>
        <p:spPr>
          <a:xfrm>
            <a:off x="3822192" y="2011680"/>
            <a:ext cx="576072" cy="0"/>
          </a:xfrm>
          <a:prstGeom prst="line">
            <a:avLst/>
          </a:prstGeom>
          <a:ln w="38100">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71416" y="1508760"/>
            <a:ext cx="3246120" cy="1005840"/>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3600" b="1">
                <a:solidFill>
                  <a:srgbClr val="1F3A5F"/>
                </a:solidFill>
                <a:latin typeface="Calibri"/>
              </a:defRPr>
            </a:pPr>
            <a:r>
              <a:rPr sz="3600" b="1">
                <a:solidFill>
                  <a:srgbClr val="1F3A5F"/>
                </a:solidFill>
                <a:latin typeface="Calibri"/>
              </a:rPr>
              <a:t>THINK</a:t>
            </a:r>
          </a:p>
        </p:txBody>
      </p:sp>
      <p:sp>
        <p:nvSpPr>
          <p:cNvPr id="11" name="TextBox 10"/>
          <p:cNvSpPr txBox="1"/>
          <p:nvPr/>
        </p:nvSpPr>
        <p:spPr>
          <a:xfrm>
            <a:off x="4471416" y="2651760"/>
            <a:ext cx="3246120"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the rover's brain</a:t>
            </a:r>
          </a:p>
        </p:txBody>
      </p:sp>
      <p:sp>
        <p:nvSpPr>
          <p:cNvPr id="12" name="TextBox 11"/>
          <p:cNvSpPr txBox="1"/>
          <p:nvPr/>
        </p:nvSpPr>
        <p:spPr>
          <a:xfrm>
            <a:off x="4471416" y="3154680"/>
            <a:ext cx="3246120" cy="721360"/>
          </a:xfrm>
          <a:prstGeom prst="rect">
            <a:avLst/>
          </a:prstGeom>
          <a:noFill/>
        </p:spPr>
        <p:txBody>
          <a:bodyPr wrap="square" lIns="0" tIns="0" rIns="0" bIns="0">
            <a:spAutoFit/>
          </a:bodyPr>
          <a:lstStyle/>
          <a:p>
            <a:pPr algn="ctr">
              <a:lnSpc>
                <a:spcPct val="100000"/>
              </a:lnSpc>
              <a:spcAft>
                <a:spcPts val="100"/>
              </a:spcAft>
              <a:defRPr sz="2000" b="0">
                <a:solidFill>
                  <a:srgbClr val="222222"/>
                </a:solidFill>
                <a:latin typeface="Calibri"/>
              </a:defRPr>
            </a:pPr>
            <a:r>
              <a:rPr sz="2000" b="0">
                <a:solidFill>
                  <a:srgbClr val="222222"/>
                </a:solidFill>
                <a:latin typeface="Calibri"/>
              </a:rPr>
              <a:t>The ESP32 computer</a:t>
            </a:r>
          </a:p>
          <a:p>
            <a:pPr algn="ctr">
              <a:lnSpc>
                <a:spcPct val="100000"/>
              </a:lnSpc>
              <a:spcAft>
                <a:spcPts val="100"/>
              </a:spcAft>
              <a:defRPr sz="2000" b="0">
                <a:solidFill>
                  <a:srgbClr val="222222"/>
                </a:solidFill>
                <a:latin typeface="Calibri"/>
              </a:defRPr>
            </a:pPr>
            <a:r>
              <a:rPr sz="2000" b="0">
                <a:solidFill>
                  <a:srgbClr val="222222"/>
                </a:solidFill>
                <a:latin typeface="Calibri"/>
              </a:rPr>
              <a:t>runs YOUR program</a:t>
            </a:r>
          </a:p>
        </p:txBody>
      </p:sp>
      <p:cxnSp>
        <p:nvCxnSpPr>
          <p:cNvPr id="13" name="Connector 12"/>
          <p:cNvCxnSpPr/>
          <p:nvPr/>
        </p:nvCxnSpPr>
        <p:spPr>
          <a:xfrm>
            <a:off x="7790688" y="2011680"/>
            <a:ext cx="576072" cy="0"/>
          </a:xfrm>
          <a:prstGeom prst="line">
            <a:avLst/>
          </a:prstGeom>
          <a:ln w="38100">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39912" y="1508760"/>
            <a:ext cx="3246120" cy="100584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3600" b="1">
                <a:solidFill>
                  <a:srgbClr val="1F3A5F"/>
                </a:solidFill>
                <a:latin typeface="Calibri"/>
              </a:defRPr>
            </a:pPr>
            <a:r>
              <a:rPr sz="3600" b="1">
                <a:solidFill>
                  <a:srgbClr val="1F3A5F"/>
                </a:solidFill>
                <a:latin typeface="Calibri"/>
              </a:rPr>
              <a:t>ACT</a:t>
            </a:r>
          </a:p>
        </p:txBody>
      </p:sp>
      <p:sp>
        <p:nvSpPr>
          <p:cNvPr id="15" name="TextBox 14"/>
          <p:cNvSpPr txBox="1"/>
          <p:nvPr/>
        </p:nvSpPr>
        <p:spPr>
          <a:xfrm>
            <a:off x="8439912" y="2651760"/>
            <a:ext cx="3246120"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the rover's muscles</a:t>
            </a:r>
          </a:p>
        </p:txBody>
      </p:sp>
      <p:sp>
        <p:nvSpPr>
          <p:cNvPr id="16" name="TextBox 15"/>
          <p:cNvSpPr txBox="1"/>
          <p:nvPr/>
        </p:nvSpPr>
        <p:spPr>
          <a:xfrm>
            <a:off x="8439912" y="3154680"/>
            <a:ext cx="3246120" cy="721360"/>
          </a:xfrm>
          <a:prstGeom prst="rect">
            <a:avLst/>
          </a:prstGeom>
          <a:noFill/>
        </p:spPr>
        <p:txBody>
          <a:bodyPr wrap="square" lIns="0" tIns="0" rIns="0" bIns="0">
            <a:spAutoFit/>
          </a:bodyPr>
          <a:lstStyle/>
          <a:p>
            <a:pPr algn="ctr">
              <a:lnSpc>
                <a:spcPct val="100000"/>
              </a:lnSpc>
              <a:spcAft>
                <a:spcPts val="100"/>
              </a:spcAft>
              <a:defRPr sz="2000" b="0">
                <a:solidFill>
                  <a:srgbClr val="222222"/>
                </a:solidFill>
                <a:latin typeface="Calibri"/>
              </a:defRPr>
            </a:pPr>
            <a:r>
              <a:rPr sz="2000" b="0">
                <a:solidFill>
                  <a:srgbClr val="222222"/>
                </a:solidFill>
                <a:latin typeface="Calibri"/>
              </a:rPr>
              <a:t>4 motors turn the wheels</a:t>
            </a:r>
          </a:p>
          <a:p>
            <a:pPr algn="ctr">
              <a:lnSpc>
                <a:spcPct val="100000"/>
              </a:lnSpc>
              <a:spcAft>
                <a:spcPts val="100"/>
              </a:spcAft>
              <a:defRPr sz="2000" b="0">
                <a:solidFill>
                  <a:srgbClr val="222222"/>
                </a:solidFill>
                <a:latin typeface="Calibri"/>
              </a:defRPr>
            </a:pPr>
            <a:r>
              <a:rPr sz="2000" b="0">
                <a:solidFill>
                  <a:srgbClr val="222222"/>
                </a:solidFill>
                <a:latin typeface="Calibri"/>
              </a:rPr>
              <a:t>32 lights light up</a:t>
            </a:r>
          </a:p>
        </p:txBody>
      </p:sp>
      <p:sp>
        <p:nvSpPr>
          <p:cNvPr id="17" name="Rounded Rectangle 1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ROBOT is a machine that can sense, think and act by itself. A remote-control car can act - but YOU do all its thinking.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Robots go where people can't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6122036" cy="3986784"/>
          </a:xfrm>
          <a:prstGeom prst="rect">
            <a:avLst/>
          </a:prstGeom>
          <a:noFill/>
        </p:spPr>
        <p:txBody>
          <a:bodyPr wrap="square" lIns="0" tIns="0" rIns="0" bIns="0">
            <a:spAutoFit/>
          </a:bodyPr>
          <a:lstStyle/>
          <a:p>
            <a:pPr algn="l">
              <a:lnSpc>
                <a:spcPct val="100000"/>
              </a:lnSpc>
              <a:spcAft>
                <a:spcPts val="600"/>
              </a:spcAft>
              <a:defRPr sz="2400" b="0">
                <a:solidFill>
                  <a:srgbClr val="222222"/>
                </a:solidFill>
                <a:latin typeface="Calibri"/>
              </a:defRPr>
            </a:pPr>
            <a:r>
              <a:rPr sz="2400" b="0">
                <a:solidFill>
                  <a:srgbClr val="222222"/>
                </a:solidFill>
                <a:latin typeface="Calibri"/>
              </a:rPr>
              <a:t>In 1997, NASA landed a mission called Mars Pathfinder.</a:t>
            </a:r>
          </a:p>
          <a:p>
            <a:pPr algn="l">
              <a:lnSpc>
                <a:spcPct val="100000"/>
              </a:lnSpc>
              <a:spcAft>
                <a:spcPts val="600"/>
              </a:spcAft>
              <a:defRPr sz="2400" b="0">
                <a:solidFill>
                  <a:srgbClr val="222222"/>
                </a:solidFill>
                <a:latin typeface="Calibri"/>
              </a:defRPr>
            </a:pPr>
            <a:r>
              <a:rPr sz="2400" b="0">
                <a:solidFill>
                  <a:srgbClr val="222222"/>
                </a:solidFill>
                <a:latin typeface="Calibri"/>
              </a:rPr>
              <a:t>It carried Sojourner - the first rover ever to drive on Mars. It was about the size of a microwave oven.</a:t>
            </a:r>
          </a:p>
          <a:p>
            <a:pPr algn="l">
              <a:lnSpc>
                <a:spcPct val="100000"/>
              </a:lnSpc>
              <a:spcAft>
                <a:spcPts val="600"/>
              </a:spcAft>
              <a:defRPr sz="2400" b="0">
                <a:solidFill>
                  <a:srgbClr val="222222"/>
                </a:solidFill>
                <a:latin typeface="Calibri"/>
              </a:defRPr>
            </a:pPr>
            <a:r>
              <a:rPr sz="2400" b="0">
                <a:solidFill>
                  <a:srgbClr val="222222"/>
                </a:solidFill>
                <a:latin typeface="Calibri"/>
              </a:rPr>
              <a:t>Its top speed was about 1 centimeter per second. Your vehicle is MUCH faster.</a:t>
            </a:r>
          </a:p>
          <a:p>
            <a:pPr algn="l">
              <a:lnSpc>
                <a:spcPct val="100000"/>
              </a:lnSpc>
              <a:spcAft>
                <a:spcPts val="600"/>
              </a:spcAft>
              <a:defRPr sz="2400" b="0">
                <a:solidFill>
                  <a:srgbClr val="222222"/>
                </a:solidFill>
                <a:latin typeface="Calibri"/>
              </a:defRPr>
            </a:pPr>
            <a:r>
              <a:rPr sz="2400" b="0">
                <a:solidFill>
                  <a:srgbClr val="222222"/>
                </a:solidFill>
                <a:latin typeface="Calibri"/>
              </a:rPr>
              <a:t>Here in San Diego, scientists send robots deep into the ocean too.</a:t>
            </a:r>
          </a:p>
        </p:txBody>
      </p:sp>
      <p:sp>
        <p:nvSpPr>
          <p:cNvPr id="7" name="Rectangle 6"/>
          <p:cNvSpPr/>
          <p:nvPr/>
        </p:nvSpPr>
        <p:spPr>
          <a:xfrm>
            <a:off x="6990716" y="1188720"/>
            <a:ext cx="4698059" cy="329184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IMAGE: NASA's Sojourner rover on Mars, 1997</a:t>
            </a:r>
          </a:p>
          <a:p>
            <a:pPr algn="ctr">
              <a:lnSpc>
                <a:spcPct val="100000"/>
              </a:lnSpc>
              <a:spcAft>
                <a:spcPts val="700"/>
              </a:spcAft>
              <a:defRPr sz="1600" b="0">
                <a:solidFill>
                  <a:srgbClr val="0E7C86"/>
                </a:solidFill>
                <a:latin typeface="Calibri"/>
              </a:defRPr>
            </a:pPr>
            <a:r>
              <a:rPr sz="1600" b="0">
                <a:solidFill>
                  <a:srgbClr val="0E7C86"/>
                </a:solidFill>
                <a:latin typeface="Calibri"/>
              </a:rPr>
              <a:t>NASA images are generally free to use in teaching. Search 'Sojourner' at photojournal.jpl.nasa.gov and save one as sojourner-on-mars.jpg</a:t>
            </a:r>
          </a:p>
        </p:txBody>
      </p:sp>
      <p:sp>
        <p:nvSpPr>
          <p:cNvPr id="8" name="TextBox 7"/>
          <p:cNvSpPr txBox="1"/>
          <p:nvPr/>
        </p:nvSpPr>
        <p:spPr>
          <a:xfrm>
            <a:off x="6990716" y="4535424"/>
            <a:ext cx="4698059" cy="566928"/>
          </a:xfrm>
          <a:prstGeom prst="rect">
            <a:avLst/>
          </a:prstGeom>
          <a:noFill/>
        </p:spPr>
        <p:txBody>
          <a:bodyPr wrap="square" lIns="0" tIns="0" rIns="0" bIns="0">
            <a:spAutoFit/>
          </a:bodyPr>
          <a:lstStyle/>
          <a:p>
            <a:pPr algn="l">
              <a:lnSpc>
                <a:spcPct val="100000"/>
              </a:lnSpc>
              <a:spcAft>
                <a:spcPts val="600"/>
              </a:spcAft>
              <a:defRPr sz="1800" b="0">
                <a:solidFill>
                  <a:srgbClr val="666666"/>
                </a:solidFill>
                <a:latin typeface="Calibri"/>
              </a:defRPr>
            </a:pPr>
            <a:r>
              <a:rPr sz="1800" b="0">
                <a:solidFill>
                  <a:srgbClr val="666666"/>
                </a:solidFill>
                <a:latin typeface="Calibri"/>
              </a:rPr>
              <a:t>Sojourner, on Mars</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Robots explore where it is too far, too deep, or too dangerous for people to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Meet Pathfinder</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is a robot?</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Meet Pathfinder</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Explorer Code</a:t>
            </a:r>
          </a:p>
        </p:txBody>
      </p:sp>
      <p:sp>
        <p:nvSpPr>
          <p:cNvPr id="12" name="Rounded Rectangle 11"/>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First drive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Meet Pathfinder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pic>
        <p:nvPicPr>
          <p:cNvPr id="6" name="Picture 5" descr="vehicle-parts-labeled.jpg"/>
          <p:cNvPicPr>
            <a:picLocks noChangeAspect="1"/>
          </p:cNvPicPr>
          <p:nvPr/>
        </p:nvPicPr>
        <p:blipFill>
          <a:blip r:embed="rId2"/>
          <a:stretch>
            <a:fillRect/>
          </a:stretch>
        </p:blipFill>
        <p:spPr>
          <a:xfrm>
            <a:off x="1581373" y="1188720"/>
            <a:ext cx="9028949"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Every part, labeled. Find each one on your team's vehicle.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 robot is a bit like a body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graphicFrame>
        <p:nvGraphicFramePr>
          <p:cNvPr id="6" name="Table 5"/>
          <p:cNvGraphicFramePr>
            <a:graphicFrameLocks noGrp="1"/>
          </p:cNvGraphicFramePr>
          <p:nvPr/>
        </p:nvGraphicFramePr>
        <p:xfrm>
          <a:off x="502920" y="1188720"/>
          <a:ext cx="11185854" cy="5057775"/>
        </p:xfrm>
        <a:graphic>
          <a:graphicData uri="http://schemas.openxmlformats.org/drawingml/2006/table">
            <a:tbl>
              <a:tblPr firstRow="1" bandRow="1">
                <a:tableStyleId>{5C22544A-7EE6-4342-B048-85BDC9FD1C3A}</a:tableStyleId>
              </a:tblPr>
              <a:tblGrid>
                <a:gridCol w="3023204"/>
                <a:gridCol w="5542540"/>
                <a:gridCol w="2620110"/>
              </a:tblGrid>
              <a:tr h="722539">
                <a:tc>
                  <a:txBody>
                    <a:bodyPr/>
                    <a:lstStyle/>
                    <a:p>
                      <a:r>
                        <a:rPr sz="2850" b="1">
                          <a:solidFill>
                            <a:srgbClr val="FFFFFF"/>
                          </a:solidFill>
                          <a:latin typeface="Calibri"/>
                        </a:rPr>
                        <a:t>Part</a:t>
                      </a:r>
                    </a:p>
                  </a:txBody>
                  <a:tcPr marL="73152" marT="18288" marB="18288">
                    <a:solidFill>
                      <a:srgbClr val="1F3A5F"/>
                    </a:solidFill>
                  </a:tcPr>
                </a:tc>
                <a:tc>
                  <a:txBody>
                    <a:bodyPr/>
                    <a:lstStyle/>
                    <a:p>
                      <a:r>
                        <a:rPr sz="2850" b="1">
                          <a:solidFill>
                            <a:srgbClr val="FFFFFF"/>
                          </a:solidFill>
                          <a:latin typeface="Calibri"/>
                        </a:rPr>
                        <a:t>What it does</a:t>
                      </a:r>
                    </a:p>
                  </a:txBody>
                  <a:tcPr marL="73152" marT="18288" marB="18288">
                    <a:solidFill>
                      <a:srgbClr val="1F3A5F"/>
                    </a:solidFill>
                  </a:tcPr>
                </a:tc>
                <a:tc>
                  <a:txBody>
                    <a:bodyPr/>
                    <a:lstStyle/>
                    <a:p>
                      <a:r>
                        <a:rPr sz="2850" b="1">
                          <a:solidFill>
                            <a:srgbClr val="FFFFFF"/>
                          </a:solidFill>
                          <a:latin typeface="Calibri"/>
                        </a:rPr>
                        <a:t>Like your...</a:t>
                      </a:r>
                    </a:p>
                  </a:txBody>
                  <a:tcPr marL="73152" marT="18288" marB="18288">
                    <a:solidFill>
                      <a:srgbClr val="1F3A5F"/>
                    </a:solidFill>
                  </a:tcPr>
                </a:tc>
              </a:tr>
              <a:tr h="722539">
                <a:tc>
                  <a:txBody>
                    <a:bodyPr/>
                    <a:lstStyle/>
                    <a:p>
                      <a:r>
                        <a:rPr sz="2850">
                          <a:solidFill>
                            <a:srgbClr val="222222"/>
                          </a:solidFill>
                          <a:latin typeface="Calibri"/>
                        </a:rPr>
                        <a:t>ESP32 computer</a:t>
                      </a:r>
                    </a:p>
                  </a:txBody>
                  <a:tcPr marL="73152" marT="18288" marB="18288">
                    <a:solidFill>
                      <a:srgbClr val="FFFFFF"/>
                    </a:solidFill>
                  </a:tcPr>
                </a:tc>
                <a:tc>
                  <a:txBody>
                    <a:bodyPr/>
                    <a:lstStyle/>
                    <a:p>
                      <a:r>
                        <a:rPr sz="2850">
                          <a:solidFill>
                            <a:srgbClr val="222222"/>
                          </a:solidFill>
                          <a:latin typeface="Calibri"/>
                        </a:rPr>
                        <a:t>Runs your program. Makes every decision.</a:t>
                      </a:r>
                    </a:p>
                  </a:txBody>
                  <a:tcPr marL="73152" marT="18288" marB="18288">
                    <a:solidFill>
                      <a:srgbClr val="FFFFFF"/>
                    </a:solidFill>
                  </a:tcPr>
                </a:tc>
                <a:tc>
                  <a:txBody>
                    <a:bodyPr/>
                    <a:lstStyle/>
                    <a:p>
                      <a:r>
                        <a:rPr sz="2850">
                          <a:solidFill>
                            <a:srgbClr val="222222"/>
                          </a:solidFill>
                          <a:latin typeface="Calibri"/>
                        </a:rPr>
                        <a:t>brain</a:t>
                      </a:r>
                    </a:p>
                  </a:txBody>
                  <a:tcPr marL="73152" marT="18288" marB="18288">
                    <a:solidFill>
                      <a:srgbClr val="FFFFFF"/>
                    </a:solidFill>
                  </a:tcPr>
                </a:tc>
              </a:tr>
              <a:tr h="722539">
                <a:tc>
                  <a:txBody>
                    <a:bodyPr/>
                    <a:lstStyle/>
                    <a:p>
                      <a:r>
                        <a:rPr sz="2850">
                          <a:solidFill>
                            <a:srgbClr val="222222"/>
                          </a:solidFill>
                          <a:latin typeface="Calibri"/>
                        </a:rPr>
                        <a:t>4 motors</a:t>
                      </a:r>
                    </a:p>
                  </a:txBody>
                  <a:tcPr marL="73152" marT="18288" marB="18288">
                    <a:solidFill>
                      <a:srgbClr val="EEF3F8"/>
                    </a:solidFill>
                  </a:tcPr>
                </a:tc>
                <a:tc>
                  <a:txBody>
                    <a:bodyPr/>
                    <a:lstStyle/>
                    <a:p>
                      <a:r>
                        <a:rPr sz="2850">
                          <a:solidFill>
                            <a:srgbClr val="222222"/>
                          </a:solidFill>
                          <a:latin typeface="Calibri"/>
                        </a:rPr>
                        <a:t>Turn the wheels</a:t>
                      </a:r>
                    </a:p>
                  </a:txBody>
                  <a:tcPr marL="73152" marT="18288" marB="18288">
                    <a:solidFill>
                      <a:srgbClr val="EEF3F8"/>
                    </a:solidFill>
                  </a:tcPr>
                </a:tc>
                <a:tc>
                  <a:txBody>
                    <a:bodyPr/>
                    <a:lstStyle/>
                    <a:p>
                      <a:r>
                        <a:rPr sz="2850">
                          <a:solidFill>
                            <a:srgbClr val="222222"/>
                          </a:solidFill>
                          <a:latin typeface="Calibri"/>
                        </a:rPr>
                        <a:t>muscles</a:t>
                      </a:r>
                    </a:p>
                  </a:txBody>
                  <a:tcPr marL="73152" marT="18288" marB="18288">
                    <a:solidFill>
                      <a:srgbClr val="EEF3F8"/>
                    </a:solidFill>
                  </a:tcPr>
                </a:tc>
              </a:tr>
              <a:tr h="722539">
                <a:tc>
                  <a:txBody>
                    <a:bodyPr/>
                    <a:lstStyle/>
                    <a:p>
                      <a:r>
                        <a:rPr sz="2850">
                          <a:solidFill>
                            <a:srgbClr val="222222"/>
                          </a:solidFill>
                          <a:latin typeface="Calibri"/>
                        </a:rPr>
                        <a:t>32 lights</a:t>
                      </a:r>
                    </a:p>
                  </a:txBody>
                  <a:tcPr marL="73152" marT="18288" marB="18288">
                    <a:solidFill>
                      <a:srgbClr val="FFFFFF"/>
                    </a:solidFill>
                  </a:tcPr>
                </a:tc>
                <a:tc>
                  <a:txBody>
                    <a:bodyPr/>
                    <a:lstStyle/>
                    <a:p>
                      <a:r>
                        <a:rPr sz="2850">
                          <a:solidFill>
                            <a:srgbClr val="222222"/>
                          </a:solidFill>
                          <a:latin typeface="Calibri"/>
                        </a:rPr>
                        <a:t>Show what the robot is doing</a:t>
                      </a:r>
                    </a:p>
                  </a:txBody>
                  <a:tcPr marL="73152" marT="18288" marB="18288">
                    <a:solidFill>
                      <a:srgbClr val="FFFFFF"/>
                    </a:solidFill>
                  </a:tcPr>
                </a:tc>
                <a:tc>
                  <a:txBody>
                    <a:bodyPr/>
                    <a:lstStyle/>
                    <a:p>
                      <a:r>
                        <a:rPr sz="2850">
                          <a:solidFill>
                            <a:srgbClr val="222222"/>
                          </a:solidFill>
                          <a:latin typeface="Calibri"/>
                        </a:rPr>
                        <a:t>face</a:t>
                      </a:r>
                    </a:p>
                  </a:txBody>
                  <a:tcPr marL="73152" marT="18288" marB="18288">
                    <a:solidFill>
                      <a:srgbClr val="FFFFFF"/>
                    </a:solidFill>
                  </a:tcPr>
                </a:tc>
              </a:tr>
              <a:tr h="722539">
                <a:tc>
                  <a:txBody>
                    <a:bodyPr/>
                    <a:lstStyle/>
                    <a:p>
                      <a:r>
                        <a:rPr sz="2850">
                          <a:solidFill>
                            <a:srgbClr val="222222"/>
                          </a:solidFill>
                          <a:latin typeface="Calibri"/>
                        </a:rPr>
                        <a:t>Controller and radio</a:t>
                      </a:r>
                    </a:p>
                  </a:txBody>
                  <a:tcPr marL="73152" marT="18288" marB="18288">
                    <a:solidFill>
                      <a:srgbClr val="EEF3F8"/>
                    </a:solidFill>
                  </a:tcPr>
                </a:tc>
                <a:tc>
                  <a:txBody>
                    <a:bodyPr/>
                    <a:lstStyle/>
                    <a:p>
                      <a:r>
                        <a:rPr sz="2850">
                          <a:solidFill>
                            <a:srgbClr val="222222"/>
                          </a:solidFill>
                          <a:latin typeface="Calibri"/>
                        </a:rPr>
                        <a:t>Bring your commands in</a:t>
                      </a:r>
                    </a:p>
                  </a:txBody>
                  <a:tcPr marL="73152" marT="18288" marB="18288">
                    <a:solidFill>
                      <a:srgbClr val="EEF3F8"/>
                    </a:solidFill>
                  </a:tcPr>
                </a:tc>
                <a:tc>
                  <a:txBody>
                    <a:bodyPr/>
                    <a:lstStyle/>
                    <a:p>
                      <a:r>
                        <a:rPr sz="2850">
                          <a:solidFill>
                            <a:srgbClr val="222222"/>
                          </a:solidFill>
                          <a:latin typeface="Calibri"/>
                        </a:rPr>
                        <a:t>ears</a:t>
                      </a:r>
                    </a:p>
                  </a:txBody>
                  <a:tcPr marL="73152" marT="18288" marB="18288">
                    <a:solidFill>
                      <a:srgbClr val="EEF3F8"/>
                    </a:solidFill>
                  </a:tcPr>
                </a:tc>
              </a:tr>
              <a:tr h="722539">
                <a:tc>
                  <a:txBody>
                    <a:bodyPr/>
                    <a:lstStyle/>
                    <a:p>
                      <a:r>
                        <a:rPr sz="2850">
                          <a:solidFill>
                            <a:srgbClr val="222222"/>
                          </a:solidFill>
                          <a:latin typeface="Calibri"/>
                        </a:rPr>
                        <a:t>Battery</a:t>
                      </a:r>
                    </a:p>
                  </a:txBody>
                  <a:tcPr marL="73152" marT="18288" marB="18288">
                    <a:solidFill>
                      <a:srgbClr val="FFFFFF"/>
                    </a:solidFill>
                  </a:tcPr>
                </a:tc>
                <a:tc>
                  <a:txBody>
                    <a:bodyPr/>
                    <a:lstStyle/>
                    <a:p>
                      <a:r>
                        <a:rPr sz="2850">
                          <a:solidFill>
                            <a:srgbClr val="222222"/>
                          </a:solidFill>
                          <a:latin typeface="Calibri"/>
                        </a:rPr>
                        <a:t>Stores energy for everything</a:t>
                      </a:r>
                    </a:p>
                  </a:txBody>
                  <a:tcPr marL="73152" marT="18288" marB="18288">
                    <a:solidFill>
                      <a:srgbClr val="FFFFFF"/>
                    </a:solidFill>
                  </a:tcPr>
                </a:tc>
                <a:tc>
                  <a:txBody>
                    <a:bodyPr/>
                    <a:lstStyle/>
                    <a:p>
                      <a:r>
                        <a:rPr sz="2850">
                          <a:solidFill>
                            <a:srgbClr val="222222"/>
                          </a:solidFill>
                          <a:latin typeface="Calibri"/>
                        </a:rPr>
                        <a:t>food</a:t>
                      </a:r>
                    </a:p>
                  </a:txBody>
                  <a:tcPr marL="73152" marT="18288" marB="18288">
                    <a:solidFill>
                      <a:srgbClr val="FFFFFF"/>
                    </a:solidFill>
                  </a:tcPr>
                </a:tc>
              </a:tr>
              <a:tr h="722541">
                <a:tc>
                  <a:txBody>
                    <a:bodyPr/>
                    <a:lstStyle/>
                    <a:p>
                      <a:r>
                        <a:rPr sz="2850">
                          <a:solidFill>
                            <a:srgbClr val="222222"/>
                          </a:solidFill>
                          <a:latin typeface="Calibri"/>
                        </a:rPr>
                        <a:t>Frame and wheels</a:t>
                      </a:r>
                    </a:p>
                  </a:txBody>
                  <a:tcPr marL="73152" marT="18288" marB="18288">
                    <a:solidFill>
                      <a:srgbClr val="EEF3F8"/>
                    </a:solidFill>
                  </a:tcPr>
                </a:tc>
                <a:tc>
                  <a:txBody>
                    <a:bodyPr/>
                    <a:lstStyle/>
                    <a:p>
                      <a:r>
                        <a:rPr sz="2850">
                          <a:solidFill>
                            <a:srgbClr val="222222"/>
                          </a:solidFill>
                          <a:latin typeface="Calibri"/>
                        </a:rPr>
                        <a:t>Hold it together, and roll</a:t>
                      </a:r>
                    </a:p>
                  </a:txBody>
                  <a:tcPr marL="73152" marT="18288" marB="18288">
                    <a:solidFill>
                      <a:srgbClr val="EEF3F8"/>
                    </a:solidFill>
                  </a:tcPr>
                </a:tc>
                <a:tc>
                  <a:txBody>
                    <a:bodyPr/>
                    <a:lstStyle/>
                    <a:p>
                      <a:r>
                        <a:rPr sz="2850">
                          <a:solidFill>
                            <a:srgbClr val="222222"/>
                          </a:solidFill>
                          <a:latin typeface="Calibri"/>
                        </a:rPr>
                        <a:t>skeleton and feet</a:t>
                      </a:r>
                    </a:p>
                  </a:txBody>
                  <a:tcPr marL="73152" marT="18288" marB="18288">
                    <a:solidFill>
                      <a:srgbClr val="EEF3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Built for exploring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pic>
        <p:nvPicPr>
          <p:cNvPr id="6" name="Picture 5" descr="vehicle-gen3-upside-down.jpg"/>
          <p:cNvPicPr>
            <a:picLocks noChangeAspect="1"/>
          </p:cNvPicPr>
          <p:nvPr/>
        </p:nvPicPr>
        <p:blipFill>
          <a:blip r:embed="rId2"/>
          <a:stretch>
            <a:fillRect/>
          </a:stretch>
        </p:blipFill>
        <p:spPr>
          <a:xfrm>
            <a:off x="502920" y="1411197"/>
            <a:ext cx="5410047" cy="3852726"/>
          </a:xfrm>
          <a:prstGeom prst="rect">
            <a:avLst/>
          </a:prstGeom>
        </p:spPr>
      </p:pic>
      <p:pic>
        <p:nvPicPr>
          <p:cNvPr id="7" name="Picture 6" descr="switch-controller-pair.jpg"/>
          <p:cNvPicPr>
            <a:picLocks noChangeAspect="1"/>
          </p:cNvPicPr>
          <p:nvPr/>
        </p:nvPicPr>
        <p:blipFill>
          <a:blip r:embed="rId3"/>
          <a:stretch>
            <a:fillRect/>
          </a:stretch>
        </p:blipFill>
        <p:spPr>
          <a:xfrm>
            <a:off x="6834910" y="1188720"/>
            <a:ext cx="4297680" cy="4297680"/>
          </a:xfrm>
          <a:prstGeom prst="rect">
            <a:avLst/>
          </a:prstGeom>
        </p:spPr>
      </p:pic>
      <p:sp>
        <p:nvSpPr>
          <p:cNvPr id="8" name="TextBox 7"/>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Flipped over: the wheels stick out past the frame on BOTH sides.</a:t>
            </a:r>
          </a:p>
        </p:txBody>
      </p:sp>
      <p:sp>
        <p:nvSpPr>
          <p:cNvPr id="9" name="TextBox 8"/>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Your controller. Its radio talks to ONE vehicle only.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vehicle, one controller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6345753" cy="5074920"/>
          </a:xfrm>
          <a:prstGeom prst="rect">
            <a:avLst/>
          </a:prstGeom>
          <a:noFill/>
        </p:spPr>
        <p:txBody>
          <a:bodyPr wrap="square" lIns="0" tIns="0" rIns="0" bIns="0">
            <a:spAutoFit/>
          </a:bodyPr>
          <a:lstStyle/>
          <a:p>
            <a:pPr algn="l">
              <a:lnSpc>
                <a:spcPct val="100000"/>
              </a:lnSpc>
              <a:spcAft>
                <a:spcPts val="900"/>
              </a:spcAft>
              <a:defRPr sz="2800" b="0">
                <a:solidFill>
                  <a:srgbClr val="222222"/>
                </a:solidFill>
                <a:latin typeface="Calibri"/>
              </a:defRPr>
            </a:pPr>
            <a:r>
              <a:rPr sz="2800" b="0">
                <a:solidFill>
                  <a:srgbClr val="222222"/>
                </a:solidFill>
                <a:latin typeface="Calibri"/>
              </a:rPr>
              <a:t>Every vehicle has a number sticker.</a:t>
            </a:r>
          </a:p>
          <a:p>
            <a:pPr algn="l">
              <a:lnSpc>
                <a:spcPct val="100000"/>
              </a:lnSpc>
              <a:spcAft>
                <a:spcPts val="900"/>
              </a:spcAft>
              <a:defRPr sz="2800" b="0">
                <a:solidFill>
                  <a:srgbClr val="222222"/>
                </a:solidFill>
                <a:latin typeface="Calibri"/>
              </a:defRPr>
            </a:pPr>
            <a:r>
              <a:rPr sz="2800" b="0">
                <a:solidFill>
                  <a:srgbClr val="222222"/>
                </a:solidFill>
                <a:latin typeface="Calibri"/>
              </a:rPr>
              <a:t>Its controller has the SAME number.</a:t>
            </a:r>
          </a:p>
          <a:p>
            <a:pPr algn="l">
              <a:lnSpc>
                <a:spcPct val="100000"/>
              </a:lnSpc>
              <a:spcAft>
                <a:spcPts val="900"/>
              </a:spcAft>
              <a:defRPr sz="2800" b="0">
                <a:solidFill>
                  <a:srgbClr val="222222"/>
                </a:solidFill>
                <a:latin typeface="Calibri"/>
              </a:defRPr>
            </a:pPr>
            <a:r>
              <a:rPr sz="2800" b="0">
                <a:solidFill>
                  <a:srgbClr val="222222"/>
                </a:solidFill>
                <a:latin typeface="Calibri"/>
              </a:rPr>
              <a:t>The vehicle ignores every other controller in the room.</a:t>
            </a:r>
          </a:p>
          <a:p>
            <a:pPr algn="l">
              <a:lnSpc>
                <a:spcPct val="100000"/>
              </a:lnSpc>
              <a:spcAft>
                <a:spcPts val="900"/>
              </a:spcAft>
              <a:defRPr sz="2800" b="0">
                <a:solidFill>
                  <a:srgbClr val="222222"/>
                </a:solidFill>
                <a:latin typeface="Calibri"/>
              </a:defRPr>
            </a:pPr>
            <a:r>
              <a:rPr sz="2800" b="0">
                <a:solidFill>
                  <a:srgbClr val="222222"/>
                </a:solidFill>
                <a:latin typeface="Calibri"/>
              </a:rPr>
              <a:t>Lights blinking GREEN: it's looking for its controller. Press a button on it.</a:t>
            </a:r>
          </a:p>
          <a:p>
            <a:pPr algn="l">
              <a:lnSpc>
                <a:spcPct val="100000"/>
              </a:lnSpc>
              <a:spcAft>
                <a:spcPts val="900"/>
              </a:spcAft>
              <a:defRPr sz="2800" b="0">
                <a:solidFill>
                  <a:srgbClr val="222222"/>
                </a:solidFill>
                <a:latin typeface="Calibri"/>
              </a:defRPr>
            </a:pPr>
            <a:r>
              <a:rPr sz="2800" b="0">
                <a:solidFill>
                  <a:srgbClr val="222222"/>
                </a:solidFill>
                <a:latin typeface="Calibri"/>
              </a:rPr>
              <a:t>Lights blinking RED: tell your teacher.</a:t>
            </a:r>
          </a:p>
        </p:txBody>
      </p:sp>
      <p:sp>
        <p:nvSpPr>
          <p:cNvPr id="7" name="Rectangle 6"/>
          <p:cNvSpPr/>
          <p:nvPr/>
        </p:nvSpPr>
        <p:spPr>
          <a:xfrm>
            <a:off x="7214433" y="1188720"/>
            <a:ext cx="4474342" cy="384048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a vehicle and its controller with matching number stickers</a:t>
            </a:r>
          </a:p>
          <a:p>
            <a:pPr algn="ctr">
              <a:lnSpc>
                <a:spcPct val="100000"/>
              </a:lnSpc>
              <a:spcAft>
                <a:spcPts val="700"/>
              </a:spcAft>
              <a:defRPr sz="1600" b="0">
                <a:solidFill>
                  <a:srgbClr val="0E7C86"/>
                </a:solidFill>
                <a:latin typeface="Calibri"/>
              </a:defRPr>
            </a:pPr>
            <a:r>
              <a:rPr sz="1600" b="0">
                <a:solidFill>
                  <a:srgbClr val="0E7C86"/>
                </a:solidFill>
                <a:latin typeface="Calibri"/>
              </a:rPr>
              <a:t>Both stickers in the same shot, close enough to read the number</a:t>
            </a:r>
          </a:p>
        </p:txBody>
      </p:sp>
      <p:sp>
        <p:nvSpPr>
          <p:cNvPr id="8" name="TextBox 7"/>
          <p:cNvSpPr txBox="1"/>
          <p:nvPr/>
        </p:nvSpPr>
        <p:spPr>
          <a:xfrm>
            <a:off x="7214433" y="5084064"/>
            <a:ext cx="4474342" cy="566928"/>
          </a:xfrm>
          <a:prstGeom prst="rect">
            <a:avLst/>
          </a:prstGeom>
          <a:noFill/>
        </p:spPr>
        <p:txBody>
          <a:bodyPr wrap="square" lIns="0" tIns="0" rIns="0" bIns="0">
            <a:spAutoFit/>
          </a:bodyPr>
          <a:lstStyle/>
          <a:p>
            <a:pPr algn="l">
              <a:lnSpc>
                <a:spcPct val="100000"/>
              </a:lnSpc>
              <a:spcAft>
                <a:spcPts val="600"/>
              </a:spcAft>
              <a:defRPr sz="1800" b="0">
                <a:solidFill>
                  <a:srgbClr val="666666"/>
                </a:solidFill>
                <a:latin typeface="Calibri"/>
              </a:defRPr>
            </a:pPr>
            <a:r>
              <a:rPr sz="1800" b="0">
                <a:solidFill>
                  <a:srgbClr val="666666"/>
                </a:solidFill>
                <a:latin typeface="Calibri"/>
              </a:rPr>
              <a:t>Matching numbers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Explorer Code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is a robot?</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Meet Pathfinder</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Explorer Code</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First drive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team, and your jobs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graphicFrame>
        <p:nvGraphicFramePr>
          <p:cNvPr id="6" name="Table 5"/>
          <p:cNvGraphicFramePr>
            <a:graphicFrameLocks noGrp="1"/>
          </p:cNvGraphicFramePr>
          <p:nvPr/>
        </p:nvGraphicFramePr>
        <p:xfrm>
          <a:off x="502920" y="1188720"/>
          <a:ext cx="11185854" cy="3527425"/>
        </p:xfrm>
        <a:graphic>
          <a:graphicData uri="http://schemas.openxmlformats.org/drawingml/2006/table">
            <a:tbl>
              <a:tblPr firstRow="1" bandRow="1">
                <a:tableStyleId>{5C22544A-7EE6-4342-B048-85BDC9FD1C3A}</a:tableStyleId>
              </a:tblPr>
              <a:tblGrid>
                <a:gridCol w="2197221"/>
                <a:gridCol w="8988633"/>
              </a:tblGrid>
              <a:tr h="881856">
                <a:tc>
                  <a:txBody>
                    <a:bodyPr/>
                    <a:lstStyle/>
                    <a:p>
                      <a:r>
                        <a:rPr sz="2900" b="1">
                          <a:solidFill>
                            <a:srgbClr val="FFFFFF"/>
                          </a:solidFill>
                          <a:latin typeface="Calibri"/>
                        </a:rPr>
                        <a:t>Job</a:t>
                      </a:r>
                    </a:p>
                  </a:txBody>
                  <a:tcPr marL="73152" marT="18288" marB="18288">
                    <a:solidFill>
                      <a:srgbClr val="1F3A5F"/>
                    </a:solidFill>
                  </a:tcPr>
                </a:tc>
                <a:tc>
                  <a:txBody>
                    <a:bodyPr/>
                    <a:lstStyle/>
                    <a:p>
                      <a:r>
                        <a:rPr sz="2900" b="1">
                          <a:solidFill>
                            <a:srgbClr val="FFFFFF"/>
                          </a:solidFill>
                          <a:latin typeface="Calibri"/>
                        </a:rPr>
                        <a:t>What you do</a:t>
                      </a:r>
                    </a:p>
                  </a:txBody>
                  <a:tcPr marL="73152" marT="18288" marB="18288">
                    <a:solidFill>
                      <a:srgbClr val="1F3A5F"/>
                    </a:solidFill>
                  </a:tcPr>
                </a:tc>
              </a:tr>
              <a:tr h="881856">
                <a:tc>
                  <a:txBody>
                    <a:bodyPr/>
                    <a:lstStyle/>
                    <a:p>
                      <a:r>
                        <a:rPr sz="2900">
                          <a:solidFill>
                            <a:srgbClr val="222222"/>
                          </a:solidFill>
                          <a:latin typeface="Calibri"/>
                        </a:rPr>
                        <a:t>Pilot</a:t>
                      </a:r>
                    </a:p>
                  </a:txBody>
                  <a:tcPr marL="73152" marT="18288" marB="18288">
                    <a:solidFill>
                      <a:srgbClr val="FFFFFF"/>
                    </a:solidFill>
                  </a:tcPr>
                </a:tc>
                <a:tc>
                  <a:txBody>
                    <a:bodyPr/>
                    <a:lstStyle/>
                    <a:p>
                      <a:r>
                        <a:rPr sz="2900">
                          <a:solidFill>
                            <a:srgbClr val="222222"/>
                          </a:solidFill>
                          <a:latin typeface="Calibri"/>
                        </a:rPr>
                        <a:t>Holds the controller and drives. Runs the tests.</a:t>
                      </a:r>
                    </a:p>
                  </a:txBody>
                  <a:tcPr marL="73152" marT="18288" marB="18288">
                    <a:solidFill>
                      <a:srgbClr val="FFFFFF"/>
                    </a:solidFill>
                  </a:tcPr>
                </a:tc>
              </a:tr>
              <a:tr h="881856">
                <a:tc>
                  <a:txBody>
                    <a:bodyPr/>
                    <a:lstStyle/>
                    <a:p>
                      <a:r>
                        <a:rPr sz="2900">
                          <a:solidFill>
                            <a:srgbClr val="222222"/>
                          </a:solidFill>
                          <a:latin typeface="Calibri"/>
                        </a:rPr>
                        <a:t>Coder</a:t>
                      </a:r>
                    </a:p>
                  </a:txBody>
                  <a:tcPr marL="73152" marT="18288" marB="18288">
                    <a:solidFill>
                      <a:srgbClr val="EEF3F8"/>
                    </a:solidFill>
                  </a:tcPr>
                </a:tc>
                <a:tc>
                  <a:txBody>
                    <a:bodyPr/>
                    <a:lstStyle/>
                    <a:p>
                      <a:r>
                        <a:rPr sz="2900">
                          <a:solidFill>
                            <a:srgbClr val="222222"/>
                          </a:solidFill>
                          <a:latin typeface="Calibri"/>
                        </a:rPr>
                        <a:t>Sits at the laptop. Types the changes and uploads.</a:t>
                      </a:r>
                    </a:p>
                  </a:txBody>
                  <a:tcPr marL="73152" marT="18288" marB="18288">
                    <a:solidFill>
                      <a:srgbClr val="EEF3F8"/>
                    </a:solidFill>
                  </a:tcPr>
                </a:tc>
              </a:tr>
              <a:tr h="881857">
                <a:tc>
                  <a:txBody>
                    <a:bodyPr/>
                    <a:lstStyle/>
                    <a:p>
                      <a:r>
                        <a:rPr sz="2900">
                          <a:solidFill>
                            <a:srgbClr val="222222"/>
                          </a:solidFill>
                          <a:latin typeface="Calibri"/>
                        </a:rPr>
                        <a:t>Crew Chief</a:t>
                      </a:r>
                    </a:p>
                  </a:txBody>
                  <a:tcPr marL="73152" marT="18288" marB="18288">
                    <a:solidFill>
                      <a:srgbClr val="FFFFFF"/>
                    </a:solidFill>
                  </a:tcPr>
                </a:tc>
                <a:tc>
                  <a:txBody>
                    <a:bodyPr/>
                    <a:lstStyle/>
                    <a:p>
                      <a:r>
                        <a:rPr sz="2900">
                          <a:solidFill>
                            <a:srgbClr val="222222"/>
                          </a:solidFill>
                          <a:latin typeface="Calibri"/>
                        </a:rPr>
                        <a:t>In charge of the vehicle: the stand, the power switch, the cable. Reads the mission steps out loud. Calls STOP if anything looks unsafe.</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Switch jobs EVERY lesson. Everybody does every job.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Explorer Code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1.  WHEELS UP whenever the cable is plugged in. The vehicle sits on its stand.</a:t>
            </a:r>
          </a:p>
          <a:p>
            <a:pPr algn="l">
              <a:lnSpc>
                <a:spcPct val="100000"/>
              </a:lnSpc>
              <a:spcAft>
                <a:spcPts val="600"/>
              </a:spcAft>
              <a:defRPr sz="2200" b="0">
                <a:solidFill>
                  <a:srgbClr val="222222"/>
                </a:solidFill>
                <a:latin typeface="Calibri"/>
              </a:defRPr>
            </a:pPr>
            <a:r>
              <a:rPr sz="2200" b="0">
                <a:solidFill>
                  <a:srgbClr val="222222"/>
                </a:solidFill>
                <a:latin typeface="Calibri"/>
              </a:rPr>
              <a:t>2.  Hands, hair and sleeves away from the wheels while the power is on.</a:t>
            </a:r>
          </a:p>
          <a:p>
            <a:pPr algn="l">
              <a:lnSpc>
                <a:spcPct val="100000"/>
              </a:lnSpc>
              <a:spcAft>
                <a:spcPts val="600"/>
              </a:spcAft>
              <a:defRPr sz="2200" b="0">
                <a:solidFill>
                  <a:srgbClr val="222222"/>
                </a:solidFill>
                <a:latin typeface="Calibri"/>
              </a:defRPr>
            </a:pPr>
            <a:r>
              <a:rPr sz="2200" b="0">
                <a:solidFill>
                  <a:srgbClr val="222222"/>
                </a:solidFill>
                <a:latin typeface="Calibri"/>
              </a:rPr>
              <a:t>3.  Power OFF before you pick it up. Carry it by the bottom plate, never by the wires.</a:t>
            </a:r>
          </a:p>
          <a:p>
            <a:pPr algn="l">
              <a:lnSpc>
                <a:spcPct val="100000"/>
              </a:lnSpc>
              <a:spcAft>
                <a:spcPts val="600"/>
              </a:spcAft>
              <a:defRPr sz="2200" b="0">
                <a:solidFill>
                  <a:srgbClr val="222222"/>
                </a:solidFill>
                <a:latin typeface="Calibri"/>
              </a:defRPr>
            </a:pPr>
            <a:r>
              <a:rPr sz="2200" b="0">
                <a:solidFill>
                  <a:srgbClr val="222222"/>
                </a:solidFill>
                <a:latin typeface="Calibri"/>
              </a:rPr>
              <a:t>4.  Drive on the floor, inside the arena. Never on a table.</a:t>
            </a:r>
          </a:p>
          <a:p>
            <a:pPr algn="l">
              <a:lnSpc>
                <a:spcPct val="100000"/>
              </a:lnSpc>
              <a:spcAft>
                <a:spcPts val="600"/>
              </a:spcAft>
              <a:defRPr sz="2200" b="0">
                <a:solidFill>
                  <a:srgbClr val="222222"/>
                </a:solidFill>
                <a:latin typeface="Calibri"/>
              </a:defRPr>
            </a:pPr>
            <a:r>
              <a:rPr sz="2200" b="0">
                <a:solidFill>
                  <a:srgbClr val="222222"/>
                </a:solidFill>
                <a:latin typeface="Calibri"/>
              </a:rPr>
              <a:t>5.  Batteries and chargers are for grown-ups only.</a:t>
            </a:r>
          </a:p>
          <a:p>
            <a:pPr algn="l">
              <a:lnSpc>
                <a:spcPct val="100000"/>
              </a:lnSpc>
              <a:spcAft>
                <a:spcPts val="600"/>
              </a:spcAft>
              <a:defRPr sz="2200" b="0">
                <a:solidFill>
                  <a:srgbClr val="222222"/>
                </a:solidFill>
                <a:latin typeface="Calibri"/>
              </a:defRPr>
            </a:pPr>
            <a:r>
              <a:rPr sz="2200" b="0">
                <a:solidFill>
                  <a:srgbClr val="222222"/>
                </a:solidFill>
                <a:latin typeface="Calibri"/>
              </a:rPr>
              <a:t>6.  A puffy, hot or damaged battery - or a burning smell? Power OFF, step back, tell a grown-up.</a:t>
            </a:r>
          </a:p>
          <a:p>
            <a:pPr algn="l">
              <a:lnSpc>
                <a:spcPct val="100000"/>
              </a:lnSpc>
              <a:spcAft>
                <a:spcPts val="600"/>
              </a:spcAft>
              <a:defRPr sz="2200" b="0">
                <a:solidFill>
                  <a:srgbClr val="222222"/>
                </a:solidFill>
                <a:latin typeface="Calibri"/>
              </a:defRPr>
            </a:pPr>
            <a:r>
              <a:rPr sz="2200" b="0">
                <a:solidFill>
                  <a:srgbClr val="222222"/>
                </a:solidFill>
                <a:latin typeface="Calibri"/>
              </a:rPr>
              <a:t>7.  Don't stare into the lights.</a:t>
            </a:r>
          </a:p>
        </p:txBody>
      </p:sp>
      <p:sp>
        <p:nvSpPr>
          <p:cNvPr id="7" name="Rounded Rectangle 6"/>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The Crew Chief can call STOP at any time, and everybody stops. No arguing.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Wheels up, and the power switch</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Rectangle 5"/>
          <p:cNvSpPr/>
          <p:nvPr/>
        </p:nvSpPr>
        <p:spPr>
          <a:xfrm>
            <a:off x="502920" y="1188720"/>
            <a:ext cx="5410047" cy="429768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a vehicle on its wheels-up stand</a:t>
            </a:r>
          </a:p>
          <a:p>
            <a:pPr algn="ctr">
              <a:lnSpc>
                <a:spcPct val="100000"/>
              </a:lnSpc>
              <a:spcAft>
                <a:spcPts val="700"/>
              </a:spcAft>
              <a:defRPr sz="1600" b="0">
                <a:solidFill>
                  <a:srgbClr val="0E7C86"/>
                </a:solidFill>
                <a:latin typeface="Calibri"/>
              </a:defRPr>
            </a:pPr>
            <a:r>
              <a:rPr sz="1600" b="0">
                <a:solidFill>
                  <a:srgbClr val="0E7C86"/>
                </a:solidFill>
                <a:latin typeface="Calibri"/>
              </a:rPr>
              <a:t>A block or small box under the frame, all four wheels clear of the table. Shoot it from the side so the gap under the wheels shows</a:t>
            </a:r>
          </a:p>
        </p:txBody>
      </p:sp>
      <p:sp>
        <p:nvSpPr>
          <p:cNvPr id="7" name="TextBox 6"/>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Wheels up = all four wheels in the air</a:t>
            </a:r>
          </a:p>
        </p:txBody>
      </p:sp>
      <p:sp>
        <p:nvSpPr>
          <p:cNvPr id="8" name="Rectangle 7"/>
          <p:cNvSpPr/>
          <p:nvPr/>
        </p:nvSpPr>
        <p:spPr>
          <a:xfrm>
            <a:off x="6278727" y="1188720"/>
            <a:ext cx="5410047" cy="429768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the vehicle's power switch, close up</a:t>
            </a:r>
          </a:p>
          <a:p>
            <a:pPr algn="ctr">
              <a:lnSpc>
                <a:spcPct val="100000"/>
              </a:lnSpc>
              <a:spcAft>
                <a:spcPts val="700"/>
              </a:spcAft>
              <a:defRPr sz="1600" b="0">
                <a:solidFill>
                  <a:srgbClr val="0E7C86"/>
                </a:solidFill>
                <a:latin typeface="Calibri"/>
              </a:defRPr>
            </a:pPr>
            <a:r>
              <a:rPr sz="1600" b="0">
                <a:solidFill>
                  <a:srgbClr val="0E7C86"/>
                </a:solidFill>
                <a:latin typeface="Calibri"/>
              </a:rPr>
              <a:t>Show which way is ON. Add an arrow if the switch is not marked</a:t>
            </a:r>
          </a:p>
        </p:txBody>
      </p:sp>
      <p:sp>
        <p:nvSpPr>
          <p:cNvPr id="9" name="TextBox 8"/>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Crew Chiefs: know where this 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First drive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is a robot?</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Meet Pathfinder</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Explorer Code</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9002037"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First drive</a:t>
            </a:r>
          </a:p>
        </p:txBody>
      </p:sp>
      <p:sp>
        <p:nvSpPr>
          <p:cNvPr id="14" name="TextBox 13"/>
          <p:cNvSpPr txBox="1"/>
          <p:nvPr/>
        </p:nvSpPr>
        <p:spPr>
          <a:xfrm>
            <a:off x="9002037"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Today's driving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Rectangle 5"/>
          <p:cNvSpPr/>
          <p:nvPr/>
        </p:nvSpPr>
        <p:spPr>
          <a:xfrm>
            <a:off x="594360" y="1417320"/>
            <a:ext cx="7589520" cy="3749039"/>
          </a:xfrm>
          <a:prstGeom prst="rect">
            <a:avLst/>
          </a:prstGeom>
          <a:solidFill>
            <a:srgbClr val="FFFFFF"/>
          </a:solidFill>
          <a:ln w="381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7" name="Rounded Rectangle 6"/>
          <p:cNvSpPr/>
          <p:nvPr/>
        </p:nvSpPr>
        <p:spPr>
          <a:xfrm>
            <a:off x="822960" y="4023359"/>
            <a:ext cx="1280160" cy="914400"/>
          </a:xfrm>
          <a:prstGeom prst="roundRect">
            <a:avLst>
              <a:gd name="adj" fmla="val 12000"/>
            </a:avLst>
          </a:prstGeom>
          <a:solidFill>
            <a:srgbClr val="D8F0D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000" b="1">
                <a:solidFill>
                  <a:srgbClr val="1F3A5F"/>
                </a:solidFill>
                <a:latin typeface="Calibri"/>
              </a:defRPr>
            </a:pPr>
            <a:r>
              <a:rPr sz="2000" b="1">
                <a:solidFill>
                  <a:srgbClr val="1F3A5F"/>
                </a:solidFill>
                <a:latin typeface="Calibri"/>
              </a:rPr>
              <a:t>START</a:t>
            </a:r>
          </a:p>
        </p:txBody>
      </p:sp>
      <p:sp>
        <p:nvSpPr>
          <p:cNvPr id="8" name="Oval 7"/>
          <p:cNvSpPr/>
          <p:nvPr/>
        </p:nvSpPr>
        <p:spPr>
          <a:xfrm>
            <a:off x="2880360" y="2834640"/>
            <a:ext cx="384048" cy="384048"/>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9" name="Oval 8"/>
          <p:cNvSpPr/>
          <p:nvPr/>
        </p:nvSpPr>
        <p:spPr>
          <a:xfrm>
            <a:off x="3840480" y="2834640"/>
            <a:ext cx="384048" cy="384048"/>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0" name="Oval 9"/>
          <p:cNvSpPr/>
          <p:nvPr/>
        </p:nvSpPr>
        <p:spPr>
          <a:xfrm>
            <a:off x="4800600" y="2834640"/>
            <a:ext cx="384048" cy="384048"/>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1" name="Oval 10"/>
          <p:cNvSpPr/>
          <p:nvPr/>
        </p:nvSpPr>
        <p:spPr>
          <a:xfrm>
            <a:off x="5760720" y="2834640"/>
            <a:ext cx="384048" cy="384048"/>
          </a:xfrm>
          <a:prstGeom prst="ellips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2" name="Rounded Rectangle 11"/>
          <p:cNvSpPr/>
          <p:nvPr/>
        </p:nvSpPr>
        <p:spPr>
          <a:xfrm>
            <a:off x="6766560" y="2514600"/>
            <a:ext cx="1234440" cy="1051560"/>
          </a:xfrm>
          <a:prstGeom prst="roundRect">
            <a:avLst>
              <a:gd name="adj" fmla="val 12000"/>
            </a:avLst>
          </a:prstGeom>
          <a:solidFill>
            <a:srgbClr val="FFFFFF"/>
          </a:solidFill>
          <a:ln w="317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000" b="1">
                <a:solidFill>
                  <a:srgbClr val="0E7C86"/>
                </a:solidFill>
                <a:latin typeface="Calibri"/>
              </a:defRPr>
            </a:pPr>
            <a:r>
              <a:rPr sz="2000" b="1">
                <a:solidFill>
                  <a:srgbClr val="0E7C86"/>
                </a:solidFill>
                <a:latin typeface="Calibri"/>
              </a:rPr>
              <a:t>GARAGE</a:t>
            </a:r>
          </a:p>
        </p:txBody>
      </p:sp>
      <p:cxnSp>
        <p:nvCxnSpPr>
          <p:cNvPr id="13" name="Connector 12"/>
          <p:cNvCxnSpPr/>
          <p:nvPr/>
        </p:nvCxnSpPr>
        <p:spPr>
          <a:xfrm flipV="1">
            <a:off x="2103120" y="2423160"/>
            <a:ext cx="969264" cy="1874519"/>
          </a:xfrm>
          <a:prstGeom prst="line">
            <a:avLst/>
          </a:prstGeom>
          <a:ln w="31750">
            <a:solidFill>
              <a:srgbClr val="0E7C86"/>
            </a:solidFill>
            <a:prstDash val="dash"/>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72384" y="2423160"/>
            <a:ext cx="960120" cy="1188720"/>
          </a:xfrm>
          <a:prstGeom prst="line">
            <a:avLst/>
          </a:prstGeom>
          <a:ln w="31750">
            <a:solidFill>
              <a:srgbClr val="0E7C86"/>
            </a:solidFill>
            <a:prstDash val="dash"/>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032504" y="2423160"/>
            <a:ext cx="960120" cy="1188720"/>
          </a:xfrm>
          <a:prstGeom prst="line">
            <a:avLst/>
          </a:prstGeom>
          <a:ln w="31750">
            <a:solidFill>
              <a:srgbClr val="0E7C86"/>
            </a:solidFill>
            <a:prstDash val="dash"/>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92624" y="2423160"/>
            <a:ext cx="960120" cy="1188720"/>
          </a:xfrm>
          <a:prstGeom prst="line">
            <a:avLst/>
          </a:prstGeom>
          <a:ln w="31750">
            <a:solidFill>
              <a:srgbClr val="0E7C86"/>
            </a:solidFill>
            <a:prstDash val="dash"/>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952744" y="3017520"/>
            <a:ext cx="813816" cy="594360"/>
          </a:xfrm>
          <a:prstGeom prst="line">
            <a:avLst/>
          </a:prstGeom>
          <a:ln w="31750">
            <a:solidFill>
              <a:srgbClr val="0E7C86"/>
            </a:solidFill>
            <a:prstDash val="dash"/>
            <a:headEnd/>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03920" y="1417320"/>
            <a:ext cx="3184855" cy="460756"/>
          </a:xfrm>
          <a:prstGeom prst="rect">
            <a:avLst/>
          </a:prstGeom>
          <a:noFill/>
        </p:spPr>
        <p:txBody>
          <a:bodyPr wrap="square" lIns="0" tIns="0" rIns="0" bIns="0">
            <a:spAutoFit/>
          </a:bodyPr>
          <a:lstStyle/>
          <a:p>
            <a:pPr algn="l">
              <a:lnSpc>
                <a:spcPct val="100000"/>
              </a:lnSpc>
              <a:spcAft>
                <a:spcPts val="100"/>
              </a:spcAft>
              <a:defRPr sz="2400" b="1">
                <a:solidFill>
                  <a:srgbClr val="0E7C86"/>
                </a:solidFill>
                <a:latin typeface="Calibri"/>
              </a:defRPr>
            </a:pPr>
            <a:r>
              <a:rPr sz="2400" b="1">
                <a:solidFill>
                  <a:srgbClr val="0E7C86"/>
                </a:solidFill>
                <a:latin typeface="Calibri"/>
              </a:rPr>
              <a:t>How to pass</a:t>
            </a:r>
          </a:p>
        </p:txBody>
      </p:sp>
      <p:sp>
        <p:nvSpPr>
          <p:cNvPr id="19" name="TextBox 18"/>
          <p:cNvSpPr txBox="1"/>
          <p:nvPr/>
        </p:nvSpPr>
        <p:spPr>
          <a:xfrm>
            <a:off x="8503920" y="1965960"/>
            <a:ext cx="3184855" cy="2773680"/>
          </a:xfrm>
          <a:prstGeom prst="rect">
            <a:avLst/>
          </a:prstGeom>
          <a:noFill/>
        </p:spPr>
        <p:txBody>
          <a:bodyPr wrap="square" lIns="0" tIns="0" rIns="0" bIns="0">
            <a:spAutoFit/>
          </a:bodyPr>
          <a:lstStyle/>
          <a:p>
            <a:pPr algn="l">
              <a:lnSpc>
                <a:spcPct val="100000"/>
              </a:lnSpc>
              <a:spcAft>
                <a:spcPts val="100"/>
              </a:spcAft>
              <a:defRPr sz="2000" b="0">
                <a:solidFill>
                  <a:srgbClr val="222222"/>
                </a:solidFill>
                <a:latin typeface="Calibri"/>
              </a:defRPr>
            </a:pPr>
            <a:r>
              <a:rPr sz="2000" b="0">
                <a:solidFill>
                  <a:srgbClr val="222222"/>
                </a:solidFill>
                <a:latin typeface="Calibri"/>
              </a:rPr>
              <a:t>1.  Weave through the cups</a:t>
            </a:r>
          </a:p>
          <a:p>
            <a:pPr algn="l">
              <a:lnSpc>
                <a:spcPct val="100000"/>
              </a:lnSpc>
              <a:spcAft>
                <a:spcPts val="100"/>
              </a:spcAft>
              <a:defRPr sz="2000" b="0">
                <a:solidFill>
                  <a:srgbClr val="222222"/>
                </a:solidFill>
                <a:latin typeface="Calibri"/>
              </a:defRPr>
            </a:pPr>
            <a:r>
              <a:rPr sz="2000" b="0">
                <a:solidFill>
                  <a:srgbClr val="222222"/>
                </a:solidFill>
                <a:latin typeface="Calibri"/>
              </a:rPr>
              <a:t>2.  Park in the garage - all four wheels inside</a:t>
            </a:r>
          </a:p>
          <a:p>
            <a:pPr algn="l">
              <a:lnSpc>
                <a:spcPct val="100000"/>
              </a:lnSpc>
              <a:spcAft>
                <a:spcPts val="100"/>
              </a:spcAft>
              <a:defRPr sz="2000" b="0">
                <a:solidFill>
                  <a:srgbClr val="222222"/>
                </a:solidFill>
                <a:latin typeface="Calibri"/>
              </a:defRPr>
            </a:pPr>
            <a:r>
              <a:rPr sz="2000" b="0">
                <a:solidFill>
                  <a:srgbClr val="222222"/>
                </a:solidFill>
                <a:latin typeface="Calibri"/>
              </a:rPr>
              <a:t>3.  Back out and drive home to START</a:t>
            </a:r>
          </a:p>
          <a:p>
            <a:pPr algn="l">
              <a:lnSpc>
                <a:spcPct val="100000"/>
              </a:lnSpc>
              <a:spcAft>
                <a:spcPts val="100"/>
              </a:spcAft>
              <a:defRPr sz="1000" b="0">
                <a:solidFill>
                  <a:srgbClr val="222222"/>
                </a:solidFill>
                <a:latin typeface="Calibri"/>
              </a:defRPr>
            </a:pPr>
          </a:p>
          <a:p>
            <a:pPr algn="l">
              <a:lnSpc>
                <a:spcPct val="100000"/>
              </a:lnSpc>
              <a:spcAft>
                <a:spcPts val="100"/>
              </a:spcAft>
              <a:defRPr sz="2000" b="0">
                <a:solidFill>
                  <a:srgbClr val="222222"/>
                </a:solidFill>
                <a:latin typeface="Calibri"/>
              </a:defRPr>
            </a:pPr>
            <a:r>
              <a:rPr sz="2000" b="0">
                <a:solidFill>
                  <a:srgbClr val="222222"/>
                </a:solidFill>
                <a:latin typeface="Calibri"/>
              </a:rPr>
              <a:t>Knock over a cup? Go back to START and try again.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arena</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Rectangle 5"/>
          <p:cNvSpPr/>
          <p:nvPr/>
        </p:nvSpPr>
        <p:spPr>
          <a:xfrm>
            <a:off x="502920" y="1188720"/>
            <a:ext cx="11185855" cy="434340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the driving arena on the classroom floor</a:t>
            </a:r>
          </a:p>
          <a:p>
            <a:pPr algn="ctr">
              <a:lnSpc>
                <a:spcPct val="100000"/>
              </a:lnSpc>
              <a:spcAft>
                <a:spcPts val="700"/>
              </a:spcAft>
              <a:defRPr sz="1600" b="0">
                <a:solidFill>
                  <a:srgbClr val="0E7C86"/>
                </a:solidFill>
                <a:latin typeface="Calibri"/>
              </a:defRPr>
            </a:pPr>
            <a:r>
              <a:rPr sz="1600" b="0">
                <a:solidFill>
                  <a:srgbClr val="0E7C86"/>
                </a:solidFill>
                <a:latin typeface="Calibri"/>
              </a:rPr>
              <a:t>Masking-tape rectangle, four cups, the START box and the GARAGE, taken from a chair so the whole course is in the frame</a:t>
            </a:r>
          </a:p>
        </p:txBody>
      </p:sp>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Drive inside the tape. Wait your turn behind the 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First drive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e01a_learner_drive</a:t>
            </a:r>
            <a:r>
              <a:rPr sz="1200">
                <a:solidFill>
                  <a:srgbClr val="FFFFFF"/>
                </a:solidFill>
                <a:latin typeface="Calibri"/>
              </a:rPr>
              <a:t>     (20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Crew Chief: vehicle on the floor at START. Power ON. The lights blink GREEN.</a:t>
            </a:r>
          </a:p>
          <a:p>
            <a:pPr algn="l">
              <a:lnSpc>
                <a:spcPct val="100000"/>
              </a:lnSpc>
              <a:spcAft>
                <a:spcPts val="800"/>
              </a:spcAft>
              <a:defRPr sz="2100" b="0">
                <a:solidFill>
                  <a:srgbClr val="222222"/>
                </a:solidFill>
                <a:latin typeface="Calibri"/>
              </a:defRPr>
            </a:pPr>
            <a:r>
              <a:rPr sz="2100" b="0">
                <a:solidFill>
                  <a:srgbClr val="222222"/>
                </a:solidFill>
                <a:latin typeface="Calibri"/>
              </a:rPr>
              <a:t>Pilot: press any button on YOUR controller. The blinking stops - you're connected!</a:t>
            </a:r>
          </a:p>
          <a:p>
            <a:pPr algn="l">
              <a:lnSpc>
                <a:spcPct val="100000"/>
              </a:lnSpc>
              <a:spcAft>
                <a:spcPts val="800"/>
              </a:spcAft>
              <a:defRPr sz="2100" b="0">
                <a:solidFill>
                  <a:srgbClr val="222222"/>
                </a:solidFill>
                <a:latin typeface="Calibri"/>
              </a:defRPr>
            </a:pPr>
            <a:r>
              <a:rPr sz="2100" b="0">
                <a:solidFill>
                  <a:srgbClr val="222222"/>
                </a:solidFill>
                <a:latin typeface="Calibri"/>
              </a:rPr>
              <a:t>Weave through the cups. Park in the garage. Back out. Drive home.</a:t>
            </a:r>
          </a:p>
          <a:p>
            <a:pPr algn="l">
              <a:lnSpc>
                <a:spcPct val="100000"/>
              </a:lnSpc>
              <a:spcAft>
                <a:spcPts val="800"/>
              </a:spcAft>
              <a:defRPr sz="2100" b="0">
                <a:solidFill>
                  <a:srgbClr val="222222"/>
                </a:solidFill>
                <a:latin typeface="Calibri"/>
              </a:defRPr>
            </a:pPr>
            <a:r>
              <a:rPr sz="2100" b="0">
                <a:solidFill>
                  <a:srgbClr val="222222"/>
                </a:solidFill>
                <a:latin typeface="Calibri"/>
              </a:rPr>
              <a:t>Switch jobs. Everybody drives at least twice.</a:t>
            </a:r>
          </a:p>
          <a:p>
            <a:pPr algn="l">
              <a:lnSpc>
                <a:spcPct val="100000"/>
              </a:lnSpc>
              <a:spcAft>
                <a:spcPts val="800"/>
              </a:spcAft>
              <a:defRPr sz="2100" b="0">
                <a:solidFill>
                  <a:srgbClr val="222222"/>
                </a:solidFill>
                <a:latin typeface="Calibri"/>
              </a:defRPr>
            </a:pPr>
            <a:r>
              <a:rPr sz="2100" b="0">
                <a:solidFill>
                  <a:srgbClr val="222222"/>
                </a:solidFill>
                <a:latin typeface="Calibri"/>
              </a:rPr>
              <a:t>LEVEL 2: hold A. Tap Y. Tap X. What happens?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80164"/>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White headlights at the front</a:t>
            </a:r>
          </a:p>
          <a:p>
            <a:pPr algn="l">
              <a:lnSpc>
                <a:spcPct val="100000"/>
              </a:lnSpc>
              <a:spcAft>
                <a:spcPts val="300"/>
              </a:spcAft>
              <a:defRPr sz="1900" b="0">
                <a:solidFill>
                  <a:srgbClr val="222222"/>
                </a:solidFill>
                <a:latin typeface="Calibri"/>
              </a:defRPr>
            </a:pPr>
            <a:r>
              <a:rPr sz="1900" b="0">
                <a:solidFill>
                  <a:srgbClr val="222222"/>
                </a:solidFill>
                <a:latin typeface="Calibri"/>
              </a:rPr>
              <a:t>Red brake lights when you stop</a:t>
            </a:r>
          </a:p>
          <a:p>
            <a:pPr algn="l">
              <a:lnSpc>
                <a:spcPct val="100000"/>
              </a:lnSpc>
              <a:spcAft>
                <a:spcPts val="300"/>
              </a:spcAft>
              <a:defRPr sz="1900" b="0">
                <a:solidFill>
                  <a:srgbClr val="222222"/>
                </a:solidFill>
                <a:latin typeface="Calibri"/>
              </a:defRPr>
            </a:pPr>
            <a:r>
              <a:rPr sz="1900" b="0">
                <a:solidFill>
                  <a:srgbClr val="222222"/>
                </a:solidFill>
                <a:latin typeface="Calibri"/>
              </a:rPr>
              <a:t>Orange blinking on the side you turn toward</a:t>
            </a:r>
          </a:p>
        </p:txBody>
      </p:sp>
      <p:sp>
        <p:nvSpPr>
          <p:cNvPr id="10" name="TextBox 9"/>
          <p:cNvSpPr txBox="1"/>
          <p:nvPr/>
        </p:nvSpPr>
        <p:spPr>
          <a:xfrm>
            <a:off x="7163537" y="3757604"/>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159940"/>
            <a:ext cx="4525238" cy="1015563"/>
          </a:xfrm>
          <a:prstGeom prst="rect">
            <a:avLst/>
          </a:prstGeom>
          <a:noFill/>
        </p:spPr>
        <p:txBody>
          <a:bodyPr wrap="square" lIns="0" tIns="0" rIns="0" bIns="0">
            <a:spAutoFit/>
          </a:bodyPr>
          <a:lstStyle/>
          <a:p>
            <a:pPr algn="l">
              <a:lnSpc>
                <a:spcPct val="100000"/>
              </a:lnSpc>
              <a:spcAft>
                <a:spcPts val="300"/>
              </a:spcAft>
              <a:defRPr sz="1800" b="0">
                <a:solidFill>
                  <a:srgbClr val="222222"/>
                </a:solidFill>
                <a:latin typeface="Calibri"/>
              </a:defRPr>
            </a:pPr>
            <a:r>
              <a:rPr sz="1800" b="0">
                <a:solidFill>
                  <a:srgbClr val="222222"/>
                </a:solidFill>
                <a:latin typeface="Calibri"/>
              </a:rPr>
              <a:t>Which way do you push to turn right?</a:t>
            </a:r>
          </a:p>
          <a:p>
            <a:pPr algn="l">
              <a:lnSpc>
                <a:spcPct val="100000"/>
              </a:lnSpc>
              <a:spcAft>
                <a:spcPts val="300"/>
              </a:spcAft>
              <a:defRPr sz="1800" b="0">
                <a:solidFill>
                  <a:srgbClr val="222222"/>
                </a:solidFill>
                <a:latin typeface="Calibri"/>
              </a:defRPr>
            </a:pPr>
            <a:r>
              <a:rPr sz="1800" b="0">
                <a:solidFill>
                  <a:srgbClr val="222222"/>
                </a:solidFill>
                <a:latin typeface="Calibri"/>
              </a:rPr>
              <a:t>What do the back lights do when you back up?</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If anything goes wrong, LET GO of the stick. The vehicle stops.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one line to look at today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e01a_learner_drive.ino, line 28</a:t>
            </a:r>
          </a:p>
        </p:txBody>
      </p:sp>
      <p:sp>
        <p:nvSpPr>
          <p:cNvPr id="7" name="CODE_PANEL"/>
          <p:cNvSpPr/>
          <p:nvPr/>
        </p:nvSpPr>
        <p:spPr>
          <a:xfrm>
            <a:off x="502920" y="1517904"/>
            <a:ext cx="11185855"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950">
                <a:latin typeface="Consolas"/>
              </a:defRPr>
            </a:pPr>
            <a:r>
              <a:rPr sz="1950">
                <a:solidFill>
                  <a:srgbClr val="666666"/>
                </a:solidFill>
                <a:latin typeface="Consolas"/>
              </a:rPr>
              <a:t>// ===== SETTINGS =====</a:t>
            </a:r>
          </a:p>
          <a:p>
            <a:pPr algn="l">
              <a:lnSpc>
                <a:spcPct val="100000"/>
              </a:lnSpc>
              <a:spcAft>
                <a:spcPts val="0"/>
              </a:spcAft>
              <a:defRPr sz="1950">
                <a:latin typeface="Consolas"/>
              </a:defRPr>
            </a:pPr>
            <a:r>
              <a:rPr sz="1950">
                <a:solidFill>
                  <a:srgbClr val="222222"/>
                </a:solidFill>
                <a:latin typeface="Consolas"/>
              </a:rPr>
              <a:t>const int SPEED_LIMIT = 50;   // LEARNER 50  -  LICENSED 75  -  EXPERT 100</a:t>
            </a:r>
          </a:p>
          <a:p>
            <a:pPr algn="l">
              <a:lnSpc>
                <a:spcPct val="100000"/>
              </a:lnSpc>
              <a:spcAft>
                <a:spcPts val="0"/>
              </a:spcAft>
              <a:defRPr sz="1950">
                <a:latin typeface="Consolas"/>
              </a:defRPr>
            </a:pPr>
            <a:r>
              <a:rPr sz="1950">
                <a:solidFill>
                  <a:srgbClr val="222222"/>
                </a:solidFill>
                <a:latin typeface="Consolas"/>
              </a:rPr>
              <a:t>const int WOBBLE_ZONE = 10;   // Stick numbers smaller than this count as zero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driver's license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graphicFrame>
        <p:nvGraphicFramePr>
          <p:cNvPr id="6" name="Table 5"/>
          <p:cNvGraphicFramePr>
            <a:graphicFrameLocks noGrp="1"/>
          </p:cNvGraphicFramePr>
          <p:nvPr/>
        </p:nvGraphicFramePr>
        <p:xfrm>
          <a:off x="502920" y="1188720"/>
          <a:ext cx="11185854" cy="3638550"/>
        </p:xfrm>
        <a:graphic>
          <a:graphicData uri="http://schemas.openxmlformats.org/drawingml/2006/table">
            <a:tbl>
              <a:tblPr firstRow="1" bandRow="1">
                <a:tableStyleId>{5C22544A-7EE6-4342-B048-85BDC9FD1C3A}</a:tableStyleId>
              </a:tblPr>
              <a:tblGrid>
                <a:gridCol w="2577650"/>
                <a:gridCol w="2273300"/>
                <a:gridCol w="6334904"/>
              </a:tblGrid>
              <a:tr h="909637">
                <a:tc>
                  <a:txBody>
                    <a:bodyPr/>
                    <a:lstStyle/>
                    <a:p>
                      <a:r>
                        <a:rPr sz="3000" b="1">
                          <a:solidFill>
                            <a:srgbClr val="FFFFFF"/>
                          </a:solidFill>
                          <a:latin typeface="Calibri"/>
                        </a:rPr>
                        <a:t>License</a:t>
                      </a:r>
                    </a:p>
                  </a:txBody>
                  <a:tcPr marL="73152" marT="18288" marB="18288">
                    <a:solidFill>
                      <a:srgbClr val="1F3A5F"/>
                    </a:solidFill>
                  </a:tcPr>
                </a:tc>
                <a:tc>
                  <a:txBody>
                    <a:bodyPr/>
                    <a:lstStyle/>
                    <a:p>
                      <a:r>
                        <a:rPr sz="3000" b="1">
                          <a:solidFill>
                            <a:srgbClr val="FFFFFF"/>
                          </a:solidFill>
                          <a:latin typeface="Calibri"/>
                        </a:rPr>
                        <a:t>SPEED_LIMIT</a:t>
                      </a:r>
                    </a:p>
                  </a:txBody>
                  <a:tcPr marL="73152" marT="18288" marB="18288">
                    <a:solidFill>
                      <a:srgbClr val="1F3A5F"/>
                    </a:solidFill>
                  </a:tcPr>
                </a:tc>
                <a:tc>
                  <a:txBody>
                    <a:bodyPr/>
                    <a:lstStyle/>
                    <a:p>
                      <a:r>
                        <a:rPr sz="3000" b="1">
                          <a:solidFill>
                            <a:srgbClr val="FFFFFF"/>
                          </a:solidFill>
                          <a:latin typeface="Calibri"/>
                        </a:rPr>
                        <a:t>How you earn it</a:t>
                      </a:r>
                    </a:p>
                  </a:txBody>
                  <a:tcPr marL="73152" marT="18288" marB="18288">
                    <a:solidFill>
                      <a:srgbClr val="1F3A5F"/>
                    </a:solidFill>
                  </a:tcPr>
                </a:tc>
              </a:tr>
              <a:tr h="909637">
                <a:tc>
                  <a:txBody>
                    <a:bodyPr/>
                    <a:lstStyle/>
                    <a:p>
                      <a:r>
                        <a:rPr sz="3000">
                          <a:solidFill>
                            <a:srgbClr val="222222"/>
                          </a:solidFill>
                          <a:latin typeface="Calibri"/>
                        </a:rPr>
                        <a:t>Learner Permit</a:t>
                      </a:r>
                    </a:p>
                  </a:txBody>
                  <a:tcPr marL="73152" marT="18288" marB="18288">
                    <a:solidFill>
                      <a:srgbClr val="FFFFFF"/>
                    </a:solidFill>
                  </a:tcPr>
                </a:tc>
                <a:tc>
                  <a:txBody>
                    <a:bodyPr/>
                    <a:lstStyle/>
                    <a:p>
                      <a:r>
                        <a:rPr sz="3000">
                          <a:solidFill>
                            <a:srgbClr val="222222"/>
                          </a:solidFill>
                          <a:latin typeface="Calibri"/>
                        </a:rPr>
                        <a:t>50</a:t>
                      </a:r>
                    </a:p>
                  </a:txBody>
                  <a:tcPr marL="73152" marT="18288" marB="18288">
                    <a:solidFill>
                      <a:srgbClr val="FFFFFF"/>
                    </a:solidFill>
                  </a:tcPr>
                </a:tc>
                <a:tc>
                  <a:txBody>
                    <a:bodyPr/>
                    <a:lstStyle/>
                    <a:p>
                      <a:r>
                        <a:rPr sz="3000">
                          <a:solidFill>
                            <a:srgbClr val="222222"/>
                          </a:solidFill>
                          <a:latin typeface="Calibri"/>
                        </a:rPr>
                        <a:t>Lesson 1: know the Explorer Code and finish the driving course</a:t>
                      </a:r>
                    </a:p>
                  </a:txBody>
                  <a:tcPr marL="73152" marT="18288" marB="18288">
                    <a:solidFill>
                      <a:srgbClr val="FFFFFF"/>
                    </a:solidFill>
                  </a:tcPr>
                </a:tc>
              </a:tr>
              <a:tr h="909637">
                <a:tc>
                  <a:txBody>
                    <a:bodyPr/>
                    <a:lstStyle/>
                    <a:p>
                      <a:r>
                        <a:rPr sz="3000">
                          <a:solidFill>
                            <a:srgbClr val="222222"/>
                          </a:solidFill>
                          <a:latin typeface="Calibri"/>
                        </a:rPr>
                        <a:t>Driver's License</a:t>
                      </a:r>
                    </a:p>
                  </a:txBody>
                  <a:tcPr marL="73152" marT="18288" marB="18288">
                    <a:solidFill>
                      <a:srgbClr val="EEF3F8"/>
                    </a:solidFill>
                  </a:tcPr>
                </a:tc>
                <a:tc>
                  <a:txBody>
                    <a:bodyPr/>
                    <a:lstStyle/>
                    <a:p>
                      <a:r>
                        <a:rPr sz="3000">
                          <a:solidFill>
                            <a:srgbClr val="222222"/>
                          </a:solidFill>
                          <a:latin typeface="Calibri"/>
                        </a:rPr>
                        <a:t>75</a:t>
                      </a:r>
                    </a:p>
                  </a:txBody>
                  <a:tcPr marL="73152" marT="18288" marB="18288">
                    <a:solidFill>
                      <a:srgbClr val="EEF3F8"/>
                    </a:solidFill>
                  </a:tcPr>
                </a:tc>
                <a:tc>
                  <a:txBody>
                    <a:bodyPr/>
                    <a:lstStyle/>
                    <a:p>
                      <a:r>
                        <a:rPr sz="3000">
                          <a:solidFill>
                            <a:srgbClr val="222222"/>
                          </a:solidFill>
                          <a:latin typeface="Calibri"/>
                        </a:rPr>
                        <a:t>Lesson 9: pass the driving test - no cups knocked over</a:t>
                      </a:r>
                    </a:p>
                  </a:txBody>
                  <a:tcPr marL="73152" marT="18288" marB="18288">
                    <a:solidFill>
                      <a:srgbClr val="EEF3F8"/>
                    </a:solidFill>
                  </a:tcPr>
                </a:tc>
              </a:tr>
              <a:tr h="909639">
                <a:tc>
                  <a:txBody>
                    <a:bodyPr/>
                    <a:lstStyle/>
                    <a:p>
                      <a:r>
                        <a:rPr sz="3000">
                          <a:solidFill>
                            <a:srgbClr val="222222"/>
                          </a:solidFill>
                          <a:latin typeface="Calibri"/>
                        </a:rPr>
                        <a:t>Expert License</a:t>
                      </a:r>
                    </a:p>
                  </a:txBody>
                  <a:tcPr marL="73152" marT="18288" marB="18288">
                    <a:solidFill>
                      <a:srgbClr val="FFFFFF"/>
                    </a:solidFill>
                  </a:tcPr>
                </a:tc>
                <a:tc>
                  <a:txBody>
                    <a:bodyPr/>
                    <a:lstStyle/>
                    <a:p>
                      <a:r>
                        <a:rPr sz="3000">
                          <a:solidFill>
                            <a:srgbClr val="222222"/>
                          </a:solidFill>
                          <a:latin typeface="Calibri"/>
                        </a:rPr>
                        <a:t>100</a:t>
                      </a:r>
                    </a:p>
                  </a:txBody>
                  <a:tcPr marL="73152" marT="18288" marB="18288">
                    <a:solidFill>
                      <a:srgbClr val="FFFFFF"/>
                    </a:solidFill>
                  </a:tcPr>
                </a:tc>
                <a:tc>
                  <a:txBody>
                    <a:bodyPr/>
                    <a:lstStyle/>
                    <a:p>
                      <a:r>
                        <a:rPr sz="3000">
                          <a:solidFill>
                            <a:srgbClr val="222222"/>
                          </a:solidFill>
                          <a:latin typeface="Calibri"/>
                        </a:rPr>
                        <a:t>Lesson 10 or later: the test course at 75, signaling every turn</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Speed is something you EARN, and your teacher decides. 100 means full power - it is FAST.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Talk it over with your team, then we'll share.</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400"/>
              </a:spcAft>
              <a:defRPr sz="3000" b="0">
                <a:solidFill>
                  <a:srgbClr val="222222"/>
                </a:solidFill>
                <a:latin typeface="Calibri"/>
              </a:defRPr>
            </a:pPr>
            <a:r>
              <a:rPr sz="3000" b="0">
                <a:solidFill>
                  <a:srgbClr val="222222"/>
                </a:solidFill>
                <a:latin typeface="Calibri"/>
              </a:rPr>
              <a:t>1.  What are the three things every robot does?</a:t>
            </a:r>
          </a:p>
          <a:p>
            <a:pPr algn="l">
              <a:lnSpc>
                <a:spcPct val="100000"/>
              </a:lnSpc>
              <a:spcAft>
                <a:spcPts val="1400"/>
              </a:spcAft>
              <a:defRPr sz="3000" b="0">
                <a:solidFill>
                  <a:srgbClr val="222222"/>
                </a:solidFill>
                <a:latin typeface="Calibri"/>
              </a:defRPr>
            </a:pPr>
            <a:r>
              <a:rPr sz="3000" b="0">
                <a:solidFill>
                  <a:srgbClr val="222222"/>
                </a:solidFill>
                <a:latin typeface="Calibri"/>
              </a:rPr>
              <a:t>2.  Which part of Pathfinder is its brain?</a:t>
            </a:r>
          </a:p>
          <a:p>
            <a:pPr algn="l">
              <a:lnSpc>
                <a:spcPct val="100000"/>
              </a:lnSpc>
              <a:spcAft>
                <a:spcPts val="1400"/>
              </a:spcAft>
              <a:defRPr sz="3000" b="0">
                <a:solidFill>
                  <a:srgbClr val="222222"/>
                </a:solidFill>
                <a:latin typeface="Calibri"/>
              </a:defRPr>
            </a:pPr>
            <a:r>
              <a:rPr sz="3000" b="0">
                <a:solidFill>
                  <a:srgbClr val="222222"/>
                </a:solidFill>
                <a:latin typeface="Calibri"/>
              </a:rPr>
              <a:t>3.  When must the vehicle be WHEELS UP?</a:t>
            </a:r>
          </a:p>
          <a:p>
            <a:pPr algn="l">
              <a:lnSpc>
                <a:spcPct val="100000"/>
              </a:lnSpc>
              <a:spcAft>
                <a:spcPts val="1400"/>
              </a:spcAft>
              <a:defRPr sz="3000" b="0">
                <a:solidFill>
                  <a:srgbClr val="222222"/>
                </a:solidFill>
                <a:latin typeface="Calibri"/>
              </a:defRPr>
            </a:pPr>
            <a:r>
              <a:rPr sz="3000" b="0">
                <a:solidFill>
                  <a:srgbClr val="222222"/>
                </a:solidFill>
                <a:latin typeface="Calibri"/>
              </a:rPr>
              <a:t>4.  Who is allowed to touch the batteries?</a:t>
            </a:r>
          </a:p>
          <a:p>
            <a:pPr algn="l">
              <a:lnSpc>
                <a:spcPct val="100000"/>
              </a:lnSpc>
              <a:spcAft>
                <a:spcPts val="1400"/>
              </a:spcAft>
              <a:defRPr sz="3000" b="0">
                <a:solidFill>
                  <a:srgbClr val="222222"/>
                </a:solidFill>
                <a:latin typeface="Calibri"/>
              </a:defRPr>
            </a:pPr>
            <a:r>
              <a:rPr sz="3000" b="0">
                <a:solidFill>
                  <a:srgbClr val="222222"/>
                </a:solidFill>
                <a:latin typeface="Calibri"/>
              </a:rPr>
              <a:t>5.  Something smells hot. What do you 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Log, then pack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1</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TextBox 5"/>
          <p:cNvSpPr txBox="1"/>
          <p:nvPr/>
        </p:nvSpPr>
        <p:spPr>
          <a:xfrm>
            <a:off x="502920" y="1188720"/>
            <a:ext cx="4868617"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In your Mission Log</a:t>
            </a:r>
          </a:p>
        </p:txBody>
      </p:sp>
      <p:sp>
        <p:nvSpPr>
          <p:cNvPr id="7" name="TextBox 6"/>
          <p:cNvSpPr txBox="1"/>
          <p:nvPr/>
        </p:nvSpPr>
        <p:spPr>
          <a:xfrm>
            <a:off x="502920" y="1700784"/>
            <a:ext cx="4868617" cy="3474720"/>
          </a:xfrm>
          <a:prstGeom prst="rect">
            <a:avLst/>
          </a:prstGeom>
          <a:noFill/>
        </p:spPr>
        <p:txBody>
          <a:bodyPr wrap="square" lIns="0" tIns="0" rIns="0" bIns="0">
            <a:spAutoFit/>
          </a:bodyPr>
          <a:lstStyle/>
          <a:p>
            <a:pPr algn="l">
              <a:lnSpc>
                <a:spcPct val="100000"/>
              </a:lnSpc>
              <a:spcAft>
                <a:spcPts val="800"/>
              </a:spcAft>
              <a:defRPr sz="2800" b="0">
                <a:solidFill>
                  <a:srgbClr val="222222"/>
                </a:solidFill>
                <a:latin typeface="Calibri"/>
              </a:defRPr>
            </a:pPr>
            <a:r>
              <a:rPr sz="2800" b="0">
                <a:solidFill>
                  <a:srgbClr val="222222"/>
                </a:solidFill>
                <a:latin typeface="Calibri"/>
              </a:rPr>
              <a:t>Write your team name and draw your vehicle</a:t>
            </a:r>
          </a:p>
          <a:p>
            <a:pPr algn="l">
              <a:lnSpc>
                <a:spcPct val="100000"/>
              </a:lnSpc>
              <a:spcAft>
                <a:spcPts val="800"/>
              </a:spcAft>
              <a:defRPr sz="2800" b="0">
                <a:solidFill>
                  <a:srgbClr val="222222"/>
                </a:solidFill>
                <a:latin typeface="Calibri"/>
              </a:defRPr>
            </a:pPr>
            <a:r>
              <a:rPr sz="2800" b="0">
                <a:solidFill>
                  <a:srgbClr val="222222"/>
                </a:solidFill>
                <a:latin typeface="Calibri"/>
              </a:rPr>
              <a:t>Label the parts</a:t>
            </a:r>
          </a:p>
          <a:p>
            <a:pPr algn="l">
              <a:lnSpc>
                <a:spcPct val="100000"/>
              </a:lnSpc>
              <a:spcAft>
                <a:spcPts val="800"/>
              </a:spcAft>
              <a:defRPr sz="2800" b="0">
                <a:solidFill>
                  <a:srgbClr val="222222"/>
                </a:solidFill>
                <a:latin typeface="Calibri"/>
              </a:defRPr>
            </a:pPr>
            <a:r>
              <a:rPr sz="2800" b="0">
                <a:solidFill>
                  <a:srgbClr val="222222"/>
                </a:solidFill>
                <a:latin typeface="Calibri"/>
              </a:rPr>
              <a:t>Sign the Explorer Code</a:t>
            </a:r>
          </a:p>
          <a:p>
            <a:pPr algn="l">
              <a:lnSpc>
                <a:spcPct val="100000"/>
              </a:lnSpc>
              <a:spcAft>
                <a:spcPts val="800"/>
              </a:spcAft>
              <a:defRPr sz="2800" b="0">
                <a:solidFill>
                  <a:srgbClr val="222222"/>
                </a:solidFill>
                <a:latin typeface="Calibri"/>
              </a:defRPr>
            </a:pPr>
            <a:r>
              <a:rPr sz="2800" b="0">
                <a:solidFill>
                  <a:srgbClr val="222222"/>
                </a:solidFill>
                <a:latin typeface="Calibri"/>
              </a:rPr>
              <a:t>Stamp: Learner Permit</a:t>
            </a:r>
          </a:p>
        </p:txBody>
      </p:sp>
      <p:sp>
        <p:nvSpPr>
          <p:cNvPr id="8" name="TextBox 7"/>
          <p:cNvSpPr txBox="1"/>
          <p:nvPr/>
        </p:nvSpPr>
        <p:spPr>
          <a:xfrm>
            <a:off x="5828737" y="1188720"/>
            <a:ext cx="5860038"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Pack up</a:t>
            </a:r>
          </a:p>
        </p:txBody>
      </p:sp>
      <p:sp>
        <p:nvSpPr>
          <p:cNvPr id="9" name="TextBox 8"/>
          <p:cNvSpPr txBox="1"/>
          <p:nvPr/>
        </p:nvSpPr>
        <p:spPr>
          <a:xfrm>
            <a:off x="5828737" y="1700784"/>
            <a:ext cx="5860038" cy="3474720"/>
          </a:xfrm>
          <a:prstGeom prst="rect">
            <a:avLst/>
          </a:prstGeom>
          <a:noFill/>
        </p:spPr>
        <p:txBody>
          <a:bodyPr wrap="square" lIns="0" tIns="0" rIns="0" bIns="0">
            <a:spAutoFit/>
          </a:bodyPr>
          <a:lstStyle/>
          <a:p>
            <a:pPr algn="l">
              <a:lnSpc>
                <a:spcPct val="100000"/>
              </a:lnSpc>
              <a:spcAft>
                <a:spcPts val="800"/>
              </a:spcAft>
              <a:defRPr sz="2800" b="0">
                <a:solidFill>
                  <a:srgbClr val="222222"/>
                </a:solidFill>
                <a:latin typeface="Calibri"/>
              </a:defRPr>
            </a:pPr>
            <a:r>
              <a:rPr sz="2800" b="0">
                <a:solidFill>
                  <a:srgbClr val="222222"/>
                </a:solidFill>
                <a:latin typeface="Calibri"/>
              </a:rPr>
              <a:t>Crew Chief: vehicle power OFF.</a:t>
            </a:r>
          </a:p>
          <a:p>
            <a:pPr algn="l">
              <a:lnSpc>
                <a:spcPct val="100000"/>
              </a:lnSpc>
              <a:spcAft>
                <a:spcPts val="800"/>
              </a:spcAft>
              <a:defRPr sz="2800" b="0">
                <a:solidFill>
                  <a:srgbClr val="222222"/>
                </a:solidFill>
                <a:latin typeface="Calibri"/>
              </a:defRPr>
            </a:pPr>
            <a:r>
              <a:rPr sz="2800" b="0">
                <a:solidFill>
                  <a:srgbClr val="222222"/>
                </a:solidFill>
                <a:latin typeface="Calibri"/>
              </a:rPr>
              <a:t>Unplug the cable and coil it up.</a:t>
            </a:r>
          </a:p>
          <a:p>
            <a:pPr algn="l">
              <a:lnSpc>
                <a:spcPct val="100000"/>
              </a:lnSpc>
              <a:spcAft>
                <a:spcPts val="800"/>
              </a:spcAft>
              <a:defRPr sz="2800" b="0">
                <a:solidFill>
                  <a:srgbClr val="222222"/>
                </a:solidFill>
                <a:latin typeface="Calibri"/>
              </a:defRPr>
            </a:pPr>
            <a:r>
              <a:rPr sz="2800" b="0">
                <a:solidFill>
                  <a:srgbClr val="222222"/>
                </a:solidFill>
                <a:latin typeface="Calibri"/>
              </a:rPr>
              <a:t>Vehicle and controller back in their spot, stickers matching.</a:t>
            </a:r>
          </a:p>
          <a:p>
            <a:pPr algn="l">
              <a:lnSpc>
                <a:spcPct val="100000"/>
              </a:lnSpc>
              <a:spcAft>
                <a:spcPts val="800"/>
              </a:spcAft>
              <a:defRPr sz="2800" b="0">
                <a:solidFill>
                  <a:srgbClr val="222222"/>
                </a:solidFill>
                <a:latin typeface="Calibri"/>
              </a:defRPr>
            </a:pPr>
            <a:r>
              <a:rPr sz="2800" b="0">
                <a:solidFill>
                  <a:srgbClr val="222222"/>
                </a:solidFill>
                <a:latin typeface="Calibri"/>
              </a:rPr>
              <a:t>Close the laptop. Push your chairs in.</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Last job: every team member says one thing they learned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