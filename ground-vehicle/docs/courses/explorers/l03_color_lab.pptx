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dim room helps today. If you can, turn off half the lights for the color lab - colors on the LEDs are much easier to judge.</a:t>
            </a:r>
          </a:p>
          <a:p>
            <a:r>
              <a:rPr sz="1200">
                <a:latin typeface="Calibri"/>
              </a:rPr>
              <a:t>Have the color prediction page of the Mission Log ready to go. Predicting BEFORE uploading is the whole point of the first activity.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them out. Ask who already knows what red and green light make together. Don't tell them yet.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a Coder from last lesson to explain what setup() and loop() do. Then rotate the jobs.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the agenda on the board as well, with the driving or uploading block circled. Students settle when they can see when the hands-on part starts.</a:t>
            </a:r>
          </a:p>
          <a:p>
            <a:r>
              <a:rPr sz="1200">
                <a:latin typeface="Calibri"/>
              </a:rPr>
              <a:t>The timings are a guide for a one-hour session. If the hands-on block runs long, take the time out of the check yourself questions, never out of the pack-up - a rushed pack-up is how cables and controllers go missing.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If you have a magnifying glass, pass it round with a vehicle - switched off - so they can see the three tiny chips inside one light.</a:t>
            </a:r>
          </a:p>
          <a:p>
            <a:r>
              <a:rPr sz="1200">
                <a:latin typeface="Calibri"/>
              </a:rPr>
              <a:t>A magnifying glass on a phone or tablet screen showing white is an even better demo: they'll see the red, green and blue dots. Kids are amazed by this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Red plus green making yellow is the moment of surprise. Let it land before you explain.</a:t>
            </a:r>
          </a:p>
          <a:p>
            <a:r>
              <a:rPr sz="1200">
                <a:latin typeface="Calibri"/>
              </a:rPr>
              <a:t>Why it happens, for the curious: your eye has three kinds of color sensor, roughly tuned to red, green and blue. Light that tickles the red and green sensors together looks yellow to your brain, even with no yellow light in it at all.</a:t>
            </a:r>
          </a:p>
          <a:p>
            <a:r>
              <a:rPr sz="1200">
                <a:latin typeface="Calibri"/>
              </a:rPr>
              <a:t>Paint works the opposite way: each paint SOAKS UP some colors, so mixing paints takes more colors away and gets darker.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reveal the question marks. They test them on the vehicle in a few minutes.</a:t>
            </a:r>
          </a:p>
          <a:p>
            <a:r>
              <a:rPr sz="1200">
                <a:latin typeface="Calibri"/>
              </a:rPr>
              <a:t>Answers, for you: yellow, cyan (a light blue-green), magenta (a hot pink-purple), white.</a:t>
            </a:r>
          </a:p>
          <a:p>
            <a:r>
              <a:rPr sz="1200">
                <a:latin typeface="Calibri"/>
              </a:rPr>
              <a:t>Why 255? Each number is stored in eight bits, which can count from 0 to 255 - that's 256 steps. Only worth saying to older students who 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16 million: 256 x 256 x 256 = 16,777,216. Older students may enjoy checking it on a calculator.</a:t>
            </a:r>
          </a:p>
          <a:p>
            <a:r>
              <a:rPr sz="1200">
                <a:latin typeface="Calibri"/>
              </a:rPr>
              <a:t>The next slide shows the actual lines in explorer.h where the named colors are mixed.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Have them click the explorer.h tab and find these lines. It demystifies the engine room a little.</a:t>
            </a:r>
          </a:p>
          <a:p>
            <a:r>
              <a:rPr sz="1200">
                <a:latin typeface="Calibri"/>
              </a:rPr>
              <a:t>The yellow point is real engineering: the green chip in these lights is very bright, so full green swamps the red and looks lime. Somebody tuned that number by eye.</a:t>
            </a:r>
          </a:p>
          <a:p>
            <a:r>
              <a:rPr sz="1200">
                <a:latin typeface="Calibri"/>
              </a:rPr>
              <a:t>Remind them: look, but don't change explorer.h.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Point out that myColor and teamColor are VARIABLES: names that hold a value. Make a color once, give it a name, use the name anywhere.</a:t>
            </a:r>
          </a:p>
          <a:p>
            <a:r>
              <a:rPr sz="1200">
                <a:latin typeface="Calibri"/>
              </a:rPr>
              <a:t>The // in front of setBackLights turns that line into a comment, so the computer skips it. Removing the // brings it to life. That's how they'll switch things on all course.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Hold the line on predictions. A team that uploads first and 'predicts' afterwards has skipped the science.</a:t>
            </a:r>
          </a:p>
          <a:p>
            <a:r>
              <a:rPr sz="1200">
                <a:latin typeface="Calibri"/>
              </a:rPr>
              <a:t>Common snag: a team color that looks too dark. Light can't make dark colors - (100, 50, 0) just looks like dim orange, not brown. That's a great discovery, not a failure.</a:t>
            </a:r>
          </a:p>
          <a:p>
            <a:r>
              <a:rPr sz="1200">
                <a:latin typeface="Calibri"/>
              </a:rPr>
              <a:t>Level 3: setLights(first, last, color) paints a run of lights. Three stripes: setLights(0, 4, RED); setLights(5, 10, WHITE); setLights(11, 15, BLUE);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Use this to settle arguments about what a color 'really' is - or skip it and let them judge their own vehicles.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this up while teams work, as a help sheet.</a:t>
            </a:r>
          </a:p>
          <a:p>
            <a:r>
              <a:rPr sz="1200">
                <a:latin typeface="Calibri"/>
              </a:rPr>
              <a:t>setBrightness takes a percent, 0 to 100. The engine room caps 100% well below what the LEDs can do, to protect eyes and the battery.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a vehicle on the desk the same way round as the drawing, front toward the screen, before you say a word.</a:t>
            </a:r>
          </a:p>
          <a:p>
            <a:r>
              <a:rPr sz="1200">
                <a:latin typeface="Calibri"/>
              </a:rPr>
              <a:t>Counting starts at ZERO. Ask why anybody would start at zero. (Computers do. It is strange the first time and normal by Lesson 4.)</a:t>
            </a:r>
          </a:p>
          <a:p>
            <a:r>
              <a:rPr sz="1200">
                <a:latin typeface="Calibri"/>
              </a:rPr>
              <a:t>Trace the loop with your finger on the real vehicle: across the front left to right, round the right-hand corner, and back across the rear right to left. It is one long string of lights.</a:t>
            </a:r>
          </a:p>
          <a:p>
            <a:r>
              <a:rPr sz="1200">
                <a:latin typeface="Calibri"/>
              </a:rPr>
              <a:t>So 0 and 31 are both on the LEFT, and 15 and 16 are both on the RIGHT. Get somebody to point at 31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program uses a for loop to count from 0 to 31. They don't need to understand it yet - it's next lesson's star. Tell them to notice it, and come back to it.</a:t>
            </a:r>
          </a:p>
          <a:p>
            <a:r>
              <a:rPr sz="1200">
                <a:latin typeface="Calibri"/>
              </a:rPr>
              <a:t>Answers: 0 and 31 are both at the left end. Behind front light 5 is back light 26 (31 minus 5).</a:t>
            </a:r>
          </a:p>
          <a:p>
            <a:r>
              <a:rPr sz="1200">
                <a:latin typeface="Calibri"/>
              </a:rPr>
              <a:t>The map they draw here gets used for the rest of the course. Check every team's before they pack 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each word out and have the room say it back. Saying a word out loud is half of owning it.</a:t>
            </a:r>
          </a:p>
          <a:p>
            <a:r>
              <a:rPr sz="1200">
                <a:latin typeface="Calibri"/>
              </a:rPr>
              <a:t>These are also in the glossary at the back of the Mission Log.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Answers: 1 red, green, blue. 2 yellow. 3 blue. 4 255. 5 the back, at the right-hand end - right behind light 15.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light map has to be finished before they leave - Lesson 4 depends on it.</a:t>
            </a:r>
          </a:p>
          <a:p>
            <a:r>
              <a:rPr sz="1200">
                <a:latin typeface="Calibri"/>
              </a:rPr>
              <a:t>Teams who were wrong about yellow should write that down proudly. Being surprised by an experiment is what science is for.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3</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Color Lab</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Every color on a screen is made from just three: red, green and blue. Today you mix your own, and map every light on the vehicle.</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One hour.  Teams of three, one vehicle per team.</a:t>
            </a:r>
          </a:p>
        </p:txBody>
      </p:sp>
      <p:pic>
        <p:nvPicPr>
          <p:cNvPr id="8" name="Picture 7" descr="vehicle-green-leds.jpg"/>
          <p:cNvPicPr>
            <a:picLocks noChangeAspect="1"/>
          </p:cNvPicPr>
          <p:nvPr/>
        </p:nvPicPr>
        <p:blipFill>
          <a:blip r:embed="rId3"/>
          <a:stretch>
            <a:fillRect/>
          </a:stretch>
        </p:blipFill>
        <p:spPr>
          <a:xfrm>
            <a:off x="7223760" y="2023797"/>
            <a:ext cx="4480560" cy="3359046"/>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Today's mission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today, you can:</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Predict the color you get when red, green and blue light mix</a:t>
            </a:r>
          </a:p>
          <a:p>
            <a:pPr algn="l">
              <a:lnSpc>
                <a:spcPct val="100000"/>
              </a:lnSpc>
              <a:spcAft>
                <a:spcPts val="1300"/>
              </a:spcAft>
              <a:defRPr sz="1900" b="0">
                <a:solidFill>
                  <a:srgbClr val="222222"/>
                </a:solidFill>
                <a:latin typeface="Calibri"/>
              </a:defRPr>
            </a:pPr>
            <a:r>
              <a:rPr sz="1900" b="0">
                <a:solidFill>
                  <a:srgbClr val="222222"/>
                </a:solidFill>
                <a:latin typeface="Calibri"/>
              </a:rPr>
              <a:t>2.   Mix any color you like with three numbers from 0 to 255</a:t>
            </a:r>
          </a:p>
          <a:p>
            <a:pPr algn="l">
              <a:lnSpc>
                <a:spcPct val="100000"/>
              </a:lnSpc>
              <a:spcAft>
                <a:spcPts val="1300"/>
              </a:spcAft>
              <a:defRPr sz="1900" b="0">
                <a:solidFill>
                  <a:srgbClr val="222222"/>
                </a:solidFill>
                <a:latin typeface="Calibri"/>
              </a:defRPr>
            </a:pPr>
            <a:r>
              <a:rPr sz="1900" b="0">
                <a:solidFill>
                  <a:srgbClr val="222222"/>
                </a:solidFill>
                <a:latin typeface="Calibri"/>
              </a:rPr>
              <a:t>3.   Paint your team color on your vehicle</a:t>
            </a:r>
          </a:p>
          <a:p>
            <a:pPr algn="l">
              <a:lnSpc>
                <a:spcPct val="100000"/>
              </a:lnSpc>
              <a:spcAft>
                <a:spcPts val="1300"/>
              </a:spcAft>
              <a:defRPr sz="1900" b="0">
                <a:solidFill>
                  <a:srgbClr val="222222"/>
                </a:solidFill>
                <a:latin typeface="Calibri"/>
              </a:defRPr>
            </a:pPr>
            <a:r>
              <a:rPr sz="1900" b="0">
                <a:solidFill>
                  <a:srgbClr val="222222"/>
                </a:solidFill>
                <a:latin typeface="Calibri"/>
              </a:rPr>
              <a:t>4.   Find any light on the vehicle by its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Last time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You uploaded your first program, and fixed three bugs.</a:t>
            </a:r>
          </a:p>
          <a:p>
            <a:pPr algn="l">
              <a:lnSpc>
                <a:spcPct val="100000"/>
              </a:lnSpc>
              <a:spcAft>
                <a:spcPts val="900"/>
              </a:spcAft>
              <a:defRPr sz="3000" b="0">
                <a:solidFill>
                  <a:srgbClr val="222222"/>
                </a:solidFill>
                <a:latin typeface="Calibri"/>
              </a:defRPr>
            </a:pPr>
            <a:r>
              <a:rPr sz="3000" b="0">
                <a:solidFill>
                  <a:srgbClr val="222222"/>
                </a:solidFill>
                <a:latin typeface="Calibri"/>
              </a:rPr>
              <a:t>setLight(0, RED) turned light 0 red.</a:t>
            </a:r>
          </a:p>
          <a:p>
            <a:pPr algn="l">
              <a:lnSpc>
                <a:spcPct val="100000"/>
              </a:lnSpc>
              <a:spcAft>
                <a:spcPts val="900"/>
              </a:spcAft>
              <a:defRPr sz="3000" b="0">
                <a:solidFill>
                  <a:srgbClr val="222222"/>
                </a:solidFill>
                <a:latin typeface="Calibri"/>
              </a:defRPr>
            </a:pPr>
            <a:r>
              <a:rPr sz="3000" b="0">
                <a:solidFill>
                  <a:srgbClr val="222222"/>
                </a:solidFill>
                <a:latin typeface="Calibri"/>
              </a:rPr>
              <a:t>But what IS red, to a computer? It's a number. Three numbers, actually.</a:t>
            </a:r>
          </a:p>
          <a:p>
            <a:pPr algn="l">
              <a:lnSpc>
                <a:spcPct val="100000"/>
              </a:lnSpc>
              <a:spcAft>
                <a:spcPts val="900"/>
              </a:spcAft>
              <a:defRPr sz="3000" b="0">
                <a:solidFill>
                  <a:srgbClr val="222222"/>
                </a:solidFill>
                <a:latin typeface="Calibri"/>
              </a:defRPr>
            </a:pPr>
            <a:r>
              <a:rPr sz="3000" b="0">
                <a:solidFill>
                  <a:srgbClr val="222222"/>
                </a:solidFill>
                <a:latin typeface="Calibri"/>
              </a:rPr>
              <a:t>Switch jobs!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3314700"/>
        </p:xfrm>
        <a:graphic>
          <a:graphicData uri="http://schemas.openxmlformats.org/drawingml/2006/table">
            <a:tbl>
              <a:tblPr firstRow="1" bandRow="1">
                <a:tableStyleId>{5C22544A-7EE6-4342-B048-85BDC9FD1C3A}</a:tableStyleId>
              </a:tblPr>
              <a:tblGrid>
                <a:gridCol w="1118585"/>
                <a:gridCol w="10067269"/>
              </a:tblGrid>
              <a:tr h="552450">
                <a:tc>
                  <a:txBody>
                    <a:bodyPr/>
                    <a:lstStyle/>
                    <a:p>
                      <a:r>
                        <a:rPr sz="3000" b="1">
                          <a:solidFill>
                            <a:srgbClr val="FFFFFF"/>
                          </a:solidFill>
                          <a:latin typeface="Calibri"/>
                        </a:rPr>
                        <a:t>Time</a:t>
                      </a:r>
                    </a:p>
                  </a:txBody>
                  <a:tcPr marL="73152" marT="18288" marB="18288">
                    <a:solidFill>
                      <a:srgbClr val="1F3A5F"/>
                    </a:solidFill>
                  </a:tcPr>
                </a:tc>
                <a:tc>
                  <a:txBody>
                    <a:bodyPr/>
                    <a:lstStyle/>
                    <a:p>
                      <a:r>
                        <a:rPr sz="3000" b="1">
                          <a:solidFill>
                            <a:srgbClr val="FFFFFF"/>
                          </a:solidFill>
                          <a:latin typeface="Calibri"/>
                        </a:rPr>
                        <a:t>What we do</a:t>
                      </a:r>
                    </a:p>
                  </a:txBody>
                  <a:tcPr marL="73152" marT="18288" marB="18288">
                    <a:solidFill>
                      <a:srgbClr val="1F3A5F"/>
                    </a:solidFill>
                  </a:tcPr>
                </a:tc>
              </a:tr>
              <a:tr h="552450">
                <a:tc>
                  <a:txBody>
                    <a:bodyPr/>
                    <a:lstStyle/>
                    <a:p>
                      <a:r>
                        <a:rPr sz="3000">
                          <a:solidFill>
                            <a:srgbClr val="222222"/>
                          </a:solidFill>
                          <a:latin typeface="Calibri"/>
                        </a:rPr>
                        <a:t>0:00</a:t>
                      </a:r>
                    </a:p>
                  </a:txBody>
                  <a:tcPr marL="73152" marT="18288" marB="18288">
                    <a:solidFill>
                      <a:srgbClr val="FFFFFF"/>
                    </a:solidFill>
                  </a:tcPr>
                </a:tc>
                <a:tc>
                  <a:txBody>
                    <a:bodyPr/>
                    <a:lstStyle/>
                    <a:p>
                      <a:r>
                        <a:rPr sz="3000">
                          <a:solidFill>
                            <a:srgbClr val="222222"/>
                          </a:solidFill>
                          <a:latin typeface="Calibri"/>
                        </a:rPr>
                        <a:t>Warm-up: what IS red, to a computer?</a:t>
                      </a:r>
                    </a:p>
                  </a:txBody>
                  <a:tcPr marL="73152" marT="18288" marB="18288">
                    <a:solidFill>
                      <a:srgbClr val="FFFFFF"/>
                    </a:solidFill>
                  </a:tcPr>
                </a:tc>
              </a:tr>
              <a:tr h="552450">
                <a:tc>
                  <a:txBody>
                    <a:bodyPr/>
                    <a:lstStyle/>
                    <a:p>
                      <a:r>
                        <a:rPr sz="3000">
                          <a:solidFill>
                            <a:srgbClr val="222222"/>
                          </a:solidFill>
                          <a:latin typeface="Calibri"/>
                        </a:rPr>
                        <a:t>0:05</a:t>
                      </a:r>
                    </a:p>
                  </a:txBody>
                  <a:tcPr marL="73152" marT="18288" marB="18288">
                    <a:solidFill>
                      <a:srgbClr val="EEF3F8"/>
                    </a:solidFill>
                  </a:tcPr>
                </a:tc>
                <a:tc>
                  <a:txBody>
                    <a:bodyPr/>
                    <a:lstStyle/>
                    <a:p>
                      <a:r>
                        <a:rPr sz="3000">
                          <a:solidFill>
                            <a:srgbClr val="222222"/>
                          </a:solidFill>
                          <a:latin typeface="Calibri"/>
                        </a:rPr>
                        <a:t>Mixing light is not like mixing paint</a:t>
                      </a:r>
                    </a:p>
                  </a:txBody>
                  <a:tcPr marL="73152" marT="18288" marB="18288">
                    <a:solidFill>
                      <a:srgbClr val="EEF3F8"/>
                    </a:solidFill>
                  </a:tcPr>
                </a:tc>
              </a:tr>
              <a:tr h="552450">
                <a:tc>
                  <a:txBody>
                    <a:bodyPr/>
                    <a:lstStyle/>
                    <a:p>
                      <a:r>
                        <a:rPr sz="3000">
                          <a:solidFill>
                            <a:srgbClr val="222222"/>
                          </a:solidFill>
                          <a:latin typeface="Calibri"/>
                        </a:rPr>
                        <a:t>0:15</a:t>
                      </a:r>
                    </a:p>
                  </a:txBody>
                  <a:tcPr marL="73152" marT="18288" marB="18288">
                    <a:solidFill>
                      <a:srgbClr val="FFFFFF"/>
                    </a:solidFill>
                  </a:tcPr>
                </a:tc>
                <a:tc>
                  <a:txBody>
                    <a:bodyPr/>
                    <a:lstStyle/>
                    <a:p>
                      <a:r>
                        <a:rPr sz="3000">
                          <a:solidFill>
                            <a:srgbClr val="222222"/>
                          </a:solidFill>
                          <a:latin typeface="Calibri"/>
                        </a:rPr>
                        <a:t>Predict, then upload e03a_color_lab</a:t>
                      </a:r>
                    </a:p>
                  </a:txBody>
                  <a:tcPr marL="73152" marT="18288" marB="18288">
                    <a:solidFill>
                      <a:srgbClr val="FFFFFF"/>
                    </a:solidFill>
                  </a:tcPr>
                </a:tc>
              </a:tr>
              <a:tr h="552450">
                <a:tc>
                  <a:txBody>
                    <a:bodyPr/>
                    <a:lstStyle/>
                    <a:p>
                      <a:r>
                        <a:rPr sz="3000">
                          <a:solidFill>
                            <a:srgbClr val="222222"/>
                          </a:solidFill>
                          <a:latin typeface="Calibri"/>
                        </a:rPr>
                        <a:t>0:35</a:t>
                      </a:r>
                    </a:p>
                  </a:txBody>
                  <a:tcPr marL="73152" marT="18288" marB="18288">
                    <a:solidFill>
                      <a:srgbClr val="EEF3F8"/>
                    </a:solidFill>
                  </a:tcPr>
                </a:tc>
                <a:tc>
                  <a:txBody>
                    <a:bodyPr/>
                    <a:lstStyle/>
                    <a:p>
                      <a:r>
                        <a:rPr sz="3000">
                          <a:solidFill>
                            <a:srgbClr val="222222"/>
                          </a:solidFill>
                          <a:latin typeface="Calibri"/>
                        </a:rPr>
                        <a:t>Find every light with e03b_light_map</a:t>
                      </a:r>
                    </a:p>
                  </a:txBody>
                  <a:tcPr marL="73152" marT="18288" marB="18288">
                    <a:solidFill>
                      <a:srgbClr val="EEF3F8"/>
                    </a:solidFill>
                  </a:tcPr>
                </a:tc>
              </a:tr>
              <a:tr h="552450">
                <a:tc>
                  <a:txBody>
                    <a:bodyPr/>
                    <a:lstStyle/>
                    <a:p>
                      <a:r>
                        <a:rPr sz="3000">
                          <a:solidFill>
                            <a:srgbClr val="222222"/>
                          </a:solidFill>
                          <a:latin typeface="Calibri"/>
                        </a:rPr>
                        <a:t>0:50</a:t>
                      </a:r>
                    </a:p>
                  </a:txBody>
                  <a:tcPr marL="73152" marT="18288" marB="18288">
                    <a:solidFill>
                      <a:srgbClr val="FFFFFF"/>
                    </a:solidFill>
                  </a:tcPr>
                </a:tc>
                <a:tc>
                  <a:txBody>
                    <a:bodyPr/>
                    <a:lstStyle/>
                    <a:p>
                      <a:r>
                        <a:rPr sz="3000">
                          <a:solidFill>
                            <a:srgbClr val="222222"/>
                          </a:solidFill>
                          <a:latin typeface="Calibri"/>
                        </a:rPr>
                        <a:t>Check yourself, Mission Log, and pack up</a:t>
                      </a:r>
                    </a:p>
                  </a:txBody>
                  <a:tcPr marL="73152" marT="18288" marB="18288">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Mixing light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10 minutes</a:t>
            </a:r>
          </a:p>
        </p:txBody>
      </p:sp>
      <p:sp>
        <p:nvSpPr>
          <p:cNvPr id="7" name="Rounded Rectangle 6"/>
          <p:cNvSpPr/>
          <p:nvPr/>
        </p:nvSpPr>
        <p:spPr>
          <a:xfrm>
            <a:off x="502920"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Mixing light</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9" name="Rounded Rectangle 8"/>
          <p:cNvSpPr/>
          <p:nvPr/>
        </p:nvSpPr>
        <p:spPr>
          <a:xfrm>
            <a:off x="4280306"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color lab</a:t>
            </a:r>
          </a:p>
        </p:txBody>
      </p:sp>
      <p:sp>
        <p:nvSpPr>
          <p:cNvPr id="10" name="Rounded Rectangle 9"/>
          <p:cNvSpPr/>
          <p:nvPr/>
        </p:nvSpPr>
        <p:spPr>
          <a:xfrm>
            <a:off x="8057692"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light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Each light is really THREE lights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88720"/>
            <a:ext cx="6345753" cy="5074920"/>
          </a:xfrm>
          <a:prstGeom prst="rect">
            <a:avLst/>
          </a:prstGeom>
          <a:noFill/>
        </p:spPr>
        <p:txBody>
          <a:bodyPr wrap="square" lIns="0" tIns="0" rIns="0" bIns="0">
            <a:spAutoFit/>
          </a:bodyPr>
          <a:lstStyle/>
          <a:p>
            <a:pPr algn="l">
              <a:lnSpc>
                <a:spcPct val="100000"/>
              </a:lnSpc>
              <a:spcAft>
                <a:spcPts val="900"/>
              </a:spcAft>
              <a:defRPr sz="2900" b="0">
                <a:solidFill>
                  <a:srgbClr val="222222"/>
                </a:solidFill>
                <a:latin typeface="Calibri"/>
              </a:defRPr>
            </a:pPr>
            <a:r>
              <a:rPr sz="2900" b="0">
                <a:solidFill>
                  <a:srgbClr val="222222"/>
                </a:solidFill>
                <a:latin typeface="Calibri"/>
              </a:rPr>
              <a:t>Look closely at a light on your vehicle while it's OFF.</a:t>
            </a:r>
          </a:p>
          <a:p>
            <a:pPr algn="l">
              <a:lnSpc>
                <a:spcPct val="100000"/>
              </a:lnSpc>
              <a:spcAft>
                <a:spcPts val="900"/>
              </a:spcAft>
              <a:defRPr sz="2900" b="0">
                <a:solidFill>
                  <a:srgbClr val="222222"/>
                </a:solidFill>
                <a:latin typeface="Calibri"/>
              </a:defRPr>
            </a:pPr>
            <a:r>
              <a:rPr sz="2900" b="0">
                <a:solidFill>
                  <a:srgbClr val="222222"/>
                </a:solidFill>
                <a:latin typeface="Calibri"/>
              </a:rPr>
              <a:t>Inside are three tiny lights: one red, one green, one blue.</a:t>
            </a:r>
          </a:p>
          <a:p>
            <a:pPr algn="l">
              <a:lnSpc>
                <a:spcPct val="100000"/>
              </a:lnSpc>
              <a:spcAft>
                <a:spcPts val="900"/>
              </a:spcAft>
              <a:defRPr sz="2900" b="0">
                <a:solidFill>
                  <a:srgbClr val="222222"/>
                </a:solidFill>
                <a:latin typeface="Calibri"/>
              </a:defRPr>
            </a:pPr>
            <a:r>
              <a:rPr sz="2900" b="0">
                <a:solidFill>
                  <a:srgbClr val="222222"/>
                </a:solidFill>
                <a:latin typeface="Calibri"/>
              </a:rPr>
              <a:t>Turn them up and down, and your eye blends them into one color.</a:t>
            </a:r>
          </a:p>
          <a:p>
            <a:pPr algn="l">
              <a:lnSpc>
                <a:spcPct val="100000"/>
              </a:lnSpc>
              <a:spcAft>
                <a:spcPts val="900"/>
              </a:spcAft>
              <a:defRPr sz="2900" b="0">
                <a:solidFill>
                  <a:srgbClr val="222222"/>
                </a:solidFill>
                <a:latin typeface="Calibri"/>
              </a:defRPr>
            </a:pPr>
            <a:r>
              <a:rPr sz="2900" b="0">
                <a:solidFill>
                  <a:srgbClr val="222222"/>
                </a:solidFill>
                <a:latin typeface="Calibri"/>
              </a:rPr>
              <a:t>Your TV, tablet and phone screens work the same way, with millions of tiny red, green and blue dots.</a:t>
            </a:r>
          </a:p>
        </p:txBody>
      </p:sp>
      <p:pic>
        <p:nvPicPr>
          <p:cNvPr id="7" name="Picture 6" descr="ws2812b-stick-8.jpg"/>
          <p:cNvPicPr>
            <a:picLocks noChangeAspect="1"/>
          </p:cNvPicPr>
          <p:nvPr/>
        </p:nvPicPr>
        <p:blipFill>
          <a:blip r:embed="rId2"/>
          <a:stretch>
            <a:fillRect/>
          </a:stretch>
        </p:blipFill>
        <p:spPr>
          <a:xfrm>
            <a:off x="7518913" y="1188720"/>
            <a:ext cx="3865381" cy="3840480"/>
          </a:xfrm>
          <a:prstGeom prst="rect">
            <a:avLst/>
          </a:prstGeom>
        </p:spPr>
      </p:pic>
      <p:sp>
        <p:nvSpPr>
          <p:cNvPr id="8" name="TextBox 7"/>
          <p:cNvSpPr txBox="1"/>
          <p:nvPr/>
        </p:nvSpPr>
        <p:spPr>
          <a:xfrm>
            <a:off x="7518913" y="5084064"/>
            <a:ext cx="3865381"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Eight of these lights on a strip. Yours has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Light doesn't mix like paint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6345753"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Mix red and green PAINT: you get a muddy brown.</a:t>
            </a:r>
          </a:p>
          <a:p>
            <a:pPr algn="l">
              <a:lnSpc>
                <a:spcPct val="100000"/>
              </a:lnSpc>
              <a:spcAft>
                <a:spcPts val="900"/>
              </a:spcAft>
              <a:defRPr sz="3000" b="0">
                <a:solidFill>
                  <a:srgbClr val="222222"/>
                </a:solidFill>
                <a:latin typeface="Calibri"/>
              </a:defRPr>
            </a:pPr>
            <a:r>
              <a:rPr sz="3000" b="0">
                <a:solidFill>
                  <a:srgbClr val="222222"/>
                </a:solidFill>
                <a:latin typeface="Calibri"/>
              </a:rPr>
              <a:t>Mix red and green LIGHT: you get YELLOW!</a:t>
            </a:r>
          </a:p>
          <a:p>
            <a:pPr algn="l">
              <a:lnSpc>
                <a:spcPct val="100000"/>
              </a:lnSpc>
              <a:spcAft>
                <a:spcPts val="900"/>
              </a:spcAft>
              <a:defRPr sz="3000" b="0">
                <a:solidFill>
                  <a:srgbClr val="222222"/>
                </a:solidFill>
                <a:latin typeface="Calibri"/>
              </a:defRPr>
            </a:pPr>
            <a:r>
              <a:rPr sz="3000" b="0">
                <a:solidFill>
                  <a:srgbClr val="222222"/>
                </a:solidFill>
                <a:latin typeface="Calibri"/>
              </a:rPr>
              <a:t>All three lights together make WHITE.</a:t>
            </a:r>
          </a:p>
          <a:p>
            <a:pPr algn="l">
              <a:lnSpc>
                <a:spcPct val="100000"/>
              </a:lnSpc>
              <a:spcAft>
                <a:spcPts val="900"/>
              </a:spcAft>
              <a:defRPr sz="3000" b="0">
                <a:solidFill>
                  <a:srgbClr val="222222"/>
                </a:solidFill>
                <a:latin typeface="Calibri"/>
              </a:defRPr>
            </a:pPr>
            <a:r>
              <a:rPr sz="3000" b="0">
                <a:solidFill>
                  <a:srgbClr val="222222"/>
                </a:solidFill>
                <a:latin typeface="Calibri"/>
              </a:rPr>
              <a:t>Light ADDS together. That's why it gets brighter as you mix.</a:t>
            </a:r>
          </a:p>
        </p:txBody>
      </p:sp>
      <p:pic>
        <p:nvPicPr>
          <p:cNvPr id="7" name="Picture 6" descr="rgb-additive-mixing.png"/>
          <p:cNvPicPr>
            <a:picLocks noChangeAspect="1"/>
          </p:cNvPicPr>
          <p:nvPr/>
        </p:nvPicPr>
        <p:blipFill>
          <a:blip r:embed="rId2"/>
          <a:stretch>
            <a:fillRect/>
          </a:stretch>
        </p:blipFill>
        <p:spPr>
          <a:xfrm>
            <a:off x="7531364" y="1188720"/>
            <a:ext cx="3840480" cy="3840480"/>
          </a:xfrm>
          <a:prstGeom prst="rect">
            <a:avLst/>
          </a:prstGeom>
        </p:spPr>
      </p:pic>
      <p:sp>
        <p:nvSpPr>
          <p:cNvPr id="8" name="TextBox 7"/>
          <p:cNvSpPr txBox="1"/>
          <p:nvPr/>
        </p:nvSpPr>
        <p:spPr>
          <a:xfrm>
            <a:off x="7531364" y="5084064"/>
            <a:ext cx="3840480"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Red, green and blue light, overlapping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mixColor(red, green, blue)  -  predict!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Each number goes from 0 (none of that color) to 255 (all of it). Write your guesses in your Mission Log.</a:t>
            </a:r>
          </a:p>
        </p:txBody>
      </p:sp>
      <p:graphicFrame>
        <p:nvGraphicFramePr>
          <p:cNvPr id="7" name="Table 6"/>
          <p:cNvGraphicFramePr>
            <a:graphicFrameLocks noGrp="1"/>
          </p:cNvGraphicFramePr>
          <p:nvPr/>
        </p:nvGraphicFramePr>
        <p:xfrm>
          <a:off x="502920" y="1691640"/>
          <a:ext cx="11185855" cy="3867150"/>
        </p:xfrm>
        <a:graphic>
          <a:graphicData uri="http://schemas.openxmlformats.org/drawingml/2006/table">
            <a:tbl>
              <a:tblPr firstRow="1" bandRow="1">
                <a:tableStyleId>{5C22544A-7EE6-4342-B048-85BDC9FD1C3A}</a:tableStyleId>
              </a:tblPr>
              <a:tblGrid>
                <a:gridCol w="2237171"/>
                <a:gridCol w="2237171"/>
                <a:gridCol w="2237171"/>
                <a:gridCol w="4474342"/>
              </a:tblGrid>
              <a:tr h="552450">
                <a:tc>
                  <a:txBody>
                    <a:bodyPr/>
                    <a:lstStyle/>
                    <a:p>
                      <a:r>
                        <a:rPr sz="3000" b="1">
                          <a:solidFill>
                            <a:srgbClr val="FFFFFF"/>
                          </a:solidFill>
                          <a:latin typeface="Calibri"/>
                        </a:rPr>
                        <a:t>Red</a:t>
                      </a:r>
                    </a:p>
                  </a:txBody>
                  <a:tcPr marL="73152" marT="18288" marB="18288">
                    <a:solidFill>
                      <a:srgbClr val="1F3A5F"/>
                    </a:solidFill>
                  </a:tcPr>
                </a:tc>
                <a:tc>
                  <a:txBody>
                    <a:bodyPr/>
                    <a:lstStyle/>
                    <a:p>
                      <a:r>
                        <a:rPr sz="3000" b="1">
                          <a:solidFill>
                            <a:srgbClr val="FFFFFF"/>
                          </a:solidFill>
                          <a:latin typeface="Calibri"/>
                        </a:rPr>
                        <a:t>Green</a:t>
                      </a:r>
                    </a:p>
                  </a:txBody>
                  <a:tcPr marL="73152" marT="18288" marB="18288">
                    <a:solidFill>
                      <a:srgbClr val="1F3A5F"/>
                    </a:solidFill>
                  </a:tcPr>
                </a:tc>
                <a:tc>
                  <a:txBody>
                    <a:bodyPr/>
                    <a:lstStyle/>
                    <a:p>
                      <a:r>
                        <a:rPr sz="3000" b="1">
                          <a:solidFill>
                            <a:srgbClr val="FFFFFF"/>
                          </a:solidFill>
                          <a:latin typeface="Calibri"/>
                        </a:rPr>
                        <a:t>Blue</a:t>
                      </a:r>
                    </a:p>
                  </a:txBody>
                  <a:tcPr marL="73152" marT="18288" marB="18288">
                    <a:solidFill>
                      <a:srgbClr val="1F3A5F"/>
                    </a:solidFill>
                  </a:tcPr>
                </a:tc>
                <a:tc>
                  <a:txBody>
                    <a:bodyPr/>
                    <a:lstStyle/>
                    <a:p>
                      <a:r>
                        <a:rPr sz="3000" b="1">
                          <a:solidFill>
                            <a:srgbClr val="FFFFFF"/>
                          </a:solidFill>
                          <a:latin typeface="Calibri"/>
                        </a:rPr>
                        <a:t>You get...</a:t>
                      </a:r>
                    </a:p>
                  </a:txBody>
                  <a:tcPr marL="73152" marT="18288" marB="18288">
                    <a:solidFill>
                      <a:srgbClr val="1F3A5F"/>
                    </a:solidFill>
                  </a:tcPr>
                </a:tc>
              </a:tr>
              <a:tr h="552450">
                <a:tc>
                  <a:txBody>
                    <a:bodyPr/>
                    <a:lstStyle/>
                    <a:p>
                      <a:r>
                        <a:rPr sz="3000">
                          <a:solidFill>
                            <a:srgbClr val="222222"/>
                          </a:solidFill>
                          <a:latin typeface="Calibri"/>
                        </a:rPr>
                        <a:t>255</a:t>
                      </a:r>
                    </a:p>
                  </a:txBody>
                  <a:tcPr marL="73152" marT="18288" marB="18288">
                    <a:solidFill>
                      <a:srgbClr val="FFFFFF"/>
                    </a:solidFill>
                  </a:tcPr>
                </a:tc>
                <a:tc>
                  <a:txBody>
                    <a:bodyPr/>
                    <a:lstStyle/>
                    <a:p>
                      <a:r>
                        <a:rPr sz="3000">
                          <a:solidFill>
                            <a:srgbClr val="222222"/>
                          </a:solidFill>
                          <a:latin typeface="Calibri"/>
                        </a:rPr>
                        <a:t>0</a:t>
                      </a:r>
                    </a:p>
                  </a:txBody>
                  <a:tcPr marL="73152" marT="18288" marB="18288">
                    <a:solidFill>
                      <a:srgbClr val="FFFFFF"/>
                    </a:solidFill>
                  </a:tcPr>
                </a:tc>
                <a:tc>
                  <a:txBody>
                    <a:bodyPr/>
                    <a:lstStyle/>
                    <a:p>
                      <a:r>
                        <a:rPr sz="3000">
                          <a:solidFill>
                            <a:srgbClr val="222222"/>
                          </a:solidFill>
                          <a:latin typeface="Calibri"/>
                        </a:rPr>
                        <a:t>0</a:t>
                      </a:r>
                    </a:p>
                  </a:txBody>
                  <a:tcPr marL="73152" marT="18288" marB="18288">
                    <a:solidFill>
                      <a:srgbClr val="FFFFFF"/>
                    </a:solidFill>
                  </a:tcPr>
                </a:tc>
                <a:tc>
                  <a:txBody>
                    <a:bodyPr/>
                    <a:lstStyle/>
                    <a:p>
                      <a:r>
                        <a:rPr sz="3000">
                          <a:solidFill>
                            <a:srgbClr val="222222"/>
                          </a:solidFill>
                          <a:latin typeface="Calibri"/>
                        </a:rPr>
                        <a:t>red</a:t>
                      </a:r>
                    </a:p>
                  </a:txBody>
                  <a:tcPr marL="73152" marT="18288" marB="18288">
                    <a:solidFill>
                      <a:srgbClr val="FFFFFF"/>
                    </a:solidFill>
                  </a:tcPr>
                </a:tc>
              </a:tr>
              <a:tr h="552450">
                <a:tc>
                  <a:txBody>
                    <a:bodyPr/>
                    <a:lstStyle/>
                    <a:p>
                      <a:r>
                        <a:rPr sz="3000">
                          <a:solidFill>
                            <a:srgbClr val="222222"/>
                          </a:solidFill>
                          <a:latin typeface="Calibri"/>
                        </a:rPr>
                        <a:t>0</a:t>
                      </a:r>
                    </a:p>
                  </a:txBody>
                  <a:tcPr marL="73152" marT="18288" marB="18288">
                    <a:solidFill>
                      <a:srgbClr val="EEF3F8"/>
                    </a:solidFill>
                  </a:tcPr>
                </a:tc>
                <a:tc>
                  <a:txBody>
                    <a:bodyPr/>
                    <a:lstStyle/>
                    <a:p>
                      <a:r>
                        <a:rPr sz="3000">
                          <a:solidFill>
                            <a:srgbClr val="222222"/>
                          </a:solidFill>
                          <a:latin typeface="Calibri"/>
                        </a:rPr>
                        <a:t>0</a:t>
                      </a:r>
                    </a:p>
                  </a:txBody>
                  <a:tcPr marL="73152" marT="18288" marB="18288">
                    <a:solidFill>
                      <a:srgbClr val="EEF3F8"/>
                    </a:solidFill>
                  </a:tcPr>
                </a:tc>
                <a:tc>
                  <a:txBody>
                    <a:bodyPr/>
                    <a:lstStyle/>
                    <a:p>
                      <a:r>
                        <a:rPr sz="3000">
                          <a:solidFill>
                            <a:srgbClr val="222222"/>
                          </a:solidFill>
                          <a:latin typeface="Calibri"/>
                        </a:rPr>
                        <a:t>255</a:t>
                      </a:r>
                    </a:p>
                  </a:txBody>
                  <a:tcPr marL="73152" marT="18288" marB="18288">
                    <a:solidFill>
                      <a:srgbClr val="EEF3F8"/>
                    </a:solidFill>
                  </a:tcPr>
                </a:tc>
                <a:tc>
                  <a:txBody>
                    <a:bodyPr/>
                    <a:lstStyle/>
                    <a:p>
                      <a:r>
                        <a:rPr sz="3000">
                          <a:solidFill>
                            <a:srgbClr val="222222"/>
                          </a:solidFill>
                          <a:latin typeface="Calibri"/>
                        </a:rPr>
                        <a:t>blue</a:t>
                      </a:r>
                    </a:p>
                  </a:txBody>
                  <a:tcPr marL="73152" marT="18288" marB="18288">
                    <a:solidFill>
                      <a:srgbClr val="EEF3F8"/>
                    </a:solidFill>
                  </a:tcPr>
                </a:tc>
              </a:tr>
              <a:tr h="552450">
                <a:tc>
                  <a:txBody>
                    <a:bodyPr/>
                    <a:lstStyle/>
                    <a:p>
                      <a:r>
                        <a:rPr sz="3000">
                          <a:solidFill>
                            <a:srgbClr val="222222"/>
                          </a:solidFill>
                          <a:latin typeface="Calibri"/>
                        </a:rPr>
                        <a:t>255</a:t>
                      </a:r>
                    </a:p>
                  </a:txBody>
                  <a:tcPr marL="73152" marT="18288" marB="18288">
                    <a:solidFill>
                      <a:srgbClr val="FFFFFF"/>
                    </a:solidFill>
                  </a:tcPr>
                </a:tc>
                <a:tc>
                  <a:txBody>
                    <a:bodyPr/>
                    <a:lstStyle/>
                    <a:p>
                      <a:r>
                        <a:rPr sz="3000">
                          <a:solidFill>
                            <a:srgbClr val="222222"/>
                          </a:solidFill>
                          <a:latin typeface="Calibri"/>
                        </a:rPr>
                        <a:t>255</a:t>
                      </a:r>
                    </a:p>
                  </a:txBody>
                  <a:tcPr marL="73152" marT="18288" marB="18288">
                    <a:solidFill>
                      <a:srgbClr val="FFFFFF"/>
                    </a:solidFill>
                  </a:tcPr>
                </a:tc>
                <a:tc>
                  <a:txBody>
                    <a:bodyPr/>
                    <a:lstStyle/>
                    <a:p>
                      <a:r>
                        <a:rPr sz="3000">
                          <a:solidFill>
                            <a:srgbClr val="222222"/>
                          </a:solidFill>
                          <a:latin typeface="Calibri"/>
                        </a:rPr>
                        <a:t>0</a:t>
                      </a:r>
                    </a:p>
                  </a:txBody>
                  <a:tcPr marL="73152" marT="18288" marB="18288">
                    <a:solidFill>
                      <a:srgbClr val="FFFFFF"/>
                    </a:solidFill>
                  </a:tcPr>
                </a:tc>
                <a:tc>
                  <a:txBody>
                    <a:bodyPr/>
                    <a:lstStyle/>
                    <a:p>
                      <a:r>
                        <a:rPr sz="3000">
                          <a:solidFill>
                            <a:srgbClr val="222222"/>
                          </a:solidFill>
                          <a:latin typeface="Calibri"/>
                        </a:rPr>
                        <a:t>?</a:t>
                      </a:r>
                    </a:p>
                  </a:txBody>
                  <a:tcPr marL="73152" marT="18288" marB="18288">
                    <a:solidFill>
                      <a:srgbClr val="FFFFFF"/>
                    </a:solidFill>
                  </a:tcPr>
                </a:tc>
              </a:tr>
              <a:tr h="552450">
                <a:tc>
                  <a:txBody>
                    <a:bodyPr/>
                    <a:lstStyle/>
                    <a:p>
                      <a:r>
                        <a:rPr sz="3000">
                          <a:solidFill>
                            <a:srgbClr val="222222"/>
                          </a:solidFill>
                          <a:latin typeface="Calibri"/>
                        </a:rPr>
                        <a:t>0</a:t>
                      </a:r>
                    </a:p>
                  </a:txBody>
                  <a:tcPr marL="73152" marT="18288" marB="18288">
                    <a:solidFill>
                      <a:srgbClr val="EEF3F8"/>
                    </a:solidFill>
                  </a:tcPr>
                </a:tc>
                <a:tc>
                  <a:txBody>
                    <a:bodyPr/>
                    <a:lstStyle/>
                    <a:p>
                      <a:r>
                        <a:rPr sz="3000">
                          <a:solidFill>
                            <a:srgbClr val="222222"/>
                          </a:solidFill>
                          <a:latin typeface="Calibri"/>
                        </a:rPr>
                        <a:t>255</a:t>
                      </a:r>
                    </a:p>
                  </a:txBody>
                  <a:tcPr marL="73152" marT="18288" marB="18288">
                    <a:solidFill>
                      <a:srgbClr val="EEF3F8"/>
                    </a:solidFill>
                  </a:tcPr>
                </a:tc>
                <a:tc>
                  <a:txBody>
                    <a:bodyPr/>
                    <a:lstStyle/>
                    <a:p>
                      <a:r>
                        <a:rPr sz="3000">
                          <a:solidFill>
                            <a:srgbClr val="222222"/>
                          </a:solidFill>
                          <a:latin typeface="Calibri"/>
                        </a:rPr>
                        <a:t>255</a:t>
                      </a:r>
                    </a:p>
                  </a:txBody>
                  <a:tcPr marL="73152" marT="18288" marB="18288">
                    <a:solidFill>
                      <a:srgbClr val="EEF3F8"/>
                    </a:solidFill>
                  </a:tcPr>
                </a:tc>
                <a:tc>
                  <a:txBody>
                    <a:bodyPr/>
                    <a:lstStyle/>
                    <a:p>
                      <a:r>
                        <a:rPr sz="3000">
                          <a:solidFill>
                            <a:srgbClr val="222222"/>
                          </a:solidFill>
                          <a:latin typeface="Calibri"/>
                        </a:rPr>
                        <a:t>?</a:t>
                      </a:r>
                    </a:p>
                  </a:txBody>
                  <a:tcPr marL="73152" marT="18288" marB="18288">
                    <a:solidFill>
                      <a:srgbClr val="EEF3F8"/>
                    </a:solidFill>
                  </a:tcPr>
                </a:tc>
              </a:tr>
              <a:tr h="552450">
                <a:tc>
                  <a:txBody>
                    <a:bodyPr/>
                    <a:lstStyle/>
                    <a:p>
                      <a:r>
                        <a:rPr sz="3000">
                          <a:solidFill>
                            <a:srgbClr val="222222"/>
                          </a:solidFill>
                          <a:latin typeface="Calibri"/>
                        </a:rPr>
                        <a:t>255</a:t>
                      </a:r>
                    </a:p>
                  </a:txBody>
                  <a:tcPr marL="73152" marT="18288" marB="18288">
                    <a:solidFill>
                      <a:srgbClr val="FFFFFF"/>
                    </a:solidFill>
                  </a:tcPr>
                </a:tc>
                <a:tc>
                  <a:txBody>
                    <a:bodyPr/>
                    <a:lstStyle/>
                    <a:p>
                      <a:r>
                        <a:rPr sz="3000">
                          <a:solidFill>
                            <a:srgbClr val="222222"/>
                          </a:solidFill>
                          <a:latin typeface="Calibri"/>
                        </a:rPr>
                        <a:t>0</a:t>
                      </a:r>
                    </a:p>
                  </a:txBody>
                  <a:tcPr marL="73152" marT="18288" marB="18288">
                    <a:solidFill>
                      <a:srgbClr val="FFFFFF"/>
                    </a:solidFill>
                  </a:tcPr>
                </a:tc>
                <a:tc>
                  <a:txBody>
                    <a:bodyPr/>
                    <a:lstStyle/>
                    <a:p>
                      <a:r>
                        <a:rPr sz="3000">
                          <a:solidFill>
                            <a:srgbClr val="222222"/>
                          </a:solidFill>
                          <a:latin typeface="Calibri"/>
                        </a:rPr>
                        <a:t>255</a:t>
                      </a:r>
                    </a:p>
                  </a:txBody>
                  <a:tcPr marL="73152" marT="18288" marB="18288">
                    <a:solidFill>
                      <a:srgbClr val="FFFFFF"/>
                    </a:solidFill>
                  </a:tcPr>
                </a:tc>
                <a:tc>
                  <a:txBody>
                    <a:bodyPr/>
                    <a:lstStyle/>
                    <a:p>
                      <a:r>
                        <a:rPr sz="3000">
                          <a:solidFill>
                            <a:srgbClr val="222222"/>
                          </a:solidFill>
                          <a:latin typeface="Calibri"/>
                        </a:rPr>
                        <a:t>?</a:t>
                      </a:r>
                    </a:p>
                  </a:txBody>
                  <a:tcPr marL="73152" marT="18288" marB="18288">
                    <a:solidFill>
                      <a:srgbClr val="FFFFFF"/>
                    </a:solidFill>
                  </a:tcPr>
                </a:tc>
              </a:tr>
              <a:tr h="552450">
                <a:tc>
                  <a:txBody>
                    <a:bodyPr/>
                    <a:lstStyle/>
                    <a:p>
                      <a:r>
                        <a:rPr sz="3000">
                          <a:solidFill>
                            <a:srgbClr val="222222"/>
                          </a:solidFill>
                          <a:latin typeface="Calibri"/>
                        </a:rPr>
                        <a:t>255</a:t>
                      </a:r>
                    </a:p>
                  </a:txBody>
                  <a:tcPr marL="73152" marT="18288" marB="18288">
                    <a:solidFill>
                      <a:srgbClr val="EEF3F8"/>
                    </a:solidFill>
                  </a:tcPr>
                </a:tc>
                <a:tc>
                  <a:txBody>
                    <a:bodyPr/>
                    <a:lstStyle/>
                    <a:p>
                      <a:r>
                        <a:rPr sz="3000">
                          <a:solidFill>
                            <a:srgbClr val="222222"/>
                          </a:solidFill>
                          <a:latin typeface="Calibri"/>
                        </a:rPr>
                        <a:t>255</a:t>
                      </a:r>
                    </a:p>
                  </a:txBody>
                  <a:tcPr marL="73152" marT="18288" marB="18288">
                    <a:solidFill>
                      <a:srgbClr val="EEF3F8"/>
                    </a:solidFill>
                  </a:tcPr>
                </a:tc>
                <a:tc>
                  <a:txBody>
                    <a:bodyPr/>
                    <a:lstStyle/>
                    <a:p>
                      <a:r>
                        <a:rPr sz="3000">
                          <a:solidFill>
                            <a:srgbClr val="222222"/>
                          </a:solidFill>
                          <a:latin typeface="Calibri"/>
                        </a:rPr>
                        <a:t>255</a:t>
                      </a:r>
                    </a:p>
                  </a:txBody>
                  <a:tcPr marL="73152" marT="18288" marB="18288">
                    <a:solidFill>
                      <a:srgbClr val="EEF3F8"/>
                    </a:solidFill>
                  </a:tcPr>
                </a:tc>
                <a:tc>
                  <a:txBody>
                    <a:bodyPr/>
                    <a:lstStyle/>
                    <a:p>
                      <a:r>
                        <a:rPr sz="3000">
                          <a:solidFill>
                            <a:srgbClr val="222222"/>
                          </a:solidFill>
                          <a:latin typeface="Calibri"/>
                        </a:rPr>
                        <a:t>?</a:t>
                      </a:r>
                    </a:p>
                  </a:txBody>
                  <a:tcPr marL="73152" marT="18288" marB="18288">
                    <a:solidFill>
                      <a:srgbClr val="EEF3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numbers are volume knobs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Each number turns ONE color up or down.</a:t>
            </a:r>
          </a:p>
          <a:p>
            <a:pPr algn="l">
              <a:lnSpc>
                <a:spcPct val="100000"/>
              </a:lnSpc>
              <a:spcAft>
                <a:spcPts val="900"/>
              </a:spcAft>
              <a:defRPr sz="3000" b="0">
                <a:solidFill>
                  <a:srgbClr val="222222"/>
                </a:solidFill>
                <a:latin typeface="Calibri"/>
              </a:defRPr>
            </a:pPr>
            <a:r>
              <a:rPr sz="3000" b="0">
                <a:solidFill>
                  <a:srgbClr val="222222"/>
                </a:solidFill>
                <a:latin typeface="Calibri"/>
              </a:rPr>
              <a:t>0 means that color is off. 255 means all the way up.</a:t>
            </a:r>
          </a:p>
          <a:p>
            <a:pPr algn="l">
              <a:lnSpc>
                <a:spcPct val="100000"/>
              </a:lnSpc>
              <a:spcAft>
                <a:spcPts val="900"/>
              </a:spcAft>
              <a:defRPr sz="3000" b="0">
                <a:solidFill>
                  <a:srgbClr val="222222"/>
                </a:solidFill>
                <a:latin typeface="Calibri"/>
              </a:defRPr>
            </a:pPr>
            <a:r>
              <a:rPr sz="3000" b="0">
                <a:solidFill>
                  <a:srgbClr val="222222"/>
                </a:solidFill>
                <a:latin typeface="Calibri"/>
              </a:rPr>
              <a:t>mixColor(255, 100, 0) = lots of red, a little green, no blue = ORANGE.</a:t>
            </a:r>
          </a:p>
          <a:p>
            <a:pPr algn="l">
              <a:lnSpc>
                <a:spcPct val="100000"/>
              </a:lnSpc>
              <a:spcAft>
                <a:spcPts val="900"/>
              </a:spcAft>
              <a:defRPr sz="3000" b="0">
                <a:solidFill>
                  <a:srgbClr val="222222"/>
                </a:solidFill>
                <a:latin typeface="Calibri"/>
              </a:defRPr>
            </a:pPr>
            <a:r>
              <a:rPr sz="3000" b="0">
                <a:solidFill>
                  <a:srgbClr val="222222"/>
                </a:solidFill>
                <a:latin typeface="Calibri"/>
              </a:rPr>
              <a:t>Three knobs with 256 steps each makes over 16 million colors!</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RED, ORANGE, PURPLE and the other names are just mixes the engine room made for you.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named colors are just mixes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explorer.h  -  the engine room</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2000">
                <a:latin typeface="Consolas"/>
              </a:defRPr>
            </a:pPr>
            <a:r>
              <a:rPr sz="2000">
                <a:solidFill>
                  <a:srgbClr val="222222"/>
                </a:solidFill>
                <a:latin typeface="Consolas"/>
              </a:rPr>
              <a:t>const Color RED    = mixColor(255,   0,   0);</a:t>
            </a:r>
          </a:p>
          <a:p>
            <a:pPr algn="l">
              <a:lnSpc>
                <a:spcPct val="100000"/>
              </a:lnSpc>
              <a:spcAft>
                <a:spcPts val="0"/>
              </a:spcAft>
              <a:defRPr sz="2000">
                <a:latin typeface="Consolas"/>
              </a:defRPr>
            </a:pPr>
            <a:r>
              <a:rPr sz="2000">
                <a:solidFill>
                  <a:srgbClr val="222222"/>
                </a:solidFill>
                <a:latin typeface="Consolas"/>
              </a:rPr>
              <a:t>const Color ORANGE = mixColor(255,  90,   0);</a:t>
            </a:r>
          </a:p>
          <a:p>
            <a:pPr algn="l">
              <a:lnSpc>
                <a:spcPct val="100000"/>
              </a:lnSpc>
              <a:spcAft>
                <a:spcPts val="0"/>
              </a:spcAft>
              <a:defRPr sz="2000">
                <a:latin typeface="Consolas"/>
              </a:defRPr>
            </a:pPr>
            <a:r>
              <a:rPr sz="2000">
                <a:solidFill>
                  <a:srgbClr val="222222"/>
                </a:solidFill>
                <a:latin typeface="Consolas"/>
              </a:rPr>
              <a:t>const Color YELLOW = mixColor(255, 190,   0);</a:t>
            </a:r>
          </a:p>
          <a:p>
            <a:pPr algn="l">
              <a:lnSpc>
                <a:spcPct val="100000"/>
              </a:lnSpc>
              <a:spcAft>
                <a:spcPts val="0"/>
              </a:spcAft>
              <a:defRPr sz="2000">
                <a:latin typeface="Consolas"/>
              </a:defRPr>
            </a:pPr>
            <a:r>
              <a:rPr sz="2000">
                <a:solidFill>
                  <a:srgbClr val="222222"/>
                </a:solidFill>
                <a:latin typeface="Consolas"/>
              </a:rPr>
              <a:t>const Color GREEN  = mixColor(  0, 255,   0);</a:t>
            </a:r>
          </a:p>
          <a:p>
            <a:pPr algn="l">
              <a:lnSpc>
                <a:spcPct val="100000"/>
              </a:lnSpc>
              <a:spcAft>
                <a:spcPts val="0"/>
              </a:spcAft>
              <a:defRPr sz="2000">
                <a:latin typeface="Consolas"/>
              </a:defRPr>
            </a:pPr>
            <a:r>
              <a:rPr sz="2000">
                <a:solidFill>
                  <a:srgbClr val="222222"/>
                </a:solidFill>
                <a:latin typeface="Consolas"/>
              </a:rPr>
              <a:t>const Color CYAN   = mixColor(  0, 255, 255);</a:t>
            </a:r>
          </a:p>
          <a:p>
            <a:pPr algn="l">
              <a:lnSpc>
                <a:spcPct val="100000"/>
              </a:lnSpc>
              <a:spcAft>
                <a:spcPts val="0"/>
              </a:spcAft>
              <a:defRPr sz="2000">
                <a:latin typeface="Consolas"/>
              </a:defRPr>
            </a:pPr>
            <a:r>
              <a:rPr sz="2000">
                <a:solidFill>
                  <a:srgbClr val="222222"/>
                </a:solidFill>
                <a:latin typeface="Consolas"/>
              </a:rPr>
              <a:t>const Color BLUE   = mixColor(  0,   0, 255);</a:t>
            </a:r>
          </a:p>
          <a:p>
            <a:pPr algn="l">
              <a:lnSpc>
                <a:spcPct val="100000"/>
              </a:lnSpc>
              <a:spcAft>
                <a:spcPts val="0"/>
              </a:spcAft>
              <a:defRPr sz="2000">
                <a:latin typeface="Consolas"/>
              </a:defRPr>
            </a:pPr>
            <a:r>
              <a:rPr sz="2000">
                <a:solidFill>
                  <a:srgbClr val="222222"/>
                </a:solidFill>
                <a:latin typeface="Consolas"/>
              </a:rPr>
              <a:t>const Color PURPLE = mixColor(140,   0, 255);</a:t>
            </a:r>
          </a:p>
          <a:p>
            <a:pPr algn="l">
              <a:lnSpc>
                <a:spcPct val="100000"/>
              </a:lnSpc>
              <a:spcAft>
                <a:spcPts val="0"/>
              </a:spcAft>
              <a:defRPr sz="2000">
                <a:latin typeface="Consolas"/>
              </a:defRPr>
            </a:pPr>
            <a:r>
              <a:rPr sz="2000">
                <a:solidFill>
                  <a:srgbClr val="222222"/>
                </a:solidFill>
                <a:latin typeface="Consolas"/>
              </a:rPr>
              <a:t>const Color PINK   = mixColor(255,  30, 120);</a:t>
            </a:r>
          </a:p>
          <a:p>
            <a:pPr algn="l">
              <a:lnSpc>
                <a:spcPct val="100000"/>
              </a:lnSpc>
              <a:spcAft>
                <a:spcPts val="0"/>
              </a:spcAft>
              <a:defRPr sz="2000">
                <a:latin typeface="Consolas"/>
              </a:defRPr>
            </a:pPr>
            <a:r>
              <a:rPr sz="2000">
                <a:solidFill>
                  <a:srgbClr val="222222"/>
                </a:solidFill>
                <a:latin typeface="Consolas"/>
              </a:rPr>
              <a:t>const Color WHITE  = mixColor(255, 255, 255);</a:t>
            </a:r>
          </a:p>
          <a:p>
            <a:pPr algn="l">
              <a:lnSpc>
                <a:spcPct val="100000"/>
              </a:lnSpc>
              <a:spcAft>
                <a:spcPts val="0"/>
              </a:spcAft>
              <a:defRPr sz="2000">
                <a:latin typeface="Consolas"/>
              </a:defRPr>
            </a:pPr>
            <a:r>
              <a:rPr sz="2000">
                <a:solidFill>
                  <a:srgbClr val="222222"/>
                </a:solidFill>
                <a:latin typeface="Consolas"/>
              </a:rPr>
              <a:t>const Color OFF    = mixColor(  0,   0,   0);</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1000"/>
              </a:spcAft>
              <a:defRPr sz="3000" b="0">
                <a:solidFill>
                  <a:srgbClr val="222222"/>
                </a:solidFill>
                <a:latin typeface="Calibri"/>
              </a:defRPr>
            </a:pPr>
            <a:r>
              <a:rPr sz="3000" b="0">
                <a:solidFill>
                  <a:srgbClr val="222222"/>
                </a:solidFill>
                <a:latin typeface="Calibri"/>
              </a:rPr>
              <a:t>These lines are in the explorer.h tab.</a:t>
            </a:r>
          </a:p>
          <a:p>
            <a:pPr algn="l">
              <a:lnSpc>
                <a:spcPct val="100000"/>
              </a:lnSpc>
              <a:spcAft>
                <a:spcPts val="1000"/>
              </a:spcAft>
              <a:defRPr sz="3000" b="0">
                <a:solidFill>
                  <a:srgbClr val="222222"/>
                </a:solidFill>
                <a:latin typeface="Calibri"/>
              </a:defRPr>
            </a:pPr>
            <a:r>
              <a:rPr sz="3000" b="0">
                <a:solidFill>
                  <a:srgbClr val="222222"/>
                </a:solidFill>
                <a:latin typeface="Calibri"/>
              </a:rPr>
              <a:t>Every name is three numbers.</a:t>
            </a:r>
          </a:p>
          <a:p>
            <a:pPr algn="l">
              <a:lnSpc>
                <a:spcPct val="100000"/>
              </a:lnSpc>
              <a:spcAft>
                <a:spcPts val="1000"/>
              </a:spcAft>
              <a:defRPr sz="3000" b="0">
                <a:solidFill>
                  <a:srgbClr val="222222"/>
                </a:solidFill>
                <a:latin typeface="Calibri"/>
              </a:defRPr>
            </a:pPr>
            <a:r>
              <a:rPr sz="3000" b="0">
                <a:solidFill>
                  <a:srgbClr val="222222"/>
                </a:solidFill>
                <a:latin typeface="Calibri"/>
              </a:rPr>
              <a:t>YELLOW isn't (255, 255, 0). On these lights, a bit less green looks MORE yellow.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color lab</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20 minutes</a:t>
            </a:r>
          </a:p>
        </p:txBody>
      </p:sp>
      <p:sp>
        <p:nvSpPr>
          <p:cNvPr id="7" name="Rounded Rectangle 6"/>
          <p:cNvSpPr/>
          <p:nvPr/>
        </p:nvSpPr>
        <p:spPr>
          <a:xfrm>
            <a:off x="502920"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Mixing light</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4280306"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color lab</a:t>
            </a:r>
          </a:p>
        </p:txBody>
      </p:sp>
      <p:sp>
        <p:nvSpPr>
          <p:cNvPr id="10" name="TextBox 9"/>
          <p:cNvSpPr txBox="1"/>
          <p:nvPr/>
        </p:nvSpPr>
        <p:spPr>
          <a:xfrm>
            <a:off x="4280306"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8057692"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light 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color lab</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11185855"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e03a_color_lab.ino</a:t>
            </a:r>
          </a:p>
        </p:txBody>
      </p:sp>
      <p:sp>
        <p:nvSpPr>
          <p:cNvPr id="7" name="CODE_PANEL"/>
          <p:cNvSpPr/>
          <p:nvPr/>
        </p:nvSpPr>
        <p:spPr>
          <a:xfrm>
            <a:off x="502920" y="1517904"/>
            <a:ext cx="11185855"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800">
                <a:latin typeface="Consolas"/>
              </a:defRPr>
            </a:pPr>
            <a:r>
              <a:rPr sz="1800">
                <a:solidFill>
                  <a:srgbClr val="222222"/>
                </a:solidFill>
                <a:latin typeface="Consolas"/>
              </a:rPr>
              <a:t>Color myColor   = mixColor(255, 0, 255);   // Red + blue = ?</a:t>
            </a:r>
          </a:p>
          <a:p>
            <a:pPr algn="l">
              <a:lnSpc>
                <a:spcPct val="100000"/>
              </a:lnSpc>
              <a:spcAft>
                <a:spcPts val="0"/>
              </a:spcAft>
              <a:defRPr sz="1800">
                <a:latin typeface="Consolas"/>
              </a:defRPr>
            </a:pPr>
            <a:r>
              <a:rPr sz="1800">
                <a:solidFill>
                  <a:srgbClr val="222222"/>
                </a:solidFill>
                <a:latin typeface="Consolas"/>
              </a:rPr>
              <a:t>Color teamColor = mixColor(0, 0, 0);       // LEVEL 2</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222222"/>
                </a:solidFill>
                <a:latin typeface="Consolas"/>
              </a:rPr>
              <a:t>void setup() {</a:t>
            </a:r>
          </a:p>
          <a:p>
            <a:pPr algn="l">
              <a:lnSpc>
                <a:spcPct val="100000"/>
              </a:lnSpc>
              <a:spcAft>
                <a:spcPts val="0"/>
              </a:spcAft>
              <a:defRPr sz="1800">
                <a:latin typeface="Consolas"/>
              </a:defRPr>
            </a:pPr>
            <a:r>
              <a:rPr sz="1800">
                <a:solidFill>
                  <a:srgbClr val="222222"/>
                </a:solidFill>
                <a:latin typeface="Consolas"/>
              </a:rPr>
              <a:t>  startRover();</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222222"/>
                </a:solidFill>
                <a:latin typeface="Consolas"/>
              </a:rPr>
              <a:t>  setLight(0, mixColor(255, 0, 0));       // Red only</a:t>
            </a:r>
          </a:p>
          <a:p>
            <a:pPr algn="l">
              <a:lnSpc>
                <a:spcPct val="100000"/>
              </a:lnSpc>
              <a:spcAft>
                <a:spcPts val="0"/>
              </a:spcAft>
              <a:defRPr sz="1800">
                <a:latin typeface="Consolas"/>
              </a:defRPr>
            </a:pPr>
            <a:r>
              <a:rPr sz="1800">
                <a:solidFill>
                  <a:srgbClr val="222222"/>
                </a:solidFill>
                <a:latin typeface="Consolas"/>
              </a:rPr>
              <a:t>  setLight(1, mixColor(0, 255, 0));       // Green only</a:t>
            </a:r>
          </a:p>
          <a:p>
            <a:pPr algn="l">
              <a:lnSpc>
                <a:spcPct val="100000"/>
              </a:lnSpc>
              <a:spcAft>
                <a:spcPts val="0"/>
              </a:spcAft>
              <a:defRPr sz="1800">
                <a:latin typeface="Consolas"/>
              </a:defRPr>
            </a:pPr>
            <a:r>
              <a:rPr sz="1800">
                <a:solidFill>
                  <a:srgbClr val="222222"/>
                </a:solidFill>
                <a:latin typeface="Consolas"/>
              </a:rPr>
              <a:t>  setLight(2, mixColor(0, 0, 255));       // Blue only</a:t>
            </a:r>
          </a:p>
          <a:p>
            <a:pPr algn="l">
              <a:lnSpc>
                <a:spcPct val="100000"/>
              </a:lnSpc>
              <a:spcAft>
                <a:spcPts val="0"/>
              </a:spcAft>
              <a:defRPr sz="1800">
                <a:latin typeface="Consolas"/>
              </a:defRPr>
            </a:pPr>
            <a:r>
              <a:rPr sz="1800">
                <a:solidFill>
                  <a:srgbClr val="222222"/>
                </a:solidFill>
                <a:latin typeface="Consolas"/>
              </a:rPr>
              <a:t>  setLight(3, mixColor(255, 255, 0));     // Red + green = ?</a:t>
            </a:r>
          </a:p>
          <a:p>
            <a:pPr algn="l">
              <a:lnSpc>
                <a:spcPct val="100000"/>
              </a:lnSpc>
              <a:spcAft>
                <a:spcPts val="0"/>
              </a:spcAft>
              <a:defRPr sz="1800">
                <a:latin typeface="Consolas"/>
              </a:defRPr>
            </a:pPr>
            <a:r>
              <a:rPr sz="1800">
                <a:solidFill>
                  <a:srgbClr val="222222"/>
                </a:solidFill>
                <a:latin typeface="Consolas"/>
              </a:rPr>
              <a:t>  setLight(4, mixColor(0, 255, 255));     // Green + blue = ?</a:t>
            </a:r>
          </a:p>
          <a:p>
            <a:pPr algn="l">
              <a:lnSpc>
                <a:spcPct val="100000"/>
              </a:lnSpc>
              <a:spcAft>
                <a:spcPts val="0"/>
              </a:spcAft>
              <a:defRPr sz="1800">
                <a:latin typeface="Consolas"/>
              </a:defRPr>
            </a:pPr>
            <a:r>
              <a:rPr sz="1800">
                <a:solidFill>
                  <a:srgbClr val="222222"/>
                </a:solidFill>
                <a:latin typeface="Consolas"/>
              </a:rPr>
              <a:t>  setLight(5, mixColor(255, 255, 255));   // All three = ?</a:t>
            </a:r>
          </a:p>
          <a:p>
            <a:pPr algn="l">
              <a:lnSpc>
                <a:spcPct val="100000"/>
              </a:lnSpc>
              <a:spcAft>
                <a:spcPts val="0"/>
              </a:spcAft>
              <a:defRPr sz="1800">
                <a:latin typeface="Consolas"/>
              </a:defRPr>
            </a:pPr>
            <a:r>
              <a:rPr sz="1800">
                <a:solidFill>
                  <a:srgbClr val="222222"/>
                </a:solidFill>
                <a:latin typeface="Consolas"/>
              </a:rPr>
              <a:t>  setLight(6, myColor);</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666666"/>
                </a:solidFill>
                <a:latin typeface="Consolas"/>
              </a:rPr>
              <a:t>  // setBackLights(teamColor);</a:t>
            </a:r>
          </a:p>
          <a:p>
            <a:pPr algn="l">
              <a:lnSpc>
                <a:spcPct val="100000"/>
              </a:lnSpc>
              <a:spcAft>
                <a:spcPts val="0"/>
              </a:spcAft>
              <a:defRPr sz="1800">
                <a:latin typeface="Consolas"/>
              </a:defRPr>
            </a:pPr>
            <a:r>
              <a:rPr sz="1800">
                <a:solidFill>
                  <a:srgbClr val="222222"/>
                </a:solidFill>
                <a:latin typeface="Consolas"/>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color lab</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MISSION:   </a:t>
            </a:r>
            <a:r>
              <a:rPr sz="1500" b="1">
                <a:solidFill>
                  <a:srgbClr val="FFFFFF"/>
                </a:solidFill>
                <a:latin typeface="Consolas"/>
              </a:rPr>
              <a:t>e03a_color_lab</a:t>
            </a:r>
            <a:r>
              <a:rPr sz="1200">
                <a:solidFill>
                  <a:srgbClr val="FFFFFF"/>
                </a:solidFill>
                <a:latin typeface="Calibri"/>
              </a:rPr>
              <a:t>     (20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BEFORE you upload: write your guesses for lights 3, 4, 5 and 6 in your Mission Log.</a:t>
            </a:r>
          </a:p>
          <a:p>
            <a:pPr algn="l">
              <a:lnSpc>
                <a:spcPct val="100000"/>
              </a:lnSpc>
              <a:spcAft>
                <a:spcPts val="800"/>
              </a:spcAft>
              <a:defRPr sz="2000" b="0">
                <a:solidFill>
                  <a:srgbClr val="222222"/>
                </a:solidFill>
                <a:latin typeface="Calibri"/>
              </a:defRPr>
            </a:pPr>
            <a:r>
              <a:rPr sz="2000" b="0">
                <a:solidFill>
                  <a:srgbClr val="222222"/>
                </a:solidFill>
                <a:latin typeface="Calibri"/>
              </a:rPr>
              <a:t>Upload. Check your guesses. Were you right?</a:t>
            </a:r>
          </a:p>
          <a:p>
            <a:pPr algn="l">
              <a:lnSpc>
                <a:spcPct val="100000"/>
              </a:lnSpc>
              <a:spcAft>
                <a:spcPts val="800"/>
              </a:spcAft>
              <a:defRPr sz="2000" b="0">
                <a:solidFill>
                  <a:srgbClr val="222222"/>
                </a:solidFill>
                <a:latin typeface="Calibri"/>
              </a:defRPr>
            </a:pPr>
            <a:r>
              <a:rPr sz="2000" b="0">
                <a:solidFill>
                  <a:srgbClr val="222222"/>
                </a:solidFill>
                <a:latin typeface="Calibri"/>
              </a:rPr>
              <a:t>LEVEL 2: mix your TEAM COLOR in teamColor (line 27). Remove the // in front of setBackLights. Upload.</a:t>
            </a:r>
          </a:p>
          <a:p>
            <a:pPr algn="l">
              <a:lnSpc>
                <a:spcPct val="100000"/>
              </a:lnSpc>
              <a:spcAft>
                <a:spcPts val="800"/>
              </a:spcAft>
              <a:defRPr sz="2000" b="0">
                <a:solidFill>
                  <a:srgbClr val="222222"/>
                </a:solidFill>
                <a:latin typeface="Calibri"/>
              </a:defRPr>
            </a:pPr>
            <a:r>
              <a:rPr sz="2000" b="0">
                <a:solidFill>
                  <a:srgbClr val="222222"/>
                </a:solidFill>
                <a:latin typeface="Calibri"/>
              </a:rPr>
              <a:t>LEVEL 3: paint a flag or a rainbow across the front, lights 0 to 15. Try setLights(0, 4, RED);</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632885"/>
          </a:xfrm>
          <a:prstGeom prst="rect">
            <a:avLst/>
          </a:prstGeom>
          <a:noFill/>
        </p:spPr>
        <p:txBody>
          <a:bodyPr wrap="square" lIns="0" tIns="0" rIns="0" bIns="0">
            <a:spAutoFit/>
          </a:bodyPr>
          <a:lstStyle/>
          <a:p>
            <a:pPr algn="l">
              <a:lnSpc>
                <a:spcPct val="100000"/>
              </a:lnSpc>
              <a:spcAft>
                <a:spcPts val="300"/>
              </a:spcAft>
              <a:defRPr sz="2300" b="0">
                <a:solidFill>
                  <a:srgbClr val="222222"/>
                </a:solidFill>
                <a:latin typeface="Calibri"/>
              </a:defRPr>
            </a:pPr>
            <a:r>
              <a:rPr sz="2300" b="0">
                <a:solidFill>
                  <a:srgbClr val="222222"/>
                </a:solidFill>
                <a:latin typeface="Calibri"/>
              </a:rPr>
              <a:t>Seven colors, on lights 0 to 6</a:t>
            </a:r>
          </a:p>
        </p:txBody>
      </p:sp>
      <p:sp>
        <p:nvSpPr>
          <p:cNvPr id="10" name="TextBox 9"/>
          <p:cNvSpPr txBox="1"/>
          <p:nvPr/>
        </p:nvSpPr>
        <p:spPr>
          <a:xfrm>
            <a:off x="7163537" y="301032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412661"/>
            <a:ext cx="4525238" cy="1762842"/>
          </a:xfrm>
          <a:prstGeom prst="rect">
            <a:avLst/>
          </a:prstGeom>
          <a:noFill/>
        </p:spPr>
        <p:txBody>
          <a:bodyPr wrap="square" lIns="0" tIns="0" rIns="0" bIns="0">
            <a:spAutoFit/>
          </a:bodyPr>
          <a:lstStyle/>
          <a:p>
            <a:pPr algn="l">
              <a:lnSpc>
                <a:spcPct val="100000"/>
              </a:lnSpc>
              <a:spcAft>
                <a:spcPts val="300"/>
              </a:spcAft>
              <a:defRPr sz="2700" b="0">
                <a:solidFill>
                  <a:srgbClr val="222222"/>
                </a:solidFill>
                <a:latin typeface="Calibri"/>
              </a:defRPr>
            </a:pPr>
            <a:r>
              <a:rPr sz="2700" b="0">
                <a:solidFill>
                  <a:srgbClr val="222222"/>
                </a:solidFill>
                <a:latin typeface="Calibri"/>
              </a:rPr>
              <a:t>What did red + green make?</a:t>
            </a:r>
          </a:p>
          <a:p>
            <a:pPr algn="l">
              <a:lnSpc>
                <a:spcPct val="100000"/>
              </a:lnSpc>
              <a:spcAft>
                <a:spcPts val="300"/>
              </a:spcAft>
              <a:defRPr sz="2700" b="0">
                <a:solidFill>
                  <a:srgbClr val="222222"/>
                </a:solidFill>
                <a:latin typeface="Calibri"/>
              </a:defRPr>
            </a:pPr>
            <a:r>
              <a:rPr sz="2700" b="0">
                <a:solidFill>
                  <a:srgbClr val="222222"/>
                </a:solidFill>
                <a:latin typeface="Calibri"/>
              </a:rPr>
              <a:t>What three numbers make your team color?</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Look at the lights from the side, not straight into them.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it looks like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Rectangle 5"/>
          <p:cNvSpPr/>
          <p:nvPr/>
        </p:nvSpPr>
        <p:spPr>
          <a:xfrm>
            <a:off x="502920" y="1188720"/>
            <a:ext cx="11185855" cy="434340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PHOTO: lights 0 to 6 running e03a_color_lab</a:t>
            </a:r>
          </a:p>
          <a:p>
            <a:pPr algn="ctr">
              <a:lnSpc>
                <a:spcPct val="100000"/>
              </a:lnSpc>
              <a:spcAft>
                <a:spcPts val="700"/>
              </a:spcAft>
              <a:defRPr sz="1600" b="0">
                <a:solidFill>
                  <a:srgbClr val="0E7C86"/>
                </a:solidFill>
                <a:latin typeface="Calibri"/>
              </a:defRPr>
            </a:pPr>
            <a:r>
              <a:rPr sz="1600" b="0">
                <a:solidFill>
                  <a:srgbClr val="0E7C86"/>
                </a:solidFill>
                <a:latin typeface="Calibri"/>
              </a:rPr>
              <a:t>Taken in a dim room from the front, so the seven colors are easy to tell apart</a:t>
            </a:r>
          </a:p>
        </p:txBody>
      </p:sp>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Lights 0 to 6, running e03a_color_lab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Mixing tips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Orange: lots of red, a little green.  (255, 90, 0)</a:t>
            </a:r>
          </a:p>
          <a:p>
            <a:pPr algn="l">
              <a:lnSpc>
                <a:spcPct val="100000"/>
              </a:lnSpc>
              <a:spcAft>
                <a:spcPts val="900"/>
              </a:spcAft>
              <a:defRPr sz="3000" b="0">
                <a:solidFill>
                  <a:srgbClr val="222222"/>
                </a:solidFill>
                <a:latin typeface="Calibri"/>
              </a:defRPr>
            </a:pPr>
            <a:r>
              <a:rPr sz="3000" b="0">
                <a:solidFill>
                  <a:srgbClr val="222222"/>
                </a:solidFill>
                <a:latin typeface="Calibri"/>
              </a:rPr>
              <a:t>Purple: red and blue, more blue.  (140, 0, 255)</a:t>
            </a:r>
          </a:p>
          <a:p>
            <a:pPr algn="l">
              <a:lnSpc>
                <a:spcPct val="100000"/>
              </a:lnSpc>
              <a:spcAft>
                <a:spcPts val="900"/>
              </a:spcAft>
              <a:defRPr sz="3000" b="0">
                <a:solidFill>
                  <a:srgbClr val="222222"/>
                </a:solidFill>
                <a:latin typeface="Calibri"/>
              </a:defRPr>
            </a:pPr>
            <a:r>
              <a:rPr sz="3000" b="0">
                <a:solidFill>
                  <a:srgbClr val="222222"/>
                </a:solidFill>
                <a:latin typeface="Calibri"/>
              </a:rPr>
              <a:t>Pastels: add some of all three.  Light pink is (255, 120, 150)</a:t>
            </a:r>
          </a:p>
          <a:p>
            <a:pPr algn="l">
              <a:lnSpc>
                <a:spcPct val="100000"/>
              </a:lnSpc>
              <a:spcAft>
                <a:spcPts val="900"/>
              </a:spcAft>
              <a:defRPr sz="3000" b="0">
                <a:solidFill>
                  <a:srgbClr val="222222"/>
                </a:solidFill>
                <a:latin typeface="Calibri"/>
              </a:defRPr>
            </a:pPr>
            <a:r>
              <a:rPr sz="3000" b="0">
                <a:solidFill>
                  <a:srgbClr val="222222"/>
                </a:solidFill>
                <a:latin typeface="Calibri"/>
              </a:rPr>
              <a:t>Brown and black are impossible! Lights can only ADD. Dark just looks dim.</a:t>
            </a:r>
          </a:p>
          <a:p>
            <a:pPr algn="l">
              <a:lnSpc>
                <a:spcPct val="100000"/>
              </a:lnSpc>
              <a:spcAft>
                <a:spcPts val="900"/>
              </a:spcAft>
              <a:defRPr sz="3000" b="0">
                <a:solidFill>
                  <a:srgbClr val="222222"/>
                </a:solidFill>
                <a:latin typeface="Calibri"/>
              </a:defRPr>
            </a:pPr>
            <a:r>
              <a:rPr sz="3000" b="0">
                <a:solidFill>
                  <a:srgbClr val="222222"/>
                </a:solidFill>
                <a:latin typeface="Calibri"/>
              </a:rPr>
              <a:t>Too bright? setBrightness(30) dims every light at once.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light map</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15 minutes</a:t>
            </a:r>
          </a:p>
        </p:txBody>
      </p:sp>
      <p:sp>
        <p:nvSpPr>
          <p:cNvPr id="7" name="Rounded Rectangle 6"/>
          <p:cNvSpPr/>
          <p:nvPr/>
        </p:nvSpPr>
        <p:spPr>
          <a:xfrm>
            <a:off x="502920"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Mixing light</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4280306"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color lab</a:t>
            </a:r>
          </a:p>
        </p:txBody>
      </p:sp>
      <p:sp>
        <p:nvSpPr>
          <p:cNvPr id="10" name="TextBox 9"/>
          <p:cNvSpPr txBox="1"/>
          <p:nvPr/>
        </p:nvSpPr>
        <p:spPr>
          <a:xfrm>
            <a:off x="4280306"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8057692"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light map</a:t>
            </a:r>
          </a:p>
        </p:txBody>
      </p:sp>
      <p:sp>
        <p:nvSpPr>
          <p:cNvPr id="12" name="TextBox 11"/>
          <p:cNvSpPr txBox="1"/>
          <p:nvPr/>
        </p:nvSpPr>
        <p:spPr>
          <a:xfrm>
            <a:off x="8057692"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light has a number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1371600" y="1298448"/>
            <a:ext cx="9418320" cy="398780"/>
          </a:xfrm>
          <a:prstGeom prst="rect">
            <a:avLst/>
          </a:prstGeom>
          <a:noFill/>
        </p:spPr>
        <p:txBody>
          <a:bodyPr wrap="square" lIns="0" tIns="0" rIns="0" bIns="0">
            <a:spAutoFit/>
          </a:bodyPr>
          <a:lstStyle/>
          <a:p>
            <a:pPr algn="ctr">
              <a:lnSpc>
                <a:spcPct val="100000"/>
              </a:lnSpc>
              <a:spcAft>
                <a:spcPts val="100"/>
              </a:spcAft>
              <a:defRPr sz="2000" b="1">
                <a:solidFill>
                  <a:srgbClr val="1F3A5F"/>
                </a:solidFill>
                <a:latin typeface="Calibri"/>
              </a:defRPr>
            </a:pPr>
            <a:r>
              <a:rPr sz="2000" b="1">
                <a:solidFill>
                  <a:srgbClr val="1F3A5F"/>
                </a:solidFill>
                <a:latin typeface="Calibri"/>
              </a:rPr>
              <a:t>FRONT of the vehicle</a:t>
            </a:r>
          </a:p>
        </p:txBody>
      </p:sp>
      <p:sp>
        <p:nvSpPr>
          <p:cNvPr id="7" name="Rectangle 6"/>
          <p:cNvSpPr/>
          <p:nvPr/>
        </p:nvSpPr>
        <p:spPr>
          <a:xfrm>
            <a:off x="1371600" y="182880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0</a:t>
            </a:r>
          </a:p>
        </p:txBody>
      </p:sp>
      <p:sp>
        <p:nvSpPr>
          <p:cNvPr id="8" name="Rectangle 7"/>
          <p:cNvSpPr/>
          <p:nvPr/>
        </p:nvSpPr>
        <p:spPr>
          <a:xfrm>
            <a:off x="1960245" y="182880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a:t>
            </a:r>
          </a:p>
        </p:txBody>
      </p:sp>
      <p:sp>
        <p:nvSpPr>
          <p:cNvPr id="9" name="Rectangle 8"/>
          <p:cNvSpPr/>
          <p:nvPr/>
        </p:nvSpPr>
        <p:spPr>
          <a:xfrm>
            <a:off x="2548890" y="182880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a:t>
            </a:r>
          </a:p>
        </p:txBody>
      </p:sp>
      <p:sp>
        <p:nvSpPr>
          <p:cNvPr id="10" name="Rectangle 9"/>
          <p:cNvSpPr/>
          <p:nvPr/>
        </p:nvSpPr>
        <p:spPr>
          <a:xfrm>
            <a:off x="3137535" y="182880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3</a:t>
            </a:r>
          </a:p>
        </p:txBody>
      </p:sp>
      <p:sp>
        <p:nvSpPr>
          <p:cNvPr id="11" name="Rectangle 10"/>
          <p:cNvSpPr/>
          <p:nvPr/>
        </p:nvSpPr>
        <p:spPr>
          <a:xfrm>
            <a:off x="3726180" y="182880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4</a:t>
            </a:r>
          </a:p>
        </p:txBody>
      </p:sp>
      <p:sp>
        <p:nvSpPr>
          <p:cNvPr id="12" name="Rectangle 11"/>
          <p:cNvSpPr/>
          <p:nvPr/>
        </p:nvSpPr>
        <p:spPr>
          <a:xfrm>
            <a:off x="4314825" y="182880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5</a:t>
            </a:r>
          </a:p>
        </p:txBody>
      </p:sp>
      <p:sp>
        <p:nvSpPr>
          <p:cNvPr id="13" name="Rectangle 12"/>
          <p:cNvSpPr/>
          <p:nvPr/>
        </p:nvSpPr>
        <p:spPr>
          <a:xfrm>
            <a:off x="4903470" y="182880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6</a:t>
            </a:r>
          </a:p>
        </p:txBody>
      </p:sp>
      <p:sp>
        <p:nvSpPr>
          <p:cNvPr id="14" name="Rectangle 13"/>
          <p:cNvSpPr/>
          <p:nvPr/>
        </p:nvSpPr>
        <p:spPr>
          <a:xfrm>
            <a:off x="5492115" y="182880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7</a:t>
            </a:r>
          </a:p>
        </p:txBody>
      </p:sp>
      <p:sp>
        <p:nvSpPr>
          <p:cNvPr id="15" name="Rectangle 14"/>
          <p:cNvSpPr/>
          <p:nvPr/>
        </p:nvSpPr>
        <p:spPr>
          <a:xfrm>
            <a:off x="6080760" y="182880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8</a:t>
            </a:r>
          </a:p>
        </p:txBody>
      </p:sp>
      <p:sp>
        <p:nvSpPr>
          <p:cNvPr id="16" name="Rectangle 15"/>
          <p:cNvSpPr/>
          <p:nvPr/>
        </p:nvSpPr>
        <p:spPr>
          <a:xfrm>
            <a:off x="6669405" y="182880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9</a:t>
            </a:r>
          </a:p>
        </p:txBody>
      </p:sp>
      <p:sp>
        <p:nvSpPr>
          <p:cNvPr id="17" name="Rectangle 16"/>
          <p:cNvSpPr/>
          <p:nvPr/>
        </p:nvSpPr>
        <p:spPr>
          <a:xfrm>
            <a:off x="7258050" y="182880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10</a:t>
            </a:r>
          </a:p>
        </p:txBody>
      </p:sp>
      <p:sp>
        <p:nvSpPr>
          <p:cNvPr id="18" name="Rectangle 17"/>
          <p:cNvSpPr/>
          <p:nvPr/>
        </p:nvSpPr>
        <p:spPr>
          <a:xfrm>
            <a:off x="7846695" y="182880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11</a:t>
            </a:r>
          </a:p>
        </p:txBody>
      </p:sp>
      <p:sp>
        <p:nvSpPr>
          <p:cNvPr id="19" name="Rectangle 18"/>
          <p:cNvSpPr/>
          <p:nvPr/>
        </p:nvSpPr>
        <p:spPr>
          <a:xfrm>
            <a:off x="8435340" y="182880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12</a:t>
            </a:r>
          </a:p>
        </p:txBody>
      </p:sp>
      <p:sp>
        <p:nvSpPr>
          <p:cNvPr id="20" name="Rectangle 19"/>
          <p:cNvSpPr/>
          <p:nvPr/>
        </p:nvSpPr>
        <p:spPr>
          <a:xfrm>
            <a:off x="9023985" y="182880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13</a:t>
            </a:r>
          </a:p>
        </p:txBody>
      </p:sp>
      <p:sp>
        <p:nvSpPr>
          <p:cNvPr id="21" name="Rectangle 20"/>
          <p:cNvSpPr/>
          <p:nvPr/>
        </p:nvSpPr>
        <p:spPr>
          <a:xfrm>
            <a:off x="9612630" y="182880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14</a:t>
            </a:r>
          </a:p>
        </p:txBody>
      </p:sp>
      <p:sp>
        <p:nvSpPr>
          <p:cNvPr id="22" name="Rectangle 21"/>
          <p:cNvSpPr/>
          <p:nvPr/>
        </p:nvSpPr>
        <p:spPr>
          <a:xfrm>
            <a:off x="10201275" y="182880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15</a:t>
            </a:r>
          </a:p>
        </p:txBody>
      </p:sp>
      <p:sp>
        <p:nvSpPr>
          <p:cNvPr id="23" name="Rectangle 22"/>
          <p:cNvSpPr/>
          <p:nvPr/>
        </p:nvSpPr>
        <p:spPr>
          <a:xfrm>
            <a:off x="10201275" y="397764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16</a:t>
            </a:r>
          </a:p>
        </p:txBody>
      </p:sp>
      <p:sp>
        <p:nvSpPr>
          <p:cNvPr id="24" name="Rectangle 23"/>
          <p:cNvSpPr/>
          <p:nvPr/>
        </p:nvSpPr>
        <p:spPr>
          <a:xfrm>
            <a:off x="9612630" y="397764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17</a:t>
            </a:r>
          </a:p>
        </p:txBody>
      </p:sp>
      <p:sp>
        <p:nvSpPr>
          <p:cNvPr id="25" name="Rectangle 24"/>
          <p:cNvSpPr/>
          <p:nvPr/>
        </p:nvSpPr>
        <p:spPr>
          <a:xfrm>
            <a:off x="9023985" y="397764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18</a:t>
            </a:r>
          </a:p>
        </p:txBody>
      </p:sp>
      <p:sp>
        <p:nvSpPr>
          <p:cNvPr id="26" name="Rectangle 25"/>
          <p:cNvSpPr/>
          <p:nvPr/>
        </p:nvSpPr>
        <p:spPr>
          <a:xfrm>
            <a:off x="8435340" y="397764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19</a:t>
            </a:r>
          </a:p>
        </p:txBody>
      </p:sp>
      <p:sp>
        <p:nvSpPr>
          <p:cNvPr id="27" name="Rectangle 26"/>
          <p:cNvSpPr/>
          <p:nvPr/>
        </p:nvSpPr>
        <p:spPr>
          <a:xfrm>
            <a:off x="7846695" y="397764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20</a:t>
            </a:r>
          </a:p>
        </p:txBody>
      </p:sp>
      <p:sp>
        <p:nvSpPr>
          <p:cNvPr id="28" name="Rectangle 27"/>
          <p:cNvSpPr/>
          <p:nvPr/>
        </p:nvSpPr>
        <p:spPr>
          <a:xfrm>
            <a:off x="7258050" y="397764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21</a:t>
            </a:r>
          </a:p>
        </p:txBody>
      </p:sp>
      <p:sp>
        <p:nvSpPr>
          <p:cNvPr id="29" name="Rectangle 28"/>
          <p:cNvSpPr/>
          <p:nvPr/>
        </p:nvSpPr>
        <p:spPr>
          <a:xfrm>
            <a:off x="6669405" y="397764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22</a:t>
            </a:r>
          </a:p>
        </p:txBody>
      </p:sp>
      <p:sp>
        <p:nvSpPr>
          <p:cNvPr id="30" name="Rectangle 29"/>
          <p:cNvSpPr/>
          <p:nvPr/>
        </p:nvSpPr>
        <p:spPr>
          <a:xfrm>
            <a:off x="6080760" y="3977640"/>
            <a:ext cx="588645" cy="502920"/>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23</a:t>
            </a:r>
          </a:p>
        </p:txBody>
      </p:sp>
      <p:sp>
        <p:nvSpPr>
          <p:cNvPr id="31" name="Rectangle 30"/>
          <p:cNvSpPr/>
          <p:nvPr/>
        </p:nvSpPr>
        <p:spPr>
          <a:xfrm>
            <a:off x="5492115" y="397764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24</a:t>
            </a:r>
          </a:p>
        </p:txBody>
      </p:sp>
      <p:sp>
        <p:nvSpPr>
          <p:cNvPr id="32" name="Rectangle 31"/>
          <p:cNvSpPr/>
          <p:nvPr/>
        </p:nvSpPr>
        <p:spPr>
          <a:xfrm>
            <a:off x="4903470" y="397764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25</a:t>
            </a:r>
          </a:p>
        </p:txBody>
      </p:sp>
      <p:sp>
        <p:nvSpPr>
          <p:cNvPr id="33" name="Rectangle 32"/>
          <p:cNvSpPr/>
          <p:nvPr/>
        </p:nvSpPr>
        <p:spPr>
          <a:xfrm>
            <a:off x="4314825" y="397764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26</a:t>
            </a:r>
          </a:p>
        </p:txBody>
      </p:sp>
      <p:sp>
        <p:nvSpPr>
          <p:cNvPr id="34" name="Rectangle 33"/>
          <p:cNvSpPr/>
          <p:nvPr/>
        </p:nvSpPr>
        <p:spPr>
          <a:xfrm>
            <a:off x="3726180" y="397764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27</a:t>
            </a:r>
          </a:p>
        </p:txBody>
      </p:sp>
      <p:sp>
        <p:nvSpPr>
          <p:cNvPr id="35" name="Rectangle 34"/>
          <p:cNvSpPr/>
          <p:nvPr/>
        </p:nvSpPr>
        <p:spPr>
          <a:xfrm>
            <a:off x="3137535" y="397764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28</a:t>
            </a:r>
          </a:p>
        </p:txBody>
      </p:sp>
      <p:sp>
        <p:nvSpPr>
          <p:cNvPr id="36" name="Rectangle 35"/>
          <p:cNvSpPr/>
          <p:nvPr/>
        </p:nvSpPr>
        <p:spPr>
          <a:xfrm>
            <a:off x="2548890" y="397764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29</a:t>
            </a:r>
          </a:p>
        </p:txBody>
      </p:sp>
      <p:sp>
        <p:nvSpPr>
          <p:cNvPr id="37" name="Rectangle 36"/>
          <p:cNvSpPr/>
          <p:nvPr/>
        </p:nvSpPr>
        <p:spPr>
          <a:xfrm>
            <a:off x="1960245" y="397764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30</a:t>
            </a:r>
          </a:p>
        </p:txBody>
      </p:sp>
      <p:sp>
        <p:nvSpPr>
          <p:cNvPr id="38" name="Rectangle 37"/>
          <p:cNvSpPr/>
          <p:nvPr/>
        </p:nvSpPr>
        <p:spPr>
          <a:xfrm>
            <a:off x="1371600" y="3977640"/>
            <a:ext cx="588645" cy="502920"/>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31</a:t>
            </a:r>
          </a:p>
        </p:txBody>
      </p:sp>
      <p:sp>
        <p:nvSpPr>
          <p:cNvPr id="39" name="TextBox 38"/>
          <p:cNvSpPr txBox="1"/>
          <p:nvPr/>
        </p:nvSpPr>
        <p:spPr>
          <a:xfrm>
            <a:off x="1371600" y="4590288"/>
            <a:ext cx="9418320" cy="398780"/>
          </a:xfrm>
          <a:prstGeom prst="rect">
            <a:avLst/>
          </a:prstGeom>
          <a:noFill/>
        </p:spPr>
        <p:txBody>
          <a:bodyPr wrap="square" lIns="0" tIns="0" rIns="0" bIns="0">
            <a:spAutoFit/>
          </a:bodyPr>
          <a:lstStyle/>
          <a:p>
            <a:pPr algn="ctr">
              <a:lnSpc>
                <a:spcPct val="100000"/>
              </a:lnSpc>
              <a:spcAft>
                <a:spcPts val="100"/>
              </a:spcAft>
              <a:defRPr sz="2000" b="1">
                <a:solidFill>
                  <a:srgbClr val="1F3A5F"/>
                </a:solidFill>
                <a:latin typeface="Calibri"/>
              </a:defRPr>
            </a:pPr>
            <a:r>
              <a:rPr sz="2000" b="1">
                <a:solidFill>
                  <a:srgbClr val="1F3A5F"/>
                </a:solidFill>
                <a:latin typeface="Calibri"/>
              </a:rPr>
              <a:t>BACK of the vehicle</a:t>
            </a:r>
          </a:p>
        </p:txBody>
      </p:sp>
      <p:sp>
        <p:nvSpPr>
          <p:cNvPr id="40" name="Rectangle 39"/>
          <p:cNvSpPr/>
          <p:nvPr/>
        </p:nvSpPr>
        <p:spPr>
          <a:xfrm>
            <a:off x="1371600" y="2441448"/>
            <a:ext cx="9418320" cy="142646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cxnSp>
        <p:nvCxnSpPr>
          <p:cNvPr id="41" name="Connector 40"/>
          <p:cNvCxnSpPr/>
          <p:nvPr/>
        </p:nvCxnSpPr>
        <p:spPr>
          <a:xfrm>
            <a:off x="1691640" y="2642616"/>
            <a:ext cx="8778240" cy="0"/>
          </a:xfrm>
          <a:prstGeom prst="line">
            <a:avLst/>
          </a:prstGeom>
          <a:ln w="3175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607040" y="2642616"/>
            <a:ext cx="0" cy="1024128"/>
          </a:xfrm>
          <a:prstGeom prst="line">
            <a:avLst/>
          </a:prstGeom>
          <a:ln w="3175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691640" y="3666744"/>
            <a:ext cx="8778240" cy="0"/>
          </a:xfrm>
          <a:prstGeom prst="line">
            <a:avLst/>
          </a:prstGeom>
          <a:ln w="3175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920240" y="2898648"/>
            <a:ext cx="8321040" cy="398780"/>
          </a:xfrm>
          <a:prstGeom prst="rect">
            <a:avLst/>
          </a:prstGeom>
          <a:noFill/>
        </p:spPr>
        <p:txBody>
          <a:bodyPr wrap="square" lIns="0" tIns="0" rIns="0" bIns="0">
            <a:spAutoFit/>
          </a:bodyPr>
          <a:lstStyle/>
          <a:p>
            <a:pPr algn="ctr">
              <a:lnSpc>
                <a:spcPct val="100000"/>
              </a:lnSpc>
              <a:spcAft>
                <a:spcPts val="100"/>
              </a:spcAft>
              <a:defRPr sz="2000" b="0">
                <a:solidFill>
                  <a:srgbClr val="222222"/>
                </a:solidFill>
                <a:latin typeface="Calibri"/>
              </a:defRPr>
            </a:pPr>
            <a:r>
              <a:rPr sz="2000" b="0">
                <a:solidFill>
                  <a:srgbClr val="222222"/>
                </a:solidFill>
                <a:latin typeface="Calibri"/>
              </a:rPr>
              <a:t>One long loop: across the front, then back across the rear</a:t>
            </a:r>
          </a:p>
        </p:txBody>
      </p:sp>
      <p:sp>
        <p:nvSpPr>
          <p:cNvPr id="45" name="TextBox 44"/>
          <p:cNvSpPr txBox="1"/>
          <p:nvPr/>
        </p:nvSpPr>
        <p:spPr>
          <a:xfrm>
            <a:off x="457200" y="2926080"/>
            <a:ext cx="868680" cy="398780"/>
          </a:xfrm>
          <a:prstGeom prst="rect">
            <a:avLst/>
          </a:prstGeom>
          <a:noFill/>
        </p:spPr>
        <p:txBody>
          <a:bodyPr wrap="square" lIns="0" tIns="0" rIns="0" bIns="0">
            <a:spAutoFit/>
          </a:bodyPr>
          <a:lstStyle/>
          <a:p>
            <a:pPr algn="ctr">
              <a:lnSpc>
                <a:spcPct val="100000"/>
              </a:lnSpc>
              <a:spcAft>
                <a:spcPts val="100"/>
              </a:spcAft>
              <a:defRPr sz="2000" b="1">
                <a:solidFill>
                  <a:srgbClr val="B46A0F"/>
                </a:solidFill>
                <a:latin typeface="Calibri"/>
              </a:defRPr>
            </a:pPr>
            <a:r>
              <a:rPr sz="2000" b="1">
                <a:solidFill>
                  <a:srgbClr val="B46A0F"/>
                </a:solidFill>
                <a:latin typeface="Calibri"/>
              </a:rPr>
              <a:t>LEFT</a:t>
            </a:r>
          </a:p>
        </p:txBody>
      </p:sp>
      <p:sp>
        <p:nvSpPr>
          <p:cNvPr id="46" name="TextBox 45"/>
          <p:cNvSpPr txBox="1"/>
          <p:nvPr/>
        </p:nvSpPr>
        <p:spPr>
          <a:xfrm>
            <a:off x="10835640" y="2926080"/>
            <a:ext cx="868680" cy="398780"/>
          </a:xfrm>
          <a:prstGeom prst="rect">
            <a:avLst/>
          </a:prstGeom>
          <a:noFill/>
        </p:spPr>
        <p:txBody>
          <a:bodyPr wrap="square" lIns="0" tIns="0" rIns="0" bIns="0">
            <a:spAutoFit/>
          </a:bodyPr>
          <a:lstStyle/>
          <a:p>
            <a:pPr algn="ctr">
              <a:lnSpc>
                <a:spcPct val="100000"/>
              </a:lnSpc>
              <a:spcAft>
                <a:spcPts val="100"/>
              </a:spcAft>
              <a:defRPr sz="2000" b="1">
                <a:solidFill>
                  <a:srgbClr val="0E7C86"/>
                </a:solidFill>
                <a:latin typeface="Calibri"/>
              </a:defRPr>
            </a:pPr>
            <a:r>
              <a:rPr sz="2000" b="1">
                <a:solidFill>
                  <a:srgbClr val="0E7C86"/>
                </a:solidFill>
                <a:latin typeface="Calibri"/>
              </a:rPr>
              <a:t>RIGHT</a:t>
            </a:r>
          </a:p>
        </p:txBody>
      </p:sp>
      <p:sp>
        <p:nvSpPr>
          <p:cNvPr id="47" name="Rounded Rectangle 4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Front: 0 to 15, left to right.  Back: 16 to 31, right to left.  So the light right behind front light 5 is back light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Map every light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MISSION:   </a:t>
            </a:r>
            <a:r>
              <a:rPr sz="1500" b="1">
                <a:solidFill>
                  <a:srgbClr val="FFFFFF"/>
                </a:solidFill>
                <a:latin typeface="Consolas"/>
              </a:rPr>
              <a:t>e03b_light_map</a:t>
            </a:r>
            <a:r>
              <a:rPr sz="1200">
                <a:solidFill>
                  <a:srgbClr val="FFFFFF"/>
                </a:solidFill>
                <a:latin typeface="Calibri"/>
              </a:rPr>
              <a:t>     (15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600" b="0">
                <a:solidFill>
                  <a:srgbClr val="222222"/>
                </a:solidFill>
                <a:latin typeface="Calibri"/>
              </a:defRPr>
            </a:pPr>
            <a:r>
              <a:rPr sz="2600" b="0">
                <a:solidFill>
                  <a:srgbClr val="222222"/>
                </a:solidFill>
                <a:latin typeface="Calibri"/>
              </a:rPr>
              <a:t>Upload e03b_light_map. Open the Serial Monitor.</a:t>
            </a:r>
          </a:p>
          <a:p>
            <a:pPr algn="l">
              <a:lnSpc>
                <a:spcPct val="100000"/>
              </a:lnSpc>
              <a:spcAft>
                <a:spcPts val="800"/>
              </a:spcAft>
              <a:defRPr sz="2600" b="0">
                <a:solidFill>
                  <a:srgbClr val="222222"/>
                </a:solidFill>
                <a:latin typeface="Calibri"/>
              </a:defRPr>
            </a:pPr>
            <a:r>
              <a:rPr sz="2600" b="0">
                <a:solidFill>
                  <a:srgbClr val="222222"/>
                </a:solidFill>
                <a:latin typeface="Calibri"/>
              </a:rPr>
              <a:t>Watch the vehicle AND the numbers on the screen.</a:t>
            </a:r>
          </a:p>
          <a:p>
            <a:pPr algn="l">
              <a:lnSpc>
                <a:spcPct val="100000"/>
              </a:lnSpc>
              <a:spcAft>
                <a:spcPts val="800"/>
              </a:spcAft>
              <a:defRPr sz="2600" b="0">
                <a:solidFill>
                  <a:srgbClr val="222222"/>
                </a:solidFill>
                <a:latin typeface="Calibri"/>
              </a:defRPr>
            </a:pPr>
            <a:r>
              <a:rPr sz="2600" b="0">
                <a:solidFill>
                  <a:srgbClr val="222222"/>
                </a:solidFill>
                <a:latin typeface="Calibri"/>
              </a:rPr>
              <a:t>Fill in the light map in your Mission Log.</a:t>
            </a:r>
          </a:p>
          <a:p>
            <a:pPr algn="l">
              <a:lnSpc>
                <a:spcPct val="100000"/>
              </a:lnSpc>
              <a:spcAft>
                <a:spcPts val="800"/>
              </a:spcAft>
              <a:defRPr sz="2600" b="0">
                <a:solidFill>
                  <a:srgbClr val="222222"/>
                </a:solidFill>
                <a:latin typeface="Calibri"/>
              </a:defRPr>
            </a:pPr>
            <a:r>
              <a:rPr sz="2600" b="0">
                <a:solidFill>
                  <a:srgbClr val="222222"/>
                </a:solidFill>
                <a:latin typeface="Calibri"/>
              </a:rPr>
              <a:t>Where are 0, 15, 16 and 31? Point to each on the vehicle.</a:t>
            </a:r>
          </a:p>
          <a:p>
            <a:pPr algn="l">
              <a:lnSpc>
                <a:spcPct val="100000"/>
              </a:lnSpc>
              <a:spcAft>
                <a:spcPts val="800"/>
              </a:spcAft>
              <a:defRPr sz="2600" b="0">
                <a:solidFill>
                  <a:srgbClr val="222222"/>
                </a:solidFill>
                <a:latin typeface="Calibri"/>
              </a:defRPr>
            </a:pPr>
            <a:r>
              <a:rPr sz="2600" b="0">
                <a:solidFill>
                  <a:srgbClr val="222222"/>
                </a:solidFill>
                <a:latin typeface="Calibri"/>
              </a:rPr>
              <a:t>Too fast? Make WAIT bigger (line 22).</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360833"/>
          </a:xfrm>
          <a:prstGeom prst="rect">
            <a:avLst/>
          </a:prstGeom>
          <a:noFill/>
        </p:spPr>
        <p:txBody>
          <a:bodyPr wrap="square" lIns="0" tIns="0" rIns="0" bIns="0">
            <a:spAutoFit/>
          </a:bodyPr>
          <a:lstStyle/>
          <a:p>
            <a:pPr algn="l">
              <a:lnSpc>
                <a:spcPct val="100000"/>
              </a:lnSpc>
              <a:spcAft>
                <a:spcPts val="600"/>
              </a:spcAft>
              <a:defRPr sz="2800" b="0">
                <a:solidFill>
                  <a:srgbClr val="222222"/>
                </a:solidFill>
                <a:latin typeface="Calibri"/>
              </a:defRPr>
            </a:pPr>
            <a:r>
              <a:rPr sz="2800" b="0">
                <a:solidFill>
                  <a:srgbClr val="222222"/>
                </a:solidFill>
                <a:latin typeface="Calibri"/>
              </a:rPr>
              <a:t>One white light at a time, going all the way round</a:t>
            </a:r>
          </a:p>
        </p:txBody>
      </p:sp>
      <p:sp>
        <p:nvSpPr>
          <p:cNvPr id="10" name="TextBox 9"/>
          <p:cNvSpPr txBox="1"/>
          <p:nvPr/>
        </p:nvSpPr>
        <p:spPr>
          <a:xfrm>
            <a:off x="7163537" y="373827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140609"/>
            <a:ext cx="4525238" cy="2123030"/>
          </a:xfrm>
          <a:prstGeom prst="rect">
            <a:avLst/>
          </a:prstGeom>
          <a:noFill/>
        </p:spPr>
        <p:txBody>
          <a:bodyPr wrap="square" lIns="0" tIns="0" rIns="0" bIns="0">
            <a:spAutoFit/>
          </a:bodyPr>
          <a:lstStyle/>
          <a:p>
            <a:pPr algn="l">
              <a:lnSpc>
                <a:spcPct val="100000"/>
              </a:lnSpc>
              <a:spcAft>
                <a:spcPts val="600"/>
              </a:spcAft>
              <a:defRPr sz="2900" b="0">
                <a:solidFill>
                  <a:srgbClr val="222222"/>
                </a:solidFill>
                <a:latin typeface="Calibri"/>
              </a:defRPr>
            </a:pPr>
            <a:r>
              <a:rPr sz="2900" b="0">
                <a:solidFill>
                  <a:srgbClr val="222222"/>
                </a:solidFill>
                <a:latin typeface="Calibri"/>
              </a:rPr>
              <a:t>Which two lights are at the LEFT end?</a:t>
            </a:r>
          </a:p>
          <a:p>
            <a:pPr algn="l">
              <a:lnSpc>
                <a:spcPct val="100000"/>
              </a:lnSpc>
              <a:spcAft>
                <a:spcPts val="600"/>
              </a:spcAft>
              <a:defRPr sz="2900" b="0">
                <a:solidFill>
                  <a:srgbClr val="222222"/>
                </a:solidFill>
                <a:latin typeface="Calibri"/>
              </a:defRPr>
            </a:pPr>
            <a:r>
              <a:rPr sz="2900" b="0">
                <a:solidFill>
                  <a:srgbClr val="222222"/>
                </a:solidFill>
                <a:latin typeface="Calibri"/>
              </a:rPr>
              <a:t>Which back light is right behind front light 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New words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graphicFrame>
        <p:nvGraphicFramePr>
          <p:cNvPr id="6" name="Table 5"/>
          <p:cNvGraphicFramePr>
            <a:graphicFrameLocks noGrp="1"/>
          </p:cNvGraphicFramePr>
          <p:nvPr/>
        </p:nvGraphicFramePr>
        <p:xfrm>
          <a:off x="502920" y="1188720"/>
          <a:ext cx="11185854" cy="4267200"/>
        </p:xfrm>
        <a:graphic>
          <a:graphicData uri="http://schemas.openxmlformats.org/drawingml/2006/table">
            <a:tbl>
              <a:tblPr firstRow="1" bandRow="1">
                <a:tableStyleId>{5C22544A-7EE6-4342-B048-85BDC9FD1C3A}</a:tableStyleId>
              </a:tblPr>
              <a:tblGrid>
                <a:gridCol w="2743700"/>
                <a:gridCol w="8442154"/>
              </a:tblGrid>
              <a:tr h="711200">
                <a:tc>
                  <a:txBody>
                    <a:bodyPr/>
                    <a:lstStyle/>
                    <a:p>
                      <a:r>
                        <a:rPr sz="3000" b="1">
                          <a:solidFill>
                            <a:srgbClr val="FFFFFF"/>
                          </a:solidFill>
                          <a:latin typeface="Calibri"/>
                        </a:rPr>
                        <a:t>Word</a:t>
                      </a:r>
                    </a:p>
                  </a:txBody>
                  <a:tcPr marL="73152" marT="18288" marB="18288">
                    <a:solidFill>
                      <a:srgbClr val="1F3A5F"/>
                    </a:solidFill>
                  </a:tcPr>
                </a:tc>
                <a:tc>
                  <a:txBody>
                    <a:bodyPr/>
                    <a:lstStyle/>
                    <a:p>
                      <a:r>
                        <a:rPr sz="3000" b="1">
                          <a:solidFill>
                            <a:srgbClr val="FFFFFF"/>
                          </a:solidFill>
                          <a:latin typeface="Calibri"/>
                        </a:rPr>
                        <a:t>What it means</a:t>
                      </a:r>
                    </a:p>
                  </a:txBody>
                  <a:tcPr marL="73152" marT="18288" marB="18288">
                    <a:solidFill>
                      <a:srgbClr val="1F3A5F"/>
                    </a:solidFill>
                  </a:tcPr>
                </a:tc>
              </a:tr>
              <a:tr h="711200">
                <a:tc>
                  <a:txBody>
                    <a:bodyPr/>
                    <a:lstStyle/>
                    <a:p>
                      <a:r>
                        <a:rPr sz="3000">
                          <a:solidFill>
                            <a:srgbClr val="222222"/>
                          </a:solidFill>
                          <a:latin typeface="Calibri"/>
                        </a:rPr>
                        <a:t>RGB</a:t>
                      </a:r>
                    </a:p>
                  </a:txBody>
                  <a:tcPr marL="73152" marT="18288" marB="18288">
                    <a:solidFill>
                      <a:srgbClr val="FFFFFF"/>
                    </a:solidFill>
                  </a:tcPr>
                </a:tc>
                <a:tc>
                  <a:txBody>
                    <a:bodyPr/>
                    <a:lstStyle/>
                    <a:p>
                      <a:r>
                        <a:rPr sz="3000">
                          <a:solidFill>
                            <a:srgbClr val="222222"/>
                          </a:solidFill>
                          <a:latin typeface="Calibri"/>
                        </a:rPr>
                        <a:t>Red, green and blue: the three colors of light</a:t>
                      </a:r>
                    </a:p>
                  </a:txBody>
                  <a:tcPr marL="73152" marT="18288" marB="18288">
                    <a:solidFill>
                      <a:srgbClr val="FFFFFF"/>
                    </a:solidFill>
                  </a:tcPr>
                </a:tc>
              </a:tr>
              <a:tr h="711200">
                <a:tc>
                  <a:txBody>
                    <a:bodyPr/>
                    <a:lstStyle/>
                    <a:p>
                      <a:r>
                        <a:rPr sz="3000">
                          <a:solidFill>
                            <a:srgbClr val="222222"/>
                          </a:solidFill>
                          <a:latin typeface="Consolas"/>
                        </a:rPr>
                        <a:t>mixColor()</a:t>
                      </a:r>
                    </a:p>
                  </a:txBody>
                  <a:tcPr marL="73152" marT="18288" marB="18288">
                    <a:solidFill>
                      <a:srgbClr val="EEF3F8"/>
                    </a:solidFill>
                  </a:tcPr>
                </a:tc>
                <a:tc>
                  <a:txBody>
                    <a:bodyPr/>
                    <a:lstStyle/>
                    <a:p>
                      <a:r>
                        <a:rPr sz="3000">
                          <a:solidFill>
                            <a:srgbClr val="222222"/>
                          </a:solidFill>
                          <a:latin typeface="Calibri"/>
                        </a:rPr>
                        <a:t>Makes a color from three numbers, 0 to 255</a:t>
                      </a:r>
                    </a:p>
                  </a:txBody>
                  <a:tcPr marL="73152" marT="18288" marB="18288">
                    <a:solidFill>
                      <a:srgbClr val="EEF3F8"/>
                    </a:solidFill>
                  </a:tcPr>
                </a:tc>
              </a:tr>
              <a:tr h="711200">
                <a:tc>
                  <a:txBody>
                    <a:bodyPr/>
                    <a:lstStyle/>
                    <a:p>
                      <a:r>
                        <a:rPr sz="3000">
                          <a:solidFill>
                            <a:srgbClr val="222222"/>
                          </a:solidFill>
                          <a:latin typeface="Calibri"/>
                        </a:rPr>
                        <a:t>Variable</a:t>
                      </a:r>
                    </a:p>
                  </a:txBody>
                  <a:tcPr marL="73152" marT="18288" marB="18288">
                    <a:solidFill>
                      <a:srgbClr val="FFFFFF"/>
                    </a:solidFill>
                  </a:tcPr>
                </a:tc>
                <a:tc>
                  <a:txBody>
                    <a:bodyPr/>
                    <a:lstStyle/>
                    <a:p>
                      <a:r>
                        <a:rPr sz="3000">
                          <a:solidFill>
                            <a:srgbClr val="222222"/>
                          </a:solidFill>
                          <a:latin typeface="Calibri"/>
                        </a:rPr>
                        <a:t>A name that holds a value, like teamColor</a:t>
                      </a:r>
                    </a:p>
                  </a:txBody>
                  <a:tcPr marL="73152" marT="18288" marB="18288">
                    <a:solidFill>
                      <a:srgbClr val="FFFFFF"/>
                    </a:solidFill>
                  </a:tcPr>
                </a:tc>
              </a:tr>
              <a:tr h="711200">
                <a:tc>
                  <a:txBody>
                    <a:bodyPr/>
                    <a:lstStyle/>
                    <a:p>
                      <a:r>
                        <a:rPr sz="3000">
                          <a:solidFill>
                            <a:srgbClr val="222222"/>
                          </a:solidFill>
                          <a:latin typeface="Calibri"/>
                        </a:rPr>
                        <a:t>Comment out</a:t>
                      </a:r>
                    </a:p>
                  </a:txBody>
                  <a:tcPr marL="73152" marT="18288" marB="18288">
                    <a:solidFill>
                      <a:srgbClr val="EEF3F8"/>
                    </a:solidFill>
                  </a:tcPr>
                </a:tc>
                <a:tc>
                  <a:txBody>
                    <a:bodyPr/>
                    <a:lstStyle/>
                    <a:p>
                      <a:r>
                        <a:rPr sz="3000">
                          <a:solidFill>
                            <a:srgbClr val="222222"/>
                          </a:solidFill>
                          <a:latin typeface="Calibri"/>
                        </a:rPr>
                        <a:t>Put // in front of a line so the computer skips it</a:t>
                      </a:r>
                    </a:p>
                  </a:txBody>
                  <a:tcPr marL="73152" marT="18288" marB="18288">
                    <a:solidFill>
                      <a:srgbClr val="EEF3F8"/>
                    </a:solidFill>
                  </a:tcPr>
                </a:tc>
              </a:tr>
              <a:tr h="711200">
                <a:tc>
                  <a:txBody>
                    <a:bodyPr/>
                    <a:lstStyle/>
                    <a:p>
                      <a:r>
                        <a:rPr sz="3000">
                          <a:solidFill>
                            <a:srgbClr val="222222"/>
                          </a:solidFill>
                          <a:latin typeface="Calibri"/>
                        </a:rPr>
                        <a:t>Light map</a:t>
                      </a:r>
                    </a:p>
                  </a:txBody>
                  <a:tcPr marL="73152" marT="18288" marB="18288">
                    <a:solidFill>
                      <a:srgbClr val="FFFFFF"/>
                    </a:solidFill>
                  </a:tcPr>
                </a:tc>
                <a:tc>
                  <a:txBody>
                    <a:bodyPr/>
                    <a:lstStyle/>
                    <a:p>
                      <a:r>
                        <a:rPr sz="3000">
                          <a:solidFill>
                            <a:srgbClr val="222222"/>
                          </a:solidFill>
                          <a:latin typeface="Calibri"/>
                        </a:rPr>
                        <a:t>Where each light number is on the vehicle</a:t>
                      </a:r>
                    </a:p>
                  </a:txBody>
                  <a:tcPr marL="73152" marT="18288" marB="18288">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1400"/>
              </a:spcAft>
              <a:defRPr sz="3000" b="0">
                <a:solidFill>
                  <a:srgbClr val="222222"/>
                </a:solidFill>
                <a:latin typeface="Calibri"/>
              </a:defRPr>
            </a:pPr>
            <a:r>
              <a:rPr sz="3000" b="0">
                <a:solidFill>
                  <a:srgbClr val="222222"/>
                </a:solidFill>
                <a:latin typeface="Calibri"/>
              </a:rPr>
              <a:t>1.  What three colors of light make every color on a screen?</a:t>
            </a:r>
          </a:p>
          <a:p>
            <a:pPr algn="l">
              <a:lnSpc>
                <a:spcPct val="100000"/>
              </a:lnSpc>
              <a:spcAft>
                <a:spcPts val="1400"/>
              </a:spcAft>
              <a:defRPr sz="3000" b="0">
                <a:solidFill>
                  <a:srgbClr val="222222"/>
                </a:solidFill>
                <a:latin typeface="Calibri"/>
              </a:defRPr>
            </a:pPr>
            <a:r>
              <a:rPr sz="3000" b="0">
                <a:solidFill>
                  <a:srgbClr val="222222"/>
                </a:solidFill>
                <a:latin typeface="Calibri"/>
              </a:rPr>
              <a:t>2.  Red light + green light = ?</a:t>
            </a:r>
          </a:p>
          <a:p>
            <a:pPr algn="l">
              <a:lnSpc>
                <a:spcPct val="100000"/>
              </a:lnSpc>
              <a:spcAft>
                <a:spcPts val="1400"/>
              </a:spcAft>
              <a:defRPr sz="3000" b="0">
                <a:solidFill>
                  <a:srgbClr val="222222"/>
                </a:solidFill>
                <a:latin typeface="Calibri"/>
              </a:defRPr>
            </a:pPr>
            <a:r>
              <a:rPr sz="3000" b="0">
                <a:solidFill>
                  <a:srgbClr val="222222"/>
                </a:solidFill>
                <a:latin typeface="Calibri"/>
              </a:rPr>
              <a:t>3.  What does mixColor(0, 0, 255) make?</a:t>
            </a:r>
          </a:p>
          <a:p>
            <a:pPr algn="l">
              <a:lnSpc>
                <a:spcPct val="100000"/>
              </a:lnSpc>
              <a:spcAft>
                <a:spcPts val="1400"/>
              </a:spcAft>
              <a:defRPr sz="3000" b="0">
                <a:solidFill>
                  <a:srgbClr val="222222"/>
                </a:solidFill>
                <a:latin typeface="Calibri"/>
              </a:defRPr>
            </a:pPr>
            <a:r>
              <a:rPr sz="3000" b="0">
                <a:solidFill>
                  <a:srgbClr val="222222"/>
                </a:solidFill>
                <a:latin typeface="Calibri"/>
              </a:rPr>
              <a:t>4.  What number turns a color all the way up?</a:t>
            </a:r>
          </a:p>
          <a:p>
            <a:pPr algn="l">
              <a:lnSpc>
                <a:spcPct val="100000"/>
              </a:lnSpc>
              <a:spcAft>
                <a:spcPts val="1400"/>
              </a:spcAft>
              <a:defRPr sz="3000" b="0">
                <a:solidFill>
                  <a:srgbClr val="222222"/>
                </a:solidFill>
                <a:latin typeface="Calibri"/>
              </a:defRPr>
            </a:pPr>
            <a:r>
              <a:rPr sz="3000" b="0">
                <a:solidFill>
                  <a:srgbClr val="222222"/>
                </a:solidFill>
                <a:latin typeface="Calibri"/>
              </a:rPr>
              <a:t>5.  Where is light 16 on your vehicle?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Mission Log, then pack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TextBox 5"/>
          <p:cNvSpPr txBox="1"/>
          <p:nvPr/>
        </p:nvSpPr>
        <p:spPr>
          <a:xfrm>
            <a:off x="502920" y="1188720"/>
            <a:ext cx="5364327"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In your Mission Log</a:t>
            </a:r>
          </a:p>
        </p:txBody>
      </p:sp>
      <p:sp>
        <p:nvSpPr>
          <p:cNvPr id="7" name="TextBox 6"/>
          <p:cNvSpPr txBox="1"/>
          <p:nvPr/>
        </p:nvSpPr>
        <p:spPr>
          <a:xfrm>
            <a:off x="502920" y="1700784"/>
            <a:ext cx="5364327" cy="3474720"/>
          </a:xfrm>
          <a:prstGeom prst="rect">
            <a:avLst/>
          </a:prstGeom>
          <a:noFill/>
        </p:spPr>
        <p:txBody>
          <a:bodyPr wrap="square" lIns="0" tIns="0" rIns="0" bIns="0">
            <a:spAutoFit/>
          </a:bodyPr>
          <a:lstStyle/>
          <a:p>
            <a:pPr algn="l">
              <a:lnSpc>
                <a:spcPct val="100000"/>
              </a:lnSpc>
              <a:spcAft>
                <a:spcPts val="800"/>
              </a:spcAft>
              <a:defRPr sz="2700" b="0">
                <a:solidFill>
                  <a:srgbClr val="222222"/>
                </a:solidFill>
                <a:latin typeface="Calibri"/>
              </a:defRPr>
            </a:pPr>
            <a:r>
              <a:rPr sz="2700" b="0">
                <a:solidFill>
                  <a:srgbClr val="222222"/>
                </a:solidFill>
                <a:latin typeface="Calibri"/>
              </a:rPr>
              <a:t>Check your color predictions - right or wrong?</a:t>
            </a:r>
          </a:p>
          <a:p>
            <a:pPr algn="l">
              <a:lnSpc>
                <a:spcPct val="100000"/>
              </a:lnSpc>
              <a:spcAft>
                <a:spcPts val="800"/>
              </a:spcAft>
              <a:defRPr sz="2700" b="0">
                <a:solidFill>
                  <a:srgbClr val="222222"/>
                </a:solidFill>
                <a:latin typeface="Calibri"/>
              </a:defRPr>
            </a:pPr>
            <a:r>
              <a:rPr sz="2700" b="0">
                <a:solidFill>
                  <a:srgbClr val="222222"/>
                </a:solidFill>
                <a:latin typeface="Calibri"/>
              </a:rPr>
              <a:t>Write your team color recipe: (red, green, blue)</a:t>
            </a:r>
          </a:p>
          <a:p>
            <a:pPr algn="l">
              <a:lnSpc>
                <a:spcPct val="100000"/>
              </a:lnSpc>
              <a:spcAft>
                <a:spcPts val="800"/>
              </a:spcAft>
              <a:defRPr sz="2700" b="0">
                <a:solidFill>
                  <a:srgbClr val="222222"/>
                </a:solidFill>
                <a:latin typeface="Calibri"/>
              </a:defRPr>
            </a:pPr>
            <a:r>
              <a:rPr sz="2700" b="0">
                <a:solidFill>
                  <a:srgbClr val="222222"/>
                </a:solidFill>
                <a:latin typeface="Calibri"/>
              </a:rPr>
              <a:t>Finish the light map</a:t>
            </a:r>
          </a:p>
          <a:p>
            <a:pPr algn="l">
              <a:lnSpc>
                <a:spcPct val="100000"/>
              </a:lnSpc>
              <a:spcAft>
                <a:spcPts val="800"/>
              </a:spcAft>
              <a:defRPr sz="2700" b="0">
                <a:solidFill>
                  <a:srgbClr val="222222"/>
                </a:solidFill>
                <a:latin typeface="Calibri"/>
              </a:defRPr>
            </a:pPr>
            <a:r>
              <a:rPr sz="2700" b="0">
                <a:solidFill>
                  <a:srgbClr val="222222"/>
                </a:solidFill>
                <a:latin typeface="Calibri"/>
              </a:rPr>
              <a:t>Stamp: Color Scientist</a:t>
            </a:r>
          </a:p>
        </p:txBody>
      </p:sp>
      <p:sp>
        <p:nvSpPr>
          <p:cNvPr id="8" name="TextBox 7"/>
          <p:cNvSpPr txBox="1"/>
          <p:nvPr/>
        </p:nvSpPr>
        <p:spPr>
          <a:xfrm>
            <a:off x="6324447" y="1188720"/>
            <a:ext cx="5364328"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Pack up</a:t>
            </a:r>
          </a:p>
        </p:txBody>
      </p:sp>
      <p:sp>
        <p:nvSpPr>
          <p:cNvPr id="9" name="TextBox 8"/>
          <p:cNvSpPr txBox="1"/>
          <p:nvPr/>
        </p:nvSpPr>
        <p:spPr>
          <a:xfrm>
            <a:off x="6324447" y="1700784"/>
            <a:ext cx="5364328" cy="3474720"/>
          </a:xfrm>
          <a:prstGeom prst="rect">
            <a:avLst/>
          </a:prstGeom>
          <a:noFill/>
        </p:spPr>
        <p:txBody>
          <a:bodyPr wrap="square" lIns="0" tIns="0" rIns="0" bIns="0">
            <a:spAutoFit/>
          </a:bodyPr>
          <a:lstStyle/>
          <a:p>
            <a:pPr algn="l">
              <a:lnSpc>
                <a:spcPct val="100000"/>
              </a:lnSpc>
              <a:spcAft>
                <a:spcPts val="800"/>
              </a:spcAft>
              <a:defRPr sz="2700" b="0">
                <a:solidFill>
                  <a:srgbClr val="222222"/>
                </a:solidFill>
                <a:latin typeface="Calibri"/>
              </a:defRPr>
            </a:pPr>
            <a:r>
              <a:rPr sz="2700" b="0">
                <a:solidFill>
                  <a:srgbClr val="222222"/>
                </a:solidFill>
                <a:latin typeface="Calibri"/>
              </a:rPr>
              <a:t>Crew Chief: vehicle power OFF.</a:t>
            </a:r>
          </a:p>
          <a:p>
            <a:pPr algn="l">
              <a:lnSpc>
                <a:spcPct val="100000"/>
              </a:lnSpc>
              <a:spcAft>
                <a:spcPts val="800"/>
              </a:spcAft>
              <a:defRPr sz="2700" b="0">
                <a:solidFill>
                  <a:srgbClr val="222222"/>
                </a:solidFill>
                <a:latin typeface="Calibri"/>
              </a:defRPr>
            </a:pPr>
            <a:r>
              <a:rPr sz="2700" b="0">
                <a:solidFill>
                  <a:srgbClr val="222222"/>
                </a:solidFill>
                <a:latin typeface="Calibri"/>
              </a:rPr>
              <a:t>Unplug the cable and coil it up.</a:t>
            </a:r>
          </a:p>
          <a:p>
            <a:pPr algn="l">
              <a:lnSpc>
                <a:spcPct val="100000"/>
              </a:lnSpc>
              <a:spcAft>
                <a:spcPts val="800"/>
              </a:spcAft>
              <a:defRPr sz="2700" b="0">
                <a:solidFill>
                  <a:srgbClr val="222222"/>
                </a:solidFill>
                <a:latin typeface="Calibri"/>
              </a:defRPr>
            </a:pPr>
            <a:r>
              <a:rPr sz="2700" b="0">
                <a:solidFill>
                  <a:srgbClr val="222222"/>
                </a:solidFill>
                <a:latin typeface="Calibri"/>
              </a:rPr>
              <a:t>Vehicle and controller back in their spot, stickers matching.</a:t>
            </a:r>
          </a:p>
          <a:p>
            <a:pPr algn="l">
              <a:lnSpc>
                <a:spcPct val="100000"/>
              </a:lnSpc>
              <a:spcAft>
                <a:spcPts val="800"/>
              </a:spcAft>
              <a:defRPr sz="2700" b="0">
                <a:solidFill>
                  <a:srgbClr val="222222"/>
                </a:solidFill>
                <a:latin typeface="Calibri"/>
              </a:defRPr>
            </a:pPr>
            <a:r>
              <a:rPr sz="2700" b="0">
                <a:solidFill>
                  <a:srgbClr val="222222"/>
                </a:solidFill>
                <a:latin typeface="Calibri"/>
              </a:rPr>
              <a:t>Close the laptop. Push your chairs in.</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Last job: every team member says one thing they learned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