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Set up the driving test course (the same one as Lesson 1) before class, and have the license stamps ready.</a:t>
            </a:r>
          </a:p>
          <a:p>
            <a:r>
              <a:rPr sz="1200">
                <a:latin typeface="Calibri"/>
              </a:rPr>
              <a:t>Fully charged batteries matter today - a flat battery makes for a sluggish, unfair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Read them out, and point at the last one. Today's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Ask for a held/tapped example from last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Put the agenda on the board as well, with the driving or uploading block circled. Students settle when they can see when the hands-on part starts.</a:t>
            </a:r>
          </a:p>
          <a:p>
            <a:r>
              <a:rPr sz="1200">
                <a:latin typeface="Calibri"/>
              </a:rPr>
              <a:t>The timings are a guide for a one-hour session. If the hands-on block runs long, take the time out of the check yourself questions, never out of the pack-up - a rushed pack-up is how cables and controllers go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The stick isn't an on/off button. It's two numbers at once: how far up or down, and how far left or right.</a:t>
            </a:r>
          </a:p>
          <a:p>
            <a:r>
              <a:rPr sz="1200">
                <a:latin typeface="Calibri"/>
              </a:rPr>
              <a:t>Minus just means the other direction - down instead of up, left instead of right. Younger students don't need negative numbers from math class to get this; a thermometer below zero is enough.</a:t>
            </a:r>
          </a:p>
          <a:p>
            <a:r>
              <a:rPr sz="1200">
                <a:latin typeface="Calibri"/>
              </a:rPr>
              <a:t>The wobble zone is the small circle in the middle. A stick you let go of springs back NEAR zero, not exactly to zero. They'll see that for themselves on the Serial Monitor in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abs is short for absolute value. Younger students only need 'how far from zero, in either direction'.</a:t>
            </a:r>
          </a:p>
          <a:p>
            <a:r>
              <a:rPr sz="1200">
                <a:latin typeface="Calibri"/>
              </a:rPr>
              <a:t>The program starts with WOBBLE_ZONE = 0 on purpose, so they can see what goes wrong without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Most sticks rest within a few counts of zero; an old or dropped controller can rest further out. Either way, the point is that it's not reliably exactly zero.</a:t>
            </a:r>
          </a:p>
          <a:p>
            <a:r>
              <a:rPr sz="1200">
                <a:latin typeface="Calibri"/>
              </a:rPr>
              <a:t>At 60, more than half the stick's travel does nothing, then the wheels suddenly jump in. It feels dead and then jumpy.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This is a design trade-off, which is a big idea in engineering: there's no perfect number, just a good balance between two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Act it out again with two students if you can: forward 50, turn 20 - left person takes big steps, right person takes small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Answers: (50, 20) gives 70 and 30, curving right. (0, 50) gives 50 and -50, spinning right. (-50, 0) gives -50 and -50, backing up. (100, 40) gives 140 and 60 - the engine room treats anything over 100 as 100, so it's 100 and 60, curving right at full speed.</a:t>
            </a:r>
          </a:p>
          <a:p>
            <a:r>
              <a:rPr sz="1200">
                <a:latin typeface="Calibri"/>
              </a:rPr>
              <a:t>Negative results are where the younger students wobble. Use the number line: 0 minus 50 is 50 steps the other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Build this on the floor before the lesson with masking tape and four plastic cups. About 10 feet by 12 feet is plenty.</a:t>
            </a:r>
          </a:p>
          <a:p>
            <a:r>
              <a:rPr sz="1200">
                <a:latin typeface="Calibri"/>
              </a:rPr>
              <a:t>Walk the course on foot first, slowly, with the class watching. Nine-year-olds learn a route far better by seeing a person do it than by looking at a map.</a:t>
            </a:r>
          </a:p>
          <a:p>
            <a:r>
              <a:rPr sz="1200">
                <a:latin typeface="Calibri"/>
              </a:rPr>
              <a:t>The garage is the hard part. Parking slowly and precisely is a far better test of control than speed, and it is what the license rewards.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Every team member takes the test, one at a time, and each earns their own license stamp. The SPEED_LIMIT change is a team decision once everyone on the team has passed - or your call if one person is still learning.</a:t>
            </a:r>
          </a:p>
          <a:p>
            <a:r>
              <a:rPr sz="1200">
                <a:latin typeface="Calibri"/>
              </a:rPr>
              <a:t>Retakes are fine and normal. A student who fails twice gets a practice lap with you walking beside them.</a:t>
            </a:r>
          </a:p>
          <a:p>
            <a:r>
              <a:rPr sz="1200">
                <a:latin typeface="Calibri"/>
              </a:rPr>
              <a:t>Watch the first lap at 75 closely. The vehicle is noticeably quicker.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Stamp the Driver's License for everyone who passed.</a:t>
            </a:r>
          </a:p>
          <a:p>
            <a:r>
              <a:rPr sz="1200">
                <a:latin typeface="Calibri"/>
              </a:rPr>
              <a:t>Point out the Expert level: it needs turn signals, which is next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Read each word out and have the room say it back. Saying a word out loud is half of owning it.</a:t>
            </a:r>
          </a:p>
          <a:p>
            <a:r>
              <a:rPr sz="1200">
                <a:latin typeface="Calibri"/>
              </a:rPr>
              <a:t>These are also in the glossary at the back of the Mission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Answers: 1 100 and -100. 2 the stick springs back NEAR the middle, not exactly to it. 3 counts small numbers as zero. 4 70 and 30. 5 the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Next lesson adds the lights that make the vehicle look like a real 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rpoi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762" y="457200"/>
            <a:ext cx="766013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051560"/>
            <a:ext cx="6492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0E7C86"/>
                </a:solidFill>
                <a:latin typeface="Calibri"/>
              </a:defRPr>
            </a:pPr>
            <a:r>
              <a:rPr sz="1600" b="1">
                <a:solidFill>
                  <a:srgbClr val="0E7C86"/>
                </a:solidFill>
                <a:latin typeface="Calibri"/>
              </a:rPr>
              <a:t>LESSON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64922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4000" b="1">
                <a:solidFill>
                  <a:srgbClr val="1F3A5F"/>
                </a:solidFill>
                <a:latin typeface="Calibri"/>
              </a:defRPr>
            </a:pPr>
            <a:r>
              <a:rPr sz="4000" b="1">
                <a:solidFill>
                  <a:srgbClr val="1F3A5F"/>
                </a:solidFill>
                <a:latin typeface="Calibri"/>
              </a:rPr>
              <a:t>Joystick Driving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54680"/>
            <a:ext cx="6492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222222"/>
                </a:solidFill>
                <a:latin typeface="Calibri"/>
              </a:defRPr>
            </a:pPr>
            <a:r>
              <a:rPr sz="1700" b="0">
                <a:solidFill>
                  <a:srgbClr val="222222"/>
                </a:solidFill>
                <a:latin typeface="Calibri"/>
              </a:rPr>
              <a:t>The stick sends numbers. Today your code turns them into driving - and you take your driving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31920"/>
            <a:ext cx="649224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PORPOISE ROBOTICS  -  Precision Oceanographic Program On and In the Sea Environment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porpoiserobotics.org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600" b="0">
                <a:solidFill>
                  <a:srgbClr val="666666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Kevin Bowen, President  -  kbowen6@icloud.com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Malcom Graham, VP Education      Louis Parker, VP Technology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Valen Farre, System Engineer      Gary Howland, Animation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Eddie Revollo, Artificial Intelligence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Interns: Oscar Canazales, Krishnansh Vemulapalli, Soham Gangal, Erik Olsen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600" b="0">
                <a:solidFill>
                  <a:srgbClr val="666666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One hour.  Teams of three, one vehicle per team.</a:t>
            </a:r>
          </a:p>
        </p:txBody>
      </p:sp>
      <p:pic>
        <p:nvPicPr>
          <p:cNvPr id="8" name="Picture 7" descr="vehicle-gen1-and-gen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686793"/>
            <a:ext cx="4480560" cy="20330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4476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rPr sz="900" b="0">
                <a:solidFill>
                  <a:srgbClr val="666666"/>
                </a:solidFill>
                <a:latin typeface="Calibri"/>
              </a:rPr>
              <a:t>Porpoise Robotics - proprietary. For use with Porpoise Robotics lessons.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Today's 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900" b="1">
                <a:solidFill>
                  <a:srgbClr val="0E7C86"/>
                </a:solidFill>
                <a:latin typeface="Calibri"/>
              </a:defRPr>
            </a:pPr>
            <a:r>
              <a:rPr sz="1900" b="1">
                <a:solidFill>
                  <a:srgbClr val="0E7C86"/>
                </a:solidFill>
                <a:latin typeface="Calibri"/>
              </a:rPr>
              <a:t>By the end of today, you can: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85855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1.   Read the numbers a joystick sends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2.   Explain the wobble zone, and fix stick wobble with code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3.   Turn forward and turn numbers into left and right wheel speeds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4.   Pass the driving test and earn your Driver's License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Last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You made the buttons do things.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buttonA() is true while held. tappedA() is true once.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Today: the STICK. It's not on or off. It sends NUMBERS.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Switch jobs!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Today, in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4" cy="3867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585"/>
                <a:gridCol w="10067269"/>
              </a:tblGrid>
              <a:tr h="552450"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What we do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0:00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Warm-up: held or tapped?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0:05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What the stick really sends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0:10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Upload e09a_joystick_drive and watch the numbers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0:22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Mixing forward and turn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0:30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The driving test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0:52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Mission Log and pack up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Stick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5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Stick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26867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5959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The wobble zone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8998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Tank mixing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2037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License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What the stick really sends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1508760" y="1965960"/>
            <a:ext cx="3291840" cy="32918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cxnSp>
        <p:nvCxnSpPr>
          <p:cNvPr id="7" name="Connector 6"/>
          <p:cNvCxnSpPr/>
          <p:nvPr/>
        </p:nvCxnSpPr>
        <p:spPr>
          <a:xfrm>
            <a:off x="1508760" y="3611880"/>
            <a:ext cx="3291840" cy="0"/>
          </a:xfrm>
          <a:prstGeom prst="line">
            <a:avLst/>
          </a:prstGeom>
          <a:ln w="19050">
            <a:solidFill>
              <a:srgbClr val="C8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54680" y="1965960"/>
            <a:ext cx="0" cy="3291840"/>
          </a:xfrm>
          <a:prstGeom prst="line">
            <a:avLst/>
          </a:prstGeom>
          <a:ln w="19050">
            <a:solidFill>
              <a:srgbClr val="C8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811780" y="3268980"/>
            <a:ext cx="685800" cy="685800"/>
          </a:xfrm>
          <a:prstGeom prst="ellipse">
            <a:avLst/>
          </a:prstGeom>
          <a:solidFill>
            <a:srgbClr val="FAE6C8"/>
          </a:solidFill>
          <a:ln w="19050">
            <a:solidFill>
              <a:srgbClr val="B46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057400" y="1280160"/>
            <a:ext cx="2194560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1">
                <a:solidFill>
                  <a:srgbClr val="0E7C86"/>
                </a:solidFill>
                <a:latin typeface="Calibri"/>
              </a:defRPr>
            </a:pPr>
            <a:r>
              <a:rPr sz="2000" b="1">
                <a:solidFill>
                  <a:srgbClr val="0E7C86"/>
                </a:solidFill>
                <a:latin typeface="Calibri"/>
              </a:rPr>
              <a:t>UP  +100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330952"/>
            <a:ext cx="2194560" cy="398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1">
                <a:solidFill>
                  <a:srgbClr val="B46A0F"/>
                </a:solidFill>
                <a:latin typeface="Calibri"/>
              </a:defRPr>
            </a:pPr>
            <a:r>
              <a:rPr sz="2000" b="1">
                <a:solidFill>
                  <a:srgbClr val="B46A0F"/>
                </a:solidFill>
                <a:latin typeface="Calibri"/>
              </a:rPr>
              <a:t>DOWN  -100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017520"/>
            <a:ext cx="1097280" cy="721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1">
                <a:solidFill>
                  <a:srgbClr val="B46A0F"/>
                </a:solidFill>
                <a:latin typeface="Calibri"/>
              </a:defRPr>
            </a:pPr>
            <a:r>
              <a:rPr sz="2000" b="1">
                <a:solidFill>
                  <a:srgbClr val="B46A0F"/>
                </a:solidFill>
                <a:latin typeface="Calibri"/>
              </a:rPr>
              <a:t>LEFT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  <a:defRPr sz="2000" b="1">
                <a:solidFill>
                  <a:srgbClr val="B46A0F"/>
                </a:solidFill>
                <a:latin typeface="Calibri"/>
              </a:defRPr>
            </a:pPr>
            <a:r>
              <a:rPr sz="2000" b="1">
                <a:solidFill>
                  <a:srgbClr val="B46A0F"/>
                </a:solidFill>
                <a:latin typeface="Calibri"/>
              </a:rPr>
              <a:t>-100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017520"/>
            <a:ext cx="1188720" cy="721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000" b="1">
                <a:solidFill>
                  <a:srgbClr val="0E7C86"/>
                </a:solidFill>
                <a:latin typeface="Calibri"/>
              </a:defRPr>
            </a:pPr>
            <a:r>
              <a:rPr sz="2000" b="1">
                <a:solidFill>
                  <a:srgbClr val="0E7C86"/>
                </a:solidFill>
                <a:latin typeface="Calibri"/>
              </a:rPr>
              <a:t>RIGHT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  <a:defRPr sz="2000" b="1">
                <a:solidFill>
                  <a:srgbClr val="0E7C86"/>
                </a:solidFill>
                <a:latin typeface="Calibri"/>
              </a:defRPr>
            </a:pPr>
            <a:r>
              <a:rPr sz="2000" b="1">
                <a:solidFill>
                  <a:srgbClr val="0E7C86"/>
                </a:solidFill>
                <a:latin typeface="Calibri"/>
              </a:rPr>
              <a:t>+100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371600"/>
            <a:ext cx="5150815" cy="783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rPr sz="2200" b="0">
                <a:solidFill>
                  <a:srgbClr val="222222"/>
                </a:solidFill>
                <a:latin typeface="Calibri"/>
              </a:rPr>
              <a:t>leftStickY()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rPr sz="2200" b="0">
                <a:solidFill>
                  <a:srgbClr val="222222"/>
                </a:solidFill>
                <a:latin typeface="Calibri"/>
              </a:rPr>
              <a:t>up is plus, down is minus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86000"/>
            <a:ext cx="5150815" cy="783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rPr sz="2200" b="0">
                <a:solidFill>
                  <a:srgbClr val="222222"/>
                </a:solidFill>
                <a:latin typeface="Calibri"/>
              </a:rPr>
              <a:t>leftStickX()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rPr sz="2200" b="0">
                <a:solidFill>
                  <a:srgbClr val="222222"/>
                </a:solidFill>
                <a:latin typeface="Calibri"/>
              </a:rPr>
              <a:t>right is plus, left is minus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291840"/>
            <a:ext cx="5150815" cy="11242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2200" b="1">
                <a:solidFill>
                  <a:srgbClr val="B46A0F"/>
                </a:solidFill>
                <a:latin typeface="Calibri"/>
              </a:defRPr>
            </a:pPr>
            <a:r>
              <a:rPr sz="2200" b="1">
                <a:solidFill>
                  <a:srgbClr val="B46A0F"/>
                </a:solidFill>
                <a:latin typeface="Calibri"/>
              </a:rPr>
              <a:t>Let go, and it SHOULD say 0...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2200" b="1">
                <a:solidFill>
                  <a:srgbClr val="B46A0F"/>
                </a:solidFill>
                <a:latin typeface="Calibri"/>
              </a:defRPr>
            </a:pPr>
            <a:r>
              <a:rPr sz="2200" b="1">
                <a:solidFill>
                  <a:srgbClr val="B46A0F"/>
                </a:solidFill>
                <a:latin typeface="Calibri"/>
              </a:rPr>
              <a:t>...but a real stick often says 2, or -3!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297680"/>
            <a:ext cx="5150815" cy="783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rPr sz="2200" b="0">
                <a:solidFill>
                  <a:srgbClr val="222222"/>
                </a:solidFill>
                <a:latin typeface="Calibri"/>
              </a:rPr>
              <a:t>The WOBBLE ZONE (orange circle):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rPr sz="2200" b="0">
                <a:solidFill>
                  <a:srgbClr val="222222"/>
                </a:solidFill>
                <a:latin typeface="Calibri"/>
              </a:rPr>
              <a:t>small numbers count as zero.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The wobble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10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Stick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26867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5959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The wobble 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5959" y="3520440"/>
            <a:ext cx="26867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8998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Tank mixing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2037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License 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Reading the stick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70470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200" b="1">
                <a:solidFill>
                  <a:srgbClr val="0E7C86"/>
                </a:solidFill>
                <a:latin typeface="Consolas"/>
              </a:defRPr>
            </a:pPr>
            <a:r>
              <a:rPr sz="1200" b="1">
                <a:solidFill>
                  <a:srgbClr val="0E7C86"/>
                </a:solidFill>
                <a:latin typeface="Consolas"/>
              </a:rPr>
              <a:t>e09a_joystick_drive.ino</a:t>
            </a:r>
          </a:p>
        </p:txBody>
      </p:sp>
      <p:sp>
        <p:nvSpPr>
          <p:cNvPr id="7" name="CODE_PANEL"/>
          <p:cNvSpPr/>
          <p:nvPr/>
        </p:nvSpPr>
        <p:spPr>
          <a:xfrm>
            <a:off x="502920" y="1517904"/>
            <a:ext cx="7047088" cy="4745736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  <a:defRPr sz="1900">
                <a:latin typeface="Consolas"/>
              </a:defRPr>
            </a:pPr>
            <a:r>
              <a:rPr sz="1900">
                <a:solidFill>
                  <a:srgbClr val="222222"/>
                </a:solidFill>
                <a:latin typeface="Consolas"/>
              </a:rPr>
              <a:t>  int forward = leftStickY();    // Up is +100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900">
                <a:latin typeface="Consolas"/>
              </a:defRPr>
            </a:pPr>
            <a:r>
              <a:rPr sz="1900">
                <a:solidFill>
                  <a:srgbClr val="222222"/>
                </a:solidFill>
                <a:latin typeface="Consolas"/>
              </a:rPr>
              <a:t>  int turn    = leftStickX();    // Right is +100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900">
                <a:latin typeface="Consolas"/>
              </a:defRPr>
            </a:pPr>
            <a:r>
              <a:rPr sz="190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900">
                <a:latin typeface="Consolas"/>
              </a:defRPr>
            </a:pPr>
            <a:r>
              <a:rPr sz="1900">
                <a:solidFill>
                  <a:srgbClr val="666666"/>
                </a:solidFill>
                <a:latin typeface="Consolas"/>
              </a:rPr>
              <a:t>  // The wobble zone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900">
                <a:latin typeface="Consolas"/>
              </a:defRPr>
            </a:pPr>
            <a:r>
              <a:rPr sz="1900">
                <a:solidFill>
                  <a:srgbClr val="222222"/>
                </a:solidFill>
                <a:latin typeface="Consolas"/>
              </a:rPr>
              <a:t>  if (abs(forward) &lt; WOBBLE_ZONE)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900">
                <a:latin typeface="Consolas"/>
              </a:defRPr>
            </a:pPr>
            <a:r>
              <a:rPr sz="1900">
                <a:solidFill>
                  <a:srgbClr val="222222"/>
                </a:solidFill>
                <a:latin typeface="Consolas"/>
              </a:rPr>
              <a:t>    forward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900">
                <a:latin typeface="Consolas"/>
              </a:defRPr>
            </a:pPr>
            <a:r>
              <a:rPr sz="1900">
                <a:solidFill>
                  <a:srgbClr val="222222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900">
                <a:latin typeface="Consolas"/>
              </a:defRPr>
            </a:pPr>
            <a:r>
              <a:rPr sz="1900">
                <a:solidFill>
                  <a:srgbClr val="222222"/>
                </a:solidFill>
                <a:latin typeface="Consolas"/>
              </a:rPr>
              <a:t>  if (abs(turn) &lt; WOBBLE_ZONE)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900">
                <a:latin typeface="Consolas"/>
              </a:defRPr>
            </a:pPr>
            <a:r>
              <a:rPr sz="1900">
                <a:solidFill>
                  <a:srgbClr val="222222"/>
                </a:solidFill>
                <a:latin typeface="Consolas"/>
              </a:rPr>
              <a:t>    turn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900">
                <a:latin typeface="Consolas"/>
              </a:defRPr>
            </a:pPr>
            <a:r>
              <a:rPr sz="1900">
                <a:solidFill>
                  <a:srgbClr val="222222"/>
                </a:solidFill>
                <a:latin typeface="Consolas"/>
              </a:rPr>
              <a:t>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0048" y="1517904"/>
            <a:ext cx="3818727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defRPr sz="2800" b="0">
                <a:solidFill>
                  <a:srgbClr val="222222"/>
                </a:solidFill>
                <a:latin typeface="Calibri"/>
              </a:defRPr>
            </a:pPr>
            <a:r>
              <a:rPr sz="2800" b="0">
                <a:solidFill>
                  <a:srgbClr val="222222"/>
                </a:solidFill>
                <a:latin typeface="Calibri"/>
              </a:rPr>
              <a:t>int makes a variable that holds a whole number.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defRPr sz="2800" b="0">
                <a:solidFill>
                  <a:srgbClr val="222222"/>
                </a:solidFill>
                <a:latin typeface="Calibri"/>
              </a:defRPr>
            </a:pPr>
            <a:r>
              <a:rPr sz="2800" b="0">
                <a:solidFill>
                  <a:srgbClr val="222222"/>
                </a:solidFill>
                <a:latin typeface="Calibri"/>
              </a:rPr>
              <a:t>abs() means: how big, ignoring the minus.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defRPr sz="2800" b="0">
                <a:solidFill>
                  <a:srgbClr val="222222"/>
                </a:solidFill>
                <a:latin typeface="Calibri"/>
              </a:defRPr>
            </a:pPr>
            <a:r>
              <a:rPr sz="2800" b="0">
                <a:solidFill>
                  <a:srgbClr val="222222"/>
                </a:solidFill>
                <a:latin typeface="Calibri"/>
              </a:rPr>
              <a:t>abs(-3) is 3.  abs(3) is 3.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defRPr sz="2800" b="0">
                <a:solidFill>
                  <a:srgbClr val="222222"/>
                </a:solidFill>
                <a:latin typeface="Calibri"/>
              </a:defRPr>
            </a:pPr>
            <a:r>
              <a:rPr sz="2800" b="0">
                <a:solidFill>
                  <a:srgbClr val="222222"/>
                </a:solidFill>
                <a:latin typeface="Calibri"/>
              </a:rPr>
              <a:t>Smaller than WOBBLE_ZONE? Count it as 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Watch 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85855" cy="53035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MISSION:   </a:t>
            </a:r>
            <a:r>
              <a:rPr sz="1500" b="1">
                <a:solidFill>
                  <a:srgbClr val="FFFFFF"/>
                </a:solidFill>
                <a:latin typeface="Consolas"/>
              </a:rPr>
              <a:t>e09a_joystick_drive</a:t>
            </a:r>
            <a:r>
              <a:rPr sz="1200">
                <a:solidFill>
                  <a:srgbClr val="FFFFFF"/>
                </a:solidFill>
                <a:latin typeface="Calibri"/>
              </a:rPr>
              <a:t>     (12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6249137" cy="3273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Upload, wheels up. Open the Serial Monitor.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Push the stick all the way up, down, left and right. Write the numbers in your Mission Log.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Now LET GO. Is it exactly 0? Write what you see.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LEVEL 2: set WOBBLE_ZONE (line 27) to 10. Upload. Let go again.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Then try 60. Drive gently on the stand. What's wrong? Put it back to 10.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3537" y="1901952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What you should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3537" y="2304288"/>
            <a:ext cx="4525238" cy="10012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100" b="0">
                <a:solidFill>
                  <a:srgbClr val="222222"/>
                </a:solidFill>
                <a:latin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</a:rPr>
              <a:t>100 at full up, -100 at full down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2100" b="0">
                <a:solidFill>
                  <a:srgbClr val="222222"/>
                </a:solidFill>
                <a:latin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</a:rPr>
              <a:t>Numbers NEAR zero when you let 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3537" y="3378703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Answer these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3537" y="3781039"/>
            <a:ext cx="4525238" cy="1394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600" b="0">
                <a:solidFill>
                  <a:srgbClr val="222222"/>
                </a:solidFill>
                <a:latin typeface="Calibri"/>
              </a:defRPr>
            </a:pPr>
            <a:r>
              <a:rPr sz="2600" b="0">
                <a:solidFill>
                  <a:srgbClr val="222222"/>
                </a:solidFill>
                <a:latin typeface="Calibri"/>
              </a:rPr>
              <a:t>What did your stick say when you let go?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2600" b="0">
                <a:solidFill>
                  <a:srgbClr val="222222"/>
                </a:solidFill>
                <a:latin typeface="Calibri"/>
              </a:defRPr>
            </a:pPr>
            <a:r>
              <a:rPr sz="2600" b="0">
                <a:solidFill>
                  <a:srgbClr val="222222"/>
                </a:solidFill>
                <a:latin typeface="Calibri"/>
              </a:rPr>
              <a:t>What went wrong at 60?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 w="12700">
            <a:solidFill>
              <a:srgbClr val="A3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A32A2A"/>
                </a:solidFill>
                <a:latin typeface="Calibri"/>
              </a:rPr>
              <a:t>SAFETY   </a:t>
            </a:r>
            <a:r>
              <a:rPr sz="1800">
                <a:solidFill>
                  <a:srgbClr val="222222"/>
                </a:solidFill>
                <a:latin typeface="Calibri"/>
              </a:rPr>
              <a:t>Wheels up until the numbers make sense.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Too small, too big, just right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WOBBLE_ZONE = 0: a stick resting at 3 still asks the motors for a tiny bit of power.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WOBBLE_ZONE = 60: the first 60 of the stick does NOTHING. Then it jumps.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WOBBLE_ZONE = 10: tiny wobbles ignored. Everything else 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Engineers call it a DEADZONE. Nearly every game controller uses 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Tank mixing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10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Stick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26867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5959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The wobble 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5959" y="3520440"/>
            <a:ext cx="26867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8998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Tank mixing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8998" y="3520440"/>
            <a:ext cx="26867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2037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License test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Two numbers in, two numbers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70470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200" b="1">
                <a:solidFill>
                  <a:srgbClr val="0E7C86"/>
                </a:solidFill>
                <a:latin typeface="Consolas"/>
              </a:defRPr>
            </a:pPr>
            <a:r>
              <a:rPr sz="1200" b="1">
                <a:solidFill>
                  <a:srgbClr val="0E7C86"/>
                </a:solidFill>
                <a:latin typeface="Consolas"/>
              </a:rPr>
              <a:t>e09a_joystick_drive.ino</a:t>
            </a:r>
          </a:p>
        </p:txBody>
      </p:sp>
      <p:sp>
        <p:nvSpPr>
          <p:cNvPr id="7" name="CODE_PANEL"/>
          <p:cNvSpPr/>
          <p:nvPr/>
        </p:nvSpPr>
        <p:spPr>
          <a:xfrm>
            <a:off x="502920" y="1517904"/>
            <a:ext cx="7047088" cy="4745736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666666"/>
                </a:solidFill>
                <a:latin typeface="Consolas"/>
              </a:rPr>
              <a:t>  // Tank steering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int leftSide  = forward + turn;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int rightSide = forward - turn;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  drive(leftSide, rightSide);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0048" y="1517904"/>
            <a:ext cx="3818727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Turn RIGHT: turn is plus.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The left side gets MORE. The right side gets LESS.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That's the Human Tank, in two lines of math!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Be the computer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rPr sz="1600" b="0">
                <a:solidFill>
                  <a:srgbClr val="222222"/>
                </a:solidFill>
                <a:latin typeface="Calibri"/>
              </a:rPr>
              <a:t>Fill in the table in your Mission Log.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85852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300"/>
                <a:gridCol w="1168777"/>
                <a:gridCol w="2985862"/>
                <a:gridCol w="2985862"/>
                <a:gridCol w="2534051"/>
              </a:tblGrid>
              <a:tr h="711200"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forward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turn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left = forward + turn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right = forward - turn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The vehicle...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goes straight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-50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License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20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Stick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26867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5959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The wobble 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5959" y="3520440"/>
            <a:ext cx="26867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8998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Tank mixing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8998" y="3520440"/>
            <a:ext cx="26867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2037" y="3886200"/>
            <a:ext cx="2686735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License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2037" y="3520440"/>
            <a:ext cx="2686735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The driving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589520" cy="3749039"/>
          </a:xfrm>
          <a:prstGeom prst="rect">
            <a:avLst/>
          </a:prstGeom>
          <a:solidFill>
            <a:srgbClr val="FFFFFF"/>
          </a:solidFill>
          <a:ln w="38100">
            <a:solidFill>
              <a:srgbClr val="B46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822960" y="4023359"/>
            <a:ext cx="1280160" cy="914400"/>
          </a:xfrm>
          <a:prstGeom prst="roundRect">
            <a:avLst>
              <a:gd name="adj" fmla="val 12000"/>
            </a:avLst>
          </a:prstGeom>
          <a:solidFill>
            <a:srgbClr val="D8F0D8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rgbClr val="1F3A5F"/>
                </a:solidFill>
                <a:latin typeface="Calibri"/>
              </a:defRPr>
            </a:pPr>
            <a:r>
              <a:rPr sz="2000" b="1">
                <a:solidFill>
                  <a:srgbClr val="1F3A5F"/>
                </a:solidFill>
                <a:latin typeface="Calibri"/>
              </a:rPr>
              <a:t>START</a:t>
            </a:r>
          </a:p>
        </p:txBody>
      </p:sp>
      <p:sp>
        <p:nvSpPr>
          <p:cNvPr id="8" name="Oval 7"/>
          <p:cNvSpPr/>
          <p:nvPr/>
        </p:nvSpPr>
        <p:spPr>
          <a:xfrm>
            <a:off x="2880360" y="2834640"/>
            <a:ext cx="384048" cy="384048"/>
          </a:xfrm>
          <a:prstGeom prst="ellipse">
            <a:avLst/>
          </a:prstGeom>
          <a:solidFill>
            <a:srgbClr val="FAE6C8"/>
          </a:solidFill>
          <a:ln w="19050">
            <a:solidFill>
              <a:srgbClr val="B46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9" name="Oval 8"/>
          <p:cNvSpPr/>
          <p:nvPr/>
        </p:nvSpPr>
        <p:spPr>
          <a:xfrm>
            <a:off x="3840480" y="2834640"/>
            <a:ext cx="384048" cy="384048"/>
          </a:xfrm>
          <a:prstGeom prst="ellipse">
            <a:avLst/>
          </a:prstGeom>
          <a:solidFill>
            <a:srgbClr val="FAE6C8"/>
          </a:solidFill>
          <a:ln w="19050">
            <a:solidFill>
              <a:srgbClr val="B46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0" name="Oval 9"/>
          <p:cNvSpPr/>
          <p:nvPr/>
        </p:nvSpPr>
        <p:spPr>
          <a:xfrm>
            <a:off x="4800600" y="2834640"/>
            <a:ext cx="384048" cy="384048"/>
          </a:xfrm>
          <a:prstGeom prst="ellipse">
            <a:avLst/>
          </a:prstGeom>
          <a:solidFill>
            <a:srgbClr val="FAE6C8"/>
          </a:solidFill>
          <a:ln w="19050">
            <a:solidFill>
              <a:srgbClr val="B46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1" name="Oval 10"/>
          <p:cNvSpPr/>
          <p:nvPr/>
        </p:nvSpPr>
        <p:spPr>
          <a:xfrm>
            <a:off x="5760720" y="2834640"/>
            <a:ext cx="384048" cy="384048"/>
          </a:xfrm>
          <a:prstGeom prst="ellipse">
            <a:avLst/>
          </a:prstGeom>
          <a:solidFill>
            <a:srgbClr val="FAE6C8"/>
          </a:solidFill>
          <a:ln w="19050">
            <a:solidFill>
              <a:srgbClr val="B46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00000"/>
              </a:lnSpc>
              <a:spcAft>
                <a:spcPts val="600"/>
              </a:spcAft>
              <a:defRPr sz="400" b="0">
                <a:solidFill>
                  <a:srgbClr val="222222"/>
                </a:solidFill>
                <a:latin typeface="Calibr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6766560" y="2514600"/>
            <a:ext cx="12344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rgbClr val="0E7C86"/>
                </a:solidFill>
                <a:latin typeface="Calibri"/>
              </a:defRPr>
            </a:pPr>
            <a:r>
              <a:rPr sz="2000" b="1">
                <a:solidFill>
                  <a:srgbClr val="0E7C86"/>
                </a:solidFill>
                <a:latin typeface="Calibri"/>
              </a:rPr>
              <a:t>GARAGE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103120" y="2423160"/>
            <a:ext cx="969264" cy="1874519"/>
          </a:xfrm>
          <a:prstGeom prst="line">
            <a:avLst/>
          </a:prstGeom>
          <a:ln w="31750">
            <a:solidFill>
              <a:srgbClr val="0E7C86"/>
            </a:solidFill>
            <a:prstDash val="dash"/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72384" y="2423160"/>
            <a:ext cx="960120" cy="1188720"/>
          </a:xfrm>
          <a:prstGeom prst="line">
            <a:avLst/>
          </a:prstGeom>
          <a:ln w="31750">
            <a:solidFill>
              <a:srgbClr val="0E7C86"/>
            </a:solidFill>
            <a:prstDash val="dash"/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032504" y="2423160"/>
            <a:ext cx="960120" cy="1188720"/>
          </a:xfrm>
          <a:prstGeom prst="line">
            <a:avLst/>
          </a:prstGeom>
          <a:ln w="31750">
            <a:solidFill>
              <a:srgbClr val="0E7C86"/>
            </a:solidFill>
            <a:prstDash val="dash"/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992624" y="2423160"/>
            <a:ext cx="960120" cy="1188720"/>
          </a:xfrm>
          <a:prstGeom prst="line">
            <a:avLst/>
          </a:prstGeom>
          <a:ln w="31750">
            <a:solidFill>
              <a:srgbClr val="0E7C86"/>
            </a:solidFill>
            <a:prstDash val="dash"/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952744" y="3017520"/>
            <a:ext cx="813816" cy="594360"/>
          </a:xfrm>
          <a:prstGeom prst="line">
            <a:avLst/>
          </a:prstGeom>
          <a:ln w="31750">
            <a:solidFill>
              <a:srgbClr val="0E7C86"/>
            </a:solidFill>
            <a:prstDash val="dash"/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503920" y="1417320"/>
            <a:ext cx="3184855" cy="4607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2400" b="1">
                <a:solidFill>
                  <a:srgbClr val="0E7C86"/>
                </a:solidFill>
                <a:latin typeface="Calibri"/>
              </a:defRPr>
            </a:pPr>
            <a:r>
              <a:rPr sz="2400" b="1">
                <a:solidFill>
                  <a:srgbClr val="0E7C86"/>
                </a:solidFill>
                <a:latin typeface="Calibri"/>
              </a:rPr>
              <a:t>How to 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965960"/>
            <a:ext cx="3184855" cy="2773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1.  Weave through the cups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2.  Park in the garage - all four wheels inside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3.  Back out and drive home to START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000" b="0">
                <a:solidFill>
                  <a:srgbClr val="222222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1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Knock over a cup? Go back to START and try again.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Driver's License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85855" cy="53035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MISSION:   </a:t>
            </a:r>
            <a:r>
              <a:rPr sz="1500" b="1">
                <a:solidFill>
                  <a:srgbClr val="FFFFFF"/>
                </a:solidFill>
                <a:latin typeface="Consolas"/>
              </a:rPr>
              <a:t>e09a_joystick_drive</a:t>
            </a:r>
            <a:r>
              <a:rPr sz="1200">
                <a:solidFill>
                  <a:srgbClr val="FFFFFF"/>
                </a:solidFill>
                <a:latin typeface="Calibri"/>
              </a:rPr>
              <a:t>     (22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6249137" cy="3273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WOBBLE_ZONE at 10. Upload. Unplug. Floor.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Practice the course once.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Then the TEST, with your teacher watching: weave, park, back out, home.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No cups knocked over, and all four wheels in the garage = PASS!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Passed? Your teacher lets you raise SPEED_LIMIT (line 26) to 75.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Too twitchy when you turn? Remove the // in front of  turn = turn / 2;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3537" y="1901952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What you should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3537" y="2304288"/>
            <a:ext cx="4525238" cy="15356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Smooth driving, and stopping exactly where you want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3537" y="3913068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Answer these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3537" y="4315404"/>
            <a:ext cx="4525238" cy="8600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400" b="0">
                <a:solidFill>
                  <a:srgbClr val="222222"/>
                </a:solidFill>
                <a:latin typeface="Calibri"/>
              </a:defRPr>
            </a:pPr>
            <a:r>
              <a:rPr sz="2400" b="0">
                <a:solidFill>
                  <a:srgbClr val="222222"/>
                </a:solidFill>
                <a:latin typeface="Calibri"/>
              </a:rPr>
              <a:t>Which part of the course was hardest?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 w="12700">
            <a:solidFill>
              <a:srgbClr val="A3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A32A2A"/>
                </a:solidFill>
                <a:latin typeface="Calibri"/>
              </a:rPr>
              <a:t>SAFETY   </a:t>
            </a:r>
            <a:r>
              <a:rPr sz="1800">
                <a:solidFill>
                  <a:srgbClr val="222222"/>
                </a:solidFill>
                <a:latin typeface="Calibri"/>
              </a:rPr>
              <a:t>One vehicle on the test course at a time. Everybody else behind the line.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Your driver's license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4" cy="3638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650"/>
                <a:gridCol w="2273300"/>
                <a:gridCol w="6334904"/>
              </a:tblGrid>
              <a:tr h="909637"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License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SPEED_LIMIT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How you earn it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909637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Learner Permit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Lesson 1: know the Explorer Code and finish the driving course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909637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Driver's License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Lesson 9: pass the driving test - no cups knocked over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909639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Expert License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Lesson 10 or later: the test course at 75, signaling every turn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Speed is something you EARN, and your teacher decides. 100 means full power - it is FAST.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New words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4" cy="4743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700"/>
                <a:gridCol w="8442154"/>
              </a:tblGrid>
              <a:tr h="790575"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Word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Joystick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A stick that sends two numbers: up/down, and left/right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Wobble zone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Small stick numbers that count as zero. Also called a deadzone.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onsolas"/>
                        </a:rPr>
                        <a:t>abs()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How big a number is, ignoring the minus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int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A variable that holds a whole number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Mixing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Turning forward and turn into left and right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Check yourself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1.  Stick all the way up: what number? All the way down?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2.  Why isn't the stick exactly 0 when you let go?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3.  What does WOBBLE_ZONE do?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4.  forward = 50, turn = 20. Left side? Right side?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5.  To turn right, which side goes faster?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Mission Log, then pack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474267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200" b="1">
                <a:solidFill>
                  <a:srgbClr val="0E7C86"/>
                </a:solidFill>
                <a:latin typeface="Calibri"/>
              </a:defRPr>
            </a:pPr>
            <a:r>
              <a:rPr sz="2200" b="1">
                <a:solidFill>
                  <a:srgbClr val="0E7C86"/>
                </a:solidFill>
                <a:latin typeface="Calibri"/>
              </a:rPr>
              <a:t>In your Mission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474267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Your stick numbers, and the be-the-computer table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Driver's License stamp, if you passed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Stamp: Licensed Driver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2790" y="1188720"/>
            <a:ext cx="598598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200" b="1">
                <a:solidFill>
                  <a:srgbClr val="0E7C86"/>
                </a:solidFill>
                <a:latin typeface="Calibri"/>
              </a:defRPr>
            </a:pPr>
            <a:r>
              <a:rPr sz="2200" b="1">
                <a:solidFill>
                  <a:srgbClr val="0E7C86"/>
                </a:solidFill>
                <a:latin typeface="Calibri"/>
              </a:rPr>
              <a:t>Pack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2790" y="1700784"/>
            <a:ext cx="598598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Crew Chief: vehicle power OFF.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Unplug the cable and coil it up.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Vehicle and controller back in their spot, stickers matching.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Close the laptop. Push your chairs 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Last job: every team member says one thing they learned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