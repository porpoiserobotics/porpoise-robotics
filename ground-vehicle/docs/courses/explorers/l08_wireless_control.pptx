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Charge every controller before class. A flat controller looks exactly like a broken program.</a:t>
            </a:r>
          </a:p>
          <a:p>
            <a:r>
              <a:rPr sz="1200">
                <a:latin typeface="Calibri"/>
              </a:rPr>
              <a:t>Make sure each team has its OWN controller - check the stickers as they come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them out. Ask: which button on a game controller do you press the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Quick show of hands: which team got home from the sample zone last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agenda on the board as well, with the driving or uploading block circled. Students settle when they can see when the hands-on part starts.</a:t>
            </a:r>
          </a:p>
          <a:p>
            <a:r>
              <a:rPr sz="1200">
                <a:latin typeface="Calibri"/>
              </a:rPr>
              <a:t>The timings are a guide for a one-hour session. If the hands-on block runs long, take the time out of the check yourself questions, never out of the pack-up - a rushed pack-up is how cables and controllers go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Radio is invisible light, more or less - it goes through walls and bodies, which is why the controller works from anywhere in the room.</a:t>
            </a:r>
          </a:p>
          <a:p>
            <a:r>
              <a:rPr sz="1200">
                <a:latin typeface="Calibri"/>
              </a:rPr>
              <a:t>Your teacher told each vehicle its controller's address before Lesson 1, and the vehicle stores it in its memory. Uploading new programs doesn't erase it. (For you: that was e00_claim_controller.)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Hold up a real controller next to the screen and match the two, button by button.</a:t>
            </a:r>
          </a:p>
          <a:p>
            <a:r>
              <a:rPr sz="1200">
                <a:latin typeface="Calibri"/>
              </a:rPr>
              <a:t>The letter printed on the button is the letter in the code. Press A, and buttonA() is true. That's the whole rule.</a:t>
            </a:r>
          </a:p>
          <a:p>
            <a:r>
              <a:rPr sz="1200">
                <a:latin typeface="Calibri"/>
              </a:rPr>
              <a:t>B is the brake button in the autopilot programs later on - B for Brake. Worth saying now so it sticks.</a:t>
            </a:r>
          </a:p>
          <a:p>
            <a:r>
              <a:rPr sz="1200">
                <a:latin typeface="Calibri"/>
              </a:rPr>
              <a:t>If a controller from a different company has its letters in different places, trust the e00 test your teacher ran: it printed the name of each button as it was pressed.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Rule 1 is if/else. Rule 2 is a HELD button: true the whole time. Rule 3 is a TAPPED button: true only at the moment it starts. Name them that way after the game.</a:t>
            </a:r>
          </a:p>
          <a:p>
            <a:r>
              <a:rPr sz="1200">
                <a:latin typeface="Calibri"/>
              </a:rPr>
              <a:t>The fun part of rule 3 is leaving your hand on your head for a long time. Anyone who jumps twice was reading it as 'held'.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Trace one trip through with your finger: start at the diamond, answer the question, follow YES or NO, do the job.</a:t>
            </a:r>
          </a:p>
          <a:p>
            <a:r>
              <a:rPr sz="1200">
                <a:latin typeface="Calibri"/>
              </a:rPr>
              <a:t>Then say the important part: as soon as it finishes, loop() starts again and asks the question AGAIN - thousands of times every second. That's why the lights change the instant you let go.</a:t>
            </a:r>
          </a:p>
          <a:p>
            <a:r>
              <a:rPr sz="1200">
                <a:latin typeface="Calibri"/>
              </a:rPr>
              <a:t>Match the drawing to the code on the right, line by line. The diamond is the if, the YES box is the first pair of braces, and the NO box is the else.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That note is why tapped exists. A light switch that flipped on EVERY loop while you held it would flicker on and off thousands of times.</a:t>
            </a:r>
          </a:p>
          <a:p>
            <a:r>
              <a:rPr sz="1200">
                <a:latin typeface="Calibri"/>
              </a:rPr>
              <a:t>The engine room works out 'tapped' by remembering what the button was doing last time round loop(). If it's down now and was up last time, that's a tap.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controllerReady() also stops the motors and blinks the lights green while it waits. Every driving program from now on starts with these three lines.</a:t>
            </a:r>
          </a:p>
          <a:p>
            <a:r>
              <a:rPr sz="1200">
                <a:latin typeface="Calibri"/>
              </a:rPr>
              <a:t>An if doesn't NEED an else. Ask why the X part has none. (There's nothing to do when X isn't tapped.)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program never moves the wheels, but wheels-up stays the rule - it's a habit, not a case-by-case decision.</a:t>
            </a:r>
          </a:p>
          <a:p>
            <a:r>
              <a:rPr sz="1200">
                <a:latin typeface="Calibri"/>
              </a:rPr>
              <a:t>Level 2 answer: buttonY() is true on every loop while Y is held, so it prints thousands of times. tappedY() prints once.</a:t>
            </a:r>
          </a:p>
          <a:p>
            <a:r>
              <a:rPr sz="1200">
                <a:latin typeface="Calibri"/>
              </a:rPr>
              <a:t>Level 3 for the D-pad: if (dpadLeft()) { setLeftLights(ORANGE); } - and the same for the right. Some third-party controllers don't rumble at all; if X does nothing, that's the controller, not the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 key is above Enter on most keyboards, with Shift. Expect to show several people.</a:t>
            </a:r>
          </a:p>
          <a:p>
            <a:r>
              <a:rPr sz="1200">
                <a:latin typeface="Calibri"/>
              </a:rPr>
              <a:t>Last-one-wins is a useful idea for the rest of the course: the lights shown are whatever the program set by the end of each loop.</a:t>
            </a:r>
          </a:p>
          <a:p>
            <a:r>
              <a:rPr sz="1200">
                <a:latin typeface="Calibri"/>
              </a:rPr>
              <a:t>Combo ideas: A+B = all lights white, L+R = rainbow party (setLight(number, randomColor()) in a for loop).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each word out and have the room say it back. Saying a word out loud is half of owning it.</a:t>
            </a:r>
          </a:p>
          <a:p>
            <a:r>
              <a:rPr sz="1200">
                <a:latin typeface="Calibri"/>
              </a:rPr>
              <a:t>These are also in the glossary at the back of the Mission Log.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Answers: 1 radio (Bluetooth). 2 it only listens to its own controller's address. 3 otherwise. 4 tappedX(), so it flips once per press instead of thousands of times. 5 AND.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Next lesson: the stick, and the driving test. Tell them to practice their best driving.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8</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Wireless Control</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Your controller talks to the vehicle by radio. Today you decide what every button does.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One hour.  Teams of three, one vehicle per team.</a:t>
            </a:r>
          </a:p>
        </p:txBody>
      </p:sp>
      <p:pic>
        <p:nvPicPr>
          <p:cNvPr id="8" name="Picture 7" descr="switch-controller-pair.jpg"/>
          <p:cNvPicPr>
            <a:picLocks noChangeAspect="1"/>
          </p:cNvPicPr>
          <p:nvPr/>
        </p:nvPicPr>
        <p:blipFill>
          <a:blip r:embed="rId3"/>
          <a:stretch>
            <a:fillRect/>
          </a:stretch>
        </p:blipFill>
        <p:spPr>
          <a:xfrm>
            <a:off x="7223760" y="1463040"/>
            <a:ext cx="4480560" cy="448056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mission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today, you can:</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the controller talks to the vehicle</a:t>
            </a:r>
          </a:p>
          <a:p>
            <a:pPr algn="l">
              <a:lnSpc>
                <a:spcPct val="100000"/>
              </a:lnSpc>
              <a:spcAft>
                <a:spcPts val="1300"/>
              </a:spcAft>
              <a:defRPr sz="1900" b="0">
                <a:solidFill>
                  <a:srgbClr val="222222"/>
                </a:solidFill>
                <a:latin typeface="Calibri"/>
              </a:defRPr>
            </a:pPr>
            <a:r>
              <a:rPr sz="1900" b="0">
                <a:solidFill>
                  <a:srgbClr val="222222"/>
                </a:solidFill>
                <a:latin typeface="Calibri"/>
              </a:rPr>
              <a:t>2.   Use if and else to make the vehicle choose what to do</a:t>
            </a:r>
          </a:p>
          <a:p>
            <a:pPr algn="l">
              <a:lnSpc>
                <a:spcPct val="100000"/>
              </a:lnSpc>
              <a:spcAft>
                <a:spcPts val="1300"/>
              </a:spcAft>
              <a:defRPr sz="1900" b="0">
                <a:solidFill>
                  <a:srgbClr val="222222"/>
                </a:solidFill>
                <a:latin typeface="Calibri"/>
              </a:defRPr>
            </a:pPr>
            <a:r>
              <a:rPr sz="1900" b="0">
                <a:solidFill>
                  <a:srgbClr val="222222"/>
                </a:solidFill>
                <a:latin typeface="Calibri"/>
              </a:rPr>
              <a:t>3.   Tell the difference between HOLDING a button and TAPPING it</a:t>
            </a:r>
          </a:p>
          <a:p>
            <a:pPr algn="l">
              <a:lnSpc>
                <a:spcPct val="100000"/>
              </a:lnSpc>
              <a:spcAft>
                <a:spcPts val="1300"/>
              </a:spcAft>
              <a:defRPr sz="1900" b="0">
                <a:solidFill>
                  <a:srgbClr val="222222"/>
                </a:solidFill>
                <a:latin typeface="Calibri"/>
              </a:defRPr>
            </a:pPr>
            <a:r>
              <a:rPr sz="1900" b="0">
                <a:solidFill>
                  <a:srgbClr val="222222"/>
                </a:solidFill>
                <a:latin typeface="Calibri"/>
              </a:rPr>
              <a:t>4.   Make the controller's buttons do things you chose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Last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Your rover followed a plan on autopilot.</a:t>
            </a:r>
          </a:p>
          <a:p>
            <a:pPr algn="l">
              <a:lnSpc>
                <a:spcPct val="100000"/>
              </a:lnSpc>
              <a:spcAft>
                <a:spcPts val="900"/>
              </a:spcAft>
              <a:defRPr sz="3000" b="0">
                <a:solidFill>
                  <a:srgbClr val="222222"/>
                </a:solidFill>
                <a:latin typeface="Calibri"/>
              </a:defRPr>
            </a:pPr>
            <a:r>
              <a:rPr sz="3000" b="0">
                <a:solidFill>
                  <a:srgbClr val="222222"/>
                </a:solidFill>
                <a:latin typeface="Calibri"/>
              </a:rPr>
              <a:t>It couldn't see the crater. It couldn't change its mind.</a:t>
            </a:r>
          </a:p>
          <a:p>
            <a:pPr algn="l">
              <a:lnSpc>
                <a:spcPct val="100000"/>
              </a:lnSpc>
              <a:spcAft>
                <a:spcPts val="900"/>
              </a:spcAft>
              <a:defRPr sz="3000" b="0">
                <a:solidFill>
                  <a:srgbClr val="222222"/>
                </a:solidFill>
                <a:latin typeface="Calibri"/>
              </a:defRPr>
            </a:pPr>
            <a:r>
              <a:rPr sz="3000" b="0">
                <a:solidFill>
                  <a:srgbClr val="222222"/>
                </a:solidFill>
                <a:latin typeface="Calibri"/>
              </a:rPr>
              <a:t>Today the human is back in control - with the controller.</a:t>
            </a:r>
          </a:p>
          <a:p>
            <a:pPr algn="l">
              <a:lnSpc>
                <a:spcPct val="100000"/>
              </a:lnSpc>
              <a:spcAft>
                <a:spcPts val="900"/>
              </a:spcAft>
              <a:defRPr sz="3000" b="0">
                <a:solidFill>
                  <a:srgbClr val="222222"/>
                </a:solidFill>
                <a:latin typeface="Calibri"/>
              </a:defRPr>
            </a:pPr>
            <a:r>
              <a:rPr sz="3000" b="0">
                <a:solidFill>
                  <a:srgbClr val="222222"/>
                </a:solidFill>
                <a:latin typeface="Calibri"/>
              </a:rPr>
              <a:t>But YOU decide what each button does.</a:t>
            </a:r>
          </a:p>
          <a:p>
            <a:pPr algn="l">
              <a:lnSpc>
                <a:spcPct val="100000"/>
              </a:lnSpc>
              <a:spcAft>
                <a:spcPts val="900"/>
              </a:spcAft>
              <a:defRPr sz="3000" b="0">
                <a:solidFill>
                  <a:srgbClr val="222222"/>
                </a:solidFill>
                <a:latin typeface="Calibri"/>
              </a:defRPr>
            </a:pPr>
            <a:r>
              <a:rPr sz="3000" b="0">
                <a:solidFill>
                  <a:srgbClr val="222222"/>
                </a:solidFill>
                <a:latin typeface="Calibri"/>
              </a:rPr>
              <a:t>Switch jobs!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867150"/>
        </p:xfrm>
        <a:graphic>
          <a:graphicData uri="http://schemas.openxmlformats.org/drawingml/2006/table">
            <a:tbl>
              <a:tblPr firstRow="1" bandRow="1">
                <a:tableStyleId>{5C22544A-7EE6-4342-B048-85BDC9FD1C3A}</a:tableStyleId>
              </a:tblPr>
              <a:tblGrid>
                <a:gridCol w="1118585"/>
                <a:gridCol w="10067269"/>
              </a:tblGrid>
              <a:tr h="552450">
                <a:tc>
                  <a:txBody>
                    <a:bodyPr/>
                    <a:lstStyle/>
                    <a:p>
                      <a:r>
                        <a:rPr sz="3000" b="1">
                          <a:solidFill>
                            <a:srgbClr val="FFFFFF"/>
                          </a:solidFill>
                          <a:latin typeface="Calibri"/>
                        </a:rPr>
                        <a:t>Time</a:t>
                      </a:r>
                    </a:p>
                  </a:txBody>
                  <a:tcPr marL="73152" marT="18288" marB="18288">
                    <a:solidFill>
                      <a:srgbClr val="1F3A5F"/>
                    </a:solidFill>
                  </a:tcPr>
                </a:tc>
                <a:tc>
                  <a:txBody>
                    <a:bodyPr/>
                    <a:lstStyle/>
                    <a:p>
                      <a:r>
                        <a:rPr sz="3000" b="1">
                          <a:solidFill>
                            <a:srgbClr val="FFFFFF"/>
                          </a:solidFill>
                          <a:latin typeface="Calibri"/>
                        </a:rPr>
                        <a:t>What we do</a:t>
                      </a:r>
                    </a:p>
                  </a:txBody>
                  <a:tcPr marL="73152" marT="18288" marB="18288">
                    <a:solidFill>
                      <a:srgbClr val="1F3A5F"/>
                    </a:solidFill>
                  </a:tcPr>
                </a:tc>
              </a:tr>
              <a:tr h="552450">
                <a:tc>
                  <a:txBody>
                    <a:bodyPr/>
                    <a:lstStyle/>
                    <a:p>
                      <a:r>
                        <a:rPr sz="3000">
                          <a:solidFill>
                            <a:srgbClr val="222222"/>
                          </a:solidFill>
                          <a:latin typeface="Calibri"/>
                        </a:rPr>
                        <a:t>0:00</a:t>
                      </a:r>
                    </a:p>
                  </a:txBody>
                  <a:tcPr marL="73152" marT="18288" marB="18288">
                    <a:solidFill>
                      <a:srgbClr val="FFFFFF"/>
                    </a:solidFill>
                  </a:tcPr>
                </a:tc>
                <a:tc>
                  <a:txBody>
                    <a:bodyPr/>
                    <a:lstStyle/>
                    <a:p>
                      <a:r>
                        <a:rPr sz="3000">
                          <a:solidFill>
                            <a:srgbClr val="222222"/>
                          </a:solidFill>
                          <a:latin typeface="Calibri"/>
                        </a:rPr>
                        <a:t>Warm-up: what was hard about autopilot?</a:t>
                      </a:r>
                    </a:p>
                  </a:txBody>
                  <a:tcPr marL="73152" marT="18288" marB="18288">
                    <a:solidFill>
                      <a:srgbClr val="FFFFFF"/>
                    </a:solidFill>
                  </a:tcPr>
                </a:tc>
              </a:tr>
              <a:tr h="552450">
                <a:tc>
                  <a:txBody>
                    <a:bodyPr/>
                    <a:lstStyle/>
                    <a:p>
                      <a:r>
                        <a:rPr sz="3000">
                          <a:solidFill>
                            <a:srgbClr val="222222"/>
                          </a:solidFill>
                          <a:latin typeface="Calibri"/>
                        </a:rPr>
                        <a:t>0:05</a:t>
                      </a:r>
                    </a:p>
                  </a:txBody>
                  <a:tcPr marL="73152" marT="18288" marB="18288">
                    <a:solidFill>
                      <a:srgbClr val="EEF3F8"/>
                    </a:solidFill>
                  </a:tcPr>
                </a:tc>
                <a:tc>
                  <a:txBody>
                    <a:bodyPr/>
                    <a:lstStyle/>
                    <a:p>
                      <a:r>
                        <a:rPr sz="3000">
                          <a:solidFill>
                            <a:srgbClr val="222222"/>
                          </a:solidFill>
                          <a:latin typeface="Calibri"/>
                        </a:rPr>
                        <a:t>Radio, and one controller per vehicle</a:t>
                      </a:r>
                    </a:p>
                  </a:txBody>
                  <a:tcPr marL="73152" marT="18288" marB="18288">
                    <a:solidFill>
                      <a:srgbClr val="EEF3F8"/>
                    </a:solidFill>
                  </a:tcPr>
                </a:tc>
              </a:tr>
              <a:tr h="552450">
                <a:tc>
                  <a:txBody>
                    <a:bodyPr/>
                    <a:lstStyle/>
                    <a:p>
                      <a:r>
                        <a:rPr sz="3000">
                          <a:solidFill>
                            <a:srgbClr val="222222"/>
                          </a:solidFill>
                          <a:latin typeface="Calibri"/>
                        </a:rPr>
                        <a:t>0:12</a:t>
                      </a:r>
                    </a:p>
                  </a:txBody>
                  <a:tcPr marL="73152" marT="18288" marB="18288">
                    <a:solidFill>
                      <a:srgbClr val="FFFFFF"/>
                    </a:solidFill>
                  </a:tcPr>
                </a:tc>
                <a:tc>
                  <a:txBody>
                    <a:bodyPr/>
                    <a:lstStyle/>
                    <a:p>
                      <a:r>
                        <a:rPr sz="3000">
                          <a:solidFill>
                            <a:srgbClr val="222222"/>
                          </a:solidFill>
                          <a:latin typeface="Calibri"/>
                        </a:rPr>
                        <a:t>Simon Says, if/else edition</a:t>
                      </a:r>
                    </a:p>
                  </a:txBody>
                  <a:tcPr marL="73152" marT="18288" marB="18288">
                    <a:solidFill>
                      <a:srgbClr val="FFFFFF"/>
                    </a:solidFill>
                  </a:tcPr>
                </a:tc>
              </a:tr>
              <a:tr h="552450">
                <a:tc>
                  <a:txBody>
                    <a:bodyPr/>
                    <a:lstStyle/>
                    <a:p>
                      <a:r>
                        <a:rPr sz="3000">
                          <a:solidFill>
                            <a:srgbClr val="222222"/>
                          </a:solidFill>
                          <a:latin typeface="Calibri"/>
                        </a:rPr>
                        <a:t>0:20</a:t>
                      </a:r>
                    </a:p>
                  </a:txBody>
                  <a:tcPr marL="73152" marT="18288" marB="18288">
                    <a:solidFill>
                      <a:srgbClr val="EEF3F8"/>
                    </a:solidFill>
                  </a:tcPr>
                </a:tc>
                <a:tc>
                  <a:txBody>
                    <a:bodyPr/>
                    <a:lstStyle/>
                    <a:p>
                      <a:r>
                        <a:rPr sz="3000">
                          <a:solidFill>
                            <a:srgbClr val="222222"/>
                          </a:solidFill>
                          <a:latin typeface="Calibri"/>
                        </a:rPr>
                        <a:t>if and else, held and tapped</a:t>
                      </a:r>
                    </a:p>
                  </a:txBody>
                  <a:tcPr marL="73152" marT="18288" marB="18288">
                    <a:solidFill>
                      <a:srgbClr val="EEF3F8"/>
                    </a:solidFill>
                  </a:tcPr>
                </a:tc>
              </a:tr>
              <a:tr h="552450">
                <a:tc>
                  <a:txBody>
                    <a:bodyPr/>
                    <a:lstStyle/>
                    <a:p>
                      <a:r>
                        <a:rPr sz="3000">
                          <a:solidFill>
                            <a:srgbClr val="222222"/>
                          </a:solidFill>
                          <a:latin typeface="Calibri"/>
                        </a:rPr>
                        <a:t>0:28</a:t>
                      </a:r>
                    </a:p>
                  </a:txBody>
                  <a:tcPr marL="73152" marT="18288" marB="18288">
                    <a:solidFill>
                      <a:srgbClr val="FFFFFF"/>
                    </a:solidFill>
                  </a:tcPr>
                </a:tc>
                <a:tc>
                  <a:txBody>
                    <a:bodyPr/>
                    <a:lstStyle/>
                    <a:p>
                      <a:r>
                        <a:rPr sz="3000">
                          <a:solidFill>
                            <a:srgbClr val="222222"/>
                          </a:solidFill>
                          <a:latin typeface="Calibri"/>
                        </a:rPr>
                        <a:t>Upload e08a_button_lab and make the buttons yours</a:t>
                      </a:r>
                    </a:p>
                  </a:txBody>
                  <a:tcPr marL="73152" marT="18288" marB="18288">
                    <a:solidFill>
                      <a:srgbClr val="FFFFFF"/>
                    </a:solidFill>
                  </a:tcPr>
                </a:tc>
              </a:tr>
              <a:tr h="552450">
                <a:tc>
                  <a:txBody>
                    <a:bodyPr/>
                    <a:lstStyle/>
                    <a:p>
                      <a:r>
                        <a:rPr sz="3000">
                          <a:solidFill>
                            <a:srgbClr val="222222"/>
                          </a:solidFill>
                          <a:latin typeface="Calibri"/>
                        </a:rPr>
                        <a:t>0:52</a:t>
                      </a:r>
                    </a:p>
                  </a:txBody>
                  <a:tcPr marL="73152" marT="18288" marB="18288">
                    <a:solidFill>
                      <a:srgbClr val="EEF3F8"/>
                    </a:solidFill>
                  </a:tcPr>
                </a:tc>
                <a:tc>
                  <a:txBody>
                    <a:bodyPr/>
                    <a:lstStyle/>
                    <a:p>
                      <a:r>
                        <a:rPr sz="3000">
                          <a:solidFill>
                            <a:srgbClr val="222222"/>
                          </a:solidFill>
                          <a:latin typeface="Calibri"/>
                        </a:rPr>
                        <a:t>Mission Log and pack up</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Radio links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 minutes</a:t>
            </a:r>
          </a:p>
        </p:txBody>
      </p:sp>
      <p:sp>
        <p:nvSpPr>
          <p:cNvPr id="7" name="Rounded Rectangle 6"/>
          <p:cNvSpPr/>
          <p:nvPr/>
        </p:nvSpPr>
        <p:spPr>
          <a:xfrm>
            <a:off x="502920"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Radio links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9" name="Rounded Rectangle 8"/>
          <p:cNvSpPr/>
          <p:nvPr/>
        </p:nvSpPr>
        <p:spPr>
          <a:xfrm>
            <a:off x="4280306"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Choices</a:t>
            </a:r>
          </a:p>
        </p:txBody>
      </p:sp>
      <p:sp>
        <p:nvSpPr>
          <p:cNvPr id="10" name="Rounded Rectangle 9"/>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Button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An invisible link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900"/>
              </a:spcAft>
              <a:defRPr sz="2900" b="0">
                <a:solidFill>
                  <a:srgbClr val="222222"/>
                </a:solidFill>
                <a:latin typeface="Calibri"/>
              </a:defRPr>
            </a:pPr>
            <a:r>
              <a:rPr sz="2900" b="0">
                <a:solidFill>
                  <a:srgbClr val="222222"/>
                </a:solidFill>
                <a:latin typeface="Calibri"/>
              </a:rPr>
              <a:t>The controller and the vehicle talk by RADIO - a kind called Bluetooth.</a:t>
            </a:r>
          </a:p>
          <a:p>
            <a:pPr algn="l">
              <a:lnSpc>
                <a:spcPct val="100000"/>
              </a:lnSpc>
              <a:spcAft>
                <a:spcPts val="900"/>
              </a:spcAft>
              <a:defRPr sz="2900" b="0">
                <a:solidFill>
                  <a:srgbClr val="222222"/>
                </a:solidFill>
                <a:latin typeface="Calibri"/>
              </a:defRPr>
            </a:pPr>
            <a:r>
              <a:rPr sz="2900" b="0">
                <a:solidFill>
                  <a:srgbClr val="222222"/>
                </a:solidFill>
                <a:latin typeface="Calibri"/>
              </a:rPr>
              <a:t>It's the same kind of radio that wireless earbuds use.</a:t>
            </a:r>
          </a:p>
          <a:p>
            <a:pPr algn="l">
              <a:lnSpc>
                <a:spcPct val="100000"/>
              </a:lnSpc>
              <a:spcAft>
                <a:spcPts val="900"/>
              </a:spcAft>
              <a:defRPr sz="2900" b="0">
                <a:solidFill>
                  <a:srgbClr val="222222"/>
                </a:solidFill>
                <a:latin typeface="Calibri"/>
              </a:defRPr>
            </a:pPr>
            <a:r>
              <a:rPr sz="2900" b="0">
                <a:solidFill>
                  <a:srgbClr val="222222"/>
                </a:solidFill>
                <a:latin typeface="Calibri"/>
              </a:rPr>
              <a:t>Every controller has its own address, like a house number.</a:t>
            </a:r>
          </a:p>
          <a:p>
            <a:pPr algn="l">
              <a:lnSpc>
                <a:spcPct val="100000"/>
              </a:lnSpc>
              <a:spcAft>
                <a:spcPts val="900"/>
              </a:spcAft>
              <a:defRPr sz="2900" b="0">
                <a:solidFill>
                  <a:srgbClr val="222222"/>
                </a:solidFill>
                <a:latin typeface="Calibri"/>
              </a:defRPr>
            </a:pPr>
            <a:r>
              <a:rPr sz="2900" b="0">
                <a:solidFill>
                  <a:srgbClr val="222222"/>
                </a:solidFill>
                <a:latin typeface="Calibri"/>
              </a:rPr>
              <a:t>Your vehicle only listens to ONE address: its own controller's. That's why the stickers match.</a:t>
            </a:r>
          </a:p>
        </p:txBody>
      </p:sp>
      <p:sp>
        <p:nvSpPr>
          <p:cNvPr id="7" name="Rectangle 6"/>
          <p:cNvSpPr/>
          <p:nvPr/>
        </p:nvSpPr>
        <p:spPr>
          <a:xfrm>
            <a:off x="7214433" y="1188720"/>
            <a:ext cx="4474342" cy="384048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PHOTO: a vehicle and its controller with matching number stickers</a:t>
            </a:r>
          </a:p>
          <a:p>
            <a:pPr algn="ctr">
              <a:lnSpc>
                <a:spcPct val="100000"/>
              </a:lnSpc>
              <a:spcAft>
                <a:spcPts val="700"/>
              </a:spcAft>
              <a:defRPr sz="1600" b="0">
                <a:solidFill>
                  <a:srgbClr val="0E7C86"/>
                </a:solidFill>
                <a:latin typeface="Calibri"/>
              </a:defRPr>
            </a:pPr>
            <a:r>
              <a:rPr sz="1600" b="0">
                <a:solidFill>
                  <a:srgbClr val="0E7C86"/>
                </a:solidFill>
                <a:latin typeface="Calibri"/>
              </a:rPr>
              <a:t>Both stickers in the same shot, close enough to read the number</a:t>
            </a:r>
          </a:p>
        </p:txBody>
      </p:sp>
      <p:sp>
        <p:nvSpPr>
          <p:cNvPr id="8" name="TextBox 7"/>
          <p:cNvSpPr txBox="1"/>
          <p:nvPr/>
        </p:nvSpPr>
        <p:spPr>
          <a:xfrm>
            <a:off x="7214433" y="5084064"/>
            <a:ext cx="4474342"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Same number, same team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controller, and the name of every button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Rounded Rectangle 5"/>
          <p:cNvSpPr/>
          <p:nvPr/>
        </p:nvSpPr>
        <p:spPr>
          <a:xfrm>
            <a:off x="3246120" y="2286000"/>
            <a:ext cx="5669280" cy="2651760"/>
          </a:xfrm>
          <a:prstGeom prst="roundRect">
            <a:avLst>
              <a:gd name="adj" fmla="val 35000"/>
            </a:avLst>
          </a:prstGeom>
          <a:solidFill>
            <a:srgbClr val="E8ECF0"/>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7" name="Rounded Rectangle 6"/>
          <p:cNvSpPr/>
          <p:nvPr/>
        </p:nvSpPr>
        <p:spPr>
          <a:xfrm>
            <a:off x="3749040" y="1417320"/>
            <a:ext cx="1188720" cy="384048"/>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ZL</a:t>
            </a:r>
          </a:p>
        </p:txBody>
      </p:sp>
      <p:sp>
        <p:nvSpPr>
          <p:cNvPr id="8" name="Rounded Rectangle 7"/>
          <p:cNvSpPr/>
          <p:nvPr/>
        </p:nvSpPr>
        <p:spPr>
          <a:xfrm>
            <a:off x="7223760" y="1417320"/>
            <a:ext cx="1188720" cy="384048"/>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ZR</a:t>
            </a:r>
          </a:p>
        </p:txBody>
      </p:sp>
      <p:sp>
        <p:nvSpPr>
          <p:cNvPr id="9" name="Rounded Rectangle 8"/>
          <p:cNvSpPr/>
          <p:nvPr/>
        </p:nvSpPr>
        <p:spPr>
          <a:xfrm>
            <a:off x="3749040" y="1847088"/>
            <a:ext cx="1188720" cy="384048"/>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a:t>
            </a:r>
          </a:p>
        </p:txBody>
      </p:sp>
      <p:sp>
        <p:nvSpPr>
          <p:cNvPr id="10" name="Rounded Rectangle 9"/>
          <p:cNvSpPr/>
          <p:nvPr/>
        </p:nvSpPr>
        <p:spPr>
          <a:xfrm>
            <a:off x="7223760" y="1847088"/>
            <a:ext cx="1188720" cy="384048"/>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a:t>
            </a:r>
          </a:p>
        </p:txBody>
      </p:sp>
      <p:sp>
        <p:nvSpPr>
          <p:cNvPr id="11" name="Oval 10"/>
          <p:cNvSpPr/>
          <p:nvPr/>
        </p:nvSpPr>
        <p:spPr>
          <a:xfrm>
            <a:off x="3931920" y="2606040"/>
            <a:ext cx="822960" cy="822960"/>
          </a:xfrm>
          <a:prstGeom prst="ellipse">
            <a:avLst/>
          </a:prstGeom>
          <a:solidFill>
            <a:srgbClr val="FFFFFF"/>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2" name="Cross 11"/>
          <p:cNvSpPr/>
          <p:nvPr/>
        </p:nvSpPr>
        <p:spPr>
          <a:xfrm>
            <a:off x="4846320" y="3749040"/>
            <a:ext cx="822960" cy="822960"/>
          </a:xfrm>
          <a:prstGeom prst="plus">
            <a:avLst>
              <a:gd name="adj" fmla="val 33000"/>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3" name="Oval 12"/>
          <p:cNvSpPr/>
          <p:nvPr/>
        </p:nvSpPr>
        <p:spPr>
          <a:xfrm>
            <a:off x="6583680" y="3749040"/>
            <a:ext cx="822960" cy="822960"/>
          </a:xfrm>
          <a:prstGeom prst="ellipse">
            <a:avLst/>
          </a:prstGeom>
          <a:solidFill>
            <a:srgbClr val="FFFFFF"/>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4" name="Oval 13"/>
          <p:cNvSpPr/>
          <p:nvPr/>
        </p:nvSpPr>
        <p:spPr>
          <a:xfrm>
            <a:off x="7635240" y="2468880"/>
            <a:ext cx="457200" cy="457200"/>
          </a:xfrm>
          <a:prstGeom prst="ellipse">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X</a:t>
            </a:r>
          </a:p>
        </p:txBody>
      </p:sp>
      <p:sp>
        <p:nvSpPr>
          <p:cNvPr id="15" name="Oval 14"/>
          <p:cNvSpPr/>
          <p:nvPr/>
        </p:nvSpPr>
        <p:spPr>
          <a:xfrm>
            <a:off x="7178040" y="2926080"/>
            <a:ext cx="457200" cy="457200"/>
          </a:xfrm>
          <a:prstGeom prst="ellipse">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Y</a:t>
            </a:r>
          </a:p>
        </p:txBody>
      </p:sp>
      <p:sp>
        <p:nvSpPr>
          <p:cNvPr id="16" name="Oval 15"/>
          <p:cNvSpPr/>
          <p:nvPr/>
        </p:nvSpPr>
        <p:spPr>
          <a:xfrm>
            <a:off x="8092440" y="2926080"/>
            <a:ext cx="457200" cy="457200"/>
          </a:xfrm>
          <a:prstGeom prst="ellipse">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A</a:t>
            </a:r>
          </a:p>
        </p:txBody>
      </p:sp>
      <p:sp>
        <p:nvSpPr>
          <p:cNvPr id="17" name="Oval 16"/>
          <p:cNvSpPr/>
          <p:nvPr/>
        </p:nvSpPr>
        <p:spPr>
          <a:xfrm>
            <a:off x="7635240" y="3383280"/>
            <a:ext cx="457200" cy="457200"/>
          </a:xfrm>
          <a:prstGeom prst="ellipse">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a:t>
            </a:r>
          </a:p>
        </p:txBody>
      </p:sp>
      <p:sp>
        <p:nvSpPr>
          <p:cNvPr id="18" name="TextBox 17"/>
          <p:cNvSpPr txBox="1"/>
          <p:nvPr/>
        </p:nvSpPr>
        <p:spPr>
          <a:xfrm>
            <a:off x="502920" y="1234440"/>
            <a:ext cx="2606040" cy="659384"/>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L and ZL</a:t>
            </a:r>
          </a:p>
          <a:p>
            <a:pPr algn="l">
              <a:lnSpc>
                <a:spcPct val="100000"/>
              </a:lnSpc>
              <a:spcAft>
                <a:spcPts val="100"/>
              </a:spcAft>
              <a:defRPr sz="1800" b="0">
                <a:solidFill>
                  <a:srgbClr val="222222"/>
                </a:solidFill>
                <a:latin typeface="Calibri"/>
              </a:defRPr>
            </a:pPr>
            <a:r>
              <a:rPr sz="1800" b="0">
                <a:solidFill>
                  <a:srgbClr val="222222"/>
                </a:solidFill>
                <a:latin typeface="Calibri"/>
              </a:rPr>
              <a:t>buttonL()  buttonZL()</a:t>
            </a:r>
          </a:p>
        </p:txBody>
      </p:sp>
      <p:sp>
        <p:nvSpPr>
          <p:cNvPr id="19" name="TextBox 18"/>
          <p:cNvSpPr txBox="1"/>
          <p:nvPr/>
        </p:nvSpPr>
        <p:spPr>
          <a:xfrm>
            <a:off x="502920" y="2560320"/>
            <a:ext cx="2606040" cy="950976"/>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LEFT STICK: drive</a:t>
            </a:r>
          </a:p>
          <a:p>
            <a:pPr algn="l">
              <a:lnSpc>
                <a:spcPct val="100000"/>
              </a:lnSpc>
              <a:spcAft>
                <a:spcPts val="100"/>
              </a:spcAft>
              <a:defRPr sz="1800" b="0">
                <a:solidFill>
                  <a:srgbClr val="222222"/>
                </a:solidFill>
                <a:latin typeface="Calibri"/>
              </a:defRPr>
            </a:pPr>
            <a:r>
              <a:rPr sz="1800" b="0">
                <a:solidFill>
                  <a:srgbClr val="222222"/>
                </a:solidFill>
                <a:latin typeface="Calibri"/>
              </a:rPr>
              <a:t>leftStickX()</a:t>
            </a:r>
          </a:p>
          <a:p>
            <a:pPr algn="l">
              <a:lnSpc>
                <a:spcPct val="100000"/>
              </a:lnSpc>
              <a:spcAft>
                <a:spcPts val="100"/>
              </a:spcAft>
              <a:defRPr sz="1800" b="0">
                <a:solidFill>
                  <a:srgbClr val="222222"/>
                </a:solidFill>
                <a:latin typeface="Calibri"/>
              </a:defRPr>
            </a:pPr>
            <a:r>
              <a:rPr sz="1800" b="0">
                <a:solidFill>
                  <a:srgbClr val="222222"/>
                </a:solidFill>
                <a:latin typeface="Calibri"/>
              </a:rPr>
              <a:t>leftStickY()</a:t>
            </a:r>
          </a:p>
        </p:txBody>
      </p:sp>
      <p:sp>
        <p:nvSpPr>
          <p:cNvPr id="20" name="TextBox 19"/>
          <p:cNvSpPr txBox="1"/>
          <p:nvPr/>
        </p:nvSpPr>
        <p:spPr>
          <a:xfrm>
            <a:off x="502920" y="3886200"/>
            <a:ext cx="2606040" cy="1229868"/>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D-PAD</a:t>
            </a:r>
          </a:p>
          <a:p>
            <a:pPr algn="l">
              <a:lnSpc>
                <a:spcPct val="100000"/>
              </a:lnSpc>
              <a:spcAft>
                <a:spcPts val="100"/>
              </a:spcAft>
              <a:defRPr sz="1800" b="0">
                <a:solidFill>
                  <a:srgbClr val="222222"/>
                </a:solidFill>
                <a:latin typeface="Calibri"/>
              </a:defRPr>
            </a:pPr>
            <a:r>
              <a:rPr sz="1800" b="0">
                <a:solidFill>
                  <a:srgbClr val="222222"/>
                </a:solidFill>
                <a:latin typeface="Calibri"/>
              </a:rPr>
              <a:t>dpadUp()  dpadDown()</a:t>
            </a:r>
          </a:p>
          <a:p>
            <a:pPr algn="l">
              <a:lnSpc>
                <a:spcPct val="100000"/>
              </a:lnSpc>
              <a:spcAft>
                <a:spcPts val="100"/>
              </a:spcAft>
              <a:defRPr sz="1800" b="0">
                <a:solidFill>
                  <a:srgbClr val="222222"/>
                </a:solidFill>
                <a:latin typeface="Calibri"/>
              </a:defRPr>
            </a:pPr>
            <a:r>
              <a:rPr sz="1800" b="0">
                <a:solidFill>
                  <a:srgbClr val="222222"/>
                </a:solidFill>
                <a:latin typeface="Calibri"/>
              </a:rPr>
              <a:t>dpadLeft()  dpadRight()</a:t>
            </a:r>
          </a:p>
        </p:txBody>
      </p:sp>
      <p:cxnSp>
        <p:nvCxnSpPr>
          <p:cNvPr id="21" name="Connector 20"/>
          <p:cNvCxnSpPr/>
          <p:nvPr/>
        </p:nvCxnSpPr>
        <p:spPr>
          <a:xfrm>
            <a:off x="2926080" y="2788920"/>
            <a:ext cx="1005840" cy="22860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26080" y="4160519"/>
            <a:ext cx="1920240" cy="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235440" y="1234440"/>
            <a:ext cx="2453335" cy="659384"/>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R and ZR</a:t>
            </a:r>
          </a:p>
          <a:p>
            <a:pPr algn="l">
              <a:lnSpc>
                <a:spcPct val="100000"/>
              </a:lnSpc>
              <a:spcAft>
                <a:spcPts val="100"/>
              </a:spcAft>
              <a:defRPr sz="1800" b="0">
                <a:solidFill>
                  <a:srgbClr val="222222"/>
                </a:solidFill>
                <a:latin typeface="Calibri"/>
              </a:defRPr>
            </a:pPr>
            <a:r>
              <a:rPr sz="1800" b="0">
                <a:solidFill>
                  <a:srgbClr val="222222"/>
                </a:solidFill>
                <a:latin typeface="Calibri"/>
              </a:rPr>
              <a:t>buttonR()  buttonZR()</a:t>
            </a:r>
          </a:p>
        </p:txBody>
      </p:sp>
      <p:sp>
        <p:nvSpPr>
          <p:cNvPr id="24" name="TextBox 23"/>
          <p:cNvSpPr txBox="1"/>
          <p:nvPr/>
        </p:nvSpPr>
        <p:spPr>
          <a:xfrm>
            <a:off x="9235440" y="2468880"/>
            <a:ext cx="2453335" cy="1229868"/>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X  Y  A  B</a:t>
            </a:r>
          </a:p>
          <a:p>
            <a:pPr algn="l">
              <a:lnSpc>
                <a:spcPct val="100000"/>
              </a:lnSpc>
              <a:spcAft>
                <a:spcPts val="100"/>
              </a:spcAft>
              <a:defRPr sz="1800" b="0">
                <a:solidFill>
                  <a:srgbClr val="222222"/>
                </a:solidFill>
                <a:latin typeface="Calibri"/>
              </a:defRPr>
            </a:pPr>
            <a:r>
              <a:rPr sz="1800" b="0">
                <a:solidFill>
                  <a:srgbClr val="222222"/>
                </a:solidFill>
                <a:latin typeface="Calibri"/>
              </a:rPr>
              <a:t>buttonA()  tappedA()</a:t>
            </a:r>
          </a:p>
          <a:p>
            <a:pPr algn="l">
              <a:lnSpc>
                <a:spcPct val="100000"/>
              </a:lnSpc>
              <a:spcAft>
                <a:spcPts val="100"/>
              </a:spcAft>
              <a:defRPr sz="1800" b="0">
                <a:solidFill>
                  <a:srgbClr val="222222"/>
                </a:solidFill>
                <a:latin typeface="Calibri"/>
              </a:defRPr>
            </a:pPr>
            <a:r>
              <a:rPr sz="1800" b="0">
                <a:solidFill>
                  <a:srgbClr val="222222"/>
                </a:solidFill>
                <a:latin typeface="Calibri"/>
              </a:rPr>
              <a:t>...and the same for B, X, Y</a:t>
            </a:r>
          </a:p>
        </p:txBody>
      </p:sp>
      <p:sp>
        <p:nvSpPr>
          <p:cNvPr id="25" name="TextBox 24"/>
          <p:cNvSpPr txBox="1"/>
          <p:nvPr/>
        </p:nvSpPr>
        <p:spPr>
          <a:xfrm>
            <a:off x="9235440" y="3886200"/>
            <a:ext cx="2453335" cy="950976"/>
          </a:xfrm>
          <a:prstGeom prst="rect">
            <a:avLst/>
          </a:prstGeom>
          <a:noFill/>
        </p:spPr>
        <p:txBody>
          <a:bodyPr wrap="square" lIns="0" tIns="0" rIns="0" bIns="0">
            <a:spAutoFit/>
          </a:bodyPr>
          <a:lstStyle/>
          <a:p>
            <a:pPr algn="l">
              <a:lnSpc>
                <a:spcPct val="100000"/>
              </a:lnSpc>
              <a:spcAft>
                <a:spcPts val="100"/>
              </a:spcAft>
              <a:defRPr sz="1800" b="0">
                <a:solidFill>
                  <a:srgbClr val="222222"/>
                </a:solidFill>
                <a:latin typeface="Calibri"/>
              </a:defRPr>
            </a:pPr>
            <a:r>
              <a:rPr sz="1800" b="0">
                <a:solidFill>
                  <a:srgbClr val="222222"/>
                </a:solidFill>
                <a:latin typeface="Calibri"/>
              </a:rPr>
              <a:t>RIGHT STICK</a:t>
            </a:r>
          </a:p>
          <a:p>
            <a:pPr algn="l">
              <a:lnSpc>
                <a:spcPct val="100000"/>
              </a:lnSpc>
              <a:spcAft>
                <a:spcPts val="100"/>
              </a:spcAft>
              <a:defRPr sz="1800" b="0">
                <a:solidFill>
                  <a:srgbClr val="222222"/>
                </a:solidFill>
                <a:latin typeface="Calibri"/>
              </a:defRPr>
            </a:pPr>
            <a:r>
              <a:rPr sz="1800" b="0">
                <a:solidFill>
                  <a:srgbClr val="222222"/>
                </a:solidFill>
                <a:latin typeface="Calibri"/>
              </a:rPr>
              <a:t>rightStickX()</a:t>
            </a:r>
          </a:p>
          <a:p>
            <a:pPr algn="l">
              <a:lnSpc>
                <a:spcPct val="100000"/>
              </a:lnSpc>
              <a:spcAft>
                <a:spcPts val="100"/>
              </a:spcAft>
              <a:defRPr sz="1800" b="0">
                <a:solidFill>
                  <a:srgbClr val="222222"/>
                </a:solidFill>
                <a:latin typeface="Calibri"/>
              </a:defRPr>
            </a:pPr>
            <a:r>
              <a:rPr sz="1800" b="0">
                <a:solidFill>
                  <a:srgbClr val="222222"/>
                </a:solidFill>
                <a:latin typeface="Calibri"/>
              </a:rPr>
              <a:t>rightStickY()</a:t>
            </a:r>
          </a:p>
        </p:txBody>
      </p:sp>
      <p:cxnSp>
        <p:nvCxnSpPr>
          <p:cNvPr id="26" name="Connector 25"/>
          <p:cNvCxnSpPr/>
          <p:nvPr/>
        </p:nvCxnSpPr>
        <p:spPr>
          <a:xfrm flipH="1" flipV="1">
            <a:off x="8595360" y="3154680"/>
            <a:ext cx="594360" cy="9144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406640" y="4160519"/>
            <a:ext cx="1783080" cy="1"/>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letter PRINTED on the button is the letter in the code. Press A, and buttonA() is true.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Choices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15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Radio links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Choices</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Button lab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Simon Says, if/else edition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UNPLUGGED:   </a:t>
            </a:r>
            <a:r>
              <a:rPr sz="1500" b="1">
                <a:solidFill>
                  <a:srgbClr val="FFFFFF"/>
                </a:solidFill>
                <a:latin typeface="Calibri"/>
              </a:rPr>
              <a:t>Everybody stands up</a:t>
            </a:r>
            <a:r>
              <a:rPr sz="1200">
                <a:solidFill>
                  <a:srgbClr val="FFFFFF"/>
                </a:solidFill>
                <a:latin typeface="Calibri"/>
              </a:rPr>
              <a:t>     (8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The teacher is the program. You are the robots.</a:t>
            </a:r>
          </a:p>
          <a:p>
            <a:pPr algn="l">
              <a:lnSpc>
                <a:spcPct val="100000"/>
              </a:lnSpc>
              <a:spcAft>
                <a:spcPts val="800"/>
              </a:spcAft>
              <a:defRPr sz="2000" b="0">
                <a:solidFill>
                  <a:srgbClr val="222222"/>
                </a:solidFill>
                <a:latin typeface="Calibri"/>
              </a:defRPr>
            </a:pPr>
            <a:r>
              <a:rPr sz="2000" b="0">
                <a:solidFill>
                  <a:srgbClr val="222222"/>
                </a:solidFill>
                <a:latin typeface="Calibri"/>
              </a:rPr>
              <a:t>RULE 1: IF the teacher's hand is UP, clap. ELSE, stay still.</a:t>
            </a:r>
          </a:p>
          <a:p>
            <a:pPr algn="l">
              <a:lnSpc>
                <a:spcPct val="100000"/>
              </a:lnSpc>
              <a:spcAft>
                <a:spcPts val="800"/>
              </a:spcAft>
              <a:defRPr sz="2000" b="0">
                <a:solidFill>
                  <a:srgbClr val="222222"/>
                </a:solidFill>
                <a:latin typeface="Calibri"/>
              </a:defRPr>
            </a:pPr>
            <a:r>
              <a:rPr sz="2000" b="0">
                <a:solidFill>
                  <a:srgbClr val="222222"/>
                </a:solidFill>
                <a:latin typeface="Calibri"/>
              </a:rPr>
              <a:t>RULE 2: the WHOLE TIME the teacher holds a hand up, keep waving.</a:t>
            </a:r>
          </a:p>
          <a:p>
            <a:pPr algn="l">
              <a:lnSpc>
                <a:spcPct val="100000"/>
              </a:lnSpc>
              <a:spcAft>
                <a:spcPts val="800"/>
              </a:spcAft>
              <a:defRPr sz="2000" b="0">
                <a:solidFill>
                  <a:srgbClr val="222222"/>
                </a:solidFill>
                <a:latin typeface="Calibri"/>
              </a:defRPr>
            </a:pPr>
            <a:r>
              <a:rPr sz="2000" b="0">
                <a:solidFill>
                  <a:srgbClr val="222222"/>
                </a:solidFill>
                <a:latin typeface="Calibri"/>
              </a:rPr>
              <a:t>RULE 3: when the teacher TAPS their head, jump ONCE - no matter how long the hand stays there.</a:t>
            </a:r>
          </a:p>
          <a:p>
            <a:pPr algn="l">
              <a:lnSpc>
                <a:spcPct val="100000"/>
              </a:lnSpc>
              <a:spcAft>
                <a:spcPts val="800"/>
              </a:spcAft>
              <a:defRPr sz="2000" b="0">
                <a:solidFill>
                  <a:srgbClr val="222222"/>
                </a:solidFill>
                <a:latin typeface="Calibri"/>
              </a:defRPr>
            </a:pPr>
            <a:r>
              <a:rPr sz="2000" b="0">
                <a:solidFill>
                  <a:srgbClr val="222222"/>
                </a:solidFill>
                <a:latin typeface="Calibri"/>
              </a:rPr>
              <a:t>Mix them up, and speed up!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97864"/>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Clapping, waving and jumping at the right moments</a:t>
            </a:r>
          </a:p>
        </p:txBody>
      </p:sp>
      <p:sp>
        <p:nvSpPr>
          <p:cNvPr id="10" name="TextBox 9"/>
          <p:cNvSpPr txBox="1"/>
          <p:nvPr/>
        </p:nvSpPr>
        <p:spPr>
          <a:xfrm>
            <a:off x="7163537" y="3575304"/>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77640"/>
            <a:ext cx="4525238" cy="1197864"/>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What's the difference between rule 2 and rule 3?</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Jump on the spot. Give your neighbors room.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if and else: the rover makes a choice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Diamond 5"/>
          <p:cNvSpPr/>
          <p:nvPr/>
        </p:nvSpPr>
        <p:spPr>
          <a:xfrm>
            <a:off x="2057400" y="1325880"/>
            <a:ext cx="3291840" cy="1463040"/>
          </a:xfrm>
          <a:prstGeom prst="diamond">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200" b="1">
                <a:solidFill>
                  <a:srgbClr val="1F3A5F"/>
                </a:solidFill>
                <a:latin typeface="Calibri"/>
              </a:defRPr>
            </a:pPr>
            <a:r>
              <a:rPr sz="2200" b="1">
                <a:solidFill>
                  <a:srgbClr val="1F3A5F"/>
                </a:solidFill>
                <a:latin typeface="Calibri"/>
              </a:rPr>
              <a:t>Is A held</a:t>
            </a:r>
          </a:p>
          <a:p>
            <a:pPr algn="ctr">
              <a:lnSpc>
                <a:spcPct val="100000"/>
              </a:lnSpc>
              <a:spcAft>
                <a:spcPts val="0"/>
              </a:spcAft>
              <a:defRPr sz="2200" b="1">
                <a:solidFill>
                  <a:srgbClr val="1F3A5F"/>
                </a:solidFill>
                <a:latin typeface="Calibri"/>
              </a:defRPr>
            </a:pPr>
            <a:r>
              <a:rPr sz="2200" b="1">
                <a:solidFill>
                  <a:srgbClr val="1F3A5F"/>
                </a:solidFill>
                <a:latin typeface="Calibri"/>
              </a:rPr>
              <a:t>down?</a:t>
            </a:r>
          </a:p>
        </p:txBody>
      </p:sp>
      <p:sp>
        <p:nvSpPr>
          <p:cNvPr id="7" name="Rounded Rectangle 6"/>
          <p:cNvSpPr/>
          <p:nvPr/>
        </p:nvSpPr>
        <p:spPr>
          <a:xfrm>
            <a:off x="502920" y="3703320"/>
            <a:ext cx="2743200" cy="91440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200" b="1">
                <a:solidFill>
                  <a:srgbClr val="1F3A5F"/>
                </a:solidFill>
                <a:latin typeface="Calibri"/>
              </a:defRPr>
            </a:pPr>
            <a:r>
              <a:rPr sz="2200" b="1">
                <a:solidFill>
                  <a:srgbClr val="1F3A5F"/>
                </a:solidFill>
                <a:latin typeface="Calibri"/>
              </a:rPr>
              <a:t>front lights</a:t>
            </a:r>
          </a:p>
          <a:p>
            <a:pPr algn="ctr">
              <a:lnSpc>
                <a:spcPct val="100000"/>
              </a:lnSpc>
              <a:spcAft>
                <a:spcPts val="0"/>
              </a:spcAft>
              <a:defRPr sz="2200" b="1">
                <a:solidFill>
                  <a:srgbClr val="1F3A5F"/>
                </a:solidFill>
                <a:latin typeface="Calibri"/>
              </a:defRPr>
            </a:pPr>
            <a:r>
              <a:rPr sz="2200" b="1">
                <a:solidFill>
                  <a:srgbClr val="1F3A5F"/>
                </a:solidFill>
                <a:latin typeface="Calibri"/>
              </a:rPr>
              <a:t>GREEN</a:t>
            </a:r>
          </a:p>
        </p:txBody>
      </p:sp>
      <p:sp>
        <p:nvSpPr>
          <p:cNvPr id="8" name="Rounded Rectangle 7"/>
          <p:cNvSpPr/>
          <p:nvPr/>
        </p:nvSpPr>
        <p:spPr>
          <a:xfrm>
            <a:off x="3931920" y="3703320"/>
            <a:ext cx="2743200" cy="914400"/>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2200" b="1">
                <a:solidFill>
                  <a:srgbClr val="1F3A5F"/>
                </a:solidFill>
                <a:latin typeface="Calibri"/>
              </a:defRPr>
            </a:pPr>
            <a:r>
              <a:rPr sz="2200" b="1">
                <a:solidFill>
                  <a:srgbClr val="1F3A5F"/>
                </a:solidFill>
                <a:latin typeface="Calibri"/>
              </a:rPr>
              <a:t>front lights</a:t>
            </a:r>
          </a:p>
          <a:p>
            <a:pPr algn="ctr">
              <a:lnSpc>
                <a:spcPct val="100000"/>
              </a:lnSpc>
              <a:spcAft>
                <a:spcPts val="0"/>
              </a:spcAft>
              <a:defRPr sz="2200" b="1">
                <a:solidFill>
                  <a:srgbClr val="1F3A5F"/>
                </a:solidFill>
                <a:latin typeface="Calibri"/>
              </a:defRPr>
            </a:pPr>
            <a:r>
              <a:rPr sz="2200" b="1">
                <a:solidFill>
                  <a:srgbClr val="1F3A5F"/>
                </a:solidFill>
                <a:latin typeface="Calibri"/>
              </a:rPr>
              <a:t>OFF</a:t>
            </a:r>
          </a:p>
        </p:txBody>
      </p:sp>
      <p:cxnSp>
        <p:nvCxnSpPr>
          <p:cNvPr id="9" name="Connector 8"/>
          <p:cNvCxnSpPr/>
          <p:nvPr/>
        </p:nvCxnSpPr>
        <p:spPr>
          <a:xfrm flipH="1">
            <a:off x="1874520" y="2057400"/>
            <a:ext cx="182880" cy="164592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5303520" y="2057400"/>
            <a:ext cx="45720" cy="1645920"/>
          </a:xfrm>
          <a:prstGeom prst="line">
            <a:avLst/>
          </a:prstGeom>
          <a:ln w="38100">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2240280"/>
            <a:ext cx="1097280" cy="429768"/>
          </a:xfrm>
          <a:prstGeom prst="rect">
            <a:avLst/>
          </a:prstGeom>
          <a:noFill/>
        </p:spPr>
        <p:txBody>
          <a:bodyPr wrap="square" lIns="0" tIns="0" rIns="0" bIns="0">
            <a:spAutoFit/>
          </a:bodyPr>
          <a:lstStyle/>
          <a:p>
            <a:pPr algn="l">
              <a:lnSpc>
                <a:spcPct val="100000"/>
              </a:lnSpc>
              <a:spcAft>
                <a:spcPts val="100"/>
              </a:spcAft>
              <a:defRPr sz="2200" b="1">
                <a:solidFill>
                  <a:srgbClr val="0E7C86"/>
                </a:solidFill>
                <a:latin typeface="Calibri"/>
              </a:defRPr>
            </a:pPr>
            <a:r>
              <a:rPr sz="2200" b="1">
                <a:solidFill>
                  <a:srgbClr val="0E7C86"/>
                </a:solidFill>
                <a:latin typeface="Calibri"/>
              </a:rPr>
              <a:t>YES</a:t>
            </a:r>
          </a:p>
        </p:txBody>
      </p:sp>
      <p:sp>
        <p:nvSpPr>
          <p:cNvPr id="12" name="TextBox 11"/>
          <p:cNvSpPr txBox="1"/>
          <p:nvPr/>
        </p:nvSpPr>
        <p:spPr>
          <a:xfrm>
            <a:off x="5760720" y="2240280"/>
            <a:ext cx="914400" cy="429768"/>
          </a:xfrm>
          <a:prstGeom prst="rect">
            <a:avLst/>
          </a:prstGeom>
          <a:noFill/>
        </p:spPr>
        <p:txBody>
          <a:bodyPr wrap="square" lIns="0" tIns="0" rIns="0" bIns="0">
            <a:spAutoFit/>
          </a:bodyPr>
          <a:lstStyle/>
          <a:p>
            <a:pPr algn="r">
              <a:lnSpc>
                <a:spcPct val="100000"/>
              </a:lnSpc>
              <a:spcAft>
                <a:spcPts val="100"/>
              </a:spcAft>
              <a:defRPr sz="2200" b="1">
                <a:solidFill>
                  <a:srgbClr val="B46A0F"/>
                </a:solidFill>
                <a:latin typeface="Calibri"/>
              </a:defRPr>
            </a:pPr>
            <a:r>
              <a:rPr sz="2200" b="1">
                <a:solidFill>
                  <a:srgbClr val="B46A0F"/>
                </a:solidFill>
                <a:latin typeface="Calibri"/>
              </a:rPr>
              <a:t>NO</a:t>
            </a:r>
          </a:p>
        </p:txBody>
      </p:sp>
      <p:sp>
        <p:nvSpPr>
          <p:cNvPr id="13" name="TextBox 12"/>
          <p:cNvSpPr txBox="1"/>
          <p:nvPr/>
        </p:nvSpPr>
        <p:spPr>
          <a:xfrm>
            <a:off x="502920" y="4800600"/>
            <a:ext cx="6172200" cy="398780"/>
          </a:xfrm>
          <a:prstGeom prst="rect">
            <a:avLst/>
          </a:prstGeom>
          <a:noFill/>
        </p:spPr>
        <p:txBody>
          <a:bodyPr wrap="square" lIns="0" tIns="0" rIns="0" bIns="0">
            <a:spAutoFit/>
          </a:bodyPr>
          <a:lstStyle/>
          <a:p>
            <a:pPr algn="ctr">
              <a:lnSpc>
                <a:spcPct val="100000"/>
              </a:lnSpc>
              <a:spcAft>
                <a:spcPts val="100"/>
              </a:spcAft>
              <a:defRPr sz="2000" b="0">
                <a:solidFill>
                  <a:srgbClr val="666666"/>
                </a:solidFill>
                <a:latin typeface="Calibri"/>
              </a:defRPr>
            </a:pPr>
            <a:r>
              <a:rPr sz="2000" b="0">
                <a:solidFill>
                  <a:srgbClr val="666666"/>
                </a:solidFill>
                <a:latin typeface="Calibri"/>
              </a:rPr>
              <a:t>...then loop() starts again, and asks again.</a:t>
            </a:r>
          </a:p>
        </p:txBody>
      </p:sp>
      <p:sp>
        <p:nvSpPr>
          <p:cNvPr id="14" name="Rectangle 13"/>
          <p:cNvSpPr/>
          <p:nvPr/>
        </p:nvSpPr>
        <p:spPr>
          <a:xfrm>
            <a:off x="7178040" y="1508760"/>
            <a:ext cx="4510735" cy="210312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2000" b="0">
                <a:solidFill>
                  <a:srgbClr val="222222"/>
                </a:solidFill>
                <a:latin typeface="Consolas"/>
              </a:defRPr>
            </a:pPr>
            <a:r>
              <a:rPr sz="2000" b="0">
                <a:solidFill>
                  <a:srgbClr val="222222"/>
                </a:solidFill>
                <a:latin typeface="Consolas"/>
              </a:rPr>
              <a:t>if (buttonA()) {</a:t>
            </a:r>
          </a:p>
          <a:p>
            <a:pPr algn="l">
              <a:lnSpc>
                <a:spcPct val="100000"/>
              </a:lnSpc>
              <a:spcAft>
                <a:spcPts val="0"/>
              </a:spcAft>
              <a:defRPr sz="2000" b="0">
                <a:solidFill>
                  <a:srgbClr val="222222"/>
                </a:solidFill>
                <a:latin typeface="Consolas"/>
              </a:defRPr>
            </a:pPr>
            <a:r>
              <a:rPr sz="2000" b="0">
                <a:solidFill>
                  <a:srgbClr val="222222"/>
                </a:solidFill>
                <a:latin typeface="Consolas"/>
              </a:rPr>
              <a:t>  setFrontLights(GREEN);</a:t>
            </a:r>
          </a:p>
          <a:p>
            <a:pPr algn="l">
              <a:lnSpc>
                <a:spcPct val="100000"/>
              </a:lnSpc>
              <a:spcAft>
                <a:spcPts val="0"/>
              </a:spcAft>
              <a:defRPr sz="2000" b="0">
                <a:solidFill>
                  <a:srgbClr val="222222"/>
                </a:solidFill>
                <a:latin typeface="Consolas"/>
              </a:defRPr>
            </a:pPr>
            <a:r>
              <a:rPr sz="2000" b="0">
                <a:solidFill>
                  <a:srgbClr val="222222"/>
                </a:solidFill>
                <a:latin typeface="Consolas"/>
              </a:rPr>
              <a:t>} else {</a:t>
            </a:r>
          </a:p>
          <a:p>
            <a:pPr algn="l">
              <a:lnSpc>
                <a:spcPct val="100000"/>
              </a:lnSpc>
              <a:spcAft>
                <a:spcPts val="0"/>
              </a:spcAft>
              <a:defRPr sz="2000" b="0">
                <a:solidFill>
                  <a:srgbClr val="222222"/>
                </a:solidFill>
                <a:latin typeface="Consolas"/>
              </a:defRPr>
            </a:pPr>
            <a:r>
              <a:rPr sz="2000" b="0">
                <a:solidFill>
                  <a:srgbClr val="222222"/>
                </a:solidFill>
                <a:latin typeface="Consolas"/>
              </a:rPr>
              <a:t>  setFrontLights(OFF);</a:t>
            </a:r>
          </a:p>
          <a:p>
            <a:pPr algn="l">
              <a:lnSpc>
                <a:spcPct val="100000"/>
              </a:lnSpc>
              <a:spcAft>
                <a:spcPts val="0"/>
              </a:spcAft>
              <a:defRPr sz="2000" b="0">
                <a:solidFill>
                  <a:srgbClr val="222222"/>
                </a:solidFill>
                <a:latin typeface="Consolas"/>
              </a:defRPr>
            </a:pPr>
            <a:r>
              <a:rPr sz="2000" b="0">
                <a:solidFill>
                  <a:srgbClr val="222222"/>
                </a:solidFill>
                <a:latin typeface="Consolas"/>
              </a:rPr>
              <a:t>}</a:t>
            </a:r>
          </a:p>
        </p:txBody>
      </p:sp>
      <p:sp>
        <p:nvSpPr>
          <p:cNvPr id="15" name="TextBox 14"/>
          <p:cNvSpPr txBox="1"/>
          <p:nvPr/>
        </p:nvSpPr>
        <p:spPr>
          <a:xfrm>
            <a:off x="7178040" y="3794760"/>
            <a:ext cx="4510735" cy="721360"/>
          </a:xfrm>
          <a:prstGeom prst="rect">
            <a:avLst/>
          </a:prstGeom>
          <a:noFill/>
        </p:spPr>
        <p:txBody>
          <a:bodyPr wrap="square" lIns="0" tIns="0" rIns="0" bIns="0">
            <a:spAutoFit/>
          </a:bodyPr>
          <a:lstStyle/>
          <a:p>
            <a:pPr algn="l">
              <a:lnSpc>
                <a:spcPct val="100000"/>
              </a:lnSpc>
              <a:spcAft>
                <a:spcPts val="100"/>
              </a:spcAft>
              <a:defRPr sz="2000" b="0">
                <a:solidFill>
                  <a:srgbClr val="222222"/>
                </a:solidFill>
                <a:latin typeface="Calibri"/>
              </a:defRPr>
            </a:pPr>
            <a:r>
              <a:rPr sz="2000" b="0">
                <a:solidFill>
                  <a:srgbClr val="222222"/>
                </a:solidFill>
                <a:latin typeface="Calibri"/>
              </a:rPr>
              <a:t>if means: when this is true...</a:t>
            </a:r>
          </a:p>
          <a:p>
            <a:pPr algn="l">
              <a:lnSpc>
                <a:spcPct val="100000"/>
              </a:lnSpc>
              <a:spcAft>
                <a:spcPts val="100"/>
              </a:spcAft>
              <a:defRPr sz="2000" b="0">
                <a:solidFill>
                  <a:srgbClr val="222222"/>
                </a:solidFill>
                <a:latin typeface="Calibri"/>
              </a:defRPr>
            </a:pPr>
            <a:r>
              <a:rPr sz="2000" b="0">
                <a:solidFill>
                  <a:srgbClr val="222222"/>
                </a:solidFill>
                <a:latin typeface="Calibri"/>
              </a:rPr>
              <a:t>else means: otherwise...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Held, or tapped?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5364327"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buttonA()</a:t>
            </a:r>
          </a:p>
        </p:txBody>
      </p:sp>
      <p:sp>
        <p:nvSpPr>
          <p:cNvPr id="7" name="TextBox 6"/>
          <p:cNvSpPr txBox="1"/>
          <p:nvPr/>
        </p:nvSpPr>
        <p:spPr>
          <a:xfrm>
            <a:off x="502920" y="1700784"/>
            <a:ext cx="5364327" cy="3474720"/>
          </a:xfrm>
          <a:prstGeom prst="rect">
            <a:avLst/>
          </a:prstGeom>
          <a:noFill/>
        </p:spPr>
        <p:txBody>
          <a:bodyPr wrap="square" lIns="0" tIns="0" rIns="0" bIns="0">
            <a:spAutoFit/>
          </a:bodyPr>
          <a:lstStyle/>
          <a:p>
            <a:pPr algn="l">
              <a:lnSpc>
                <a:spcPct val="100000"/>
              </a:lnSpc>
              <a:spcAft>
                <a:spcPts val="800"/>
              </a:spcAft>
              <a:defRPr sz="2800" b="0">
                <a:solidFill>
                  <a:srgbClr val="222222"/>
                </a:solidFill>
                <a:latin typeface="Calibri"/>
              </a:defRPr>
            </a:pPr>
            <a:r>
              <a:rPr sz="2800" b="0">
                <a:solidFill>
                  <a:srgbClr val="222222"/>
                </a:solidFill>
                <a:latin typeface="Calibri"/>
              </a:rPr>
              <a:t>TRUE the whole time you hold A</a:t>
            </a:r>
          </a:p>
          <a:p>
            <a:pPr algn="l">
              <a:lnSpc>
                <a:spcPct val="100000"/>
              </a:lnSpc>
              <a:spcAft>
                <a:spcPts val="800"/>
              </a:spcAft>
              <a:defRPr sz="2800" b="0">
                <a:solidFill>
                  <a:srgbClr val="222222"/>
                </a:solidFill>
                <a:latin typeface="Calibri"/>
              </a:defRPr>
            </a:pPr>
            <a:r>
              <a:rPr sz="2800" b="0">
                <a:solidFill>
                  <a:srgbClr val="222222"/>
                </a:solidFill>
                <a:latin typeface="Calibri"/>
              </a:rPr>
              <a:t>Use it for:</a:t>
            </a:r>
          </a:p>
          <a:p>
            <a:pPr lvl="1" algn="l">
              <a:lnSpc>
                <a:spcPct val="100000"/>
              </a:lnSpc>
              <a:spcAft>
                <a:spcPts val="800"/>
              </a:spcAft>
              <a:defRPr sz="2800" b="0">
                <a:solidFill>
                  <a:srgbClr val="222222"/>
                </a:solidFill>
                <a:latin typeface="Calibri"/>
              </a:defRPr>
            </a:pPr>
            <a:r>
              <a:rPr sz="2800" b="0">
                <a:solidFill>
                  <a:srgbClr val="222222"/>
                </a:solidFill>
                <a:latin typeface="Calibri"/>
              </a:rPr>
              <a:t>lights that stay on while you hold</a:t>
            </a:r>
          </a:p>
          <a:p>
            <a:pPr lvl="1" algn="l">
              <a:lnSpc>
                <a:spcPct val="100000"/>
              </a:lnSpc>
              <a:spcAft>
                <a:spcPts val="800"/>
              </a:spcAft>
              <a:defRPr sz="2800" b="0">
                <a:solidFill>
                  <a:srgbClr val="222222"/>
                </a:solidFill>
                <a:latin typeface="Calibri"/>
              </a:defRPr>
            </a:pPr>
            <a:r>
              <a:rPr sz="2800" b="0">
                <a:solidFill>
                  <a:srgbClr val="222222"/>
                </a:solidFill>
                <a:latin typeface="Calibri"/>
              </a:rPr>
              <a:t>a horn, or a headlight flash</a:t>
            </a:r>
          </a:p>
        </p:txBody>
      </p:sp>
      <p:sp>
        <p:nvSpPr>
          <p:cNvPr id="8" name="TextBox 7"/>
          <p:cNvSpPr txBox="1"/>
          <p:nvPr/>
        </p:nvSpPr>
        <p:spPr>
          <a:xfrm>
            <a:off x="6324447" y="1188720"/>
            <a:ext cx="5364328"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tappedA()</a:t>
            </a:r>
          </a:p>
        </p:txBody>
      </p:sp>
      <p:sp>
        <p:nvSpPr>
          <p:cNvPr id="9" name="TextBox 8"/>
          <p:cNvSpPr txBox="1"/>
          <p:nvPr/>
        </p:nvSpPr>
        <p:spPr>
          <a:xfrm>
            <a:off x="6324447" y="1700784"/>
            <a:ext cx="5364328" cy="3474720"/>
          </a:xfrm>
          <a:prstGeom prst="rect">
            <a:avLst/>
          </a:prstGeom>
          <a:noFill/>
        </p:spPr>
        <p:txBody>
          <a:bodyPr wrap="square" lIns="0" tIns="0" rIns="0" bIns="0">
            <a:spAutoFit/>
          </a:bodyPr>
          <a:lstStyle/>
          <a:p>
            <a:pPr algn="l">
              <a:lnSpc>
                <a:spcPct val="100000"/>
              </a:lnSpc>
              <a:spcAft>
                <a:spcPts val="800"/>
              </a:spcAft>
              <a:defRPr sz="2800" b="0">
                <a:solidFill>
                  <a:srgbClr val="222222"/>
                </a:solidFill>
                <a:latin typeface="Calibri"/>
              </a:defRPr>
            </a:pPr>
            <a:r>
              <a:rPr sz="2800" b="0">
                <a:solidFill>
                  <a:srgbClr val="222222"/>
                </a:solidFill>
                <a:latin typeface="Calibri"/>
              </a:rPr>
              <a:t>TRUE once, the moment you press A</a:t>
            </a:r>
          </a:p>
          <a:p>
            <a:pPr algn="l">
              <a:lnSpc>
                <a:spcPct val="100000"/>
              </a:lnSpc>
              <a:spcAft>
                <a:spcPts val="800"/>
              </a:spcAft>
              <a:defRPr sz="2800" b="0">
                <a:solidFill>
                  <a:srgbClr val="222222"/>
                </a:solidFill>
                <a:latin typeface="Calibri"/>
              </a:defRPr>
            </a:pPr>
            <a:r>
              <a:rPr sz="2800" b="0">
                <a:solidFill>
                  <a:srgbClr val="222222"/>
                </a:solidFill>
                <a:latin typeface="Calibri"/>
              </a:rPr>
              <a:t>Use it for:</a:t>
            </a:r>
          </a:p>
          <a:p>
            <a:pPr lvl="1" algn="l">
              <a:lnSpc>
                <a:spcPct val="100000"/>
              </a:lnSpc>
              <a:spcAft>
                <a:spcPts val="800"/>
              </a:spcAft>
              <a:defRPr sz="2800" b="0">
                <a:solidFill>
                  <a:srgbClr val="222222"/>
                </a:solidFill>
                <a:latin typeface="Calibri"/>
              </a:defRPr>
            </a:pPr>
            <a:r>
              <a:rPr sz="2800" b="0">
                <a:solidFill>
                  <a:srgbClr val="222222"/>
                </a:solidFill>
                <a:latin typeface="Calibri"/>
              </a:rPr>
              <a:t>switching something ON and OFF</a:t>
            </a:r>
          </a:p>
          <a:p>
            <a:pPr lvl="1" algn="l">
              <a:lnSpc>
                <a:spcPct val="100000"/>
              </a:lnSpc>
              <a:spcAft>
                <a:spcPts val="800"/>
              </a:spcAft>
              <a:defRPr sz="2800" b="0">
                <a:solidFill>
                  <a:srgbClr val="222222"/>
                </a:solidFill>
                <a:latin typeface="Calibri"/>
              </a:defRPr>
            </a:pPr>
            <a:r>
              <a:rPr sz="2800" b="0">
                <a:solidFill>
                  <a:srgbClr val="222222"/>
                </a:solidFill>
                <a:latin typeface="Calibri"/>
              </a:rPr>
              <a:t>counting presses</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loop() runs thousands of times a second. Holding a button for one second is thousands of loops!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button lab</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e08a_button_lab.ino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2000">
                <a:latin typeface="Consolas"/>
              </a:defRPr>
            </a:pPr>
            <a:r>
              <a:rPr sz="2000">
                <a:solidFill>
                  <a:srgbClr val="222222"/>
                </a:solidFill>
                <a:latin typeface="Consolas"/>
              </a:rPr>
              <a:t>void loop() {</a:t>
            </a:r>
          </a:p>
          <a:p>
            <a:pPr algn="l">
              <a:lnSpc>
                <a:spcPct val="100000"/>
              </a:lnSpc>
              <a:spcAft>
                <a:spcPts val="0"/>
              </a:spcAft>
              <a:defRPr sz="2000">
                <a:latin typeface="Consolas"/>
              </a:defRPr>
            </a:pPr>
            <a:r>
              <a:rPr sz="2000">
                <a:solidFill>
                  <a:srgbClr val="222222"/>
                </a:solidFill>
                <a:latin typeface="Consolas"/>
              </a:rPr>
              <a:t>  if (controllerReady() == false) {</a:t>
            </a:r>
          </a:p>
          <a:p>
            <a:pPr algn="l">
              <a:lnSpc>
                <a:spcPct val="100000"/>
              </a:lnSpc>
              <a:spcAft>
                <a:spcPts val="0"/>
              </a:spcAft>
              <a:defRPr sz="2000">
                <a:latin typeface="Consolas"/>
              </a:defRPr>
            </a:pPr>
            <a:r>
              <a:rPr sz="2000">
                <a:solidFill>
                  <a:srgbClr val="222222"/>
                </a:solidFill>
                <a:latin typeface="Consolas"/>
              </a:rPr>
              <a:t>    return;     // No controller yet</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if (buttonA()) {</a:t>
            </a:r>
          </a:p>
          <a:p>
            <a:pPr algn="l">
              <a:lnSpc>
                <a:spcPct val="100000"/>
              </a:lnSpc>
              <a:spcAft>
                <a:spcPts val="0"/>
              </a:spcAft>
              <a:defRPr sz="2000">
                <a:latin typeface="Consolas"/>
              </a:defRPr>
            </a:pPr>
            <a:r>
              <a:rPr sz="2000">
                <a:solidFill>
                  <a:srgbClr val="222222"/>
                </a:solidFill>
                <a:latin typeface="Consolas"/>
              </a:rPr>
              <a:t>    setFrontLights(GREEN);   // A held</a:t>
            </a:r>
          </a:p>
          <a:p>
            <a:pPr algn="l">
              <a:lnSpc>
                <a:spcPct val="100000"/>
              </a:lnSpc>
              <a:spcAft>
                <a:spcPts val="0"/>
              </a:spcAft>
              <a:defRPr sz="2000">
                <a:latin typeface="Consolas"/>
              </a:defRPr>
            </a:pPr>
            <a:r>
              <a:rPr sz="2000">
                <a:solidFill>
                  <a:srgbClr val="222222"/>
                </a:solidFill>
                <a:latin typeface="Consolas"/>
              </a:rPr>
              <a:t>  } else {</a:t>
            </a:r>
          </a:p>
          <a:p>
            <a:pPr algn="l">
              <a:lnSpc>
                <a:spcPct val="100000"/>
              </a:lnSpc>
              <a:spcAft>
                <a:spcPts val="0"/>
              </a:spcAft>
              <a:defRPr sz="2000">
                <a:latin typeface="Consolas"/>
              </a:defRPr>
            </a:pPr>
            <a:r>
              <a:rPr sz="2000">
                <a:solidFill>
                  <a:srgbClr val="222222"/>
                </a:solidFill>
                <a:latin typeface="Consolas"/>
              </a:rPr>
              <a:t>    setFrontLights(OFF);     // A not held</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if (tappedX()) {</a:t>
            </a:r>
          </a:p>
          <a:p>
            <a:pPr algn="l">
              <a:lnSpc>
                <a:spcPct val="100000"/>
              </a:lnSpc>
              <a:spcAft>
                <a:spcPts val="0"/>
              </a:spcAft>
              <a:defRPr sz="2000">
                <a:latin typeface="Consolas"/>
              </a:defRPr>
            </a:pPr>
            <a:r>
              <a:rPr sz="2000">
                <a:solidFill>
                  <a:srgbClr val="222222"/>
                </a:solidFill>
                <a:latin typeface="Consolas"/>
              </a:rPr>
              <a:t>    rumble(200);             // One buzz</a:t>
            </a:r>
          </a:p>
          <a:p>
            <a:pPr algn="l">
              <a:lnSpc>
                <a:spcPct val="100000"/>
              </a:lnSpc>
              <a:spcAft>
                <a:spcPts val="0"/>
              </a:spcAft>
              <a:defRPr sz="2000">
                <a:latin typeface="Consolas"/>
              </a:defRPr>
            </a:pPr>
            <a:r>
              <a:rPr sz="2000">
                <a:solidFill>
                  <a:srgbClr val="222222"/>
                </a:solidFill>
                <a:latin typeface="Consolas"/>
              </a:rPr>
              <a:t>  }</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700" b="0">
                <a:solidFill>
                  <a:srgbClr val="222222"/>
                </a:solidFill>
                <a:latin typeface="Calibri"/>
              </a:defRPr>
            </a:pPr>
            <a:r>
              <a:rPr sz="2700" b="0">
                <a:solidFill>
                  <a:srgbClr val="222222"/>
                </a:solidFill>
                <a:latin typeface="Calibri"/>
              </a:rPr>
              <a:t>The first if: no controller yet? Stop here and try again next loop.</a:t>
            </a:r>
          </a:p>
          <a:p>
            <a:pPr algn="l">
              <a:lnSpc>
                <a:spcPct val="100000"/>
              </a:lnSpc>
              <a:spcAft>
                <a:spcPts val="700"/>
              </a:spcAft>
              <a:defRPr sz="2700" b="0">
                <a:solidFill>
                  <a:srgbClr val="222222"/>
                </a:solidFill>
                <a:latin typeface="Calibri"/>
              </a:defRPr>
            </a:pPr>
            <a:r>
              <a:rPr sz="2700" b="0">
                <a:solidFill>
                  <a:srgbClr val="222222"/>
                </a:solidFill>
                <a:latin typeface="Calibri"/>
              </a:rPr>
              <a:t>return means: skip the rest of loop() this time.</a:t>
            </a:r>
          </a:p>
          <a:p>
            <a:pPr algn="l">
              <a:lnSpc>
                <a:spcPct val="100000"/>
              </a:lnSpc>
              <a:spcAft>
                <a:spcPts val="700"/>
              </a:spcAft>
              <a:defRPr sz="2700" b="0">
                <a:solidFill>
                  <a:srgbClr val="222222"/>
                </a:solidFill>
                <a:latin typeface="Calibri"/>
              </a:defRPr>
            </a:pPr>
            <a:r>
              <a:rPr sz="2700" b="0">
                <a:solidFill>
                  <a:srgbClr val="222222"/>
                </a:solidFill>
                <a:latin typeface="Calibri"/>
              </a:rPr>
              <a:t>Then A, with an else. Then X, with no else.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Button lab</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Radio links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Choices</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8057692"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Button lab</a:t>
            </a:r>
          </a:p>
        </p:txBody>
      </p:sp>
      <p:sp>
        <p:nvSpPr>
          <p:cNvPr id="12" name="TextBox 11"/>
          <p:cNvSpPr txBox="1"/>
          <p:nvPr/>
        </p:nvSpPr>
        <p:spPr>
          <a:xfrm>
            <a:off x="8057692"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Button lab</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e08a_button_lab</a:t>
            </a:r>
            <a:r>
              <a:rPr sz="1200">
                <a:solidFill>
                  <a:srgbClr val="FFFFFF"/>
                </a:solidFill>
                <a:latin typeface="Calibri"/>
              </a:rPr>
              <a:t>     (24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Upload, wheels up. The lights blink GREEN until the controller connects.</a:t>
            </a:r>
          </a:p>
          <a:p>
            <a:pPr algn="l">
              <a:lnSpc>
                <a:spcPct val="100000"/>
              </a:lnSpc>
              <a:spcAft>
                <a:spcPts val="800"/>
              </a:spcAft>
              <a:defRPr sz="2200" b="0">
                <a:solidFill>
                  <a:srgbClr val="222222"/>
                </a:solidFill>
                <a:latin typeface="Calibri"/>
              </a:defRPr>
            </a:pPr>
            <a:r>
              <a:rPr sz="2200" b="0">
                <a:solidFill>
                  <a:srgbClr val="222222"/>
                </a:solidFill>
                <a:latin typeface="Calibri"/>
              </a:rPr>
              <a:t>Press a button on YOUR controller to connect.</a:t>
            </a:r>
          </a:p>
          <a:p>
            <a:pPr algn="l">
              <a:lnSpc>
                <a:spcPct val="100000"/>
              </a:lnSpc>
              <a:spcAft>
                <a:spcPts val="800"/>
              </a:spcAft>
              <a:defRPr sz="2200" b="0">
                <a:solidFill>
                  <a:srgbClr val="222222"/>
                </a:solidFill>
                <a:latin typeface="Calibri"/>
              </a:defRPr>
            </a:pPr>
            <a:r>
              <a:rPr sz="2200" b="0">
                <a:solidFill>
                  <a:srgbClr val="222222"/>
                </a:solidFill>
                <a:latin typeface="Calibri"/>
              </a:rPr>
              <a:t>LEVEL 1: try every button. Then change the colors.</a:t>
            </a:r>
          </a:p>
          <a:p>
            <a:pPr algn="l">
              <a:lnSpc>
                <a:spcPct val="100000"/>
              </a:lnSpc>
              <a:spcAft>
                <a:spcPts val="800"/>
              </a:spcAft>
              <a:defRPr sz="2200" b="0">
                <a:solidFill>
                  <a:srgbClr val="222222"/>
                </a:solidFill>
                <a:latin typeface="Calibri"/>
              </a:defRPr>
            </a:pPr>
            <a:r>
              <a:rPr sz="2200" b="0">
                <a:solidFill>
                  <a:srgbClr val="222222"/>
                </a:solidFill>
                <a:latin typeface="Calibri"/>
              </a:rPr>
              <a:t>LEVEL 2: change tappedY() to buttonY() (line 56). HOLD Y and watch the Serial Monitor. Change it back.</a:t>
            </a:r>
          </a:p>
          <a:p>
            <a:pPr algn="l">
              <a:lnSpc>
                <a:spcPct val="100000"/>
              </a:lnSpc>
              <a:spcAft>
                <a:spcPts val="800"/>
              </a:spcAft>
              <a:defRPr sz="2200" b="0">
                <a:solidFill>
                  <a:srgbClr val="222222"/>
                </a:solidFill>
                <a:latin typeface="Calibri"/>
              </a:defRPr>
            </a:pPr>
            <a:r>
              <a:rPr sz="2200" b="0">
                <a:solidFill>
                  <a:srgbClr val="222222"/>
                </a:solidFill>
                <a:latin typeface="Calibri"/>
              </a:rPr>
              <a:t>LEVEL 3: make dpadLeft() and dpadRight() light up one side. Then invent a SECRET COMBO.</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60833"/>
          </a:xfrm>
          <a:prstGeom prst="rect">
            <a:avLst/>
          </a:prstGeom>
          <a:noFill/>
        </p:spPr>
        <p:txBody>
          <a:bodyPr wrap="square" lIns="0" tIns="0" rIns="0" bIns="0">
            <a:spAutoFit/>
          </a:bodyPr>
          <a:lstStyle/>
          <a:p>
            <a:pPr algn="l">
              <a:lnSpc>
                <a:spcPct val="100000"/>
              </a:lnSpc>
              <a:spcAft>
                <a:spcPts val="300"/>
              </a:spcAft>
              <a:defRPr sz="2600" b="0">
                <a:solidFill>
                  <a:srgbClr val="222222"/>
                </a:solidFill>
                <a:latin typeface="Calibri"/>
              </a:defRPr>
            </a:pPr>
            <a:r>
              <a:rPr sz="2600" b="0">
                <a:solidFill>
                  <a:srgbClr val="222222"/>
                </a:solidFill>
                <a:latin typeface="Calibri"/>
              </a:rPr>
              <a:t>Green front while A is held, red back while B is held, a buzz for each X tap</a:t>
            </a:r>
          </a:p>
        </p:txBody>
      </p:sp>
      <p:sp>
        <p:nvSpPr>
          <p:cNvPr id="10" name="TextBox 9"/>
          <p:cNvSpPr txBox="1"/>
          <p:nvPr/>
        </p:nvSpPr>
        <p:spPr>
          <a:xfrm>
            <a:off x="7163537" y="373827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40609"/>
            <a:ext cx="4525238" cy="2123030"/>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Why did holding Y with buttonY() print so many lines?</a:t>
            </a:r>
          </a:p>
          <a:p>
            <a:pPr algn="l">
              <a:lnSpc>
                <a:spcPct val="100000"/>
              </a:lnSpc>
              <a:spcAft>
                <a:spcPts val="600"/>
              </a:spcAft>
              <a:defRPr sz="2800" b="0">
                <a:solidFill>
                  <a:srgbClr val="222222"/>
                </a:solidFill>
                <a:latin typeface="Calibri"/>
              </a:defRPr>
            </a:pPr>
            <a:r>
              <a:rPr sz="2800" b="0">
                <a:solidFill>
                  <a:srgbClr val="222222"/>
                </a:solidFill>
                <a:latin typeface="Calibri"/>
              </a:rPr>
              <a:t>What's your secret combo?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Secret combos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Two ampersands  &amp;&amp;  mean AND.</a:t>
            </a:r>
          </a:p>
          <a:p>
            <a:pPr lvl="1" algn="l">
              <a:lnSpc>
                <a:spcPct val="100000"/>
              </a:lnSpc>
              <a:spcAft>
                <a:spcPts val="900"/>
              </a:spcAft>
              <a:defRPr sz="3000" b="0">
                <a:solidFill>
                  <a:srgbClr val="222222"/>
                </a:solidFill>
                <a:latin typeface="Calibri"/>
              </a:defRPr>
            </a:pPr>
            <a:r>
              <a:rPr sz="3000" b="0">
                <a:solidFill>
                  <a:srgbClr val="222222"/>
                </a:solidFill>
                <a:latin typeface="Calibri"/>
              </a:rPr>
              <a:t>if (buttonA() &amp;&amp; buttonB()) {   ...   }</a:t>
            </a:r>
          </a:p>
          <a:p>
            <a:pPr lvl="1" algn="l">
              <a:lnSpc>
                <a:spcPct val="100000"/>
              </a:lnSpc>
              <a:spcAft>
                <a:spcPts val="900"/>
              </a:spcAft>
              <a:defRPr sz="3000" b="0">
                <a:solidFill>
                  <a:srgbClr val="222222"/>
                </a:solidFill>
                <a:latin typeface="Calibri"/>
              </a:defRPr>
            </a:pPr>
            <a:r>
              <a:rPr sz="3000" b="0">
                <a:solidFill>
                  <a:srgbClr val="222222"/>
                </a:solidFill>
                <a:latin typeface="Calibri"/>
              </a:rPr>
              <a:t>Only TRUE when A AND B are BOTH held down.</a:t>
            </a:r>
          </a:p>
          <a:p>
            <a:pPr algn="l">
              <a:lnSpc>
                <a:spcPct val="100000"/>
              </a:lnSpc>
              <a:spcAft>
                <a:spcPts val="900"/>
              </a:spcAft>
              <a:defRPr sz="3000" b="0">
                <a:solidFill>
                  <a:srgbClr val="222222"/>
                </a:solidFill>
                <a:latin typeface="Calibri"/>
              </a:defRPr>
            </a:pPr>
            <a:r>
              <a:rPr sz="3000" b="0">
                <a:solidFill>
                  <a:srgbClr val="222222"/>
                </a:solidFill>
                <a:latin typeface="Calibri"/>
              </a:rPr>
              <a:t>Two lines  ||  mean OR.</a:t>
            </a:r>
          </a:p>
          <a:p>
            <a:pPr lvl="1" algn="l">
              <a:lnSpc>
                <a:spcPct val="100000"/>
              </a:lnSpc>
              <a:spcAft>
                <a:spcPts val="900"/>
              </a:spcAft>
              <a:defRPr sz="3000" b="0">
                <a:solidFill>
                  <a:srgbClr val="222222"/>
                </a:solidFill>
                <a:latin typeface="Calibri"/>
              </a:defRPr>
            </a:pPr>
            <a:r>
              <a:rPr sz="3000" b="0">
                <a:solidFill>
                  <a:srgbClr val="222222"/>
                </a:solidFill>
                <a:latin typeface="Calibri"/>
              </a:rPr>
              <a:t>if (dpadLeft() || dpadRight()) {   ...   }</a:t>
            </a:r>
          </a:p>
          <a:p>
            <a:pPr lvl="1" algn="l">
              <a:lnSpc>
                <a:spcPct val="100000"/>
              </a:lnSpc>
              <a:spcAft>
                <a:spcPts val="900"/>
              </a:spcAft>
              <a:defRPr sz="3000" b="0">
                <a:solidFill>
                  <a:srgbClr val="222222"/>
                </a:solidFill>
                <a:latin typeface="Calibri"/>
              </a:defRPr>
            </a:pPr>
            <a:r>
              <a:rPr sz="3000" b="0">
                <a:solidFill>
                  <a:srgbClr val="222222"/>
                </a:solidFill>
                <a:latin typeface="Calibri"/>
              </a:rPr>
              <a:t>TRUE when either one is pressed.</a:t>
            </a:r>
          </a:p>
          <a:p>
            <a:pPr algn="l">
              <a:lnSpc>
                <a:spcPct val="100000"/>
              </a:lnSpc>
              <a:spcAft>
                <a:spcPts val="900"/>
              </a:spcAft>
              <a:defRPr sz="3000" b="0">
                <a:solidFill>
                  <a:srgbClr val="222222"/>
                </a:solidFill>
                <a:latin typeface="Calibri"/>
              </a:defRPr>
            </a:pPr>
            <a:r>
              <a:rPr sz="3000" b="0">
                <a:solidFill>
                  <a:srgbClr val="222222"/>
                </a:solidFill>
                <a:latin typeface="Calibri"/>
              </a:rPr>
              <a:t>Put your combo at the END of loop(). Whatever lights you set LAST are the ones that show.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New words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graphicFrame>
        <p:nvGraphicFramePr>
          <p:cNvPr id="6" name="Table 5"/>
          <p:cNvGraphicFramePr>
            <a:graphicFrameLocks noGrp="1"/>
          </p:cNvGraphicFramePr>
          <p:nvPr/>
        </p:nvGraphicFramePr>
        <p:xfrm>
          <a:off x="502920" y="1188720"/>
          <a:ext cx="11185854" cy="4343400"/>
        </p:xfrm>
        <a:graphic>
          <a:graphicData uri="http://schemas.openxmlformats.org/drawingml/2006/table">
            <a:tbl>
              <a:tblPr firstRow="1" bandRow="1">
                <a:tableStyleId>{5C22544A-7EE6-4342-B048-85BDC9FD1C3A}</a:tableStyleId>
              </a:tblPr>
              <a:tblGrid>
                <a:gridCol w="2743700"/>
                <a:gridCol w="8442154"/>
              </a:tblGrid>
              <a:tr h="620485">
                <a:tc>
                  <a:txBody>
                    <a:bodyPr/>
                    <a:lstStyle/>
                    <a:p>
                      <a:r>
                        <a:rPr sz="3000" b="1">
                          <a:solidFill>
                            <a:srgbClr val="FFFFFF"/>
                          </a:solidFill>
                          <a:latin typeface="Calibri"/>
                        </a:rPr>
                        <a:t>Word</a:t>
                      </a:r>
                    </a:p>
                  </a:txBody>
                  <a:tcPr marL="73152" marT="18288" marB="18288">
                    <a:solidFill>
                      <a:srgbClr val="1F3A5F"/>
                    </a:solidFill>
                  </a:tcPr>
                </a:tc>
                <a:tc>
                  <a:txBody>
                    <a:bodyPr/>
                    <a:lstStyle/>
                    <a:p>
                      <a:r>
                        <a:rPr sz="3000" b="1">
                          <a:solidFill>
                            <a:srgbClr val="FFFFFF"/>
                          </a:solidFill>
                          <a:latin typeface="Calibri"/>
                        </a:rPr>
                        <a:t>What it means</a:t>
                      </a:r>
                    </a:p>
                  </a:txBody>
                  <a:tcPr marL="73152" marT="18288" marB="18288">
                    <a:solidFill>
                      <a:srgbClr val="1F3A5F"/>
                    </a:solidFill>
                  </a:tcPr>
                </a:tc>
              </a:tr>
              <a:tr h="620485">
                <a:tc>
                  <a:txBody>
                    <a:bodyPr/>
                    <a:lstStyle/>
                    <a:p>
                      <a:r>
                        <a:rPr sz="3000">
                          <a:solidFill>
                            <a:srgbClr val="222222"/>
                          </a:solidFill>
                          <a:latin typeface="Calibri"/>
                        </a:rPr>
                        <a:t>Radio</a:t>
                      </a:r>
                    </a:p>
                  </a:txBody>
                  <a:tcPr marL="73152" marT="18288" marB="18288">
                    <a:solidFill>
                      <a:srgbClr val="FFFFFF"/>
                    </a:solidFill>
                  </a:tcPr>
                </a:tc>
                <a:tc>
                  <a:txBody>
                    <a:bodyPr/>
                    <a:lstStyle/>
                    <a:p>
                      <a:r>
                        <a:rPr sz="3000">
                          <a:solidFill>
                            <a:srgbClr val="222222"/>
                          </a:solidFill>
                          <a:latin typeface="Calibri"/>
                        </a:rPr>
                        <a:t>Invisible waves that carry messages through the air</a:t>
                      </a:r>
                    </a:p>
                  </a:txBody>
                  <a:tcPr marL="73152" marT="18288" marB="18288">
                    <a:solidFill>
                      <a:srgbClr val="FFFFFF"/>
                    </a:solidFill>
                  </a:tcPr>
                </a:tc>
              </a:tr>
              <a:tr h="620485">
                <a:tc>
                  <a:txBody>
                    <a:bodyPr/>
                    <a:lstStyle/>
                    <a:p>
                      <a:r>
                        <a:rPr sz="3000">
                          <a:solidFill>
                            <a:srgbClr val="222222"/>
                          </a:solidFill>
                          <a:latin typeface="Calibri"/>
                        </a:rPr>
                        <a:t>Bluetooth</a:t>
                      </a:r>
                    </a:p>
                  </a:txBody>
                  <a:tcPr marL="73152" marT="18288" marB="18288">
                    <a:solidFill>
                      <a:srgbClr val="EEF3F8"/>
                    </a:solidFill>
                  </a:tcPr>
                </a:tc>
                <a:tc>
                  <a:txBody>
                    <a:bodyPr/>
                    <a:lstStyle/>
                    <a:p>
                      <a:r>
                        <a:rPr sz="3000">
                          <a:solidFill>
                            <a:srgbClr val="222222"/>
                          </a:solidFill>
                          <a:latin typeface="Calibri"/>
                        </a:rPr>
                        <a:t>The kind of radio your controller uses</a:t>
                      </a:r>
                    </a:p>
                  </a:txBody>
                  <a:tcPr marL="73152" marT="18288" marB="18288">
                    <a:solidFill>
                      <a:srgbClr val="EEF3F8"/>
                    </a:solidFill>
                  </a:tcPr>
                </a:tc>
              </a:tr>
              <a:tr h="620485">
                <a:tc>
                  <a:txBody>
                    <a:bodyPr/>
                    <a:lstStyle/>
                    <a:p>
                      <a:r>
                        <a:rPr sz="3000">
                          <a:solidFill>
                            <a:srgbClr val="222222"/>
                          </a:solidFill>
                          <a:latin typeface="Calibri"/>
                        </a:rPr>
                        <a:t>if / else</a:t>
                      </a:r>
                    </a:p>
                  </a:txBody>
                  <a:tcPr marL="73152" marT="18288" marB="18288">
                    <a:solidFill>
                      <a:srgbClr val="FFFFFF"/>
                    </a:solidFill>
                  </a:tcPr>
                </a:tc>
                <a:tc>
                  <a:txBody>
                    <a:bodyPr/>
                    <a:lstStyle/>
                    <a:p>
                      <a:r>
                        <a:rPr sz="3000">
                          <a:solidFill>
                            <a:srgbClr val="222222"/>
                          </a:solidFill>
                          <a:latin typeface="Calibri"/>
                        </a:rPr>
                        <a:t>Do this if it's true... otherwise do that</a:t>
                      </a:r>
                    </a:p>
                  </a:txBody>
                  <a:tcPr marL="73152" marT="18288" marB="18288">
                    <a:solidFill>
                      <a:srgbClr val="FFFFFF"/>
                    </a:solidFill>
                  </a:tcPr>
                </a:tc>
              </a:tr>
              <a:tr h="620485">
                <a:tc>
                  <a:txBody>
                    <a:bodyPr/>
                    <a:lstStyle/>
                    <a:p>
                      <a:r>
                        <a:rPr sz="3000">
                          <a:solidFill>
                            <a:srgbClr val="222222"/>
                          </a:solidFill>
                          <a:latin typeface="Calibri"/>
                        </a:rPr>
                        <a:t>Held</a:t>
                      </a:r>
                    </a:p>
                  </a:txBody>
                  <a:tcPr marL="73152" marT="18288" marB="18288">
                    <a:solidFill>
                      <a:srgbClr val="EEF3F8"/>
                    </a:solidFill>
                  </a:tcPr>
                </a:tc>
                <a:tc>
                  <a:txBody>
                    <a:bodyPr/>
                    <a:lstStyle/>
                    <a:p>
                      <a:r>
                        <a:rPr sz="3000">
                          <a:solidFill>
                            <a:srgbClr val="222222"/>
                          </a:solidFill>
                          <a:latin typeface="Calibri"/>
                        </a:rPr>
                        <a:t>buttonA(): true the whole time it's down</a:t>
                      </a:r>
                    </a:p>
                  </a:txBody>
                  <a:tcPr marL="73152" marT="18288" marB="18288">
                    <a:solidFill>
                      <a:srgbClr val="EEF3F8"/>
                    </a:solidFill>
                  </a:tcPr>
                </a:tc>
              </a:tr>
              <a:tr h="620485">
                <a:tc>
                  <a:txBody>
                    <a:bodyPr/>
                    <a:lstStyle/>
                    <a:p>
                      <a:r>
                        <a:rPr sz="3000">
                          <a:solidFill>
                            <a:srgbClr val="222222"/>
                          </a:solidFill>
                          <a:latin typeface="Calibri"/>
                        </a:rPr>
                        <a:t>Tapped</a:t>
                      </a:r>
                    </a:p>
                  </a:txBody>
                  <a:tcPr marL="73152" marT="18288" marB="18288">
                    <a:solidFill>
                      <a:srgbClr val="FFFFFF"/>
                    </a:solidFill>
                  </a:tcPr>
                </a:tc>
                <a:tc>
                  <a:txBody>
                    <a:bodyPr/>
                    <a:lstStyle/>
                    <a:p>
                      <a:r>
                        <a:rPr sz="3000">
                          <a:solidFill>
                            <a:srgbClr val="222222"/>
                          </a:solidFill>
                          <a:latin typeface="Calibri"/>
                        </a:rPr>
                        <a:t>tappedA(): true once, the moment you press</a:t>
                      </a:r>
                    </a:p>
                  </a:txBody>
                  <a:tcPr marL="73152" marT="18288" marB="18288">
                    <a:solidFill>
                      <a:srgbClr val="FFFFFF"/>
                    </a:solidFill>
                  </a:tcPr>
                </a:tc>
              </a:tr>
              <a:tr h="620490">
                <a:tc>
                  <a:txBody>
                    <a:bodyPr/>
                    <a:lstStyle/>
                    <a:p>
                      <a:r>
                        <a:rPr sz="3000">
                          <a:solidFill>
                            <a:srgbClr val="222222"/>
                          </a:solidFill>
                          <a:latin typeface="Calibri"/>
                        </a:rPr>
                        <a:t>&amp;&amp;  and  ||</a:t>
                      </a:r>
                    </a:p>
                  </a:txBody>
                  <a:tcPr marL="73152" marT="18288" marB="18288">
                    <a:solidFill>
                      <a:srgbClr val="EEF3F8"/>
                    </a:solidFill>
                  </a:tcPr>
                </a:tc>
                <a:tc>
                  <a:txBody>
                    <a:bodyPr/>
                    <a:lstStyle/>
                    <a:p>
                      <a:r>
                        <a:rPr sz="3000">
                          <a:solidFill>
                            <a:srgbClr val="222222"/>
                          </a:solidFill>
                          <a:latin typeface="Calibri"/>
                        </a:rPr>
                        <a:t>AND, and OR</a:t>
                      </a:r>
                    </a:p>
                  </a:txBody>
                  <a:tcPr marL="73152" marT="18288" marB="18288">
                    <a:solidFill>
                      <a:srgbClr val="EEF3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1400"/>
              </a:spcAft>
              <a:defRPr sz="3000" b="0">
                <a:solidFill>
                  <a:srgbClr val="222222"/>
                </a:solidFill>
                <a:latin typeface="Calibri"/>
              </a:defRPr>
            </a:pPr>
            <a:r>
              <a:rPr sz="3000" b="0">
                <a:solidFill>
                  <a:srgbClr val="222222"/>
                </a:solidFill>
                <a:latin typeface="Calibri"/>
              </a:rPr>
              <a:t>1.  How does the controller talk to the vehicle?</a:t>
            </a:r>
          </a:p>
          <a:p>
            <a:pPr algn="l">
              <a:lnSpc>
                <a:spcPct val="100000"/>
              </a:lnSpc>
              <a:spcAft>
                <a:spcPts val="1400"/>
              </a:spcAft>
              <a:defRPr sz="3000" b="0">
                <a:solidFill>
                  <a:srgbClr val="222222"/>
                </a:solidFill>
                <a:latin typeface="Calibri"/>
              </a:defRPr>
            </a:pPr>
            <a:r>
              <a:rPr sz="3000" b="0">
                <a:solidFill>
                  <a:srgbClr val="222222"/>
                </a:solidFill>
                <a:latin typeface="Calibri"/>
              </a:rPr>
              <a:t>2.  Why doesn't your vehicle obey another team's controller?</a:t>
            </a:r>
          </a:p>
          <a:p>
            <a:pPr algn="l">
              <a:lnSpc>
                <a:spcPct val="100000"/>
              </a:lnSpc>
              <a:spcAft>
                <a:spcPts val="1400"/>
              </a:spcAft>
              <a:defRPr sz="3000" b="0">
                <a:solidFill>
                  <a:srgbClr val="222222"/>
                </a:solidFill>
                <a:latin typeface="Calibri"/>
              </a:defRPr>
            </a:pPr>
            <a:r>
              <a:rPr sz="3000" b="0">
                <a:solidFill>
                  <a:srgbClr val="222222"/>
                </a:solidFill>
                <a:latin typeface="Calibri"/>
              </a:rPr>
              <a:t>3.  What does else mean?</a:t>
            </a:r>
          </a:p>
          <a:p>
            <a:pPr algn="l">
              <a:lnSpc>
                <a:spcPct val="100000"/>
              </a:lnSpc>
              <a:spcAft>
                <a:spcPts val="1400"/>
              </a:spcAft>
              <a:defRPr sz="3000" b="0">
                <a:solidFill>
                  <a:srgbClr val="222222"/>
                </a:solidFill>
                <a:latin typeface="Calibri"/>
              </a:defRPr>
            </a:pPr>
            <a:r>
              <a:rPr sz="3000" b="0">
                <a:solidFill>
                  <a:srgbClr val="222222"/>
                </a:solidFill>
                <a:latin typeface="Calibri"/>
              </a:rPr>
              <a:t>4.  To switch lights on and off with X, use buttonX() or tappedX()? Why?</a:t>
            </a:r>
          </a:p>
          <a:p>
            <a:pPr algn="l">
              <a:lnSpc>
                <a:spcPct val="100000"/>
              </a:lnSpc>
              <a:spcAft>
                <a:spcPts val="1400"/>
              </a:spcAft>
              <a:defRPr sz="3000" b="0">
                <a:solidFill>
                  <a:srgbClr val="222222"/>
                </a:solidFill>
                <a:latin typeface="Calibri"/>
              </a:defRPr>
            </a:pPr>
            <a:r>
              <a:rPr sz="3000" b="0">
                <a:solidFill>
                  <a:srgbClr val="222222"/>
                </a:solidFill>
                <a:latin typeface="Calibri"/>
              </a:rPr>
              <a:t>5.  What does &amp;&amp; mean?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Log, then pack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8</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4742670"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In your Mission Log</a:t>
            </a:r>
          </a:p>
        </p:txBody>
      </p:sp>
      <p:sp>
        <p:nvSpPr>
          <p:cNvPr id="7" name="TextBox 6"/>
          <p:cNvSpPr txBox="1"/>
          <p:nvPr/>
        </p:nvSpPr>
        <p:spPr>
          <a:xfrm>
            <a:off x="502920" y="1700784"/>
            <a:ext cx="4742670" cy="3474720"/>
          </a:xfrm>
          <a:prstGeom prst="rect">
            <a:avLst/>
          </a:prstGeom>
          <a:noFill/>
        </p:spPr>
        <p:txBody>
          <a:bodyPr wrap="square" lIns="0" tIns="0" rIns="0" bIns="0">
            <a:spAutoFit/>
          </a:bodyPr>
          <a:lstStyle/>
          <a:p>
            <a:pPr algn="l">
              <a:lnSpc>
                <a:spcPct val="100000"/>
              </a:lnSpc>
              <a:spcAft>
                <a:spcPts val="800"/>
              </a:spcAft>
              <a:defRPr sz="2900" b="0">
                <a:solidFill>
                  <a:srgbClr val="222222"/>
                </a:solidFill>
                <a:latin typeface="Calibri"/>
              </a:defRPr>
            </a:pPr>
            <a:r>
              <a:rPr sz="2900" b="0">
                <a:solidFill>
                  <a:srgbClr val="222222"/>
                </a:solidFill>
                <a:latin typeface="Calibri"/>
              </a:rPr>
              <a:t>Fill in the button plan: what does each button do?</a:t>
            </a:r>
          </a:p>
          <a:p>
            <a:pPr algn="l">
              <a:lnSpc>
                <a:spcPct val="100000"/>
              </a:lnSpc>
              <a:spcAft>
                <a:spcPts val="800"/>
              </a:spcAft>
              <a:defRPr sz="2900" b="0">
                <a:solidFill>
                  <a:srgbClr val="222222"/>
                </a:solidFill>
                <a:latin typeface="Calibri"/>
              </a:defRPr>
            </a:pPr>
            <a:r>
              <a:rPr sz="2900" b="0">
                <a:solidFill>
                  <a:srgbClr val="222222"/>
                </a:solidFill>
                <a:latin typeface="Calibri"/>
              </a:rPr>
              <a:t>Write your secret combo</a:t>
            </a:r>
          </a:p>
          <a:p>
            <a:pPr algn="l">
              <a:lnSpc>
                <a:spcPct val="100000"/>
              </a:lnSpc>
              <a:spcAft>
                <a:spcPts val="800"/>
              </a:spcAft>
              <a:defRPr sz="2900" b="0">
                <a:solidFill>
                  <a:srgbClr val="222222"/>
                </a:solidFill>
                <a:latin typeface="Calibri"/>
              </a:defRPr>
            </a:pPr>
            <a:r>
              <a:rPr sz="2900" b="0">
                <a:solidFill>
                  <a:srgbClr val="222222"/>
                </a:solidFill>
                <a:latin typeface="Calibri"/>
              </a:rPr>
              <a:t>Stamp: Radio Operator</a:t>
            </a:r>
          </a:p>
        </p:txBody>
      </p:sp>
      <p:sp>
        <p:nvSpPr>
          <p:cNvPr id="8" name="TextBox 7"/>
          <p:cNvSpPr txBox="1"/>
          <p:nvPr/>
        </p:nvSpPr>
        <p:spPr>
          <a:xfrm>
            <a:off x="5702790" y="1188720"/>
            <a:ext cx="5985985"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Pack up</a:t>
            </a:r>
          </a:p>
        </p:txBody>
      </p:sp>
      <p:sp>
        <p:nvSpPr>
          <p:cNvPr id="9" name="TextBox 8"/>
          <p:cNvSpPr txBox="1"/>
          <p:nvPr/>
        </p:nvSpPr>
        <p:spPr>
          <a:xfrm>
            <a:off x="5702790" y="1700784"/>
            <a:ext cx="5985985" cy="3474720"/>
          </a:xfrm>
          <a:prstGeom prst="rect">
            <a:avLst/>
          </a:prstGeom>
          <a:noFill/>
        </p:spPr>
        <p:txBody>
          <a:bodyPr wrap="square" lIns="0" tIns="0" rIns="0" bIns="0">
            <a:spAutoFit/>
          </a:bodyPr>
          <a:lstStyle/>
          <a:p>
            <a:pPr algn="l">
              <a:lnSpc>
                <a:spcPct val="100000"/>
              </a:lnSpc>
              <a:spcAft>
                <a:spcPts val="800"/>
              </a:spcAft>
              <a:defRPr sz="2900" b="0">
                <a:solidFill>
                  <a:srgbClr val="222222"/>
                </a:solidFill>
                <a:latin typeface="Calibri"/>
              </a:defRPr>
            </a:pPr>
            <a:r>
              <a:rPr sz="2900" b="0">
                <a:solidFill>
                  <a:srgbClr val="222222"/>
                </a:solidFill>
                <a:latin typeface="Calibri"/>
              </a:rPr>
              <a:t>Crew Chief: vehicle power OFF.</a:t>
            </a:r>
          </a:p>
          <a:p>
            <a:pPr algn="l">
              <a:lnSpc>
                <a:spcPct val="100000"/>
              </a:lnSpc>
              <a:spcAft>
                <a:spcPts val="800"/>
              </a:spcAft>
              <a:defRPr sz="2900" b="0">
                <a:solidFill>
                  <a:srgbClr val="222222"/>
                </a:solidFill>
                <a:latin typeface="Calibri"/>
              </a:defRPr>
            </a:pPr>
            <a:r>
              <a:rPr sz="2900" b="0">
                <a:solidFill>
                  <a:srgbClr val="222222"/>
                </a:solidFill>
                <a:latin typeface="Calibri"/>
              </a:rPr>
              <a:t>Unplug the cable and coil it up.</a:t>
            </a:r>
          </a:p>
          <a:p>
            <a:pPr algn="l">
              <a:lnSpc>
                <a:spcPct val="100000"/>
              </a:lnSpc>
              <a:spcAft>
                <a:spcPts val="800"/>
              </a:spcAft>
              <a:defRPr sz="2900" b="0">
                <a:solidFill>
                  <a:srgbClr val="222222"/>
                </a:solidFill>
                <a:latin typeface="Calibri"/>
              </a:defRPr>
            </a:pPr>
            <a:r>
              <a:rPr sz="2900" b="0">
                <a:solidFill>
                  <a:srgbClr val="222222"/>
                </a:solidFill>
                <a:latin typeface="Calibri"/>
              </a:rPr>
              <a:t>Vehicle and controller back in their spot, stickers matching.</a:t>
            </a:r>
          </a:p>
          <a:p>
            <a:pPr algn="l">
              <a:lnSpc>
                <a:spcPct val="100000"/>
              </a:lnSpc>
              <a:spcAft>
                <a:spcPts val="800"/>
              </a:spcAft>
              <a:defRPr sz="2900" b="0">
                <a:solidFill>
                  <a:srgbClr val="222222"/>
                </a:solidFill>
                <a:latin typeface="Calibri"/>
              </a:defRPr>
            </a:pPr>
            <a:r>
              <a:rPr sz="2900" b="0">
                <a:solidFill>
                  <a:srgbClr val="222222"/>
                </a:solidFill>
                <a:latin typeface="Calibri"/>
              </a:rPr>
              <a:t>Close the laptop. Push your chairs in.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Last job: every team member says one thing they learned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