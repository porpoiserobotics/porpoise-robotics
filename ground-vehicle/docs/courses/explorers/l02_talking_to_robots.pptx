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BEFORE CLASS: every laptop has the Arduino IDE, the esp32_bluepad32 board package, Adafruit NeoPixel, and the explorers sketch folder in its sketchbook. The board is already set to ESP32 Dev Module. Students should not be installing anything today.</a:t>
            </a:r>
          </a:p>
          <a:p>
            <a:r>
              <a:rPr sz="1200">
                <a:latin typeface="Calibri"/>
              </a:rPr>
              <a:t>Have one good USB data cable per team, plus two spares in your pocket. A charge-only cable looks identical and is the number one reason an upload 'doesn't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them out. The third one is the big moment - their first upload. Build it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for the three robot verbs before you show the slide.</a:t>
            </a:r>
          </a:p>
          <a:p>
            <a:r>
              <a:rPr sz="1200">
                <a:latin typeface="Calibri"/>
              </a:rPr>
              <a:t>Rotate the jobs now, before anybody sits down at a laptop. Whoever was Pilot last time is the Coder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Put the agenda on the board as well, with the driving or uploading block circled. Students settle when they can see when the hands-on part starts.</a:t>
            </a:r>
          </a:p>
          <a:p>
            <a:r>
              <a:rPr sz="1200">
                <a:latin typeface="Calibri"/>
              </a:rPr>
              <a:t>The timings are a guide for a one-hour session. If the hands-on block runs long, take the time out of the check yourself questions, never out of the pack-up - a rushed pack-up is how cables and controllers go missing.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Play the robot yourself for the first team, and be ruthlessly literal. 'Step forward' with no number? Stand still and say 'how many?' 'Turn' without left or right? Freeze. Kids love catching you out, and it lands the point.</a:t>
            </a:r>
          </a:p>
          <a:p>
            <a:r>
              <a:rPr sz="1200">
                <a:latin typeface="Calibri"/>
              </a:rPr>
              <a:t>Then let teams run it with a student robot. Two runs each is plenty.</a:t>
            </a:r>
          </a:p>
          <a:p>
            <a:r>
              <a:rPr sz="1200">
                <a:latin typeface="Calibri"/>
              </a:rPr>
              <a:t>Answers: computers can't guess what you meant - they only have what you wrote. That's both the frustrating part and the reliable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Pull the lessons out of the game in their own words before you show the bullets.</a:t>
            </a:r>
          </a:p>
          <a:p>
            <a:r>
              <a:rPr sz="1200">
                <a:latin typeface="Calibri"/>
              </a:rPr>
              <a:t>The moth story is true: September 9, 1947, on a computer called the Harvard Mark II. The notebook page is in the Smithsonian. People had called machine faults 'bugs' before that, but the moth made the word famous. Grace Hopper went on to become a rear admiral in the Navy and a computing pioneer.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Project your own screen and point at each button as you name it on the next slide.</a:t>
            </a:r>
          </a:p>
          <a:p>
            <a:r>
              <a:rPr sz="1200">
                <a:latin typeface="Calibri"/>
              </a:rPr>
              <a:t>IDE stands for Integrated Development Environment - a long name for 'the program you write programs in'. Only tell the older ones; nobody needs it.</a:t>
            </a:r>
          </a:p>
          <a:p>
            <a:r>
              <a:rPr sz="1200">
                <a:latin typeface="Calibri"/>
              </a:rPr>
              <a:t>The explorer.h tab is in every Explorers sketch. It holds the code that talks to the motors, lights and controller, so the students' own programs stay short. Curious students are welcome to read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your IDE is set up with the toolbar at the top-left (the default in Arduino IDE 2), Verify and Upload are the first two round buttons, and the Serial Monitor is the magnifying glass at the top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most important idea of the whole lesson. Slow down.</a:t>
            </a:r>
          </a:p>
          <a:p>
            <a:r>
              <a:rPr sz="1200">
                <a:latin typeface="Calibri"/>
              </a:rPr>
              <a:t>Act it out. For setup(), mime getting ready once - stretch, put on a backpack. For loop(), start walking on the spot and DON'T STOP while you keep talking. Keep walking until somebody laughs.</a:t>
            </a:r>
          </a:p>
          <a:p>
            <a:r>
              <a:rPr sz="1200">
                <a:latin typeface="Calibri"/>
              </a:rPr>
              <a:t>Ask: if I put the hello message in setup(), how many times will it print? (Once.) And in loop()? (Forever, or until the power goes off.)</a:t>
            </a:r>
          </a:p>
          <a:p>
            <a:r>
              <a:rPr sz="1200">
                <a:latin typeface="Calibri"/>
              </a:rPr>
              <a:t>Common mix-up: kids think loop() runs once and stops. The walking is what fixes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it top to bottom like a story, the way the robot does.</a:t>
            </a:r>
          </a:p>
          <a:p>
            <a:r>
              <a:rPr sz="1200">
                <a:latin typeface="Calibri"/>
              </a:rPr>
              <a:t>Lines starting with // are COMMENTS - notes for people. The computer skips them. Ask somebody to find one.</a:t>
            </a:r>
          </a:p>
          <a:p>
            <a:r>
              <a:rPr sz="1200">
                <a:latin typeface="Calibri"/>
              </a:rPr>
              <a:t>Point out the semicolons now. They'll meet a missing one in twenty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board and port should already be chosen on every laptop. If a laptop shows no port, check in this order: is the vehicle switched on? Is it a data cable, not a charge-only one? Then try another USB socket.</a:t>
            </a:r>
          </a:p>
          <a:p>
            <a:r>
              <a:rPr sz="1200">
                <a:latin typeface="Calibri"/>
              </a:rPr>
              <a:t>If an upload sits on 'Connecting.....' and times out, hold the ESP32's BOOT button until the percentage starts climbing. Some boards need it every time; most never do.</a:t>
            </a:r>
          </a:p>
          <a:p>
            <a:r>
              <a:rPr sz="1200">
                <a:latin typeface="Calibri"/>
              </a:rPr>
              <a:t>A first upload takes the better part of a minute because it compiles the Bluetooth library. Warn them, or they'll click Upload three more times.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Walk the room during the first upload. Expect at least one port problem and one cable problem.</a:t>
            </a:r>
          </a:p>
          <a:p>
            <a:r>
              <a:rPr sz="1200">
                <a:latin typeface="Calibri"/>
              </a:rPr>
              <a:t>Answer: setLight is in setup(), which runs once. Serial.println is in loop(), which runs forever.</a:t>
            </a:r>
          </a:p>
          <a:p>
            <a:r>
              <a:rPr sz="1200">
                <a:latin typeface="Calibri"/>
              </a:rPr>
              <a:t>Level 3 answer, for you: move setLight into loop() and add the off half - setLight(0, RED); delay(500); setLight(0, OFF); delay(500); - inside loop(). Let them struggle a little first. A good hint is: 'what four things happen in a blink?'</a:t>
            </a:r>
          </a:p>
          <a:p>
            <a:r>
              <a:rPr sz="1200">
                <a:latin typeface="Calibri"/>
              </a:rPr>
              <a:t>Typos are fine. They're about to learn how to fix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If students see gibberish, the baud rate is wrong - it has to match the 115200 in the engine room.</a:t>
            </a:r>
          </a:p>
          <a:p>
            <a:r>
              <a:rPr sz="1200">
                <a:latin typeface="Calibri"/>
              </a:rPr>
              <a:t>If they see nothing at all, they may have opened the monitor on the wrong port, or the program isn't running - press the reset (EN) button or switch the vehicle off and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breath between parts of the lesson. Read the title out and point at where it sits on the strip.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real skill here is not panicking at a wall of orange text. Model it: read the first line out loud, slowly, find the line number, go there.</a:t>
            </a:r>
          </a:p>
          <a:p>
            <a:r>
              <a:rPr sz="1200">
                <a:latin typeface="Calibri"/>
              </a:rPr>
              <a:t>An error often points at the line AFTER the real mistake - especially a missing semicolon, which the computer only notices when the next line starts. Tell them to look at the line it names AND the line above.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thirty seconds of silent spotting, then ask for hands. Don't confirm or deny yet - the IDE is about to.</a:t>
            </a:r>
          </a:p>
          <a:p>
            <a:r>
              <a:rPr sz="1200">
                <a:latin typeface="Calibri"/>
              </a:rPr>
              <a:t>The bugs: a missing semicolon after setLight(0, GREEN); setlight with a small L; BLEU spelled wrong.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are the real messages from the compiler, word for word. On the first Verify only two appear - the missing semicolon confuses the computer so much that it doesn't notice setlight until the semicolon is fixed.</a:t>
            </a:r>
          </a:p>
          <a:p>
            <a:r>
              <a:rPr sz="1200">
                <a:latin typeface="Calibri"/>
              </a:rPr>
              <a:t>'Not declared in this scope' sounds scary. Translate it every time: 'I don't know that word.'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Resist fixing it for them. Ask: 'what line does it say? What's on that line? What's on the line above?'</a:t>
            </a:r>
          </a:p>
          <a:p>
            <a:r>
              <a:rPr sz="1200">
                <a:latin typeface="Calibri"/>
              </a:rPr>
              <a:t>Fast teams: have them break e02a on purpose - delete a semicolon, misspell a color - and swap laptops with another team to fix each other's bugs. Kids love this.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each word out and have the room say it back. Saying a word out loud is half of owning it.</a:t>
            </a:r>
          </a:p>
          <a:p>
            <a:r>
              <a:rPr sz="1200">
                <a:latin typeface="Calibri"/>
              </a:rPr>
              <a:t>These are also in the glossary at the back of the Mission Log.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Answers: 1 exactly what you wrote, mistake and all. 2 once; forever. 3 waits one second. 4 a mistake; finding and fixing it. 5 the end of the line it names, and the line above.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Have each team read one bug and its fix out loud. It rehearses the vocabulary.</a:t>
            </a:r>
          </a:p>
          <a:p>
            <a:r>
              <a:rPr sz="1200">
                <a:latin typeface="Calibri"/>
              </a:rPr>
              <a:t>Remind Coders that the program on the vehicle stays there when it's switched off. Next lesson's program replaces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2</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Talking to Robots</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A program is a list of instructions. Today you write your first one, send it to your vehicle, and hunt down three bugs.</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One hour.  Teams of three, one vehicle per team.</a:t>
            </a:r>
          </a:p>
        </p:txBody>
      </p:sp>
      <p:pic>
        <p:nvPicPr>
          <p:cNvPr id="8" name="Picture 7" descr="vehicle-and-laptop.jpg"/>
          <p:cNvPicPr>
            <a:picLocks noChangeAspect="1"/>
          </p:cNvPicPr>
          <p:nvPr/>
        </p:nvPicPr>
        <p:blipFill>
          <a:blip r:embed="rId3"/>
          <a:stretch>
            <a:fillRect/>
          </a:stretch>
        </p:blipFill>
        <p:spPr>
          <a:xfrm>
            <a:off x="7223760" y="2023110"/>
            <a:ext cx="4480560" cy="336042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Today's mission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today, you can:</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Give instructions so exact that a robot can follow them</a:t>
            </a:r>
          </a:p>
          <a:p>
            <a:pPr algn="l">
              <a:lnSpc>
                <a:spcPct val="100000"/>
              </a:lnSpc>
              <a:spcAft>
                <a:spcPts val="1300"/>
              </a:spcAft>
              <a:defRPr sz="1900" b="0">
                <a:solidFill>
                  <a:srgbClr val="222222"/>
                </a:solidFill>
                <a:latin typeface="Calibri"/>
              </a:defRPr>
            </a:pPr>
            <a:r>
              <a:rPr sz="1900" b="0">
                <a:solidFill>
                  <a:srgbClr val="222222"/>
                </a:solidFill>
                <a:latin typeface="Calibri"/>
              </a:rPr>
              <a:t>2.   Name the two parts of every program, and say when each one runs</a:t>
            </a:r>
          </a:p>
          <a:p>
            <a:pPr algn="l">
              <a:lnSpc>
                <a:spcPct val="100000"/>
              </a:lnSpc>
              <a:spcAft>
                <a:spcPts val="1300"/>
              </a:spcAft>
              <a:defRPr sz="1900" b="0">
                <a:solidFill>
                  <a:srgbClr val="222222"/>
                </a:solidFill>
                <a:latin typeface="Calibri"/>
              </a:defRPr>
            </a:pPr>
            <a:r>
              <a:rPr sz="1900" b="0">
                <a:solidFill>
                  <a:srgbClr val="222222"/>
                </a:solidFill>
                <a:latin typeface="Calibri"/>
              </a:rPr>
              <a:t>3.   Upload a program to your vehicle, and change it</a:t>
            </a:r>
          </a:p>
          <a:p>
            <a:pPr algn="l">
              <a:lnSpc>
                <a:spcPct val="100000"/>
              </a:lnSpc>
              <a:spcAft>
                <a:spcPts val="1300"/>
              </a:spcAft>
              <a:defRPr sz="1900" b="0">
                <a:solidFill>
                  <a:srgbClr val="222222"/>
                </a:solidFill>
                <a:latin typeface="Calibri"/>
              </a:defRPr>
            </a:pPr>
            <a:r>
              <a:rPr sz="1900" b="0">
                <a:solidFill>
                  <a:srgbClr val="222222"/>
                </a:solidFill>
                <a:latin typeface="Calibri"/>
              </a:rPr>
              <a:t>4.   Read an error message and fix the bug it points 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Last time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You met Pathfinder and drove it.</a:t>
            </a:r>
          </a:p>
          <a:p>
            <a:pPr algn="l">
              <a:lnSpc>
                <a:spcPct val="100000"/>
              </a:lnSpc>
              <a:spcAft>
                <a:spcPts val="900"/>
              </a:spcAft>
              <a:defRPr sz="3000" b="0">
                <a:solidFill>
                  <a:srgbClr val="222222"/>
                </a:solidFill>
                <a:latin typeface="Calibri"/>
              </a:defRPr>
            </a:pPr>
            <a:r>
              <a:rPr sz="3000" b="0">
                <a:solidFill>
                  <a:srgbClr val="222222"/>
                </a:solidFill>
                <a:latin typeface="Calibri"/>
              </a:rPr>
              <a:t>A robot SENSES, THINKS and ACTS.</a:t>
            </a:r>
          </a:p>
          <a:p>
            <a:pPr algn="l">
              <a:lnSpc>
                <a:spcPct val="100000"/>
              </a:lnSpc>
              <a:spcAft>
                <a:spcPts val="900"/>
              </a:spcAft>
              <a:defRPr sz="3000" b="0">
                <a:solidFill>
                  <a:srgbClr val="222222"/>
                </a:solidFill>
                <a:latin typeface="Calibri"/>
              </a:defRPr>
            </a:pPr>
            <a:r>
              <a:rPr sz="3000" b="0">
                <a:solidFill>
                  <a:srgbClr val="222222"/>
                </a:solidFill>
                <a:latin typeface="Calibri"/>
              </a:rPr>
              <a:t>Today: the THINK part. Who tells the robot what to think?</a:t>
            </a:r>
          </a:p>
          <a:p>
            <a:pPr lvl="1" algn="l">
              <a:lnSpc>
                <a:spcPct val="100000"/>
              </a:lnSpc>
              <a:spcAft>
                <a:spcPts val="900"/>
              </a:spcAft>
              <a:defRPr sz="3000" b="0">
                <a:solidFill>
                  <a:srgbClr val="222222"/>
                </a:solidFill>
                <a:latin typeface="Calibri"/>
              </a:defRPr>
            </a:pPr>
            <a:r>
              <a:rPr sz="3000" b="0">
                <a:solidFill>
                  <a:srgbClr val="222222"/>
                </a:solidFill>
                <a:latin typeface="Calibri"/>
              </a:rPr>
              <a:t>You do.</a:t>
            </a:r>
          </a:p>
          <a:p>
            <a:pPr algn="l">
              <a:lnSpc>
                <a:spcPct val="100000"/>
              </a:lnSpc>
              <a:spcAft>
                <a:spcPts val="900"/>
              </a:spcAft>
              <a:defRPr sz="3000" b="0">
                <a:solidFill>
                  <a:srgbClr val="222222"/>
                </a:solidFill>
                <a:latin typeface="Calibri"/>
              </a:defRPr>
            </a:pPr>
            <a:r>
              <a:rPr sz="3000" b="0">
                <a:solidFill>
                  <a:srgbClr val="222222"/>
                </a:solidFill>
                <a:latin typeface="Calibri"/>
              </a:rPr>
              <a:t>Switch jobs! Last lesson's Pilot is today's Coder.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3867150"/>
        </p:xfrm>
        <a:graphic>
          <a:graphicData uri="http://schemas.openxmlformats.org/drawingml/2006/table">
            <a:tbl>
              <a:tblPr firstRow="1" bandRow="1">
                <a:tableStyleId>{5C22544A-7EE6-4342-B048-85BDC9FD1C3A}</a:tableStyleId>
              </a:tblPr>
              <a:tblGrid>
                <a:gridCol w="1118585"/>
                <a:gridCol w="10067269"/>
              </a:tblGrid>
              <a:tr h="552450">
                <a:tc>
                  <a:txBody>
                    <a:bodyPr/>
                    <a:lstStyle/>
                    <a:p>
                      <a:r>
                        <a:rPr sz="3000" b="1">
                          <a:solidFill>
                            <a:srgbClr val="FFFFFF"/>
                          </a:solidFill>
                          <a:latin typeface="Calibri"/>
                        </a:rPr>
                        <a:t>Time</a:t>
                      </a:r>
                    </a:p>
                  </a:txBody>
                  <a:tcPr marL="73152" marT="18288" marB="18288">
                    <a:solidFill>
                      <a:srgbClr val="1F3A5F"/>
                    </a:solidFill>
                  </a:tcPr>
                </a:tc>
                <a:tc>
                  <a:txBody>
                    <a:bodyPr/>
                    <a:lstStyle/>
                    <a:p>
                      <a:r>
                        <a:rPr sz="3000" b="1">
                          <a:solidFill>
                            <a:srgbClr val="FFFFFF"/>
                          </a:solidFill>
                          <a:latin typeface="Calibri"/>
                        </a:rPr>
                        <a:t>What we do</a:t>
                      </a:r>
                    </a:p>
                  </a:txBody>
                  <a:tcPr marL="73152" marT="18288" marB="18288">
                    <a:solidFill>
                      <a:srgbClr val="1F3A5F"/>
                    </a:solidFill>
                  </a:tcPr>
                </a:tc>
              </a:tr>
              <a:tr h="552450">
                <a:tc>
                  <a:txBody>
                    <a:bodyPr/>
                    <a:lstStyle/>
                    <a:p>
                      <a:r>
                        <a:rPr sz="3000">
                          <a:solidFill>
                            <a:srgbClr val="222222"/>
                          </a:solidFill>
                          <a:latin typeface="Calibri"/>
                        </a:rPr>
                        <a:t>0:00</a:t>
                      </a:r>
                    </a:p>
                  </a:txBody>
                  <a:tcPr marL="73152" marT="18288" marB="18288">
                    <a:solidFill>
                      <a:srgbClr val="FFFFFF"/>
                    </a:solidFill>
                  </a:tcPr>
                </a:tc>
                <a:tc>
                  <a:txBody>
                    <a:bodyPr/>
                    <a:lstStyle/>
                    <a:p>
                      <a:r>
                        <a:rPr sz="3000">
                          <a:solidFill>
                            <a:srgbClr val="222222"/>
                          </a:solidFill>
                          <a:latin typeface="Calibri"/>
                        </a:rPr>
                        <a:t>Warm-up: what did the rover do last time?</a:t>
                      </a:r>
                    </a:p>
                  </a:txBody>
                  <a:tcPr marL="73152" marT="18288" marB="18288">
                    <a:solidFill>
                      <a:srgbClr val="FFFFFF"/>
                    </a:solidFill>
                  </a:tcPr>
                </a:tc>
              </a:tr>
              <a:tr h="552450">
                <a:tc>
                  <a:txBody>
                    <a:bodyPr/>
                    <a:lstStyle/>
                    <a:p>
                      <a:r>
                        <a:rPr sz="3000">
                          <a:solidFill>
                            <a:srgbClr val="222222"/>
                          </a:solidFill>
                          <a:latin typeface="Calibri"/>
                        </a:rPr>
                        <a:t>0:05</a:t>
                      </a:r>
                    </a:p>
                  </a:txBody>
                  <a:tcPr marL="73152" marT="18288" marB="18288">
                    <a:solidFill>
                      <a:srgbClr val="EEF3F8"/>
                    </a:solidFill>
                  </a:tcPr>
                </a:tc>
                <a:tc>
                  <a:txBody>
                    <a:bodyPr/>
                    <a:lstStyle/>
                    <a:p>
                      <a:r>
                        <a:rPr sz="3000">
                          <a:solidFill>
                            <a:srgbClr val="222222"/>
                          </a:solidFill>
                          <a:latin typeface="Calibri"/>
                        </a:rPr>
                        <a:t>Program a Human Robot</a:t>
                      </a:r>
                    </a:p>
                  </a:txBody>
                  <a:tcPr marL="73152" marT="18288" marB="18288">
                    <a:solidFill>
                      <a:srgbClr val="EEF3F8"/>
                    </a:solidFill>
                  </a:tcPr>
                </a:tc>
              </a:tr>
              <a:tr h="552450">
                <a:tc>
                  <a:txBody>
                    <a:bodyPr/>
                    <a:lstStyle/>
                    <a:p>
                      <a:r>
                        <a:rPr sz="3000">
                          <a:solidFill>
                            <a:srgbClr val="222222"/>
                          </a:solidFill>
                          <a:latin typeface="Calibri"/>
                        </a:rPr>
                        <a:t>0:17</a:t>
                      </a:r>
                    </a:p>
                  </a:txBody>
                  <a:tcPr marL="73152" marT="18288" marB="18288">
                    <a:solidFill>
                      <a:srgbClr val="FFFFFF"/>
                    </a:solidFill>
                  </a:tcPr>
                </a:tc>
                <a:tc>
                  <a:txBody>
                    <a:bodyPr/>
                    <a:lstStyle/>
                    <a:p>
                      <a:r>
                        <a:rPr sz="3000">
                          <a:solidFill>
                            <a:srgbClr val="222222"/>
                          </a:solidFill>
                          <a:latin typeface="Calibri"/>
                        </a:rPr>
                        <a:t>The Arduino IDE, setup() and loop()</a:t>
                      </a:r>
                    </a:p>
                  </a:txBody>
                  <a:tcPr marL="73152" marT="18288" marB="18288">
                    <a:solidFill>
                      <a:srgbClr val="FFFFFF"/>
                    </a:solidFill>
                  </a:tcPr>
                </a:tc>
              </a:tr>
              <a:tr h="552450">
                <a:tc>
                  <a:txBody>
                    <a:bodyPr/>
                    <a:lstStyle/>
                    <a:p>
                      <a:r>
                        <a:rPr sz="3000">
                          <a:solidFill>
                            <a:srgbClr val="222222"/>
                          </a:solidFill>
                          <a:latin typeface="Calibri"/>
                        </a:rPr>
                        <a:t>0:25</a:t>
                      </a:r>
                    </a:p>
                  </a:txBody>
                  <a:tcPr marL="73152" marT="18288" marB="18288">
                    <a:solidFill>
                      <a:srgbClr val="EEF3F8"/>
                    </a:solidFill>
                  </a:tcPr>
                </a:tc>
                <a:tc>
                  <a:txBody>
                    <a:bodyPr/>
                    <a:lstStyle/>
                    <a:p>
                      <a:r>
                        <a:rPr sz="3000">
                          <a:solidFill>
                            <a:srgbClr val="222222"/>
                          </a:solidFill>
                          <a:latin typeface="Calibri"/>
                        </a:rPr>
                        <a:t>Upload e02a_hello_rover and change it</a:t>
                      </a:r>
                    </a:p>
                  </a:txBody>
                  <a:tcPr marL="73152" marT="18288" marB="18288">
                    <a:solidFill>
                      <a:srgbClr val="EEF3F8"/>
                    </a:solidFill>
                  </a:tcPr>
                </a:tc>
              </a:tr>
              <a:tr h="552450">
                <a:tc>
                  <a:txBody>
                    <a:bodyPr/>
                    <a:lstStyle/>
                    <a:p>
                      <a:r>
                        <a:rPr sz="3000">
                          <a:solidFill>
                            <a:srgbClr val="222222"/>
                          </a:solidFill>
                          <a:latin typeface="Calibri"/>
                        </a:rPr>
                        <a:t>0:40</a:t>
                      </a:r>
                    </a:p>
                  </a:txBody>
                  <a:tcPr marL="73152" marT="18288" marB="18288">
                    <a:solidFill>
                      <a:srgbClr val="FFFFFF"/>
                    </a:solidFill>
                  </a:tcPr>
                </a:tc>
                <a:tc>
                  <a:txBody>
                    <a:bodyPr/>
                    <a:lstStyle/>
                    <a:p>
                      <a:r>
                        <a:rPr sz="3000">
                          <a:solidFill>
                            <a:srgbClr val="222222"/>
                          </a:solidFill>
                          <a:latin typeface="Calibri"/>
                        </a:rPr>
                        <a:t>Bug hunt: e02b_bug_hunt</a:t>
                      </a:r>
                    </a:p>
                  </a:txBody>
                  <a:tcPr marL="73152" marT="18288" marB="18288">
                    <a:solidFill>
                      <a:srgbClr val="FFFFFF"/>
                    </a:solidFill>
                  </a:tcPr>
                </a:tc>
              </a:tr>
              <a:tr h="552450">
                <a:tc>
                  <a:txBody>
                    <a:bodyPr/>
                    <a:lstStyle/>
                    <a:p>
                      <a:r>
                        <a:rPr sz="3000">
                          <a:solidFill>
                            <a:srgbClr val="222222"/>
                          </a:solidFill>
                          <a:latin typeface="Calibri"/>
                        </a:rPr>
                        <a:t>0:52</a:t>
                      </a:r>
                    </a:p>
                  </a:txBody>
                  <a:tcPr marL="73152" marT="18288" marB="18288">
                    <a:solidFill>
                      <a:srgbClr val="EEF3F8"/>
                    </a:solidFill>
                  </a:tcPr>
                </a:tc>
                <a:tc>
                  <a:txBody>
                    <a:bodyPr/>
                    <a:lstStyle/>
                    <a:p>
                      <a:r>
                        <a:rPr sz="3000">
                          <a:solidFill>
                            <a:srgbClr val="222222"/>
                          </a:solidFill>
                          <a:latin typeface="Calibri"/>
                        </a:rPr>
                        <a:t>Mission Log and pack up</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Instructions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Instructions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9" name="Rounded Rectangle 8"/>
          <p:cNvSpPr/>
          <p:nvPr/>
        </p:nvSpPr>
        <p:spPr>
          <a:xfrm>
            <a:off x="4280306"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Your first upload</a:t>
            </a:r>
          </a:p>
        </p:txBody>
      </p:sp>
      <p:sp>
        <p:nvSpPr>
          <p:cNvPr id="10" name="Rounded Rectangle 9"/>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Bug hunt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Program a Human Robot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UNPLUGGED:   </a:t>
            </a:r>
            <a:r>
              <a:rPr sz="1500" b="1">
                <a:solidFill>
                  <a:srgbClr val="FFFFFF"/>
                </a:solidFill>
                <a:latin typeface="Calibri"/>
              </a:rPr>
              <a:t>Instructions on a card</a:t>
            </a:r>
            <a:r>
              <a:rPr sz="1200">
                <a:solidFill>
                  <a:srgbClr val="FFFFFF"/>
                </a:solidFill>
                <a:latin typeface="Calibri"/>
              </a:rPr>
              <a:t>     (12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One person is the ROBOT. Everybody else on the team is a PROGRAMMER.</a:t>
            </a:r>
          </a:p>
          <a:p>
            <a:pPr algn="l">
              <a:lnSpc>
                <a:spcPct val="100000"/>
              </a:lnSpc>
              <a:spcAft>
                <a:spcPts val="400"/>
              </a:spcAft>
              <a:defRPr sz="1800" b="0">
                <a:solidFill>
                  <a:srgbClr val="222222"/>
                </a:solidFill>
                <a:latin typeface="Calibri"/>
              </a:defRPr>
            </a:pPr>
            <a:r>
              <a:rPr sz="1800" b="0">
                <a:solidFill>
                  <a:srgbClr val="222222"/>
                </a:solidFill>
                <a:latin typeface="Calibri"/>
              </a:rPr>
              <a:t>Mission: walk the robot from the door to the teacher's desk, and PICK UP the marker.</a:t>
            </a:r>
          </a:p>
          <a:p>
            <a:pPr algn="l">
              <a:lnSpc>
                <a:spcPct val="100000"/>
              </a:lnSpc>
              <a:spcAft>
                <a:spcPts val="400"/>
              </a:spcAft>
              <a:defRPr sz="1800" b="0">
                <a:solidFill>
                  <a:srgbClr val="222222"/>
                </a:solidFill>
                <a:latin typeface="Calibri"/>
              </a:defRPr>
            </a:pPr>
            <a:r>
              <a:rPr sz="1800" b="0">
                <a:solidFill>
                  <a:srgbClr val="222222"/>
                </a:solidFill>
                <a:latin typeface="Calibri"/>
              </a:rPr>
              <a:t>Write the program on a card using ONLY these words:</a:t>
            </a:r>
          </a:p>
          <a:p>
            <a:pPr lvl="1" algn="l">
              <a:lnSpc>
                <a:spcPct val="100000"/>
              </a:lnSpc>
              <a:spcAft>
                <a:spcPts val="400"/>
              </a:spcAft>
              <a:defRPr sz="1800" b="0">
                <a:solidFill>
                  <a:srgbClr val="222222"/>
                </a:solidFill>
                <a:latin typeface="Calibri"/>
              </a:defRPr>
            </a:pPr>
            <a:r>
              <a:rPr sz="1800" b="0">
                <a:solidFill>
                  <a:srgbClr val="222222"/>
                </a:solidFill>
                <a:latin typeface="Calibri"/>
              </a:rPr>
              <a:t>STEP FORWARD (number)   TURN LEFT   TURN RIGHT   PICK UP</a:t>
            </a:r>
          </a:p>
          <a:p>
            <a:pPr algn="l">
              <a:lnSpc>
                <a:spcPct val="100000"/>
              </a:lnSpc>
              <a:spcAft>
                <a:spcPts val="400"/>
              </a:spcAft>
              <a:defRPr sz="1800" b="0">
                <a:solidFill>
                  <a:srgbClr val="222222"/>
                </a:solidFill>
                <a:latin typeface="Calibri"/>
              </a:defRPr>
            </a:pPr>
            <a:r>
              <a:rPr sz="1800" b="0">
                <a:solidFill>
                  <a:srgbClr val="222222"/>
                </a:solidFill>
                <a:latin typeface="Calibri"/>
              </a:rPr>
              <a:t>The robot does EXACTLY what the card says. Even if it's wrong!</a:t>
            </a:r>
          </a:p>
          <a:p>
            <a:pPr algn="l">
              <a:lnSpc>
                <a:spcPct val="100000"/>
              </a:lnSpc>
              <a:spcAft>
                <a:spcPts val="400"/>
              </a:spcAft>
              <a:defRPr sz="1800" b="0">
                <a:solidFill>
                  <a:srgbClr val="222222"/>
                </a:solidFill>
                <a:latin typeface="Calibri"/>
              </a:defRPr>
            </a:pPr>
            <a:r>
              <a:rPr sz="1800" b="0">
                <a:solidFill>
                  <a:srgbClr val="222222"/>
                </a:solidFill>
                <a:latin typeface="Calibri"/>
              </a:rPr>
              <a:t>Didn't work? Fix the card and run it again.</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129957"/>
          </a:xfrm>
          <a:prstGeom prst="rect">
            <a:avLst/>
          </a:prstGeom>
          <a:noFill/>
        </p:spPr>
        <p:txBody>
          <a:bodyPr wrap="square" lIns="0" tIns="0" rIns="0" bIns="0">
            <a:spAutoFit/>
          </a:bodyPr>
          <a:lstStyle/>
          <a:p>
            <a:pPr algn="l">
              <a:lnSpc>
                <a:spcPct val="100000"/>
              </a:lnSpc>
              <a:spcAft>
                <a:spcPts val="300"/>
              </a:spcAft>
              <a:defRPr sz="2100" b="0">
                <a:solidFill>
                  <a:srgbClr val="222222"/>
                </a:solidFill>
                <a:latin typeface="Calibri"/>
              </a:defRPr>
            </a:pPr>
            <a:r>
              <a:rPr sz="2100" b="0">
                <a:solidFill>
                  <a:srgbClr val="222222"/>
                </a:solidFill>
                <a:latin typeface="Calibri"/>
              </a:rPr>
              <a:t>The robot walks into a chair, turns the wrong way, or stops short</a:t>
            </a:r>
          </a:p>
        </p:txBody>
      </p:sp>
      <p:sp>
        <p:nvSpPr>
          <p:cNvPr id="10" name="TextBox 9"/>
          <p:cNvSpPr txBox="1"/>
          <p:nvPr/>
        </p:nvSpPr>
        <p:spPr>
          <a:xfrm>
            <a:off x="7163537" y="3507397"/>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909733"/>
            <a:ext cx="4525238" cy="1265770"/>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What went wrong the first time?</a:t>
            </a:r>
          </a:p>
          <a:p>
            <a:pPr algn="l">
              <a:lnSpc>
                <a:spcPct val="100000"/>
              </a:lnSpc>
              <a:spcAft>
                <a:spcPts val="300"/>
              </a:spcAft>
              <a:defRPr sz="2200" b="0">
                <a:solidFill>
                  <a:srgbClr val="222222"/>
                </a:solidFill>
                <a:latin typeface="Calibri"/>
              </a:defRPr>
            </a:pPr>
            <a:r>
              <a:rPr sz="2200" b="0">
                <a:solidFill>
                  <a:srgbClr val="222222"/>
                </a:solidFill>
                <a:latin typeface="Calibri"/>
              </a:rPr>
              <a:t>Why can't the robot just figure it out?</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Robots WALK, slowly. Programmers: no instructions that walk your robot into anything.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the human robot taught us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A PROGRAM is a list of instructions.</a:t>
            </a:r>
          </a:p>
          <a:p>
            <a:pPr algn="l">
              <a:lnSpc>
                <a:spcPct val="100000"/>
              </a:lnSpc>
              <a:spcAft>
                <a:spcPts val="900"/>
              </a:spcAft>
              <a:defRPr sz="3000" b="0">
                <a:solidFill>
                  <a:srgbClr val="222222"/>
                </a:solidFill>
                <a:latin typeface="Calibri"/>
              </a:defRPr>
            </a:pPr>
            <a:r>
              <a:rPr sz="3000" b="0">
                <a:solidFill>
                  <a:srgbClr val="222222"/>
                </a:solidFill>
                <a:latin typeface="Calibri"/>
              </a:rPr>
              <a:t>The computer follows them in order, from top to bottom.</a:t>
            </a:r>
          </a:p>
          <a:p>
            <a:pPr algn="l">
              <a:lnSpc>
                <a:spcPct val="100000"/>
              </a:lnSpc>
              <a:spcAft>
                <a:spcPts val="900"/>
              </a:spcAft>
              <a:defRPr sz="3000" b="0">
                <a:solidFill>
                  <a:srgbClr val="222222"/>
                </a:solidFill>
                <a:latin typeface="Calibri"/>
              </a:defRPr>
            </a:pPr>
            <a:r>
              <a:rPr sz="3000" b="0">
                <a:solidFill>
                  <a:srgbClr val="222222"/>
                </a:solidFill>
                <a:latin typeface="Calibri"/>
              </a:rPr>
              <a:t>It does EXACTLY what you said - not what you meant.</a:t>
            </a:r>
          </a:p>
          <a:p>
            <a:pPr algn="l">
              <a:lnSpc>
                <a:spcPct val="100000"/>
              </a:lnSpc>
              <a:spcAft>
                <a:spcPts val="900"/>
              </a:spcAft>
              <a:defRPr sz="3000" b="0">
                <a:solidFill>
                  <a:srgbClr val="222222"/>
                </a:solidFill>
                <a:latin typeface="Calibri"/>
              </a:defRPr>
            </a:pPr>
            <a:r>
              <a:rPr sz="3000" b="0">
                <a:solidFill>
                  <a:srgbClr val="222222"/>
                </a:solidFill>
                <a:latin typeface="Calibri"/>
              </a:rPr>
              <a:t>A mistake in a program is called a BUG. Finding and fixing it is called DEBUGGING.</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In 1947, engineers working with Grace Hopper found a real moth stuck inside their computer - and taped it into their notebook.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Your first upload</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Instructions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Your first upload</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8057692" y="3886200"/>
            <a:ext cx="3631082"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Bug hunt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Arduino IDE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100584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See the second tab called explorer.h? That's the ENGINE ROOM. It does the hard work. You don't need to change it.</a:t>
            </a:r>
          </a:p>
        </p:txBody>
      </p:sp>
      <p:sp>
        <p:nvSpPr>
          <p:cNvPr id="7" name="Rectangle 6"/>
          <p:cNvSpPr/>
          <p:nvPr/>
        </p:nvSpPr>
        <p:spPr>
          <a:xfrm>
            <a:off x="502920" y="2267712"/>
            <a:ext cx="11185855" cy="3264408"/>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SCREENSHOT: the Arduino IDE with e02a_hello_rover open</a:t>
            </a:r>
          </a:p>
          <a:p>
            <a:pPr algn="ctr">
              <a:lnSpc>
                <a:spcPct val="100000"/>
              </a:lnSpc>
              <a:spcAft>
                <a:spcPts val="700"/>
              </a:spcAft>
              <a:defRPr sz="1600" b="0">
                <a:solidFill>
                  <a:srgbClr val="0E7C86"/>
                </a:solidFill>
                <a:latin typeface="Calibri"/>
              </a:defRPr>
            </a:pPr>
            <a:r>
              <a:rPr sz="1600" b="0">
                <a:solidFill>
                  <a:srgbClr val="0E7C86"/>
                </a:solidFill>
                <a:latin typeface="Calibri"/>
              </a:rPr>
              <a:t>Circle Verify (check mark), Upload (arrow), Serial Monitor (magnifying glass), and the explorer.h tab</a:t>
            </a:r>
          </a:p>
        </p:txBody>
      </p:sp>
      <p:sp>
        <p:nvSpPr>
          <p:cNvPr id="8" name="TextBox 7"/>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Where you write programs, and send them to the vehicle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buttons you'll use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graphicFrame>
        <p:nvGraphicFramePr>
          <p:cNvPr id="6" name="Table 5"/>
          <p:cNvGraphicFramePr>
            <a:graphicFrameLocks noGrp="1"/>
          </p:cNvGraphicFramePr>
          <p:nvPr/>
        </p:nvGraphicFramePr>
        <p:xfrm>
          <a:off x="502920" y="1188720"/>
          <a:ext cx="11185854" cy="4667250"/>
        </p:xfrm>
        <a:graphic>
          <a:graphicData uri="http://schemas.openxmlformats.org/drawingml/2006/table">
            <a:tbl>
              <a:tblPr firstRow="1" bandRow="1">
                <a:tableStyleId>{5C22544A-7EE6-4342-B048-85BDC9FD1C3A}</a:tableStyleId>
              </a:tblPr>
              <a:tblGrid>
                <a:gridCol w="4194695"/>
                <a:gridCol w="6991159"/>
              </a:tblGrid>
              <a:tr h="933450">
                <a:tc>
                  <a:txBody>
                    <a:bodyPr/>
                    <a:lstStyle/>
                    <a:p>
                      <a:r>
                        <a:rPr sz="3000" b="1">
                          <a:solidFill>
                            <a:srgbClr val="FFFFFF"/>
                          </a:solidFill>
                          <a:latin typeface="Calibri"/>
                        </a:rPr>
                        <a:t>Button</a:t>
                      </a:r>
                    </a:p>
                  </a:txBody>
                  <a:tcPr marL="73152" marT="18288" marB="18288">
                    <a:solidFill>
                      <a:srgbClr val="1F3A5F"/>
                    </a:solidFill>
                  </a:tcPr>
                </a:tc>
                <a:tc>
                  <a:txBody>
                    <a:bodyPr/>
                    <a:lstStyle/>
                    <a:p>
                      <a:r>
                        <a:rPr sz="3000" b="1">
                          <a:solidFill>
                            <a:srgbClr val="FFFFFF"/>
                          </a:solidFill>
                          <a:latin typeface="Calibri"/>
                        </a:rPr>
                        <a:t>What it does</a:t>
                      </a:r>
                    </a:p>
                  </a:txBody>
                  <a:tcPr marL="73152" marT="18288" marB="18288">
                    <a:solidFill>
                      <a:srgbClr val="1F3A5F"/>
                    </a:solidFill>
                  </a:tcPr>
                </a:tc>
              </a:tr>
              <a:tr h="933450">
                <a:tc>
                  <a:txBody>
                    <a:bodyPr/>
                    <a:lstStyle/>
                    <a:p>
                      <a:r>
                        <a:rPr sz="3000">
                          <a:solidFill>
                            <a:srgbClr val="222222"/>
                          </a:solidFill>
                          <a:latin typeface="Calibri"/>
                        </a:rPr>
                        <a:t>Check mark: Verify</a:t>
                      </a:r>
                    </a:p>
                  </a:txBody>
                  <a:tcPr marL="73152" marT="18288" marB="18288">
                    <a:solidFill>
                      <a:srgbClr val="FFFFFF"/>
                    </a:solidFill>
                  </a:tcPr>
                </a:tc>
                <a:tc>
                  <a:txBody>
                    <a:bodyPr/>
                    <a:lstStyle/>
                    <a:p>
                      <a:r>
                        <a:rPr sz="3000">
                          <a:solidFill>
                            <a:srgbClr val="222222"/>
                          </a:solidFill>
                          <a:latin typeface="Calibri"/>
                        </a:rPr>
                        <a:t>Checks your program for mistakes. Sends nothing.</a:t>
                      </a:r>
                    </a:p>
                  </a:txBody>
                  <a:tcPr marL="73152" marT="18288" marB="18288">
                    <a:solidFill>
                      <a:srgbClr val="FFFFFF"/>
                    </a:solidFill>
                  </a:tcPr>
                </a:tc>
              </a:tr>
              <a:tr h="933450">
                <a:tc>
                  <a:txBody>
                    <a:bodyPr/>
                    <a:lstStyle/>
                    <a:p>
                      <a:r>
                        <a:rPr sz="3000">
                          <a:solidFill>
                            <a:srgbClr val="222222"/>
                          </a:solidFill>
                          <a:latin typeface="Calibri"/>
                        </a:rPr>
                        <a:t>Arrow: Upload</a:t>
                      </a:r>
                    </a:p>
                  </a:txBody>
                  <a:tcPr marL="73152" marT="18288" marB="18288">
                    <a:solidFill>
                      <a:srgbClr val="EEF3F8"/>
                    </a:solidFill>
                  </a:tcPr>
                </a:tc>
                <a:tc>
                  <a:txBody>
                    <a:bodyPr/>
                    <a:lstStyle/>
                    <a:p>
                      <a:r>
                        <a:rPr sz="3000">
                          <a:solidFill>
                            <a:srgbClr val="222222"/>
                          </a:solidFill>
                          <a:latin typeface="Calibri"/>
                        </a:rPr>
                        <a:t>Checks it, then sends it down the cable.</a:t>
                      </a:r>
                    </a:p>
                  </a:txBody>
                  <a:tcPr marL="73152" marT="18288" marB="18288">
                    <a:solidFill>
                      <a:srgbClr val="EEF3F8"/>
                    </a:solidFill>
                  </a:tcPr>
                </a:tc>
              </a:tr>
              <a:tr h="933450">
                <a:tc>
                  <a:txBody>
                    <a:bodyPr/>
                    <a:lstStyle/>
                    <a:p>
                      <a:r>
                        <a:rPr sz="3000">
                          <a:solidFill>
                            <a:srgbClr val="222222"/>
                          </a:solidFill>
                          <a:latin typeface="Calibri"/>
                        </a:rPr>
                        <a:t>Magnifying glass: Serial Monitor</a:t>
                      </a:r>
                    </a:p>
                  </a:txBody>
                  <a:tcPr marL="73152" marT="18288" marB="18288">
                    <a:solidFill>
                      <a:srgbClr val="FFFFFF"/>
                    </a:solidFill>
                  </a:tcPr>
                </a:tc>
                <a:tc>
                  <a:txBody>
                    <a:bodyPr/>
                    <a:lstStyle/>
                    <a:p>
                      <a:r>
                        <a:rPr sz="3000">
                          <a:solidFill>
                            <a:srgbClr val="222222"/>
                          </a:solidFill>
                          <a:latin typeface="Calibri"/>
                        </a:rPr>
                        <a:t>A window where the vehicle types messages to you.</a:t>
                      </a:r>
                    </a:p>
                  </a:txBody>
                  <a:tcPr marL="73152" marT="18288" marB="18288">
                    <a:solidFill>
                      <a:srgbClr val="FFFFFF"/>
                    </a:solidFill>
                  </a:tcPr>
                </a:tc>
              </a:tr>
              <a:tr h="933450">
                <a:tc>
                  <a:txBody>
                    <a:bodyPr/>
                    <a:lstStyle/>
                    <a:p>
                      <a:r>
                        <a:rPr sz="3000">
                          <a:solidFill>
                            <a:srgbClr val="222222"/>
                          </a:solidFill>
                          <a:latin typeface="Calibri"/>
                        </a:rPr>
                        <a:t>The explorer.h tab</a:t>
                      </a:r>
                    </a:p>
                  </a:txBody>
                  <a:tcPr marL="73152" marT="18288" marB="18288">
                    <a:solidFill>
                      <a:srgbClr val="EEF3F8"/>
                    </a:solidFill>
                  </a:tcPr>
                </a:tc>
                <a:tc>
                  <a:txBody>
                    <a:bodyPr/>
                    <a:lstStyle/>
                    <a:p>
                      <a:r>
                        <a:rPr sz="3000">
                          <a:solidFill>
                            <a:srgbClr val="222222"/>
                          </a:solidFill>
                          <a:latin typeface="Calibri"/>
                        </a:rPr>
                        <a:t>The engine room. Read it. Don't change it.</a:t>
                      </a:r>
                    </a:p>
                  </a:txBody>
                  <a:tcPr marL="73152" marT="18288" marB="18288">
                    <a:solidFill>
                      <a:srgbClr val="EEF3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Every program has two parts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Rounded Rectangle 5"/>
          <p:cNvSpPr/>
          <p:nvPr/>
        </p:nvSpPr>
        <p:spPr>
          <a:xfrm>
            <a:off x="502920" y="1371600"/>
            <a:ext cx="5318607" cy="68580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3200" b="1">
                <a:solidFill>
                  <a:srgbClr val="1F3A5F"/>
                </a:solidFill>
                <a:latin typeface="Consolas"/>
              </a:defRPr>
            </a:pPr>
            <a:r>
              <a:rPr sz="3200" b="1">
                <a:solidFill>
                  <a:srgbClr val="1F3A5F"/>
                </a:solidFill>
                <a:latin typeface="Consolas"/>
              </a:rPr>
              <a:t>setup()</a:t>
            </a:r>
          </a:p>
        </p:txBody>
      </p:sp>
      <p:sp>
        <p:nvSpPr>
          <p:cNvPr id="7" name="TextBox 6"/>
          <p:cNvSpPr txBox="1"/>
          <p:nvPr/>
        </p:nvSpPr>
        <p:spPr>
          <a:xfrm>
            <a:off x="502920" y="2194560"/>
            <a:ext cx="5318607"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runs ONCE, when the rover wakes up</a:t>
            </a:r>
          </a:p>
        </p:txBody>
      </p:sp>
      <p:sp>
        <p:nvSpPr>
          <p:cNvPr id="8" name="TextBox 7"/>
          <p:cNvSpPr txBox="1"/>
          <p:nvPr/>
        </p:nvSpPr>
        <p:spPr>
          <a:xfrm>
            <a:off x="502920" y="2697480"/>
            <a:ext cx="5318607" cy="72136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Like getting ready in the morning:</a:t>
            </a:r>
          </a:p>
          <a:p>
            <a:pPr algn="ctr">
              <a:lnSpc>
                <a:spcPct val="100000"/>
              </a:lnSpc>
              <a:spcAft>
                <a:spcPts val="100"/>
              </a:spcAft>
              <a:defRPr sz="2000" b="0">
                <a:solidFill>
                  <a:srgbClr val="222222"/>
                </a:solidFill>
                <a:latin typeface="Calibri"/>
              </a:defRPr>
            </a:pPr>
            <a:r>
              <a:rPr sz="2000" b="0">
                <a:solidFill>
                  <a:srgbClr val="222222"/>
                </a:solidFill>
                <a:latin typeface="Calibri"/>
              </a:rPr>
              <a:t>wake up, get dressed, pack.</a:t>
            </a:r>
          </a:p>
        </p:txBody>
      </p:sp>
      <p:sp>
        <p:nvSpPr>
          <p:cNvPr id="9" name="Rectangle 8"/>
          <p:cNvSpPr/>
          <p:nvPr/>
        </p:nvSpPr>
        <p:spPr>
          <a:xfrm>
            <a:off x="502920" y="3566160"/>
            <a:ext cx="5318607" cy="141732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setup() {</a:t>
            </a:r>
          </a:p>
          <a:p>
            <a:pPr algn="l">
              <a:lnSpc>
                <a:spcPct val="100000"/>
              </a:lnSpc>
              <a:spcAft>
                <a:spcPts val="0"/>
              </a:spcAft>
              <a:defRPr sz="1400" b="0">
                <a:solidFill>
                  <a:srgbClr val="222222"/>
                </a:solidFill>
                <a:latin typeface="Consolas"/>
              </a:defRPr>
            </a:pPr>
            <a:r>
              <a:rPr sz="1400" b="0">
                <a:solidFill>
                  <a:srgbClr val="222222"/>
                </a:solidFill>
                <a:latin typeface="Consolas"/>
              </a:rPr>
              <a:t>  startRover();</a:t>
            </a:r>
          </a:p>
          <a:p>
            <a:pPr algn="l">
              <a:lnSpc>
                <a:spcPct val="100000"/>
              </a:lnSpc>
              <a:spcAft>
                <a:spcPts val="0"/>
              </a:spcAft>
              <a:defRPr sz="1400" b="0">
                <a:solidFill>
                  <a:srgbClr val="222222"/>
                </a:solidFill>
                <a:latin typeface="Consolas"/>
              </a:defRPr>
            </a:pPr>
            <a:r>
              <a:rPr sz="1400" b="0">
                <a:solidFill>
                  <a:srgbClr val="222222"/>
                </a:solidFill>
                <a:latin typeface="Consolas"/>
              </a:rPr>
              <a:t>  setLight(0, RED);</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sp>
        <p:nvSpPr>
          <p:cNvPr id="10" name="Rounded Rectangle 9"/>
          <p:cNvSpPr/>
          <p:nvPr/>
        </p:nvSpPr>
        <p:spPr>
          <a:xfrm>
            <a:off x="6370167" y="1371600"/>
            <a:ext cx="5318607" cy="68580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3200" b="1">
                <a:solidFill>
                  <a:srgbClr val="1F3A5F"/>
                </a:solidFill>
                <a:latin typeface="Consolas"/>
              </a:defRPr>
            </a:pPr>
            <a:r>
              <a:rPr sz="3200" b="1">
                <a:solidFill>
                  <a:srgbClr val="1F3A5F"/>
                </a:solidFill>
                <a:latin typeface="Consolas"/>
              </a:rPr>
              <a:t>loop()</a:t>
            </a:r>
          </a:p>
        </p:txBody>
      </p:sp>
      <p:sp>
        <p:nvSpPr>
          <p:cNvPr id="11" name="TextBox 10"/>
          <p:cNvSpPr txBox="1"/>
          <p:nvPr/>
        </p:nvSpPr>
        <p:spPr>
          <a:xfrm>
            <a:off x="6370167" y="2194560"/>
            <a:ext cx="5318607"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runs OVER and OVER, forever</a:t>
            </a:r>
          </a:p>
        </p:txBody>
      </p:sp>
      <p:sp>
        <p:nvSpPr>
          <p:cNvPr id="12" name="TextBox 11"/>
          <p:cNvSpPr txBox="1"/>
          <p:nvPr/>
        </p:nvSpPr>
        <p:spPr>
          <a:xfrm>
            <a:off x="6370167" y="2697480"/>
            <a:ext cx="5318607" cy="721360"/>
          </a:xfrm>
          <a:prstGeom prst="rect">
            <a:avLst/>
          </a:prstGeom>
          <a:noFill/>
        </p:spPr>
        <p:txBody>
          <a:bodyPr wrap="square" lIns="0" tIns="0" rIns="0" bIns="0">
            <a:spAutoFit/>
          </a:bodyPr>
          <a:lstStyle/>
          <a:p>
            <a:pPr algn="ctr">
              <a:lnSpc>
                <a:spcPct val="100000"/>
              </a:lnSpc>
              <a:spcAft>
                <a:spcPts val="100"/>
              </a:spcAft>
              <a:defRPr sz="2000" b="0">
                <a:solidFill>
                  <a:srgbClr val="222222"/>
                </a:solidFill>
                <a:latin typeface="Calibri"/>
              </a:defRPr>
            </a:pPr>
            <a:r>
              <a:rPr sz="2000" b="0">
                <a:solidFill>
                  <a:srgbClr val="222222"/>
                </a:solidFill>
                <a:latin typeface="Calibri"/>
              </a:rPr>
              <a:t>Like walking: left foot, right foot,</a:t>
            </a:r>
          </a:p>
          <a:p>
            <a:pPr algn="ctr">
              <a:lnSpc>
                <a:spcPct val="100000"/>
              </a:lnSpc>
              <a:spcAft>
                <a:spcPts val="100"/>
              </a:spcAft>
              <a:defRPr sz="2000" b="0">
                <a:solidFill>
                  <a:srgbClr val="222222"/>
                </a:solidFill>
                <a:latin typeface="Calibri"/>
              </a:defRPr>
            </a:pPr>
            <a:r>
              <a:rPr sz="2000" b="0">
                <a:solidFill>
                  <a:srgbClr val="222222"/>
                </a:solidFill>
                <a:latin typeface="Calibri"/>
              </a:rPr>
              <a:t>left foot, right foot...</a:t>
            </a:r>
          </a:p>
        </p:txBody>
      </p:sp>
      <p:sp>
        <p:nvSpPr>
          <p:cNvPr id="13" name="Rectangle 12"/>
          <p:cNvSpPr/>
          <p:nvPr/>
        </p:nvSpPr>
        <p:spPr>
          <a:xfrm>
            <a:off x="6370167" y="3566160"/>
            <a:ext cx="5318607" cy="141732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lnSpc>
                <a:spcPct val="100000"/>
              </a:lnSpc>
              <a:spcAft>
                <a:spcPts val="0"/>
              </a:spcAft>
              <a:defRPr sz="1400" b="0">
                <a:solidFill>
                  <a:srgbClr val="222222"/>
                </a:solidFill>
                <a:latin typeface="Consolas"/>
              </a:defRPr>
            </a:pPr>
            <a:r>
              <a:rPr sz="1400" b="0">
                <a:solidFill>
                  <a:srgbClr val="222222"/>
                </a:solidFill>
                <a:latin typeface="Consolas"/>
              </a:rPr>
              <a:t>void loop() {</a:t>
            </a:r>
          </a:p>
          <a:p>
            <a:pPr algn="l">
              <a:lnSpc>
                <a:spcPct val="100000"/>
              </a:lnSpc>
              <a:spcAft>
                <a:spcPts val="0"/>
              </a:spcAft>
              <a:defRPr sz="1400" b="0">
                <a:solidFill>
                  <a:srgbClr val="222222"/>
                </a:solidFill>
                <a:latin typeface="Consolas"/>
              </a:defRPr>
            </a:pPr>
            <a:r>
              <a:rPr sz="1400" b="0">
                <a:solidFill>
                  <a:srgbClr val="222222"/>
                </a:solidFill>
                <a:latin typeface="Consolas"/>
              </a:rPr>
              <a:t>  Serial.println("Hello! I am a Pathfinder rover.");</a:t>
            </a:r>
          </a:p>
          <a:p>
            <a:pPr algn="l">
              <a:lnSpc>
                <a:spcPct val="100000"/>
              </a:lnSpc>
              <a:spcAft>
                <a:spcPts val="0"/>
              </a:spcAft>
              <a:defRPr sz="1400" b="0">
                <a:solidFill>
                  <a:srgbClr val="222222"/>
                </a:solidFill>
                <a:latin typeface="Consolas"/>
              </a:defRPr>
            </a:pPr>
            <a:r>
              <a:rPr sz="1400" b="0">
                <a:solidFill>
                  <a:srgbClr val="222222"/>
                </a:solidFill>
                <a:latin typeface="Consolas"/>
              </a:rPr>
              <a:t>  delay(2000);</a:t>
            </a:r>
          </a:p>
          <a:p>
            <a:pPr algn="l">
              <a:lnSpc>
                <a:spcPct val="100000"/>
              </a:lnSpc>
              <a:spcAft>
                <a:spcPts val="0"/>
              </a:spcAft>
              <a:defRPr sz="1400" b="0">
                <a:solidFill>
                  <a:srgbClr val="222222"/>
                </a:solidFill>
                <a:latin typeface="Consolas"/>
              </a:defRPr>
            </a:pPr>
            <a:r>
              <a:rPr sz="1400" b="0">
                <a:solidFill>
                  <a:srgbClr val="222222"/>
                </a:solidFill>
                <a:latin typeface="Consolas"/>
              </a:rPr>
              <a:t>}</a:t>
            </a:r>
          </a:p>
        </p:txBody>
      </p:sp>
      <p:sp>
        <p:nvSpPr>
          <p:cNvPr id="14" name="Circular Arrow 13"/>
          <p:cNvSpPr/>
          <p:nvPr/>
        </p:nvSpPr>
        <p:spPr>
          <a:xfrm>
            <a:off x="10820094" y="1417320"/>
            <a:ext cx="685800" cy="594360"/>
          </a:xfrm>
          <a:prstGeom prst="circularArrow">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5" name="Rounded Rectangle 14"/>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rover reads your program from top to bottom, one line at a time - and it does EXACTLY what each line says.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first program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e02a_hello_rover.ino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800">
                <a:latin typeface="Consolas"/>
              </a:defRPr>
            </a:pPr>
            <a:r>
              <a:rPr sz="1800">
                <a:solidFill>
                  <a:srgbClr val="222222"/>
                </a:solidFill>
                <a:latin typeface="Consolas"/>
              </a:rPr>
              <a:t>#include "explorer.h"</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void setup() {</a:t>
            </a:r>
          </a:p>
          <a:p>
            <a:pPr algn="l">
              <a:lnSpc>
                <a:spcPct val="100000"/>
              </a:lnSpc>
              <a:spcAft>
                <a:spcPts val="0"/>
              </a:spcAft>
              <a:defRPr sz="1800">
                <a:latin typeface="Consolas"/>
              </a:defRPr>
            </a:pPr>
            <a:r>
              <a:rPr sz="1800">
                <a:solidFill>
                  <a:srgbClr val="666666"/>
                </a:solidFill>
                <a:latin typeface="Consolas"/>
              </a:rPr>
              <a:t>  // This happens ONCE</a:t>
            </a:r>
          </a:p>
          <a:p>
            <a:pPr algn="l">
              <a:lnSpc>
                <a:spcPct val="100000"/>
              </a:lnSpc>
              <a:spcAft>
                <a:spcPts val="0"/>
              </a:spcAft>
              <a:defRPr sz="1800">
                <a:latin typeface="Consolas"/>
              </a:defRPr>
            </a:pPr>
            <a:r>
              <a:rPr sz="1800">
                <a:solidFill>
                  <a:srgbClr val="222222"/>
                </a:solidFill>
                <a:latin typeface="Consolas"/>
              </a:rPr>
              <a:t>  startRover();</a:t>
            </a:r>
          </a:p>
          <a:p>
            <a:pPr algn="l">
              <a:lnSpc>
                <a:spcPct val="100000"/>
              </a:lnSpc>
              <a:spcAft>
                <a:spcPts val="0"/>
              </a:spcAft>
              <a:defRPr sz="1800">
                <a:latin typeface="Consolas"/>
              </a:defRPr>
            </a:pPr>
            <a:r>
              <a:rPr sz="1800">
                <a:solidFill>
                  <a:srgbClr val="222222"/>
                </a:solidFill>
                <a:latin typeface="Consolas"/>
              </a:rPr>
              <a:t>  setLight(0, RED);</a:t>
            </a:r>
          </a:p>
          <a:p>
            <a:pPr algn="l">
              <a:lnSpc>
                <a:spcPct val="100000"/>
              </a:lnSpc>
              <a:spcAft>
                <a:spcPts val="0"/>
              </a:spcAft>
              <a:defRPr sz="1800">
                <a:latin typeface="Consolas"/>
              </a:defRPr>
            </a:pPr>
            <a:r>
              <a:rPr sz="1800">
                <a:solidFill>
                  <a:srgbClr val="222222"/>
                </a:solidFill>
                <a:latin typeface="Consolas"/>
              </a:rPr>
              <a:t>}</a:t>
            </a:r>
          </a:p>
          <a:p>
            <a:pPr algn="l">
              <a:lnSpc>
                <a:spcPct val="100000"/>
              </a:lnSpc>
              <a:spcAft>
                <a:spcPts val="0"/>
              </a:spcAft>
              <a:defRPr sz="1800">
                <a:latin typeface="Consolas"/>
              </a:defRPr>
            </a:pPr>
            <a:r>
              <a:rPr sz="1800">
                <a:solidFill>
                  <a:srgbClr val="222222"/>
                </a:solidFill>
                <a:latin typeface="Consolas"/>
              </a:rPr>
              <a:t> </a:t>
            </a:r>
          </a:p>
          <a:p>
            <a:pPr algn="l">
              <a:lnSpc>
                <a:spcPct val="100000"/>
              </a:lnSpc>
              <a:spcAft>
                <a:spcPts val="0"/>
              </a:spcAft>
              <a:defRPr sz="1800">
                <a:latin typeface="Consolas"/>
              </a:defRPr>
            </a:pPr>
            <a:r>
              <a:rPr sz="1800">
                <a:solidFill>
                  <a:srgbClr val="222222"/>
                </a:solidFill>
                <a:latin typeface="Consolas"/>
              </a:rPr>
              <a:t>void loop() {</a:t>
            </a:r>
          </a:p>
          <a:p>
            <a:pPr algn="l">
              <a:lnSpc>
                <a:spcPct val="100000"/>
              </a:lnSpc>
              <a:spcAft>
                <a:spcPts val="0"/>
              </a:spcAft>
              <a:defRPr sz="1800">
                <a:latin typeface="Consolas"/>
              </a:defRPr>
            </a:pPr>
            <a:r>
              <a:rPr sz="1800">
                <a:solidFill>
                  <a:srgbClr val="666666"/>
                </a:solidFill>
                <a:latin typeface="Consolas"/>
              </a:rPr>
              <a:t>  // This happens OVER AND OVER</a:t>
            </a:r>
          </a:p>
          <a:p>
            <a:pPr algn="l">
              <a:lnSpc>
                <a:spcPct val="100000"/>
              </a:lnSpc>
              <a:spcAft>
                <a:spcPts val="0"/>
              </a:spcAft>
              <a:defRPr sz="1800">
                <a:latin typeface="Consolas"/>
              </a:defRPr>
            </a:pPr>
            <a:r>
              <a:rPr sz="1800">
                <a:solidFill>
                  <a:srgbClr val="222222"/>
                </a:solidFill>
                <a:latin typeface="Consolas"/>
              </a:rPr>
              <a:t>  Serial.println("Hello! I am a Pathfinder rover.");</a:t>
            </a:r>
          </a:p>
          <a:p>
            <a:pPr algn="l">
              <a:lnSpc>
                <a:spcPct val="100000"/>
              </a:lnSpc>
              <a:spcAft>
                <a:spcPts val="0"/>
              </a:spcAft>
              <a:defRPr sz="1800">
                <a:latin typeface="Consolas"/>
              </a:defRPr>
            </a:pPr>
            <a:r>
              <a:rPr sz="1800">
                <a:solidFill>
                  <a:srgbClr val="222222"/>
                </a:solidFill>
                <a:latin typeface="Consolas"/>
              </a:rPr>
              <a:t>  delay(2000);     // Wait 2 seconds</a:t>
            </a:r>
          </a:p>
          <a:p>
            <a:pPr algn="l">
              <a:lnSpc>
                <a:spcPct val="100000"/>
              </a:lnSpc>
              <a:spcAft>
                <a:spcPts val="0"/>
              </a:spcAft>
              <a:defRPr sz="1800">
                <a:latin typeface="Consolas"/>
              </a:defRPr>
            </a:pPr>
            <a:r>
              <a:rPr sz="18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500" b="0">
                <a:solidFill>
                  <a:srgbClr val="222222"/>
                </a:solidFill>
                <a:latin typeface="Calibri"/>
              </a:defRPr>
            </a:pPr>
            <a:r>
              <a:rPr sz="2500" b="0">
                <a:solidFill>
                  <a:srgbClr val="222222"/>
                </a:solidFill>
                <a:latin typeface="Calibri"/>
              </a:rPr>
              <a:t>#include brings in the engine room.</a:t>
            </a:r>
          </a:p>
          <a:p>
            <a:pPr algn="l">
              <a:lnSpc>
                <a:spcPct val="100000"/>
              </a:lnSpc>
              <a:spcAft>
                <a:spcPts val="700"/>
              </a:spcAft>
              <a:defRPr sz="2500" b="0">
                <a:solidFill>
                  <a:srgbClr val="222222"/>
                </a:solidFill>
                <a:latin typeface="Calibri"/>
              </a:defRPr>
            </a:pPr>
            <a:r>
              <a:rPr sz="2500" b="0">
                <a:solidFill>
                  <a:srgbClr val="222222"/>
                </a:solidFill>
                <a:latin typeface="Calibri"/>
              </a:rPr>
              <a:t>setLight(0, RED) turns light 0 red.</a:t>
            </a:r>
          </a:p>
          <a:p>
            <a:pPr algn="l">
              <a:lnSpc>
                <a:spcPct val="100000"/>
              </a:lnSpc>
              <a:spcAft>
                <a:spcPts val="700"/>
              </a:spcAft>
              <a:defRPr sz="2500" b="0">
                <a:solidFill>
                  <a:srgbClr val="222222"/>
                </a:solidFill>
                <a:latin typeface="Calibri"/>
              </a:defRPr>
            </a:pPr>
            <a:r>
              <a:rPr sz="2500" b="0">
                <a:solidFill>
                  <a:srgbClr val="222222"/>
                </a:solidFill>
                <a:latin typeface="Calibri"/>
              </a:rPr>
              <a:t>Serial.println() types a message to your screen.</a:t>
            </a:r>
          </a:p>
          <a:p>
            <a:pPr algn="l">
              <a:lnSpc>
                <a:spcPct val="100000"/>
              </a:lnSpc>
              <a:spcAft>
                <a:spcPts val="700"/>
              </a:spcAft>
              <a:defRPr sz="2500" b="0">
                <a:solidFill>
                  <a:srgbClr val="222222"/>
                </a:solidFill>
                <a:latin typeface="Calibri"/>
              </a:defRPr>
            </a:pPr>
            <a:r>
              <a:rPr sz="2500" b="0">
                <a:solidFill>
                  <a:srgbClr val="222222"/>
                </a:solidFill>
                <a:latin typeface="Calibri"/>
              </a:rPr>
              <a:t>delay(2000) waits 2 seconds.</a:t>
            </a:r>
          </a:p>
          <a:p>
            <a:pPr algn="l">
              <a:lnSpc>
                <a:spcPct val="100000"/>
              </a:lnSpc>
              <a:spcAft>
                <a:spcPts val="700"/>
              </a:spcAft>
              <a:defRPr sz="2500" b="0">
                <a:solidFill>
                  <a:srgbClr val="222222"/>
                </a:solidFill>
                <a:latin typeface="Calibri"/>
              </a:defRPr>
            </a:pPr>
            <a:r>
              <a:rPr sz="2500" b="0">
                <a:solidFill>
                  <a:srgbClr val="222222"/>
                </a:solidFill>
                <a:latin typeface="Calibri"/>
              </a:rPr>
              <a:t>Every instruction ends with a semicolon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How to upload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r>
              <a:rPr sz="3000" b="0">
                <a:solidFill>
                  <a:srgbClr val="222222"/>
                </a:solidFill>
                <a:latin typeface="Calibri"/>
              </a:rPr>
              <a:t>1.  Crew Chief: vehicle on its stand, WHEELS UP.</a:t>
            </a:r>
          </a:p>
          <a:p>
            <a:pPr algn="l">
              <a:lnSpc>
                <a:spcPct val="100000"/>
              </a:lnSpc>
              <a:spcAft>
                <a:spcPts val="900"/>
              </a:spcAft>
              <a:defRPr sz="3000" b="0">
                <a:solidFill>
                  <a:srgbClr val="222222"/>
                </a:solidFill>
                <a:latin typeface="Calibri"/>
              </a:defRPr>
            </a:pPr>
            <a:r>
              <a:rPr sz="3000" b="0">
                <a:solidFill>
                  <a:srgbClr val="222222"/>
                </a:solidFill>
                <a:latin typeface="Calibri"/>
              </a:rPr>
              <a:t>2.  Plug the cable into the vehicle and the laptop.</a:t>
            </a:r>
          </a:p>
          <a:p>
            <a:pPr algn="l">
              <a:lnSpc>
                <a:spcPct val="100000"/>
              </a:lnSpc>
              <a:spcAft>
                <a:spcPts val="900"/>
              </a:spcAft>
              <a:defRPr sz="3000" b="0">
                <a:solidFill>
                  <a:srgbClr val="222222"/>
                </a:solidFill>
                <a:latin typeface="Calibri"/>
              </a:defRPr>
            </a:pPr>
            <a:r>
              <a:rPr sz="3000" b="0">
                <a:solidFill>
                  <a:srgbClr val="222222"/>
                </a:solidFill>
                <a:latin typeface="Calibri"/>
              </a:rPr>
              <a:t>3.  Crew Chief: vehicle power ON.</a:t>
            </a:r>
          </a:p>
          <a:p>
            <a:pPr algn="l">
              <a:lnSpc>
                <a:spcPct val="100000"/>
              </a:lnSpc>
              <a:spcAft>
                <a:spcPts val="900"/>
              </a:spcAft>
              <a:defRPr sz="3000" b="0">
                <a:solidFill>
                  <a:srgbClr val="222222"/>
                </a:solidFill>
                <a:latin typeface="Calibri"/>
              </a:defRPr>
            </a:pPr>
            <a:r>
              <a:rPr sz="3000" b="0">
                <a:solidFill>
                  <a:srgbClr val="222222"/>
                </a:solidFill>
                <a:latin typeface="Calibri"/>
              </a:rPr>
              <a:t>4.  Coder: File &gt; Sketchbook &gt; explorers &gt; e02a_hello_rover.</a:t>
            </a:r>
          </a:p>
          <a:p>
            <a:pPr algn="l">
              <a:lnSpc>
                <a:spcPct val="100000"/>
              </a:lnSpc>
              <a:spcAft>
                <a:spcPts val="900"/>
              </a:spcAft>
              <a:defRPr sz="3000" b="0">
                <a:solidFill>
                  <a:srgbClr val="222222"/>
                </a:solidFill>
                <a:latin typeface="Calibri"/>
              </a:defRPr>
            </a:pPr>
            <a:r>
              <a:rPr sz="3000" b="0">
                <a:solidFill>
                  <a:srgbClr val="222222"/>
                </a:solidFill>
                <a:latin typeface="Calibri"/>
              </a:rPr>
              <a:t>5.  Click the arrow (Upload). Wait for "Done uploading".</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Stuck on "Connecting..."? Ask your teacher. It's usually the cable.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first upload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e02a_hello_rover</a:t>
            </a:r>
            <a:r>
              <a:rPr sz="1200">
                <a:solidFill>
                  <a:srgbClr val="FFFFFF"/>
                </a:solidFill>
                <a:latin typeface="Calibri"/>
              </a:rPr>
              <a:t>     (15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Upload it. Light 0 turns RED.</a:t>
            </a:r>
          </a:p>
          <a:p>
            <a:pPr algn="l">
              <a:lnSpc>
                <a:spcPct val="100000"/>
              </a:lnSpc>
              <a:spcAft>
                <a:spcPts val="800"/>
              </a:spcAft>
              <a:defRPr sz="2100" b="0">
                <a:solidFill>
                  <a:srgbClr val="222222"/>
                </a:solidFill>
                <a:latin typeface="Calibri"/>
              </a:defRPr>
            </a:pPr>
            <a:r>
              <a:rPr sz="2100" b="0">
                <a:solidFill>
                  <a:srgbClr val="222222"/>
                </a:solidFill>
                <a:latin typeface="Calibri"/>
              </a:rPr>
              <a:t>Open the Serial Monitor. Choose 115200 baud. Read the message.</a:t>
            </a:r>
          </a:p>
          <a:p>
            <a:pPr algn="l">
              <a:lnSpc>
                <a:spcPct val="100000"/>
              </a:lnSpc>
              <a:spcAft>
                <a:spcPts val="800"/>
              </a:spcAft>
              <a:defRPr sz="2100" b="0">
                <a:solidFill>
                  <a:srgbClr val="222222"/>
                </a:solidFill>
                <a:latin typeface="Calibri"/>
              </a:defRPr>
            </a:pPr>
            <a:r>
              <a:rPr sz="2100" b="0">
                <a:solidFill>
                  <a:srgbClr val="222222"/>
                </a:solidFill>
                <a:latin typeface="Calibri"/>
              </a:rPr>
              <a:t>LEVEL 1: change 0 to 5 in setLight(0, RED) (line 24). Upload. Which light is it now?</a:t>
            </a:r>
          </a:p>
          <a:p>
            <a:pPr algn="l">
              <a:lnSpc>
                <a:spcPct val="100000"/>
              </a:lnSpc>
              <a:spcAft>
                <a:spcPts val="800"/>
              </a:spcAft>
              <a:defRPr sz="2100" b="0">
                <a:solidFill>
                  <a:srgbClr val="222222"/>
                </a:solidFill>
                <a:latin typeface="Calibri"/>
              </a:defRPr>
            </a:pPr>
            <a:r>
              <a:rPr sz="2100" b="0">
                <a:solidFill>
                  <a:srgbClr val="222222"/>
                </a:solidFill>
                <a:latin typeface="Calibri"/>
              </a:rPr>
              <a:t>LEVEL 2: change RED to BLUE, GREEN, PURPLE or PINK. Make the message say your team's name.</a:t>
            </a:r>
          </a:p>
          <a:p>
            <a:pPr algn="l">
              <a:lnSpc>
                <a:spcPct val="100000"/>
              </a:lnSpc>
              <a:spcAft>
                <a:spcPts val="800"/>
              </a:spcAft>
              <a:defRPr sz="2100" b="0">
                <a:solidFill>
                  <a:srgbClr val="222222"/>
                </a:solidFill>
                <a:latin typeface="Calibri"/>
              </a:defRPr>
            </a:pPr>
            <a:r>
              <a:rPr sz="2100" b="0">
                <a:solidFill>
                  <a:srgbClr val="222222"/>
                </a:solidFill>
                <a:latin typeface="Calibri"/>
              </a:rPr>
              <a:t>LEVEL 3: make the light BLINK.</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9931"/>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A red light at the front left</a:t>
            </a:r>
          </a:p>
          <a:p>
            <a:pPr algn="l">
              <a:lnSpc>
                <a:spcPct val="100000"/>
              </a:lnSpc>
              <a:spcAft>
                <a:spcPts val="300"/>
              </a:spcAft>
              <a:defRPr sz="2400" b="0">
                <a:solidFill>
                  <a:srgbClr val="222222"/>
                </a:solidFill>
                <a:latin typeface="Calibri"/>
              </a:defRPr>
            </a:pPr>
            <a:r>
              <a:rPr sz="2400" b="0">
                <a:solidFill>
                  <a:srgbClr val="222222"/>
                </a:solidFill>
                <a:latin typeface="Calibri"/>
              </a:rPr>
              <a:t>"Hello! I am a Pathfinder rover." every 2 seconds</a:t>
            </a:r>
          </a:p>
        </p:txBody>
      </p:sp>
      <p:sp>
        <p:nvSpPr>
          <p:cNvPr id="10" name="TextBox 9"/>
          <p:cNvSpPr txBox="1"/>
          <p:nvPr/>
        </p:nvSpPr>
        <p:spPr>
          <a:xfrm>
            <a:off x="7163537" y="3837371"/>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9707"/>
            <a:ext cx="4525238" cy="935796"/>
          </a:xfrm>
          <a:prstGeom prst="rect">
            <a:avLst/>
          </a:prstGeom>
          <a:noFill/>
        </p:spPr>
        <p:txBody>
          <a:bodyPr wrap="square" lIns="0" tIns="0" rIns="0" bIns="0">
            <a:spAutoFit/>
          </a:bodyPr>
          <a:lstStyle/>
          <a:p>
            <a:pPr algn="l">
              <a:lnSpc>
                <a:spcPct val="100000"/>
              </a:lnSpc>
              <a:spcAft>
                <a:spcPts val="300"/>
              </a:spcAft>
              <a:defRPr sz="2000" b="0">
                <a:solidFill>
                  <a:srgbClr val="222222"/>
                </a:solidFill>
                <a:latin typeface="Calibri"/>
              </a:defRPr>
            </a:pPr>
            <a:r>
              <a:rPr sz="2000" b="0">
                <a:solidFill>
                  <a:srgbClr val="222222"/>
                </a:solidFill>
                <a:latin typeface="Calibri"/>
              </a:rPr>
              <a:t>Why does the message keep coming, but the light only turns on once?</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up for every upload - even when you're only changing a light.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the Serial Monitor shows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Rectangle 5"/>
          <p:cNvSpPr/>
          <p:nvPr/>
        </p:nvSpPr>
        <p:spPr>
          <a:xfrm>
            <a:off x="502920" y="1188720"/>
            <a:ext cx="11185855" cy="434340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SCREENSHOT: the Serial Monitor showing the hello message</a:t>
            </a:r>
          </a:p>
          <a:p>
            <a:pPr algn="ctr">
              <a:lnSpc>
                <a:spcPct val="100000"/>
              </a:lnSpc>
              <a:spcAft>
                <a:spcPts val="700"/>
              </a:spcAft>
              <a:defRPr sz="1600" b="0">
                <a:solidFill>
                  <a:srgbClr val="0E7C86"/>
                </a:solidFill>
                <a:latin typeface="Calibri"/>
              </a:defRPr>
            </a:pPr>
            <a:r>
              <a:rPr sz="1600" b="0">
                <a:solidFill>
                  <a:srgbClr val="0E7C86"/>
                </a:solidFill>
                <a:latin typeface="Calibri"/>
              </a:rPr>
              <a:t>115200 baud selected, three or four 'Hello! I am a Pathfinder rover.' lines visible</a:t>
            </a:r>
          </a:p>
        </p:txBody>
      </p:sp>
      <p:sp>
        <p:nvSpPr>
          <p:cNvPr id="7" name="TextBox 6"/>
          <p:cNvSpPr txBox="1"/>
          <p:nvPr/>
        </p:nvSpPr>
        <p:spPr>
          <a:xfrm>
            <a:off x="502920" y="5586984"/>
            <a:ext cx="11185855" cy="676656"/>
          </a:xfrm>
          <a:prstGeom prst="rect">
            <a:avLst/>
          </a:prstGeom>
          <a:noFill/>
        </p:spPr>
        <p:txBody>
          <a:bodyPr wrap="square" lIns="0" tIns="0" rIns="0" bIns="0">
            <a:spAutoFit/>
          </a:bodyPr>
          <a:lstStyle/>
          <a:p>
            <a:pPr algn="ctr">
              <a:lnSpc>
                <a:spcPct val="100000"/>
              </a:lnSpc>
              <a:spcAft>
                <a:spcPts val="600"/>
              </a:spcAft>
              <a:defRPr sz="1800" b="0">
                <a:solidFill>
                  <a:srgbClr val="666666"/>
                </a:solidFill>
                <a:latin typeface="Calibri"/>
              </a:defRPr>
            </a:pPr>
            <a:r>
              <a:rPr sz="1800" b="0">
                <a:solidFill>
                  <a:srgbClr val="666666"/>
                </a:solidFill>
                <a:latin typeface="Calibri"/>
              </a:rPr>
              <a:t>Set the speed in the corner to 115200 baud, or you'll see nonsense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Bug hunt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10 minutes</a:t>
            </a:r>
          </a:p>
        </p:txBody>
      </p:sp>
      <p:sp>
        <p:nvSpPr>
          <p:cNvPr id="7" name="Rounded Rectangle 6"/>
          <p:cNvSpPr/>
          <p:nvPr/>
        </p:nvSpPr>
        <p:spPr>
          <a:xfrm>
            <a:off x="502920"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Instructions</a:t>
            </a:r>
          </a:p>
        </p:txBody>
      </p:sp>
      <p:sp>
        <p:nvSpPr>
          <p:cNvPr id="8" name="TextBox 7"/>
          <p:cNvSpPr txBox="1"/>
          <p:nvPr/>
        </p:nvSpPr>
        <p:spPr>
          <a:xfrm>
            <a:off x="502920"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4280306" y="3886200"/>
            <a:ext cx="3631082"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Your first upload</a:t>
            </a:r>
          </a:p>
        </p:txBody>
      </p:sp>
      <p:sp>
        <p:nvSpPr>
          <p:cNvPr id="10" name="TextBox 9"/>
          <p:cNvSpPr txBox="1"/>
          <p:nvPr/>
        </p:nvSpPr>
        <p:spPr>
          <a:xfrm>
            <a:off x="4280306"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8057692" y="3886200"/>
            <a:ext cx="3631082"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Bug hunt</a:t>
            </a:r>
          </a:p>
        </p:txBody>
      </p:sp>
      <p:sp>
        <p:nvSpPr>
          <p:cNvPr id="12" name="TextBox 11"/>
          <p:cNvSpPr txBox="1"/>
          <p:nvPr/>
        </p:nvSpPr>
        <p:spPr>
          <a:xfrm>
            <a:off x="8057692" y="3520440"/>
            <a:ext cx="3631082"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Bugs are clues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5674602" cy="3986784"/>
          </a:xfrm>
          <a:prstGeom prst="rect">
            <a:avLst/>
          </a:prstGeom>
          <a:noFill/>
        </p:spPr>
        <p:txBody>
          <a:bodyPr wrap="square" lIns="0" tIns="0" rIns="0" bIns="0">
            <a:spAutoFit/>
          </a:bodyPr>
          <a:lstStyle/>
          <a:p>
            <a:pPr algn="l">
              <a:lnSpc>
                <a:spcPct val="100000"/>
              </a:lnSpc>
              <a:spcAft>
                <a:spcPts val="600"/>
              </a:spcAft>
              <a:defRPr sz="2500" b="0">
                <a:solidFill>
                  <a:srgbClr val="222222"/>
                </a:solidFill>
                <a:latin typeface="Calibri"/>
              </a:defRPr>
            </a:pPr>
            <a:r>
              <a:rPr sz="2500" b="0">
                <a:solidFill>
                  <a:srgbClr val="222222"/>
                </a:solidFill>
                <a:latin typeface="Calibri"/>
              </a:rPr>
              <a:t>Everybody's programs have bugs. Even NASA's.</a:t>
            </a:r>
          </a:p>
          <a:p>
            <a:pPr algn="l">
              <a:lnSpc>
                <a:spcPct val="100000"/>
              </a:lnSpc>
              <a:spcAft>
                <a:spcPts val="600"/>
              </a:spcAft>
              <a:defRPr sz="2500" b="0">
                <a:solidFill>
                  <a:srgbClr val="222222"/>
                </a:solidFill>
                <a:latin typeface="Calibri"/>
              </a:defRPr>
            </a:pPr>
            <a:r>
              <a:rPr sz="2500" b="0">
                <a:solidFill>
                  <a:srgbClr val="222222"/>
                </a:solidFill>
                <a:latin typeface="Calibri"/>
              </a:rPr>
              <a:t>Click Verify and the computer checks your program.</a:t>
            </a:r>
          </a:p>
          <a:p>
            <a:pPr algn="l">
              <a:lnSpc>
                <a:spcPct val="100000"/>
              </a:lnSpc>
              <a:spcAft>
                <a:spcPts val="600"/>
              </a:spcAft>
              <a:defRPr sz="2500" b="0">
                <a:solidFill>
                  <a:srgbClr val="222222"/>
                </a:solidFill>
                <a:latin typeface="Calibri"/>
              </a:defRPr>
            </a:pPr>
            <a:r>
              <a:rPr sz="2500" b="0">
                <a:solidFill>
                  <a:srgbClr val="222222"/>
                </a:solidFill>
                <a:latin typeface="Calibri"/>
              </a:rPr>
              <a:t>Something wrong? A message appears at the bottom of the window.</a:t>
            </a:r>
          </a:p>
          <a:p>
            <a:pPr algn="l">
              <a:lnSpc>
                <a:spcPct val="100000"/>
              </a:lnSpc>
              <a:spcAft>
                <a:spcPts val="600"/>
              </a:spcAft>
              <a:defRPr sz="2500" b="0">
                <a:solidFill>
                  <a:srgbClr val="222222"/>
                </a:solidFill>
                <a:latin typeface="Calibri"/>
              </a:defRPr>
            </a:pPr>
            <a:r>
              <a:rPr sz="2500" b="0">
                <a:solidFill>
                  <a:srgbClr val="222222"/>
                </a:solidFill>
                <a:latin typeface="Calibri"/>
              </a:rPr>
              <a:t>It tells you the LINE NUMBER. Go there first.</a:t>
            </a:r>
          </a:p>
          <a:p>
            <a:pPr algn="l">
              <a:lnSpc>
                <a:spcPct val="100000"/>
              </a:lnSpc>
              <a:spcAft>
                <a:spcPts val="600"/>
              </a:spcAft>
              <a:defRPr sz="2500" b="0">
                <a:solidFill>
                  <a:srgbClr val="222222"/>
                </a:solidFill>
                <a:latin typeface="Calibri"/>
              </a:defRPr>
            </a:pPr>
            <a:r>
              <a:rPr sz="2500" b="0">
                <a:solidFill>
                  <a:srgbClr val="222222"/>
                </a:solidFill>
                <a:latin typeface="Calibri"/>
              </a:rPr>
              <a:t>It often guesses what you meant!</a:t>
            </a:r>
          </a:p>
        </p:txBody>
      </p:sp>
      <p:sp>
        <p:nvSpPr>
          <p:cNvPr id="7" name="Rectangle 6"/>
          <p:cNvSpPr/>
          <p:nvPr/>
        </p:nvSpPr>
        <p:spPr>
          <a:xfrm>
            <a:off x="6543282" y="1188720"/>
            <a:ext cx="5145493" cy="3291840"/>
          </a:xfrm>
          <a:prstGeom prst="rect">
            <a:avLst/>
          </a:prstGeom>
          <a:solidFill>
            <a:srgbClr val="EEF3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lnSpc>
                <a:spcPct val="100000"/>
              </a:lnSpc>
              <a:spcAft>
                <a:spcPts val="700"/>
              </a:spcAft>
              <a:defRPr sz="1600" b="0">
                <a:solidFill>
                  <a:srgbClr val="0E7C86"/>
                </a:solidFill>
                <a:latin typeface="Calibri"/>
              </a:defRPr>
            </a:pPr>
            <a:r>
              <a:rPr sz="1600" b="1">
                <a:solidFill>
                  <a:srgbClr val="666666"/>
                </a:solidFill>
                <a:latin typeface="Calibri"/>
              </a:rPr>
              <a:t>PLACEHOLDER</a:t>
            </a:r>
          </a:p>
          <a:p>
            <a:pPr algn="ctr">
              <a:lnSpc>
                <a:spcPct val="100000"/>
              </a:lnSpc>
              <a:spcAft>
                <a:spcPts val="700"/>
              </a:spcAft>
              <a:defRPr sz="1600" b="0">
                <a:solidFill>
                  <a:srgbClr val="0E7C86"/>
                </a:solidFill>
                <a:latin typeface="Calibri"/>
              </a:defRPr>
            </a:pPr>
            <a:r>
              <a:rPr sz="1600" b="0">
                <a:solidFill>
                  <a:srgbClr val="0E7C86"/>
                </a:solidFill>
                <a:latin typeface="Calibri"/>
              </a:rPr>
              <a:t>SCREENSHOT: the IDE after clicking Verify on e02b_bug_hunt</a:t>
            </a:r>
          </a:p>
          <a:p>
            <a:pPr algn="ctr">
              <a:lnSpc>
                <a:spcPct val="100000"/>
              </a:lnSpc>
              <a:spcAft>
                <a:spcPts val="700"/>
              </a:spcAft>
              <a:defRPr sz="1600" b="0">
                <a:solidFill>
                  <a:srgbClr val="0E7C86"/>
                </a:solidFill>
                <a:latin typeface="Calibri"/>
              </a:defRPr>
            </a:pPr>
            <a:r>
              <a:rPr sz="1600" b="0">
                <a:solidFill>
                  <a:srgbClr val="0E7C86"/>
                </a:solidFill>
                <a:latin typeface="Calibri"/>
              </a:rPr>
              <a:t>The first error message showing at the bottom of the window, with its line number</a:t>
            </a:r>
          </a:p>
        </p:txBody>
      </p:sp>
      <p:sp>
        <p:nvSpPr>
          <p:cNvPr id="8" name="TextBox 7"/>
          <p:cNvSpPr txBox="1"/>
          <p:nvPr/>
        </p:nvSpPr>
        <p:spPr>
          <a:xfrm>
            <a:off x="6543282" y="4535424"/>
            <a:ext cx="5145493" cy="566928"/>
          </a:xfrm>
          <a:prstGeom prst="rect">
            <a:avLst/>
          </a:prstGeom>
          <a:noFill/>
        </p:spPr>
        <p:txBody>
          <a:bodyPr wrap="square" lIns="0" tIns="0" rIns="0" bIns="0">
            <a:spAutoFit/>
          </a:bodyPr>
          <a:lstStyle/>
          <a:p>
            <a:pPr algn="l">
              <a:lnSpc>
                <a:spcPct val="100000"/>
              </a:lnSpc>
              <a:spcAft>
                <a:spcPts val="600"/>
              </a:spcAft>
              <a:defRPr sz="1800" b="0">
                <a:solidFill>
                  <a:srgbClr val="666666"/>
                </a:solidFill>
                <a:latin typeface="Calibri"/>
              </a:defRPr>
            </a:pPr>
            <a:r>
              <a:rPr sz="1800" b="0">
                <a:solidFill>
                  <a:srgbClr val="666666"/>
                </a:solidFill>
                <a:latin typeface="Calibri"/>
              </a:rPr>
              <a:t>An error message, and its line number</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Fix the FIRST message first. Then click Verify again.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Three bugs. Can you spot them?</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e02b_bug_hunt.ino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2000">
                <a:latin typeface="Consolas"/>
              </a:defRPr>
            </a:pPr>
            <a:r>
              <a:rPr sz="2000">
                <a:solidFill>
                  <a:srgbClr val="222222"/>
                </a:solidFill>
                <a:latin typeface="Consolas"/>
              </a:rPr>
              <a:t>void setup() {</a:t>
            </a:r>
          </a:p>
          <a:p>
            <a:pPr algn="l">
              <a:lnSpc>
                <a:spcPct val="100000"/>
              </a:lnSpc>
              <a:spcAft>
                <a:spcPts val="0"/>
              </a:spcAft>
              <a:defRPr sz="2000">
                <a:latin typeface="Consolas"/>
              </a:defRPr>
            </a:pPr>
            <a:r>
              <a:rPr sz="2000">
                <a:solidFill>
                  <a:srgbClr val="222222"/>
                </a:solidFill>
                <a:latin typeface="Consolas"/>
              </a:rPr>
              <a:t>  startRover();</a:t>
            </a:r>
          </a:p>
          <a:p>
            <a:pPr algn="l">
              <a:lnSpc>
                <a:spcPct val="100000"/>
              </a:lnSpc>
              <a:spcAft>
                <a:spcPts val="0"/>
              </a:spcAft>
              <a:defRPr sz="2000">
                <a:latin typeface="Consolas"/>
              </a:defRPr>
            </a:pPr>
            <a:r>
              <a:rPr sz="2000">
                <a:solidFill>
                  <a:srgbClr val="222222"/>
                </a:solidFill>
                <a:latin typeface="Consolas"/>
              </a:rPr>
              <a:t>  setLight(0, GREEN)</a:t>
            </a:r>
          </a:p>
          <a:p>
            <a:pPr algn="l">
              <a:lnSpc>
                <a:spcPct val="100000"/>
              </a:lnSpc>
              <a:spcAft>
                <a:spcPts val="0"/>
              </a:spcAft>
              <a:defRPr sz="2000">
                <a:latin typeface="Consolas"/>
              </a:defRPr>
            </a:pPr>
            <a:r>
              <a:rPr sz="2000">
                <a:solidFill>
                  <a:srgbClr val="222222"/>
                </a:solidFill>
                <a:latin typeface="Consolas"/>
              </a:rPr>
              <a:t>  setlight(1, YELLOW);</a:t>
            </a:r>
          </a:p>
          <a:p>
            <a:pPr algn="l">
              <a:lnSpc>
                <a:spcPct val="100000"/>
              </a:lnSpc>
              <a:spcAft>
                <a:spcPts val="0"/>
              </a:spcAft>
              <a:defRPr sz="2000">
                <a:latin typeface="Consolas"/>
              </a:defRPr>
            </a:pPr>
            <a:r>
              <a:rPr sz="2000">
                <a:solidFill>
                  <a:srgbClr val="222222"/>
                </a:solidFill>
                <a:latin typeface="Consolas"/>
              </a:rPr>
              <a:t>  setLight(2, BLEU);</a:t>
            </a:r>
          </a:p>
          <a:p>
            <a:pPr algn="l">
              <a:lnSpc>
                <a:spcPct val="100000"/>
              </a:lnSpc>
              <a:spcAft>
                <a:spcPts val="0"/>
              </a:spcAft>
              <a:defRPr sz="2000">
                <a:latin typeface="Consolas"/>
              </a:defRPr>
            </a:pPr>
            <a:r>
              <a:rPr sz="20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1000"/>
              </a:spcAft>
              <a:defRPr sz="3000" b="0">
                <a:solidFill>
                  <a:srgbClr val="222222"/>
                </a:solidFill>
                <a:latin typeface="Calibri"/>
              </a:defRPr>
            </a:pPr>
            <a:r>
              <a:rPr sz="3000" b="0">
                <a:solidFill>
                  <a:srgbClr val="222222"/>
                </a:solidFill>
                <a:latin typeface="Calibri"/>
              </a:rPr>
              <a:t>This program will not upload until all three are fixed.</a:t>
            </a:r>
          </a:p>
          <a:p>
            <a:pPr algn="l">
              <a:lnSpc>
                <a:spcPct val="100000"/>
              </a:lnSpc>
              <a:spcAft>
                <a:spcPts val="1000"/>
              </a:spcAft>
              <a:defRPr sz="3000" b="0">
                <a:solidFill>
                  <a:srgbClr val="222222"/>
                </a:solidFill>
                <a:latin typeface="Calibri"/>
              </a:defRPr>
            </a:pPr>
            <a:r>
              <a:rPr sz="3000" b="0">
                <a:solidFill>
                  <a:srgbClr val="222222"/>
                </a:solidFill>
                <a:latin typeface="Calibri"/>
              </a:rPr>
              <a:t>Find them by eye first.</a:t>
            </a:r>
          </a:p>
          <a:p>
            <a:pPr algn="l">
              <a:lnSpc>
                <a:spcPct val="100000"/>
              </a:lnSpc>
              <a:spcAft>
                <a:spcPts val="1000"/>
              </a:spcAft>
              <a:defRPr sz="3000" b="0">
                <a:solidFill>
                  <a:srgbClr val="222222"/>
                </a:solidFill>
                <a:latin typeface="Calibri"/>
              </a:defRPr>
            </a:pPr>
            <a:r>
              <a:rPr sz="3000" b="0">
                <a:solidFill>
                  <a:srgbClr val="222222"/>
                </a:solidFill>
                <a:latin typeface="Calibri"/>
              </a:rPr>
              <a:t>Then let Verify find them for you.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Decoding the messages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graphicFrame>
        <p:nvGraphicFramePr>
          <p:cNvPr id="6" name="Table 5"/>
          <p:cNvGraphicFramePr>
            <a:graphicFrameLocks noGrp="1"/>
          </p:cNvGraphicFramePr>
          <p:nvPr/>
        </p:nvGraphicFramePr>
        <p:xfrm>
          <a:off x="502920" y="1188720"/>
          <a:ext cx="11185854" cy="3606800"/>
        </p:xfrm>
        <a:graphic>
          <a:graphicData uri="http://schemas.openxmlformats.org/drawingml/2006/table">
            <a:tbl>
              <a:tblPr firstRow="1" bandRow="1">
                <a:tableStyleId>{5C22544A-7EE6-4342-B048-85BDC9FD1C3A}</a:tableStyleId>
              </a:tblPr>
              <a:tblGrid>
                <a:gridCol w="4677721"/>
                <a:gridCol w="6508133"/>
              </a:tblGrid>
              <a:tr h="901700">
                <a:tc>
                  <a:txBody>
                    <a:bodyPr/>
                    <a:lstStyle/>
                    <a:p>
                      <a:r>
                        <a:rPr sz="2600" b="1">
                          <a:solidFill>
                            <a:srgbClr val="FFFFFF"/>
                          </a:solidFill>
                          <a:latin typeface="Calibri"/>
                        </a:rPr>
                        <a:t>The message says...</a:t>
                      </a:r>
                    </a:p>
                  </a:txBody>
                  <a:tcPr marL="73152" marT="18288" marB="18288">
                    <a:solidFill>
                      <a:srgbClr val="1F3A5F"/>
                    </a:solidFill>
                  </a:tcPr>
                </a:tc>
                <a:tc>
                  <a:txBody>
                    <a:bodyPr/>
                    <a:lstStyle/>
                    <a:p>
                      <a:r>
                        <a:rPr sz="2600" b="1">
                          <a:solidFill>
                            <a:srgbClr val="FFFFFF"/>
                          </a:solidFill>
                          <a:latin typeface="Calibri"/>
                        </a:rPr>
                        <a:t>It means...</a:t>
                      </a:r>
                    </a:p>
                  </a:txBody>
                  <a:tcPr marL="73152" marT="18288" marB="18288">
                    <a:solidFill>
                      <a:srgbClr val="1F3A5F"/>
                    </a:solidFill>
                  </a:tcPr>
                </a:tc>
              </a:tr>
              <a:tr h="901700">
                <a:tc>
                  <a:txBody>
                    <a:bodyPr/>
                    <a:lstStyle/>
                    <a:p>
                      <a:r>
                        <a:rPr sz="2600">
                          <a:solidFill>
                            <a:srgbClr val="222222"/>
                          </a:solidFill>
                          <a:latin typeface="Calibri"/>
                        </a:rPr>
                        <a:t>expected ';' before 'setlight'</a:t>
                      </a:r>
                    </a:p>
                  </a:txBody>
                  <a:tcPr marL="73152" marT="18288" marB="18288">
                    <a:solidFill>
                      <a:srgbClr val="FFFFFF"/>
                    </a:solidFill>
                  </a:tcPr>
                </a:tc>
                <a:tc>
                  <a:txBody>
                    <a:bodyPr/>
                    <a:lstStyle/>
                    <a:p>
                      <a:r>
                        <a:rPr sz="2600">
                          <a:solidFill>
                            <a:srgbClr val="222222"/>
                          </a:solidFill>
                          <a:latin typeface="Calibri"/>
                        </a:rPr>
                        <a:t>A semicolon is missing just BEFORE this word - at the end of the line above</a:t>
                      </a:r>
                    </a:p>
                  </a:txBody>
                  <a:tcPr marL="73152" marT="18288" marB="18288">
                    <a:solidFill>
                      <a:srgbClr val="FFFFFF"/>
                    </a:solidFill>
                  </a:tcPr>
                </a:tc>
              </a:tr>
              <a:tr h="901700">
                <a:tc>
                  <a:txBody>
                    <a:bodyPr/>
                    <a:lstStyle/>
                    <a:p>
                      <a:r>
                        <a:rPr sz="2600">
                          <a:solidFill>
                            <a:srgbClr val="222222"/>
                          </a:solidFill>
                          <a:latin typeface="Calibri"/>
                        </a:rPr>
                        <a:t>'setlight' was not declared in this scope</a:t>
                      </a:r>
                    </a:p>
                  </a:txBody>
                  <a:tcPr marL="73152" marT="18288" marB="18288">
                    <a:solidFill>
                      <a:srgbClr val="EEF3F8"/>
                    </a:solidFill>
                  </a:tcPr>
                </a:tc>
                <a:tc>
                  <a:txBody>
                    <a:bodyPr/>
                    <a:lstStyle/>
                    <a:p>
                      <a:r>
                        <a:rPr sz="2600">
                          <a:solidFill>
                            <a:srgbClr val="222222"/>
                          </a:solidFill>
                          <a:latin typeface="Calibri"/>
                        </a:rPr>
                        <a:t>The computer doesn't know this word. The next line guesses: suggested alternative: 'setLight'</a:t>
                      </a:r>
                    </a:p>
                  </a:txBody>
                  <a:tcPr marL="73152" marT="18288" marB="18288">
                    <a:solidFill>
                      <a:srgbClr val="EEF3F8"/>
                    </a:solidFill>
                  </a:tcPr>
                </a:tc>
              </a:tr>
              <a:tr h="901700">
                <a:tc>
                  <a:txBody>
                    <a:bodyPr/>
                    <a:lstStyle/>
                    <a:p>
                      <a:r>
                        <a:rPr sz="2600">
                          <a:solidFill>
                            <a:srgbClr val="222222"/>
                          </a:solidFill>
                          <a:latin typeface="Calibri"/>
                        </a:rPr>
                        <a:t>'BLEU' was not declared in this scope</a:t>
                      </a:r>
                    </a:p>
                  </a:txBody>
                  <a:tcPr marL="73152" marT="18288" marB="18288">
                    <a:solidFill>
                      <a:srgbClr val="FFFFFF"/>
                    </a:solidFill>
                  </a:tcPr>
                </a:tc>
                <a:tc>
                  <a:txBody>
                    <a:bodyPr/>
                    <a:lstStyle/>
                    <a:p>
                      <a:r>
                        <a:rPr sz="2600">
                          <a:solidFill>
                            <a:srgbClr val="222222"/>
                          </a:solidFill>
                          <a:latin typeface="Calibri"/>
                        </a:rPr>
                        <a:t>It doesn't know this word either. It suggests 'BLUE'.</a:t>
                      </a:r>
                    </a:p>
                  </a:txBody>
                  <a:tcPr marL="73152" marT="18288" marB="18288">
                    <a:solidFill>
                      <a:srgbClr val="FFFFFF"/>
                    </a:solidFill>
                  </a:tcPr>
                </a:tc>
              </a:tr>
            </a:tbl>
          </a:graphicData>
        </a:graphic>
      </p:graphicFrame>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One bug can hide another. Fix the semicolon, and the setlight bug appears.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Bug hunt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MISSION:   </a:t>
            </a:r>
            <a:r>
              <a:rPr sz="1500" b="1">
                <a:solidFill>
                  <a:srgbClr val="FFFFFF"/>
                </a:solidFill>
                <a:latin typeface="Consolas"/>
              </a:rPr>
              <a:t>e02b_bug_hunt</a:t>
            </a:r>
            <a:r>
              <a:rPr sz="1200">
                <a:solidFill>
                  <a:srgbClr val="FFFFFF"/>
                </a:solidFill>
                <a:latin typeface="Calibri"/>
              </a:rPr>
              <a:t>     (12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700" b="0">
                <a:solidFill>
                  <a:srgbClr val="222222"/>
                </a:solidFill>
                <a:latin typeface="Calibri"/>
              </a:defRPr>
            </a:pPr>
            <a:r>
              <a:rPr sz="2700" b="0">
                <a:solidFill>
                  <a:srgbClr val="222222"/>
                </a:solidFill>
                <a:latin typeface="Calibri"/>
              </a:rPr>
              <a:t>Open e02b_bug_hunt.</a:t>
            </a:r>
          </a:p>
          <a:p>
            <a:pPr algn="l">
              <a:lnSpc>
                <a:spcPct val="100000"/>
              </a:lnSpc>
              <a:spcAft>
                <a:spcPts val="800"/>
              </a:spcAft>
              <a:defRPr sz="2700" b="0">
                <a:solidFill>
                  <a:srgbClr val="222222"/>
                </a:solidFill>
                <a:latin typeface="Calibri"/>
              </a:defRPr>
            </a:pPr>
            <a:r>
              <a:rPr sz="2700" b="0">
                <a:solidFill>
                  <a:srgbClr val="222222"/>
                </a:solidFill>
                <a:latin typeface="Calibri"/>
              </a:rPr>
              <a:t>Click Verify (the check mark). Read the FIRST message.</a:t>
            </a:r>
          </a:p>
          <a:p>
            <a:pPr algn="l">
              <a:lnSpc>
                <a:spcPct val="100000"/>
              </a:lnSpc>
              <a:spcAft>
                <a:spcPts val="800"/>
              </a:spcAft>
              <a:defRPr sz="2700" b="0">
                <a:solidFill>
                  <a:srgbClr val="222222"/>
                </a:solidFill>
                <a:latin typeface="Calibri"/>
              </a:defRPr>
            </a:pPr>
            <a:r>
              <a:rPr sz="2700" b="0">
                <a:solidFill>
                  <a:srgbClr val="222222"/>
                </a:solidFill>
                <a:latin typeface="Calibri"/>
              </a:rPr>
              <a:t>Go to the line it names. Fix that ONE bug.</a:t>
            </a:r>
          </a:p>
          <a:p>
            <a:pPr algn="l">
              <a:lnSpc>
                <a:spcPct val="100000"/>
              </a:lnSpc>
              <a:spcAft>
                <a:spcPts val="800"/>
              </a:spcAft>
              <a:defRPr sz="2700" b="0">
                <a:solidFill>
                  <a:srgbClr val="222222"/>
                </a:solidFill>
                <a:latin typeface="Calibri"/>
              </a:defRPr>
            </a:pPr>
            <a:r>
              <a:rPr sz="2700" b="0">
                <a:solidFill>
                  <a:srgbClr val="222222"/>
                </a:solidFill>
                <a:latin typeface="Calibri"/>
              </a:rPr>
              <a:t>Verify again. Repeat until it says "Done compiling".</a:t>
            </a:r>
          </a:p>
          <a:p>
            <a:pPr algn="l">
              <a:lnSpc>
                <a:spcPct val="100000"/>
              </a:lnSpc>
              <a:spcAft>
                <a:spcPts val="800"/>
              </a:spcAft>
              <a:defRPr sz="2700" b="0">
                <a:solidFill>
                  <a:srgbClr val="222222"/>
                </a:solidFill>
                <a:latin typeface="Calibri"/>
              </a:defRPr>
            </a:pPr>
            <a:r>
              <a:rPr sz="2700" b="0">
                <a:solidFill>
                  <a:srgbClr val="222222"/>
                </a:solidFill>
                <a:latin typeface="Calibri"/>
              </a:rPr>
              <a:t>Upload it. Lights 0, 1 and 2 come on.</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360833"/>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Green, yellow and blue lights at the front left</a:t>
            </a:r>
          </a:p>
        </p:txBody>
      </p:sp>
      <p:sp>
        <p:nvSpPr>
          <p:cNvPr id="10" name="TextBox 9"/>
          <p:cNvSpPr txBox="1"/>
          <p:nvPr/>
        </p:nvSpPr>
        <p:spPr>
          <a:xfrm>
            <a:off x="7163537" y="3738273"/>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140609"/>
            <a:ext cx="4525238" cy="2123030"/>
          </a:xfrm>
          <a:prstGeom prst="rect">
            <a:avLst/>
          </a:prstGeom>
          <a:noFill/>
        </p:spPr>
        <p:txBody>
          <a:bodyPr wrap="square" lIns="0" tIns="0" rIns="0" bIns="0">
            <a:spAutoFit/>
          </a:bodyPr>
          <a:lstStyle/>
          <a:p>
            <a:pPr algn="l">
              <a:lnSpc>
                <a:spcPct val="100000"/>
              </a:lnSpc>
              <a:spcAft>
                <a:spcPts val="600"/>
              </a:spcAft>
              <a:defRPr sz="3000" b="0">
                <a:solidFill>
                  <a:srgbClr val="222222"/>
                </a:solidFill>
                <a:latin typeface="Calibri"/>
              </a:defRPr>
            </a:pPr>
            <a:r>
              <a:rPr sz="3000" b="0">
                <a:solidFill>
                  <a:srgbClr val="222222"/>
                </a:solidFill>
                <a:latin typeface="Calibri"/>
              </a:rPr>
              <a:t>Which bug was hardest to find?</a:t>
            </a:r>
          </a:p>
          <a:p>
            <a:pPr algn="l">
              <a:lnSpc>
                <a:spcPct val="100000"/>
              </a:lnSpc>
              <a:spcAft>
                <a:spcPts val="600"/>
              </a:spcAft>
              <a:defRPr sz="3000" b="0">
                <a:solidFill>
                  <a:srgbClr val="222222"/>
                </a:solidFill>
                <a:latin typeface="Calibri"/>
              </a:defRPr>
            </a:pPr>
            <a:r>
              <a:rPr sz="3000" b="0">
                <a:solidFill>
                  <a:srgbClr val="222222"/>
                </a:solidFill>
                <a:latin typeface="Calibri"/>
              </a:rPr>
              <a:t>Why did one bug hide until you fixed another?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New words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graphicFrame>
        <p:nvGraphicFramePr>
          <p:cNvPr id="6" name="Table 5"/>
          <p:cNvGraphicFramePr>
            <a:graphicFrameLocks noGrp="1"/>
          </p:cNvGraphicFramePr>
          <p:nvPr/>
        </p:nvGraphicFramePr>
        <p:xfrm>
          <a:off x="502920" y="1188720"/>
          <a:ext cx="11185854" cy="5054600"/>
        </p:xfrm>
        <a:graphic>
          <a:graphicData uri="http://schemas.openxmlformats.org/drawingml/2006/table">
            <a:tbl>
              <a:tblPr firstRow="1" bandRow="1">
                <a:tableStyleId>{5C22544A-7EE6-4342-B048-85BDC9FD1C3A}</a:tableStyleId>
              </a:tblPr>
              <a:tblGrid>
                <a:gridCol w="2743700"/>
                <a:gridCol w="8442154"/>
              </a:tblGrid>
              <a:tr h="631825">
                <a:tc>
                  <a:txBody>
                    <a:bodyPr/>
                    <a:lstStyle/>
                    <a:p>
                      <a:r>
                        <a:rPr sz="2800" b="1">
                          <a:solidFill>
                            <a:srgbClr val="FFFFFF"/>
                          </a:solidFill>
                          <a:latin typeface="Calibri"/>
                        </a:rPr>
                        <a:t>Word</a:t>
                      </a:r>
                    </a:p>
                  </a:txBody>
                  <a:tcPr marL="73152" marT="18288" marB="18288">
                    <a:solidFill>
                      <a:srgbClr val="1F3A5F"/>
                    </a:solidFill>
                  </a:tcPr>
                </a:tc>
                <a:tc>
                  <a:txBody>
                    <a:bodyPr/>
                    <a:lstStyle/>
                    <a:p>
                      <a:r>
                        <a:rPr sz="2800" b="1">
                          <a:solidFill>
                            <a:srgbClr val="FFFFFF"/>
                          </a:solidFill>
                          <a:latin typeface="Calibri"/>
                        </a:rPr>
                        <a:t>What it means</a:t>
                      </a:r>
                    </a:p>
                  </a:txBody>
                  <a:tcPr marL="73152" marT="18288" marB="18288">
                    <a:solidFill>
                      <a:srgbClr val="1F3A5F"/>
                    </a:solidFill>
                  </a:tcPr>
                </a:tc>
              </a:tr>
              <a:tr h="631825">
                <a:tc>
                  <a:txBody>
                    <a:bodyPr/>
                    <a:lstStyle/>
                    <a:p>
                      <a:r>
                        <a:rPr sz="2800">
                          <a:solidFill>
                            <a:srgbClr val="222222"/>
                          </a:solidFill>
                          <a:latin typeface="Calibri"/>
                        </a:rPr>
                        <a:t>Program</a:t>
                      </a:r>
                    </a:p>
                  </a:txBody>
                  <a:tcPr marL="73152" marT="18288" marB="18288">
                    <a:solidFill>
                      <a:srgbClr val="FFFFFF"/>
                    </a:solidFill>
                  </a:tcPr>
                </a:tc>
                <a:tc>
                  <a:txBody>
                    <a:bodyPr/>
                    <a:lstStyle/>
                    <a:p>
                      <a:r>
                        <a:rPr sz="2800">
                          <a:solidFill>
                            <a:srgbClr val="222222"/>
                          </a:solidFill>
                          <a:latin typeface="Calibri"/>
                        </a:rPr>
                        <a:t>A list of instructions for a computer</a:t>
                      </a:r>
                    </a:p>
                  </a:txBody>
                  <a:tcPr marL="73152" marT="18288" marB="18288">
                    <a:solidFill>
                      <a:srgbClr val="FFFFFF"/>
                    </a:solidFill>
                  </a:tcPr>
                </a:tc>
              </a:tr>
              <a:tr h="631825">
                <a:tc>
                  <a:txBody>
                    <a:bodyPr/>
                    <a:lstStyle/>
                    <a:p>
                      <a:r>
                        <a:rPr sz="2800">
                          <a:solidFill>
                            <a:srgbClr val="222222"/>
                          </a:solidFill>
                          <a:latin typeface="Calibri"/>
                        </a:rPr>
                        <a:t>Upload</a:t>
                      </a:r>
                    </a:p>
                  </a:txBody>
                  <a:tcPr marL="73152" marT="18288" marB="18288">
                    <a:solidFill>
                      <a:srgbClr val="EEF3F8"/>
                    </a:solidFill>
                  </a:tcPr>
                </a:tc>
                <a:tc>
                  <a:txBody>
                    <a:bodyPr/>
                    <a:lstStyle/>
                    <a:p>
                      <a:r>
                        <a:rPr sz="2800">
                          <a:solidFill>
                            <a:srgbClr val="222222"/>
                          </a:solidFill>
                          <a:latin typeface="Calibri"/>
                        </a:rPr>
                        <a:t>Send your program down the cable to the vehicle</a:t>
                      </a:r>
                    </a:p>
                  </a:txBody>
                  <a:tcPr marL="73152" marT="18288" marB="18288">
                    <a:solidFill>
                      <a:srgbClr val="EEF3F8"/>
                    </a:solidFill>
                  </a:tcPr>
                </a:tc>
              </a:tr>
              <a:tr h="631825">
                <a:tc>
                  <a:txBody>
                    <a:bodyPr/>
                    <a:lstStyle/>
                    <a:p>
                      <a:r>
                        <a:rPr sz="2800">
                          <a:solidFill>
                            <a:srgbClr val="222222"/>
                          </a:solidFill>
                          <a:latin typeface="Consolas"/>
                        </a:rPr>
                        <a:t>setup()</a:t>
                      </a:r>
                    </a:p>
                  </a:txBody>
                  <a:tcPr marL="73152" marT="18288" marB="18288">
                    <a:solidFill>
                      <a:srgbClr val="FFFFFF"/>
                    </a:solidFill>
                  </a:tcPr>
                </a:tc>
                <a:tc>
                  <a:txBody>
                    <a:bodyPr/>
                    <a:lstStyle/>
                    <a:p>
                      <a:r>
                        <a:rPr sz="2800">
                          <a:solidFill>
                            <a:srgbClr val="222222"/>
                          </a:solidFill>
                          <a:latin typeface="Calibri"/>
                        </a:rPr>
                        <a:t>The part of a program that runs ONCE</a:t>
                      </a:r>
                    </a:p>
                  </a:txBody>
                  <a:tcPr marL="73152" marT="18288" marB="18288">
                    <a:solidFill>
                      <a:srgbClr val="FFFFFF"/>
                    </a:solidFill>
                  </a:tcPr>
                </a:tc>
              </a:tr>
              <a:tr h="631825">
                <a:tc>
                  <a:txBody>
                    <a:bodyPr/>
                    <a:lstStyle/>
                    <a:p>
                      <a:r>
                        <a:rPr sz="2800">
                          <a:solidFill>
                            <a:srgbClr val="222222"/>
                          </a:solidFill>
                          <a:latin typeface="Consolas"/>
                        </a:rPr>
                        <a:t>loop()</a:t>
                      </a:r>
                    </a:p>
                  </a:txBody>
                  <a:tcPr marL="73152" marT="18288" marB="18288">
                    <a:solidFill>
                      <a:srgbClr val="EEF3F8"/>
                    </a:solidFill>
                  </a:tcPr>
                </a:tc>
                <a:tc>
                  <a:txBody>
                    <a:bodyPr/>
                    <a:lstStyle/>
                    <a:p>
                      <a:r>
                        <a:rPr sz="2800">
                          <a:solidFill>
                            <a:srgbClr val="222222"/>
                          </a:solidFill>
                          <a:latin typeface="Calibri"/>
                        </a:rPr>
                        <a:t>The part that runs OVER AND OVER</a:t>
                      </a:r>
                    </a:p>
                  </a:txBody>
                  <a:tcPr marL="73152" marT="18288" marB="18288">
                    <a:solidFill>
                      <a:srgbClr val="EEF3F8"/>
                    </a:solidFill>
                  </a:tcPr>
                </a:tc>
              </a:tr>
              <a:tr h="631825">
                <a:tc>
                  <a:txBody>
                    <a:bodyPr/>
                    <a:lstStyle/>
                    <a:p>
                      <a:r>
                        <a:rPr sz="2800">
                          <a:solidFill>
                            <a:srgbClr val="222222"/>
                          </a:solidFill>
                          <a:latin typeface="Calibri"/>
                        </a:rPr>
                        <a:t>Bug</a:t>
                      </a:r>
                    </a:p>
                  </a:txBody>
                  <a:tcPr marL="73152" marT="18288" marB="18288">
                    <a:solidFill>
                      <a:srgbClr val="FFFFFF"/>
                    </a:solidFill>
                  </a:tcPr>
                </a:tc>
                <a:tc>
                  <a:txBody>
                    <a:bodyPr/>
                    <a:lstStyle/>
                    <a:p>
                      <a:r>
                        <a:rPr sz="2800">
                          <a:solidFill>
                            <a:srgbClr val="222222"/>
                          </a:solidFill>
                          <a:latin typeface="Calibri"/>
                        </a:rPr>
                        <a:t>A mistake in a program</a:t>
                      </a:r>
                    </a:p>
                  </a:txBody>
                  <a:tcPr marL="73152" marT="18288" marB="18288">
                    <a:solidFill>
                      <a:srgbClr val="FFFFFF"/>
                    </a:solidFill>
                  </a:tcPr>
                </a:tc>
              </a:tr>
              <a:tr h="631825">
                <a:tc>
                  <a:txBody>
                    <a:bodyPr/>
                    <a:lstStyle/>
                    <a:p>
                      <a:r>
                        <a:rPr sz="2800">
                          <a:solidFill>
                            <a:srgbClr val="222222"/>
                          </a:solidFill>
                          <a:latin typeface="Calibri"/>
                        </a:rPr>
                        <a:t>Debugging</a:t>
                      </a:r>
                    </a:p>
                  </a:txBody>
                  <a:tcPr marL="73152" marT="18288" marB="18288">
                    <a:solidFill>
                      <a:srgbClr val="EEF3F8"/>
                    </a:solidFill>
                  </a:tcPr>
                </a:tc>
                <a:tc>
                  <a:txBody>
                    <a:bodyPr/>
                    <a:lstStyle/>
                    <a:p>
                      <a:r>
                        <a:rPr sz="2800">
                          <a:solidFill>
                            <a:srgbClr val="222222"/>
                          </a:solidFill>
                          <a:latin typeface="Calibri"/>
                        </a:rPr>
                        <a:t>Finding and fixing bugs</a:t>
                      </a:r>
                    </a:p>
                  </a:txBody>
                  <a:tcPr marL="73152" marT="18288" marB="18288">
                    <a:solidFill>
                      <a:srgbClr val="EEF3F8"/>
                    </a:solidFill>
                  </a:tcPr>
                </a:tc>
              </a:tr>
              <a:tr h="631825">
                <a:tc>
                  <a:txBody>
                    <a:bodyPr/>
                    <a:lstStyle/>
                    <a:p>
                      <a:r>
                        <a:rPr sz="2800">
                          <a:solidFill>
                            <a:srgbClr val="222222"/>
                          </a:solidFill>
                          <a:latin typeface="Calibri"/>
                        </a:rPr>
                        <a:t>Comment</a:t>
                      </a:r>
                    </a:p>
                  </a:txBody>
                  <a:tcPr marL="73152" marT="18288" marB="18288">
                    <a:solidFill>
                      <a:srgbClr val="FFFFFF"/>
                    </a:solidFill>
                  </a:tcPr>
                </a:tc>
                <a:tc>
                  <a:txBody>
                    <a:bodyPr/>
                    <a:lstStyle/>
                    <a:p>
                      <a:r>
                        <a:rPr sz="2800">
                          <a:solidFill>
                            <a:srgbClr val="222222"/>
                          </a:solidFill>
                          <a:latin typeface="Calibri"/>
                        </a:rPr>
                        <a:t>A note for people, after //. The computer skips it.</a:t>
                      </a:r>
                    </a:p>
                  </a:txBody>
                  <a:tcPr marL="73152" marT="18288" marB="18288">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1400"/>
              </a:spcAft>
              <a:defRPr sz="3000" b="0">
                <a:solidFill>
                  <a:srgbClr val="222222"/>
                </a:solidFill>
                <a:latin typeface="Calibri"/>
              </a:defRPr>
            </a:pPr>
            <a:r>
              <a:rPr sz="3000" b="0">
                <a:solidFill>
                  <a:srgbClr val="222222"/>
                </a:solidFill>
                <a:latin typeface="Calibri"/>
              </a:rPr>
              <a:t>1.  Your instructions have a mistake. What does the robot do?</a:t>
            </a:r>
          </a:p>
          <a:p>
            <a:pPr algn="l">
              <a:lnSpc>
                <a:spcPct val="100000"/>
              </a:lnSpc>
              <a:spcAft>
                <a:spcPts val="1400"/>
              </a:spcAft>
              <a:defRPr sz="3000" b="0">
                <a:solidFill>
                  <a:srgbClr val="222222"/>
                </a:solidFill>
                <a:latin typeface="Calibri"/>
              </a:defRPr>
            </a:pPr>
            <a:r>
              <a:rPr sz="3000" b="0">
                <a:solidFill>
                  <a:srgbClr val="222222"/>
                </a:solidFill>
                <a:latin typeface="Calibri"/>
              </a:rPr>
              <a:t>2.  How many times does setup() run? And loop()?</a:t>
            </a:r>
          </a:p>
          <a:p>
            <a:pPr algn="l">
              <a:lnSpc>
                <a:spcPct val="100000"/>
              </a:lnSpc>
              <a:spcAft>
                <a:spcPts val="1400"/>
              </a:spcAft>
              <a:defRPr sz="3000" b="0">
                <a:solidFill>
                  <a:srgbClr val="222222"/>
                </a:solidFill>
                <a:latin typeface="Calibri"/>
              </a:defRPr>
            </a:pPr>
            <a:r>
              <a:rPr sz="3000" b="0">
                <a:solidFill>
                  <a:srgbClr val="222222"/>
                </a:solidFill>
                <a:latin typeface="Calibri"/>
              </a:rPr>
              <a:t>3.  What does delay(1000) do?</a:t>
            </a:r>
          </a:p>
          <a:p>
            <a:pPr algn="l">
              <a:lnSpc>
                <a:spcPct val="100000"/>
              </a:lnSpc>
              <a:spcAft>
                <a:spcPts val="1400"/>
              </a:spcAft>
              <a:defRPr sz="3000" b="0">
                <a:solidFill>
                  <a:srgbClr val="222222"/>
                </a:solidFill>
                <a:latin typeface="Calibri"/>
              </a:defRPr>
            </a:pPr>
            <a:r>
              <a:rPr sz="3000" b="0">
                <a:solidFill>
                  <a:srgbClr val="222222"/>
                </a:solidFill>
                <a:latin typeface="Calibri"/>
              </a:rPr>
              <a:t>4.  What's a bug? What's debugging?</a:t>
            </a:r>
          </a:p>
          <a:p>
            <a:pPr algn="l">
              <a:lnSpc>
                <a:spcPct val="100000"/>
              </a:lnSpc>
              <a:spcAft>
                <a:spcPts val="1400"/>
              </a:spcAft>
              <a:defRPr sz="3000" b="0">
                <a:solidFill>
                  <a:srgbClr val="222222"/>
                </a:solidFill>
                <a:latin typeface="Calibri"/>
              </a:defRPr>
            </a:pPr>
            <a:r>
              <a:rPr sz="3000" b="0">
                <a:solidFill>
                  <a:srgbClr val="222222"/>
                </a:solidFill>
                <a:latin typeface="Calibri"/>
              </a:rPr>
              <a:t>5.  The message says expected ';'. What do you check?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Mission Log, then pack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Explorers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4742670"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In your Mission Log</a:t>
            </a:r>
          </a:p>
        </p:txBody>
      </p:sp>
      <p:sp>
        <p:nvSpPr>
          <p:cNvPr id="7" name="TextBox 6"/>
          <p:cNvSpPr txBox="1"/>
          <p:nvPr/>
        </p:nvSpPr>
        <p:spPr>
          <a:xfrm>
            <a:off x="502920" y="1700784"/>
            <a:ext cx="4742670" cy="3474720"/>
          </a:xfrm>
          <a:prstGeom prst="rect">
            <a:avLst/>
          </a:prstGeom>
          <a:noFill/>
        </p:spPr>
        <p:txBody>
          <a:bodyPr wrap="square" lIns="0" tIns="0" rIns="0" bIns="0">
            <a:spAutoFit/>
          </a:bodyPr>
          <a:lstStyle/>
          <a:p>
            <a:pPr algn="l">
              <a:lnSpc>
                <a:spcPct val="100000"/>
              </a:lnSpc>
              <a:spcAft>
                <a:spcPts val="800"/>
              </a:spcAft>
              <a:defRPr sz="2900" b="0">
                <a:solidFill>
                  <a:srgbClr val="222222"/>
                </a:solidFill>
                <a:latin typeface="Calibri"/>
              </a:defRPr>
            </a:pPr>
            <a:r>
              <a:rPr sz="2900" b="0">
                <a:solidFill>
                  <a:srgbClr val="222222"/>
                </a:solidFill>
                <a:latin typeface="Calibri"/>
              </a:rPr>
              <a:t>Write the three bugs you found, and how you fixed each one</a:t>
            </a:r>
          </a:p>
          <a:p>
            <a:pPr algn="l">
              <a:lnSpc>
                <a:spcPct val="100000"/>
              </a:lnSpc>
              <a:spcAft>
                <a:spcPts val="800"/>
              </a:spcAft>
              <a:defRPr sz="2900" b="0">
                <a:solidFill>
                  <a:srgbClr val="222222"/>
                </a:solidFill>
                <a:latin typeface="Calibri"/>
              </a:defRPr>
            </a:pPr>
            <a:r>
              <a:rPr sz="2900" b="0">
                <a:solidFill>
                  <a:srgbClr val="222222"/>
                </a:solidFill>
                <a:latin typeface="Calibri"/>
              </a:rPr>
              <a:t>Fill in the two parts of every program</a:t>
            </a:r>
          </a:p>
          <a:p>
            <a:pPr algn="l">
              <a:lnSpc>
                <a:spcPct val="100000"/>
              </a:lnSpc>
              <a:spcAft>
                <a:spcPts val="800"/>
              </a:spcAft>
              <a:defRPr sz="2900" b="0">
                <a:solidFill>
                  <a:srgbClr val="222222"/>
                </a:solidFill>
                <a:latin typeface="Calibri"/>
              </a:defRPr>
            </a:pPr>
            <a:r>
              <a:rPr sz="2900" b="0">
                <a:solidFill>
                  <a:srgbClr val="222222"/>
                </a:solidFill>
                <a:latin typeface="Calibri"/>
              </a:rPr>
              <a:t>Stamp: Bug Hunter</a:t>
            </a:r>
          </a:p>
        </p:txBody>
      </p:sp>
      <p:sp>
        <p:nvSpPr>
          <p:cNvPr id="8" name="TextBox 7"/>
          <p:cNvSpPr txBox="1"/>
          <p:nvPr/>
        </p:nvSpPr>
        <p:spPr>
          <a:xfrm>
            <a:off x="5702790" y="1188720"/>
            <a:ext cx="5985985"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Pack up</a:t>
            </a:r>
          </a:p>
        </p:txBody>
      </p:sp>
      <p:sp>
        <p:nvSpPr>
          <p:cNvPr id="9" name="TextBox 8"/>
          <p:cNvSpPr txBox="1"/>
          <p:nvPr/>
        </p:nvSpPr>
        <p:spPr>
          <a:xfrm>
            <a:off x="5702790" y="1700784"/>
            <a:ext cx="5985985" cy="3474720"/>
          </a:xfrm>
          <a:prstGeom prst="rect">
            <a:avLst/>
          </a:prstGeom>
          <a:noFill/>
        </p:spPr>
        <p:txBody>
          <a:bodyPr wrap="square" lIns="0" tIns="0" rIns="0" bIns="0">
            <a:spAutoFit/>
          </a:bodyPr>
          <a:lstStyle/>
          <a:p>
            <a:pPr algn="l">
              <a:lnSpc>
                <a:spcPct val="100000"/>
              </a:lnSpc>
              <a:spcAft>
                <a:spcPts val="800"/>
              </a:spcAft>
              <a:defRPr sz="2900" b="0">
                <a:solidFill>
                  <a:srgbClr val="222222"/>
                </a:solidFill>
                <a:latin typeface="Calibri"/>
              </a:defRPr>
            </a:pPr>
            <a:r>
              <a:rPr sz="2900" b="0">
                <a:solidFill>
                  <a:srgbClr val="222222"/>
                </a:solidFill>
                <a:latin typeface="Calibri"/>
              </a:rPr>
              <a:t>Crew Chief: vehicle power OFF.</a:t>
            </a:r>
          </a:p>
          <a:p>
            <a:pPr algn="l">
              <a:lnSpc>
                <a:spcPct val="100000"/>
              </a:lnSpc>
              <a:spcAft>
                <a:spcPts val="800"/>
              </a:spcAft>
              <a:defRPr sz="2900" b="0">
                <a:solidFill>
                  <a:srgbClr val="222222"/>
                </a:solidFill>
                <a:latin typeface="Calibri"/>
              </a:defRPr>
            </a:pPr>
            <a:r>
              <a:rPr sz="2900" b="0">
                <a:solidFill>
                  <a:srgbClr val="222222"/>
                </a:solidFill>
                <a:latin typeface="Calibri"/>
              </a:rPr>
              <a:t>Unplug the cable and coil it up.</a:t>
            </a:r>
          </a:p>
          <a:p>
            <a:pPr algn="l">
              <a:lnSpc>
                <a:spcPct val="100000"/>
              </a:lnSpc>
              <a:spcAft>
                <a:spcPts val="800"/>
              </a:spcAft>
              <a:defRPr sz="2900" b="0">
                <a:solidFill>
                  <a:srgbClr val="222222"/>
                </a:solidFill>
                <a:latin typeface="Calibri"/>
              </a:defRPr>
            </a:pPr>
            <a:r>
              <a:rPr sz="2900" b="0">
                <a:solidFill>
                  <a:srgbClr val="222222"/>
                </a:solidFill>
                <a:latin typeface="Calibri"/>
              </a:rPr>
              <a:t>Vehicle and controller back in their spot, stickers matching.</a:t>
            </a:r>
          </a:p>
          <a:p>
            <a:pPr algn="l">
              <a:lnSpc>
                <a:spcPct val="100000"/>
              </a:lnSpc>
              <a:spcAft>
                <a:spcPts val="800"/>
              </a:spcAft>
              <a:defRPr sz="2900" b="0">
                <a:solidFill>
                  <a:srgbClr val="222222"/>
                </a:solidFill>
                <a:latin typeface="Calibri"/>
              </a:defRPr>
            </a:pPr>
            <a:r>
              <a:rPr sz="2900" b="0">
                <a:solidFill>
                  <a:srgbClr val="222222"/>
                </a:solidFill>
                <a:latin typeface="Calibri"/>
              </a:rPr>
              <a:t>Close the laptop. Push your chairs in.</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Last job: every team member says one thing they learned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