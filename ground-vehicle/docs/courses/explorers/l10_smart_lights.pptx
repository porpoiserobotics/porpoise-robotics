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car-light homework idea for the lesson before: 'next time you're in a car, watch the lights of the car in front.' It makes the warm-up much livelier.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Read them out. The last one is the clever idea of the day - save some energy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Take answers for each one before moving on: braking, reversing, turning.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Put the agenda on the board as well, with the driving or uploading block circled. Students settle when they can see when the hands-on part starts.</a:t>
            </a:r>
          </a:p>
          <a:p>
            <a:r>
              <a:rPr sz="1200">
                <a:latin typeface="Calibri"/>
              </a:rPr>
              <a:t>The timings are a guide for a one-hour session. If the hands-on block runs long, take the time out of the check yourself questions, never out of the pack-up - a rushed pack-up is how cables and controllers go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Lights are about OTHER people: drivers behind you, people crossing the street. Ask who the backup light is for. (Anybody behind the car - especially small people who are hard to see.)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Each little vehicle is seen from above, front at the top. The strip across the top is the front lights, the strip across the bottom is the back lights.</a:t>
            </a:r>
          </a:p>
          <a:p>
            <a:r>
              <a:rPr sz="1200">
                <a:latin typeface="Calibri"/>
              </a:rPr>
              <a:t>Ask who has noticed a car's brake lights get BRIGHTER when it stops, or white lights come on at the back when it reverses. These are the same rules, and everybody on the road knows them.</a:t>
            </a:r>
          </a:p>
          <a:p>
            <a:r>
              <a:rPr sz="1200">
                <a:latin typeface="Calibri"/>
              </a:rPr>
              <a:t>Turning right: orange on the RIGHT side, front and back. Point out that on our vehicle the right side is two separate pieces of the light loop - it's why setRightLights()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Both photographs show the front of the vehicle, so you can only see the front lights. The back lights on the same side are blinking too, just like a 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The program reads the same stick numbers it drives with. forward bigger than zero means going forward.</a:t>
            </a:r>
          </a:p>
          <a:p>
            <a:r>
              <a:rPr sz="1200">
                <a:latin typeface="Calibri"/>
              </a:rPr>
              <a:t>'else if' makes a three-way choice. Exactly ONE of the three back-light lines runs each time round.</a:t>
            </a:r>
          </a:p>
          <a:p>
            <a:r>
              <a:rPr sz="1200">
                <a:latin typeface="Calibri"/>
              </a:rPr>
              <a:t>Why lightsOff() first? So that lights from last time - like a turn signal - don't stay stuck on. The engine room only sends the finished picture to the lights, so they don't flicker.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Un-commenting is satisfying and quick, but watch for teams that remove the // from the LEVEL 2 heading too - that line isn't code and won't compile. The error message will point straight at it.</a:t>
            </a:r>
          </a:p>
          <a:p>
            <a:r>
              <a:rPr sz="1200">
                <a:latin typeface="Calibri"/>
              </a:rPr>
              <a:t>Answers: so old lights don't stay on; forward and turn are both 0.</a:t>
            </a:r>
          </a:p>
          <a:p>
            <a:r>
              <a:rPr sz="1200">
                <a:latin typeface="Calibri"/>
              </a:rPr>
              <a:t>The turn signals are solid, not blinking, at this stage. That's the next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If you want to prove it, add a delay(400) to loop() on your own vehicle and let a student try to drive it. It's horrible, and they'll never forget it. Take it out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Top row: each grey block is a delay(). While the rover is inside it, it's asleep. It doesn't read the stick, so if you steer during a nap, nothing happens until it wakes up.</a:t>
            </a:r>
          </a:p>
          <a:p>
            <a:r>
              <a:rPr sz="1200">
                <a:latin typeface="Calibri"/>
              </a:rPr>
              <a:t>Bottom row: blinkIsOn() just glances at the clock and answers yes or no straight away, so loop() goes round thousands of times a second and catches your stick instantly.</a:t>
            </a:r>
          </a:p>
          <a:p>
            <a:r>
              <a:rPr sz="1200">
                <a:latin typeface="Calibri"/>
              </a:rPr>
              <a:t>Act it out: you're the rover. A student 'steers' by pointing left or right. Close your eyes and count to three before every look. Then do it with your eyes open, glancing at a clock. The class will feel the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% means 'the remainder after dividing'. Any number % 2 is 0 for even numbers and 1 for odd ones. That's for your older students; the younger ones need only 'it flips every 0.4 seconds, and answers instantly'.</a:t>
            </a:r>
          </a:p>
          <a:p>
            <a:r>
              <a:rPr sz="1200">
                <a:latin typeface="Calibri"/>
              </a:rPr>
              <a:t>Worked example: at 1000 ms, 1000 / 400 = 2 (computers drop the leftover), and 2 is even, so the light is on. At 1300 ms, 1300 / 400 = 3, odd,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The headlight switch, for you: bool headlightsOn = true; at the top. In loop(): if (tappedY()) { headlightsOn = !headlightsOn; } and wrap setFrontLights(WHITE) in if (headlightsOn) { ... }. The ! means 'the opposite of'.</a:t>
            </a:r>
          </a:p>
          <a:p>
            <a:r>
              <a:rPr sz="1200">
                <a:latin typeface="Calibri"/>
              </a:rPr>
              <a:t>Answer: &amp;&amp; means both must be true - turning right AND the clock says 'on'. Half the time the clock says off, so the light goes off.</a:t>
            </a:r>
          </a:p>
          <a:p>
            <a:r>
              <a:rPr sz="1200">
                <a:latin typeface="Calibri"/>
              </a:rPr>
              <a:t>Teams that finish can attempt the Expert License: the test course at 75, with a signal on every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This is the top of the license ladder, and it's earned, not given. A team that drives recklessly at full power goes back to 75. Say so before anyone takes the test.</a:t>
            </a:r>
          </a:p>
          <a:p>
            <a:r>
              <a:rPr sz="1200">
                <a:latin typeface="Calibri"/>
              </a:rPr>
              <a:t>At full power the vehicle is genuinely quick. Make the arena bigger, or run Expert drives one vehicle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Read each word out and have the room say it back. Saying a word out loud is half of owning it.</a:t>
            </a:r>
          </a:p>
          <a:p>
            <a:r>
              <a:rPr sz="1200">
                <a:latin typeface="Calibri"/>
              </a:rPr>
              <a:t>These are also in the glossary at the back of the Mission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Answers: 1 stopping. 2 so old lights don't stay on. 3 loop() stops reading the stick while it waits. 4 tells you on or off, flipping every 0.4 s, without waiting. 5 the right side, front and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Next lesson is the design challenge. Ask teams to come with an upgrade idea in 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rpoi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762" y="457200"/>
            <a:ext cx="766013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51560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0E7C86"/>
                </a:solidFill>
                <a:latin typeface="Calibri"/>
              </a:defRPr>
            </a:pPr>
            <a:r>
              <a:rPr sz="1600" b="1">
                <a:solidFill>
                  <a:srgbClr val="0E7C86"/>
                </a:solidFill>
                <a:latin typeface="Calibri"/>
              </a:rPr>
              <a:t>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64922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4000" b="1">
                <a:solidFill>
                  <a:srgbClr val="1F3A5F"/>
                </a:solidFill>
                <a:latin typeface="Calibri"/>
              </a:defRPr>
            </a:pPr>
            <a:r>
              <a:rPr sz="4000" b="1">
                <a:solidFill>
                  <a:srgbClr val="1F3A5F"/>
                </a:solidFill>
                <a:latin typeface="Calibri"/>
              </a:rPr>
              <a:t>Smart 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54680"/>
            <a:ext cx="6492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222222"/>
                </a:solidFill>
                <a:latin typeface="Calibri"/>
              </a:defRPr>
            </a:pPr>
            <a:r>
              <a:rPr sz="1700" b="0">
                <a:solidFill>
                  <a:srgbClr val="222222"/>
                </a:solidFill>
                <a:latin typeface="Calibri"/>
              </a:rPr>
              <a:t>Lights that tell everybody what the vehicle is about to do - just like a real 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649224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 ROBOTICS  -  Precision Oceanographic Program On and In the Sea Environment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porpoiserobotics.org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Kevin Bowen, President  -  kbowen6@icloud.com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Malcom Graham, VP Education      Louis Parker, VP Technology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Valen Farre, System Engineer      Gary Howland, Animation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Eddie Revollo, Artificial Intelligence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Interns: Oscar Canazales, Krishnansh Vemulapalli, Soham Gangal, Erik Olsen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One hour.  Teams of three, one vehicle per team.</a:t>
            </a:r>
          </a:p>
        </p:txBody>
      </p:sp>
      <p:pic>
        <p:nvPicPr>
          <p:cNvPr id="8" name="Picture 7" descr="vehicle-turn-signal-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023110"/>
            <a:ext cx="4480560" cy="33604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4476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</a:rPr>
              <a:t>Porpoise Robotics - proprietary. For use with Porpoise Robotics lessons.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Today's 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By the end of today, you can: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85855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1.   Say what headlights, brake lights, backup lights and turn signals tell other people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2.   Make the lights change by themselves as you drive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3.   Add turn signals that blink on the correct side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4.   Explain why blinking with delay() would ruin your driving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Car-light spotting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Picture a car on the road. When does it show...</a:t>
            </a:r>
          </a:p>
          <a:p>
            <a:pPr lvl="1"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bright red at the back?</a:t>
            </a:r>
          </a:p>
          <a:p>
            <a:pPr lvl="1"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white at the back?</a:t>
            </a:r>
          </a:p>
          <a:p>
            <a:pPr lvl="1"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a blinking orange light?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Those lights are a LANGUAGE. Every driver knows it.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Today your vehicle learns to speak it. Switch jobs!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Today, in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3867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585"/>
                <a:gridCol w="10067269"/>
              </a:tblGrid>
              <a:tr h="55245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0:00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Warm-up: car-light spotting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0:05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What car lights mean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0:12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Upload e10a_smart_lights, then add turn signals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0:30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The nap problem, and blinkIsOn()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0:37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Make them blink, add a headlight switch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0:52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Mission Log and pack up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Lights that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Lights that 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Lights from driving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Blinking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language of car 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5060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29"/>
                <a:gridCol w="3660825"/>
                <a:gridCol w="4881100"/>
              </a:tblGrid>
              <a:tr h="843491">
                <a:tc>
                  <a:txBody>
                    <a:bodyPr/>
                    <a:lstStyle/>
                    <a:p>
                      <a:r>
                        <a:rPr sz="2900" b="1">
                          <a:solidFill>
                            <a:srgbClr val="FFFFFF"/>
                          </a:solidFill>
                          <a:latin typeface="Calibri"/>
                        </a:rPr>
                        <a:t>Light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 b="1">
                          <a:solidFill>
                            <a:srgbClr val="FFFFFF"/>
                          </a:solidFill>
                          <a:latin typeface="Calibri"/>
                        </a:rPr>
                        <a:t>Where, and what color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 b="1">
                          <a:solidFill>
                            <a:srgbClr val="FFFFFF"/>
                          </a:solidFill>
                          <a:latin typeface="Calibri"/>
                        </a:rPr>
                        <a:t>It says...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843491"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Headlights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Front, white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"I'm here, and I can see the road."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843491"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Tail lights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Back, dim red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"I'm here. This is my back."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843491"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Brake lights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Back, BRIGHT red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"I'm stopping!"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843491"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Backup lights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Back, white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"I'm backing up!"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843495"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Turn signal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Blinking orange, one side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"I'm about to turn THIS way."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What the lights say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2652445" cy="50292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200" b="1">
                <a:solidFill>
                  <a:srgbClr val="1F3A5F"/>
                </a:solidFill>
                <a:latin typeface="Calibri"/>
              </a:defRPr>
            </a:pPr>
            <a:r>
              <a:rPr sz="2200" b="1">
                <a:solidFill>
                  <a:srgbClr val="1F3A5F"/>
                </a:solidFill>
                <a:latin typeface="Calibri"/>
              </a:rPr>
              <a:t>Driving forward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874" y="2404872"/>
            <a:ext cx="219456" cy="480060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827874" y="3378708"/>
            <a:ext cx="219456" cy="480060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2610954" y="2404872"/>
            <a:ext cx="219456" cy="480060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2610954" y="3378708"/>
            <a:ext cx="219456" cy="480060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1029042" y="2331720"/>
            <a:ext cx="1600200" cy="1600200"/>
          </a:xfrm>
          <a:prstGeom prst="rect">
            <a:avLst/>
          </a:prstGeom>
          <a:solidFill>
            <a:srgbClr val="E8ECF0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1029042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1229067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1429092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1629117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1829142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2029167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2229192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2429217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1029042" y="3913632"/>
            <a:ext cx="200025" cy="201168"/>
          </a:xfrm>
          <a:prstGeom prst="rect">
            <a:avLst/>
          </a:prstGeom>
          <a:solidFill>
            <a:srgbClr val="7A141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1229067" y="3913632"/>
            <a:ext cx="200025" cy="201168"/>
          </a:xfrm>
          <a:prstGeom prst="rect">
            <a:avLst/>
          </a:prstGeom>
          <a:solidFill>
            <a:srgbClr val="7A141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1429092" y="3913632"/>
            <a:ext cx="200025" cy="201168"/>
          </a:xfrm>
          <a:prstGeom prst="rect">
            <a:avLst/>
          </a:prstGeom>
          <a:solidFill>
            <a:srgbClr val="7A141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1629117" y="3913632"/>
            <a:ext cx="200025" cy="201168"/>
          </a:xfrm>
          <a:prstGeom prst="rect">
            <a:avLst/>
          </a:prstGeom>
          <a:solidFill>
            <a:srgbClr val="7A141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1829142" y="3913632"/>
            <a:ext cx="200025" cy="201168"/>
          </a:xfrm>
          <a:prstGeom prst="rect">
            <a:avLst/>
          </a:prstGeom>
          <a:solidFill>
            <a:srgbClr val="7A141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2029167" y="3913632"/>
            <a:ext cx="200025" cy="201168"/>
          </a:xfrm>
          <a:prstGeom prst="rect">
            <a:avLst/>
          </a:prstGeom>
          <a:solidFill>
            <a:srgbClr val="7A141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6" name="Rectangle 25"/>
          <p:cNvSpPr/>
          <p:nvPr/>
        </p:nvSpPr>
        <p:spPr>
          <a:xfrm>
            <a:off x="2229192" y="3913632"/>
            <a:ext cx="200025" cy="201168"/>
          </a:xfrm>
          <a:prstGeom prst="rect">
            <a:avLst/>
          </a:prstGeom>
          <a:solidFill>
            <a:srgbClr val="7A141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2429217" y="3913632"/>
            <a:ext cx="200025" cy="201168"/>
          </a:xfrm>
          <a:prstGeom prst="rect">
            <a:avLst/>
          </a:prstGeom>
          <a:solidFill>
            <a:srgbClr val="7A141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502920" y="4297680"/>
            <a:ext cx="2652445" cy="721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back: dim red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tail lights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47389" y="1280160"/>
            <a:ext cx="2652445" cy="50292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200" b="1">
                <a:solidFill>
                  <a:srgbClr val="1F3A5F"/>
                </a:solidFill>
                <a:latin typeface="Calibri"/>
              </a:defRPr>
            </a:pPr>
            <a:r>
              <a:rPr sz="2200" b="1">
                <a:solidFill>
                  <a:srgbClr val="1F3A5F"/>
                </a:solidFill>
                <a:latin typeface="Calibri"/>
              </a:rPr>
              <a:t>Stopped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72343" y="2404872"/>
            <a:ext cx="219456" cy="480060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1" name="Rounded Rectangle 30"/>
          <p:cNvSpPr/>
          <p:nvPr/>
        </p:nvSpPr>
        <p:spPr>
          <a:xfrm>
            <a:off x="3672343" y="3378708"/>
            <a:ext cx="219456" cy="480060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2" name="Rounded Rectangle 31"/>
          <p:cNvSpPr/>
          <p:nvPr/>
        </p:nvSpPr>
        <p:spPr>
          <a:xfrm>
            <a:off x="5455423" y="2404872"/>
            <a:ext cx="219456" cy="480060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3" name="Rounded Rectangle 32"/>
          <p:cNvSpPr/>
          <p:nvPr/>
        </p:nvSpPr>
        <p:spPr>
          <a:xfrm>
            <a:off x="5455423" y="3378708"/>
            <a:ext cx="219456" cy="480060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4" name="Rectangle 33"/>
          <p:cNvSpPr/>
          <p:nvPr/>
        </p:nvSpPr>
        <p:spPr>
          <a:xfrm>
            <a:off x="3873511" y="2331720"/>
            <a:ext cx="1600200" cy="1600200"/>
          </a:xfrm>
          <a:prstGeom prst="rect">
            <a:avLst/>
          </a:prstGeom>
          <a:solidFill>
            <a:srgbClr val="E8ECF0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5" name="Rectangle 34"/>
          <p:cNvSpPr/>
          <p:nvPr/>
        </p:nvSpPr>
        <p:spPr>
          <a:xfrm>
            <a:off x="3873511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6" name="Rectangle 35"/>
          <p:cNvSpPr/>
          <p:nvPr/>
        </p:nvSpPr>
        <p:spPr>
          <a:xfrm>
            <a:off x="4073536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7" name="Rectangle 36"/>
          <p:cNvSpPr/>
          <p:nvPr/>
        </p:nvSpPr>
        <p:spPr>
          <a:xfrm>
            <a:off x="4273561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8" name="Rectangle 37"/>
          <p:cNvSpPr/>
          <p:nvPr/>
        </p:nvSpPr>
        <p:spPr>
          <a:xfrm>
            <a:off x="4473586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9" name="Rectangle 38"/>
          <p:cNvSpPr/>
          <p:nvPr/>
        </p:nvSpPr>
        <p:spPr>
          <a:xfrm>
            <a:off x="4673611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0" name="Rectangle 39"/>
          <p:cNvSpPr/>
          <p:nvPr/>
        </p:nvSpPr>
        <p:spPr>
          <a:xfrm>
            <a:off x="4873636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1" name="Rectangle 40"/>
          <p:cNvSpPr/>
          <p:nvPr/>
        </p:nvSpPr>
        <p:spPr>
          <a:xfrm>
            <a:off x="5073661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2" name="Rectangle 41"/>
          <p:cNvSpPr/>
          <p:nvPr/>
        </p:nvSpPr>
        <p:spPr>
          <a:xfrm>
            <a:off x="5273686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3" name="Rectangle 42"/>
          <p:cNvSpPr/>
          <p:nvPr/>
        </p:nvSpPr>
        <p:spPr>
          <a:xfrm>
            <a:off x="3873511" y="3913632"/>
            <a:ext cx="200025" cy="201168"/>
          </a:xfrm>
          <a:prstGeom prst="rect">
            <a:avLst/>
          </a:prstGeom>
          <a:solidFill>
            <a:srgbClr val="E0222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4" name="Rectangle 43"/>
          <p:cNvSpPr/>
          <p:nvPr/>
        </p:nvSpPr>
        <p:spPr>
          <a:xfrm>
            <a:off x="4073536" y="3913632"/>
            <a:ext cx="200025" cy="201168"/>
          </a:xfrm>
          <a:prstGeom prst="rect">
            <a:avLst/>
          </a:prstGeom>
          <a:solidFill>
            <a:srgbClr val="E0222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5" name="Rectangle 44"/>
          <p:cNvSpPr/>
          <p:nvPr/>
        </p:nvSpPr>
        <p:spPr>
          <a:xfrm>
            <a:off x="4273561" y="3913632"/>
            <a:ext cx="200025" cy="201168"/>
          </a:xfrm>
          <a:prstGeom prst="rect">
            <a:avLst/>
          </a:prstGeom>
          <a:solidFill>
            <a:srgbClr val="E0222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6" name="Rectangle 45"/>
          <p:cNvSpPr/>
          <p:nvPr/>
        </p:nvSpPr>
        <p:spPr>
          <a:xfrm>
            <a:off x="4473586" y="3913632"/>
            <a:ext cx="200025" cy="201168"/>
          </a:xfrm>
          <a:prstGeom prst="rect">
            <a:avLst/>
          </a:prstGeom>
          <a:solidFill>
            <a:srgbClr val="E0222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7" name="Rectangle 46"/>
          <p:cNvSpPr/>
          <p:nvPr/>
        </p:nvSpPr>
        <p:spPr>
          <a:xfrm>
            <a:off x="4673611" y="3913632"/>
            <a:ext cx="200025" cy="201168"/>
          </a:xfrm>
          <a:prstGeom prst="rect">
            <a:avLst/>
          </a:prstGeom>
          <a:solidFill>
            <a:srgbClr val="E0222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8" name="Rectangle 47"/>
          <p:cNvSpPr/>
          <p:nvPr/>
        </p:nvSpPr>
        <p:spPr>
          <a:xfrm>
            <a:off x="4873636" y="3913632"/>
            <a:ext cx="200025" cy="201168"/>
          </a:xfrm>
          <a:prstGeom prst="rect">
            <a:avLst/>
          </a:prstGeom>
          <a:solidFill>
            <a:srgbClr val="E0222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9" name="Rectangle 48"/>
          <p:cNvSpPr/>
          <p:nvPr/>
        </p:nvSpPr>
        <p:spPr>
          <a:xfrm>
            <a:off x="5073661" y="3913632"/>
            <a:ext cx="200025" cy="201168"/>
          </a:xfrm>
          <a:prstGeom prst="rect">
            <a:avLst/>
          </a:prstGeom>
          <a:solidFill>
            <a:srgbClr val="E0222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0" name="Rectangle 49"/>
          <p:cNvSpPr/>
          <p:nvPr/>
        </p:nvSpPr>
        <p:spPr>
          <a:xfrm>
            <a:off x="5273686" y="3913632"/>
            <a:ext cx="200025" cy="201168"/>
          </a:xfrm>
          <a:prstGeom prst="rect">
            <a:avLst/>
          </a:prstGeom>
          <a:solidFill>
            <a:srgbClr val="E0222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1" name="TextBox 50"/>
          <p:cNvSpPr txBox="1"/>
          <p:nvPr/>
        </p:nvSpPr>
        <p:spPr>
          <a:xfrm>
            <a:off x="3347389" y="4297680"/>
            <a:ext cx="2652445" cy="721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back: bright red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brake lights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1858" y="1280160"/>
            <a:ext cx="2652445" cy="50292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200" b="1">
                <a:solidFill>
                  <a:srgbClr val="1F3A5F"/>
                </a:solidFill>
                <a:latin typeface="Calibri"/>
              </a:defRPr>
            </a:pPr>
            <a:r>
              <a:rPr sz="2200" b="1">
                <a:solidFill>
                  <a:srgbClr val="1F3A5F"/>
                </a:solidFill>
                <a:latin typeface="Calibri"/>
              </a:rPr>
              <a:t>Reversing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16812" y="2404872"/>
            <a:ext cx="219456" cy="480060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4" name="Rounded Rectangle 53"/>
          <p:cNvSpPr/>
          <p:nvPr/>
        </p:nvSpPr>
        <p:spPr>
          <a:xfrm>
            <a:off x="6516812" y="3378708"/>
            <a:ext cx="219456" cy="480060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5" name="Rounded Rectangle 54"/>
          <p:cNvSpPr/>
          <p:nvPr/>
        </p:nvSpPr>
        <p:spPr>
          <a:xfrm>
            <a:off x="8299892" y="2404872"/>
            <a:ext cx="219456" cy="480060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6" name="Rounded Rectangle 55"/>
          <p:cNvSpPr/>
          <p:nvPr/>
        </p:nvSpPr>
        <p:spPr>
          <a:xfrm>
            <a:off x="8299892" y="3378708"/>
            <a:ext cx="219456" cy="480060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7" name="Rectangle 56"/>
          <p:cNvSpPr/>
          <p:nvPr/>
        </p:nvSpPr>
        <p:spPr>
          <a:xfrm>
            <a:off x="6717980" y="2331720"/>
            <a:ext cx="1600200" cy="1600200"/>
          </a:xfrm>
          <a:prstGeom prst="rect">
            <a:avLst/>
          </a:prstGeom>
          <a:solidFill>
            <a:srgbClr val="E8ECF0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8" name="Rectangle 57"/>
          <p:cNvSpPr/>
          <p:nvPr/>
        </p:nvSpPr>
        <p:spPr>
          <a:xfrm>
            <a:off x="6717980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59" name="Rectangle 58"/>
          <p:cNvSpPr/>
          <p:nvPr/>
        </p:nvSpPr>
        <p:spPr>
          <a:xfrm>
            <a:off x="6918005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60" name="Rectangle 59"/>
          <p:cNvSpPr/>
          <p:nvPr/>
        </p:nvSpPr>
        <p:spPr>
          <a:xfrm>
            <a:off x="7118030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7318055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62" name="Rectangle 61"/>
          <p:cNvSpPr/>
          <p:nvPr/>
        </p:nvSpPr>
        <p:spPr>
          <a:xfrm>
            <a:off x="7518080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63" name="Rectangle 62"/>
          <p:cNvSpPr/>
          <p:nvPr/>
        </p:nvSpPr>
        <p:spPr>
          <a:xfrm>
            <a:off x="7718105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64" name="Rectangle 63"/>
          <p:cNvSpPr/>
          <p:nvPr/>
        </p:nvSpPr>
        <p:spPr>
          <a:xfrm>
            <a:off x="7918130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65" name="Rectangle 64"/>
          <p:cNvSpPr/>
          <p:nvPr/>
        </p:nvSpPr>
        <p:spPr>
          <a:xfrm>
            <a:off x="8118155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66" name="Rectangle 65"/>
          <p:cNvSpPr/>
          <p:nvPr/>
        </p:nvSpPr>
        <p:spPr>
          <a:xfrm>
            <a:off x="6717980" y="3913632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67" name="Rectangle 66"/>
          <p:cNvSpPr/>
          <p:nvPr/>
        </p:nvSpPr>
        <p:spPr>
          <a:xfrm>
            <a:off x="6918005" y="3913632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68" name="Rectangle 67"/>
          <p:cNvSpPr/>
          <p:nvPr/>
        </p:nvSpPr>
        <p:spPr>
          <a:xfrm>
            <a:off x="7118030" y="3913632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69" name="Rectangle 68"/>
          <p:cNvSpPr/>
          <p:nvPr/>
        </p:nvSpPr>
        <p:spPr>
          <a:xfrm>
            <a:off x="7318055" y="3913632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70" name="Rectangle 69"/>
          <p:cNvSpPr/>
          <p:nvPr/>
        </p:nvSpPr>
        <p:spPr>
          <a:xfrm>
            <a:off x="7518080" y="3913632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71" name="Rectangle 70"/>
          <p:cNvSpPr/>
          <p:nvPr/>
        </p:nvSpPr>
        <p:spPr>
          <a:xfrm>
            <a:off x="7718105" y="3913632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72" name="Rectangle 71"/>
          <p:cNvSpPr/>
          <p:nvPr/>
        </p:nvSpPr>
        <p:spPr>
          <a:xfrm>
            <a:off x="7918130" y="3913632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73" name="Rectangle 72"/>
          <p:cNvSpPr/>
          <p:nvPr/>
        </p:nvSpPr>
        <p:spPr>
          <a:xfrm>
            <a:off x="8118155" y="3913632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74" name="TextBox 73"/>
          <p:cNvSpPr txBox="1"/>
          <p:nvPr/>
        </p:nvSpPr>
        <p:spPr>
          <a:xfrm>
            <a:off x="6191858" y="4297680"/>
            <a:ext cx="2652445" cy="721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back: white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backup lights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036327" y="1280160"/>
            <a:ext cx="2652445" cy="50292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200" b="1">
                <a:solidFill>
                  <a:srgbClr val="1F3A5F"/>
                </a:solidFill>
                <a:latin typeface="Calibri"/>
              </a:defRPr>
            </a:pPr>
            <a:r>
              <a:rPr sz="2200" b="1">
                <a:solidFill>
                  <a:srgbClr val="1F3A5F"/>
                </a:solidFill>
                <a:latin typeface="Calibri"/>
              </a:rPr>
              <a:t>Turning right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361281" y="2404872"/>
            <a:ext cx="219456" cy="480060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77" name="Rounded Rectangle 76"/>
          <p:cNvSpPr/>
          <p:nvPr/>
        </p:nvSpPr>
        <p:spPr>
          <a:xfrm>
            <a:off x="9361281" y="3378708"/>
            <a:ext cx="219456" cy="480060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78" name="Rounded Rectangle 77"/>
          <p:cNvSpPr/>
          <p:nvPr/>
        </p:nvSpPr>
        <p:spPr>
          <a:xfrm>
            <a:off x="11144361" y="2404872"/>
            <a:ext cx="219456" cy="480060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79" name="Rounded Rectangle 78"/>
          <p:cNvSpPr/>
          <p:nvPr/>
        </p:nvSpPr>
        <p:spPr>
          <a:xfrm>
            <a:off x="11144361" y="3378708"/>
            <a:ext cx="219456" cy="480060"/>
          </a:xfrm>
          <a:prstGeom prst="roundRect">
            <a:avLst/>
          </a:prstGeom>
          <a:solidFill>
            <a:srgbClr val="333333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80" name="Rectangle 79"/>
          <p:cNvSpPr/>
          <p:nvPr/>
        </p:nvSpPr>
        <p:spPr>
          <a:xfrm>
            <a:off x="9562449" y="2331720"/>
            <a:ext cx="1600200" cy="1600200"/>
          </a:xfrm>
          <a:prstGeom prst="rect">
            <a:avLst/>
          </a:prstGeom>
          <a:solidFill>
            <a:srgbClr val="E8ECF0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81" name="Rectangle 80"/>
          <p:cNvSpPr/>
          <p:nvPr/>
        </p:nvSpPr>
        <p:spPr>
          <a:xfrm>
            <a:off x="9562449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82" name="Rectangle 81"/>
          <p:cNvSpPr/>
          <p:nvPr/>
        </p:nvSpPr>
        <p:spPr>
          <a:xfrm>
            <a:off x="9762474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83" name="Rectangle 82"/>
          <p:cNvSpPr/>
          <p:nvPr/>
        </p:nvSpPr>
        <p:spPr>
          <a:xfrm>
            <a:off x="9962499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84" name="Rectangle 83"/>
          <p:cNvSpPr/>
          <p:nvPr/>
        </p:nvSpPr>
        <p:spPr>
          <a:xfrm>
            <a:off x="10162524" y="2148840"/>
            <a:ext cx="200025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85" name="Rectangle 84"/>
          <p:cNvSpPr/>
          <p:nvPr/>
        </p:nvSpPr>
        <p:spPr>
          <a:xfrm>
            <a:off x="10362549" y="2148840"/>
            <a:ext cx="200025" cy="201168"/>
          </a:xfrm>
          <a:prstGeom prst="rect">
            <a:avLst/>
          </a:prstGeom>
          <a:solidFill>
            <a:srgbClr val="F58A1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86" name="Rectangle 85"/>
          <p:cNvSpPr/>
          <p:nvPr/>
        </p:nvSpPr>
        <p:spPr>
          <a:xfrm>
            <a:off x="10562574" y="2148840"/>
            <a:ext cx="200025" cy="201168"/>
          </a:xfrm>
          <a:prstGeom prst="rect">
            <a:avLst/>
          </a:prstGeom>
          <a:solidFill>
            <a:srgbClr val="F58A1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87" name="Rectangle 86"/>
          <p:cNvSpPr/>
          <p:nvPr/>
        </p:nvSpPr>
        <p:spPr>
          <a:xfrm>
            <a:off x="10762599" y="2148840"/>
            <a:ext cx="200025" cy="201168"/>
          </a:xfrm>
          <a:prstGeom prst="rect">
            <a:avLst/>
          </a:prstGeom>
          <a:solidFill>
            <a:srgbClr val="F58A1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88" name="Rectangle 87"/>
          <p:cNvSpPr/>
          <p:nvPr/>
        </p:nvSpPr>
        <p:spPr>
          <a:xfrm>
            <a:off x="10962624" y="2148840"/>
            <a:ext cx="200025" cy="201168"/>
          </a:xfrm>
          <a:prstGeom prst="rect">
            <a:avLst/>
          </a:prstGeom>
          <a:solidFill>
            <a:srgbClr val="F58A1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89" name="Rectangle 88"/>
          <p:cNvSpPr/>
          <p:nvPr/>
        </p:nvSpPr>
        <p:spPr>
          <a:xfrm>
            <a:off x="9562449" y="3913632"/>
            <a:ext cx="200025" cy="201168"/>
          </a:xfrm>
          <a:prstGeom prst="rect">
            <a:avLst/>
          </a:prstGeom>
          <a:solidFill>
            <a:srgbClr val="7A141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90" name="Rectangle 89"/>
          <p:cNvSpPr/>
          <p:nvPr/>
        </p:nvSpPr>
        <p:spPr>
          <a:xfrm>
            <a:off x="9762474" y="3913632"/>
            <a:ext cx="200025" cy="201168"/>
          </a:xfrm>
          <a:prstGeom prst="rect">
            <a:avLst/>
          </a:prstGeom>
          <a:solidFill>
            <a:srgbClr val="7A141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91" name="Rectangle 90"/>
          <p:cNvSpPr/>
          <p:nvPr/>
        </p:nvSpPr>
        <p:spPr>
          <a:xfrm>
            <a:off x="9962499" y="3913632"/>
            <a:ext cx="200025" cy="201168"/>
          </a:xfrm>
          <a:prstGeom prst="rect">
            <a:avLst/>
          </a:prstGeom>
          <a:solidFill>
            <a:srgbClr val="7A141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92" name="Rectangle 91"/>
          <p:cNvSpPr/>
          <p:nvPr/>
        </p:nvSpPr>
        <p:spPr>
          <a:xfrm>
            <a:off x="10162524" y="3913632"/>
            <a:ext cx="200025" cy="201168"/>
          </a:xfrm>
          <a:prstGeom prst="rect">
            <a:avLst/>
          </a:prstGeom>
          <a:solidFill>
            <a:srgbClr val="7A141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93" name="Rectangle 92"/>
          <p:cNvSpPr/>
          <p:nvPr/>
        </p:nvSpPr>
        <p:spPr>
          <a:xfrm>
            <a:off x="10362549" y="3913632"/>
            <a:ext cx="200025" cy="201168"/>
          </a:xfrm>
          <a:prstGeom prst="rect">
            <a:avLst/>
          </a:prstGeom>
          <a:solidFill>
            <a:srgbClr val="F58A1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94" name="Rectangle 93"/>
          <p:cNvSpPr/>
          <p:nvPr/>
        </p:nvSpPr>
        <p:spPr>
          <a:xfrm>
            <a:off x="10562574" y="3913632"/>
            <a:ext cx="200025" cy="201168"/>
          </a:xfrm>
          <a:prstGeom prst="rect">
            <a:avLst/>
          </a:prstGeom>
          <a:solidFill>
            <a:srgbClr val="F58A1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95" name="Rectangle 94"/>
          <p:cNvSpPr/>
          <p:nvPr/>
        </p:nvSpPr>
        <p:spPr>
          <a:xfrm>
            <a:off x="10762599" y="3913632"/>
            <a:ext cx="200025" cy="201168"/>
          </a:xfrm>
          <a:prstGeom prst="rect">
            <a:avLst/>
          </a:prstGeom>
          <a:solidFill>
            <a:srgbClr val="F58A1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96" name="Rectangle 95"/>
          <p:cNvSpPr/>
          <p:nvPr/>
        </p:nvSpPr>
        <p:spPr>
          <a:xfrm>
            <a:off x="10962624" y="3913632"/>
            <a:ext cx="200025" cy="201168"/>
          </a:xfrm>
          <a:prstGeom prst="rect">
            <a:avLst/>
          </a:prstGeom>
          <a:solidFill>
            <a:srgbClr val="F58A1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97" name="TextBox 96"/>
          <p:cNvSpPr txBox="1"/>
          <p:nvPr/>
        </p:nvSpPr>
        <p:spPr>
          <a:xfrm>
            <a:off x="9036327" y="4297680"/>
            <a:ext cx="2652445" cy="721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right side: orange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turn signal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Headlights are white at the front in every picture. Only the BACK lights and the turn signals 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Pathfinder's turn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vehicle-turn-signal-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08792"/>
            <a:ext cx="5410047" cy="4057535"/>
          </a:xfrm>
          <a:prstGeom prst="rect">
            <a:avLst/>
          </a:prstGeom>
        </p:spPr>
      </p:pic>
      <p:pic>
        <p:nvPicPr>
          <p:cNvPr id="7" name="Picture 6" descr="vehicle-turn-signal-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308792"/>
            <a:ext cx="5410047" cy="40575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319407"/>
            <a:ext cx="5410047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LEFT turn signal, seen from the front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5319407"/>
            <a:ext cx="5410047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RIGHT turn signal - same vehicle, same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Lights from driving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20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Lights that 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Lights from driving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0306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Blinking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Smart 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e10a_smart_lights.ino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lightsOff();               // Fresh picture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setFrontLights(WHITE);     // Headlights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if (forward &gt; 0)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  setBackLights(mixColor(60, 0, 0));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} else if (forward &lt; 0)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  setBackLights(WHITE);    // Backup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} else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  setBackLights(RED);      // Brakes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Every time round loop(), draw a whole new picture.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else if is a second question, asked only if the first answer was no.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Forward? Backward? Neither? Then we're stopped.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Smart 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MISSION:   </a:t>
            </a:r>
            <a:r>
              <a:rPr sz="1500" b="1">
                <a:solidFill>
                  <a:srgbClr val="FFFFFF"/>
                </a:solidFill>
                <a:latin typeface="Consolas"/>
              </a:rPr>
              <a:t>e10a_smart_lights</a:t>
            </a:r>
            <a:r>
              <a:rPr sz="1200">
                <a:solidFill>
                  <a:srgbClr val="FFFFFF"/>
                </a:solidFill>
                <a:latin typeface="Calibri"/>
              </a:rPr>
              <a:t>     (18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Upload, wheels up. Connect your controller.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Push the stick forward, let go, then pull back. Watch the BACK lights.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LEVEL 2: find the turn signal lines (line 68). Remove the // at the start of each one. Upload.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Steer left and right. Is the orange on the correct side?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Working? Unplug, and try it on the floor.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1526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rPr sz="2200" b="0">
                <a:solidFill>
                  <a:srgbClr val="222222"/>
                </a:solidFill>
                <a:latin typeface="Calibri"/>
              </a:rPr>
              <a:t>Dim red going forward, bright red stopped, white in reverse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rPr sz="2200" b="0">
                <a:solidFill>
                  <a:srgbClr val="222222"/>
                </a:solidFill>
                <a:latin typeface="Calibri"/>
              </a:rPr>
              <a:t>Orange on the side you steer toward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3904129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4306465"/>
            <a:ext cx="4525238" cy="19571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500" b="0">
                <a:solidFill>
                  <a:srgbClr val="222222"/>
                </a:solidFill>
                <a:latin typeface="Calibri"/>
              </a:defRPr>
            </a:pPr>
            <a:r>
              <a:rPr sz="2500" b="0">
                <a:solidFill>
                  <a:srgbClr val="222222"/>
                </a:solidFill>
                <a:latin typeface="Calibri"/>
              </a:rPr>
              <a:t>Why does the program start with lightsOff() every time?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2500" b="0">
                <a:solidFill>
                  <a:srgbClr val="222222"/>
                </a:solidFill>
                <a:latin typeface="Calibri"/>
              </a:defRPr>
            </a:pPr>
            <a:r>
              <a:rPr sz="2500" b="0">
                <a:solidFill>
                  <a:srgbClr val="222222"/>
                </a:solidFill>
                <a:latin typeface="Calibri"/>
              </a:rPr>
              <a:t>How does the program know you've stopped?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Blinking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20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Lights that 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Lights from driving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0306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Blinking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7692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Blinking: the obvious way is a trap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You might try: lights on, delay(400), lights off, delay(400).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But while delay() waits, loop() is STUCK. It can't read the stick.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Your steering would lag almost a second behind your thumb!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DF3E3"/>
          </a:solidFill>
          <a:ln w="12700">
            <a:solidFill>
              <a:srgbClr val="B46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B46A0F"/>
                </a:solidFill>
                <a:latin typeface="Calibri"/>
              </a:rPr>
              <a:t>WATCH OUT   </a:t>
            </a:r>
            <a:r>
              <a:rPr sz="1800">
                <a:solidFill>
                  <a:srgbClr val="222222"/>
                </a:solidFill>
                <a:latin typeface="Calibri"/>
              </a:rPr>
              <a:t>Never put delay() inside a driving program's loop().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Why not just use delay() to blink?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1002975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B46A0F"/>
                </a:solidFill>
                <a:latin typeface="Calibri"/>
              </a:defRPr>
            </a:pPr>
            <a:r>
              <a:rPr sz="2000" b="1">
                <a:solidFill>
                  <a:srgbClr val="B46A0F"/>
                </a:solidFill>
                <a:latin typeface="Calibri"/>
              </a:rPr>
              <a:t>delay(): the rover takes a NAP. It can't feel the stick while it sleeps.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315659" cy="59436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10019" y="1965960"/>
            <a:ext cx="2435084" cy="594360"/>
          </a:xfrm>
          <a:prstGeom prst="rect">
            <a:avLst/>
          </a:prstGeom>
          <a:solidFill>
            <a:srgbClr val="E8ECF0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Zzz...  delay(400)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5103" y="1965960"/>
            <a:ext cx="315659" cy="59436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3660762" y="1965960"/>
            <a:ext cx="2435084" cy="594360"/>
          </a:xfrm>
          <a:prstGeom prst="rect">
            <a:avLst/>
          </a:prstGeom>
          <a:solidFill>
            <a:srgbClr val="E8ECF0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Zzz...  delay(400)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6" y="1965960"/>
            <a:ext cx="315659" cy="59436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11505" y="1965960"/>
            <a:ext cx="2435084" cy="594360"/>
          </a:xfrm>
          <a:prstGeom prst="rect">
            <a:avLst/>
          </a:prstGeom>
          <a:solidFill>
            <a:srgbClr val="E8ECF0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Zzz...  delay(400)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46589" y="1965960"/>
            <a:ext cx="315659" cy="594360"/>
          </a:xfrm>
          <a:prstGeom prst="rect">
            <a:avLst/>
          </a:prstGeom>
          <a:solidFill>
            <a:srgbClr val="0E7C86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9162248" y="1965960"/>
            <a:ext cx="2435084" cy="594360"/>
          </a:xfrm>
          <a:prstGeom prst="rect">
            <a:avLst/>
          </a:prstGeom>
          <a:solidFill>
            <a:srgbClr val="E8ECF0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Zzz...  delay(400)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00400"/>
            <a:ext cx="11002975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0E7C86"/>
                </a:solidFill>
                <a:latin typeface="Calibri"/>
              </a:defRPr>
            </a:pPr>
            <a:r>
              <a:rPr sz="2000" b="1">
                <a:solidFill>
                  <a:srgbClr val="0E7C86"/>
                </a:solidFill>
                <a:latin typeface="Calibri"/>
              </a:rPr>
              <a:t>blinkIsOn(): the rover GLANCES at the clock, and keeps checking.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794760"/>
            <a:ext cx="366765" cy="594360"/>
          </a:xfrm>
          <a:prstGeom prst="rect">
            <a:avLst/>
          </a:prstGeom>
          <a:solidFill>
            <a:srgbClr val="0E7C86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961125" y="3794760"/>
            <a:ext cx="366765" cy="594360"/>
          </a:xfrm>
          <a:prstGeom prst="rect">
            <a:avLst/>
          </a:prstGeom>
          <a:solidFill>
            <a:srgbClr val="D6ECEE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1327890" y="3794760"/>
            <a:ext cx="366765" cy="594360"/>
          </a:xfrm>
          <a:prstGeom prst="rect">
            <a:avLst/>
          </a:prstGeom>
          <a:solidFill>
            <a:srgbClr val="0E7C86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1694655" y="3794760"/>
            <a:ext cx="366765" cy="594360"/>
          </a:xfrm>
          <a:prstGeom prst="rect">
            <a:avLst/>
          </a:prstGeom>
          <a:solidFill>
            <a:srgbClr val="D6ECEE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2061420" y="3794760"/>
            <a:ext cx="366765" cy="594360"/>
          </a:xfrm>
          <a:prstGeom prst="rect">
            <a:avLst/>
          </a:prstGeom>
          <a:solidFill>
            <a:srgbClr val="0E7C86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2428185" y="3794760"/>
            <a:ext cx="366765" cy="594360"/>
          </a:xfrm>
          <a:prstGeom prst="rect">
            <a:avLst/>
          </a:prstGeom>
          <a:solidFill>
            <a:srgbClr val="D6ECEE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2794950" y="3794760"/>
            <a:ext cx="366765" cy="594360"/>
          </a:xfrm>
          <a:prstGeom prst="rect">
            <a:avLst/>
          </a:prstGeom>
          <a:solidFill>
            <a:srgbClr val="0E7C86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3161715" y="3794760"/>
            <a:ext cx="366765" cy="594360"/>
          </a:xfrm>
          <a:prstGeom prst="rect">
            <a:avLst/>
          </a:prstGeom>
          <a:solidFill>
            <a:srgbClr val="D6ECEE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3528480" y="3794760"/>
            <a:ext cx="366765" cy="594360"/>
          </a:xfrm>
          <a:prstGeom prst="rect">
            <a:avLst/>
          </a:prstGeom>
          <a:solidFill>
            <a:srgbClr val="0E7C86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3895245" y="3794760"/>
            <a:ext cx="366765" cy="594360"/>
          </a:xfrm>
          <a:prstGeom prst="rect">
            <a:avLst/>
          </a:prstGeom>
          <a:solidFill>
            <a:srgbClr val="D6ECEE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6" name="Rectangle 25"/>
          <p:cNvSpPr/>
          <p:nvPr/>
        </p:nvSpPr>
        <p:spPr>
          <a:xfrm>
            <a:off x="4262010" y="3794760"/>
            <a:ext cx="366765" cy="594360"/>
          </a:xfrm>
          <a:prstGeom prst="rect">
            <a:avLst/>
          </a:prstGeom>
          <a:solidFill>
            <a:srgbClr val="0E7C86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4628775" y="3794760"/>
            <a:ext cx="366765" cy="594360"/>
          </a:xfrm>
          <a:prstGeom prst="rect">
            <a:avLst/>
          </a:prstGeom>
          <a:solidFill>
            <a:srgbClr val="D6ECEE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8" name="Rectangle 27"/>
          <p:cNvSpPr/>
          <p:nvPr/>
        </p:nvSpPr>
        <p:spPr>
          <a:xfrm>
            <a:off x="4995540" y="3794760"/>
            <a:ext cx="366765" cy="594360"/>
          </a:xfrm>
          <a:prstGeom prst="rect">
            <a:avLst/>
          </a:prstGeom>
          <a:solidFill>
            <a:srgbClr val="0E7C86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5362305" y="3794760"/>
            <a:ext cx="366765" cy="594360"/>
          </a:xfrm>
          <a:prstGeom prst="rect">
            <a:avLst/>
          </a:prstGeom>
          <a:solidFill>
            <a:srgbClr val="D6ECEE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0" name="Rectangle 29"/>
          <p:cNvSpPr/>
          <p:nvPr/>
        </p:nvSpPr>
        <p:spPr>
          <a:xfrm>
            <a:off x="5729070" y="3794760"/>
            <a:ext cx="366765" cy="594360"/>
          </a:xfrm>
          <a:prstGeom prst="rect">
            <a:avLst/>
          </a:prstGeom>
          <a:solidFill>
            <a:srgbClr val="0E7C86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1" name="Rectangle 30"/>
          <p:cNvSpPr/>
          <p:nvPr/>
        </p:nvSpPr>
        <p:spPr>
          <a:xfrm>
            <a:off x="6095835" y="3794760"/>
            <a:ext cx="366765" cy="594360"/>
          </a:xfrm>
          <a:prstGeom prst="rect">
            <a:avLst/>
          </a:prstGeom>
          <a:solidFill>
            <a:srgbClr val="D6ECEE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2" name="Rectangle 31"/>
          <p:cNvSpPr/>
          <p:nvPr/>
        </p:nvSpPr>
        <p:spPr>
          <a:xfrm>
            <a:off x="6462600" y="3794760"/>
            <a:ext cx="366765" cy="594360"/>
          </a:xfrm>
          <a:prstGeom prst="rect">
            <a:avLst/>
          </a:prstGeom>
          <a:solidFill>
            <a:srgbClr val="0E7C86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3" name="Rectangle 32"/>
          <p:cNvSpPr/>
          <p:nvPr/>
        </p:nvSpPr>
        <p:spPr>
          <a:xfrm>
            <a:off x="6829365" y="3794760"/>
            <a:ext cx="366765" cy="594360"/>
          </a:xfrm>
          <a:prstGeom prst="rect">
            <a:avLst/>
          </a:prstGeom>
          <a:solidFill>
            <a:srgbClr val="D6ECEE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4" name="Rectangle 33"/>
          <p:cNvSpPr/>
          <p:nvPr/>
        </p:nvSpPr>
        <p:spPr>
          <a:xfrm>
            <a:off x="7196130" y="3794760"/>
            <a:ext cx="366765" cy="594360"/>
          </a:xfrm>
          <a:prstGeom prst="rect">
            <a:avLst/>
          </a:prstGeom>
          <a:solidFill>
            <a:srgbClr val="0E7C86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5" name="Rectangle 34"/>
          <p:cNvSpPr/>
          <p:nvPr/>
        </p:nvSpPr>
        <p:spPr>
          <a:xfrm>
            <a:off x="7562895" y="3794760"/>
            <a:ext cx="366765" cy="594360"/>
          </a:xfrm>
          <a:prstGeom prst="rect">
            <a:avLst/>
          </a:prstGeom>
          <a:solidFill>
            <a:srgbClr val="D6ECEE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6" name="Rectangle 35"/>
          <p:cNvSpPr/>
          <p:nvPr/>
        </p:nvSpPr>
        <p:spPr>
          <a:xfrm>
            <a:off x="7929660" y="3794760"/>
            <a:ext cx="366765" cy="594360"/>
          </a:xfrm>
          <a:prstGeom prst="rect">
            <a:avLst/>
          </a:prstGeom>
          <a:solidFill>
            <a:srgbClr val="0E7C86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7" name="Rectangle 36"/>
          <p:cNvSpPr/>
          <p:nvPr/>
        </p:nvSpPr>
        <p:spPr>
          <a:xfrm>
            <a:off x="8296425" y="3794760"/>
            <a:ext cx="366765" cy="594360"/>
          </a:xfrm>
          <a:prstGeom prst="rect">
            <a:avLst/>
          </a:prstGeom>
          <a:solidFill>
            <a:srgbClr val="D6ECEE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8" name="Rectangle 37"/>
          <p:cNvSpPr/>
          <p:nvPr/>
        </p:nvSpPr>
        <p:spPr>
          <a:xfrm>
            <a:off x="8663190" y="3794760"/>
            <a:ext cx="366765" cy="594360"/>
          </a:xfrm>
          <a:prstGeom prst="rect">
            <a:avLst/>
          </a:prstGeom>
          <a:solidFill>
            <a:srgbClr val="0E7C86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39" name="Rectangle 38"/>
          <p:cNvSpPr/>
          <p:nvPr/>
        </p:nvSpPr>
        <p:spPr>
          <a:xfrm>
            <a:off x="9029955" y="3794760"/>
            <a:ext cx="366765" cy="594360"/>
          </a:xfrm>
          <a:prstGeom prst="rect">
            <a:avLst/>
          </a:prstGeom>
          <a:solidFill>
            <a:srgbClr val="D6ECEE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0" name="Rectangle 39"/>
          <p:cNvSpPr/>
          <p:nvPr/>
        </p:nvSpPr>
        <p:spPr>
          <a:xfrm>
            <a:off x="9396720" y="3794760"/>
            <a:ext cx="366765" cy="594360"/>
          </a:xfrm>
          <a:prstGeom prst="rect">
            <a:avLst/>
          </a:prstGeom>
          <a:solidFill>
            <a:srgbClr val="0E7C86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1" name="Rectangle 40"/>
          <p:cNvSpPr/>
          <p:nvPr/>
        </p:nvSpPr>
        <p:spPr>
          <a:xfrm>
            <a:off x="9763485" y="3794760"/>
            <a:ext cx="366765" cy="594360"/>
          </a:xfrm>
          <a:prstGeom prst="rect">
            <a:avLst/>
          </a:prstGeom>
          <a:solidFill>
            <a:srgbClr val="D6ECEE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2" name="Rectangle 41"/>
          <p:cNvSpPr/>
          <p:nvPr/>
        </p:nvSpPr>
        <p:spPr>
          <a:xfrm>
            <a:off x="10130250" y="3794760"/>
            <a:ext cx="366765" cy="594360"/>
          </a:xfrm>
          <a:prstGeom prst="rect">
            <a:avLst/>
          </a:prstGeom>
          <a:solidFill>
            <a:srgbClr val="0E7C86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3" name="Rectangle 42"/>
          <p:cNvSpPr/>
          <p:nvPr/>
        </p:nvSpPr>
        <p:spPr>
          <a:xfrm>
            <a:off x="10497015" y="3794760"/>
            <a:ext cx="366765" cy="594360"/>
          </a:xfrm>
          <a:prstGeom prst="rect">
            <a:avLst/>
          </a:prstGeom>
          <a:solidFill>
            <a:srgbClr val="D6ECEE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4" name="Rectangle 43"/>
          <p:cNvSpPr/>
          <p:nvPr/>
        </p:nvSpPr>
        <p:spPr>
          <a:xfrm>
            <a:off x="10863780" y="3794760"/>
            <a:ext cx="366765" cy="594360"/>
          </a:xfrm>
          <a:prstGeom prst="rect">
            <a:avLst/>
          </a:prstGeom>
          <a:solidFill>
            <a:srgbClr val="0E7C86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45" name="Rectangle 44"/>
          <p:cNvSpPr/>
          <p:nvPr/>
        </p:nvSpPr>
        <p:spPr>
          <a:xfrm>
            <a:off x="11230545" y="3794760"/>
            <a:ext cx="366765" cy="594360"/>
          </a:xfrm>
          <a:prstGeom prst="rect">
            <a:avLst/>
          </a:prstGeom>
          <a:solidFill>
            <a:srgbClr val="D6ECEE"/>
          </a:solidFill>
          <a:ln w="63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cxnSp>
        <p:nvCxnSpPr>
          <p:cNvPr id="46" name="Connector 45"/>
          <p:cNvCxnSpPr/>
          <p:nvPr/>
        </p:nvCxnSpPr>
        <p:spPr>
          <a:xfrm>
            <a:off x="2574895" y="1920240"/>
            <a:ext cx="0" cy="685800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74895" y="3749040"/>
            <a:ext cx="0" cy="1005840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11855" y="4800600"/>
            <a:ext cx="2926080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1F3A5F"/>
                </a:solidFill>
                <a:latin typeface="Calibri"/>
              </a:defRPr>
            </a:pPr>
            <a:r>
              <a:rPr sz="2000" b="1">
                <a:solidFill>
                  <a:srgbClr val="1F3A5F"/>
                </a:solidFill>
                <a:latin typeface="Calibri"/>
              </a:rPr>
              <a:t>you push the stick</a:t>
            </a:r>
          </a:p>
        </p:txBody>
      </p:sp>
      <p:cxnSp>
        <p:nvCxnSpPr>
          <p:cNvPr id="49" name="Connector 48"/>
          <p:cNvCxnSpPr/>
          <p:nvPr/>
        </p:nvCxnSpPr>
        <p:spPr>
          <a:xfrm flipH="1" flipV="1">
            <a:off x="3454831" y="2606040"/>
            <a:ext cx="438912" cy="457200"/>
          </a:xfrm>
          <a:prstGeom prst="line">
            <a:avLst/>
          </a:prstGeom>
          <a:ln w="31750">
            <a:solidFill>
              <a:srgbClr val="B46A0F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939463" y="2834640"/>
            <a:ext cx="292608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1800" b="1">
                <a:solidFill>
                  <a:srgbClr val="B46A0F"/>
                </a:solidFill>
                <a:latin typeface="Calibri"/>
              </a:defRPr>
            </a:pPr>
            <a:r>
              <a:rPr sz="1800" b="1">
                <a:solidFill>
                  <a:srgbClr val="B46A0F"/>
                </a:solidFill>
                <a:latin typeface="Calibri"/>
              </a:rPr>
              <a:t>notices here - too late!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Grey = asleep. Teal = awake and reading the stick. Driving programs need to stay awake.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blinkIsOn(): glance at the clock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explorer.h  -  the engine room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666666"/>
                </a:solidFill>
                <a:latin typeface="Consolas"/>
              </a:rPr>
              <a:t>// Looks at the clock instead of waiting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bool blinkIsOn()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return (millis() / 400) % 2 ==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millis() is a clock: milliseconds since the rover woke up.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Divide by 400. Is the answer even, or odd?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Even: true. Odd: false. It flips every 0.4 seconds.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No waiting at 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Blinking signals, and a headlight switch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MISSION:   </a:t>
            </a:r>
            <a:r>
              <a:rPr sz="1500" b="1">
                <a:solidFill>
                  <a:srgbClr val="FFFFFF"/>
                </a:solidFill>
                <a:latin typeface="Consolas"/>
              </a:rPr>
              <a:t>e10a_smart_lights</a:t>
            </a:r>
            <a:r>
              <a:rPr sz="1200">
                <a:solidFill>
                  <a:srgbClr val="FFFFFF"/>
                </a:solidFill>
                <a:latin typeface="Calibri"/>
              </a:rPr>
              <a:t>     (15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LEVEL 3: change  if (turn &gt; 0)  to  if (turn &gt; 0 &amp;&amp; blinkIsOn()). Do the same for the left.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Upload. Do the signals blink? Can you still steer smoothly?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HEADLIGHT SWITCH: add  bool headlightsOn = true;  above setup().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Flip it with tappedY(), and only light the front if headlightsOn is true.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Stuck? See how lightsOn works in e01a_learner_drive.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Then: drive the test course, signaling every turn.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17628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500" b="0">
                <a:solidFill>
                  <a:srgbClr val="222222"/>
                </a:solidFill>
                <a:latin typeface="Calibri"/>
              </a:defRPr>
            </a:pPr>
            <a:r>
              <a:rPr sz="2500" b="0">
                <a:solidFill>
                  <a:srgbClr val="222222"/>
                </a:solidFill>
                <a:latin typeface="Calibri"/>
              </a:rPr>
              <a:t>Orange that blinks on the side you're turning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2500" b="0">
                <a:solidFill>
                  <a:srgbClr val="222222"/>
                </a:solidFill>
                <a:latin typeface="Calibri"/>
              </a:defRPr>
            </a:pPr>
            <a:r>
              <a:rPr sz="2500" b="0">
                <a:solidFill>
                  <a:srgbClr val="222222"/>
                </a:solidFill>
                <a:latin typeface="Calibri"/>
              </a:rPr>
              <a:t>Y switches the headlights off and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414028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4542618"/>
            <a:ext cx="4525238" cy="632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Why does &amp;&amp; blinkIsOn() make it blink?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 w="1270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A32A2A"/>
                </a:solidFill>
                <a:latin typeface="Calibri"/>
              </a:rPr>
              <a:t>SAFETY   </a:t>
            </a:r>
            <a:r>
              <a:rPr sz="1800">
                <a:solidFill>
                  <a:srgbClr val="222222"/>
                </a:solidFill>
                <a:latin typeface="Calibri"/>
              </a:rPr>
              <a:t>Floor driving inside the arena only. Everybody behind the 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Expert License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Drive the test course at SPEED_LIMIT 75.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Signal EVERY turn, on the correct side.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No cups knocked over. All four wheels in the garage.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Pass, and your teacher lets you raise SPEED_LIMIT to 100: FULL POWER.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 w="1270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A32A2A"/>
                </a:solidFill>
                <a:latin typeface="Calibri"/>
              </a:rPr>
              <a:t>SAFETY   </a:t>
            </a:r>
            <a:r>
              <a:rPr sz="1800">
                <a:solidFill>
                  <a:srgbClr val="222222"/>
                </a:solidFill>
                <a:latin typeface="Calibri"/>
              </a:rPr>
              <a:t>Full power is FAST. Arena only, and the Explorer Code still applies.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New words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474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700"/>
                <a:gridCol w="8442154"/>
              </a:tblGrid>
              <a:tr h="790575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A light that tells other people what you'll do next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else if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A second question, asked only if the first answer was no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onsolas"/>
                        </a:rPr>
                        <a:t>millis()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A clock: milliseconds since the rover woke up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onsolas"/>
                        </a:rPr>
                        <a:t>blinkIsOn()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Glances at the clock: on, off, on, off...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A variable that holds true or false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Check yourself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1.  Bright red at the back of a car. What does it mean?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2.  Why does the light picture start with lightsOff()?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3.  Why can't we blink with delay() while driving?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4.  What does blinkIsOn() do?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5.  The vehicle turns right. Which lights blink?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Mission Log, then pack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41187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In your Mission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4118728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Fill in the light rules table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Expert License stamp, if you passed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Stamp: Signal Expert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8848" y="1188720"/>
            <a:ext cx="6609927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Pack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8848" y="1700784"/>
            <a:ext cx="6609927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Crew Chief: vehicle power OFF.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Unplug the cable and coil it up.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Vehicle and controller back in their spot, stickers matching.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Close the laptop. Push your chairs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Last job: every team member says one thing they learned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