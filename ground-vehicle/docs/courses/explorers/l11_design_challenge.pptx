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Today is the most open lesson of the course, and the noisiest. Spend your time on the teams that are stuck, not the ones that are flying.</a:t>
            </a:r>
          </a:p>
          <a:p>
            <a:r>
              <a:rPr sz="1200">
                <a:latin typeface="Calibri"/>
              </a:rPr>
              <a:t>Make sure every team saves its own copy of e11a with File &gt; Save As, so Mission Day starts from their work, not from a fresh copy.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Read them out, and say plainly that the upgrade working perfectly is NOT the goal - using the process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Both upgrades use the vehicle's servo outputs, which this course hasn't touched. Students who catch the bug can go on to the Beginner course, which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Put the agenda on the board as well, with the driving or uploading block circled. Students settle when they can see when the hands-on part starts.</a:t>
            </a:r>
          </a:p>
          <a:p>
            <a:r>
              <a:rPr sz="1200">
                <a:latin typeface="Calibri"/>
              </a:rPr>
              <a:t>The timings are a guide for a one-hour session. If the hands-on block runs long, take the time out of the check yourself questions, never out of the pack-up - a rushed pack-up is how cables and controllers go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 breath between parts of the lesson. Read the title out and point at where it sits on the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This is the engineering design process. Different companies draw it with five, six or seven steps; the steps matter less than the shape. It's a CIRCLE.</a:t>
            </a:r>
          </a:p>
          <a:p>
            <a:r>
              <a:rPr sz="1200">
                <a:latin typeface="Calibri"/>
              </a:rPr>
              <a:t>Ask where most people want to jump straight to. (CREATE - typing the code.) Ask what goes wrong when you skip PLAN. (You build the wrong thing, fast.)</a:t>
            </a:r>
          </a:p>
          <a:p>
            <a:r>
              <a:rPr sz="1200">
                <a:latin typeface="Calibri"/>
              </a:rPr>
              <a:t>And the most important arrow is the one from IMPROVE back round to ASK. Nobody gets it right first time - not NASA, not you, not 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Steer younger or less confident teams toward Easy or Medium. A finished Easy upgrade beats a half-built Hard one.</a:t>
            </a:r>
          </a:p>
          <a:p>
            <a:r>
              <a:rPr sz="1200">
                <a:latin typeface="Calibri"/>
              </a:rPr>
              <a:t>Your own idea: say yes to almost anything that only changes lights, buttons and moves. Say no to anything that raises the speed limit past the team's license.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 breath between parts of the lesson. Read the title out and point at where it sits on the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Make the plan check a real gate: a team can't start typing until you've looked at their sheet for thirty seconds. It's the single best way to stop teams wandering.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Party mode is fully sketched in the comments across the three zones, so a team that wants a quick win can un-comment it and then make it their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This is the pattern behind most upgrades: a true/false switch, a button that flips it, and an if that does something while it's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 breath between parts of the lesson. Read the title out and point at where it sits on the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Hazard lights, for you: bool hazards = false; in Zone 1; if (tappedB()) { hazards = !hazards; } in Zone 2; in Zone 3: if (hazards &amp;&amp; blinkIsOn()) { setLeftLights(ORANGE); setRightLights(ORANGE); }</a:t>
            </a:r>
          </a:p>
          <a:p>
            <a:r>
              <a:rPr sz="1200">
                <a:latin typeface="Calibri"/>
              </a:rPr>
              <a:t>Crawl mode: in the DRIVING section, after the wobble zone: if (buttonZL()) { forward = forward / 2; turn = turn / 2; } - e12a_mission_day has exactly this.</a:t>
            </a:r>
          </a:p>
          <a:p>
            <a:r>
              <a:rPr sz="1200">
                <a:latin typeface="Calibri"/>
              </a:rPr>
              <a:t>Victory dance: write a function at the bottom with spins and light flashes, and call it from if (tappedX()) in Zone 2. Holding B stops any autopilot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Rubber duck debugging is a real thing professional programmers do: explaining your code out loud, even to a toy, very often makes the bug jump out. If you have a duck, put it on the desk.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Clap for every team, working upgrade or not. The second question is the one to praise most - fixing something is the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Answers: 1 ask, imagine, plan, create, test, improve. 2 so when something breaks you know which change did it. 3 flips it to the opposite - true becomes false, false becomes true. 4 any of the 'stuck'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Next lesson is Mission Day. Charge every battery, and check every team's upgrade still drives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rpoi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762" y="457200"/>
            <a:ext cx="766013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051560"/>
            <a:ext cx="6492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0E7C86"/>
                </a:solidFill>
                <a:latin typeface="Calibri"/>
              </a:defRPr>
            </a:pPr>
            <a:r>
              <a:rPr sz="1600" b="1">
                <a:solidFill>
                  <a:srgbClr val="0E7C86"/>
                </a:solidFill>
                <a:latin typeface="Calibri"/>
              </a:rPr>
              <a:t>LESSON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64922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defRPr sz="4000" b="1">
                <a:solidFill>
                  <a:srgbClr val="1F3A5F"/>
                </a:solidFill>
                <a:latin typeface="Calibri"/>
              </a:defRPr>
            </a:pPr>
            <a:r>
              <a:rPr sz="4000" b="1">
                <a:solidFill>
                  <a:srgbClr val="1F3A5F"/>
                </a:solidFill>
                <a:latin typeface="Calibri"/>
              </a:rPr>
              <a:t>Design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54680"/>
            <a:ext cx="6492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222222"/>
                </a:solidFill>
                <a:latin typeface="Calibri"/>
              </a:defRPr>
            </a:pPr>
            <a:r>
              <a:rPr sz="1700" b="0">
                <a:solidFill>
                  <a:srgbClr val="222222"/>
                </a:solidFill>
                <a:latin typeface="Calibri"/>
              </a:rPr>
              <a:t>You can make it light up, move, listen and signal. Now upgrade it with your team's own idea, built the way engineers build things.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931920"/>
            <a:ext cx="649224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PORPOISE ROBOTICS  -  Precision Oceanographic Program On and In the Sea Environment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porpoiserobotics.org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600" b="0">
                <a:solidFill>
                  <a:srgbClr val="666666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Kevin Bowen, President  -  kbowen6@icloud.com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Malcom Graham, VP Education      Louis Parker, VP Technology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Valen Farre, System Engineer      Gary Howland, Animation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Eddie Revollo, Artificial Intelligence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Interns: Oscar Canazales, Krishnansh Vemulapalli, Soham Gangal, Erik Olsen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600" b="0">
                <a:solidFill>
                  <a:srgbClr val="666666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One hour.  Teams of three, one vehicle per team.</a:t>
            </a:r>
          </a:p>
        </p:txBody>
      </p:sp>
      <p:pic>
        <p:nvPicPr>
          <p:cNvPr id="8" name="Picture 7" descr="vehicle-with-ar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023110"/>
            <a:ext cx="4480560" cy="33604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4476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rPr sz="900" b="0">
                <a:solidFill>
                  <a:srgbClr val="666666"/>
                </a:solidFill>
                <a:latin typeface="Calibri"/>
              </a:rPr>
              <a:t>Porpoise Robotics - proprietary. For use with Porpoise Robotics lessons.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Today's mission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900" b="1">
                <a:solidFill>
                  <a:srgbClr val="0E7C86"/>
                </a:solidFill>
                <a:latin typeface="Calibri"/>
              </a:defRPr>
            </a:pPr>
            <a:r>
              <a:rPr sz="1900" b="1">
                <a:solidFill>
                  <a:srgbClr val="0E7C86"/>
                </a:solidFill>
                <a:latin typeface="Calibri"/>
              </a:rPr>
              <a:t>By the end of today, you can: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85855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1.   Use the engineering design process: ask, imagine, plan, create, test, improve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2.   Plan a change to a program on paper, before typing it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3.   Build and test an upgrade one small step at a time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4.   Show your upgrade, and explain how it works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Engineers upgrade their rovers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These Pathfinders got new hardware. Today you upgrade the SOFTWARE - no new parts needed.</a:t>
            </a:r>
          </a:p>
        </p:txBody>
      </p:sp>
      <p:pic>
        <p:nvPicPr>
          <p:cNvPr id="7" name="Picture 6" descr="vehicle-with-a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51" y="1810512"/>
            <a:ext cx="4901184" cy="3675888"/>
          </a:xfrm>
          <a:prstGeom prst="rect">
            <a:avLst/>
          </a:prstGeom>
        </p:spPr>
      </p:pic>
      <p:pic>
        <p:nvPicPr>
          <p:cNvPr id="8" name="Picture 7" descr="vehicle-with-pan-til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158" y="1810512"/>
            <a:ext cx="4901184" cy="3675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559552"/>
            <a:ext cx="5410047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rPr sz="1800" b="0">
                <a:solidFill>
                  <a:srgbClr val="666666"/>
                </a:solidFill>
                <a:latin typeface="Calibri"/>
              </a:rPr>
              <a:t>A robot arm, for picking things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5559552"/>
            <a:ext cx="5410047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rPr sz="1800" b="0">
                <a:solidFill>
                  <a:srgbClr val="666666"/>
                </a:solidFill>
                <a:latin typeface="Calibri"/>
              </a:rPr>
              <a:t>A mount that can point a camera around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Today, in order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185854" cy="3314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8585"/>
                <a:gridCol w="10067269"/>
              </a:tblGrid>
              <a:tr h="552450"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What we do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0:00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Warm-up: upgrades real engineers make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0:05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The design process, and picking an upgrade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0:13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Plan it on paper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0:20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Build it, test it, improve it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0:48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Show and tell, Mission Log, and pack up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256032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600" b="1">
                <a:solidFill>
                  <a:srgbClr val="1F3A5F"/>
                </a:solidFill>
                <a:latin typeface="Calibri"/>
              </a:defRPr>
            </a:pPr>
            <a:r>
              <a:rPr sz="3600" b="1">
                <a:solidFill>
                  <a:srgbClr val="1F3A5F"/>
                </a:solidFill>
                <a:latin typeface="Calibri"/>
              </a:rPr>
              <a:t>Ask and imagine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rPr sz="1600" b="0">
                <a:solidFill>
                  <a:srgbClr val="666666"/>
                </a:solidFill>
                <a:latin typeface="Calibri"/>
              </a:rPr>
              <a:t>About 10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D6ECEE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F3A5F"/>
                </a:solidFill>
                <a:latin typeface="Calibri"/>
              </a:defRPr>
            </a:pPr>
            <a:r>
              <a:rPr sz="1700" b="1">
                <a:solidFill>
                  <a:srgbClr val="1F3A5F"/>
                </a:solidFill>
                <a:latin typeface="Calibri"/>
              </a:rPr>
              <a:t>Ask and imagine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NOW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0306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sz="1700" b="0">
                <a:solidFill>
                  <a:srgbClr val="666666"/>
                </a:solidFill>
                <a:latin typeface="Calibri"/>
              </a:rPr>
              <a:t>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7692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sz="1700" b="0">
                <a:solidFill>
                  <a:srgbClr val="666666"/>
                </a:solidFill>
                <a:latin typeface="Calibri"/>
              </a:rPr>
              <a:t>Create and 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How engineers build things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47107" y="1303020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D6ECEE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2000" b="0">
                <a:solidFill>
                  <a:srgbClr val="1F3A5F"/>
                </a:solidFill>
                <a:latin typeface="Calibri"/>
              </a:defRPr>
            </a:pPr>
            <a:r>
              <a:rPr sz="2000" b="0">
                <a:solidFill>
                  <a:srgbClr val="1F3A5F"/>
                </a:solidFill>
                <a:latin typeface="Calibri"/>
              </a:rPr>
              <a:t>1  ASK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defRPr sz="2000" b="0">
                <a:solidFill>
                  <a:srgbClr val="1F3A5F"/>
                </a:solidFill>
                <a:latin typeface="Calibri"/>
              </a:defRPr>
            </a:pPr>
            <a:r>
              <a:rPr sz="2000" b="0">
                <a:solidFill>
                  <a:srgbClr val="1F3A5F"/>
                </a:solidFill>
                <a:latin typeface="Calibri"/>
              </a:rPr>
              <a:t>What should it do?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16708" y="2148841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D6ECEE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2000" b="0">
                <a:solidFill>
                  <a:srgbClr val="1F3A5F"/>
                </a:solidFill>
                <a:latin typeface="Calibri"/>
              </a:defRPr>
            </a:pPr>
            <a:r>
              <a:rPr sz="2000" b="0">
                <a:solidFill>
                  <a:srgbClr val="1F3A5F"/>
                </a:solidFill>
                <a:latin typeface="Calibri"/>
              </a:rPr>
              <a:t>2  IMAGINE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defRPr sz="2000" b="0">
                <a:solidFill>
                  <a:srgbClr val="1F3A5F"/>
                </a:solidFill>
                <a:latin typeface="Calibri"/>
              </a:defRPr>
            </a:pPr>
            <a:r>
              <a:rPr sz="2000" b="0">
                <a:solidFill>
                  <a:srgbClr val="1F3A5F"/>
                </a:solidFill>
                <a:latin typeface="Calibri"/>
              </a:rPr>
              <a:t>Lots of ideas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16708" y="3840479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D6ECEE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2000" b="0">
                <a:solidFill>
                  <a:srgbClr val="1F3A5F"/>
                </a:solidFill>
                <a:latin typeface="Calibri"/>
              </a:defRPr>
            </a:pPr>
            <a:r>
              <a:rPr sz="2000" b="0">
                <a:solidFill>
                  <a:srgbClr val="1F3A5F"/>
                </a:solidFill>
                <a:latin typeface="Calibri"/>
              </a:rPr>
              <a:t>3  PLAN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defRPr sz="2000" b="0">
                <a:solidFill>
                  <a:srgbClr val="1F3A5F"/>
                </a:solidFill>
                <a:latin typeface="Calibri"/>
              </a:defRPr>
            </a:pPr>
            <a:r>
              <a:rPr sz="2000" b="0">
                <a:solidFill>
                  <a:srgbClr val="1F3A5F"/>
                </a:solidFill>
                <a:latin typeface="Calibri"/>
              </a:rPr>
              <a:t>Draw it, write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47107" y="4686300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FAE6C8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2000" b="0">
                <a:solidFill>
                  <a:srgbClr val="1F3A5F"/>
                </a:solidFill>
                <a:latin typeface="Calibri"/>
              </a:defRPr>
            </a:pPr>
            <a:r>
              <a:rPr sz="2000" b="0">
                <a:solidFill>
                  <a:srgbClr val="1F3A5F"/>
                </a:solidFill>
                <a:latin typeface="Calibri"/>
              </a:rPr>
              <a:t>4  CREATE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defRPr sz="2000" b="0">
                <a:solidFill>
                  <a:srgbClr val="1F3A5F"/>
                </a:solidFill>
                <a:latin typeface="Calibri"/>
              </a:defRPr>
            </a:pPr>
            <a:r>
              <a:rPr sz="2000" b="0">
                <a:solidFill>
                  <a:srgbClr val="1F3A5F"/>
                </a:solidFill>
                <a:latin typeface="Calibri"/>
              </a:rPr>
              <a:t>Write the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77506" y="3840479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D6ECEE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2000" b="0">
                <a:solidFill>
                  <a:srgbClr val="1F3A5F"/>
                </a:solidFill>
                <a:latin typeface="Calibri"/>
              </a:defRPr>
            </a:pPr>
            <a:r>
              <a:rPr sz="2000" b="0">
                <a:solidFill>
                  <a:srgbClr val="1F3A5F"/>
                </a:solidFill>
                <a:latin typeface="Calibri"/>
              </a:rPr>
              <a:t>5  TEST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defRPr sz="2000" b="0">
                <a:solidFill>
                  <a:srgbClr val="1F3A5F"/>
                </a:solidFill>
                <a:latin typeface="Calibri"/>
              </a:defRPr>
            </a:pPr>
            <a:r>
              <a:rPr sz="2000" b="0">
                <a:solidFill>
                  <a:srgbClr val="1F3A5F"/>
                </a:solidFill>
                <a:latin typeface="Calibri"/>
              </a:rPr>
              <a:t>Wheels up first!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7506" y="2148840"/>
            <a:ext cx="2697480" cy="868680"/>
          </a:xfrm>
          <a:prstGeom prst="roundRect">
            <a:avLst>
              <a:gd name="adj" fmla="val 12000"/>
            </a:avLst>
          </a:prstGeom>
          <a:solidFill>
            <a:srgbClr val="D6ECEE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2000" b="0">
                <a:solidFill>
                  <a:srgbClr val="1F3A5F"/>
                </a:solidFill>
                <a:latin typeface="Calibri"/>
              </a:defRPr>
            </a:pPr>
            <a:r>
              <a:rPr sz="2000" b="0">
                <a:solidFill>
                  <a:srgbClr val="1F3A5F"/>
                </a:solidFill>
                <a:latin typeface="Calibri"/>
              </a:rPr>
              <a:t>6  IMPROVE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defRPr sz="2000" b="0">
                <a:solidFill>
                  <a:srgbClr val="1F3A5F"/>
                </a:solidFill>
                <a:latin typeface="Calibri"/>
              </a:defRPr>
            </a:pPr>
            <a:r>
              <a:rPr sz="2000" b="0">
                <a:solidFill>
                  <a:srgbClr val="1F3A5F"/>
                </a:solidFill>
                <a:latin typeface="Calibri"/>
              </a:rPr>
              <a:t>Fix ONE thing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64903" y="2041855"/>
            <a:ext cx="831488" cy="236830"/>
          </a:xfrm>
          <a:prstGeom prst="line">
            <a:avLst/>
          </a:prstGeom>
          <a:ln w="38100">
            <a:solidFill>
              <a:srgbClr val="0E7C86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065448" y="3192170"/>
            <a:ext cx="0" cy="473659"/>
          </a:xfrm>
          <a:prstGeom prst="line">
            <a:avLst/>
          </a:prstGeom>
          <a:ln w="38100">
            <a:solidFill>
              <a:srgbClr val="0E7C86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164903" y="4579314"/>
            <a:ext cx="831488" cy="236830"/>
          </a:xfrm>
          <a:prstGeom prst="line">
            <a:avLst/>
          </a:prstGeom>
          <a:ln w="38100">
            <a:solidFill>
              <a:srgbClr val="0E7C86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4195302" y="4579314"/>
            <a:ext cx="831488" cy="236830"/>
          </a:xfrm>
          <a:prstGeom prst="line">
            <a:avLst/>
          </a:prstGeom>
          <a:ln w="38100">
            <a:solidFill>
              <a:srgbClr val="0E7C86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126246" y="3192170"/>
            <a:ext cx="0" cy="473658"/>
          </a:xfrm>
          <a:prstGeom prst="line">
            <a:avLst/>
          </a:prstGeom>
          <a:ln w="38100">
            <a:solidFill>
              <a:srgbClr val="0E7C86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195302" y="2041855"/>
            <a:ext cx="831488" cy="236829"/>
          </a:xfrm>
          <a:prstGeom prst="line">
            <a:avLst/>
          </a:prstGeom>
          <a:ln w="38100">
            <a:solidFill>
              <a:srgbClr val="0E7C86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632807" y="3154680"/>
            <a:ext cx="2926080" cy="721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defRPr sz="2000" b="1">
                <a:solidFill>
                  <a:srgbClr val="B46A0F"/>
                </a:solidFill>
                <a:latin typeface="Calibri"/>
              </a:defRPr>
            </a:pPr>
            <a:r>
              <a:rPr sz="2000" b="1">
                <a:solidFill>
                  <a:srgbClr val="B46A0F"/>
                </a:solidFill>
                <a:latin typeface="Calibri"/>
              </a:rPr>
              <a:t>Go round as many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  <a:defRPr sz="2000" b="1">
                <a:solidFill>
                  <a:srgbClr val="B46A0F"/>
                </a:solidFill>
                <a:latin typeface="Calibri"/>
              </a:defRPr>
            </a:pPr>
            <a:r>
              <a:rPr sz="2000" b="1">
                <a:solidFill>
                  <a:srgbClr val="B46A0F"/>
                </a:solidFill>
                <a:latin typeface="Calibri"/>
              </a:rPr>
              <a:t>times as you need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Pick your upgrade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185853" cy="5062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7308"/>
                <a:gridCol w="6304754"/>
                <a:gridCol w="2033791"/>
              </a:tblGrid>
              <a:tr h="632817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FFFFFF"/>
                          </a:solidFill>
                          <a:latin typeface="Calibri"/>
                        </a:rPr>
                        <a:t>Upgrade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FFFFFF"/>
                          </a:solidFill>
                          <a:latin typeface="Calibri"/>
                        </a:rPr>
                        <a:t>How hard?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</a:tr>
              <a:tr h="632817"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222222"/>
                          </a:solidFill>
                          <a:latin typeface="Calibri"/>
                        </a:rPr>
                        <a:t>Team light show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222222"/>
                          </a:solidFill>
                          <a:latin typeface="Calibri"/>
                        </a:rPr>
                        <a:t>Your own pattern when the rover wakes up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222222"/>
                          </a:solidFill>
                          <a:latin typeface="Calibri"/>
                        </a:rPr>
                        <a:t>Easy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632817"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222222"/>
                          </a:solidFill>
                          <a:latin typeface="Calibri"/>
                        </a:rPr>
                        <a:t>Headlight flash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222222"/>
                          </a:solidFill>
                          <a:latin typeface="Calibri"/>
                        </a:rPr>
                        <a:t>Hold A: headlights flash bright white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222222"/>
                          </a:solidFill>
                          <a:latin typeface="Calibri"/>
                        </a:rPr>
                        <a:t>Easy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632817"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222222"/>
                          </a:solidFill>
                          <a:latin typeface="Calibri"/>
                        </a:rPr>
                        <a:t>Party mode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222222"/>
                          </a:solidFill>
                          <a:latin typeface="Calibri"/>
                        </a:rPr>
                        <a:t>Tap X: rainbow lights on and off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22222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632817"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222222"/>
                          </a:solidFill>
                          <a:latin typeface="Calibri"/>
                        </a:rPr>
                        <a:t>Hazard lights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222222"/>
                          </a:solidFill>
                          <a:latin typeface="Calibri"/>
                        </a:rPr>
                        <a:t>Tap B: BOTH sides blink, like a stopped car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22222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632817"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222222"/>
                          </a:solidFill>
                          <a:latin typeface="Calibri"/>
                        </a:rPr>
                        <a:t>Crawl mode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222222"/>
                          </a:solidFill>
                          <a:latin typeface="Calibri"/>
                        </a:rPr>
                        <a:t>Hold ZL: half speed, for careful parking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22222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632817"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222222"/>
                          </a:solidFill>
                          <a:latin typeface="Calibri"/>
                        </a:rPr>
                        <a:t>Victory dance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222222"/>
                          </a:solidFill>
                          <a:latin typeface="Calibri"/>
                        </a:rPr>
                        <a:t>A button runs an autopilot dance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222222"/>
                          </a:solidFill>
                          <a:latin typeface="Calibri"/>
                        </a:rPr>
                        <a:t>Hard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632818"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222222"/>
                          </a:solidFill>
                          <a:latin typeface="Calibri"/>
                        </a:rPr>
                        <a:t>Your own idea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222222"/>
                          </a:solidFill>
                          <a:latin typeface="Calibri"/>
                        </a:rPr>
                        <a:t>Check it with your teacher first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>
                          <a:solidFill>
                            <a:srgbClr val="222222"/>
                          </a:solidFill>
                          <a:latin typeface="Calibri"/>
                        </a:rPr>
                        <a:t>You decide!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256032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600" b="1">
                <a:solidFill>
                  <a:srgbClr val="1F3A5F"/>
                </a:solidFill>
                <a:latin typeface="Calibri"/>
              </a:defRPr>
            </a:pPr>
            <a:r>
              <a:rPr sz="3600" b="1">
                <a:solidFill>
                  <a:srgbClr val="1F3A5F"/>
                </a:solidFill>
                <a:latin typeface="Calibri"/>
              </a:rPr>
              <a:t>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rPr sz="1600" b="0">
                <a:solidFill>
                  <a:srgbClr val="666666"/>
                </a:solidFill>
                <a:latin typeface="Calibri"/>
              </a:rPr>
              <a:t>About 5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Ask and imagine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0306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D6ECEE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F3A5F"/>
                </a:solidFill>
                <a:latin typeface="Calibri"/>
              </a:defRPr>
            </a:pPr>
            <a:r>
              <a:rPr sz="1700" b="1">
                <a:solidFill>
                  <a:srgbClr val="1F3A5F"/>
                </a:solidFill>
                <a:latin typeface="Calibri"/>
              </a:rP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0306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7692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sz="1700" b="0">
                <a:solidFill>
                  <a:srgbClr val="666666"/>
                </a:solidFill>
                <a:latin typeface="Calibri"/>
              </a:rPr>
              <a:t>Create and 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Plan before you 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In your Mission Log design sheet:</a:t>
            </a:r>
          </a:p>
          <a:p>
            <a:pPr lvl="1"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Which button? Held, or tapped?</a:t>
            </a:r>
          </a:p>
          <a:p>
            <a:pPr lvl="1"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What should happen? Draw it!</a:t>
            </a:r>
          </a:p>
          <a:p>
            <a:pPr lvl="1"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Which UPGRADE ZONES will you change?</a:t>
            </a:r>
          </a:p>
          <a:p>
            <a:pPr lvl="1"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How will you TEST that it works?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Show your plan to your teacher before you start typing.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Teams that plan finish faster. Really.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Where to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704708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200" b="1">
                <a:solidFill>
                  <a:srgbClr val="0E7C86"/>
                </a:solidFill>
                <a:latin typeface="Consolas"/>
              </a:defRPr>
            </a:pPr>
            <a:r>
              <a:rPr sz="1200" b="1">
                <a:solidFill>
                  <a:srgbClr val="0E7C86"/>
                </a:solidFill>
                <a:latin typeface="Consolas"/>
              </a:rPr>
              <a:t>e11a_my_upgrade.ino</a:t>
            </a:r>
          </a:p>
        </p:txBody>
      </p:sp>
      <p:sp>
        <p:nvSpPr>
          <p:cNvPr id="7" name="CODE_PANEL"/>
          <p:cNvSpPr/>
          <p:nvPr/>
        </p:nvSpPr>
        <p:spPr>
          <a:xfrm>
            <a:off x="502920" y="1517904"/>
            <a:ext cx="7047088" cy="4745736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666666"/>
                </a:solidFill>
                <a:latin typeface="Consolas"/>
              </a:rPr>
              <a:t>  // ===== BUTTONS =====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 if (tappedY())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   headlightsOn = !headlightsOn;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666666"/>
                </a:solidFill>
                <a:latin typeface="Consolas"/>
              </a:rPr>
              <a:t>  // ===== UPGRADE ZONE 2 =====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666666"/>
                </a:solidFill>
                <a:latin typeface="Consolas"/>
              </a:rPr>
              <a:t>  // if (tappedX())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666666"/>
                </a:solidFill>
                <a:latin typeface="Consolas"/>
              </a:rPr>
              <a:t>  //   partyMode = !partyMode;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666666"/>
                </a:solidFill>
                <a:latin typeface="Consolas"/>
              </a:rPr>
              <a:t>  //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70048" y="1517904"/>
            <a:ext cx="3818727" cy="4745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Zone 1, at the top: your true/false switches.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Zone 2, here: your buttons.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Zone 3, at the bottom: your lights.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The examples are already written. Remove the // to use them.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Building blocks you already know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200" b="1">
                <a:solidFill>
                  <a:srgbClr val="0E7C86"/>
                </a:solidFill>
                <a:latin typeface="Calibri"/>
              </a:defRPr>
            </a:pPr>
            <a:r>
              <a:rPr sz="2200" b="1">
                <a:solidFill>
                  <a:srgbClr val="0E7C86"/>
                </a:solidFill>
                <a:latin typeface="Calibri"/>
              </a:rPr>
              <a:t>To remember ON or 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0784"/>
            <a:ext cx="5364327" cy="4562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Zone 1:  bool partyMode = false;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Zone 2:  if (tappedX()) {</a:t>
            </a:r>
          </a:p>
          <a:p>
            <a:pPr lvl="1"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partyMode = !partyMode;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Zone 3:  if (partyMode) {  ... 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188720"/>
            <a:ext cx="53643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200" b="1">
                <a:solidFill>
                  <a:srgbClr val="0E7C86"/>
                </a:solidFill>
                <a:latin typeface="Calibri"/>
              </a:defRPr>
            </a:pPr>
            <a:r>
              <a:rPr sz="2200" b="1">
                <a:solidFill>
                  <a:srgbClr val="0E7C86"/>
                </a:solidFill>
                <a:latin typeface="Calibri"/>
              </a:rPr>
              <a:t>Handy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1700784"/>
            <a:ext cx="5364328" cy="4562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blinkIsOn()  -  blinking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rainbowColor(number * 3)  -  a rainbow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randomColor()  -  surprise colors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rumble(200)  -  a buzz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forward(), spinLeft()  -  autopilot moves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256032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600" b="1">
                <a:solidFill>
                  <a:srgbClr val="1F3A5F"/>
                </a:solidFill>
                <a:latin typeface="Calibri"/>
              </a:defRPr>
            </a:pPr>
            <a:r>
              <a:rPr sz="3600" b="1">
                <a:solidFill>
                  <a:srgbClr val="1F3A5F"/>
                </a:solidFill>
                <a:latin typeface="Calibri"/>
              </a:rPr>
              <a:t>Create and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rPr sz="1600" b="0">
                <a:solidFill>
                  <a:srgbClr val="666666"/>
                </a:solidFill>
                <a:latin typeface="Calibri"/>
              </a:rPr>
              <a:t>About 30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Ask and imagine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0306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0306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7692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D6ECEE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F3A5F"/>
                </a:solidFill>
                <a:latin typeface="Calibri"/>
              </a:defRPr>
            </a:pPr>
            <a:r>
              <a:rPr sz="1700" b="1">
                <a:solidFill>
                  <a:srgbClr val="1F3A5F"/>
                </a:solidFill>
                <a:latin typeface="Calibri"/>
              </a:rPr>
              <a:t>Create and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57692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NOW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Build your upgrade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1185855" cy="530352"/>
          </a:xfrm>
          <a:prstGeom prst="roundRect">
            <a:avLst>
              <a:gd name="adj" fmla="val 4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MISSION:   </a:t>
            </a:r>
            <a:r>
              <a:rPr sz="1500" b="1">
                <a:solidFill>
                  <a:srgbClr val="FFFFFF"/>
                </a:solidFill>
                <a:latin typeface="Consolas"/>
              </a:rPr>
              <a:t>e11a_my_upgrade</a:t>
            </a:r>
            <a:r>
              <a:rPr sz="1200">
                <a:solidFill>
                  <a:srgbClr val="FFFFFF"/>
                </a:solidFill>
                <a:latin typeface="Calibri"/>
              </a:rPr>
              <a:t>     (28 minutes)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6249137" cy="3273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Open e11a_my_upgrade. File &gt; Save As, with your team name.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Build ONE small piece. Upload. Test it, wheels up.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Works? Build the next piece. Doesn't? Fix it before adding more.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Write each test in your Mission Log.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Finished? Add a second upgrade, or help another team.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3537" y="1901952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What you should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3537" y="2304288"/>
            <a:ext cx="4525238" cy="9357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600" b="0">
                <a:solidFill>
                  <a:srgbClr val="222222"/>
                </a:solidFill>
                <a:latin typeface="Calibri"/>
              </a:defRPr>
            </a:pPr>
            <a:r>
              <a:rPr sz="2600" b="0">
                <a:solidFill>
                  <a:srgbClr val="222222"/>
                </a:solidFill>
                <a:latin typeface="Calibri"/>
              </a:rPr>
              <a:t>Your upgrade working, one piece at a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3537" y="3313236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Answer these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3537" y="3715572"/>
            <a:ext cx="4525238" cy="14599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What was the first thing that didn't work?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How did you find out why?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FBECEC"/>
          </a:solidFill>
          <a:ln w="12700">
            <a:solidFill>
              <a:srgbClr val="A3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A32A2A"/>
                </a:solidFill>
                <a:latin typeface="Calibri"/>
              </a:rPr>
              <a:t>SAFETY   </a:t>
            </a:r>
            <a:r>
              <a:rPr sz="1800">
                <a:solidFill>
                  <a:srgbClr val="222222"/>
                </a:solidFill>
                <a:latin typeface="Calibri"/>
              </a:rPr>
              <a:t>Dances and autopilot moves: floor only, inside the arena, everybody behind the 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Stuck? Try these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Click Verify. Read the FIRST error message, and its line number.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Count your braces. Every { needs a }.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Is it running the program you think? Check the tab name.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Add  Serial.println("got here");  to see if a part of your code runs.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Explain your code, line by line, to a teammate. Or to a rubber duck!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Show and tell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Every team gets one minute:</a:t>
            </a:r>
          </a:p>
          <a:p>
            <a:pPr lvl="1"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What does your upgrade do? Show it!</a:t>
            </a:r>
          </a:p>
          <a:p>
            <a:pPr lvl="1"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What went wrong, and how did you fix it?</a:t>
            </a:r>
          </a:p>
          <a:p>
            <a:pPr lvl="1"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What would you add next?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Check yourself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1.  Name the six steps of the design process.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2.  Why test after every small change?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3.  What does the ! do in  partyMode = !partyMode; ?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4.  Name one way to find a bug.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Mission Log, then pack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41187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200" b="1">
                <a:solidFill>
                  <a:srgbClr val="0E7C86"/>
                </a:solidFill>
                <a:latin typeface="Calibri"/>
              </a:defRPr>
            </a:pPr>
            <a:r>
              <a:rPr sz="2200" b="1">
                <a:solidFill>
                  <a:srgbClr val="0E7C86"/>
                </a:solidFill>
                <a:latin typeface="Calibri"/>
              </a:rPr>
              <a:t>In your Mission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0784"/>
            <a:ext cx="4118728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Finish your design sheet and test log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Write one thing you'd improve next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Stamp: Design Engineer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8848" y="1188720"/>
            <a:ext cx="6609927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200" b="1">
                <a:solidFill>
                  <a:srgbClr val="0E7C86"/>
                </a:solidFill>
                <a:latin typeface="Calibri"/>
              </a:defRPr>
            </a:pPr>
            <a:r>
              <a:rPr sz="2200" b="1">
                <a:solidFill>
                  <a:srgbClr val="0E7C86"/>
                </a:solidFill>
                <a:latin typeface="Calibri"/>
              </a:rPr>
              <a:t>Pack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8848" y="1700784"/>
            <a:ext cx="6609927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Crew Chief: vehicle power OFF.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Unplug the cable and coil it up.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Vehicle and controller back in their spot, stickers matching.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Close the laptop. Push your chairs 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Last job: every team member says one thing they learned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