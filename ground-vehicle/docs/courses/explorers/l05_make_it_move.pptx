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Check every stand before class. Today is the first lesson where code moves the wheels, and a vehicle that walks off a block is the accident you're preventing.</a:t>
            </a:r>
          </a:p>
          <a:p>
            <a:r>
              <a:rPr sz="1200">
                <a:latin typeface="Calibri"/>
              </a:rPr>
              <a:t>For the Human Tank: a pool noodle or a meter stick per demonstration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them out, then go straight to the safety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Do a quick drill: 'Crew Chiefs, hands on power switches... now OFF... now hands in the air.' Twice. It's the reflex you want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the agenda on the board as well, with the driving or uploading block circled. Students settle when they can see when the hands-on part starts.</a:t>
            </a:r>
          </a:p>
          <a:p>
            <a:r>
              <a:rPr sz="1200">
                <a:latin typeface="Calibri"/>
              </a:rPr>
              <a:t>The timings are a guide for a one-hour session. If the hands-on block runs long, take the time out of the check yourself questions, never out of the pack-up - a rushed pack-up is how cables and controllers go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If you have two fridge magnets, show push and pull. That's the whole idea of a motor.</a:t>
            </a:r>
          </a:p>
          <a:p>
            <a:r>
              <a:rPr sz="1200">
                <a:latin typeface="Calibri"/>
              </a:rPr>
              <a:t>The 'buzzer in your controller' is the rumble: a tiny motor spinning a lopsided weight. They'll use it in Lesson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Don't go into how the driver works inside. 'It sends the electricity one way or the other, and your program tells it which' is the right depth for this age.</a:t>
            </a:r>
          </a:p>
          <a:p>
            <a:r>
              <a:rPr sz="1200">
                <a:latin typeface="Calibri"/>
              </a:rPr>
              <a:t>For any older student who wants more: the chip is called an H-bridge, because the four switches inside it are drawn in the shape of the letter H. The Beginner course covers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bike story: pedal hard for a moment, then coast, then pedal again. Pedal most of the time and you go fast. Pedal a little and you go slow.</a:t>
            </a:r>
          </a:p>
          <a:p>
            <a:r>
              <a:rPr sz="1200">
                <a:latin typeface="Calibri"/>
              </a:rPr>
              <a:t>The motor driver does the same thing with electricity, but thousands of times a second - far too fast to see or hear. That's why the motor just seems to run smoothly at a lower speed.</a:t>
            </a:r>
          </a:p>
          <a:p>
            <a:r>
              <a:rPr sz="1200">
                <a:latin typeface="Calibri"/>
              </a:rPr>
              <a:t>Ask: which row would make the wheels go fastest? Which would make them barely move? Then: what would 0% look like? (All coasting. Stopped.)</a:t>
            </a:r>
          </a:p>
          <a:p>
            <a:r>
              <a:rPr sz="1200">
                <a:latin typeface="Calibri"/>
              </a:rPr>
              <a:t>Older students may want the real name: Pulse Width Modulation, or PWM. Give it to them, but don't test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Negative numbers aren't taught in school until about sixth grade, so don't assume the younger ones know them. A thermometer, or a number line on the board with 0 in the middle, is all it takes.</a:t>
            </a:r>
          </a:p>
          <a:p>
            <a:r>
              <a:rPr sz="1200">
                <a:latin typeface="Calibri"/>
              </a:rPr>
              <a:t>With the Learner limit of 50, drive(100, 100) is half of the motors' full power, and drive(50, 50) is a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Facing the class is confusing for left and right. Have the tank face the same way as the class, back to the room.</a:t>
            </a:r>
          </a:p>
          <a:p>
            <a:r>
              <a:rPr sz="1200">
                <a:latin typeface="Calibri"/>
              </a:rPr>
              <a:t>Answers: to turn right, the LEFT side goes faster. To spin, the two sides go opposite ways.</a:t>
            </a:r>
          </a:p>
          <a:p>
            <a:r>
              <a:rPr sz="1200">
                <a:latin typeface="Calibri"/>
              </a:rPr>
              <a:t>Good class shouts to try: drive(50, 50), drive(50, 0), drive(0, 50), drive(50, -50), drive(-50, -50).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Look under a vehicle together first: the front wheels can't turn left or right. So how does it steer?</a:t>
            </a:r>
          </a:p>
          <a:p>
            <a:r>
              <a:rPr sz="1200">
                <a:latin typeface="Calibri"/>
              </a:rPr>
              <a:t>Each arrow shows which way that SIDE'S wheels are pushing, and a longer arrow means faster.</a:t>
            </a:r>
          </a:p>
          <a:p>
            <a:r>
              <a:rPr sz="1200">
                <a:latin typeface="Calibri"/>
              </a:rPr>
              <a:t>Spin right is the one that surprises people: the left side goes forward and the right side goes BACKWARD, and the vehicle turns on the spot like a figure skater.</a:t>
            </a:r>
          </a:p>
          <a:p>
            <a:r>
              <a:rPr sz="1200">
                <a:latin typeface="Calibri"/>
              </a:rPr>
              <a:t>Tie it straight back to the Human Tank game they just played.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Important idea: drive() doesn't run the wheels FOR a time. It sets them and they keep going until the next drive(). The delay() is what decides how long each step lasts.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Walk the room and look at stands, not screens. A wheel touching the table will walk the vehicle off the edge.</a:t>
            </a:r>
          </a:p>
          <a:p>
            <a:r>
              <a:rPr sz="1200">
                <a:latin typeface="Calibri"/>
              </a:rPr>
              <a:t>The wake-up speed varies by vehicle and battery charge. Collect every team's number on the board - the spread is a nice lead-in to 'no two vehicles are the same' next lesson.</a:t>
            </a:r>
          </a:p>
          <a:p>
            <a:r>
              <a:rPr sz="1200">
                <a:latin typeface="Calibri"/>
              </a:rPr>
              <a:t>Level 3 dances: encourage a wiggle (drive(40, -40) then drive(-40, 40), short delays) and a 'drum roll' (both sides forward and back quickly).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Ask: once the wheel is turning, could it keep turning at an even lower speed? (Usually yes. Starting is harder than keeping going - a good thing to test if a team finishes early.)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each word out and have the room say it back. Saying a word out loud is half of owning it.</a:t>
            </a:r>
          </a:p>
          <a:p>
            <a:r>
              <a:rPr sz="1200">
                <a:latin typeface="Calibri"/>
              </a:rPr>
              <a:t>These are also in the glossary at the back of the Mission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1 magnets. 2 send the electricity the other way - in code, a minus speed. 3 spins right on the spot. 4 the left. 5 the program moves the wheels as soon as it starts, and a vehicle on a table can drive off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Next lesson is on the FLOOR. Check the floor space you'll use and tape the squares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Make It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Motors, magnets, and a vehicle with no steering wheel. Today the wheels turn - with the vehicle safely up on its stand.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One hour.  Teams of three, one vehicle per team.</a:t>
            </a:r>
          </a:p>
        </p:txBody>
      </p:sp>
      <p:pic>
        <p:nvPicPr>
          <p:cNvPr id="8" name="Picture 7" descr="vehicle-gen3-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23110"/>
            <a:ext cx="4480560" cy="3360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today,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Say how an electric motor turns electricity into spinning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Explain how a motor goes forward, backward, and half speed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Explain how a vehicle with no steering wheel can turn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Make the wheels move from your own code - safely, wheels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 the wheels MOVE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WHEELS UP: the vehicle stays on its stand the whole lesson.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Crew Chief: keep a finger near the power switch.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Hair tied back. Sleeves pushed up. Cables away from the wheels.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Switch jobs! Make sure today's Crew Chief knows the power switch.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Wheels moving when you didn't expect it? Crew Chief: power OFF. Then figure it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86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524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Warm-up, and the wheels-up rule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What is inside a motor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0:12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Pedal and coast: how a motor goes half speed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0:20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Human Tank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0:30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Upload e05a_motor_lab - wheels up!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0:52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Mission Log and pack up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How motors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How motors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Tank steering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Motor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What's inside a motor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An electric motor is full of MAGNETS.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Electricity flowing through coils of wire turns them into magnets too.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Magnets push and pull on each other - and that push makes the motor spin.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Your vehicle has FOUR motors, one for each wheel.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The same idea spins fans, drills, electric cars, and the buzzer in your controller.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Forward and backward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Electricity one way: the motor spins forward. The OTHER way: backward.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A chip called the MOTOR DRIVER is the traffic cop that picks the way. Your program tells it what to do.</a:t>
            </a:r>
          </a:p>
        </p:txBody>
      </p:sp>
      <p:pic>
        <p:nvPicPr>
          <p:cNvPr id="7" name="Picture 6" descr="vehicle-basic-lay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863" y="2267712"/>
            <a:ext cx="6785968" cy="32644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86984"/>
            <a:ext cx="1118585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The control board from above. Each motor has its own driver.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How motors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959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Tank steering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Motor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How a motor goes half speed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The motor driver flips the power ON and OFF 20,000 times every second.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901952"/>
            <a:ext cx="365760" cy="27432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154680" y="1847088"/>
            <a:ext cx="3108960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ON = pedal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901952"/>
            <a:ext cx="365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812280" y="1847088"/>
            <a:ext cx="3108960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OFF = coast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20574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25%  slow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2651760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3781386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3781386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4911012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4911012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040638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040638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7170264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170264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8299890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8299890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9429516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9429516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10559142" y="251460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10559142" y="2514600"/>
            <a:ext cx="28240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02920" y="3566160"/>
            <a:ext cx="20574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50%  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2651760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3781386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2" name="Rectangle 31"/>
          <p:cNvSpPr/>
          <p:nvPr/>
        </p:nvSpPr>
        <p:spPr>
          <a:xfrm>
            <a:off x="3781386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4911012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4911012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6040638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6" name="Rectangle 35"/>
          <p:cNvSpPr/>
          <p:nvPr/>
        </p:nvSpPr>
        <p:spPr>
          <a:xfrm>
            <a:off x="6040638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7170264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8" name="Rectangle 37"/>
          <p:cNvSpPr/>
          <p:nvPr/>
        </p:nvSpPr>
        <p:spPr>
          <a:xfrm>
            <a:off x="7170264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8299890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0" name="Rectangle 39"/>
          <p:cNvSpPr/>
          <p:nvPr/>
        </p:nvSpPr>
        <p:spPr>
          <a:xfrm>
            <a:off x="8299890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9429516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9429516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10559142" y="347472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4" name="Rectangle 43"/>
          <p:cNvSpPr/>
          <p:nvPr/>
        </p:nvSpPr>
        <p:spPr>
          <a:xfrm>
            <a:off x="10559142" y="3474720"/>
            <a:ext cx="564813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502920" y="4526280"/>
            <a:ext cx="20574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100%  fast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2651760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8" name="Rectangle 47"/>
          <p:cNvSpPr/>
          <p:nvPr/>
        </p:nvSpPr>
        <p:spPr>
          <a:xfrm>
            <a:off x="3781386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3781386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4911012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4911012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2" name="Rectangle 51"/>
          <p:cNvSpPr/>
          <p:nvPr/>
        </p:nvSpPr>
        <p:spPr>
          <a:xfrm>
            <a:off x="6040638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3" name="Rectangle 52"/>
          <p:cNvSpPr/>
          <p:nvPr/>
        </p:nvSpPr>
        <p:spPr>
          <a:xfrm>
            <a:off x="6040638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4" name="Rectangle 53"/>
          <p:cNvSpPr/>
          <p:nvPr/>
        </p:nvSpPr>
        <p:spPr>
          <a:xfrm>
            <a:off x="7170264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7170264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6" name="Rectangle 55"/>
          <p:cNvSpPr/>
          <p:nvPr/>
        </p:nvSpPr>
        <p:spPr>
          <a:xfrm>
            <a:off x="8299890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8299890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8" name="Rectangle 57"/>
          <p:cNvSpPr/>
          <p:nvPr/>
        </p:nvSpPr>
        <p:spPr>
          <a:xfrm>
            <a:off x="9429516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9429516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0" name="Rectangle 59"/>
          <p:cNvSpPr/>
          <p:nvPr/>
        </p:nvSpPr>
        <p:spPr>
          <a:xfrm>
            <a:off x="10559142" y="4434840"/>
            <a:ext cx="112962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10559142" y="4434840"/>
            <a:ext cx="1129626" cy="54864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2" name="Rounded Rectangle 6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Your speed number picks how much of each flip is ON. More ON means faster wheels.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Speeds in your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drive(leftSpeed, rightSpeed)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Speeds go from -100 to 100.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100 is top speed forward.  50 is half.  0 is stop.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-100 is top speed BACKWARD.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Minus means backward - like a temperature below zero.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SPEED_LIMIT decides how fast "top speed" really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Tank steering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How motors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959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Tank steering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8998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Motor lab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Human Tank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UNPLUGGED:   </a:t>
            </a:r>
            <a:r>
              <a:rPr sz="1500" b="1">
                <a:solidFill>
                  <a:srgbClr val="FFFFFF"/>
                </a:solidFill>
                <a:latin typeface="Calibri"/>
              </a:rPr>
              <a:t>Two volunteers and a pool noodle</a:t>
            </a:r>
            <a:r>
              <a:rPr sz="1200">
                <a:solidFill>
                  <a:srgbClr val="FFFFFF"/>
                </a:solidFill>
                <a:latin typeface="Calibri"/>
              </a:rPr>
              <a:t>     (10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Two volunteers stand side by side, holding a pool noodle between them.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LEFT person is the left wheels. The RIGHT person is the right wheels.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Both step forward together: STRAIGHT.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Left steps forward, right stands still: which way do you turn?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Left steps forward, right steps BACKWARD: SPIN!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Class: shout out drive(left, right) for the tank to act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632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Turning toward the side that moves 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010325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412661"/>
            <a:ext cx="4525238" cy="17628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To turn RIGHT, which side has to go faster?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How do you spin on the spot?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Small, slow steps. The tank never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No steering wheel: it turns like a tank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Straight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914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147914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2290914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290914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349082" y="2148840"/>
            <a:ext cx="960120" cy="141732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371942" y="2221992"/>
            <a:ext cx="9144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front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14742" y="2217420"/>
            <a:ext cx="0" cy="1280160"/>
          </a:xfrm>
          <a:prstGeom prst="line">
            <a:avLst/>
          </a:prstGeom>
          <a:ln w="635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43542" y="2217420"/>
            <a:ext cx="0" cy="1280160"/>
          </a:xfrm>
          <a:prstGeom prst="line">
            <a:avLst/>
          </a:prstGeom>
          <a:ln w="635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7490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onsolas"/>
              </a:defRPr>
            </a:pPr>
            <a:r>
              <a:rPr sz="2000" b="1">
                <a:solidFill>
                  <a:srgbClr val="1F3A5F"/>
                </a:solidFill>
                <a:latin typeface="Consolas"/>
              </a:rPr>
              <a:t>drive(50, 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goes straight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7389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Curve right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92383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3992383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5135383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5135383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4193551" y="2148840"/>
            <a:ext cx="960120" cy="141732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216411" y="2221992"/>
            <a:ext cx="9144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front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759211" y="2217420"/>
            <a:ext cx="0" cy="1280160"/>
          </a:xfrm>
          <a:prstGeom prst="line">
            <a:avLst/>
          </a:prstGeom>
          <a:ln w="635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588011" y="2601468"/>
            <a:ext cx="0" cy="512064"/>
          </a:xfrm>
          <a:prstGeom prst="line">
            <a:avLst/>
          </a:prstGeom>
          <a:ln w="635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47389" y="37490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onsolas"/>
              </a:defRPr>
            </a:pPr>
            <a:r>
              <a:rPr sz="2000" b="1">
                <a:solidFill>
                  <a:srgbClr val="1F3A5F"/>
                </a:solidFill>
                <a:latin typeface="Consolas"/>
              </a:rPr>
              <a:t>drive(50, 20)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7389" y="42062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curves to the right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858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Spin right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36852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836852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7979852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7979852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7038020" y="2148840"/>
            <a:ext cx="960120" cy="141732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060880" y="2221992"/>
            <a:ext cx="9144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front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603680" y="2217420"/>
            <a:ext cx="0" cy="1280160"/>
          </a:xfrm>
          <a:prstGeom prst="line">
            <a:avLst/>
          </a:prstGeom>
          <a:ln w="635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32480" y="2217420"/>
            <a:ext cx="0" cy="1280160"/>
          </a:xfrm>
          <a:prstGeom prst="line">
            <a:avLst/>
          </a:prstGeom>
          <a:ln w="63500">
            <a:solidFill>
              <a:srgbClr val="B46A0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91858" y="37490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onsolas"/>
              </a:defRPr>
            </a:pPr>
            <a:r>
              <a:rPr sz="2000" b="1">
                <a:solidFill>
                  <a:srgbClr val="1F3A5F"/>
                </a:solidFill>
                <a:latin typeface="Consolas"/>
              </a:rPr>
              <a:t>drive(50, -50)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1858" y="42062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spins on the spot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6327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Backward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81321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9681321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10824321" y="222199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10824321" y="3067812"/>
            <a:ext cx="219456" cy="425196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4" name="Rectangle 43"/>
          <p:cNvSpPr/>
          <p:nvPr/>
        </p:nvSpPr>
        <p:spPr>
          <a:xfrm>
            <a:off x="9882489" y="2148840"/>
            <a:ext cx="960120" cy="141732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9905349" y="2221992"/>
            <a:ext cx="9144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front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448149" y="2217420"/>
            <a:ext cx="0" cy="1280160"/>
          </a:xfrm>
          <a:prstGeom prst="line">
            <a:avLst/>
          </a:prstGeom>
          <a:ln w="63500">
            <a:solidFill>
              <a:srgbClr val="B46A0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276949" y="2217420"/>
            <a:ext cx="0" cy="1280160"/>
          </a:xfrm>
          <a:prstGeom prst="line">
            <a:avLst/>
          </a:prstGeom>
          <a:ln w="63500">
            <a:solidFill>
              <a:srgbClr val="B46A0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36327" y="37490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onsolas"/>
              </a:defRPr>
            </a:pPr>
            <a:r>
              <a:rPr sz="2000" b="1">
                <a:solidFill>
                  <a:srgbClr val="1F3A5F"/>
                </a:solidFill>
                <a:latin typeface="Consolas"/>
              </a:rPr>
              <a:t>drive(-50, -50)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6327" y="4206240"/>
            <a:ext cx="265244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backs 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drive(leftSpeed, rightSpeed). Make one side faster than the other and the vehicle turns toward the SLOWER side.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Motor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20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How motors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959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Tank steering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8998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Motor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2037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motor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e05a_motor_lab.ino   (the first three steps)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void loop()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Serial.println("Left side forward");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drive(50, 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delay(2000);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Serial.println("Right side forward");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drive(0, 50);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delay(2000);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Serial.println("Both sides forward");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drive(50, 50);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delay(2000);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Each step: say what's happening, set the wheels, wait.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drive() keeps the wheels going until you change them.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PREDICT before each step!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Motor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e05a_motor_lab</a:t>
            </a:r>
            <a:r>
              <a:rPr sz="1200">
                <a:solidFill>
                  <a:srgbClr val="FFFFFF"/>
                </a:solidFill>
                <a:latin typeface="Calibri"/>
              </a:rPr>
              <a:t>     (22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Crew Chief: vehicle on its stand, all four wheels in the air. Check!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Upload. Watch the countdown on the lights. Then the wheels move!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LEVEL 1: before each step, PREDICT which wheels turn, and which way.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LEVEL 2: find the WAKE-UP SPEED. Change drive(50, 0) (line 39) to 30, then 20, then 10.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LEVEL 3: write a WHEEL DANCE: change loop() into your own routine.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1299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Left wheels, right wheels, both, backward, a spin, then a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507397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909733"/>
            <a:ext cx="4525238" cy="126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Which step is a spin? Why?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What's your wake-up speed?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WHEELS UP the whole lesson. If the vehicle creeps on its stand, Crew Chief: power OFF.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Why is there a wake-up speed?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 motor needs a big enough push to get started - like you getting out of bed!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Tiny speeds can't beat the friction in the gears and the wheels.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On the floor it's even higher: now the motor has to move the whole vehicle.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Engineers call this STARTING FRICTION. Every motor has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New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474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700"/>
                <a:gridCol w="8442154"/>
              </a:tblGrid>
              <a:tr h="790575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Motor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Turns electricity into spinning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Magnet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Pushes or pulls on other magnets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Motor driver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chip that sends electricity to the motor, one way or the other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Tank steering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Turning by running one side faster than the other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Negative number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Less than zero. Here, minus means backward.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What's inside a motor that makes it spin?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How do you make a motor spin backward?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What does drive(50, -50) do?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To curve RIGHT, which side goes faster?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5.  Why must the wheels be up today?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Log, then pack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11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In your Mission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11872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Write your wake-up speed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Draw or write your wheel dance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Stamp: Motor Mechanic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8848" y="1188720"/>
            <a:ext cx="660992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Pack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8848" y="1700784"/>
            <a:ext cx="6609927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Crew Chief: vehicle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Unplug the cable and coil it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Vehicle and controller back in their spot, stickers matching.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Close the laptop. Push your chairs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Last job: every team member says one thing they learned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