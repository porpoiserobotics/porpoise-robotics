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BEFORE CLASS: build the Mission Day course, charge every battery and controller, print the certificates with students' names filled in, and set out chairs for any families.</a:t>
            </a:r>
          </a:p>
          <a:p>
            <a:r>
              <a:rPr sz="1200">
                <a:latin typeface="Calibri"/>
              </a:rPr>
              <a:t>Have a spare, known-good vehicle loaded with e12a_mission_day in case one breaks.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them out, and welcome any families properly. Ask the students to explain to them what a Learner Permit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If families are here, this is your welcome. Two sentences on what the course was, then hand over to the students.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agenda on the board as well, with the driving or uploading block circled. Students settle when they can see when the hands-on part starts.</a:t>
            </a:r>
          </a:p>
          <a:p>
            <a:r>
              <a:rPr sz="1200">
                <a:latin typeface="Calibri"/>
              </a:rPr>
              <a:t>The timings are a guide for a one-hour session. If the hands-on block runs long, take the time out of the check yourself questions, never out of the pack-up - a rushed pack-up is how cables and controllers go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this up before families arrive, with tape and cups. Mark the no-signal zone with a dashed line of tape or a row of paper plates, so everybody can see where autopilot has to take over.</a:t>
            </a:r>
          </a:p>
          <a:p>
            <a:r>
              <a:rPr sz="1200">
                <a:latin typeface="Calibri"/>
              </a:rPr>
              <a:t>Run the stations in order, one team at a time, with the rest of the class watching from behind the arena line. Watching other teams is half of the learning on this day.</a:t>
            </a:r>
          </a:p>
          <a:p>
            <a:r>
              <a:rPr sz="1200">
                <a:latin typeface="Calibri"/>
              </a:rPr>
              <a:t>Adjust the course to your room. The four stations matter; the exact layout doesn't.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Keep it non-competitive. You can time teams if your group loves that, but a single stopwatch makes the slowest team the story of the 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the course on foot with the class before any vehicle goes on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e12a has everything the course taught, working, plus an autopilot button. Using it for the stations means a broken upgrade can't spoil a team's mission.</a:t>
            </a:r>
          </a:p>
          <a:p>
            <a:r>
              <a:rPr sz="1200">
                <a:latin typeface="Calibri"/>
              </a:rPr>
              <a:t>If a team's own program already has a reliable autopilot button, let them use it for the stations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engine room keeps listening during autopilot moves: holding B stops the vehicle at once and skips the rest of the route. Show this once so everyone knows it works.</a:t>
            </a:r>
          </a:p>
          <a:p>
            <a:r>
              <a:rPr sz="1200">
                <a:latin typeface="Calibri"/>
              </a:rPr>
              <a:t>QUARTER_TURN should be each team's tuned number from Lesson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Ten minutes goes fast. If a team's autopilot isn't right by the end, it can still cross the zone - a team member carries the 'radio' across. Never let a station become a dead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Narrate each team's run like a sports commentator - with names. It's the most memorable thing you'll do all course.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a few out and ask students to stand when you read one they were proud of. Then hand out the Finish Line questionnaire while they're thinking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this straight after the mission and before the showcase, while the whole course is fresh. If families are here, invite them to look through their child's Mission Log while the class writes.</a:t>
            </a:r>
          </a:p>
          <a:p>
            <a:r>
              <a:rPr sz="1200">
                <a:latin typeface="Calibri"/>
              </a:rPr>
              <a:t>If the day is running late, keep this and shorten the showcase. The Finish Line is the questionnaire that shows how far the cohort has come.</a:t>
            </a:r>
          </a:p>
          <a:p>
            <a:r>
              <a:rPr sz="1200">
                <a:latin typeface="Calibri"/>
              </a:rPr>
              <a:t>Same routine as before: codes not names, read every question aloud, no hints on Part 2. Collect every form before the certificates come out.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Explaining one line is the bit families remember. Help the younger students pick a line beforehand.</a:t>
            </a:r>
          </a:p>
          <a:p>
            <a:r>
              <a:rPr sz="1200">
                <a:latin typeface="Calibri"/>
              </a:rPr>
              <a:t>Hand certificates out one at a time, with each student's name and one specific thing they did well.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If you have dates for the next course, put them on the board.</a:t>
            </a:r>
          </a:p>
          <a:p>
            <a:r>
              <a:rPr sz="1200">
                <a:latin typeface="Calibri"/>
              </a:rPr>
              <a:t>Students who want more right now: the Arduino website has free project ideas, and every program in this course can be read and changed at home if they have an ESP32.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End here. Thank the families for coming, and the students for their honest answers all course. If the Halfway Check-in led you to change something, tell them what - it shows them their answers counted.</a:t>
            </a:r>
          </a:p>
          <a:p>
            <a:r>
              <a:rPr sz="1200">
                <a:latin typeface="Calibri"/>
              </a:rPr>
              <a:t>The Finish Line forms go into questionnaire_tracker.xlsx, and the README describes the cohort review that turns them into changes for next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Last pack-up. Batteries come to you, every one.</a:t>
            </a:r>
          </a:p>
          <a:p>
            <a:r>
              <a:rPr sz="1200">
                <a:latin typeface="Calibri"/>
              </a:rPr>
              <a:t>Let students take the Mission Log home. It's the record of everything they did.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12</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Mission Day</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Four stations, one vehicle, your whole team. Today you show everything you've learned.</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One hour.  Teams of three, one vehicle per team.</a:t>
            </a:r>
          </a:p>
        </p:txBody>
      </p:sp>
      <p:pic>
        <p:nvPicPr>
          <p:cNvPr id="8" name="Picture 7" descr="vehicle-turn-signal-left.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Today's mission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today, you can:</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Drive the Mission Day course with your team</a:t>
            </a:r>
          </a:p>
          <a:p>
            <a:pPr algn="l">
              <a:lnSpc>
                <a:spcPct val="100000"/>
              </a:lnSpc>
              <a:spcAft>
                <a:spcPts val="1300"/>
              </a:spcAft>
              <a:defRPr sz="1900" b="0">
                <a:solidFill>
                  <a:srgbClr val="222222"/>
                </a:solidFill>
                <a:latin typeface="Calibri"/>
              </a:defRPr>
            </a:pPr>
            <a:r>
              <a:rPr sz="1900" b="0">
                <a:solidFill>
                  <a:srgbClr val="222222"/>
                </a:solidFill>
                <a:latin typeface="Calibri"/>
              </a:rPr>
              <a:t>2.   Cross the no-signal zone on autopilot</a:t>
            </a:r>
          </a:p>
          <a:p>
            <a:pPr algn="l">
              <a:lnSpc>
                <a:spcPct val="100000"/>
              </a:lnSpc>
              <a:spcAft>
                <a:spcPts val="1300"/>
              </a:spcAft>
              <a:defRPr sz="1900" b="0">
                <a:solidFill>
                  <a:srgbClr val="222222"/>
                </a:solidFill>
                <a:latin typeface="Calibri"/>
              </a:defRPr>
            </a:pPr>
            <a:r>
              <a:rPr sz="1900" b="0">
                <a:solidFill>
                  <a:srgbClr val="222222"/>
                </a:solidFill>
                <a:latin typeface="Calibri"/>
              </a:rPr>
              <a:t>3.   Show your upgrade, and explain how it works</a:t>
            </a:r>
          </a:p>
          <a:p>
            <a:pPr algn="l">
              <a:lnSpc>
                <a:spcPct val="100000"/>
              </a:lnSpc>
              <a:spcAft>
                <a:spcPts val="1300"/>
              </a:spcAft>
              <a:defRPr sz="1900" b="0">
                <a:solidFill>
                  <a:srgbClr val="222222"/>
                </a:solidFill>
                <a:latin typeface="Calibri"/>
              </a:defRPr>
            </a:pPr>
            <a:r>
              <a:rPr sz="1900" b="0">
                <a:solidFill>
                  <a:srgbClr val="222222"/>
                </a:solidFill>
                <a:latin typeface="Calibri"/>
              </a:rPr>
              <a:t>4.   Look back at how far you've come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briefing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Twelve lessons ago, you had never programmed a robot.</a:t>
            </a:r>
          </a:p>
          <a:p>
            <a:pPr algn="l">
              <a:lnSpc>
                <a:spcPct val="100000"/>
              </a:lnSpc>
              <a:spcAft>
                <a:spcPts val="900"/>
              </a:spcAft>
              <a:defRPr sz="3000" b="0">
                <a:solidFill>
                  <a:srgbClr val="222222"/>
                </a:solidFill>
                <a:latin typeface="Calibri"/>
              </a:defRPr>
            </a:pPr>
            <a:r>
              <a:rPr sz="3000" b="0">
                <a:solidFill>
                  <a:srgbClr val="222222"/>
                </a:solidFill>
                <a:latin typeface="Calibri"/>
              </a:rPr>
              <a:t>Today your team drives a course with four stations - including one where the radio 'doesn't work'.</a:t>
            </a:r>
          </a:p>
          <a:p>
            <a:pPr algn="l">
              <a:lnSpc>
                <a:spcPct val="100000"/>
              </a:lnSpc>
              <a:spcAft>
                <a:spcPts val="900"/>
              </a:spcAft>
              <a:defRPr sz="3000" b="0">
                <a:solidFill>
                  <a:srgbClr val="222222"/>
                </a:solidFill>
                <a:latin typeface="Calibri"/>
              </a:defRPr>
            </a:pPr>
            <a:r>
              <a:rPr sz="3000" b="0">
                <a:solidFill>
                  <a:srgbClr val="222222"/>
                </a:solidFill>
                <a:latin typeface="Calibri"/>
              </a:rPr>
              <a:t>Then you show off the upgrade you designed.</a:t>
            </a:r>
          </a:p>
          <a:p>
            <a:pPr algn="l">
              <a:lnSpc>
                <a:spcPct val="100000"/>
              </a:lnSpc>
              <a:spcAft>
                <a:spcPts val="900"/>
              </a:spcAft>
              <a:defRPr sz="3000" b="0">
                <a:solidFill>
                  <a:srgbClr val="222222"/>
                </a:solidFill>
                <a:latin typeface="Calibri"/>
              </a:defRPr>
            </a:pPr>
            <a:r>
              <a:rPr sz="3000" b="0">
                <a:solidFill>
                  <a:srgbClr val="222222"/>
                </a:solidFill>
                <a:latin typeface="Calibri"/>
              </a:rPr>
              <a:t>Everybody drives. Everybody explains something.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3867150"/>
        </p:xfrm>
        <a:graphic>
          <a:graphicData uri="http://schemas.openxmlformats.org/drawingml/2006/table">
            <a:tbl>
              <a:tblPr firstRow="1" bandRow="1">
                <a:tableStyleId>{5C22544A-7EE6-4342-B048-85BDC9FD1C3A}</a:tableStyleId>
              </a:tblPr>
              <a:tblGrid>
                <a:gridCol w="1118585"/>
                <a:gridCol w="10067269"/>
              </a:tblGrid>
              <a:tr h="552450">
                <a:tc>
                  <a:txBody>
                    <a:bodyPr/>
                    <a:lstStyle/>
                    <a:p>
                      <a:r>
                        <a:rPr sz="3000" b="1">
                          <a:solidFill>
                            <a:srgbClr val="FFFFFF"/>
                          </a:solidFill>
                          <a:latin typeface="Calibri"/>
                        </a:rPr>
                        <a:t>Time</a:t>
                      </a:r>
                    </a:p>
                  </a:txBody>
                  <a:tcPr marL="73152" marT="18288" marB="18288">
                    <a:solidFill>
                      <a:srgbClr val="1F3A5F"/>
                    </a:solidFill>
                  </a:tcPr>
                </a:tc>
                <a:tc>
                  <a:txBody>
                    <a:bodyPr/>
                    <a:lstStyle/>
                    <a:p>
                      <a:r>
                        <a:rPr sz="3000" b="1">
                          <a:solidFill>
                            <a:srgbClr val="FFFFFF"/>
                          </a:solidFill>
                          <a:latin typeface="Calibri"/>
                        </a:rPr>
                        <a:t>What we do</a:t>
                      </a:r>
                    </a:p>
                  </a:txBody>
                  <a:tcPr marL="73152" marT="18288" marB="18288">
                    <a:solidFill>
                      <a:srgbClr val="1F3A5F"/>
                    </a:solidFill>
                  </a:tcPr>
                </a:tc>
              </a:tr>
              <a:tr h="552450">
                <a:tc>
                  <a:txBody>
                    <a:bodyPr/>
                    <a:lstStyle/>
                    <a:p>
                      <a:r>
                        <a:rPr sz="3000">
                          <a:solidFill>
                            <a:srgbClr val="222222"/>
                          </a:solidFill>
                          <a:latin typeface="Calibri"/>
                        </a:rPr>
                        <a:t>0:00</a:t>
                      </a:r>
                    </a:p>
                  </a:txBody>
                  <a:tcPr marL="73152" marT="18288" marB="18288">
                    <a:solidFill>
                      <a:srgbClr val="FFFFFF"/>
                    </a:solidFill>
                  </a:tcPr>
                </a:tc>
                <a:tc>
                  <a:txBody>
                    <a:bodyPr/>
                    <a:lstStyle/>
                    <a:p>
                      <a:r>
                        <a:rPr sz="3000">
                          <a:solidFill>
                            <a:srgbClr val="222222"/>
                          </a:solidFill>
                          <a:latin typeface="Calibri"/>
                        </a:rPr>
                        <a:t>Mission briefing and the course</a:t>
                      </a:r>
                    </a:p>
                  </a:txBody>
                  <a:tcPr marL="73152" marT="18288" marB="18288">
                    <a:solidFill>
                      <a:srgbClr val="FFFFFF"/>
                    </a:solidFill>
                  </a:tcPr>
                </a:tc>
              </a:tr>
              <a:tr h="552450">
                <a:tc>
                  <a:txBody>
                    <a:bodyPr/>
                    <a:lstStyle/>
                    <a:p>
                      <a:r>
                        <a:rPr sz="3000">
                          <a:solidFill>
                            <a:srgbClr val="222222"/>
                          </a:solidFill>
                          <a:latin typeface="Calibri"/>
                        </a:rPr>
                        <a:t>0:05</a:t>
                      </a:r>
                    </a:p>
                  </a:txBody>
                  <a:tcPr marL="73152" marT="18288" marB="18288">
                    <a:solidFill>
                      <a:srgbClr val="EEF3F8"/>
                    </a:solidFill>
                  </a:tcPr>
                </a:tc>
                <a:tc>
                  <a:txBody>
                    <a:bodyPr/>
                    <a:lstStyle/>
                    <a:p>
                      <a:r>
                        <a:rPr sz="3000">
                          <a:solidFill>
                            <a:srgbClr val="222222"/>
                          </a:solidFill>
                          <a:latin typeface="Calibri"/>
                        </a:rPr>
                        <a:t>Pre-mission checks and autopilot tuning</a:t>
                      </a:r>
                    </a:p>
                  </a:txBody>
                  <a:tcPr marL="73152" marT="18288" marB="18288">
                    <a:solidFill>
                      <a:srgbClr val="EEF3F8"/>
                    </a:solidFill>
                  </a:tcPr>
                </a:tc>
              </a:tr>
              <a:tr h="552450">
                <a:tc>
                  <a:txBody>
                    <a:bodyPr/>
                    <a:lstStyle/>
                    <a:p>
                      <a:r>
                        <a:rPr sz="3000">
                          <a:solidFill>
                            <a:srgbClr val="222222"/>
                          </a:solidFill>
                          <a:latin typeface="Calibri"/>
                        </a:rPr>
                        <a:t>0:15</a:t>
                      </a:r>
                    </a:p>
                  </a:txBody>
                  <a:tcPr marL="73152" marT="18288" marB="18288">
                    <a:solidFill>
                      <a:srgbClr val="FFFFFF"/>
                    </a:solidFill>
                  </a:tcPr>
                </a:tc>
                <a:tc>
                  <a:txBody>
                    <a:bodyPr/>
                    <a:lstStyle/>
                    <a:p>
                      <a:r>
                        <a:rPr sz="3000">
                          <a:solidFill>
                            <a:srgbClr val="222222"/>
                          </a:solidFill>
                          <a:latin typeface="Calibri"/>
                        </a:rPr>
                        <a:t>The mission: four stations, every team</a:t>
                      </a:r>
                    </a:p>
                  </a:txBody>
                  <a:tcPr marL="73152" marT="18288" marB="18288">
                    <a:solidFill>
                      <a:srgbClr val="FFFFFF"/>
                    </a:solidFill>
                  </a:tcPr>
                </a:tc>
              </a:tr>
              <a:tr h="552450">
                <a:tc>
                  <a:txBody>
                    <a:bodyPr/>
                    <a:lstStyle/>
                    <a:p>
                      <a:r>
                        <a:rPr sz="3000">
                          <a:solidFill>
                            <a:srgbClr val="222222"/>
                          </a:solidFill>
                          <a:latin typeface="Calibri"/>
                        </a:rPr>
                        <a:t>0:40</a:t>
                      </a:r>
                    </a:p>
                  </a:txBody>
                  <a:tcPr marL="73152" marT="18288" marB="18288">
                    <a:solidFill>
                      <a:srgbClr val="EEF3F8"/>
                    </a:solidFill>
                  </a:tcPr>
                </a:tc>
                <a:tc>
                  <a:txBody>
                    <a:bodyPr/>
                    <a:lstStyle/>
                    <a:p>
                      <a:r>
                        <a:rPr sz="3000">
                          <a:solidFill>
                            <a:srgbClr val="222222"/>
                          </a:solidFill>
                          <a:latin typeface="Calibri"/>
                        </a:rPr>
                        <a:t>Look back: the Finish Line questionnaire</a:t>
                      </a:r>
                    </a:p>
                  </a:txBody>
                  <a:tcPr marL="73152" marT="18288" marB="18288">
                    <a:solidFill>
                      <a:srgbClr val="EEF3F8"/>
                    </a:solidFill>
                  </a:tcPr>
                </a:tc>
              </a:tr>
              <a:tr h="552450">
                <a:tc>
                  <a:txBody>
                    <a:bodyPr/>
                    <a:lstStyle/>
                    <a:p>
                      <a:r>
                        <a:rPr sz="3000">
                          <a:solidFill>
                            <a:srgbClr val="222222"/>
                          </a:solidFill>
                          <a:latin typeface="Calibri"/>
                        </a:rPr>
                        <a:t>0:47</a:t>
                      </a:r>
                    </a:p>
                  </a:txBody>
                  <a:tcPr marL="73152" marT="18288" marB="18288">
                    <a:solidFill>
                      <a:srgbClr val="FFFFFF"/>
                    </a:solidFill>
                  </a:tcPr>
                </a:tc>
                <a:tc>
                  <a:txBody>
                    <a:bodyPr/>
                    <a:lstStyle/>
                    <a:p>
                      <a:r>
                        <a:rPr sz="3000">
                          <a:solidFill>
                            <a:srgbClr val="222222"/>
                          </a:solidFill>
                          <a:latin typeface="Calibri"/>
                        </a:rPr>
                        <a:t>Upgrade showcase and certificates</a:t>
                      </a:r>
                    </a:p>
                  </a:txBody>
                  <a:tcPr marL="73152" marT="18288" marB="18288">
                    <a:solidFill>
                      <a:srgbClr val="FFFFFF"/>
                    </a:solidFill>
                  </a:tcPr>
                </a:tc>
              </a:tr>
              <a:tr h="552450">
                <a:tc>
                  <a:txBody>
                    <a:bodyPr/>
                    <a:lstStyle/>
                    <a:p>
                      <a:r>
                        <a:rPr sz="3000">
                          <a:solidFill>
                            <a:srgbClr val="222222"/>
                          </a:solidFill>
                          <a:latin typeface="Calibri"/>
                        </a:rPr>
                        <a:t>0:56</a:t>
                      </a:r>
                    </a:p>
                  </a:txBody>
                  <a:tcPr marL="73152" marT="18288" marB="18288">
                    <a:solidFill>
                      <a:srgbClr val="EEF3F8"/>
                    </a:solidFill>
                  </a:tcPr>
                </a:tc>
                <a:tc>
                  <a:txBody>
                    <a:bodyPr/>
                    <a:lstStyle/>
                    <a:p>
                      <a:r>
                        <a:rPr sz="3000">
                          <a:solidFill>
                            <a:srgbClr val="222222"/>
                          </a:solidFill>
                          <a:latin typeface="Calibri"/>
                        </a:rPr>
                        <a:t>What's next, and the last pack up</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Mission Day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Rectangle 5"/>
          <p:cNvSpPr/>
          <p:nvPr/>
        </p:nvSpPr>
        <p:spPr>
          <a:xfrm>
            <a:off x="594360" y="1371600"/>
            <a:ext cx="7680960" cy="3886200"/>
          </a:xfrm>
          <a:prstGeom prst="rect">
            <a:avLst/>
          </a:prstGeom>
          <a:solidFill>
            <a:srgbClr val="FFFFFF"/>
          </a:solidFill>
          <a:ln w="381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7" name="Rounded Rectangle 6"/>
          <p:cNvSpPr/>
          <p:nvPr/>
        </p:nvSpPr>
        <p:spPr>
          <a:xfrm>
            <a:off x="777240" y="4297680"/>
            <a:ext cx="1371600" cy="777240"/>
          </a:xfrm>
          <a:prstGeom prst="roundRect">
            <a:avLst>
              <a:gd name="adj" fmla="val 12000"/>
            </a:avLst>
          </a:prstGeom>
          <a:solidFill>
            <a:srgbClr val="D8F0D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START</a:t>
            </a:r>
          </a:p>
          <a:p>
            <a:pPr algn="ctr">
              <a:lnSpc>
                <a:spcPct val="100000"/>
              </a:lnSpc>
              <a:spcAft>
                <a:spcPts val="0"/>
              </a:spcAft>
              <a:defRPr sz="1800" b="1">
                <a:solidFill>
                  <a:srgbClr val="1F3A5F"/>
                </a:solidFill>
                <a:latin typeface="Calibri"/>
              </a:defRPr>
            </a:pPr>
            <a:r>
              <a:rPr sz="1800" b="1">
                <a:solidFill>
                  <a:srgbClr val="1F3A5F"/>
                </a:solidFill>
                <a:latin typeface="Calibri"/>
              </a:rPr>
              <a:t>FINISH</a:t>
            </a:r>
          </a:p>
        </p:txBody>
      </p:sp>
      <p:sp>
        <p:nvSpPr>
          <p:cNvPr id="8" name="Oval 7"/>
          <p:cNvSpPr/>
          <p:nvPr/>
        </p:nvSpPr>
        <p:spPr>
          <a:xfrm>
            <a:off x="2788920" y="4572000"/>
            <a:ext cx="329184" cy="329184"/>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9" name="Oval 8"/>
          <p:cNvSpPr/>
          <p:nvPr/>
        </p:nvSpPr>
        <p:spPr>
          <a:xfrm>
            <a:off x="3794760" y="4572000"/>
            <a:ext cx="329184" cy="329184"/>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0" name="Oval 9"/>
          <p:cNvSpPr/>
          <p:nvPr/>
        </p:nvSpPr>
        <p:spPr>
          <a:xfrm>
            <a:off x="4800600" y="4572000"/>
            <a:ext cx="329184" cy="329184"/>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1" name="Oval 10"/>
          <p:cNvSpPr/>
          <p:nvPr/>
        </p:nvSpPr>
        <p:spPr>
          <a:xfrm>
            <a:off x="5806440" y="4572000"/>
            <a:ext cx="329184" cy="329184"/>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2" name="Rectangle 11"/>
          <p:cNvSpPr/>
          <p:nvPr/>
        </p:nvSpPr>
        <p:spPr>
          <a:xfrm>
            <a:off x="6263640" y="1600200"/>
            <a:ext cx="1783080" cy="2286000"/>
          </a:xfrm>
          <a:prstGeom prst="rect">
            <a:avLst/>
          </a:prstGeom>
          <a:solidFill>
            <a:srgbClr val="E8ECF0"/>
          </a:solidFill>
          <a:ln w="25400">
            <a:solidFill>
              <a:srgbClr val="1F3A5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3" name="TextBox 12"/>
          <p:cNvSpPr txBox="1"/>
          <p:nvPr/>
        </p:nvSpPr>
        <p:spPr>
          <a:xfrm>
            <a:off x="6263640" y="2240280"/>
            <a:ext cx="1783080" cy="659384"/>
          </a:xfrm>
          <a:prstGeom prst="rect">
            <a:avLst/>
          </a:prstGeom>
          <a:noFill/>
        </p:spPr>
        <p:txBody>
          <a:bodyPr wrap="square" lIns="0" tIns="0" rIns="0" bIns="0">
            <a:spAutoFit/>
          </a:bodyPr>
          <a:lstStyle/>
          <a:p>
            <a:pPr algn="ctr">
              <a:lnSpc>
                <a:spcPct val="100000"/>
              </a:lnSpc>
              <a:spcAft>
                <a:spcPts val="100"/>
              </a:spcAft>
              <a:defRPr sz="1800" b="1">
                <a:solidFill>
                  <a:srgbClr val="1F3A5F"/>
                </a:solidFill>
                <a:latin typeface="Calibri"/>
              </a:defRPr>
            </a:pPr>
            <a:r>
              <a:rPr sz="1800" b="1">
                <a:solidFill>
                  <a:srgbClr val="1F3A5F"/>
                </a:solidFill>
                <a:latin typeface="Calibri"/>
              </a:rPr>
              <a:t>NO</a:t>
            </a:r>
          </a:p>
          <a:p>
            <a:pPr algn="ctr">
              <a:lnSpc>
                <a:spcPct val="100000"/>
              </a:lnSpc>
              <a:spcAft>
                <a:spcPts val="100"/>
              </a:spcAft>
              <a:defRPr sz="1800" b="1">
                <a:solidFill>
                  <a:srgbClr val="1F3A5F"/>
                </a:solidFill>
                <a:latin typeface="Calibri"/>
              </a:defRPr>
            </a:pPr>
            <a:r>
              <a:rPr sz="1800" b="1">
                <a:solidFill>
                  <a:srgbClr val="1F3A5F"/>
                </a:solidFill>
                <a:latin typeface="Calibri"/>
              </a:rPr>
              <a:t>SIGNAL</a:t>
            </a:r>
          </a:p>
        </p:txBody>
      </p:sp>
      <p:sp>
        <p:nvSpPr>
          <p:cNvPr id="14" name="Right Arrow 13"/>
          <p:cNvSpPr/>
          <p:nvPr/>
        </p:nvSpPr>
        <p:spPr>
          <a:xfrm>
            <a:off x="3611880" y="1783080"/>
            <a:ext cx="1280160" cy="548640"/>
          </a:xfrm>
          <a:prstGeom prst="rightArrow">
            <a:avLst/>
          </a:prstGeom>
          <a:solidFill>
            <a:srgbClr val="F58A10"/>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5" name="Rounded Rectangle 14"/>
          <p:cNvSpPr/>
          <p:nvPr/>
        </p:nvSpPr>
        <p:spPr>
          <a:xfrm>
            <a:off x="868680" y="1645920"/>
            <a:ext cx="1188720" cy="1005840"/>
          </a:xfrm>
          <a:prstGeom prst="roundRect">
            <a:avLst>
              <a:gd name="adj" fmla="val 12000"/>
            </a:avLst>
          </a:prstGeom>
          <a:solidFill>
            <a:srgbClr val="FFFFFF"/>
          </a:solidFill>
          <a:ln w="317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0E7C86"/>
                </a:solidFill>
                <a:latin typeface="Calibri"/>
              </a:defRPr>
            </a:pPr>
            <a:r>
              <a:rPr sz="1800" b="1">
                <a:solidFill>
                  <a:srgbClr val="0E7C86"/>
                </a:solidFill>
                <a:latin typeface="Calibri"/>
              </a:rPr>
              <a:t>GARAGE</a:t>
            </a:r>
          </a:p>
        </p:txBody>
      </p:sp>
      <p:sp>
        <p:nvSpPr>
          <p:cNvPr id="16" name="Oval 15"/>
          <p:cNvSpPr/>
          <p:nvPr/>
        </p:nvSpPr>
        <p:spPr>
          <a:xfrm>
            <a:off x="4343399" y="3931920"/>
            <a:ext cx="502920" cy="502920"/>
          </a:xfrm>
          <a:prstGeom prst="ellipse">
            <a:avLst/>
          </a:prstGeom>
          <a:solidFill>
            <a:srgbClr val="1F3A5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000" b="1">
                <a:solidFill>
                  <a:srgbClr val="FFFFFF"/>
                </a:solidFill>
                <a:latin typeface="Calibri"/>
              </a:defRPr>
            </a:pPr>
            <a:r>
              <a:rPr sz="2000" b="1">
                <a:solidFill>
                  <a:srgbClr val="FFFFFF"/>
                </a:solidFill>
                <a:latin typeface="Calibri"/>
              </a:rPr>
              <a:t>1</a:t>
            </a:r>
          </a:p>
        </p:txBody>
      </p:sp>
      <p:sp>
        <p:nvSpPr>
          <p:cNvPr id="17" name="Oval 16"/>
          <p:cNvSpPr/>
          <p:nvPr/>
        </p:nvSpPr>
        <p:spPr>
          <a:xfrm>
            <a:off x="6903720" y="3977640"/>
            <a:ext cx="502920" cy="502920"/>
          </a:xfrm>
          <a:prstGeom prst="ellipse">
            <a:avLst/>
          </a:prstGeom>
          <a:solidFill>
            <a:srgbClr val="1F3A5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000" b="1">
                <a:solidFill>
                  <a:srgbClr val="FFFFFF"/>
                </a:solidFill>
                <a:latin typeface="Calibri"/>
              </a:defRPr>
            </a:pPr>
            <a:r>
              <a:rPr sz="2000" b="1">
                <a:solidFill>
                  <a:srgbClr val="FFFFFF"/>
                </a:solidFill>
                <a:latin typeface="Calibri"/>
              </a:rPr>
              <a:t>2</a:t>
            </a:r>
          </a:p>
        </p:txBody>
      </p:sp>
      <p:sp>
        <p:nvSpPr>
          <p:cNvPr id="18" name="Oval 17"/>
          <p:cNvSpPr/>
          <p:nvPr/>
        </p:nvSpPr>
        <p:spPr>
          <a:xfrm>
            <a:off x="4023360" y="2423160"/>
            <a:ext cx="502920" cy="502920"/>
          </a:xfrm>
          <a:prstGeom prst="ellipse">
            <a:avLst/>
          </a:prstGeom>
          <a:solidFill>
            <a:srgbClr val="1F3A5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000" b="1">
                <a:solidFill>
                  <a:srgbClr val="FFFFFF"/>
                </a:solidFill>
                <a:latin typeface="Calibri"/>
              </a:defRPr>
            </a:pPr>
            <a:r>
              <a:rPr sz="2000" b="1">
                <a:solidFill>
                  <a:srgbClr val="FFFFFF"/>
                </a:solidFill>
                <a:latin typeface="Calibri"/>
              </a:rPr>
              <a:t>3</a:t>
            </a:r>
          </a:p>
        </p:txBody>
      </p:sp>
      <p:sp>
        <p:nvSpPr>
          <p:cNvPr id="19" name="Oval 18"/>
          <p:cNvSpPr/>
          <p:nvPr/>
        </p:nvSpPr>
        <p:spPr>
          <a:xfrm>
            <a:off x="2194560" y="1874520"/>
            <a:ext cx="502920" cy="502920"/>
          </a:xfrm>
          <a:prstGeom prst="ellipse">
            <a:avLst/>
          </a:prstGeom>
          <a:solidFill>
            <a:srgbClr val="1F3A5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000" b="1">
                <a:solidFill>
                  <a:srgbClr val="FFFFFF"/>
                </a:solidFill>
                <a:latin typeface="Calibri"/>
              </a:defRPr>
            </a:pPr>
            <a:r>
              <a:rPr sz="2000" b="1">
                <a:solidFill>
                  <a:srgbClr val="FFFFFF"/>
                </a:solidFill>
                <a:latin typeface="Calibri"/>
              </a:rPr>
              <a:t>4</a:t>
            </a:r>
          </a:p>
        </p:txBody>
      </p:sp>
      <p:sp>
        <p:nvSpPr>
          <p:cNvPr id="20" name="TextBox 19"/>
          <p:cNvSpPr txBox="1"/>
          <p:nvPr/>
        </p:nvSpPr>
        <p:spPr>
          <a:xfrm>
            <a:off x="8595360" y="1371600"/>
            <a:ext cx="3093415" cy="3144266"/>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1  Slalom</a:t>
            </a:r>
          </a:p>
          <a:p>
            <a:pPr algn="l">
              <a:lnSpc>
                <a:spcPct val="100000"/>
              </a:lnSpc>
              <a:spcAft>
                <a:spcPts val="0"/>
              </a:spcAft>
              <a:defRPr sz="1800" b="0">
                <a:solidFill>
                  <a:srgbClr val="222222"/>
                </a:solidFill>
                <a:latin typeface="Calibri"/>
              </a:defRPr>
            </a:pPr>
            <a:r>
              <a:rPr sz="1800" b="0">
                <a:solidFill>
                  <a:srgbClr val="222222"/>
                </a:solidFill>
                <a:latin typeface="Calibri"/>
              </a:rPr>
              <a:t>weave through the cups</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2  No-signal zone</a:t>
            </a:r>
          </a:p>
          <a:p>
            <a:pPr algn="l">
              <a:lnSpc>
                <a:spcPct val="100000"/>
              </a:lnSpc>
              <a:spcAft>
                <a:spcPts val="0"/>
              </a:spcAft>
              <a:defRPr sz="1800" b="0">
                <a:solidFill>
                  <a:srgbClr val="222222"/>
                </a:solidFill>
                <a:latin typeface="Calibri"/>
              </a:defRPr>
            </a:pPr>
            <a:r>
              <a:rPr sz="1800" b="0">
                <a:solidFill>
                  <a:srgbClr val="222222"/>
                </a:solidFill>
                <a:latin typeface="Calibri"/>
              </a:rPr>
              <a:t>press X: autopilot across</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3  Signal check</a:t>
            </a:r>
          </a:p>
          <a:p>
            <a:pPr algn="l">
              <a:lnSpc>
                <a:spcPct val="100000"/>
              </a:lnSpc>
              <a:spcAft>
                <a:spcPts val="0"/>
              </a:spcAft>
              <a:defRPr sz="1800" b="0">
                <a:solidFill>
                  <a:srgbClr val="222222"/>
                </a:solidFill>
                <a:latin typeface="Calibri"/>
              </a:defRPr>
            </a:pPr>
            <a:r>
              <a:rPr sz="1800" b="0">
                <a:solidFill>
                  <a:srgbClr val="222222"/>
                </a:solidFill>
                <a:latin typeface="Calibri"/>
              </a:rPr>
              <a:t>turn signal on as you turn</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4  Precision parking</a:t>
            </a:r>
          </a:p>
          <a:p>
            <a:pPr algn="l">
              <a:lnSpc>
                <a:spcPct val="100000"/>
              </a:lnSpc>
              <a:spcAft>
                <a:spcPts val="0"/>
              </a:spcAft>
              <a:defRPr sz="1800" b="0">
                <a:solidFill>
                  <a:srgbClr val="222222"/>
                </a:solidFill>
                <a:latin typeface="Calibri"/>
              </a:defRPr>
            </a:pPr>
            <a:r>
              <a:rPr sz="1800" b="0">
                <a:solidFill>
                  <a:srgbClr val="222222"/>
                </a:solidFill>
                <a:latin typeface="Calibri"/>
              </a:rPr>
              <a:t>all four wheels in the garage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four stations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graphicFrame>
        <p:nvGraphicFramePr>
          <p:cNvPr id="6" name="Table 5"/>
          <p:cNvGraphicFramePr>
            <a:graphicFrameLocks noGrp="1"/>
          </p:cNvGraphicFramePr>
          <p:nvPr/>
        </p:nvGraphicFramePr>
        <p:xfrm>
          <a:off x="502920" y="1188720"/>
          <a:ext cx="11185854" cy="3746500"/>
        </p:xfrm>
        <a:graphic>
          <a:graphicData uri="http://schemas.openxmlformats.org/drawingml/2006/table">
            <a:tbl>
              <a:tblPr firstRow="1" bandRow="1">
                <a:tableStyleId>{5C22544A-7EE6-4342-B048-85BDC9FD1C3A}</a:tableStyleId>
              </a:tblPr>
              <a:tblGrid>
                <a:gridCol w="3139889"/>
                <a:gridCol w="4513590"/>
                <a:gridCol w="3532375"/>
              </a:tblGrid>
              <a:tr h="749300">
                <a:tc>
                  <a:txBody>
                    <a:bodyPr/>
                    <a:lstStyle/>
                    <a:p>
                      <a:r>
                        <a:rPr sz="2650" b="1">
                          <a:solidFill>
                            <a:srgbClr val="FFFFFF"/>
                          </a:solidFill>
                          <a:latin typeface="Calibri"/>
                        </a:rPr>
                        <a:t>Station</a:t>
                      </a:r>
                    </a:p>
                  </a:txBody>
                  <a:tcPr marL="73152" marT="18288" marB="18288">
                    <a:solidFill>
                      <a:srgbClr val="1F3A5F"/>
                    </a:solidFill>
                  </a:tcPr>
                </a:tc>
                <a:tc>
                  <a:txBody>
                    <a:bodyPr/>
                    <a:lstStyle/>
                    <a:p>
                      <a:r>
                        <a:rPr sz="2650" b="1">
                          <a:solidFill>
                            <a:srgbClr val="FFFFFF"/>
                          </a:solidFill>
                          <a:latin typeface="Calibri"/>
                        </a:rPr>
                        <a:t>What to do</a:t>
                      </a:r>
                    </a:p>
                  </a:txBody>
                  <a:tcPr marL="73152" marT="18288" marB="18288">
                    <a:solidFill>
                      <a:srgbClr val="1F3A5F"/>
                    </a:solidFill>
                  </a:tcPr>
                </a:tc>
                <a:tc>
                  <a:txBody>
                    <a:bodyPr/>
                    <a:lstStyle/>
                    <a:p>
                      <a:r>
                        <a:rPr sz="2650" b="1">
                          <a:solidFill>
                            <a:srgbClr val="FFFFFF"/>
                          </a:solidFill>
                          <a:latin typeface="Calibri"/>
                        </a:rPr>
                        <a:t>Done when...</a:t>
                      </a:r>
                    </a:p>
                  </a:txBody>
                  <a:tcPr marL="73152" marT="18288" marB="18288">
                    <a:solidFill>
                      <a:srgbClr val="1F3A5F"/>
                    </a:solidFill>
                  </a:tcPr>
                </a:tc>
              </a:tr>
              <a:tr h="749300">
                <a:tc>
                  <a:txBody>
                    <a:bodyPr/>
                    <a:lstStyle/>
                    <a:p>
                      <a:r>
                        <a:rPr sz="2650">
                          <a:solidFill>
                            <a:srgbClr val="222222"/>
                          </a:solidFill>
                          <a:latin typeface="Calibri"/>
                        </a:rPr>
                        <a:t>1  Slalom</a:t>
                      </a:r>
                    </a:p>
                  </a:txBody>
                  <a:tcPr marL="73152" marT="18288" marB="18288">
                    <a:solidFill>
                      <a:srgbClr val="FFFFFF"/>
                    </a:solidFill>
                  </a:tcPr>
                </a:tc>
                <a:tc>
                  <a:txBody>
                    <a:bodyPr/>
                    <a:lstStyle/>
                    <a:p>
                      <a:r>
                        <a:rPr sz="2650">
                          <a:solidFill>
                            <a:srgbClr val="222222"/>
                          </a:solidFill>
                          <a:latin typeface="Calibri"/>
                        </a:rPr>
                        <a:t>Weave through the cups</a:t>
                      </a:r>
                    </a:p>
                  </a:txBody>
                  <a:tcPr marL="73152" marT="18288" marB="18288">
                    <a:solidFill>
                      <a:srgbClr val="FFFFFF"/>
                    </a:solidFill>
                  </a:tcPr>
                </a:tc>
                <a:tc>
                  <a:txBody>
                    <a:bodyPr/>
                    <a:lstStyle/>
                    <a:p>
                      <a:r>
                        <a:rPr sz="2650">
                          <a:solidFill>
                            <a:srgbClr val="222222"/>
                          </a:solidFill>
                          <a:latin typeface="Calibri"/>
                        </a:rPr>
                        <a:t>No cups knocked over</a:t>
                      </a:r>
                    </a:p>
                  </a:txBody>
                  <a:tcPr marL="73152" marT="18288" marB="18288">
                    <a:solidFill>
                      <a:srgbClr val="FFFFFF"/>
                    </a:solidFill>
                  </a:tcPr>
                </a:tc>
              </a:tr>
              <a:tr h="749300">
                <a:tc>
                  <a:txBody>
                    <a:bodyPr/>
                    <a:lstStyle/>
                    <a:p>
                      <a:r>
                        <a:rPr sz="2650">
                          <a:solidFill>
                            <a:srgbClr val="222222"/>
                          </a:solidFill>
                          <a:latin typeface="Calibri"/>
                        </a:rPr>
                        <a:t>2  No-signal zone</a:t>
                      </a:r>
                    </a:p>
                  </a:txBody>
                  <a:tcPr marL="73152" marT="18288" marB="18288">
                    <a:solidFill>
                      <a:srgbClr val="EEF3F8"/>
                    </a:solidFill>
                  </a:tcPr>
                </a:tc>
                <a:tc>
                  <a:txBody>
                    <a:bodyPr/>
                    <a:lstStyle/>
                    <a:p>
                      <a:r>
                        <a:rPr sz="2650">
                          <a:solidFill>
                            <a:srgbClr val="222222"/>
                          </a:solidFill>
                          <a:latin typeface="Calibri"/>
                        </a:rPr>
                        <a:t>Stop at the line. Press X. Hands off!</a:t>
                      </a:r>
                    </a:p>
                  </a:txBody>
                  <a:tcPr marL="73152" marT="18288" marB="18288">
                    <a:solidFill>
                      <a:srgbClr val="EEF3F8"/>
                    </a:solidFill>
                  </a:tcPr>
                </a:tc>
                <a:tc>
                  <a:txBody>
                    <a:bodyPr/>
                    <a:lstStyle/>
                    <a:p>
                      <a:r>
                        <a:rPr sz="2650">
                          <a:solidFill>
                            <a:srgbClr val="222222"/>
                          </a:solidFill>
                          <a:latin typeface="Calibri"/>
                        </a:rPr>
                        <a:t>Autopilot gets you across</a:t>
                      </a:r>
                    </a:p>
                  </a:txBody>
                  <a:tcPr marL="73152" marT="18288" marB="18288">
                    <a:solidFill>
                      <a:srgbClr val="EEF3F8"/>
                    </a:solidFill>
                  </a:tcPr>
                </a:tc>
              </a:tr>
              <a:tr h="749300">
                <a:tc>
                  <a:txBody>
                    <a:bodyPr/>
                    <a:lstStyle/>
                    <a:p>
                      <a:r>
                        <a:rPr sz="2650">
                          <a:solidFill>
                            <a:srgbClr val="222222"/>
                          </a:solidFill>
                          <a:latin typeface="Calibri"/>
                        </a:rPr>
                        <a:t>3  Signal check</a:t>
                      </a:r>
                    </a:p>
                  </a:txBody>
                  <a:tcPr marL="73152" marT="18288" marB="18288">
                    <a:solidFill>
                      <a:srgbClr val="FFFFFF"/>
                    </a:solidFill>
                  </a:tcPr>
                </a:tc>
                <a:tc>
                  <a:txBody>
                    <a:bodyPr/>
                    <a:lstStyle/>
                    <a:p>
                      <a:r>
                        <a:rPr sz="2650">
                          <a:solidFill>
                            <a:srgbClr val="222222"/>
                          </a:solidFill>
                          <a:latin typeface="Calibri"/>
                        </a:rPr>
                        <a:t>Signal, then turn</a:t>
                      </a:r>
                    </a:p>
                  </a:txBody>
                  <a:tcPr marL="73152" marT="18288" marB="18288">
                    <a:solidFill>
                      <a:srgbClr val="FFFFFF"/>
                    </a:solidFill>
                  </a:tcPr>
                </a:tc>
                <a:tc>
                  <a:txBody>
                    <a:bodyPr/>
                    <a:lstStyle/>
                    <a:p>
                      <a:r>
                        <a:rPr sz="2650">
                          <a:solidFill>
                            <a:srgbClr val="222222"/>
                          </a:solidFill>
                          <a:latin typeface="Calibri"/>
                        </a:rPr>
                        <a:t>Orange on the correct side</a:t>
                      </a:r>
                    </a:p>
                  </a:txBody>
                  <a:tcPr marL="73152" marT="18288" marB="18288">
                    <a:solidFill>
                      <a:srgbClr val="FFFFFF"/>
                    </a:solidFill>
                  </a:tcPr>
                </a:tc>
              </a:tr>
              <a:tr h="749300">
                <a:tc>
                  <a:txBody>
                    <a:bodyPr/>
                    <a:lstStyle/>
                    <a:p>
                      <a:r>
                        <a:rPr sz="2650">
                          <a:solidFill>
                            <a:srgbClr val="222222"/>
                          </a:solidFill>
                          <a:latin typeface="Calibri"/>
                        </a:rPr>
                        <a:t>4  Precision parking</a:t>
                      </a:r>
                    </a:p>
                  </a:txBody>
                  <a:tcPr marL="73152" marT="18288" marB="18288">
                    <a:solidFill>
                      <a:srgbClr val="EEF3F8"/>
                    </a:solidFill>
                  </a:tcPr>
                </a:tc>
                <a:tc>
                  <a:txBody>
                    <a:bodyPr/>
                    <a:lstStyle/>
                    <a:p>
                      <a:r>
                        <a:rPr sz="2650">
                          <a:solidFill>
                            <a:srgbClr val="222222"/>
                          </a:solidFill>
                          <a:latin typeface="Calibri"/>
                        </a:rPr>
                        <a:t>Park in the garage</a:t>
                      </a:r>
                    </a:p>
                  </a:txBody>
                  <a:tcPr marL="73152" marT="18288" marB="18288">
                    <a:solidFill>
                      <a:srgbClr val="EEF3F8"/>
                    </a:solidFill>
                  </a:tcPr>
                </a:tc>
                <a:tc>
                  <a:txBody>
                    <a:bodyPr/>
                    <a:lstStyle/>
                    <a:p>
                      <a:r>
                        <a:rPr sz="2650">
                          <a:solidFill>
                            <a:srgbClr val="222222"/>
                          </a:solidFill>
                          <a:latin typeface="Calibri"/>
                        </a:rPr>
                        <a:t>All four wheels inside</a:t>
                      </a:r>
                    </a:p>
                  </a:txBody>
                  <a:tcPr marL="73152" marT="18288" marB="18288">
                    <a:solidFill>
                      <a:srgbClr val="EEF3F8"/>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 station is 'done' or 'try again'. Nobody loses on Mission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Our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Rectangle 5"/>
          <p:cNvSpPr/>
          <p:nvPr/>
        </p:nvSpPr>
        <p:spPr>
          <a:xfrm>
            <a:off x="502920" y="1188720"/>
            <a:ext cx="11185855" cy="434340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the Mission Day course, from above</a:t>
            </a:r>
          </a:p>
          <a:p>
            <a:pPr algn="ctr">
              <a:lnSpc>
                <a:spcPct val="100000"/>
              </a:lnSpc>
              <a:spcAft>
                <a:spcPts val="700"/>
              </a:spcAft>
              <a:defRPr sz="1600" b="0">
                <a:solidFill>
                  <a:srgbClr val="0E7C86"/>
                </a:solidFill>
                <a:latin typeface="Calibri"/>
              </a:defRPr>
            </a:pPr>
            <a:r>
              <a:rPr sz="1600" b="0">
                <a:solidFill>
                  <a:srgbClr val="0E7C86"/>
                </a:solidFill>
                <a:latin typeface="Calibri"/>
              </a:rPr>
              <a:t>Take it on the day if there is no earlier chance - it makes a good slide for next year's class</a:t>
            </a:r>
          </a:p>
        </p:txBody>
      </p:sp>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Stations 1 to 4, then home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Final checks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Final checks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9" name="Rounded Rectangle 8"/>
          <p:cNvSpPr/>
          <p:nvPr/>
        </p:nvSpPr>
        <p:spPr>
          <a:xfrm>
            <a:off x="3335959"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mission</a:t>
            </a:r>
          </a:p>
        </p:txBody>
      </p:sp>
      <p:sp>
        <p:nvSpPr>
          <p:cNvPr id="10" name="Rounded Rectangle 9"/>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Look back</a:t>
            </a:r>
          </a:p>
        </p:txBody>
      </p:sp>
      <p:sp>
        <p:nvSpPr>
          <p:cNvPr id="11" name="Rounded Rectangle 10"/>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Celebrate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Which program?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For the four stations: e12a_mission_day, with YOUR autopilot route in it.</a:t>
            </a:r>
          </a:p>
          <a:p>
            <a:pPr algn="l">
              <a:lnSpc>
                <a:spcPct val="100000"/>
              </a:lnSpc>
              <a:spcAft>
                <a:spcPts val="900"/>
              </a:spcAft>
              <a:defRPr sz="3000" b="0">
                <a:solidFill>
                  <a:srgbClr val="222222"/>
                </a:solidFill>
                <a:latin typeface="Calibri"/>
              </a:defRPr>
            </a:pPr>
            <a:r>
              <a:rPr sz="3000" b="0">
                <a:solidFill>
                  <a:srgbClr val="222222"/>
                </a:solidFill>
                <a:latin typeface="Calibri"/>
              </a:rPr>
              <a:t>For the showcase: your own upgrade from Lesson 11.</a:t>
            </a:r>
          </a:p>
          <a:p>
            <a:pPr algn="l">
              <a:lnSpc>
                <a:spcPct val="100000"/>
              </a:lnSpc>
              <a:spcAft>
                <a:spcPts val="900"/>
              </a:spcAft>
              <a:defRPr sz="3000" b="0">
                <a:solidFill>
                  <a:srgbClr val="222222"/>
                </a:solidFill>
                <a:latin typeface="Calibri"/>
              </a:defRPr>
            </a:pPr>
            <a:r>
              <a:rPr sz="3000" b="0">
                <a:solidFill>
                  <a:srgbClr val="222222"/>
                </a:solidFill>
                <a:latin typeface="Calibri"/>
              </a:rPr>
              <a:t>Check SPEED_LIMIT matches your license.</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Real mission teams always carry a backup plan. e12a_mission_day is yours.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autopilot route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e12a_mission_day.ino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222222"/>
                </a:solidFill>
                <a:latin typeface="Consolas"/>
              </a:rPr>
              <a:t>void runAutopilot() {</a:t>
            </a:r>
          </a:p>
          <a:p>
            <a:pPr algn="l">
              <a:lnSpc>
                <a:spcPct val="100000"/>
              </a:lnSpc>
              <a:spcAft>
                <a:spcPts val="0"/>
              </a:spcAft>
              <a:defRPr sz="1600">
                <a:latin typeface="Consolas"/>
              </a:defRPr>
            </a:pPr>
            <a:r>
              <a:rPr sz="1600">
                <a:solidFill>
                  <a:srgbClr val="222222"/>
                </a:solidFill>
                <a:latin typeface="Consolas"/>
              </a:rPr>
              <a:t>  Serial.println("AUTOPILOT ON. Hold B to stop.");</a:t>
            </a:r>
          </a:p>
          <a:p>
            <a:pPr algn="l">
              <a:lnSpc>
                <a:spcPct val="100000"/>
              </a:lnSpc>
              <a:spcAft>
                <a:spcPts val="0"/>
              </a:spcAft>
              <a:defRPr sz="1600">
                <a:latin typeface="Consolas"/>
              </a:defRPr>
            </a:pPr>
            <a:r>
              <a:rPr sz="1600">
                <a:solidFill>
                  <a:srgbClr val="222222"/>
                </a:solidFill>
                <a:latin typeface="Consolas"/>
              </a:rPr>
              <a:t>  setAllLights(CYAN);</a:t>
            </a:r>
          </a:p>
          <a:p>
            <a:pPr algn="l">
              <a:lnSpc>
                <a:spcPct val="100000"/>
              </a:lnSpc>
              <a:spcAft>
                <a:spcPts val="0"/>
              </a:spcAft>
              <a:defRPr sz="1600">
                <a:latin typeface="Consolas"/>
              </a:defRPr>
            </a:pPr>
            <a:r>
              <a:rPr sz="1600">
                <a:solidFill>
                  <a:srgbClr val="222222"/>
                </a:solidFill>
                <a:latin typeface="Consolas"/>
              </a:rPr>
              <a:t>  pause(1000);</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  forward(1500);</a:t>
            </a:r>
          </a:p>
          <a:p>
            <a:pPr algn="l">
              <a:lnSpc>
                <a:spcPct val="100000"/>
              </a:lnSpc>
              <a:spcAft>
                <a:spcPts val="0"/>
              </a:spcAft>
              <a:defRPr sz="1600">
                <a:latin typeface="Consolas"/>
              </a:defRPr>
            </a:pPr>
            <a:r>
              <a:rPr sz="1600">
                <a:solidFill>
                  <a:srgbClr val="222222"/>
                </a:solidFill>
                <a:latin typeface="Consolas"/>
              </a:rPr>
              <a:t>  spinLeft(QUARTER_TURN);</a:t>
            </a:r>
          </a:p>
          <a:p>
            <a:pPr algn="l">
              <a:lnSpc>
                <a:spcPct val="100000"/>
              </a:lnSpc>
              <a:spcAft>
                <a:spcPts val="0"/>
              </a:spcAft>
              <a:defRPr sz="1600">
                <a:latin typeface="Consolas"/>
              </a:defRPr>
            </a:pPr>
            <a:r>
              <a:rPr sz="1600">
                <a:solidFill>
                  <a:srgbClr val="222222"/>
                </a:solidFill>
                <a:latin typeface="Consolas"/>
              </a:rPr>
              <a:t>  forward(1000);</a:t>
            </a:r>
          </a:p>
          <a:p>
            <a:pPr algn="l">
              <a:lnSpc>
                <a:spcPct val="100000"/>
              </a:lnSpc>
              <a:spcAft>
                <a:spcPts val="0"/>
              </a:spcAft>
              <a:defRPr sz="1600">
                <a:latin typeface="Consolas"/>
              </a:defRPr>
            </a:pPr>
            <a:r>
              <a:rPr sz="1600">
                <a:solidFill>
                  <a:srgbClr val="222222"/>
                </a:solidFill>
                <a:latin typeface="Consolas"/>
              </a:rPr>
              <a:t>  spinRight(QUARTER_TURN);</a:t>
            </a:r>
          </a:p>
          <a:p>
            <a:pPr algn="l">
              <a:lnSpc>
                <a:spcPct val="100000"/>
              </a:lnSpc>
              <a:spcAft>
                <a:spcPts val="0"/>
              </a:spcAft>
              <a:defRPr sz="1600">
                <a:latin typeface="Consolas"/>
              </a:defRPr>
            </a:pPr>
            <a:r>
              <a:rPr sz="1600">
                <a:solidFill>
                  <a:srgbClr val="222222"/>
                </a:solidFill>
                <a:latin typeface="Consolas"/>
              </a:rPr>
              <a:t>  forward(1000);</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  stopMotors();</a:t>
            </a:r>
          </a:p>
          <a:p>
            <a:pPr algn="l">
              <a:lnSpc>
                <a:spcPct val="100000"/>
              </a:lnSpc>
              <a:spcAft>
                <a:spcPts val="0"/>
              </a:spcAft>
              <a:defRPr sz="1600">
                <a:latin typeface="Consolas"/>
              </a:defRPr>
            </a:pPr>
            <a:r>
              <a:rPr sz="1600">
                <a:solidFill>
                  <a:srgbClr val="222222"/>
                </a:solidFill>
                <a:latin typeface="Consolas"/>
              </a:rPr>
              <a:t>  Serial.println("Autopilot finished. You have control.");</a:t>
            </a:r>
          </a:p>
          <a:p>
            <a:pPr algn="l">
              <a:lnSpc>
                <a:spcPct val="100000"/>
              </a:lnSpc>
              <a:spcAft>
                <a:spcPts val="0"/>
              </a:spcAft>
              <a:defRPr sz="1600">
                <a:latin typeface="Consolas"/>
              </a:defRPr>
            </a:pPr>
            <a:r>
              <a:rPr sz="16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1000"/>
              </a:spcAft>
              <a:defRPr sz="3000" b="0">
                <a:solidFill>
                  <a:srgbClr val="222222"/>
                </a:solidFill>
                <a:latin typeface="Calibri"/>
              </a:defRPr>
            </a:pPr>
            <a:r>
              <a:rPr sz="3000" b="0">
                <a:solidFill>
                  <a:srgbClr val="222222"/>
                </a:solidFill>
                <a:latin typeface="Calibri"/>
              </a:rPr>
              <a:t>Press X, and these moves run.</a:t>
            </a:r>
          </a:p>
          <a:p>
            <a:pPr algn="l">
              <a:lnSpc>
                <a:spcPct val="100000"/>
              </a:lnSpc>
              <a:spcAft>
                <a:spcPts val="1000"/>
              </a:spcAft>
              <a:defRPr sz="3000" b="0">
                <a:solidFill>
                  <a:srgbClr val="222222"/>
                </a:solidFill>
                <a:latin typeface="Calibri"/>
              </a:defRPr>
            </a:pPr>
            <a:r>
              <a:rPr sz="3000" b="0">
                <a:solidFill>
                  <a:srgbClr val="222222"/>
                </a:solidFill>
                <a:latin typeface="Calibri"/>
              </a:rPr>
              <a:t>Change them to fit the no-signal zone.</a:t>
            </a:r>
          </a:p>
          <a:p>
            <a:pPr algn="l">
              <a:lnSpc>
                <a:spcPct val="100000"/>
              </a:lnSpc>
              <a:spcAft>
                <a:spcPts val="1000"/>
              </a:spcAft>
              <a:defRPr sz="3000" b="0">
                <a:solidFill>
                  <a:srgbClr val="222222"/>
                </a:solidFill>
                <a:latin typeface="Calibri"/>
              </a:defRPr>
            </a:pPr>
            <a:r>
              <a:rPr sz="3000" b="0">
                <a:solidFill>
                  <a:srgbClr val="222222"/>
                </a:solidFill>
                <a:latin typeface="Calibri"/>
              </a:rPr>
              <a:t>Hold B, and the autopilot stops. B is for Brake.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Pre-mission checks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e12a_mission_day</a:t>
            </a:r>
            <a:r>
              <a:rPr sz="1200">
                <a:solidFill>
                  <a:srgbClr val="FFFFFF"/>
                </a:solidFill>
                <a:latin typeface="Calibri"/>
              </a:rPr>
              <a:t>     (10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Crew Chief: battery charged? Wheels firm? All 32 lights working?</a:t>
            </a:r>
          </a:p>
          <a:p>
            <a:pPr algn="l">
              <a:lnSpc>
                <a:spcPct val="100000"/>
              </a:lnSpc>
              <a:spcAft>
                <a:spcPts val="800"/>
              </a:spcAft>
              <a:defRPr sz="1900" b="0">
                <a:solidFill>
                  <a:srgbClr val="222222"/>
                </a:solidFill>
                <a:latin typeface="Calibri"/>
              </a:defRPr>
            </a:pPr>
            <a:r>
              <a:rPr sz="1900" b="0">
                <a:solidFill>
                  <a:srgbClr val="222222"/>
                </a:solidFill>
                <a:latin typeface="Calibri"/>
              </a:rPr>
              <a:t>Put your QUARTER_TURN and SPEED_LIMIT into e12a_mission_day.</a:t>
            </a:r>
          </a:p>
          <a:p>
            <a:pPr algn="l">
              <a:lnSpc>
                <a:spcPct val="100000"/>
              </a:lnSpc>
              <a:spcAft>
                <a:spcPts val="800"/>
              </a:spcAft>
              <a:defRPr sz="1900" b="0">
                <a:solidFill>
                  <a:srgbClr val="222222"/>
                </a:solidFill>
                <a:latin typeface="Calibri"/>
              </a:defRPr>
            </a:pPr>
            <a:r>
              <a:rPr sz="1900" b="0">
                <a:solidFill>
                  <a:srgbClr val="222222"/>
                </a:solidFill>
                <a:latin typeface="Calibri"/>
              </a:rPr>
              <a:t>Measure the no-signal zone. Change the moves in runAutopilot().</a:t>
            </a:r>
          </a:p>
          <a:p>
            <a:pPr algn="l">
              <a:lnSpc>
                <a:spcPct val="100000"/>
              </a:lnSpc>
              <a:spcAft>
                <a:spcPts val="800"/>
              </a:spcAft>
              <a:defRPr sz="1900" b="0">
                <a:solidFill>
                  <a:srgbClr val="222222"/>
                </a:solidFill>
                <a:latin typeface="Calibri"/>
              </a:defRPr>
            </a:pPr>
            <a:r>
              <a:rPr sz="1900" b="0">
                <a:solidFill>
                  <a:srgbClr val="222222"/>
                </a:solidFill>
                <a:latin typeface="Calibri"/>
              </a:rPr>
              <a:t>Test the autopilot ONCE on the practice line. Hold B if it goes wrong.</a:t>
            </a:r>
          </a:p>
          <a:p>
            <a:pPr algn="l">
              <a:lnSpc>
                <a:spcPct val="100000"/>
              </a:lnSpc>
              <a:spcAft>
                <a:spcPts val="800"/>
              </a:spcAft>
              <a:defRPr sz="1900" b="0">
                <a:solidFill>
                  <a:srgbClr val="222222"/>
                </a:solidFill>
                <a:latin typeface="Calibri"/>
              </a:defRPr>
            </a:pPr>
            <a:r>
              <a:rPr sz="1900" b="0">
                <a:solidFill>
                  <a:srgbClr val="222222"/>
                </a:solidFill>
                <a:latin typeface="Calibri"/>
              </a:rPr>
              <a:t>Pilot: one practice lap.</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535628"/>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A vehicle that's ready, and a team that knows its route</a:t>
            </a:r>
          </a:p>
        </p:txBody>
      </p:sp>
      <p:sp>
        <p:nvSpPr>
          <p:cNvPr id="10" name="TextBox 9"/>
          <p:cNvSpPr txBox="1"/>
          <p:nvPr/>
        </p:nvSpPr>
        <p:spPr>
          <a:xfrm>
            <a:off x="7163537" y="391306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315404"/>
            <a:ext cx="4525238" cy="860099"/>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Who drives which station?</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Practice runs one vehicle at a time, everybody else behind the 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mission</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Final checks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mission</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Look back</a:t>
            </a:r>
          </a:p>
        </p:txBody>
      </p:sp>
      <p:sp>
        <p:nvSpPr>
          <p:cNvPr id="12" name="Rounded Rectangle 11"/>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Celebrate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rules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One team on the course at a time.</a:t>
            </a:r>
          </a:p>
          <a:p>
            <a:pPr algn="l">
              <a:lnSpc>
                <a:spcPct val="100000"/>
              </a:lnSpc>
              <a:spcAft>
                <a:spcPts val="900"/>
              </a:spcAft>
              <a:defRPr sz="3000" b="0">
                <a:solidFill>
                  <a:srgbClr val="222222"/>
                </a:solidFill>
                <a:latin typeface="Calibri"/>
              </a:defRPr>
            </a:pPr>
            <a:r>
              <a:rPr sz="3000" b="0">
                <a:solidFill>
                  <a:srgbClr val="222222"/>
                </a:solidFill>
                <a:latin typeface="Calibri"/>
              </a:rPr>
              <a:t>Everybody else: behind the line, cheering.</a:t>
            </a:r>
          </a:p>
          <a:p>
            <a:pPr algn="l">
              <a:lnSpc>
                <a:spcPct val="100000"/>
              </a:lnSpc>
              <a:spcAft>
                <a:spcPts val="900"/>
              </a:spcAft>
              <a:defRPr sz="3000" b="0">
                <a:solidFill>
                  <a:srgbClr val="222222"/>
                </a:solidFill>
                <a:latin typeface="Calibri"/>
              </a:defRPr>
            </a:pPr>
            <a:r>
              <a:rPr sz="3000" b="0">
                <a:solidFill>
                  <a:srgbClr val="222222"/>
                </a:solidFill>
                <a:latin typeface="Calibri"/>
              </a:rPr>
              <a:t>The Crew Chief calls GO, and calls STOP if anything looks wrong.</a:t>
            </a:r>
          </a:p>
          <a:p>
            <a:pPr algn="l">
              <a:lnSpc>
                <a:spcPct val="100000"/>
              </a:lnSpc>
              <a:spcAft>
                <a:spcPts val="900"/>
              </a:spcAft>
              <a:defRPr sz="3000" b="0">
                <a:solidFill>
                  <a:srgbClr val="222222"/>
                </a:solidFill>
                <a:latin typeface="Calibri"/>
              </a:defRPr>
            </a:pPr>
            <a:r>
              <a:rPr sz="3000" b="0">
                <a:solidFill>
                  <a:srgbClr val="222222"/>
                </a:solidFill>
                <a:latin typeface="Calibri"/>
              </a:rPr>
              <a:t>A new Pilot at every station. Everybody drives.</a:t>
            </a:r>
          </a:p>
        </p:txBody>
      </p:sp>
      <p:sp>
        <p:nvSpPr>
          <p:cNvPr id="7" name="Rounded Rectangle 6"/>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The Explorer Code still applies - even on Mission 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Look back</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Final checks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mission</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Look back</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Celebrate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Look how far you've come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graphicFrame>
        <p:nvGraphicFramePr>
          <p:cNvPr id="6" name="Table 5"/>
          <p:cNvGraphicFramePr>
            <a:graphicFrameLocks noGrp="1"/>
          </p:cNvGraphicFramePr>
          <p:nvPr/>
        </p:nvGraphicFramePr>
        <p:xfrm>
          <a:off x="502920" y="1188720"/>
          <a:ext cx="11185854" cy="5010150"/>
        </p:xfrm>
        <a:graphic>
          <a:graphicData uri="http://schemas.openxmlformats.org/drawingml/2006/table">
            <a:tbl>
              <a:tblPr firstRow="1" bandRow="1">
                <a:tableStyleId>{5C22544A-7EE6-4342-B048-85BDC9FD1C3A}</a:tableStyleId>
              </a:tblPr>
              <a:tblGrid>
                <a:gridCol w="3627844"/>
                <a:gridCol w="7558010"/>
              </a:tblGrid>
              <a:tr h="417512">
                <a:tc>
                  <a:txBody>
                    <a:bodyPr/>
                    <a:lstStyle/>
                    <a:p>
                      <a:r>
                        <a:rPr sz="2150" b="1">
                          <a:solidFill>
                            <a:srgbClr val="FFFFFF"/>
                          </a:solidFill>
                          <a:latin typeface="Calibri"/>
                        </a:rPr>
                        <a:t>Badge</a:t>
                      </a:r>
                    </a:p>
                  </a:txBody>
                  <a:tcPr marL="73152" marT="18288" marB="18288">
                    <a:solidFill>
                      <a:srgbClr val="1F3A5F"/>
                    </a:solidFill>
                  </a:tcPr>
                </a:tc>
                <a:tc>
                  <a:txBody>
                    <a:bodyPr/>
                    <a:lstStyle/>
                    <a:p>
                      <a:r>
                        <a:rPr sz="2150" b="1">
                          <a:solidFill>
                            <a:srgbClr val="FFFFFF"/>
                          </a:solidFill>
                          <a:latin typeface="Calibri"/>
                        </a:rPr>
                        <a:t>You learned to...</a:t>
                      </a:r>
                    </a:p>
                  </a:txBody>
                  <a:tcPr marL="73152" marT="18288" marB="18288">
                    <a:solidFill>
                      <a:srgbClr val="1F3A5F"/>
                    </a:solidFill>
                  </a:tcPr>
                </a:tc>
              </a:tr>
              <a:tr h="417512">
                <a:tc>
                  <a:txBody>
                    <a:bodyPr/>
                    <a:lstStyle/>
                    <a:p>
                      <a:r>
                        <a:rPr sz="2150">
                          <a:solidFill>
                            <a:srgbClr val="222222"/>
                          </a:solidFill>
                          <a:latin typeface="Calibri"/>
                        </a:rPr>
                        <a:t>Learner Permit</a:t>
                      </a:r>
                    </a:p>
                  </a:txBody>
                  <a:tcPr marL="73152" marT="18288" marB="18288">
                    <a:solidFill>
                      <a:srgbClr val="FFFFFF"/>
                    </a:solidFill>
                  </a:tcPr>
                </a:tc>
                <a:tc>
                  <a:txBody>
                    <a:bodyPr/>
                    <a:lstStyle/>
                    <a:p>
                      <a:r>
                        <a:rPr sz="2150">
                          <a:solidFill>
                            <a:srgbClr val="222222"/>
                          </a:solidFill>
                          <a:latin typeface="Calibri"/>
                        </a:rPr>
                        <a:t>Drive safely, and follow the Explorer Code</a:t>
                      </a:r>
                    </a:p>
                  </a:txBody>
                  <a:tcPr marL="73152" marT="18288" marB="18288">
                    <a:solidFill>
                      <a:srgbClr val="FFFFFF"/>
                    </a:solidFill>
                  </a:tcPr>
                </a:tc>
              </a:tr>
              <a:tr h="417512">
                <a:tc>
                  <a:txBody>
                    <a:bodyPr/>
                    <a:lstStyle/>
                    <a:p>
                      <a:r>
                        <a:rPr sz="2150">
                          <a:solidFill>
                            <a:srgbClr val="222222"/>
                          </a:solidFill>
                          <a:latin typeface="Calibri"/>
                        </a:rPr>
                        <a:t>Bug Hunter</a:t>
                      </a:r>
                    </a:p>
                  </a:txBody>
                  <a:tcPr marL="73152" marT="18288" marB="18288">
                    <a:solidFill>
                      <a:srgbClr val="EEF3F8"/>
                    </a:solidFill>
                  </a:tcPr>
                </a:tc>
                <a:tc>
                  <a:txBody>
                    <a:bodyPr/>
                    <a:lstStyle/>
                    <a:p>
                      <a:r>
                        <a:rPr sz="2150">
                          <a:solidFill>
                            <a:srgbClr val="222222"/>
                          </a:solidFill>
                          <a:latin typeface="Calibri"/>
                        </a:rPr>
                        <a:t>Upload a program, and fix bugs</a:t>
                      </a:r>
                    </a:p>
                  </a:txBody>
                  <a:tcPr marL="73152" marT="18288" marB="18288">
                    <a:solidFill>
                      <a:srgbClr val="EEF3F8"/>
                    </a:solidFill>
                  </a:tcPr>
                </a:tc>
              </a:tr>
              <a:tr h="417512">
                <a:tc>
                  <a:txBody>
                    <a:bodyPr/>
                    <a:lstStyle/>
                    <a:p>
                      <a:r>
                        <a:rPr sz="2150">
                          <a:solidFill>
                            <a:srgbClr val="222222"/>
                          </a:solidFill>
                          <a:latin typeface="Calibri"/>
                        </a:rPr>
                        <a:t>Color Scientist</a:t>
                      </a:r>
                    </a:p>
                  </a:txBody>
                  <a:tcPr marL="73152" marT="18288" marB="18288">
                    <a:solidFill>
                      <a:srgbClr val="FFFFFF"/>
                    </a:solidFill>
                  </a:tcPr>
                </a:tc>
                <a:tc>
                  <a:txBody>
                    <a:bodyPr/>
                    <a:lstStyle/>
                    <a:p>
                      <a:r>
                        <a:rPr sz="2150">
                          <a:solidFill>
                            <a:srgbClr val="222222"/>
                          </a:solidFill>
                          <a:latin typeface="Calibri"/>
                        </a:rPr>
                        <a:t>Mix any color from red, green and blue</a:t>
                      </a:r>
                    </a:p>
                  </a:txBody>
                  <a:tcPr marL="73152" marT="18288" marB="18288">
                    <a:solidFill>
                      <a:srgbClr val="FFFFFF"/>
                    </a:solidFill>
                  </a:tcPr>
                </a:tc>
              </a:tr>
              <a:tr h="417512">
                <a:tc>
                  <a:txBody>
                    <a:bodyPr/>
                    <a:lstStyle/>
                    <a:p>
                      <a:r>
                        <a:rPr sz="2150">
                          <a:solidFill>
                            <a:srgbClr val="222222"/>
                          </a:solidFill>
                          <a:latin typeface="Calibri"/>
                        </a:rPr>
                        <a:t>Light Show Designer</a:t>
                      </a:r>
                    </a:p>
                  </a:txBody>
                  <a:tcPr marL="73152" marT="18288" marB="18288">
                    <a:solidFill>
                      <a:srgbClr val="EEF3F8"/>
                    </a:solidFill>
                  </a:tcPr>
                </a:tc>
                <a:tc>
                  <a:txBody>
                    <a:bodyPr/>
                    <a:lstStyle/>
                    <a:p>
                      <a:r>
                        <a:rPr sz="2150">
                          <a:solidFill>
                            <a:srgbClr val="222222"/>
                          </a:solidFill>
                          <a:latin typeface="Calibri"/>
                        </a:rPr>
                        <a:t>Use loops to animate lights</a:t>
                      </a:r>
                    </a:p>
                  </a:txBody>
                  <a:tcPr marL="73152" marT="18288" marB="18288">
                    <a:solidFill>
                      <a:srgbClr val="EEF3F8"/>
                    </a:solidFill>
                  </a:tcPr>
                </a:tc>
              </a:tr>
              <a:tr h="417512">
                <a:tc>
                  <a:txBody>
                    <a:bodyPr/>
                    <a:lstStyle/>
                    <a:p>
                      <a:r>
                        <a:rPr sz="2150">
                          <a:solidFill>
                            <a:srgbClr val="222222"/>
                          </a:solidFill>
                          <a:latin typeface="Calibri"/>
                        </a:rPr>
                        <a:t>Motor Mechanic</a:t>
                      </a:r>
                    </a:p>
                  </a:txBody>
                  <a:tcPr marL="73152" marT="18288" marB="18288">
                    <a:solidFill>
                      <a:srgbClr val="FFFFFF"/>
                    </a:solidFill>
                  </a:tcPr>
                </a:tc>
                <a:tc>
                  <a:txBody>
                    <a:bodyPr/>
                    <a:lstStyle/>
                    <a:p>
                      <a:r>
                        <a:rPr sz="2150">
                          <a:solidFill>
                            <a:srgbClr val="222222"/>
                          </a:solidFill>
                          <a:latin typeface="Calibri"/>
                        </a:rPr>
                        <a:t>Drive motors forward, backward, and slow</a:t>
                      </a:r>
                    </a:p>
                  </a:txBody>
                  <a:tcPr marL="73152" marT="18288" marB="18288">
                    <a:solidFill>
                      <a:srgbClr val="FFFFFF"/>
                    </a:solidFill>
                  </a:tcPr>
                </a:tc>
              </a:tr>
              <a:tr h="417512">
                <a:tc>
                  <a:txBody>
                    <a:bodyPr/>
                    <a:lstStyle/>
                    <a:p>
                      <a:r>
                        <a:rPr sz="2150">
                          <a:solidFill>
                            <a:srgbClr val="222222"/>
                          </a:solidFill>
                          <a:latin typeface="Calibri"/>
                        </a:rPr>
                        <a:t>Autopilot</a:t>
                      </a:r>
                    </a:p>
                  </a:txBody>
                  <a:tcPr marL="73152" marT="18288" marB="18288">
                    <a:solidFill>
                      <a:srgbClr val="EEF3F8"/>
                    </a:solidFill>
                  </a:tcPr>
                </a:tc>
                <a:tc>
                  <a:txBody>
                    <a:bodyPr/>
                    <a:lstStyle/>
                    <a:p>
                      <a:r>
                        <a:rPr sz="2150">
                          <a:solidFill>
                            <a:srgbClr val="222222"/>
                          </a:solidFill>
                          <a:latin typeface="Calibri"/>
                        </a:rPr>
                        <a:t>Write a plan, then tune it</a:t>
                      </a:r>
                    </a:p>
                  </a:txBody>
                  <a:tcPr marL="73152" marT="18288" marB="18288">
                    <a:solidFill>
                      <a:srgbClr val="EEF3F8"/>
                    </a:solidFill>
                  </a:tcPr>
                </a:tc>
              </a:tr>
              <a:tr h="417512">
                <a:tc>
                  <a:txBody>
                    <a:bodyPr/>
                    <a:lstStyle/>
                    <a:p>
                      <a:r>
                        <a:rPr sz="2150">
                          <a:solidFill>
                            <a:srgbClr val="222222"/>
                          </a:solidFill>
                          <a:latin typeface="Calibri"/>
                        </a:rPr>
                        <a:t>Mission Planner</a:t>
                      </a:r>
                    </a:p>
                  </a:txBody>
                  <a:tcPr marL="73152" marT="18288" marB="18288">
                    <a:solidFill>
                      <a:srgbClr val="FFFFFF"/>
                    </a:solidFill>
                  </a:tcPr>
                </a:tc>
                <a:tc>
                  <a:txBody>
                    <a:bodyPr/>
                    <a:lstStyle/>
                    <a:p>
                      <a:r>
                        <a:rPr sz="2150">
                          <a:solidFill>
                            <a:srgbClr val="222222"/>
                          </a:solidFill>
                          <a:latin typeface="Calibri"/>
                        </a:rPr>
                        <a:t>Invent your own functions</a:t>
                      </a:r>
                    </a:p>
                  </a:txBody>
                  <a:tcPr marL="73152" marT="18288" marB="18288">
                    <a:solidFill>
                      <a:srgbClr val="FFFFFF"/>
                    </a:solidFill>
                  </a:tcPr>
                </a:tc>
              </a:tr>
              <a:tr h="417512">
                <a:tc>
                  <a:txBody>
                    <a:bodyPr/>
                    <a:lstStyle/>
                    <a:p>
                      <a:r>
                        <a:rPr sz="2150">
                          <a:solidFill>
                            <a:srgbClr val="222222"/>
                          </a:solidFill>
                          <a:latin typeface="Calibri"/>
                        </a:rPr>
                        <a:t>Radio Operator</a:t>
                      </a:r>
                    </a:p>
                  </a:txBody>
                  <a:tcPr marL="73152" marT="18288" marB="18288">
                    <a:solidFill>
                      <a:srgbClr val="EEF3F8"/>
                    </a:solidFill>
                  </a:tcPr>
                </a:tc>
                <a:tc>
                  <a:txBody>
                    <a:bodyPr/>
                    <a:lstStyle/>
                    <a:p>
                      <a:r>
                        <a:rPr sz="2150">
                          <a:solidFill>
                            <a:srgbClr val="222222"/>
                          </a:solidFill>
                          <a:latin typeface="Calibri"/>
                        </a:rPr>
                        <a:t>Make choices with if and else</a:t>
                      </a:r>
                    </a:p>
                  </a:txBody>
                  <a:tcPr marL="73152" marT="18288" marB="18288">
                    <a:solidFill>
                      <a:srgbClr val="EEF3F8"/>
                    </a:solidFill>
                  </a:tcPr>
                </a:tc>
              </a:tr>
              <a:tr h="417512">
                <a:tc>
                  <a:txBody>
                    <a:bodyPr/>
                    <a:lstStyle/>
                    <a:p>
                      <a:r>
                        <a:rPr sz="2150">
                          <a:solidFill>
                            <a:srgbClr val="222222"/>
                          </a:solidFill>
                          <a:latin typeface="Calibri"/>
                        </a:rPr>
                        <a:t>Licensed Driver</a:t>
                      </a:r>
                    </a:p>
                  </a:txBody>
                  <a:tcPr marL="73152" marT="18288" marB="18288">
                    <a:solidFill>
                      <a:srgbClr val="FFFFFF"/>
                    </a:solidFill>
                  </a:tcPr>
                </a:tc>
                <a:tc>
                  <a:txBody>
                    <a:bodyPr/>
                    <a:lstStyle/>
                    <a:p>
                      <a:r>
                        <a:rPr sz="2150">
                          <a:solidFill>
                            <a:srgbClr val="222222"/>
                          </a:solidFill>
                          <a:latin typeface="Calibri"/>
                        </a:rPr>
                        <a:t>Turn stick numbers into driving</a:t>
                      </a:r>
                    </a:p>
                  </a:txBody>
                  <a:tcPr marL="73152" marT="18288" marB="18288">
                    <a:solidFill>
                      <a:srgbClr val="FFFFFF"/>
                    </a:solidFill>
                  </a:tcPr>
                </a:tc>
              </a:tr>
              <a:tr h="417512">
                <a:tc>
                  <a:txBody>
                    <a:bodyPr/>
                    <a:lstStyle/>
                    <a:p>
                      <a:r>
                        <a:rPr sz="2150">
                          <a:solidFill>
                            <a:srgbClr val="222222"/>
                          </a:solidFill>
                          <a:latin typeface="Calibri"/>
                        </a:rPr>
                        <a:t>Signal Expert</a:t>
                      </a:r>
                    </a:p>
                  </a:txBody>
                  <a:tcPr marL="73152" marT="18288" marB="18288">
                    <a:solidFill>
                      <a:srgbClr val="EEF3F8"/>
                    </a:solidFill>
                  </a:tcPr>
                </a:tc>
                <a:tc>
                  <a:txBody>
                    <a:bodyPr/>
                    <a:lstStyle/>
                    <a:p>
                      <a:r>
                        <a:rPr sz="2150">
                          <a:solidFill>
                            <a:srgbClr val="222222"/>
                          </a:solidFill>
                          <a:latin typeface="Calibri"/>
                        </a:rPr>
                        <a:t>Blink without stopping the program</a:t>
                      </a:r>
                    </a:p>
                  </a:txBody>
                  <a:tcPr marL="73152" marT="18288" marB="18288">
                    <a:solidFill>
                      <a:srgbClr val="EEF3F8"/>
                    </a:solidFill>
                  </a:tcPr>
                </a:tc>
              </a:tr>
              <a:tr h="417518">
                <a:tc>
                  <a:txBody>
                    <a:bodyPr/>
                    <a:lstStyle/>
                    <a:p>
                      <a:r>
                        <a:rPr sz="2150">
                          <a:solidFill>
                            <a:srgbClr val="222222"/>
                          </a:solidFill>
                          <a:latin typeface="Calibri"/>
                        </a:rPr>
                        <a:t>Design Engineer</a:t>
                      </a:r>
                    </a:p>
                  </a:txBody>
                  <a:tcPr marL="73152" marT="18288" marB="18288">
                    <a:solidFill>
                      <a:srgbClr val="FFFFFF"/>
                    </a:solidFill>
                  </a:tcPr>
                </a:tc>
                <a:tc>
                  <a:txBody>
                    <a:bodyPr/>
                    <a:lstStyle/>
                    <a:p>
                      <a:r>
                        <a:rPr sz="2150">
                          <a:solidFill>
                            <a:srgbClr val="222222"/>
                          </a:solidFill>
                          <a:latin typeface="Calibri"/>
                        </a:rPr>
                        <a:t>Plan, build, test and improve</a:t>
                      </a:r>
                    </a:p>
                  </a:txBody>
                  <a:tcPr marL="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Finish Line  -  questionnaire 3 of 3</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CHECK-IN:   </a:t>
            </a:r>
            <a:r>
              <a:rPr sz="1500" b="1">
                <a:solidFill>
                  <a:srgbClr val="FFFFFF"/>
                </a:solidFill>
                <a:latin typeface="Calibri"/>
              </a:rPr>
              <a:t>Finish Line questionnaire</a:t>
            </a:r>
            <a:r>
              <a:rPr sz="1200">
                <a:solidFill>
                  <a:srgbClr val="FFFFFF"/>
                </a:solidFill>
                <a:latin typeface="Calibri"/>
              </a:rPr>
              <a:t>     (7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700" b="0">
                <a:solidFill>
                  <a:srgbClr val="222222"/>
                </a:solidFill>
                <a:latin typeface="Calibri"/>
              </a:defRPr>
            </a:pPr>
            <a:r>
              <a:rPr sz="2700" b="0">
                <a:solidFill>
                  <a:srgbClr val="222222"/>
                </a:solidFill>
                <a:latin typeface="Calibri"/>
              </a:rPr>
              <a:t>Write your Explorer code at the top.</a:t>
            </a:r>
          </a:p>
          <a:p>
            <a:pPr algn="l">
              <a:lnSpc>
                <a:spcPct val="100000"/>
              </a:lnSpc>
              <a:spcAft>
                <a:spcPts val="800"/>
              </a:spcAft>
              <a:defRPr sz="2700" b="0">
                <a:solidFill>
                  <a:srgbClr val="222222"/>
                </a:solidFill>
                <a:latin typeface="Calibri"/>
              </a:defRPr>
            </a:pPr>
            <a:r>
              <a:rPr sz="2700" b="0">
                <a:solidFill>
                  <a:srgbClr val="222222"/>
                </a:solidFill>
                <a:latin typeface="Calibri"/>
              </a:rPr>
              <a:t>Parts 1 and 2 are the same as the first two times. Answer for TODAY.</a:t>
            </a:r>
          </a:p>
          <a:p>
            <a:pPr algn="l">
              <a:lnSpc>
                <a:spcPct val="100000"/>
              </a:lnSpc>
              <a:spcAft>
                <a:spcPts val="800"/>
              </a:spcAft>
              <a:defRPr sz="2700" b="0">
                <a:solidFill>
                  <a:srgbClr val="222222"/>
                </a:solidFill>
                <a:latin typeface="Calibri"/>
              </a:defRPr>
            </a:pPr>
            <a:r>
              <a:rPr sz="2700" b="0">
                <a:solidFill>
                  <a:srgbClr val="222222"/>
                </a:solidFill>
                <a:latin typeface="Calibri"/>
              </a:rPr>
              <a:t>Part 3: rate Lessons 7 to 12.</a:t>
            </a:r>
          </a:p>
          <a:p>
            <a:pPr algn="l">
              <a:lnSpc>
                <a:spcPct val="100000"/>
              </a:lnSpc>
              <a:spcAft>
                <a:spcPts val="800"/>
              </a:spcAft>
              <a:defRPr sz="2700" b="0">
                <a:solidFill>
                  <a:srgbClr val="222222"/>
                </a:solidFill>
                <a:latin typeface="Calibri"/>
              </a:defRPr>
            </a:pPr>
            <a:r>
              <a:rPr sz="2700" b="0">
                <a:solidFill>
                  <a:srgbClr val="222222"/>
                </a:solidFill>
                <a:latin typeface="Calibri"/>
              </a:rPr>
              <a:t>Part 4: your favorite lesson, the hardest thing, and what you'd change.</a:t>
            </a:r>
          </a:p>
          <a:p>
            <a:pPr algn="l">
              <a:lnSpc>
                <a:spcPct val="100000"/>
              </a:lnSpc>
              <a:spcAft>
                <a:spcPts val="800"/>
              </a:spcAft>
              <a:defRPr sz="2700" b="0">
                <a:solidFill>
                  <a:srgbClr val="222222"/>
                </a:solidFill>
                <a:latin typeface="Calibri"/>
              </a:defRPr>
            </a:pPr>
            <a:r>
              <a:rPr sz="2700" b="0">
                <a:solidFill>
                  <a:srgbClr val="222222"/>
                </a:solidFill>
                <a:latin typeface="Calibri"/>
              </a:rPr>
              <a:t>Hand it in. Then: the showcase!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3922776"/>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Answer on your own. Your answers shape the course for the next Explorers.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Celebrate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Final checks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mission</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Look back</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9002037"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Celebrate</a:t>
            </a:r>
          </a:p>
        </p:txBody>
      </p:sp>
      <p:sp>
        <p:nvSpPr>
          <p:cNvPr id="14" name="TextBox 13"/>
          <p:cNvSpPr txBox="1"/>
          <p:nvPr/>
        </p:nvSpPr>
        <p:spPr>
          <a:xfrm>
            <a:off x="9002037"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Upgrade showcase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Each team, one minute:</a:t>
            </a:r>
          </a:p>
          <a:p>
            <a:pPr lvl="1" algn="l">
              <a:lnSpc>
                <a:spcPct val="100000"/>
              </a:lnSpc>
              <a:spcAft>
                <a:spcPts val="900"/>
              </a:spcAft>
              <a:defRPr sz="3000" b="0">
                <a:solidFill>
                  <a:srgbClr val="222222"/>
                </a:solidFill>
                <a:latin typeface="Calibri"/>
              </a:defRPr>
            </a:pPr>
            <a:r>
              <a:rPr sz="3000" b="0">
                <a:solidFill>
                  <a:srgbClr val="222222"/>
                </a:solidFill>
                <a:latin typeface="Calibri"/>
              </a:rPr>
              <a:t>Show your upgrade.</a:t>
            </a:r>
          </a:p>
          <a:p>
            <a:pPr lvl="1" algn="l">
              <a:lnSpc>
                <a:spcPct val="100000"/>
              </a:lnSpc>
              <a:spcAft>
                <a:spcPts val="900"/>
              </a:spcAft>
              <a:defRPr sz="3000" b="0">
                <a:solidFill>
                  <a:srgbClr val="222222"/>
                </a:solidFill>
                <a:latin typeface="Calibri"/>
              </a:defRPr>
            </a:pPr>
            <a:r>
              <a:rPr sz="3000" b="0">
                <a:solidFill>
                  <a:srgbClr val="222222"/>
                </a:solidFill>
                <a:latin typeface="Calibri"/>
              </a:rPr>
              <a:t>Explain ONE line of your code.</a:t>
            </a:r>
          </a:p>
          <a:p>
            <a:pPr lvl="1" algn="l">
              <a:lnSpc>
                <a:spcPct val="100000"/>
              </a:lnSpc>
              <a:spcAft>
                <a:spcPts val="900"/>
              </a:spcAft>
              <a:defRPr sz="3000" b="0">
                <a:solidFill>
                  <a:srgbClr val="222222"/>
                </a:solidFill>
                <a:latin typeface="Calibri"/>
              </a:defRPr>
            </a:pPr>
            <a:r>
              <a:rPr sz="3000" b="0">
                <a:solidFill>
                  <a:srgbClr val="222222"/>
                </a:solidFill>
                <a:latin typeface="Calibri"/>
              </a:rPr>
              <a:t>Tell us about a bug you fixed.</a:t>
            </a:r>
          </a:p>
          <a:p>
            <a:pPr algn="l">
              <a:lnSpc>
                <a:spcPct val="100000"/>
              </a:lnSpc>
              <a:spcAft>
                <a:spcPts val="900"/>
              </a:spcAft>
              <a:defRPr sz="3000" b="0">
                <a:solidFill>
                  <a:srgbClr val="222222"/>
                </a:solidFill>
                <a:latin typeface="Calibri"/>
              </a:defRPr>
            </a:pPr>
            <a:r>
              <a:rPr sz="3000" b="0">
                <a:solidFill>
                  <a:srgbClr val="222222"/>
                </a:solidFill>
                <a:latin typeface="Calibri"/>
              </a:rPr>
              <a:t>Then: certificates!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What's next?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The Pathfinder Beginner course: write the full driving program yourself, line by line.</a:t>
            </a:r>
          </a:p>
          <a:p>
            <a:pPr algn="l">
              <a:lnSpc>
                <a:spcPct val="100000"/>
              </a:lnSpc>
              <a:spcAft>
                <a:spcPts val="900"/>
              </a:spcAft>
              <a:defRPr sz="3000" b="0">
                <a:solidFill>
                  <a:srgbClr val="222222"/>
                </a:solidFill>
                <a:latin typeface="Calibri"/>
              </a:defRPr>
            </a:pPr>
            <a:r>
              <a:rPr sz="3000" b="0">
                <a:solidFill>
                  <a:srgbClr val="222222"/>
                </a:solidFill>
                <a:latin typeface="Calibri"/>
              </a:rPr>
              <a:t>Add sensors: a vehicle that stops by itself before it hits a wall.</a:t>
            </a:r>
          </a:p>
          <a:p>
            <a:pPr algn="l">
              <a:lnSpc>
                <a:spcPct val="100000"/>
              </a:lnSpc>
              <a:spcAft>
                <a:spcPts val="900"/>
              </a:spcAft>
              <a:defRPr sz="3000" b="0">
                <a:solidFill>
                  <a:srgbClr val="222222"/>
                </a:solidFill>
                <a:latin typeface="Calibri"/>
              </a:defRPr>
            </a:pPr>
            <a:r>
              <a:rPr sz="3000" b="0">
                <a:solidFill>
                  <a:srgbClr val="222222"/>
                </a:solidFill>
                <a:latin typeface="Calibri"/>
              </a:rPr>
              <a:t>Robotics clubs and teams at your school.</a:t>
            </a:r>
          </a:p>
          <a:p>
            <a:pPr algn="l">
              <a:lnSpc>
                <a:spcPct val="100000"/>
              </a:lnSpc>
              <a:spcAft>
                <a:spcPts val="900"/>
              </a:spcAft>
              <a:defRPr sz="3000" b="0">
                <a:solidFill>
                  <a:srgbClr val="222222"/>
                </a:solidFill>
                <a:latin typeface="Calibri"/>
              </a:defRPr>
            </a:pPr>
            <a:r>
              <a:rPr sz="3000" b="0">
                <a:solidFill>
                  <a:srgbClr val="222222"/>
                </a:solidFill>
                <a:latin typeface="Calibri"/>
              </a:rPr>
              <a:t>Ocean robots! Porpoise Robotics builds robots that explore the sea.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Thank you, Explorers!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You wrote real code, fixed real bugs, and drove a robot you programmed yourself.</a:t>
            </a:r>
          </a:p>
          <a:p>
            <a:pPr algn="l">
              <a:lnSpc>
                <a:spcPct val="100000"/>
              </a:lnSpc>
              <a:spcAft>
                <a:spcPts val="900"/>
              </a:spcAft>
              <a:defRPr sz="3000" b="0">
                <a:solidFill>
                  <a:srgbClr val="222222"/>
                </a:solidFill>
                <a:latin typeface="Calibri"/>
              </a:defRPr>
            </a:pPr>
            <a:r>
              <a:rPr sz="3000" b="0">
                <a:solidFill>
                  <a:srgbClr val="222222"/>
                </a:solidFill>
                <a:latin typeface="Calibri"/>
              </a:rPr>
              <a:t>Your questionnaire answers will make this course better for the next Explorers.</a:t>
            </a:r>
          </a:p>
          <a:p>
            <a:pPr algn="l">
              <a:lnSpc>
                <a:spcPct val="100000"/>
              </a:lnSpc>
              <a:spcAft>
                <a:spcPts val="900"/>
              </a:spcAft>
              <a:defRPr sz="3000" b="0">
                <a:solidFill>
                  <a:srgbClr val="222222"/>
                </a:solidFill>
                <a:latin typeface="Calibri"/>
              </a:defRPr>
            </a:pPr>
            <a:r>
              <a:rPr sz="3000" b="0">
                <a:solidFill>
                  <a:srgbClr val="222222"/>
                </a:solidFill>
                <a:latin typeface="Calibri"/>
              </a:rPr>
              <a:t>Keep exploring!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Log, then pack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4118728"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In your Mission Log</a:t>
            </a:r>
          </a:p>
        </p:txBody>
      </p:sp>
      <p:sp>
        <p:nvSpPr>
          <p:cNvPr id="7" name="TextBox 6"/>
          <p:cNvSpPr txBox="1"/>
          <p:nvPr/>
        </p:nvSpPr>
        <p:spPr>
          <a:xfrm>
            <a:off x="502920" y="1700784"/>
            <a:ext cx="4118728" cy="3474720"/>
          </a:xfrm>
          <a:prstGeom prst="rect">
            <a:avLst/>
          </a:prstGeom>
          <a:noFill/>
        </p:spPr>
        <p:txBody>
          <a:bodyPr wrap="square" lIns="0" tIns="0" rIns="0" bIns="0">
            <a:spAutoFit/>
          </a:bodyPr>
          <a:lstStyle/>
          <a:p>
            <a:pPr algn="l">
              <a:lnSpc>
                <a:spcPct val="100000"/>
              </a:lnSpc>
              <a:spcAft>
                <a:spcPts val="800"/>
              </a:spcAft>
              <a:defRPr sz="3000" b="0">
                <a:solidFill>
                  <a:srgbClr val="222222"/>
                </a:solidFill>
                <a:latin typeface="Calibri"/>
              </a:defRPr>
            </a:pPr>
            <a:r>
              <a:rPr sz="3000" b="0">
                <a:solidFill>
                  <a:srgbClr val="222222"/>
                </a:solidFill>
                <a:latin typeface="Calibri"/>
              </a:rPr>
              <a:t>Your Mission Day results</a:t>
            </a:r>
          </a:p>
          <a:p>
            <a:pPr algn="l">
              <a:lnSpc>
                <a:spcPct val="100000"/>
              </a:lnSpc>
              <a:spcAft>
                <a:spcPts val="800"/>
              </a:spcAft>
              <a:defRPr sz="3000" b="0">
                <a:solidFill>
                  <a:srgbClr val="222222"/>
                </a:solidFill>
                <a:latin typeface="Calibri"/>
              </a:defRPr>
            </a:pPr>
            <a:r>
              <a:rPr sz="3000" b="0">
                <a:solidFill>
                  <a:srgbClr val="222222"/>
                </a:solidFill>
                <a:latin typeface="Calibri"/>
              </a:rPr>
              <a:t>Your last page: what you're proudest of</a:t>
            </a:r>
          </a:p>
          <a:p>
            <a:pPr algn="l">
              <a:lnSpc>
                <a:spcPct val="100000"/>
              </a:lnSpc>
              <a:spcAft>
                <a:spcPts val="800"/>
              </a:spcAft>
              <a:defRPr sz="3000" b="0">
                <a:solidFill>
                  <a:srgbClr val="222222"/>
                </a:solidFill>
                <a:latin typeface="Calibri"/>
              </a:defRPr>
            </a:pPr>
            <a:r>
              <a:rPr sz="3000" b="0">
                <a:solidFill>
                  <a:srgbClr val="222222"/>
                </a:solidFill>
                <a:latin typeface="Calibri"/>
              </a:rPr>
              <a:t>Stamp: Pathfinder Explorer</a:t>
            </a:r>
          </a:p>
        </p:txBody>
      </p:sp>
      <p:sp>
        <p:nvSpPr>
          <p:cNvPr id="8" name="TextBox 7"/>
          <p:cNvSpPr txBox="1"/>
          <p:nvPr/>
        </p:nvSpPr>
        <p:spPr>
          <a:xfrm>
            <a:off x="5078848" y="1188720"/>
            <a:ext cx="6609927"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Pack up</a:t>
            </a:r>
          </a:p>
        </p:txBody>
      </p:sp>
      <p:sp>
        <p:nvSpPr>
          <p:cNvPr id="9" name="TextBox 8"/>
          <p:cNvSpPr txBox="1"/>
          <p:nvPr/>
        </p:nvSpPr>
        <p:spPr>
          <a:xfrm>
            <a:off x="5078848" y="1700784"/>
            <a:ext cx="6609927" cy="3474720"/>
          </a:xfrm>
          <a:prstGeom prst="rect">
            <a:avLst/>
          </a:prstGeom>
          <a:noFill/>
        </p:spPr>
        <p:txBody>
          <a:bodyPr wrap="square" lIns="0" tIns="0" rIns="0" bIns="0">
            <a:spAutoFit/>
          </a:bodyPr>
          <a:lstStyle/>
          <a:p>
            <a:pPr algn="l">
              <a:lnSpc>
                <a:spcPct val="100000"/>
              </a:lnSpc>
              <a:spcAft>
                <a:spcPts val="800"/>
              </a:spcAft>
              <a:defRPr sz="3000" b="0">
                <a:solidFill>
                  <a:srgbClr val="222222"/>
                </a:solidFill>
                <a:latin typeface="Calibri"/>
              </a:defRPr>
            </a:pPr>
            <a:r>
              <a:rPr sz="3000" b="0">
                <a:solidFill>
                  <a:srgbClr val="222222"/>
                </a:solidFill>
                <a:latin typeface="Calibri"/>
              </a:rPr>
              <a:t>Power OFF. Last time!</a:t>
            </a:r>
          </a:p>
          <a:p>
            <a:pPr algn="l">
              <a:lnSpc>
                <a:spcPct val="100000"/>
              </a:lnSpc>
              <a:spcAft>
                <a:spcPts val="800"/>
              </a:spcAft>
              <a:defRPr sz="3000" b="0">
                <a:solidFill>
                  <a:srgbClr val="222222"/>
                </a:solidFill>
                <a:latin typeface="Calibri"/>
              </a:defRPr>
            </a:pPr>
            <a:r>
              <a:rPr sz="3000" b="0">
                <a:solidFill>
                  <a:srgbClr val="222222"/>
                </a:solidFill>
                <a:latin typeface="Calibri"/>
              </a:rPr>
              <a:t>Batteries go to your teacher.</a:t>
            </a:r>
          </a:p>
          <a:p>
            <a:pPr algn="l">
              <a:lnSpc>
                <a:spcPct val="100000"/>
              </a:lnSpc>
              <a:spcAft>
                <a:spcPts val="800"/>
              </a:spcAft>
              <a:defRPr sz="3000" b="0">
                <a:solidFill>
                  <a:srgbClr val="222222"/>
                </a:solidFill>
                <a:latin typeface="Calibri"/>
              </a:defRPr>
            </a:pPr>
            <a:r>
              <a:rPr sz="3000" b="0">
                <a:solidFill>
                  <a:srgbClr val="222222"/>
                </a:solidFill>
                <a:latin typeface="Calibri"/>
              </a:rPr>
              <a:t>Vehicles and controllers back together, stickers matching.</a:t>
            </a:r>
          </a:p>
          <a:p>
            <a:pPr algn="l">
              <a:lnSpc>
                <a:spcPct val="100000"/>
              </a:lnSpc>
              <a:spcAft>
                <a:spcPts val="800"/>
              </a:spcAft>
              <a:defRPr sz="3000" b="0">
                <a:solidFill>
                  <a:srgbClr val="222222"/>
                </a:solidFill>
                <a:latin typeface="Calibri"/>
              </a:defRPr>
            </a:pPr>
            <a:r>
              <a:rPr sz="3000" b="0">
                <a:solidFill>
                  <a:srgbClr val="222222"/>
                </a:solidFill>
                <a:latin typeface="Calibri"/>
              </a:rPr>
              <a:t>Take your Mission Log and certificate home!</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Last job: every team member says one thing they learned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