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For the Human Light Strip you need eight sheets of colored paper (or eight sheets with a big number on each). Clear a strip at the front of the room.</a:t>
            </a:r>
          </a:p>
          <a:p>
            <a:r>
              <a:rPr sz="1200">
                <a:latin typeface="Calibri"/>
              </a:rPr>
              <a:t>The design grid page in the Mission Log is used in the last part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Read them out. Then ask: who has watched a light show? Holiday lights, a concert, a theme park ride?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Let somebody suggest 32 lines of setLight. Agree that it would work - and ask how long it would take to change the color to green afterwards. (32 changes.)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Put the agenda on the board as well, with the driving or uploading block circled. Students settle when they can see when the hands-on part starts.</a:t>
            </a:r>
          </a:p>
          <a:p>
            <a:r>
              <a:rPr sz="1200">
                <a:latin typeface="Calibri"/>
              </a:rPr>
              <a:t>The timings are a guide for a one-hour session. If the hands-on block runs long, take the time out of the check yourself questions, never out of the pack-up - a rushed pack-up is how cables and controllers go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Narrate it like code, out loud, every time: 'number is 0. Everybody down. Number 0 up. Clap. Add one: number is 1. Everybody down...' Speed up as they get it.</a:t>
            </a:r>
          </a:p>
          <a:p>
            <a:r>
              <a:rPr sz="1200">
                <a:latin typeface="Calibri"/>
              </a:rPr>
              <a:t>Round 2 drops the 'everybody down' step. That's exactly the experiment they'll do on the vehicle later - removing lightsOff() from the chase.</a:t>
            </a:r>
          </a:p>
          <a:p>
            <a:r>
              <a:rPr sz="1200">
                <a:latin typeface="Calibri"/>
              </a:rPr>
              <a:t>Answers: in round 2 we skipped 'everybody down'. The computer repeated the same four steps with a different number each time - that's a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Programmers have a saying: be lazy in a smart way. A loop is the smart kind of lazy.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Read the line out loud as English: 'for a number starting at zero, while the number is less than thirty-two, add one each time.'</a:t>
            </a:r>
          </a:p>
          <a:p>
            <a:r>
              <a:rPr sz="1200">
                <a:latin typeface="Calibri"/>
              </a:rPr>
              <a:t>Point at each callout box and the piece of code it points to.</a:t>
            </a:r>
          </a:p>
          <a:p>
            <a:r>
              <a:rPr sz="1200">
                <a:latin typeface="Calibri"/>
              </a:rPr>
              <a:t>The ++ is the one that looks like a typo. It just means 'add 1'. (The language C++ is named after it - C, plus one more.)</a:t>
            </a:r>
          </a:p>
          <a:p>
            <a:r>
              <a:rPr sz="1200">
                <a:latin typeface="Calibri"/>
              </a:rPr>
              <a:t>Ask: what is the LAST number it uses - 31 or 32? (31. When number becomes 32, 'less than 32' is false and the loop stops.) This is the question that tells you who has really got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Map it back to the Human Light Strip: lightsOff() is 'everybody down', setLight is 'your number up', delay is the clap.</a:t>
            </a:r>
          </a:p>
          <a:p>
            <a:r>
              <a:rPr sz="1200">
                <a:latin typeface="Calibri"/>
              </a:rPr>
              <a:t>The braces { } hold everything that repeats. Ask what's inside the loop's braces. (Three lines.)</a:t>
            </a:r>
          </a:p>
          <a:p>
            <a:r>
              <a:rPr sz="1200">
                <a:latin typeface="Calibri"/>
              </a:rPr>
              <a:t>Ignore 'void chase(Color color)' for now - it means 'here's a pattern called chase, and you tell it which color'. Functions get their own lesson in Lesson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This is the easiest place to start changing things, so it's Level 1.</a:t>
            </a:r>
          </a:p>
          <a:p>
            <a:r>
              <a:rPr sz="1200">
                <a:latin typeface="Calibri"/>
              </a:rPr>
              <a:t>policeLights(6) flashes six times; scanner(RED, 3) sweeps three times in 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SPEED is the delay between steps, so BIGGER is SLOWER. That catches almost everybody - let them find it.</a:t>
            </a:r>
          </a:p>
          <a:p>
            <a:r>
              <a:rPr sz="1200">
                <a:latin typeface="Calibri"/>
              </a:rPr>
              <a:t>Without lightsOff(), nothing ever turns off, so the chase becomes a wipe that fills the vehicle. Exactly Round 2 of the Human Light Strip.</a:t>
            </a:r>
          </a:p>
          <a:p>
            <a:r>
              <a:rPr sz="1200">
                <a:latin typeface="Calibri"/>
              </a:rPr>
              <a:t>Counting backward is on the next slide. Show it only to teams who have tried for a few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The highlighted line is the backward count. For the chase they need: for (int number = 31; number &gt;= 0; number--)</a:t>
            </a:r>
          </a:p>
          <a:p>
            <a:r>
              <a:rPr sz="1200">
                <a:latin typeface="Calibri"/>
              </a:rPr>
              <a:t>The scanner has a loop INSIDE a loop. The outer one counts sweeps, the inner ones count lights. Only point that out to students who are flying.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Insist on the drawing. Teams that draw first build the right thing; teams that type first build SOMETHING and call it done.</a:t>
            </a:r>
          </a:p>
          <a:p>
            <a:r>
              <a:rPr sz="1200">
                <a:latin typeface="Calibri"/>
              </a:rPr>
              <a:t>rainbowColor takes a percent around the color wheel, 0 to 100, so number * 3 spreads 32 lights across most of a rainbow.</a:t>
            </a:r>
          </a:p>
          <a:p>
            <a:r>
              <a:rPr sz="1200">
                <a:latin typeface="Calibri"/>
              </a:rPr>
              <a:t>Copying chase() and renaming it (say, to myPattern) is exactly how real programmers start new code. Then add myPattern(); to loop().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If a copied function won't compile, it's almost always a brace: the copy is missing its last }. Count them together.</a:t>
            </a:r>
          </a:p>
          <a:p>
            <a:r>
              <a:rPr sz="1200">
                <a:latin typeface="Calibri"/>
              </a:rPr>
              <a:t>Two names the same is the other classic error: two functions both called chase. The compiler says 'redefinition'.</a:t>
            </a:r>
          </a:p>
          <a:p>
            <a:r>
              <a:rPr sz="1200">
                <a:latin typeface="Calibri"/>
              </a:rPr>
              <a:t>Finish with a two-minute gallery: everyone switches lights on and walks round looking at the other vehicles.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Read each word out and have the room say it back. Saying a word out loud is half of owning it.</a:t>
            </a:r>
          </a:p>
          <a:p>
            <a:r>
              <a:rPr sz="1200">
                <a:latin typeface="Calibri"/>
              </a:rPr>
              <a:t>These are also in the glossary at the back of the Mission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Answers: 1 repeats instructions. 2 first 0, last 31. 3 add one. 4 make SPEED smaller. 5 to turn the last light off, or they all stay on.</a:t>
            </a:r>
          </a:p>
          <a:p>
            <a:r>
              <a:rPr sz="1200">
                <a:latin typeface="Calibri"/>
              </a:rPr>
              <a:t>Question 2 is the real test - 'last is 32' is the common wrong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Next lesson the wheels move for the first time. Remind everybody: hair tied back next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rpoi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762" y="457200"/>
            <a:ext cx="766013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051560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0E7C86"/>
                </a:solidFill>
                <a:latin typeface="Calibri"/>
              </a:defRPr>
            </a:pPr>
            <a:r>
              <a:rPr sz="1600" b="1">
                <a:solidFill>
                  <a:srgbClr val="0E7C86"/>
                </a:solidFill>
                <a:latin typeface="Calibri"/>
              </a:rPr>
              <a:t>LESSON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64922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4000" b="1">
                <a:solidFill>
                  <a:srgbClr val="1F3A5F"/>
                </a:solidFill>
                <a:latin typeface="Calibri"/>
              </a:defRPr>
            </a:pPr>
            <a:r>
              <a:rPr sz="4000" b="1">
                <a:solidFill>
                  <a:srgbClr val="1F3A5F"/>
                </a:solidFill>
                <a:latin typeface="Calibri"/>
              </a:rPr>
              <a:t>Loops and Light Shows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54680"/>
            <a:ext cx="6492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222222"/>
                </a:solidFill>
                <a:latin typeface="Calibri"/>
              </a:defRPr>
            </a:pPr>
            <a:r>
              <a:rPr sz="1700" b="0">
                <a:solidFill>
                  <a:srgbClr val="222222"/>
                </a:solidFill>
                <a:latin typeface="Calibri"/>
              </a:rPr>
              <a:t>Why write 32 lines when one loop can do it? Today the computer does the counting, and you design a light show.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31920"/>
            <a:ext cx="649224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PORPOISE ROBOTICS  -  Precision Oceanographic Program On and In the Sea Environment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porpoiserobotics.org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600" b="0">
                <a:solidFill>
                  <a:srgbClr val="666666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Kevin Bowen, President  -  kbowen6@icloud.com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Malcom Graham, VP Education      Louis Parker, VP Technology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Valen Farre, System Engineer      Gary Howland, Animation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Eddie Revollo, Artificial Intelligence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Interns: Oscar Canazales, Krishnansh Vemulapalli, Soham Gangal, Erik Olsen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600" b="0">
                <a:solidFill>
                  <a:srgbClr val="666666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One hour.  Teams of three, one vehicle per team.</a:t>
            </a:r>
          </a:p>
        </p:txBody>
      </p:sp>
      <p:pic>
        <p:nvPicPr>
          <p:cNvPr id="8" name="Picture 7" descr="vehicle-turn-signal-r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023110"/>
            <a:ext cx="4480560" cy="33604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4476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rPr sz="900" b="0">
                <a:solidFill>
                  <a:srgbClr val="666666"/>
                </a:solidFill>
                <a:latin typeface="Calibri"/>
              </a:rPr>
              <a:t>Porpoise Robotics - proprietary. For use with Porpoise Robotics lessons.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Today's 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By the end of today, you can: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85855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1.   Say what a loop does, and why programmers use them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2.   Read a for loop: where it starts, when it stops, and how it counts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3.   Change a light show's colors, speed and direction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4.   Design a light pattern on paper, then build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Last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You mixed colors, and mapped all 32 lights.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Here's a puzzle: how would you turn ALL 32 lights blue, one at a time?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32 lines of setLight? There's a better way.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Switch jobs!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Today, in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3867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585"/>
                <a:gridCol w="10067269"/>
              </a:tblGrid>
              <a:tr h="552450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What we do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0:00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Warm-up: how would you light all 32?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0:05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The Human Light Strip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0:15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for loops, piece by piece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0:22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Upload e04a_light_show and change it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0:37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Design and build your own pattern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0:52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Mission Log and pack up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Repeat after 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15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Repeat after 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306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The light show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7692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Your own show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The Human Light Strip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5855" cy="53035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UNPLUGGED:   </a:t>
            </a:r>
            <a:r>
              <a:rPr sz="1500" b="1">
                <a:solidFill>
                  <a:srgbClr val="FFFFFF"/>
                </a:solidFill>
                <a:latin typeface="Calibri"/>
              </a:rPr>
              <a:t>Eight volunteers</a:t>
            </a:r>
            <a:r>
              <a:rPr sz="1200">
                <a:solidFill>
                  <a:srgbClr val="FFFFFF"/>
                </a:solidFill>
                <a:latin typeface="Calibri"/>
              </a:rPr>
              <a:t>     (10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6249137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2100" b="0">
                <a:solidFill>
                  <a:srgbClr val="222222"/>
                </a:solidFill>
                <a:latin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</a:rPr>
              <a:t>Eight volunteers stand in a row, facing the class. Number yourselves 0 to 7.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100" b="0">
                <a:solidFill>
                  <a:srgbClr val="222222"/>
                </a:solidFill>
                <a:latin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</a:rPr>
              <a:t>Hold your colored paper DOWN. You're OFF.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100" b="0">
                <a:solidFill>
                  <a:srgbClr val="222222"/>
                </a:solidFill>
                <a:latin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</a:rPr>
              <a:t>The teacher is the computer. When your number is called, hold it UP. You're ON.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100" b="0">
                <a:solidFill>
                  <a:srgbClr val="222222"/>
                </a:solidFill>
                <a:latin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</a:rPr>
              <a:t>ROUND 1 - CHASE: everybody down, one number up, clap. Next number!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100" b="0">
                <a:solidFill>
                  <a:srgbClr val="222222"/>
                </a:solidFill>
                <a:latin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</a:rPr>
              <a:t>ROUND 2 - WIPE: the same, but nobody goes back down.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100" b="0">
                <a:solidFill>
                  <a:srgbClr val="222222"/>
                </a:solidFill>
                <a:latin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</a:rPr>
              <a:t>ROUND 3 - BACKWARD: start at 7 and count 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3537" y="190195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What you should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3537" y="2304288"/>
            <a:ext cx="4525238" cy="12507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A light that runs along the row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...then a row that fills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3537" y="3628195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Answer these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3537" y="4030531"/>
            <a:ext cx="4525238" cy="2233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What changed between round 1 and round 2?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What did the 'computer' do over and over?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What's a loop?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A LOOP repeats instructions without you writing them again.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You already know one: loop() repeats forever.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A FOR loop repeats a set number of times - and counts as it goes.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Computers are amazing at counting. Let them do the boring part.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If you're copying the same line over and over, you probably want a loop.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A for loop, piece by piece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1022" y="1399032"/>
            <a:ext cx="8629650" cy="685800"/>
          </a:xfrm>
          <a:prstGeom prst="rect">
            <a:avLst/>
          </a:prstGeom>
          <a:solidFill>
            <a:srgbClr val="F4F6F8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963902" y="1508760"/>
            <a:ext cx="8263890" cy="8945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2600" b="1">
                <a:solidFill>
                  <a:srgbClr val="1F3A5F"/>
                </a:solidFill>
                <a:latin typeface="Consolas"/>
              </a:defRPr>
            </a:pPr>
            <a:r>
              <a:rPr sz="2600" b="1">
                <a:solidFill>
                  <a:srgbClr val="1F3A5F"/>
                </a:solidFill>
                <a:latin typeface="Consolas"/>
              </a:rPr>
              <a:t>for (int number = 0; number &lt; 32; number++)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8892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D6ECE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1F3A5F"/>
                </a:solidFill>
                <a:latin typeface="Calibri"/>
              </a:defRPr>
            </a:pPr>
            <a:r>
              <a:rPr sz="2000" b="0">
                <a:solidFill>
                  <a:srgbClr val="1F3A5F"/>
                </a:solidFill>
                <a:latin typeface="Calibri"/>
              </a:rPr>
              <a:t>START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1F3A5F"/>
                </a:solidFill>
                <a:latin typeface="Calibri"/>
              </a:defRPr>
            </a:pPr>
            <a:r>
              <a:rPr sz="2000" b="0">
                <a:solidFill>
                  <a:srgbClr val="1F3A5F"/>
                </a:solidFill>
                <a:latin typeface="Calibri"/>
              </a:rPr>
              <a:t>number begins at 0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331720" y="2075688"/>
            <a:ext cx="1811502" cy="713232"/>
          </a:xfrm>
          <a:prstGeom prst="line">
            <a:avLst/>
          </a:prstGeom>
          <a:ln w="31750">
            <a:solidFill>
              <a:srgbClr val="0E7C86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78892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FAE6C8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1F3A5F"/>
                </a:solidFill>
                <a:latin typeface="Calibri"/>
              </a:defRPr>
            </a:pPr>
            <a:r>
              <a:rPr sz="2000" b="0">
                <a:solidFill>
                  <a:srgbClr val="1F3A5F"/>
                </a:solidFill>
                <a:latin typeface="Calibri"/>
              </a:rPr>
              <a:t>KEEP GOING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1F3A5F"/>
                </a:solidFill>
                <a:latin typeface="Calibri"/>
              </a:defRPr>
            </a:pPr>
            <a:r>
              <a:rPr sz="2000" b="0">
                <a:solidFill>
                  <a:srgbClr val="1F3A5F"/>
                </a:solidFill>
                <a:latin typeface="Calibri"/>
              </a:rPr>
              <a:t>while number is less than 32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007608" y="2075688"/>
            <a:ext cx="768959" cy="713232"/>
          </a:xfrm>
          <a:prstGeom prst="line">
            <a:avLst/>
          </a:prstGeom>
          <a:ln w="31750">
            <a:solidFill>
              <a:srgbClr val="0E7C86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37576" y="278892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D6ECE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1F3A5F"/>
                </a:solidFill>
                <a:latin typeface="Calibri"/>
              </a:defRPr>
            </a:pPr>
            <a:r>
              <a:rPr sz="2000" b="0">
                <a:solidFill>
                  <a:srgbClr val="1F3A5F"/>
                </a:solidFill>
                <a:latin typeface="Calibri"/>
              </a:rPr>
              <a:t>STEP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1F3A5F"/>
                </a:solidFill>
                <a:latin typeface="Calibri"/>
              </a:defRPr>
            </a:pPr>
            <a:r>
              <a:rPr sz="2000" b="0">
                <a:solidFill>
                  <a:srgbClr val="1F3A5F"/>
                </a:solidFill>
                <a:latin typeface="Calibri"/>
              </a:rPr>
              <a:t>add 1 each time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8865082" y="2075688"/>
            <a:ext cx="818414" cy="713232"/>
          </a:xfrm>
          <a:prstGeom prst="line">
            <a:avLst/>
          </a:prstGeom>
          <a:ln w="31750">
            <a:solidFill>
              <a:srgbClr val="0E7C86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963902" y="4206240"/>
            <a:ext cx="4754880" cy="548640"/>
          </a:xfrm>
          <a:prstGeom prst="rect">
            <a:avLst/>
          </a:prstGeom>
          <a:solidFill>
            <a:srgbClr val="F4F6F8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222222"/>
                </a:solidFill>
                <a:latin typeface="Consolas"/>
              </a:defRPr>
            </a:pPr>
            <a:r>
              <a:rPr sz="2200" b="0">
                <a:solidFill>
                  <a:srgbClr val="222222"/>
                </a:solidFill>
                <a:latin typeface="Consolas"/>
              </a:rPr>
              <a:t>  setLight(number, BLUE);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7382" y="4251960"/>
            <a:ext cx="4572000" cy="721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runs 32 times: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number = 0, 1, 2 ...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The chase, as a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7047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E7C86"/>
                </a:solidFill>
                <a:latin typeface="Consolas"/>
              </a:defRPr>
            </a:pPr>
            <a:r>
              <a:rPr sz="1200" b="1">
                <a:solidFill>
                  <a:srgbClr val="0E7C86"/>
                </a:solidFill>
                <a:latin typeface="Consolas"/>
              </a:rPr>
              <a:t>e04a_light_show.ino</a:t>
            </a:r>
          </a:p>
        </p:txBody>
      </p:sp>
      <p:sp>
        <p:nvSpPr>
          <p:cNvPr id="7" name="CODE_PANEL"/>
          <p:cNvSpPr/>
          <p:nvPr/>
        </p:nvSpPr>
        <p:spPr>
          <a:xfrm>
            <a:off x="502920" y="1517904"/>
            <a:ext cx="7047088" cy="4745736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  <a:defRPr sz="1900">
                <a:latin typeface="Consolas"/>
              </a:defRPr>
            </a:pPr>
            <a:r>
              <a:rPr sz="1900">
                <a:solidFill>
                  <a:srgbClr val="666666"/>
                </a:solidFill>
                <a:latin typeface="Consolas"/>
              </a:rPr>
              <a:t>// One light runs all the way around the vehicle.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900">
                <a:latin typeface="Consolas"/>
              </a:defRPr>
            </a:pPr>
            <a:r>
              <a:rPr sz="1900">
                <a:solidFill>
                  <a:srgbClr val="222222"/>
                </a:solidFill>
                <a:latin typeface="Consolas"/>
              </a:rPr>
              <a:t>void chase(Color color)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900">
                <a:latin typeface="Consolas"/>
              </a:defRPr>
            </a:pPr>
            <a:r>
              <a:rPr sz="1900" b="1">
                <a:solidFill>
                  <a:srgbClr val="0E7C86"/>
                </a:solidFill>
                <a:latin typeface="Consolas"/>
              </a:rPr>
              <a:t>  for (int number = 0; number &lt; 32; number++)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900">
                <a:latin typeface="Consolas"/>
              </a:defRPr>
            </a:pPr>
            <a:r>
              <a:rPr sz="1900">
                <a:solidFill>
                  <a:srgbClr val="222222"/>
                </a:solidFill>
                <a:latin typeface="Consolas"/>
              </a:rPr>
              <a:t>    lightsOff();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900">
                <a:latin typeface="Consolas"/>
              </a:defRPr>
            </a:pPr>
            <a:r>
              <a:rPr sz="1900">
                <a:solidFill>
                  <a:srgbClr val="222222"/>
                </a:solidFill>
                <a:latin typeface="Consolas"/>
              </a:rPr>
              <a:t>    setLight(number, color);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900">
                <a:latin typeface="Consolas"/>
              </a:defRPr>
            </a:pPr>
            <a:r>
              <a:rPr sz="1900">
                <a:solidFill>
                  <a:srgbClr val="222222"/>
                </a:solidFill>
                <a:latin typeface="Consolas"/>
              </a:rPr>
              <a:t>    delay(SPEED);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900">
                <a:latin typeface="Consolas"/>
              </a:defRPr>
            </a:pPr>
            <a:r>
              <a:rPr sz="1900">
                <a:solidFill>
                  <a:srgbClr val="222222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900">
                <a:latin typeface="Consolas"/>
              </a:defRPr>
            </a:pPr>
            <a:r>
              <a:rPr sz="1900">
                <a:solidFill>
                  <a:srgbClr val="222222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0048" y="1517904"/>
            <a:ext cx="3818727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The loop counts 0, 1, 2 ... 31.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Each time round: all off, ONE light on, wait.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Fast enough, and the light seems to MOVE.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That's how cartoons work: still pictures, shown fast.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The light 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15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Repeat after 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306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The light show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0306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Your own show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The whole show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7047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E7C86"/>
                </a:solidFill>
                <a:latin typeface="Consolas"/>
              </a:defRPr>
            </a:pPr>
            <a:r>
              <a:rPr sz="1200" b="1">
                <a:solidFill>
                  <a:srgbClr val="0E7C86"/>
                </a:solidFill>
                <a:latin typeface="Consolas"/>
              </a:rPr>
              <a:t>e04a_light_show.ino</a:t>
            </a:r>
          </a:p>
        </p:txBody>
      </p:sp>
      <p:sp>
        <p:nvSpPr>
          <p:cNvPr id="7" name="CODE_PANEL"/>
          <p:cNvSpPr/>
          <p:nvPr/>
        </p:nvSpPr>
        <p:spPr>
          <a:xfrm>
            <a:off x="502920" y="1517904"/>
            <a:ext cx="7047088" cy="4745736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void loop()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chase(BLUE);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chase(GREEN);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policeLights(6);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scanner(RED, 3);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0048" y="1517904"/>
            <a:ext cx="3818727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Each line plays one pattern.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The words in the ( ) tell the pattern which color, or how many times.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Change the order, or add lines, to make it your show.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The light show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5855" cy="53035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MISSION:   </a:t>
            </a:r>
            <a:r>
              <a:rPr sz="1500" b="1">
                <a:solidFill>
                  <a:srgbClr val="FFFFFF"/>
                </a:solidFill>
                <a:latin typeface="Consolas"/>
              </a:rPr>
              <a:t>e04a_light_show</a:t>
            </a:r>
            <a:r>
              <a:rPr sz="1200">
                <a:solidFill>
                  <a:srgbClr val="FFFFFF"/>
                </a:solidFill>
                <a:latin typeface="Calibri"/>
              </a:rPr>
              <a:t>     (15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6249137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2400" b="0">
                <a:solidFill>
                  <a:srgbClr val="222222"/>
                </a:solidFill>
                <a:latin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</a:rPr>
              <a:t>Upload e04a_light_show. Watch the whole show once.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400" b="0">
                <a:solidFill>
                  <a:srgbClr val="222222"/>
                </a:solidFill>
                <a:latin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</a:rPr>
              <a:t>LEVEL 1: in loop(), change the colors. Change the order. Play one pattern twice.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400" b="0">
                <a:solidFill>
                  <a:srgbClr val="222222"/>
                </a:solidFill>
                <a:latin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</a:rPr>
              <a:t>Change SPEED (line 24). Try 20. Try 200.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400" b="0">
                <a:solidFill>
                  <a:srgbClr val="222222"/>
                </a:solidFill>
                <a:latin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</a:rPr>
              <a:t>LEVEL 2: in chase(), delete  lightsOff();  and upload. What happens? Why?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400" b="0">
                <a:solidFill>
                  <a:srgbClr val="222222"/>
                </a:solidFill>
                <a:latin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</a:rPr>
              <a:t>Then make the chase run BACKWARD, from 31 down to 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3537" y="190195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What you should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3537" y="2304288"/>
            <a:ext cx="4525238" cy="116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rPr sz="2200" b="0">
                <a:solidFill>
                  <a:srgbClr val="222222"/>
                </a:solidFill>
                <a:latin typeface="Calibri"/>
              </a:rPr>
              <a:t>A blue chase, a green chase, police lights, then a red scanner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3537" y="3538728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Answer these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3537" y="3941064"/>
            <a:ext cx="4525238" cy="2322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2800" b="0">
                <a:solidFill>
                  <a:srgbClr val="222222"/>
                </a:solidFill>
                <a:latin typeface="Calibri"/>
              </a:defRPr>
            </a:pPr>
            <a:r>
              <a:rPr sz="2800" b="0">
                <a:solidFill>
                  <a:srgbClr val="222222"/>
                </a:solidFill>
                <a:latin typeface="Calibri"/>
              </a:rPr>
              <a:t>Why does deleting lightsOff() change the pattern?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2800" b="0">
                <a:solidFill>
                  <a:srgbClr val="222222"/>
                </a:solidFill>
                <a:latin typeface="Calibri"/>
              </a:defRPr>
            </a:pPr>
            <a:r>
              <a:rPr sz="2800" b="0">
                <a:solidFill>
                  <a:srgbClr val="222222"/>
                </a:solidFill>
                <a:latin typeface="Calibri"/>
              </a:rPr>
              <a:t>Does a bigger SPEED make it faster or slower?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Hint: counting backward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7047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E7C86"/>
                </a:solidFill>
                <a:latin typeface="Consolas"/>
              </a:defRPr>
            </a:pPr>
            <a:r>
              <a:rPr sz="1200" b="1">
                <a:solidFill>
                  <a:srgbClr val="0E7C86"/>
                </a:solidFill>
                <a:latin typeface="Consolas"/>
              </a:rPr>
              <a:t>e04a_light_show.ino</a:t>
            </a:r>
          </a:p>
        </p:txBody>
      </p:sp>
      <p:sp>
        <p:nvSpPr>
          <p:cNvPr id="7" name="CODE_PANEL"/>
          <p:cNvSpPr/>
          <p:nvPr/>
        </p:nvSpPr>
        <p:spPr>
          <a:xfrm>
            <a:off x="502920" y="1517904"/>
            <a:ext cx="7047088" cy="4745736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222222"/>
                </a:solidFill>
                <a:latin typeface="Consolas"/>
              </a:rPr>
              <a:t>void scanner(Color color, int sweeps)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222222"/>
                </a:solidFill>
                <a:latin typeface="Consolas"/>
              </a:rPr>
              <a:t>  for (int sweep = 0; sweep &lt; sweeps; sweep++)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222222"/>
                </a:solidFill>
                <a:latin typeface="Consolas"/>
              </a:rPr>
              <a:t>    for (int number = 0; number &lt; 16; number++)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222222"/>
                </a:solidFill>
                <a:latin typeface="Consolas"/>
              </a:rPr>
              <a:t>      lightsOff();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222222"/>
                </a:solidFill>
                <a:latin typeface="Consolas"/>
              </a:rPr>
              <a:t>      setLight(number, color);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222222"/>
                </a:solidFill>
                <a:latin typeface="Consolas"/>
              </a:rPr>
              <a:t>      setLight(behind(number), color);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222222"/>
                </a:solidFill>
                <a:latin typeface="Consolas"/>
              </a:rPr>
              <a:t>      delay(SPEED);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222222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800">
                <a:latin typeface="Consolas"/>
              </a:defRPr>
            </a:pPr>
            <a:r>
              <a:rPr sz="1800" b="1">
                <a:solidFill>
                  <a:srgbClr val="0E7C86"/>
                </a:solidFill>
                <a:latin typeface="Consolas"/>
              </a:rPr>
              <a:t>    for (int number = 15; number &gt;= 0; number--)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222222"/>
                </a:solidFill>
                <a:latin typeface="Consolas"/>
              </a:rPr>
              <a:t>      lightsOff();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222222"/>
                </a:solidFill>
                <a:latin typeface="Consolas"/>
              </a:rPr>
              <a:t>      setLight(number, color);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222222"/>
                </a:solidFill>
                <a:latin typeface="Consolas"/>
              </a:rPr>
              <a:t>      setLight(behind(number), color);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222222"/>
                </a:solidFill>
                <a:latin typeface="Consolas"/>
              </a:rPr>
              <a:t>      delay(SPEED);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222222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222222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222222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0048" y="1517904"/>
            <a:ext cx="3818727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Start at the TOP number.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Keep going while it's 0 or more:  &gt;= 0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Take 1 away each time:  --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behind(number) is the back light right behind a front 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Your own 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15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Repeat after 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306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The light show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0306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Your own show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7692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Design your own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Draw it first! Color in the grid in your Mission Log - one row per step.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Ideas:</a:t>
            </a:r>
          </a:p>
          <a:p>
            <a:pPr lvl="1" algn="l">
              <a:lnSpc>
                <a:spcPct val="100000"/>
              </a:lnSpc>
              <a:spcAft>
                <a:spcPts val="6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Two lights chasing each other</a:t>
            </a:r>
          </a:p>
          <a:p>
            <a:pPr lvl="1" algn="l">
              <a:lnSpc>
                <a:spcPct val="100000"/>
              </a:lnSpc>
              <a:spcAft>
                <a:spcPts val="6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Front and back going opposite ways</a:t>
            </a:r>
          </a:p>
          <a:p>
            <a:pPr lvl="1" algn="l">
              <a:lnSpc>
                <a:spcPct val="100000"/>
              </a:lnSpc>
              <a:spcAft>
                <a:spcPts val="6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A rainbow that fills up:  rainbowColor(number * 3)</a:t>
            </a:r>
          </a:p>
          <a:p>
            <a:pPr lvl="1" algn="l">
              <a:lnSpc>
                <a:spcPct val="100000"/>
              </a:lnSpc>
              <a:spcAft>
                <a:spcPts val="6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Lights that bounce out from the middle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Then copy chase(), give it a new name, and change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Test after every small change. If it breaks, you'll know which change did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Your own light show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5855" cy="53035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MISSION:   </a:t>
            </a:r>
            <a:r>
              <a:rPr sz="1500" b="1">
                <a:solidFill>
                  <a:srgbClr val="FFFFFF"/>
                </a:solidFill>
                <a:latin typeface="Consolas"/>
              </a:rPr>
              <a:t>e04a_light_show</a:t>
            </a:r>
            <a:r>
              <a:rPr sz="1200">
                <a:solidFill>
                  <a:srgbClr val="FFFFFF"/>
                </a:solidFill>
                <a:latin typeface="Calibri"/>
              </a:rPr>
              <a:t>     (15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6249137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2600" b="0">
                <a:solidFill>
                  <a:srgbClr val="222222"/>
                </a:solidFill>
                <a:latin typeface="Calibri"/>
              </a:defRPr>
            </a:pPr>
            <a:r>
              <a:rPr sz="2600" b="0">
                <a:solidFill>
                  <a:srgbClr val="222222"/>
                </a:solidFill>
                <a:latin typeface="Calibri"/>
              </a:rPr>
              <a:t>Draw your pattern in the Mission Log grid: at least four steps.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600" b="0">
                <a:solidFill>
                  <a:srgbClr val="222222"/>
                </a:solidFill>
                <a:latin typeface="Calibri"/>
              </a:defRPr>
            </a:pPr>
            <a:r>
              <a:rPr sz="2600" b="0">
                <a:solidFill>
                  <a:srgbClr val="222222"/>
                </a:solidFill>
                <a:latin typeface="Calibri"/>
              </a:rPr>
              <a:t>Copy chase() at the bottom. Rename the copy, for example myPattern.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600" b="0">
                <a:solidFill>
                  <a:srgbClr val="222222"/>
                </a:solidFill>
                <a:latin typeface="Calibri"/>
              </a:defRPr>
            </a:pPr>
            <a:r>
              <a:rPr sz="2600" b="0">
                <a:solidFill>
                  <a:srgbClr val="222222"/>
                </a:solidFill>
                <a:latin typeface="Calibri"/>
              </a:rPr>
              <a:t>Change the copy to match your drawing.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600" b="0">
                <a:solidFill>
                  <a:srgbClr val="222222"/>
                </a:solidFill>
                <a:latin typeface="Calibri"/>
              </a:defRPr>
            </a:pPr>
            <a:r>
              <a:rPr sz="2600" b="0">
                <a:solidFill>
                  <a:srgbClr val="222222"/>
                </a:solidFill>
                <a:latin typeface="Calibri"/>
              </a:rPr>
              <a:t>Add  myPattern();  to loop(). Upload.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600" b="0">
                <a:solidFill>
                  <a:srgbClr val="222222"/>
                </a:solidFill>
                <a:latin typeface="Calibri"/>
              </a:defRPr>
            </a:pPr>
            <a:r>
              <a:rPr sz="2600" b="0">
                <a:solidFill>
                  <a:srgbClr val="222222"/>
                </a:solidFill>
                <a:latin typeface="Calibri"/>
              </a:rPr>
              <a:t>Does it match your drawing? Show another team!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3537" y="190195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What you should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3537" y="2304288"/>
            <a:ext cx="4525238" cy="12507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Your drawing, in 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3537" y="3628195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Answer these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3537" y="4030531"/>
            <a:ext cx="4525238" cy="2233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What did you have to change to make it match your drawing?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New words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700"/>
                <a:gridCol w="8442154"/>
              </a:tblGrid>
              <a:tr h="711200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Word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Loop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Code that repeats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for loop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A loop that counts: start, keep going while..., step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++  and  --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Add 1, and take away 1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Animation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Pictures changing fast enough to look like movement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{ }  braces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Hold the lines that belong together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Check yourself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1.  What does a loop do?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2.  for (int number = 0; number &lt; 32; number++): what's the first number? The last?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3.  What does ++ mean?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4.  How do you make the light show go faster?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5.  Why does the chase need lightsOff()?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Mission Log, then pack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41187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In your Mission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4118728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2800" b="0">
                <a:solidFill>
                  <a:srgbClr val="222222"/>
                </a:solidFill>
                <a:latin typeface="Calibri"/>
              </a:defRPr>
            </a:pPr>
            <a:r>
              <a:rPr sz="2800" b="0">
                <a:solidFill>
                  <a:srgbClr val="222222"/>
                </a:solidFill>
                <a:latin typeface="Calibri"/>
              </a:rPr>
              <a:t>Your pattern design, colored in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800" b="0">
                <a:solidFill>
                  <a:srgbClr val="222222"/>
                </a:solidFill>
                <a:latin typeface="Calibri"/>
              </a:defRPr>
            </a:pPr>
            <a:r>
              <a:rPr sz="2800" b="0">
                <a:solidFill>
                  <a:srgbClr val="222222"/>
                </a:solidFill>
                <a:latin typeface="Calibri"/>
              </a:rPr>
              <a:t>Fill in the for loop: start, keep going, step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800" b="0">
                <a:solidFill>
                  <a:srgbClr val="222222"/>
                </a:solidFill>
                <a:latin typeface="Calibri"/>
              </a:defRPr>
            </a:pPr>
            <a:r>
              <a:rPr sz="2800" b="0">
                <a:solidFill>
                  <a:srgbClr val="222222"/>
                </a:solidFill>
                <a:latin typeface="Calibri"/>
              </a:rPr>
              <a:t>Stamp: Light Show Designer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8848" y="1188720"/>
            <a:ext cx="6609927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Pack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8848" y="1700784"/>
            <a:ext cx="6609927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2800" b="0">
                <a:solidFill>
                  <a:srgbClr val="222222"/>
                </a:solidFill>
                <a:latin typeface="Calibri"/>
              </a:defRPr>
            </a:pPr>
            <a:r>
              <a:rPr sz="2800" b="0">
                <a:solidFill>
                  <a:srgbClr val="222222"/>
                </a:solidFill>
                <a:latin typeface="Calibri"/>
              </a:rPr>
              <a:t>Crew Chief: vehicle power OFF.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800" b="0">
                <a:solidFill>
                  <a:srgbClr val="222222"/>
                </a:solidFill>
                <a:latin typeface="Calibri"/>
              </a:defRPr>
            </a:pPr>
            <a:r>
              <a:rPr sz="2800" b="0">
                <a:solidFill>
                  <a:srgbClr val="222222"/>
                </a:solidFill>
                <a:latin typeface="Calibri"/>
              </a:rPr>
              <a:t>Unplug the cable and coil it up.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800" b="0">
                <a:solidFill>
                  <a:srgbClr val="222222"/>
                </a:solidFill>
                <a:latin typeface="Calibri"/>
              </a:defRPr>
            </a:pPr>
            <a:r>
              <a:rPr sz="2800" b="0">
                <a:solidFill>
                  <a:srgbClr val="222222"/>
                </a:solidFill>
                <a:latin typeface="Calibri"/>
              </a:rPr>
              <a:t>Vehicle and controller back in their spot, stickers matching.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800" b="0">
                <a:solidFill>
                  <a:srgbClr val="222222"/>
                </a:solidFill>
                <a:latin typeface="Calibri"/>
              </a:defRPr>
            </a:pPr>
            <a:r>
              <a:rPr sz="2800" b="0">
                <a:solidFill>
                  <a:srgbClr val="222222"/>
                </a:solidFill>
                <a:latin typeface="Calibri"/>
              </a:rPr>
              <a:t>Close the laptop. Push your chairs 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Last job: every team member says one thing they learned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