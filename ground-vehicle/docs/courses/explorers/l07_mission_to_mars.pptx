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BEFORE CLASS: build the Mars course - a START base, a 'crater' (a hula hoop, or a ring of paper plates), and a SAMPLE zone, on a grid of one-foot squares. One course can be shared if teams take turns.</a:t>
            </a:r>
          </a:p>
          <a:p>
            <a:r>
              <a:rPr sz="1200">
                <a:latin typeface="Calibri"/>
              </a:rPr>
              <a:t>Something to 'collect' at the sample zone is fun: a ball, a rock-shaped bean bag, a paper cup.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them out. The theme today is planning - point at the words plan, test and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Collect best TURN_TIMEs out loud. Any team that lost theirs can use 500 and re-tune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the agenda on the board as well, with the driving or uploading block circled. Students settle when they can see when the hands-on part starts.</a:t>
            </a:r>
          </a:p>
          <a:p>
            <a:r>
              <a:rPr sz="1200">
                <a:latin typeface="Calibri"/>
              </a:rPr>
              <a:t>The timings are a guide for a one-hour session. If the hands-on block runs long, take the time out of the check yourself questions, never out of the pack-up - a rushed pack-up is how cables and controllers go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Same routine as the Starting Line: codes not names, read every question aloud, no hints on Part 2, collect straight away.</a:t>
            </a:r>
          </a:p>
          <a:p>
            <a:r>
              <a:rPr sz="1200">
                <a:latin typeface="Calibri"/>
              </a:rPr>
              <a:t>This is the most useful questionnaire for THIS cohort, because it comes early enough to change the next six lessons. Skim Parts 3 and 4 before Lesson 8, pick one thing you can change, and tell the class you changed it: 'lots of you said the lessons felt rushed, so today...'. Students who see their answers matter give better answers at the finish.</a:t>
            </a:r>
          </a:p>
          <a:p>
            <a:r>
              <a:rPr sz="1200">
                <a:latin typeface="Calibri"/>
              </a:rPr>
              <a:t>Any 'No' to I feel safe in this class deserves a quiet follow-up within the week - you can't tell who from the code alone, so use your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Radio travels at the speed of light, which is unbelievably fast - but Mars is unbelievably far away. Depending on where the two planets are in their orbits, a message takes somewhere between about 3 and 22 minutes to get there, one way.</a:t>
            </a:r>
          </a:p>
          <a:p>
            <a:r>
              <a:rPr sz="1200">
                <a:latin typeface="Calibri"/>
              </a:rPr>
              <a:t>Ask: if the rover is about to drive into a crater and you press STOP, when does the rover find out? (Minutes later.) And when do you find out it stopped? (Minutes after THAT.)</a:t>
            </a:r>
          </a:p>
          <a:p>
            <a:r>
              <a:rPr sz="1200">
                <a:latin typeface="Calibri"/>
              </a:rPr>
              <a:t>Mars rovers are driven from NASA's Jet Propulsion Laboratory in Pasadena, a couple of hours' drive north of us. The team plans a whole day of moves, sends the plan, and the rover carries it out on its own. That is exactly what your vehicle is about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Mission Control must not watch the rover - just like the real team, they only know what the messenger tells them.</a:t>
            </a:r>
          </a:p>
          <a:p>
            <a:r>
              <a:rPr sz="1200">
                <a:latin typeface="Calibri"/>
              </a:rPr>
              <a:t>Time both rounds on the board. Round 1 usually takes several minutes for a few steps.</a:t>
            </a:r>
          </a:p>
          <a:p>
            <a:r>
              <a:rPr sz="1200">
                <a:latin typeface="Calibri"/>
              </a:rPr>
              <a:t>If Round 2's plan has a mistake, let it fail. Then ask what the real rover team would do: look at the pictures the rover sends back, and fix tomorrow's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Pasadena is a couple of hours' drive north of San Diego - real Mars rovers are driven from right here in Southern California.</a:t>
            </a:r>
          </a:p>
          <a:p>
            <a:r>
              <a:rPr sz="1200">
                <a:latin typeface="Calibri"/>
              </a:rPr>
              <a:t>Modern rovers can also steer around small rocks on their own, using their cameras. Ours can't see anything, so our plan has to be perfect.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recipe is a good comparison: the recipe for pancakes is written once; 'make pancakes' is all you need to say after that.</a:t>
            </a:r>
          </a:p>
          <a:p>
            <a:r>
              <a:rPr sz="1200">
                <a:latin typeface="Calibri"/>
              </a:rPr>
              <a:t>'void' just means the function doesn't hand anything back - it does something. Only explain it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Point at the shape of each function: the name line, the open brace, the body, the close brace.</a:t>
            </a:r>
          </a:p>
          <a:p>
            <a:r>
              <a:rPr sz="1200">
                <a:latin typeface="Calibri"/>
              </a:rPr>
              <a:t>Ask somebody to say what happens, in order, when the plan says collectSample(). (Purple, wait, off, wait - three times.)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an EXAMPLE course. Yours on the floor may be laid out differently - tape a grid of one-foot squares, or use the floor tiles if your room has them.</a:t>
            </a:r>
          </a:p>
          <a:p>
            <a:r>
              <a:rPr sz="1200">
                <a:latin typeface="Calibri"/>
              </a:rPr>
              <a:t>The dashed path is one way to do it. Ask for another. (Going round the bottom of the crater is just as good.)</a:t>
            </a:r>
          </a:p>
          <a:p>
            <a:r>
              <a:rPr sz="1200">
                <a:latin typeface="Calibri"/>
              </a:rPr>
              <a:t>The big math idea: if the vehicle takes, say, 500 milliseconds to drive one square, how long for four squares? (2000.) Teams that measure one square first finish much faster than teams that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If your course differs from the example grid, walk the room through it now: where START is, which way the rover faces, where the crater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Tie it back to Lesson 2: this is the Human Robot's card, written in a language the vehicle understands.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measuring step is the one teams skip. Make them drive forward(1000) once and measure how many squares that covers, then work out the rest. It saves a dozen guesses.</a:t>
            </a:r>
          </a:p>
          <a:p>
            <a:r>
              <a:rPr sz="1200">
                <a:latin typeface="Calibri"/>
              </a:rPr>
              <a:t>Math moment: if 1000 ms covers 2 squares, one square is 500 ms, and 5 squares is 2500. Some younger students will need to do this with a table rather than division - that's fine.</a:t>
            </a:r>
          </a:p>
          <a:p>
            <a:r>
              <a:rPr sz="1200">
                <a:latin typeface="Calibri"/>
              </a:rPr>
              <a:t>Level 3 ideas: a zigzag, a victory spin (spinRight with a long time), a 'look around' (spin left a little, then right, then back).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Each team answers one question out loud. Keep it fast and positive; the point is to name what they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each word out and have the room say it back. Saying a word out loud is half of owning it.</a:t>
            </a:r>
          </a:p>
          <a:p>
            <a:r>
              <a:rPr sz="1200">
                <a:latin typeface="Calibri"/>
              </a:rPr>
              <a:t>These are also in the glossary at the back of the Mission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1 messages take minutes to get there. 2 a named move you write once and use lots. 3 easier to read, and you only fix the turn in one place. 4 1500 milliseconds. 5 anything honest!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Next lesson the controller comes back - and they decide what every button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Mission to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When a rover is too far away to steer, it needs a plan. Today you plan a mission, invent your own moves, and send your rover to collect a sample.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One hour.  Teams of three, one vehicle per team.</a:t>
            </a:r>
          </a:p>
        </p:txBody>
      </p:sp>
      <p:pic>
        <p:nvPicPr>
          <p:cNvPr id="8" name="Picture 7" descr="vehicle-with-rangefin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23110"/>
            <a:ext cx="4480560" cy="3360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today,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Explain why Mars rovers drive themselves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Plan a route on a grid, and turn it into moves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Invent a function: a new move with your own name on it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Test a mission, find what went wrong, and fix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Last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Your vehicle drove a square on autopilot.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 tuned TURN_TIME until it came home. Got your best number?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Today: a real mission. And a planet that's too far away to steer.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Switch jobs!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86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524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Halfway Check-in questionnaire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0:07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Warm-up, and the Mars Delay Game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0:15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Functions: invent your own moves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0:20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Plan the route on the grid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0:28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Program it, run it, fix it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0:50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Mission debrief, Mission Log, and pack up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Halfway Check-in  -  questionnaire 2 of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CHECK-IN:   </a:t>
            </a:r>
            <a:r>
              <a:rPr sz="1500" b="1">
                <a:solidFill>
                  <a:srgbClr val="FFFFFF"/>
                </a:solidFill>
                <a:latin typeface="Calibri"/>
              </a:rPr>
              <a:t>Halfway Check-in questionnaire</a:t>
            </a:r>
            <a:r>
              <a:rPr sz="1200">
                <a:solidFill>
                  <a:srgbClr val="FFFFFF"/>
                </a:solidFill>
                <a:latin typeface="Calibri"/>
              </a:rPr>
              <a:t>     (7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Write your Explorer code at the top. It's on your Mission Log cover.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Parts 1 and 2 are the same as last time. Answer for how you feel, and what you know, TODAY.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Part 3: rate Lessons 1 to 6. Flip through your Mission Log if you need a reminder.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Part 4: tell us what's working and what isn't. We really do change the course because of what you 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Honest answers. "Too hard" and "Not much" help us just as much as "Loved it".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Too far to steer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Too far to steer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Plan the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Run the 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Why Mars rovers drive themselves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783080"/>
            <a:ext cx="1645920" cy="1645920"/>
          </a:xfrm>
          <a:prstGeom prst="ellipse">
            <a:avLst/>
          </a:prstGeom>
          <a:solidFill>
            <a:srgbClr val="2C6EC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10088575" y="2080260"/>
            <a:ext cx="1051560" cy="1051560"/>
          </a:xfrm>
          <a:prstGeom prst="ellipse">
            <a:avLst/>
          </a:prstGeom>
          <a:solidFill>
            <a:srgbClr val="C24A2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743200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alibri"/>
              </a:defRPr>
            </a:pPr>
            <a:r>
              <a:rPr sz="2000" b="1">
                <a:solidFill>
                  <a:srgbClr val="1F3A5F"/>
                </a:solidFill>
                <a:latin typeface="Calibri"/>
              </a:rPr>
              <a:t>EARTH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alibri"/>
              </a:defRPr>
            </a:pPr>
            <a:r>
              <a:rPr sz="2000" b="1">
                <a:solidFill>
                  <a:srgbClr val="1F3A5F"/>
                </a:solidFill>
                <a:latin typeface="Calibri"/>
              </a:rPr>
              <a:t>the mission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9935" y="3566160"/>
            <a:ext cx="2148840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alibri"/>
              </a:defRPr>
            </a:pPr>
            <a:r>
              <a:rPr sz="2000" b="1">
                <a:solidFill>
                  <a:srgbClr val="1F3A5F"/>
                </a:solidFill>
                <a:latin typeface="Calibri"/>
              </a:rPr>
              <a:t>MARS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alibri"/>
              </a:defRPr>
            </a:pPr>
            <a:r>
              <a:rPr sz="2000" b="1">
                <a:solidFill>
                  <a:srgbClr val="1F3A5F"/>
                </a:solidFill>
                <a:latin typeface="Calibri"/>
              </a:rPr>
              <a:t>the rover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606040"/>
            <a:ext cx="6933895" cy="0"/>
          </a:xfrm>
          <a:prstGeom prst="line">
            <a:avLst/>
          </a:prstGeom>
          <a:ln w="5080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26080" y="1737360"/>
            <a:ext cx="6933895" cy="783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A radio message takes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3 to 22 MINUTES to get there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693389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...and the answer takes just as long to come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So nobody can steer a Mars rover live. The team sends a PLAN, and the rover follows it all by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Mars Delay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UNPLUGGED:   </a:t>
            </a:r>
            <a:r>
              <a:rPr sz="1500" b="1">
                <a:solidFill>
                  <a:srgbClr val="FFFFFF"/>
                </a:solidFill>
                <a:latin typeface="Calibri"/>
              </a:rPr>
              <a:t>Mission Control and a rover</a:t>
            </a:r>
            <a:r>
              <a:rPr sz="1200">
                <a:solidFill>
                  <a:srgbClr val="FFFFFF"/>
                </a:solidFill>
                <a:latin typeface="Calibri"/>
              </a:rPr>
              <a:t>     (8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One volunteer is the ROVER, across the room. One is MISSION CONTROL, facing away.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Mission Control gives ONE command. A MESSENGER walks it over - slowly - and whispers it.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The rover does it. The messenger walks back to say "done".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Mission: get the rover to touch the door handle.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ROUND 2: Mission Control writes the WHOLE plan on a card. The messenger carries it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935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Round 1 takes forever. Round 2 is way faster - if the plan is right!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313236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715572"/>
            <a:ext cx="4525238" cy="1459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Why was round 2 faster?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What happened when the plan had a mistake?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Messengers WALK. No running, even in a hurry.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Real rovers do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122036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Mars rovers are driven from NASA's Jet Propulsion Laboratory, in Pasadena, California.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The team plans the rover's moves, checks them, and sends them all at once.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The rover drives the plan by itself, and sends back pictures.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Then the team plans the next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0716" y="1188720"/>
            <a:ext cx="4698059" cy="3840480"/>
          </a:xfrm>
          <a:prstGeom prst="rect">
            <a:avLst/>
          </a:prstGeom>
          <a:solidFill>
            <a:srgbClr val="EEF3F8"/>
          </a:solidFill>
          <a:ln w="19050">
            <a:solidFill>
              <a:srgbClr val="0E7C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666666"/>
                </a:solidFill>
                <a:latin typeface="Calibri"/>
              </a:rPr>
              <a:t>PLACEHOLDER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0">
                <a:solidFill>
                  <a:srgbClr val="0E7C86"/>
                </a:solidFill>
                <a:latin typeface="Calibri"/>
              </a:rPr>
              <a:t>IMAGE: NASA's Sojourner rover on Mars, 1997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0">
                <a:solidFill>
                  <a:srgbClr val="0E7C86"/>
                </a:solidFill>
                <a:latin typeface="Calibri"/>
              </a:rPr>
              <a:t>NASA images are generally free to use in teaching. Search 'Sojourner' at photojournal.jpl.nasa.gov and save one as sojourner-on-mars.jpg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0716" y="5084064"/>
            <a:ext cx="469805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Sojourner, 1997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Plan the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Too far to steer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Plan the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Run the 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Invent your own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 FUNCTION is a new move that you invent and name.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Write it once, at the bottom of your program.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Then use it as many times as you like - just say its name.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You've used lots already: forward(), setLight() and drive() are all functions.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turnRight() is easier to read than spinRight(QUARTER_TURN). And if you re-tune the turn, you fix it in ONE place.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Moves you invent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e07a_mission_planner.ino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void turnRight()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spinRight(QUARTER_TURN);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void turnLeft()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spinLeft(QUARTER_TURN);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666666"/>
                </a:solidFill>
                <a:latin typeface="Consolas"/>
              </a:rPr>
              <a:t>// Flash the lights purple three times: sample collected!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void collectSample()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for (int flash = 0; flash &lt; 3; flash++)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setAllLights(PURPLE);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delay(300);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lightsOff();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delay(300);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void, a name, ( ), and braces { }.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Everything inside the braces happens when you use the name.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collectSample() uses a for loop from Lesson 4!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Plan the route on the grid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271016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947672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2624328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3300984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3977640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654296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5330952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007608" y="1645920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594360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1271016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1947672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2624328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3300984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3977640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4654296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5330952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007608" y="2322576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594360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1271016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1947672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2624328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3300984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3977640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4654296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5330952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2" name="Rectangle 31"/>
          <p:cNvSpPr/>
          <p:nvPr/>
        </p:nvSpPr>
        <p:spPr>
          <a:xfrm>
            <a:off x="6007608" y="2999232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594360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1271016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1947672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6" name="Rectangle 35"/>
          <p:cNvSpPr/>
          <p:nvPr/>
        </p:nvSpPr>
        <p:spPr>
          <a:xfrm>
            <a:off x="2624328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3300984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8" name="Rectangle 37"/>
          <p:cNvSpPr/>
          <p:nvPr/>
        </p:nvSpPr>
        <p:spPr>
          <a:xfrm>
            <a:off x="3977640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4654296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0" name="Rectangle 39"/>
          <p:cNvSpPr/>
          <p:nvPr/>
        </p:nvSpPr>
        <p:spPr>
          <a:xfrm>
            <a:off x="5330952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6007608" y="3675888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594360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1271016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4" name="Rectangle 43"/>
          <p:cNvSpPr/>
          <p:nvPr/>
        </p:nvSpPr>
        <p:spPr>
          <a:xfrm>
            <a:off x="1947672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2624328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6" name="Rectangle 45"/>
          <p:cNvSpPr/>
          <p:nvPr/>
        </p:nvSpPr>
        <p:spPr>
          <a:xfrm>
            <a:off x="3300984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3977640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8" name="Rectangle 47"/>
          <p:cNvSpPr/>
          <p:nvPr/>
        </p:nvSpPr>
        <p:spPr>
          <a:xfrm>
            <a:off x="4654296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5330952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6007608" y="4352544"/>
            <a:ext cx="67665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594360" y="4352544"/>
            <a:ext cx="676656" cy="676656"/>
          </a:xfrm>
          <a:prstGeom prst="rect">
            <a:avLst/>
          </a:prstGeom>
          <a:solidFill>
            <a:srgbClr val="D8F0D8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07608" y="1645920"/>
            <a:ext cx="676656" cy="676656"/>
          </a:xfrm>
          <a:prstGeom prst="rect">
            <a:avLst/>
          </a:prstGeom>
          <a:solidFill>
            <a:srgbClr val="E6D4F5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3" name="CRATER"/>
          <p:cNvSpPr/>
          <p:nvPr/>
        </p:nvSpPr>
        <p:spPr>
          <a:xfrm>
            <a:off x="2715768" y="2414016"/>
            <a:ext cx="1847088" cy="1847088"/>
          </a:xfrm>
          <a:prstGeom prst="ellipse">
            <a:avLst/>
          </a:prstGeom>
          <a:solidFill>
            <a:srgbClr val="E8ECF0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2624328" y="3136392"/>
            <a:ext cx="2029968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666666"/>
                </a:solidFill>
                <a:latin typeface="Calibri"/>
              </a:defRPr>
            </a:pPr>
            <a:r>
              <a:rPr sz="2000" b="1">
                <a:solidFill>
                  <a:srgbClr val="666666"/>
                </a:solidFill>
                <a:latin typeface="Calibri"/>
              </a:rPr>
              <a:t>CRATER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4296" y="1261872"/>
            <a:ext cx="2029968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SAMPLE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932688" y="1984248"/>
            <a:ext cx="0" cy="2459736"/>
          </a:xfrm>
          <a:prstGeom prst="line">
            <a:avLst/>
          </a:prstGeom>
          <a:ln w="4445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2688" y="1984248"/>
            <a:ext cx="5184648" cy="0"/>
          </a:xfrm>
          <a:prstGeom prst="line">
            <a:avLst/>
          </a:prstGeom>
          <a:ln w="4445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95744" y="1463040"/>
            <a:ext cx="4593031" cy="4607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400" b="1">
                <a:solidFill>
                  <a:srgbClr val="0E7C86"/>
                </a:solidFill>
                <a:latin typeface="Calibri"/>
              </a:defRPr>
            </a:pPr>
            <a:r>
              <a:rPr sz="2400" b="1">
                <a:solidFill>
                  <a:srgbClr val="0E7C86"/>
                </a:solidFill>
                <a:latin typeface="Calibri"/>
              </a:rPr>
              <a:t>One way to do 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95744" y="2011680"/>
            <a:ext cx="4593031" cy="248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forward 4 squares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turn right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forward 8 squares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collect the sample!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0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1 square = 1 foot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How many milliseconds is ONE square? Measure it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Our Mars course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5855" cy="4343400"/>
          </a:xfrm>
          <a:prstGeom prst="rect">
            <a:avLst/>
          </a:prstGeom>
          <a:solidFill>
            <a:srgbClr val="EEF3F8"/>
          </a:solidFill>
          <a:ln w="19050">
            <a:solidFill>
              <a:srgbClr val="0E7C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666666"/>
                </a:solidFill>
                <a:latin typeface="Calibri"/>
              </a:rPr>
              <a:t>PLACEHOLDER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0">
                <a:solidFill>
                  <a:srgbClr val="0E7C86"/>
                </a:solidFill>
                <a:latin typeface="Calibri"/>
              </a:rPr>
              <a:t>PHOTO: the Mission to Mars course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0">
                <a:solidFill>
                  <a:srgbClr val="0E7C86"/>
                </a:solidFill>
                <a:latin typeface="Calibri"/>
              </a:rPr>
              <a:t>START base, the crater (a hula hoop or a ring of paper plates), and the SAMPLE zone, with the one-foot grid taped or chalked on the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86984"/>
            <a:ext cx="1118585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Measure it! How many squares from START to the SAMPLE?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Run the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20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Too far to steer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Plan the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Run the 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Your mission plan goes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e07a_mission_planner.ino, in setup()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 countdown(5);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666666"/>
                </a:solidFill>
                <a:latin typeface="Consolas"/>
              </a:rPr>
              <a:t>  // ===== YOUR MISSION PLAN: one move per line =====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 forward(1000);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 turnRight();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 forward(800);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 collectSample();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666666"/>
                </a:solidFill>
                <a:latin typeface="Consolas"/>
              </a:rPr>
              <a:t>  // LEVEL 2: now drive back home to START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666666"/>
                </a:solidFill>
                <a:latin typeface="Consolas"/>
              </a:rPr>
              <a:t>  // =================================================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750">
                <a:latin typeface="Consolas"/>
              </a:defRPr>
            </a:pPr>
            <a:r>
              <a:rPr sz="1750">
                <a:solidFill>
                  <a:srgbClr val="222222"/>
                </a:solidFill>
                <a:latin typeface="Consolas"/>
              </a:rPr>
              <a:t>  setAllLights(GREEN);    // Mission complete!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three example moves are just a start.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Replace them with YOUR route.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One move per line, top to bottom - like the Human Robot card.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to Mars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e07a_mission_planner</a:t>
            </a:r>
            <a:r>
              <a:rPr sz="1200">
                <a:solidFill>
                  <a:srgbClr val="FFFFFF"/>
                </a:solidFill>
                <a:latin typeface="Calibri"/>
              </a:rPr>
              <a:t>     (22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Copy your best TURN_TIME into QUARTER_TURN (line 33).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Measure: how many milliseconds to drive ONE square?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Draw your route on the grid in the Mission Log. Count the squares.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Write one move per line in the MISSION PLAN.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Upload wheels up. Then run it on the course. Fix it. Run it again.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LEVEL 1: reach the SAMPLE.  LEVEL 2: come home.  LEVEL 3: invent a move, use it twice.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1299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Countdown, your moves, purple flashes at the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507397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909733"/>
            <a:ext cx="4525238" cy="126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Where did your plan go wrong first?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How many tries did it take?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One rover on the course at a time. Everybody else behind the 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debrief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went right?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went wrong, and how did you fix it?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If you did it again, what would you plan differently?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Real mission teams meet like this after every drive.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New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71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700"/>
                <a:gridCol w="8442154"/>
              </a:tblGrid>
              <a:tr h="7429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move you invent and name. Write it once, use it lots.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path the rover drives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Mission Control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team that plans and watches a mission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Signal delay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time a radio message takes to arrive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Why can't anyone on Earth steer a Mars rover live?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What's a function?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Why write turnRight() instead of spinRight(QUARTER_TURN) every time?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One square takes 500 milliseconds. How long for 3 squares?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5.  What would you change about your plan?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Log, then pack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86861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In your Mission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868617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Draw the route you programmed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Write: milliseconds per square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Answer the debrief questions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Stamp: Mission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8737" y="1188720"/>
            <a:ext cx="586003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Pack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8737" y="1700784"/>
            <a:ext cx="586003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Crew Chief: vehicle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Unplug the cable and coil it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Vehicle and controller back in their spot, stickers matching.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Close the laptop. Push your chairs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Last job: every team member says one thing they learned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