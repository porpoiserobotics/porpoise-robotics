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BOARD:  Tools &gt; Board &gt; esp32_bluepad32 &gt; "ESP32 Dev Module"</a:t>
            </a:r>
          </a:p>
          <a:p>
            <a:pPr lvl="1" algn="l">
              <a:lnSpc>
                <a:spcPct val="100000"/>
              </a:lnSpc>
              <a:spcAft>
                <a:spcPts val="600"/>
              </a:spcAft>
              <a:defRPr sz="1900" b="0">
                <a:solidFill>
                  <a:srgbClr val="222222"/>
                </a:solidFill>
                <a:latin typeface="Calibri"/>
              </a:defRPr>
            </a:pPr>
            <a:r>
              <a:rPr sz="1900" b="0">
                <a:solidFill>
                  <a:srgbClr val="222222"/>
                </a:solidFill>
                <a:latin typeface="Calibri"/>
              </a:rPr>
              <a:t>Then set Upload Speed to 921600 and Flash Frequency to 80 MHz.</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PORT:  plug the vehicle into your computer with a micro USB cable FIRST, then choose Tools &gt; Port.</a:t>
            </a:r>
          </a:p>
          <a:p>
            <a:pPr lvl="1" algn="l">
              <a:lnSpc>
                <a:spcPct val="100000"/>
              </a:lnSpc>
              <a:spcAft>
                <a:spcPts val="600"/>
              </a:spcAft>
              <a:defRPr sz="1900" b="0">
                <a:solidFill>
                  <a:srgbClr val="222222"/>
                </a:solidFill>
                <a:latin typeface="Calibri"/>
              </a:defRPr>
            </a:pPr>
            <a:r>
              <a:rPr sz="1900" b="0">
                <a:solidFill>
                  <a:srgbClr val="222222"/>
                </a:solidFill>
                <a:latin typeface="Calibri"/>
              </a:rPr>
              <a:t>Windows: the next available COM port, such as COM4.</a:t>
            </a:r>
          </a:p>
          <a:p>
            <a:pPr lvl="1" algn="l">
              <a:lnSpc>
                <a:spcPct val="100000"/>
              </a:lnSpc>
              <a:spcAft>
                <a:spcPts val="600"/>
              </a:spcAft>
              <a:defRPr sz="1900" b="0">
                <a:solidFill>
                  <a:srgbClr val="222222"/>
                </a:solidFill>
                <a:latin typeface="Calibri"/>
              </a:defRPr>
            </a:pPr>
            <a:r>
              <a:rPr sz="1900" b="0">
                <a:solidFill>
                  <a:srgbClr val="222222"/>
                </a:solidFill>
                <a:latin typeface="Calibri"/>
              </a:rPr>
              <a:t>Mac: something like /dev/cu.usbserial-0001.</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none - Bluepad32 arrives with the board package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WINDOWS.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MAC.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If they arrived as a .zip, unzip it first.</a:t>
            </a:r>
          </a:p>
          <a:p>
            <a:pPr algn="l">
              <a:lnSpc>
                <a:spcPct val="100000"/>
              </a:lnSpc>
              <a:spcAft>
                <a:spcPts val="900"/>
              </a:spcAft>
              <a:defRPr sz="2200" b="0">
                <a:solidFill>
                  <a:srgbClr val="222222"/>
                </a:solidFill>
                <a:latin typeface="Calibri"/>
              </a:defRPr>
            </a:pPr>
            <a:r>
              <a:rPr sz="2200" b="0">
                <a:solidFill>
                  <a:srgbClr val="222222"/>
                </a:solidFill>
                <a:latin typeface="Calibri"/>
              </a:rPr>
              <a:t>Then restart the Arduino IDE. It only looks for sketches when it starts.</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209194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battery lights an LED. The ESP32 lets a PROGRAM light it.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Two jumper wires, through the top plate cutout:</a:t>
            </a:r>
          </a:p>
          <a:p>
            <a:pPr lvl="1" algn="l">
              <a:lnSpc>
                <a:spcPct val="100000"/>
              </a:lnSpc>
              <a:spcAft>
                <a:spcPts val="600"/>
              </a:spcAft>
              <a:defRPr sz="1900" b="0">
                <a:solidFill>
                  <a:srgbClr val="222222"/>
                </a:solidFill>
                <a:latin typeface="Calibri"/>
              </a:defRPr>
            </a:pPr>
            <a:r>
              <a:rPr sz="1900" b="0">
                <a:solidFill>
                  <a:srgbClr val="222222"/>
                </a:solidFill>
                <a:latin typeface="Calibri"/>
              </a:rPr>
              <a:t>GPIO 2  -&gt;  the resistor's row</a:t>
            </a:r>
          </a:p>
          <a:p>
            <a:pPr lvl="1" algn="l">
              <a:lnSpc>
                <a:spcPct val="100000"/>
              </a:lnSpc>
              <a:spcAft>
                <a:spcPts val="600"/>
              </a:spcAft>
              <a:defRPr sz="1900" b="0">
                <a:solidFill>
                  <a:srgbClr val="222222"/>
                </a:solidFill>
                <a:latin typeface="Calibri"/>
              </a:defRPr>
            </a:pPr>
            <a:r>
              <a:rPr sz="1900" b="0">
                <a:solidFill>
                  <a:srgbClr val="222222"/>
                </a:solidFill>
                <a:latin typeface="Calibri"/>
              </a:rPr>
              <a:t>GND     -&gt;  the row with the LED's SHORT leg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File &gt; Open, and find l1a_blink.ino.</a:t>
            </a:r>
          </a:p>
          <a:p>
            <a:pPr algn="l">
              <a:lnSpc>
                <a:spcPct val="100000"/>
              </a:lnSpc>
              <a:spcAft>
                <a:spcPts val="400"/>
              </a:spcAft>
              <a:defRPr sz="1800" b="0">
                <a:solidFill>
                  <a:srgbClr val="222222"/>
                </a:solidFill>
                <a:latin typeface="Calibri"/>
              </a:defRPr>
            </a:pPr>
            <a:r>
              <a:rPr sz="1800" b="0">
                <a:solidFill>
                  <a:srgbClr val="222222"/>
                </a:solidFill>
                <a:latin typeface="Calibri"/>
              </a:rPr>
              <a:t>2.  Click the tick to VERIFY. It should compile with no errors.</a:t>
            </a:r>
          </a:p>
          <a:p>
            <a:pPr algn="l">
              <a:lnSpc>
                <a:spcPct val="100000"/>
              </a:lnSpc>
              <a:spcAft>
                <a:spcPts val="400"/>
              </a:spcAft>
              <a:defRPr sz="1800" b="0">
                <a:solidFill>
                  <a:srgbClr val="222222"/>
                </a:solidFill>
                <a:latin typeface="Calibri"/>
              </a:defRPr>
            </a:pPr>
            <a:r>
              <a:rPr sz="1800" b="0">
                <a:solidFill>
                  <a:srgbClr val="222222"/>
                </a:solidFill>
                <a:latin typeface="Calibri"/>
              </a:rPr>
              <a:t>3.  Click the arrow to UPLOAD. Do not unplug during upload.</a:t>
            </a:r>
          </a:p>
          <a:p>
            <a:pPr algn="l">
              <a:lnSpc>
                <a:spcPct val="100000"/>
              </a:lnSpc>
              <a:spcAft>
                <a:spcPts val="400"/>
              </a:spcAft>
              <a:defRPr sz="1800" b="0">
                <a:solidFill>
                  <a:srgbClr val="222222"/>
                </a:solidFill>
                <a:latin typeface="Calibri"/>
              </a:defRPr>
            </a:pPr>
            <a:r>
              <a:rPr sz="1800" b="0">
                <a:solidFill>
                  <a:srgbClr val="222222"/>
                </a:solidFill>
                <a:latin typeface="Calibri"/>
              </a:rPr>
              <a:t>4.  Wait for "Done uploading" and look at your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Then change things:</a:t>
            </a:r>
          </a:p>
          <a:p>
            <a:pPr algn="l">
              <a:lnSpc>
                <a:spcPct val="100000"/>
              </a:lnSpc>
              <a:spcAft>
                <a:spcPts val="400"/>
              </a:spcAft>
              <a:defRPr sz="1800" b="0">
                <a:solidFill>
                  <a:srgbClr val="222222"/>
                </a:solidFill>
                <a:latin typeface="Calibri"/>
              </a:defRPr>
            </a:pPr>
            <a:r>
              <a:rPr sz="1800" b="0">
                <a:solidFill>
                  <a:srgbClr val="222222"/>
                </a:solidFill>
                <a:latin typeface="Calibri"/>
              </a:rPr>
              <a:t>5.  Set BLINK_MS to 100. Upload. Then 2000. Upload.</a:t>
            </a:r>
          </a:p>
          <a:p>
            <a:pPr algn="l">
              <a:lnSpc>
                <a:spcPct val="100000"/>
              </a:lnSpc>
              <a:spcAft>
                <a:spcPts val="400"/>
              </a:spcAft>
              <a:defRPr sz="1800" b="0">
                <a:solidFill>
                  <a:srgbClr val="222222"/>
                </a:solidFill>
                <a:latin typeface="Calibri"/>
              </a:defRPr>
            </a:pPr>
            <a:r>
              <a:rPr sz="1800" b="0">
                <a:solidFill>
                  <a:srgbClr val="222222"/>
                </a:solidFill>
                <a:latin typeface="Calibri"/>
              </a:rPr>
              <a:t>6.  Delete ONE of the two delay lines and upload.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YOUR LED, on the breadboard, one second on and one second off.</a:t>
            </a:r>
          </a:p>
          <a:p>
            <a:pPr algn="l">
              <a:lnSpc>
                <a:spcPct val="100000"/>
              </a:lnSpc>
              <a:spcAft>
                <a:spcPts val="300"/>
              </a:spcAft>
              <a:defRPr sz="2200" b="0">
                <a:solidFill>
                  <a:srgbClr val="222222"/>
                </a:solidFill>
                <a:latin typeface="Calibri"/>
              </a:defRPr>
            </a:pPr>
            <a:r>
              <a:rPr sz="2200" b="0">
                <a:solidFill>
                  <a:srgbClr val="222222"/>
                </a:solidFill>
                <a:latin typeface="Calibri"/>
              </a:rPr>
              <a:t>Nothing at all means the LED is in backwards, or a leg is in the wrong row.</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2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2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Serial.begin(115200);   opens the connection. Put it in setup().</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Serial.print("text");    prints and stays on the same line.</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Serial.println(x);       prints and moves to a new line.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Open it with Tools &gt; Serial Monitor, or the magnifying glass at the top right.</a:t>
            </a:r>
          </a:p>
          <a:p>
            <a:pPr algn="l">
              <a:lnSpc>
                <a:spcPct val="100000"/>
              </a:lnSpc>
              <a:spcAft>
                <a:spcPts val="900"/>
              </a:spcAft>
              <a:defRPr sz="2000" b="0">
                <a:solidFill>
                  <a:srgbClr val="222222"/>
                </a:solidFill>
                <a:latin typeface="Calibri"/>
              </a:defRPr>
            </a:pPr>
            <a:r>
              <a:rPr sz="20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When something does not work, print the numbers your program is working from. That will find the fault faster than staring at the code will.</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Open and upload l1b_serial_monitor.ino.</a:t>
            </a:r>
          </a:p>
          <a:p>
            <a:pPr algn="l">
              <a:lnSpc>
                <a:spcPct val="100000"/>
              </a:lnSpc>
              <a:spcAft>
                <a:spcPts val="800"/>
              </a:spcAft>
              <a:defRPr sz="1900" b="0">
                <a:solidFill>
                  <a:srgbClr val="222222"/>
                </a:solidFill>
                <a:latin typeface="Calibri"/>
              </a:defRPr>
            </a:pPr>
            <a:r>
              <a:rPr sz="1900" b="0">
                <a:solidFill>
                  <a:srgbClr val="222222"/>
                </a:solidFill>
                <a:latin typeface="Calibri"/>
              </a:rPr>
              <a:t>2.  Open the Serial Monitor and set the baud rate to 115200.</a:t>
            </a:r>
          </a:p>
          <a:p>
            <a:pPr algn="l">
              <a:lnSpc>
                <a:spcPct val="100000"/>
              </a:lnSpc>
              <a:spcAft>
                <a:spcPts val="800"/>
              </a:spcAft>
              <a:defRPr sz="1900" b="0">
                <a:solidFill>
                  <a:srgbClr val="222222"/>
                </a:solidFill>
                <a:latin typeface="Calibri"/>
              </a:defRPr>
            </a:pPr>
            <a:r>
              <a:rPr sz="1900" b="0">
                <a:solidFill>
                  <a:srgbClr val="222222"/>
                </a:solidFill>
                <a:latin typeface="Calibri"/>
              </a:rPr>
              <a:t>3.  Press the EN (reset) button on the ESP32. Watch it start again.</a:t>
            </a:r>
          </a:p>
          <a:p>
            <a:pPr algn="l">
              <a:lnSpc>
                <a:spcPct val="100000"/>
              </a:lnSpc>
              <a:spcAft>
                <a:spcPts val="800"/>
              </a:spcAft>
              <a:defRPr sz="1900" b="0">
                <a:solidFill>
                  <a:srgbClr val="222222"/>
                </a:solidFill>
                <a:latin typeface="Calibri"/>
              </a:defRPr>
            </a:pPr>
            <a:r>
              <a:rPr sz="1900" b="0">
                <a:solidFill>
                  <a:srgbClr val="222222"/>
                </a:solidFill>
                <a:latin typeface="Calibri"/>
              </a:rPr>
              <a:t>4.  Change the greeting to your group's name and upload.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two numbers in the math section. PREDICT the answers before you upload, then check.</a:t>
            </a:r>
          </a:p>
          <a:p>
            <a:pPr algn="l">
              <a:lnSpc>
                <a:spcPct val="100000"/>
              </a:lnSpc>
              <a:spcAft>
                <a:spcPts val="800"/>
              </a:spcAft>
              <a:defRPr sz="1900" b="0">
                <a:solidFill>
                  <a:srgbClr val="222222"/>
                </a:solidFill>
                <a:latin typeface="Calibri"/>
              </a:defRPr>
            </a:pPr>
            <a:r>
              <a:rPr sz="1900" b="0">
                <a:solidFill>
                  <a:srgbClr val="222222"/>
                </a:solidFill>
                <a:latin typeface="Calibri"/>
              </a:rPr>
              <a:t>6.  Add a line of your own that prints every time round the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greeting, some arithmetic, then one line per second counting up.</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9 / 10 in this program? What did you expect?</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An ordinary LED has two wires and is either on or off.</a:t>
            </a:r>
          </a:p>
          <a:p>
            <a:pPr algn="l">
              <a:lnSpc>
                <a:spcPct val="100000"/>
              </a:lnSpc>
              <a:spcAft>
                <a:spcPts val="600"/>
              </a:spcAft>
              <a:defRPr sz="1900" b="0">
                <a:solidFill>
                  <a:srgbClr val="222222"/>
                </a:solidFill>
                <a:latin typeface="Calibri"/>
              </a:defRPr>
            </a:pPr>
            <a:r>
              <a:rPr sz="1900" b="0">
                <a:solidFill>
                  <a:srgbClr val="222222"/>
                </a:solidFill>
                <a:latin typeface="Calibri"/>
              </a:rPr>
              <a:t>A NeoPixel has FOUR connections - power, ground, data in, data out - and a tiny controller chip inside it.</a:t>
            </a:r>
          </a:p>
          <a:p>
            <a:pPr algn="l">
              <a:lnSpc>
                <a:spcPct val="100000"/>
              </a:lnSpc>
              <a:spcAft>
                <a:spcPts val="600"/>
              </a:spcAft>
              <a:defRPr sz="1900" b="0">
                <a:solidFill>
                  <a:srgbClr val="222222"/>
                </a:solidFill>
                <a:latin typeface="Calibri"/>
              </a:defRPr>
            </a:pPr>
            <a:r>
              <a:rPr sz="19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1900" b="0">
                <a:solidFill>
                  <a:srgbClr val="222222"/>
                </a:solidFill>
                <a:latin typeface="Calibri"/>
              </a:defRPr>
            </a:pPr>
            <a:r>
              <a:rPr sz="1900" b="0">
                <a:solidFill>
                  <a:srgbClr val="222222"/>
                </a:solidFill>
                <a:latin typeface="Calibri"/>
              </a:rPr>
              <a:t>That is why all 32 LEDs on the vehicle need only ONE signal wire, on GPIO 5.</a:t>
            </a:r>
          </a:p>
          <a:p>
            <a:pPr algn="l">
              <a:lnSpc>
                <a:spcPct val="100000"/>
              </a:lnSpc>
              <a:spcAft>
                <a:spcPts val="600"/>
              </a:spcAft>
              <a:defRPr sz="1900" b="0">
                <a:solidFill>
                  <a:srgbClr val="222222"/>
                </a:solidFill>
                <a:latin typeface="Calibri"/>
              </a:defRPr>
            </a:pPr>
            <a:r>
              <a:rPr sz="19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Where is LED 0 on the vehicle? Where is LED 31?</a:t>
            </a:r>
          </a:p>
          <a:p>
            <a:pPr algn="l">
              <a:lnSpc>
                <a:spcPct val="100000"/>
              </a:lnSpc>
              <a:spcAft>
                <a:spcPts val="300"/>
              </a:spcAft>
              <a:defRPr sz="2600" b="0">
                <a:solidFill>
                  <a:srgbClr val="222222"/>
                </a:solidFill>
                <a:latin typeface="Calibri"/>
              </a:defRPr>
            </a:pPr>
            <a:r>
              <a:rPr sz="26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