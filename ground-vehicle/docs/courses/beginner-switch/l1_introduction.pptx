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notesMaster" Target="notesMasters/notesMaster1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Pass a vehicle round while you talk over this slide. Let them pick it up - it is built to be handled.</a:t>
            </a:r>
          </a:p>
          <a:p>
            <a:r>
              <a:rPr sz="1200">
                <a:latin typeface="Calibri"/>
              </a:rPr>
              <a:t>Point out that BOTH pictures are the same vehicle running the same hardware. The only difference is which LEDs the program lit.</a:t>
            </a:r>
          </a:p>
          <a:p>
            <a:r>
              <a:rPr sz="1200">
                <a:latin typeface="Calibri"/>
              </a:rPr>
              <a:t>That is the through-line of the whole course: the hardware is fixed, and everything interesting comes from the program.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Name each part while holding a vehicle, then put the labelled picture up on the next slide and let them match the two.</a:t>
            </a:r>
          </a:p>
          <a:p>
            <a:r>
              <a:rPr sz="1200">
                <a:latin typeface="Calibri"/>
              </a:rPr>
              <a:t>The tank-steering point is the one to land. Everything in Lesson 2 follows from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Give them a minute to find each part on a real vehicle.</a:t>
            </a:r>
          </a:p>
          <a:p>
            <a:r>
              <a:rPr sz="1200">
                <a:latin typeface="Calibri"/>
              </a:rPr>
              <a:t>Worth pointing out the two LED bars are 16 each, front and rear - that becomes important in Lesson 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This is the reference page. Tell students to photograph it.</a:t>
            </a:r>
          </a:p>
          <a:p>
            <a:r>
              <a:rPr sz="1200">
                <a:latin typeface="Calibri"/>
              </a:rPr>
              <a:t>Worth saying out loud: the board package is not a library. The board package teaches the IDE what an ESP32 is; a library is code your program calls.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Do this together. It is the single most common place a beginner gets stuck, and it costs ten minutes now against forty later.</a:t>
            </a:r>
          </a:p>
          <a:p>
            <a:r>
              <a:rPr sz="1200">
                <a:latin typeface="Calibri"/>
              </a:rPr>
              <a:t>Walk the room. Check File &gt; Sketchbook actually lists the lessons before you move 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Hold up the three parts as you name them.</a:t>
            </a:r>
          </a:p>
          <a:p>
            <a:r>
              <a:rPr sz="1200">
                <a:latin typeface="Calibri"/>
              </a:rPr>
              <a:t>If anyone asks why the resistor: tell them to wait ninety seconds, it is the next slide but 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Get them to look down into the holes. The metal clips are visible.</a:t>
            </a:r>
          </a:p>
          <a:p>
            <a:r>
              <a:rPr sz="1200">
                <a:latin typeface="Calibri"/>
              </a:rPr>
              <a:t>The row-of-five rule is the single fact that makes breadboards make sense. Say it twice.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Circulate. The two failures you will see are the LED in backwards and legs in different rows so nothing is connected.</a:t>
            </a:r>
          </a:p>
          <a:p>
            <a:r>
              <a:rPr sz="1200">
                <a:latin typeface="Calibri"/>
              </a:rPr>
              <a:t>Nobody uploads anything until their circuit is built and checked.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jpg"/><Relationship Id="rId3" Type="http://schemas.openxmlformats.org/officeDocument/2006/relationships/image" Target="../media/image4.jpg"/><Relationship Id="rId4" Type="http://schemas.openxmlformats.org/officeDocument/2006/relationships/notesSlide" Target="../notesSlides/notesSlide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5.jpg"/><Relationship Id="rId3" Type="http://schemas.openxmlformats.org/officeDocument/2006/relationships/notesSlide" Target="../notesSlides/notesSlide3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6.jpg"/><Relationship Id="rId3" Type="http://schemas.openxmlformats.org/officeDocument/2006/relationships/image" Target="../media/image7.jpg"/><Relationship Id="rId4" Type="http://schemas.openxmlformats.org/officeDocument/2006/relationships/notesSlide" Target="../notesSlides/notesSlide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8.jpg"/><Relationship Id="rId3" Type="http://schemas.openxmlformats.org/officeDocument/2006/relationships/image" Target="../media/image9.jpg"/><Relationship Id="rId4" Type="http://schemas.openxmlformats.org/officeDocument/2006/relationships/notesSlide" Target="../notesSlides/notesSlide8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porpoise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22762" y="457200"/>
            <a:ext cx="766013" cy="777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02920" y="1051560"/>
            <a:ext cx="649224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600" b="1">
                <a:solidFill>
                  <a:srgbClr val="0E7C86"/>
                </a:solidFill>
                <a:latin typeface="Calibri"/>
              </a:defRPr>
            </a:pPr>
            <a:r>
              <a:rPr sz="1600" b="1">
                <a:solidFill>
                  <a:srgbClr val="0E7C86"/>
                </a:solidFill>
                <a:latin typeface="Calibri"/>
              </a:rPr>
              <a:t>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481328"/>
            <a:ext cx="6492240" cy="1554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  <a:defRPr sz="4000" b="1">
                <a:solidFill>
                  <a:srgbClr val="1F3A5F"/>
                </a:solidFill>
                <a:latin typeface="Calibri"/>
              </a:defRPr>
            </a:pPr>
            <a:r>
              <a:rPr sz="4000" b="1">
                <a:solidFill>
                  <a:srgbClr val="1F3A5F"/>
                </a:solidFill>
                <a:latin typeface="Calibri"/>
              </a:rPr>
              <a:t>Introduction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3154680"/>
            <a:ext cx="6492240" cy="960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700" b="0">
                <a:solidFill>
                  <a:srgbClr val="222222"/>
                </a:solidFill>
                <a:latin typeface="Calibri"/>
              </a:defRPr>
            </a:pPr>
            <a:r>
              <a:rPr sz="1700" b="0">
                <a:solidFill>
                  <a:srgbClr val="222222"/>
                </a:solidFill>
                <a:latin typeface="Calibri"/>
              </a:rPr>
              <a:t>Mechatronics, the Pathfinder vehicle, the Arduino IDE, and your first three programs.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3931920"/>
            <a:ext cx="6492240" cy="2148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100"/>
              </a:spcAft>
              <a:defRPr sz="1200" b="0">
                <a:solidFill>
                  <a:srgbClr val="666666"/>
                </a:solidFill>
                <a:latin typeface="Calibri"/>
              </a:defRPr>
            </a:pPr>
            <a:r>
              <a:rPr sz="1200" b="0">
                <a:solidFill>
                  <a:srgbClr val="666666"/>
                </a:solidFill>
                <a:latin typeface="Calibri"/>
              </a:rPr>
              <a:t>PORPOISE ROBOTICS  -  Precision Oceanographic Program On and In the Sea Environment</a:t>
            </a:r>
          </a:p>
          <a:p>
            <a:pPr algn="l">
              <a:lnSpc>
                <a:spcPct val="100000"/>
              </a:lnSpc>
              <a:spcAft>
                <a:spcPts val="100"/>
              </a:spcAft>
              <a:defRPr sz="1200" b="0">
                <a:solidFill>
                  <a:srgbClr val="666666"/>
                </a:solidFill>
                <a:latin typeface="Calibri"/>
              </a:defRPr>
            </a:pPr>
            <a:r>
              <a:rPr sz="1200" b="0">
                <a:solidFill>
                  <a:srgbClr val="666666"/>
                </a:solidFill>
                <a:latin typeface="Calibri"/>
              </a:rPr>
              <a:t>porpoiserobotics.org</a:t>
            </a:r>
          </a:p>
          <a:p>
            <a:pPr algn="l">
              <a:lnSpc>
                <a:spcPct val="100000"/>
              </a:lnSpc>
              <a:spcAft>
                <a:spcPts val="100"/>
              </a:spcAft>
              <a:defRPr sz="1200" b="0">
                <a:solidFill>
                  <a:srgbClr val="666666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100"/>
              </a:spcAft>
              <a:defRPr sz="1200" b="0">
                <a:solidFill>
                  <a:srgbClr val="666666"/>
                </a:solidFill>
                <a:latin typeface="Calibri"/>
              </a:defRPr>
            </a:pPr>
            <a:r>
              <a:rPr sz="1200" b="0">
                <a:solidFill>
                  <a:srgbClr val="666666"/>
                </a:solidFill>
                <a:latin typeface="Calibri"/>
              </a:rPr>
              <a:t>Kevin Bowen, President  -  kbowen6@icloud.com</a:t>
            </a:r>
          </a:p>
          <a:p>
            <a:pPr algn="l">
              <a:lnSpc>
                <a:spcPct val="100000"/>
              </a:lnSpc>
              <a:spcAft>
                <a:spcPts val="100"/>
              </a:spcAft>
              <a:defRPr sz="1200" b="0">
                <a:solidFill>
                  <a:srgbClr val="666666"/>
                </a:solidFill>
                <a:latin typeface="Calibri"/>
              </a:defRPr>
            </a:pPr>
            <a:r>
              <a:rPr sz="1200" b="0">
                <a:solidFill>
                  <a:srgbClr val="666666"/>
                </a:solidFill>
                <a:latin typeface="Calibri"/>
              </a:rPr>
              <a:t>Malcom Graham, VP Education      Louis Parker, VP Technology</a:t>
            </a:r>
          </a:p>
          <a:p>
            <a:pPr algn="l">
              <a:lnSpc>
                <a:spcPct val="100000"/>
              </a:lnSpc>
              <a:spcAft>
                <a:spcPts val="100"/>
              </a:spcAft>
              <a:defRPr sz="1200" b="0">
                <a:solidFill>
                  <a:srgbClr val="666666"/>
                </a:solidFill>
                <a:latin typeface="Calibri"/>
              </a:defRPr>
            </a:pPr>
            <a:r>
              <a:rPr sz="1200" b="0">
                <a:solidFill>
                  <a:srgbClr val="666666"/>
                </a:solidFill>
                <a:latin typeface="Calibri"/>
              </a:rPr>
              <a:t>Valen Farre, System Engineer      Gary Howland, Animation</a:t>
            </a:r>
          </a:p>
          <a:p>
            <a:pPr algn="l">
              <a:lnSpc>
                <a:spcPct val="100000"/>
              </a:lnSpc>
              <a:spcAft>
                <a:spcPts val="100"/>
              </a:spcAft>
              <a:defRPr sz="1200" b="0">
                <a:solidFill>
                  <a:srgbClr val="666666"/>
                </a:solidFill>
                <a:latin typeface="Calibri"/>
              </a:defRPr>
            </a:pPr>
            <a:r>
              <a:rPr sz="1200" b="0">
                <a:solidFill>
                  <a:srgbClr val="666666"/>
                </a:solidFill>
                <a:latin typeface="Calibri"/>
              </a:rPr>
              <a:t>Eddie Revollo, Artificial Intelligence</a:t>
            </a:r>
          </a:p>
          <a:p>
            <a:pPr algn="l">
              <a:lnSpc>
                <a:spcPct val="100000"/>
              </a:lnSpc>
              <a:spcAft>
                <a:spcPts val="100"/>
              </a:spcAft>
              <a:defRPr sz="1200" b="0">
                <a:solidFill>
                  <a:srgbClr val="666666"/>
                </a:solidFill>
                <a:latin typeface="Calibri"/>
              </a:defRPr>
            </a:pPr>
            <a:r>
              <a:rPr sz="1200" b="0">
                <a:solidFill>
                  <a:srgbClr val="666666"/>
                </a:solidFill>
                <a:latin typeface="Calibri"/>
              </a:rPr>
              <a:t>Interns: Oscar Canazales, Krishnansh Vemulapalli, Soham Gangal, Erik Olsen</a:t>
            </a:r>
          </a:p>
          <a:p>
            <a:pPr algn="l">
              <a:lnSpc>
                <a:spcPct val="100000"/>
              </a:lnSpc>
              <a:spcAft>
                <a:spcPts val="100"/>
              </a:spcAft>
              <a:defRPr sz="1200" b="0">
                <a:solidFill>
                  <a:srgbClr val="666666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100"/>
              </a:spcAft>
              <a:defRPr sz="1200" b="0">
                <a:solidFill>
                  <a:srgbClr val="666666"/>
                </a:solidFill>
                <a:latin typeface="Calibri"/>
              </a:defRPr>
            </a:pPr>
            <a:r>
              <a:rPr sz="1200" b="0">
                <a:solidFill>
                  <a:srgbClr val="666666"/>
                </a:solidFill>
                <a:latin typeface="Calibri"/>
              </a:rPr>
              <a:t>Three hours.  Work in groups of three.</a:t>
            </a:r>
          </a:p>
        </p:txBody>
      </p:sp>
      <p:pic>
        <p:nvPicPr>
          <p:cNvPr id="8" name="Picture 7" descr="vehicle-front-blue-leds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23760" y="1371600"/>
            <a:ext cx="4480560" cy="336042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02920" y="6144768"/>
            <a:ext cx="11185855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Porpoise Robotics - proprietary. For use with Porpoise Robotics lessons.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What you will be able to do by the end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Nintendo Switch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900" b="1">
                <a:solidFill>
                  <a:srgbClr val="0E7C86"/>
                </a:solidFill>
                <a:latin typeface="Calibri"/>
              </a:defRPr>
            </a:pPr>
            <a:r>
              <a:rPr sz="1900" b="1">
                <a:solidFill>
                  <a:srgbClr val="0E7C86"/>
                </a:solidFill>
                <a:latin typeface="Calibri"/>
              </a:rPr>
              <a:t>By the end of this lesson you will be able to: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737360"/>
            <a:ext cx="11185855" cy="4526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13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1.   Say what mechatronics is, and point to three parts of the Pathfinder that are mechanical, electrical and software</a:t>
            </a:r>
          </a:p>
          <a:p>
            <a:pPr algn="l">
              <a:lnSpc>
                <a:spcPct val="100000"/>
              </a:lnSpc>
              <a:spcAft>
                <a:spcPts val="13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2.   Set up the Arduino IDE, the board package and the libraries, and get the course files into your Arduino folder</a:t>
            </a:r>
          </a:p>
          <a:p>
            <a:pPr algn="l">
              <a:lnSpc>
                <a:spcPct val="100000"/>
              </a:lnSpc>
              <a:spcAft>
                <a:spcPts val="13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3.   Name the three parts of every Arduino program and say when each runs</a:t>
            </a:r>
          </a:p>
          <a:p>
            <a:pPr algn="l">
              <a:lnSpc>
                <a:spcPct val="100000"/>
              </a:lnSpc>
              <a:spcAft>
                <a:spcPts val="13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4.   Build a working LED circuit on a breadboard, and say why the resistor is there</a:t>
            </a:r>
          </a:p>
          <a:p>
            <a:pPr algn="l">
              <a:lnSpc>
                <a:spcPct val="100000"/>
              </a:lnSpc>
              <a:spcAft>
                <a:spcPts val="13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5.   Upload a program to the vehicle and change it</a:t>
            </a:r>
          </a:p>
          <a:p>
            <a:pPr algn="l">
              <a:lnSpc>
                <a:spcPct val="100000"/>
              </a:lnSpc>
              <a:spcAft>
                <a:spcPts val="13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6.   Read what the vehicle prints back on the Serial Monitor</a:t>
            </a:r>
          </a:p>
          <a:p>
            <a:pPr algn="l">
              <a:lnSpc>
                <a:spcPct val="100000"/>
              </a:lnSpc>
              <a:spcAft>
                <a:spcPts val="13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7.   Light any one of the 32 LEDs, in any colour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Welcome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Nintendo Switch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This is a five-lesson course. Each lesson is three hours, and each one ends with your vehicle doing something it could not do at the start.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Please make it interactive. Questions, comments and better ideas are all welcome, and the best ones usually come from somebody who has just broken something.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You work in groups of three and share a vehicle. There are more vehicles if your group wants one each.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You will read programs, change them, upload them, and see what happens. Modifying a working program is the fastest way to learn to write one.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Very often the vehicle will do exactly what you told it to do, and not at all what you meant. That is not a setback. That is the job.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303520"/>
            <a:ext cx="11185855" cy="960120"/>
          </a:xfrm>
          <a:prstGeom prst="roundRect">
            <a:avLst>
              <a:gd name="adj" fmla="val 4000"/>
            </a:avLst>
          </a:prstGeom>
          <a:solidFill>
            <a:srgbClr val="EEF3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l"/>
            <a:r>
              <a:rPr sz="1300" b="1">
                <a:solidFill>
                  <a:srgbClr val="0E7C86"/>
                </a:solidFill>
                <a:latin typeface="Calibri"/>
              </a:rPr>
              <a:t>KEY POINT   </a:t>
            </a:r>
            <a:r>
              <a:rPr sz="1500">
                <a:solidFill>
                  <a:srgbClr val="222222"/>
                </a:solidFill>
                <a:latin typeface="Calibri"/>
              </a:rPr>
              <a:t>By the end of Lesson 5 you will be driving a vehicle you understand line by line, and racing it.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Where this course goes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Nintendo Switch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1188720"/>
          <a:ext cx="11185853" cy="17907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28581"/>
                <a:gridCol w="4142909"/>
                <a:gridCol w="6214363"/>
              </a:tblGrid>
              <a:tr h="29845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Lesson</a:t>
                      </a:r>
                    </a:p>
                  </a:txBody>
                  <a:tcPr marL="73152" marT="18288" marB="18288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Subject</a:t>
                      </a:r>
                    </a:p>
                  </a:txBody>
                  <a:tcPr marL="73152" marT="18288" marB="18288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What your vehicle can do by the end</a:t>
                      </a:r>
                    </a:p>
                  </a:txBody>
                  <a:tcPr marL="73152" marT="18288" marB="18288">
                    <a:solidFill>
                      <a:srgbClr val="1F3A5F"/>
                    </a:solidFill>
                  </a:tcPr>
                </a:tc>
              </a:tr>
              <a:tr h="29845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Introduction and the toolchain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Blink an LED, print to the screen, light one pixel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29845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Motor control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Drive itself round a square you calculated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  <a:tr h="29845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Controller programming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Be driven by you, with a thumbstick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29845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NeoPixel LEDs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Run headlights, signals and light patterns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  <a:tr h="29845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Maneuvers with lights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Everything at once - and race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502920" y="5303520"/>
            <a:ext cx="11185855" cy="960120"/>
          </a:xfrm>
          <a:prstGeom prst="roundRect">
            <a:avLst>
              <a:gd name="adj" fmla="val 4000"/>
            </a:avLst>
          </a:prstGeom>
          <a:solidFill>
            <a:srgbClr val="EEF3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l"/>
            <a:r>
              <a:rPr sz="1300" b="1">
                <a:solidFill>
                  <a:srgbClr val="0E7C86"/>
                </a:solidFill>
                <a:latin typeface="Calibri"/>
              </a:rPr>
              <a:t>KEY POINT   </a:t>
            </a:r>
            <a:r>
              <a:rPr sz="1500">
                <a:solidFill>
                  <a:srgbClr val="222222"/>
                </a:solidFill>
                <a:latin typeface="Calibri"/>
              </a:rPr>
              <a:t>Every lesson builds directly on the one before it. Nothing gets thrown away.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Today, in order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Nintendo Switch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1188720"/>
          <a:ext cx="11185854" cy="2984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18585"/>
                <a:gridCol w="10067269"/>
              </a:tblGrid>
              <a:tr h="29845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Time</a:t>
                      </a:r>
                    </a:p>
                  </a:txBody>
                  <a:tcPr marL="73152" marT="18288" marB="18288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What we do</a:t>
                      </a:r>
                    </a:p>
                  </a:txBody>
                  <a:tcPr marL="73152" marT="18288" marB="18288">
                    <a:solidFill>
                      <a:srgbClr val="1F3A5F"/>
                    </a:solidFill>
                  </a:tcPr>
                </a:tc>
              </a:tr>
              <a:tr h="29845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0:00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What mechatronics is, and what a Pathfinder is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29845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0:30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A tour of the vehicle: computer, motors, lights, battery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  <a:tr h="29845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0:55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BREAK  (10 minutes)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29845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1:05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Install the Arduino IDE, the board package and the libraries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  <a:tr h="29845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1:40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The three parts of every program.  Upload l1a_blink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29845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2:05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BREAK  (10 minutes)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  <a:tr h="29845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2:15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Talking back: the Serial Monitor.  Upload l1b_serial_monitor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29845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2:40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Your first light.  Upload l1c_first_pixel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  <a:tr h="29845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2:55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Safety, batteries, and what to expect next lesson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Mechatronics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Nintendo Switch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4108582" cy="5074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5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Much of the design and building of robots belongs to a field called MECHATRONICS - mechanical systems, electrical systems, and the computers that control them, treated as one thing.</a:t>
            </a:r>
          </a:p>
          <a:p>
            <a:pPr algn="l">
              <a:lnSpc>
                <a:spcPct val="100000"/>
              </a:lnSpc>
              <a:spcAft>
                <a:spcPts val="5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An unmanned ground vehicle is one small corner of it.</a:t>
            </a:r>
          </a:p>
          <a:p>
            <a:pPr algn="l">
              <a:lnSpc>
                <a:spcPct val="100000"/>
              </a:lnSpc>
              <a:spcAft>
                <a:spcPts val="5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What you learn here applies to the rest: factory automation, appliances, printers, cars, aircraft, and undersea vehicles.</a:t>
            </a:r>
          </a:p>
          <a:p>
            <a:pPr algn="l">
              <a:lnSpc>
                <a:spcPct val="100000"/>
              </a:lnSpc>
              <a:spcAft>
                <a:spcPts val="5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The reason we teach it with a rover is that you can watch a rover, reach it when it gets stuck, and a mistake means a bumped wall rather than a flooded electronics bay.</a:t>
            </a:r>
          </a:p>
        </p:txBody>
      </p:sp>
      <p:pic>
        <p:nvPicPr>
          <p:cNvPr id="7" name="Picture 6" descr="engineering-to-mechatronic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80881" y="1188720"/>
            <a:ext cx="3904275" cy="38404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380881" y="5102352"/>
            <a:ext cx="3904275" cy="868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800" b="0">
                <a:solidFill>
                  <a:srgbClr val="666666"/>
                </a:solidFill>
                <a:latin typeface="Calibri"/>
              </a:defRPr>
            </a:pPr>
            <a:r>
              <a:rPr sz="1800" b="0">
                <a:solidFill>
                  <a:srgbClr val="666666"/>
                </a:solidFill>
                <a:latin typeface="Calibri"/>
              </a:rPr>
              <a:t>Engineering, narrowing down to what you are about to build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STEM, and where it shows up in this course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Nintendo Switch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5364327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800" b="1">
                <a:solidFill>
                  <a:srgbClr val="0E7C86"/>
                </a:solidFill>
                <a:latin typeface="Calibri"/>
              </a:defRPr>
            </a:pPr>
            <a:r>
              <a:rPr sz="1800" b="1">
                <a:solidFill>
                  <a:srgbClr val="0E7C86"/>
                </a:solidFill>
                <a:latin typeface="Calibri"/>
              </a:rPr>
              <a:t>Maths and science you will actually use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700784"/>
            <a:ext cx="5364327" cy="45628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Circumference and pi, to work out how far one wheel turn takes you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Distance = speed x time, for every pre-programmed maneuver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Ratios and percentages, for duty cycle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Linear mapping, to turn a stick reading into a motor speed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Ohm's law and power, for the LED current budget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4447" y="1188720"/>
            <a:ext cx="5364327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800" b="1">
                <a:solidFill>
                  <a:srgbClr val="0E7C86"/>
                </a:solidFill>
                <a:latin typeface="Calibri"/>
              </a:defRPr>
            </a:pPr>
            <a:r>
              <a:rPr sz="1800" b="1">
                <a:solidFill>
                  <a:srgbClr val="0E7C86"/>
                </a:solidFill>
                <a:latin typeface="Calibri"/>
              </a:rPr>
              <a:t>Engineering practice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24447" y="1700784"/>
            <a:ext cx="5364327" cy="45628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Reading somebody else's program before changing it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Changing ONE thing at a time and observing the result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Measuring rather than guessing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Writing down what you measured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Working out whether a fault is mechanical, electrical or software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STEM, and where it shows up in this course  (continued)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Nintendo Switch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5364327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  <a:defRPr sz="1800" b="1">
                <a:solidFill>
                  <a:srgbClr val="0E7C86"/>
                </a:solidFill>
                <a:latin typeface="Calibri"/>
              </a:defRPr>
            </a:pPr>
            <a:r>
              <a:rPr sz="1800" b="1">
                <a:solidFill>
                  <a:srgbClr val="0E7C86"/>
                </a:solidFill>
                <a:latin typeface="Calibri"/>
              </a:rPr>
              <a:t>Maths and science you will actually use (cont.)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700784"/>
            <a:ext cx="5364327" cy="34198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Wavelength and colour perception, for the lighting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Trigonometry, when you plot where a maneuver ends up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4447" y="1188720"/>
            <a:ext cx="5364327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800" b="1">
                <a:solidFill>
                  <a:srgbClr val="0E7C86"/>
                </a:solidFill>
                <a:latin typeface="Calibri"/>
              </a:defRPr>
            </a:pPr>
            <a:r>
              <a:rPr sz="1800" b="1">
                <a:solidFill>
                  <a:srgbClr val="0E7C86"/>
                </a:solidFill>
                <a:latin typeface="Calibri"/>
              </a:rPr>
              <a:t>Engineering practice (cont.)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24447" y="1700784"/>
            <a:ext cx="5364327" cy="34198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Version control, so a working program is never lost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5303520"/>
            <a:ext cx="11185855" cy="960120"/>
          </a:xfrm>
          <a:prstGeom prst="roundRect">
            <a:avLst>
              <a:gd name="adj" fmla="val 4000"/>
            </a:avLst>
          </a:prstGeom>
          <a:solidFill>
            <a:srgbClr val="EEF3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l"/>
            <a:r>
              <a:rPr sz="1300" b="1">
                <a:solidFill>
                  <a:srgbClr val="0E7C86"/>
                </a:solidFill>
                <a:latin typeface="Calibri"/>
              </a:rPr>
              <a:t>KEY POINT   </a:t>
            </a:r>
            <a:r>
              <a:rPr sz="1500">
                <a:solidFill>
                  <a:srgbClr val="222222"/>
                </a:solidFill>
                <a:latin typeface="Calibri"/>
              </a:rPr>
              <a:t>STEM is not four subjects. It is using maths and science to build something that has to actually work.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The Pathfinder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Nintendo Switch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A fast, rugged, four-wheel-drive vehicle with an ESP32 computer, four independently driven motors, 32 programmable LEDs, four servo outputs and a rechargeable lithium battery.</a:t>
            </a:r>
          </a:p>
        </p:txBody>
      </p:sp>
      <p:pic>
        <p:nvPicPr>
          <p:cNvPr id="7" name="Picture 6" descr="vehicle-front-blue-led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7351" y="1810512"/>
            <a:ext cx="4901184" cy="367588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02920" y="5559552"/>
            <a:ext cx="5410047" cy="6583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  <a:defRPr sz="1800" b="0">
                <a:solidFill>
                  <a:srgbClr val="666666"/>
                </a:solidFill>
                <a:latin typeface="Calibri"/>
              </a:defRPr>
            </a:pPr>
            <a:r>
              <a:rPr sz="1800" b="0">
                <a:solidFill>
                  <a:srgbClr val="666666"/>
                </a:solidFill>
                <a:latin typeface="Calibri"/>
              </a:rPr>
              <a:t>Turn signal running on one side...</a:t>
            </a:r>
          </a:p>
        </p:txBody>
      </p:sp>
      <p:pic>
        <p:nvPicPr>
          <p:cNvPr id="9" name="Picture 8" descr="vehicle-side-blue-leds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33158" y="1810512"/>
            <a:ext cx="4901184" cy="367588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278727" y="5559552"/>
            <a:ext cx="5410047" cy="6583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200"/>
              </a:spcAft>
              <a:defRPr sz="1800" b="0">
                <a:solidFill>
                  <a:srgbClr val="666666"/>
                </a:solidFill>
                <a:latin typeface="Calibri"/>
              </a:defRPr>
            </a:pPr>
            <a:r>
              <a:rPr sz="1800" b="0">
                <a:solidFill>
                  <a:srgbClr val="666666"/>
                </a:solidFill>
                <a:latin typeface="Calibri"/>
              </a:rPr>
              <a:t>...and on the other. Same 32 LEDs, different program.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What is on the vehicle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Nintendo Switch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ESP32 computer - a small, fast microcontroller with Bluetooth and Wi-Fi built in. Your program runs here.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Four brushed DC motors, each with its own DRV8871 H-bridge driver.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32 WS2812B addressable LEDs, in two bars of 16.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Four servo outputs on the top plate.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A 4S 3300 mAh lithium polymer battery, about 16 volts charged.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A top plate with a breadboard area, for the sensors you add later.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303520"/>
            <a:ext cx="11185855" cy="960120"/>
          </a:xfrm>
          <a:prstGeom prst="roundRect">
            <a:avLst>
              <a:gd name="adj" fmla="val 4000"/>
            </a:avLst>
          </a:prstGeom>
          <a:solidFill>
            <a:srgbClr val="EEF3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l"/>
            <a:r>
              <a:rPr sz="1300" b="1">
                <a:solidFill>
                  <a:srgbClr val="0E7C86"/>
                </a:solidFill>
                <a:latin typeface="Calibri"/>
              </a:rPr>
              <a:t>KEY POINT   </a:t>
            </a:r>
            <a:r>
              <a:rPr sz="1500">
                <a:solidFill>
                  <a:srgbClr val="222222"/>
                </a:solidFill>
                <a:latin typeface="Calibri"/>
              </a:rPr>
              <a:t>No steering rack. It turns by driving one side faster than the other, like a tank. That matters from Lesson 2 onwards.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Every part, called out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Nintendo Switch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  <p:pic>
        <p:nvPicPr>
          <p:cNvPr id="6" name="Picture 5" descr="vehicle-parts-labelle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81372" y="1188720"/>
            <a:ext cx="9028950" cy="43434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5586984"/>
            <a:ext cx="11185855" cy="6766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  <a:defRPr sz="1800" b="0">
                <a:solidFill>
                  <a:srgbClr val="666666"/>
                </a:solidFill>
                <a:latin typeface="Calibri"/>
              </a:defRPr>
            </a:pPr>
            <a:r>
              <a:rPr sz="1800" b="0">
                <a:solidFill>
                  <a:srgbClr val="666666"/>
                </a:solidFill>
                <a:latin typeface="Calibri"/>
              </a:rPr>
              <a:t>Keep this page open for the rest of the lesson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Gen 2 and Gen 3  -  which vehicle are you holding?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Nintendo Switch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5364327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800" b="1">
                <a:solidFill>
                  <a:srgbClr val="0E7C86"/>
                </a:solidFill>
                <a:latin typeface="Calibri"/>
              </a:defRPr>
            </a:pPr>
            <a:r>
              <a:rPr sz="1800" b="1">
                <a:solidFill>
                  <a:srgbClr val="0E7C86"/>
                </a:solidFill>
                <a:latin typeface="Calibri"/>
              </a:rPr>
              <a:t>Gen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700784"/>
            <a:ext cx="5364327" cy="45628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The vehicle most of the fleet is built from.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ESP32, four DRV8871 H-bridges, 32 LEDs, four servo outputs.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No current sensor.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Everything in this course works on it. Nothing in these five lessons needs anything a Gen 2 does not have.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4447" y="1188720"/>
            <a:ext cx="5364327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800" b="1">
                <a:solidFill>
                  <a:srgbClr val="0E7C86"/>
                </a:solidFill>
                <a:latin typeface="Calibri"/>
              </a:defRPr>
            </a:pPr>
            <a:r>
              <a:rPr sz="1800" b="1">
                <a:solidFill>
                  <a:srgbClr val="0E7C86"/>
                </a:solidFill>
                <a:latin typeface="Calibri"/>
              </a:rPr>
              <a:t>Gen 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24447" y="1700784"/>
            <a:ext cx="5364327" cy="45628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A UNIBODY frame. The structure is one piece, and the board, battery and wiring sit inside it rather than on top, so nothing catches on anything when the vehicle rolls.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The wheels are mounted at the vehicle's VERTICAL CENTRE, so it drives just as well upside down. Flip it over and keep going.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A clear lexan TOP PLATE: somewhere to mount sensors, and you can see the electronics working underneath it.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700" b="1">
                <a:solidFill>
                  <a:srgbClr val="1F3A5F"/>
                </a:solidFill>
                <a:latin typeface="Calibri"/>
              </a:defRPr>
            </a:pPr>
            <a:r>
              <a:rPr sz="2700" b="1">
                <a:solidFill>
                  <a:srgbClr val="1F3A5F"/>
                </a:solidFill>
                <a:latin typeface="Calibri"/>
              </a:rPr>
              <a:t>Gen 2 and Gen 3  -  which vehicle are you holding?  (continued)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Nintendo Switch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24447" y="1188720"/>
            <a:ext cx="5364327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800" b="1">
                <a:solidFill>
                  <a:srgbClr val="0E7C86"/>
                </a:solidFill>
                <a:latin typeface="Calibri"/>
              </a:defRPr>
            </a:pPr>
            <a:r>
              <a:rPr sz="1800" b="1">
                <a:solidFill>
                  <a:srgbClr val="0E7C86"/>
                </a:solidFill>
                <a:latin typeface="Calibri"/>
              </a:rPr>
              <a:t>Gen 3 (cont.)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24447" y="1700784"/>
            <a:ext cx="5364327" cy="34198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An INA219 power monitor, so the vehicle can measure its own battery voltage and current draw - which is what makes a powered self-test possible.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5303520"/>
            <a:ext cx="11185855" cy="960120"/>
          </a:xfrm>
          <a:prstGeom prst="roundRect">
            <a:avLst>
              <a:gd name="adj" fmla="val 4000"/>
            </a:avLst>
          </a:prstGeom>
          <a:solidFill>
            <a:srgbClr val="EEF3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l"/>
            <a:r>
              <a:rPr sz="1300" b="1">
                <a:solidFill>
                  <a:srgbClr val="0E7C86"/>
                </a:solidFill>
                <a:latin typeface="Calibri"/>
              </a:rPr>
              <a:t>KEY POINT   </a:t>
            </a:r>
            <a:r>
              <a:rPr sz="1500">
                <a:solidFill>
                  <a:srgbClr val="222222"/>
                </a:solidFill>
                <a:latin typeface="Calibri"/>
              </a:rPr>
              <a:t>The programs detect which one they are running on at boot, by looking for the sensor. One program, either vehicle - you do not have to know which you have before you upload.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How a command gets from your thumb to a wheel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Nintendo Switch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13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645920"/>
            <a:ext cx="1920240" cy="868680"/>
          </a:xfrm>
          <a:prstGeom prst="roundRect">
            <a:avLst>
              <a:gd name="adj" fmla="val 12000"/>
            </a:avLst>
          </a:prstGeom>
          <a:solidFill>
            <a:srgbClr val="D6ECEE"/>
          </a:solidFill>
          <a:ln w="15875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800" b="1">
                <a:solidFill>
                  <a:srgbClr val="1F3A5F"/>
                </a:solidFill>
                <a:latin typeface="Calibri"/>
              </a:defRPr>
            </a:pPr>
            <a:r>
              <a:rPr sz="1800" b="1">
                <a:solidFill>
                  <a:srgbClr val="1F3A5F"/>
                </a:solidFill>
                <a:latin typeface="Calibri"/>
              </a:rPr>
              <a:t>Switch controller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2569464"/>
            <a:ext cx="1920240" cy="367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666666"/>
                </a:solidFill>
                <a:latin typeface="Calibri"/>
              </a:defRPr>
            </a:pPr>
            <a:r>
              <a:rPr sz="1800" b="0">
                <a:solidFill>
                  <a:srgbClr val="666666"/>
                </a:solidFill>
                <a:latin typeface="Calibri"/>
              </a:rPr>
              <a:t>you move a stick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834640" y="1645920"/>
            <a:ext cx="1463040" cy="8686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800" b="1">
                <a:solidFill>
                  <a:srgbClr val="1F3A5F"/>
                </a:solidFill>
                <a:latin typeface="Calibri"/>
              </a:defRPr>
            </a:pPr>
            <a:r>
              <a:rPr sz="1800" b="1">
                <a:solidFill>
                  <a:srgbClr val="1F3A5F"/>
                </a:solidFill>
                <a:latin typeface="Calibri"/>
              </a:rPr>
              <a:t>Bluetooth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834640" y="2569464"/>
            <a:ext cx="1463040" cy="6466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666666"/>
                </a:solidFill>
                <a:latin typeface="Calibri"/>
              </a:defRPr>
            </a:pPr>
            <a:r>
              <a:rPr sz="1800" b="0">
                <a:solidFill>
                  <a:srgbClr val="666666"/>
                </a:solidFill>
                <a:latin typeface="Calibri"/>
              </a:rPr>
              <a:t>radio, 2.4 GHz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709160" y="1645920"/>
            <a:ext cx="1737360" cy="868680"/>
          </a:xfrm>
          <a:prstGeom prst="roundRect">
            <a:avLst>
              <a:gd name="adj" fmla="val 12000"/>
            </a:avLst>
          </a:prstGeom>
          <a:solidFill>
            <a:srgbClr val="D6ECEE"/>
          </a:solidFill>
          <a:ln w="15875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800" b="1">
                <a:solidFill>
                  <a:srgbClr val="1F3A5F"/>
                </a:solidFill>
                <a:latin typeface="Calibri"/>
              </a:defRPr>
            </a:pPr>
            <a:r>
              <a:rPr sz="1800" b="1">
                <a:solidFill>
                  <a:srgbClr val="1F3A5F"/>
                </a:solidFill>
                <a:latin typeface="Calibri"/>
              </a:rPr>
              <a:t>ESP32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09160" y="2569464"/>
            <a:ext cx="1737360" cy="6466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666666"/>
                </a:solidFill>
                <a:latin typeface="Calibri"/>
              </a:defRPr>
            </a:pPr>
            <a:r>
              <a:rPr sz="1800" b="0">
                <a:solidFill>
                  <a:srgbClr val="666666"/>
                </a:solidFill>
                <a:latin typeface="Calibri"/>
              </a:rPr>
              <a:t>your program runs here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423160" y="2080260"/>
            <a:ext cx="411480" cy="0"/>
          </a:xfrm>
          <a:prstGeom prst="line">
            <a:avLst/>
          </a:prstGeom>
          <a:ln w="22225">
            <a:solidFill>
              <a:srgbClr val="1F3A5F"/>
            </a:solidFill>
            <a:headEnd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297680" y="2080260"/>
            <a:ext cx="411480" cy="0"/>
          </a:xfrm>
          <a:prstGeom prst="line">
            <a:avLst/>
          </a:prstGeom>
          <a:ln w="22225">
            <a:solidFill>
              <a:srgbClr val="1F3A5F"/>
            </a:solidFill>
            <a:headEnd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7269480" y="1280160"/>
            <a:ext cx="3017520" cy="749808"/>
          </a:xfrm>
          <a:prstGeom prst="roundRect">
            <a:avLst>
              <a:gd name="adj" fmla="val 12000"/>
            </a:avLst>
          </a:prstGeom>
          <a:solidFill>
            <a:srgbClr val="FAE6C8"/>
          </a:solidFill>
          <a:ln w="15875">
            <a:solidFill>
              <a:srgbClr val="B46A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800" b="1">
                <a:solidFill>
                  <a:srgbClr val="1F3A5F"/>
                </a:solidFill>
                <a:latin typeface="Calibri"/>
              </a:defRPr>
            </a:pPr>
            <a:r>
              <a:rPr sz="1800" b="1">
                <a:solidFill>
                  <a:srgbClr val="1F3A5F"/>
                </a:solidFill>
                <a:latin typeface="Calibri"/>
              </a:rPr>
              <a:t>DRV8871 drivers</a:t>
            </a:r>
          </a:p>
          <a:p>
            <a:pPr algn="ctr">
              <a:lnSpc>
                <a:spcPct val="100000"/>
              </a:lnSpc>
              <a:spcAft>
                <a:spcPts val="0"/>
              </a:spcAft>
              <a:defRPr sz="1800" b="1">
                <a:solidFill>
                  <a:srgbClr val="1F3A5F"/>
                </a:solidFill>
                <a:latin typeface="Calibri"/>
              </a:defRPr>
            </a:pPr>
            <a:r>
              <a:rPr sz="1800" b="1">
                <a:solidFill>
                  <a:srgbClr val="1F3A5F"/>
                </a:solidFill>
                <a:latin typeface="Calibri"/>
              </a:rPr>
              <a:t>4 motors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69480" y="2057400"/>
            <a:ext cx="3017520" cy="367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666666"/>
                </a:solidFill>
                <a:latin typeface="Consolas"/>
              </a:defRPr>
            </a:pPr>
            <a:r>
              <a:rPr sz="1800" b="0">
                <a:solidFill>
                  <a:srgbClr val="666666"/>
                </a:solidFill>
                <a:latin typeface="Consolas"/>
              </a:rPr>
              <a:t>12 13 16 17 18 19 22 23</a:t>
            </a:r>
          </a:p>
        </p:txBody>
      </p:sp>
      <p:cxnSp>
        <p:nvCxnSpPr>
          <p:cNvPr id="16" name="Connector 15"/>
          <p:cNvCxnSpPr/>
          <p:nvPr/>
        </p:nvCxnSpPr>
        <p:spPr>
          <a:xfrm flipV="1">
            <a:off x="6858000" y="1655064"/>
            <a:ext cx="411480" cy="425196"/>
          </a:xfrm>
          <a:prstGeom prst="line">
            <a:avLst/>
          </a:prstGeom>
          <a:ln w="22225">
            <a:solidFill>
              <a:srgbClr val="B46A0F"/>
            </a:solidFill>
            <a:headEnd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7269480" y="2414016"/>
            <a:ext cx="3017520" cy="749808"/>
          </a:xfrm>
          <a:prstGeom prst="roundRect">
            <a:avLst>
              <a:gd name="adj" fmla="val 12000"/>
            </a:avLst>
          </a:prstGeom>
          <a:solidFill>
            <a:srgbClr val="FAE6C8"/>
          </a:solidFill>
          <a:ln w="15875">
            <a:solidFill>
              <a:srgbClr val="B46A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800" b="1">
                <a:solidFill>
                  <a:srgbClr val="1F3A5F"/>
                </a:solidFill>
                <a:latin typeface="Calibri"/>
              </a:defRPr>
            </a:pPr>
            <a:r>
              <a:rPr sz="1800" b="1">
                <a:solidFill>
                  <a:srgbClr val="1F3A5F"/>
                </a:solidFill>
                <a:latin typeface="Calibri"/>
              </a:rPr>
              <a:t>WS2812B strip</a:t>
            </a:r>
          </a:p>
          <a:p>
            <a:pPr algn="ctr">
              <a:lnSpc>
                <a:spcPct val="100000"/>
              </a:lnSpc>
              <a:spcAft>
                <a:spcPts val="0"/>
              </a:spcAft>
              <a:defRPr sz="1800" b="1">
                <a:solidFill>
                  <a:srgbClr val="1F3A5F"/>
                </a:solidFill>
                <a:latin typeface="Calibri"/>
              </a:defRPr>
            </a:pPr>
            <a:r>
              <a:rPr sz="1800" b="1">
                <a:solidFill>
                  <a:srgbClr val="1F3A5F"/>
                </a:solidFill>
                <a:latin typeface="Calibri"/>
              </a:rPr>
              <a:t>32 LEDs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269480" y="3191256"/>
            <a:ext cx="3017520" cy="367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666666"/>
                </a:solidFill>
                <a:latin typeface="Consolas"/>
              </a:defRPr>
            </a:pPr>
            <a:r>
              <a:rPr sz="1800" b="0">
                <a:solidFill>
                  <a:srgbClr val="666666"/>
                </a:solidFill>
                <a:latin typeface="Consolas"/>
              </a:rPr>
              <a:t>GPIO 5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6858000" y="2080260"/>
            <a:ext cx="411480" cy="708660"/>
          </a:xfrm>
          <a:prstGeom prst="line">
            <a:avLst/>
          </a:prstGeom>
          <a:ln w="22225">
            <a:solidFill>
              <a:srgbClr val="B46A0F"/>
            </a:solidFill>
            <a:headEnd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7269480" y="3547872"/>
            <a:ext cx="3017520" cy="749808"/>
          </a:xfrm>
          <a:prstGeom prst="roundRect">
            <a:avLst>
              <a:gd name="adj" fmla="val 12000"/>
            </a:avLst>
          </a:prstGeom>
          <a:solidFill>
            <a:srgbClr val="FAE6C8"/>
          </a:solidFill>
          <a:ln w="15875">
            <a:solidFill>
              <a:srgbClr val="B46A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800" b="1">
                <a:solidFill>
                  <a:srgbClr val="1F3A5F"/>
                </a:solidFill>
                <a:latin typeface="Calibri"/>
              </a:defRPr>
            </a:pPr>
            <a:r>
              <a:rPr sz="1800" b="1">
                <a:solidFill>
                  <a:srgbClr val="1F3A5F"/>
                </a:solidFill>
                <a:latin typeface="Calibri"/>
              </a:rPr>
              <a:t>Servo headers</a:t>
            </a:r>
          </a:p>
          <a:p>
            <a:pPr algn="ctr">
              <a:lnSpc>
                <a:spcPct val="100000"/>
              </a:lnSpc>
              <a:spcAft>
                <a:spcPts val="0"/>
              </a:spcAft>
              <a:defRPr sz="1800" b="1">
                <a:solidFill>
                  <a:srgbClr val="1F3A5F"/>
                </a:solidFill>
                <a:latin typeface="Calibri"/>
              </a:defRPr>
            </a:pPr>
            <a:r>
              <a:rPr sz="1800" b="1">
                <a:solidFill>
                  <a:srgbClr val="1F3A5F"/>
                </a:solidFill>
                <a:latin typeface="Calibri"/>
              </a:rPr>
              <a:t>up to 4 servos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269480" y="4325112"/>
            <a:ext cx="3017520" cy="367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666666"/>
                </a:solidFill>
                <a:latin typeface="Consolas"/>
              </a:defRPr>
            </a:pPr>
            <a:r>
              <a:rPr sz="1800" b="0">
                <a:solidFill>
                  <a:srgbClr val="666666"/>
                </a:solidFill>
                <a:latin typeface="Consolas"/>
              </a:rPr>
              <a:t>25 26 27 14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6858000" y="2080260"/>
            <a:ext cx="411480" cy="1842516"/>
          </a:xfrm>
          <a:prstGeom prst="line">
            <a:avLst/>
          </a:prstGeom>
          <a:ln w="22225">
            <a:solidFill>
              <a:srgbClr val="B46A0F"/>
            </a:solidFill>
            <a:headEnd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ounded Rectangle 22"/>
          <p:cNvSpPr/>
          <p:nvPr/>
        </p:nvSpPr>
        <p:spPr>
          <a:xfrm>
            <a:off x="502920" y="5303520"/>
            <a:ext cx="11185855" cy="960120"/>
          </a:xfrm>
          <a:prstGeom prst="roundRect">
            <a:avLst>
              <a:gd name="adj" fmla="val 4000"/>
            </a:avLst>
          </a:prstGeom>
          <a:solidFill>
            <a:srgbClr val="EEF3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l"/>
            <a:r>
              <a:rPr sz="1300" b="1">
                <a:solidFill>
                  <a:srgbClr val="0E7C86"/>
                </a:solidFill>
                <a:latin typeface="Calibri"/>
              </a:rPr>
              <a:t>KEY POINT   </a:t>
            </a:r>
            <a:r>
              <a:rPr sz="1500">
                <a:solidFill>
                  <a:srgbClr val="222222"/>
                </a:solidFill>
                <a:latin typeface="Calibri"/>
              </a:rPr>
              <a:t>Everything the vehicle can do happens on one of those three outputs. The rest of the program is deciding what to send.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What a microcontroller actually is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Nintendo Switch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5364327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800" b="1">
                <a:solidFill>
                  <a:srgbClr val="0E7C86"/>
                </a:solidFill>
                <a:latin typeface="Calibri"/>
              </a:defRPr>
            </a:pPr>
            <a:r>
              <a:rPr sz="1800" b="1">
                <a:solidFill>
                  <a:srgbClr val="0E7C86"/>
                </a:solidFill>
                <a:latin typeface="Calibri"/>
              </a:rPr>
              <a:t>The ESP32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700784"/>
            <a:ext cx="5364327" cy="45628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A whole computer on one chip: processor, memory, storage, and the hardware to drive pins.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240 MHz, dual core, with Wi-Fi and Bluetooth built in.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It runs ONE program. There is no desktop, no windows, no files.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It starts running the instant it has power, and stops when it does not.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We compile programs in C++ on a laptop and send them down the USB cable into its flash memory.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4447" y="1188720"/>
            <a:ext cx="5364327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800" b="1">
                <a:solidFill>
                  <a:srgbClr val="0E7C86"/>
                </a:solidFill>
                <a:latin typeface="Calibri"/>
              </a:defRPr>
            </a:pPr>
            <a:r>
              <a:rPr sz="1800" b="1">
                <a:solidFill>
                  <a:srgbClr val="0E7C86"/>
                </a:solidFill>
                <a:latin typeface="Calibri"/>
              </a:rPr>
              <a:t>How that differs from your laptop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24447" y="1700784"/>
            <a:ext cx="5364327" cy="45628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Your laptop runs hundreds of programs at once and shares its processor between them.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The ESP32 gives your program the whole machine. Nothing interrupts you, and nothing rescues you either.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If your program stops, the vehicle stops. If your program waits, the vehicle waits. You will meet that head-on in Lesson 5.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There is no error message on a screen unless you print one. That is why the Serial Monitor matters so much.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Nintendo Switch  |  Lesson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15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2194560"/>
            <a:ext cx="256032" cy="18288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286000"/>
            <a:ext cx="10515600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3600" b="1">
                <a:solidFill>
                  <a:srgbClr val="1F3A5F"/>
                </a:solidFill>
                <a:latin typeface="Calibri"/>
              </a:defRPr>
            </a:pPr>
            <a:r>
              <a:rPr sz="3600" b="1">
                <a:solidFill>
                  <a:srgbClr val="1F3A5F"/>
                </a:solidFill>
                <a:latin typeface="Calibri"/>
              </a:rPr>
              <a:t>Setting up the Arduino IDE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3520440"/>
            <a:ext cx="10515600" cy="914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  <a:defRPr sz="1600" b="0">
                <a:solidFill>
                  <a:srgbClr val="666666"/>
                </a:solidFill>
                <a:latin typeface="Calibri"/>
              </a:defRPr>
            </a:pPr>
            <a:r>
              <a:rPr sz="1600" b="0">
                <a:solidFill>
                  <a:srgbClr val="666666"/>
                </a:solidFill>
                <a:latin typeface="Calibri"/>
              </a:rPr>
              <a:t>About 35 minutes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Step 1  -  install the Arduino IDE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Nintendo Switch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16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Go to arduino.cc/en/software and download the Arduino IDE, version 2.3.4 or newer.</a:t>
            </a:r>
          </a:p>
          <a:p>
            <a:pPr lvl="1"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Windows: install it and sign in to your Microsoft account if it asks. You can ignore the donation and newsletter prompts.</a:t>
            </a:r>
          </a:p>
          <a:p>
            <a:pPr lvl="1"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Mac: open the downloaded .zip and drag Arduino.app into your Applications folder.</a:t>
            </a:r>
          </a:p>
          <a:p>
            <a:pPr lvl="1"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It needs about 500 MB of disk space.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The IDE is where you will write code, compile it, upload it to the vehicle, and read what the vehicle prints back.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"Compile" means turn your C++ into the machine language the ESP32 runs. "Upload" means send that down the USB cable.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303520"/>
            <a:ext cx="11185855" cy="960120"/>
          </a:xfrm>
          <a:prstGeom prst="roundRect">
            <a:avLst>
              <a:gd name="adj" fmla="val 4000"/>
            </a:avLst>
          </a:prstGeom>
          <a:solidFill>
            <a:srgbClr val="EEF3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l"/>
            <a:r>
              <a:rPr sz="1300" b="1">
                <a:solidFill>
                  <a:srgbClr val="0E7C86"/>
                </a:solidFill>
                <a:latin typeface="Calibri"/>
              </a:rPr>
              <a:t>KEY POINT   </a:t>
            </a:r>
            <a:r>
              <a:rPr sz="1500">
                <a:solidFill>
                  <a:srgbClr val="222222"/>
                </a:solidFill>
                <a:latin typeface="Calibri"/>
              </a:rPr>
              <a:t>If the install will not go through, pair up with a neighbour and carry on - you lose nothing today. Note down the error and we will sort the machine out afterwards.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Step 2  -  install the board package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Nintendo Switch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17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5074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The Arduino IDE does not know about the ESP32 until you add it.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1.  File &gt; Preferences &gt; "Additional boards manager URLs".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2.  Paste this in (one line, no spaces):</a:t>
            </a:r>
          </a:p>
          <a:p>
            <a:pPr lvl="1"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https://raw.githubusercontent.com/ricardoquesada/esp32-arduino-lib-builder/master/bluepad32_files/package_esp32_bluepad32_index.json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3.  Click OK.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4.  Tools &gt; Board &gt; Boards Manager, search "bluepad32", install it. Choose version 4.1.0.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5.  Tools &gt; Board &gt; esp32_bluepad32 &gt; "ESP32 Dev Module".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Step 2  -  install the board package  (continued)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Nintendo Switch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Package:  esp32_bluepad32  by Ricardo Quesada,  version 4.1.0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303520"/>
            <a:ext cx="11185855" cy="960120"/>
          </a:xfrm>
          <a:prstGeom prst="roundRect">
            <a:avLst>
              <a:gd name="adj" fmla="val 4000"/>
            </a:avLst>
          </a:prstGeom>
          <a:solidFill>
            <a:srgbClr val="FDF3E3"/>
          </a:solidFill>
          <a:ln w="12700">
            <a:solidFill>
              <a:srgbClr val="B46A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l"/>
            <a:r>
              <a:rPr sz="1300" b="1">
                <a:solidFill>
                  <a:srgbClr val="B46A0F"/>
                </a:solidFill>
                <a:latin typeface="Calibri"/>
              </a:rPr>
              <a:t>WATCH OUT   </a:t>
            </a:r>
            <a:r>
              <a:rPr sz="1400">
                <a:solidFill>
                  <a:srgbClr val="222222"/>
                </a:solidFill>
                <a:latin typeface="Calibri"/>
              </a:rPr>
              <a:t>You now have TWO entries called "ESP32 Dev Module" - one under "esp32" and one under "esp32_bluepad32". Everything on this track needs the esp32_bluepad32 one. A pile of errors that make no sense usually means the wrong one is selected.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Step 3  -  select the board and the port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Nintendo Switch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19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BOARD:  Tools &gt; Board &gt; esp32_bluepad32 &gt; "ESP32 Dev Module"</a:t>
            </a:r>
          </a:p>
          <a:p>
            <a:pPr lvl="1"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Then set Upload Speed to 921600 and Flash Frequency to 80 MHz.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PORT:  plug the vehicle into your computer with a micro USB cable FIRST, then choose Tools &gt; Port.</a:t>
            </a:r>
          </a:p>
          <a:p>
            <a:pPr lvl="1"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Windows: the next available COM port, such as COM4.</a:t>
            </a:r>
          </a:p>
          <a:p>
            <a:pPr lvl="1"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Mac: something like /dev/cu.usbserial-14130.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If no port appears at all, the usual causes are: the vehicle is not switched on, or the cable is a charge-only cable with no data wires in it. Try a different cable before you try anything else.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303520"/>
            <a:ext cx="11185855" cy="960120"/>
          </a:xfrm>
          <a:prstGeom prst="roundRect">
            <a:avLst>
              <a:gd name="adj" fmla="val 4000"/>
            </a:avLst>
          </a:prstGeom>
          <a:solidFill>
            <a:srgbClr val="FDF3E3"/>
          </a:solidFill>
          <a:ln w="12700">
            <a:solidFill>
              <a:srgbClr val="B46A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l"/>
            <a:r>
              <a:rPr sz="1300" b="1">
                <a:solidFill>
                  <a:srgbClr val="B46A0F"/>
                </a:solidFill>
                <a:latin typeface="Calibri"/>
              </a:rPr>
              <a:t>WATCH OUT   </a:t>
            </a:r>
            <a:r>
              <a:rPr sz="1500">
                <a:solidFill>
                  <a:srgbClr val="222222"/>
                </a:solidFill>
                <a:latin typeface="Calibri"/>
              </a:rPr>
              <a:t>A charge-only USB cable looks identical to a real one and is the single most common reason a board "will not connect".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Step 4  -  install the libraries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Nintendo Switch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20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A LIBRARY is code somebody else already wrote and tested, which your program can call instead of you writing it again.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Tools &gt; Manage Libraries, then search and click Install.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"Adafruit NeoPixel" by Adafruit  -  drives the 32 LEDs.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none - Bluepad32 arrives with the board package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You still need "Adafruit NeoPixel" by Adafruit for the lighting lessons.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303520"/>
            <a:ext cx="11185855" cy="960120"/>
          </a:xfrm>
          <a:prstGeom prst="roundRect">
            <a:avLst>
              <a:gd name="adj" fmla="val 4000"/>
            </a:avLst>
          </a:prstGeom>
          <a:solidFill>
            <a:srgbClr val="EEF3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l"/>
            <a:r>
              <a:rPr sz="1300" b="1">
                <a:solidFill>
                  <a:srgbClr val="0E7C86"/>
                </a:solidFill>
                <a:latin typeface="Calibri"/>
              </a:rPr>
              <a:t>KEY POINT   </a:t>
            </a:r>
            <a:r>
              <a:rPr sz="1500">
                <a:solidFill>
                  <a:srgbClr val="222222"/>
                </a:solidFill>
                <a:latin typeface="Calibri"/>
              </a:rPr>
              <a:t>Without the NeoPixel library, nothing in Lesson 4 will compile.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Every program in this course, and what it needs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Nintendo Switch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21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  <a:r>
              <a:rPr sz="1600" b="0">
                <a:solidFill>
                  <a:srgbClr val="222222"/>
                </a:solidFill>
                <a:latin typeface="Calibri"/>
              </a:rPr>
              <a:t>Install both libraries now and you are set for all five lessons.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02920" y="1691640"/>
          <a:ext cx="11185853" cy="33639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18585"/>
                <a:gridCol w="4026907"/>
                <a:gridCol w="6040361"/>
              </a:tblGrid>
              <a:tr h="258762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Lesson</a:t>
                      </a:r>
                    </a:p>
                  </a:txBody>
                  <a:tcPr marL="73152" marT="18288" marB="18288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Sketch</a:t>
                      </a:r>
                    </a:p>
                  </a:txBody>
                  <a:tcPr marL="73152" marT="18288" marB="18288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Libraries beyond the board package</a:t>
                      </a:r>
                    </a:p>
                  </a:txBody>
                  <a:tcPr marL="73152" marT="18288" marB="18288">
                    <a:solidFill>
                      <a:srgbClr val="1F3A5F"/>
                    </a:solidFill>
                  </a:tcPr>
                </a:tc>
              </a:tr>
              <a:tr h="258762"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22222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22222"/>
                          </a:solidFill>
                          <a:latin typeface="Calibri"/>
                        </a:rPr>
                        <a:t>l1a_blink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22222"/>
                          </a:solidFill>
                          <a:latin typeface="Calibri"/>
                        </a:rPr>
                        <a:t>none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258762"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22222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22222"/>
                          </a:solidFill>
                          <a:latin typeface="Calibri"/>
                        </a:rPr>
                        <a:t>l1b_serial_monitor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22222"/>
                          </a:solidFill>
                          <a:latin typeface="Calibri"/>
                        </a:rPr>
                        <a:t>none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  <a:tr h="258762"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22222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22222"/>
                          </a:solidFill>
                          <a:latin typeface="Calibri"/>
                        </a:rPr>
                        <a:t>l1c_first_pixel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22222"/>
                          </a:solidFill>
                          <a:latin typeface="Calibri"/>
                        </a:rPr>
                        <a:t>Adafruit NeoPixel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258762"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22222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22222"/>
                          </a:solidFill>
                          <a:latin typeface="Calibri"/>
                        </a:rPr>
                        <a:t>l2a_one_motor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22222"/>
                          </a:solidFill>
                          <a:latin typeface="Calibri"/>
                        </a:rPr>
                        <a:t>none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  <a:tr h="258762"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22222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22222"/>
                          </a:solidFill>
                          <a:latin typeface="Calibri"/>
                        </a:rPr>
                        <a:t>l2b_speed_ramp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22222"/>
                          </a:solidFill>
                          <a:latin typeface="Calibri"/>
                        </a:rPr>
                        <a:t>none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258762"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22222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22222"/>
                          </a:solidFill>
                          <a:latin typeface="Calibri"/>
                        </a:rPr>
                        <a:t>l2c_maneuver_square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22222"/>
                          </a:solidFill>
                          <a:latin typeface="Calibri"/>
                        </a:rPr>
                        <a:t>none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  <a:tr h="258762"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22222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22222"/>
                          </a:solidFill>
                          <a:latin typeface="Calibri"/>
                        </a:rPr>
                        <a:t>l3a_controller_check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22222"/>
                          </a:solidFill>
                          <a:latin typeface="Calibri"/>
                        </a:rPr>
                        <a:t>none (Bluepad32 ships with the board package)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258762"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22222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22222"/>
                          </a:solidFill>
                          <a:latin typeface="Calibri"/>
                        </a:rPr>
                        <a:t>l3b_deadzone_and_map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22222"/>
                          </a:solidFill>
                          <a:latin typeface="Calibri"/>
                        </a:rPr>
                        <a:t>none (Bluepad32 ships with the board package)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  <a:tr h="258762"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22222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22222"/>
                          </a:solidFill>
                          <a:latin typeface="Calibri"/>
                        </a:rPr>
                        <a:t>l3c_tank_drive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22222"/>
                          </a:solidFill>
                          <a:latin typeface="Calibri"/>
                        </a:rPr>
                        <a:t>none (Bluepad32 ships with the board package)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258762"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22222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22222"/>
                          </a:solidFill>
                          <a:latin typeface="Calibri"/>
                        </a:rPr>
                        <a:t>l4a / l4b / l4c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22222"/>
                          </a:solidFill>
                          <a:latin typeface="Calibri"/>
                        </a:rPr>
                        <a:t>Adafruit NeoPixel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  <a:tr h="258762"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22222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22222"/>
                          </a:solidFill>
                          <a:latin typeface="Calibri"/>
                        </a:rPr>
                        <a:t>l5a / l5b / l5c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22222"/>
                          </a:solidFill>
                          <a:latin typeface="Calibri"/>
                        </a:rPr>
                        <a:t>Adafruit NeoPixel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258768"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22222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22222"/>
                          </a:solidFill>
                          <a:latin typeface="Calibri"/>
                        </a:rPr>
                        <a:t>pathfinder_nintendoswitch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22222"/>
                          </a:solidFill>
                          <a:latin typeface="Calibri"/>
                        </a:rPr>
                        <a:t>Adafruit NeoPixel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502920" y="5303520"/>
            <a:ext cx="11185855" cy="960120"/>
          </a:xfrm>
          <a:prstGeom prst="roundRect">
            <a:avLst>
              <a:gd name="adj" fmla="val 4000"/>
            </a:avLst>
          </a:prstGeom>
          <a:solidFill>
            <a:srgbClr val="EEF3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l"/>
            <a:r>
              <a:rPr sz="1300" b="1">
                <a:solidFill>
                  <a:srgbClr val="0E7C86"/>
                </a:solidFill>
                <a:latin typeface="Calibri"/>
              </a:rPr>
              <a:t>KEY POINT   </a:t>
            </a:r>
            <a:r>
              <a:rPr sz="1500">
                <a:solidFill>
                  <a:srgbClr val="222222"/>
                </a:solidFill>
                <a:latin typeface="Calibri"/>
              </a:rPr>
              <a:t>If a sketch will not compile, check this table before you change any code. A missing library is by far the most common cause.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Getting the course files onto your computer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Nintendo Switch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22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53035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900" b="1">
                <a:solidFill>
                  <a:srgbClr val="0E7C86"/>
                </a:solidFill>
                <a:latin typeface="Calibri"/>
              </a:defRPr>
            </a:pPr>
            <a:r>
              <a:rPr sz="1900" b="1">
                <a:solidFill>
                  <a:srgbClr val="0E7C86"/>
                </a:solidFill>
                <a:latin typeface="Calibri"/>
              </a:rPr>
              <a:t>Thumb drive or email, into your Arduino folder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755648"/>
            <a:ext cx="11185855" cy="45079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The sketches arrive on a thumb drive, or as a zip in an email. They have to end up in the right folder or the IDE will not find them.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WINDOWS</a:t>
            </a:r>
          </a:p>
          <a:p>
            <a:pPr lvl="1"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Copy the sketch folders into  Documents\\Arduino\\</a:t>
            </a:r>
          </a:p>
          <a:p>
            <a:pPr lvl="1"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Copy the library folders into  Documents\\Arduino\\libraries\\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MAC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Getting the course files onto your computer  (continued)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Nintendo Switch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23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5074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lvl="1"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Copy the sketch folders into  Documents/Arduino/</a:t>
            </a:r>
          </a:p>
          <a:p>
            <a:pPr lvl="1"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Copy the library folders into  Documents/Arduino/libraries/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Getting the course files onto your computer  (continued)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Nintendo Switch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24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If they came as .zip files, UNZIP them first - except a library you are adding through Sketch &gt; Include Library &gt; Add .ZIP Library, which wants the zip as it is.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Then restart the Arduino IDE. It only looks for sketches and libraries when it starts.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303520"/>
            <a:ext cx="11185855" cy="960120"/>
          </a:xfrm>
          <a:prstGeom prst="roundRect">
            <a:avLst>
              <a:gd name="adj" fmla="val 4000"/>
            </a:avLst>
          </a:prstGeom>
          <a:solidFill>
            <a:srgbClr val="FDF3E3"/>
          </a:solidFill>
          <a:ln w="12700">
            <a:solidFill>
              <a:srgbClr val="B46A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l"/>
            <a:r>
              <a:rPr sz="1300" b="1">
                <a:solidFill>
                  <a:srgbClr val="B46A0F"/>
                </a:solidFill>
                <a:latin typeface="Calibri"/>
              </a:rPr>
              <a:t>WATCH OUT   </a:t>
            </a:r>
            <a:r>
              <a:rPr sz="1500">
                <a:solidFill>
                  <a:srgbClr val="222222"/>
                </a:solidFill>
                <a:latin typeface="Calibri"/>
              </a:rPr>
              <a:t>One folder per sketch, and the folder name must match the .ino inside it. l1a_blink/l1a_blink.ino. The IDE will refuse to open a sketch whose folder is named differently.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Nintendo Switch  |  Lesson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25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2194560"/>
            <a:ext cx="256032" cy="18288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286000"/>
            <a:ext cx="10515600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3600" b="1">
                <a:solidFill>
                  <a:srgbClr val="1F3A5F"/>
                </a:solidFill>
                <a:latin typeface="Calibri"/>
              </a:defRPr>
            </a:pPr>
            <a:r>
              <a:rPr sz="3600" b="1">
                <a:solidFill>
                  <a:srgbClr val="1F3A5F"/>
                </a:solidFill>
                <a:latin typeface="Calibri"/>
              </a:rPr>
              <a:t>Your first program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3520440"/>
            <a:ext cx="10515600" cy="914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  <a:defRPr sz="1600" b="0">
                <a:solidFill>
                  <a:srgbClr val="666666"/>
                </a:solidFill>
                <a:latin typeface="Calibri"/>
              </a:defRPr>
            </a:pPr>
            <a:r>
              <a:rPr sz="1600" b="0">
                <a:solidFill>
                  <a:srgbClr val="666666"/>
                </a:solidFill>
                <a:latin typeface="Calibri"/>
              </a:rPr>
              <a:t>About 25 minutes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Every program has the same three parts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Nintendo Switch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26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325880"/>
            <a:ext cx="3520440" cy="457200"/>
          </a:xfrm>
          <a:prstGeom prst="roundRect">
            <a:avLst>
              <a:gd name="adj" fmla="val 12000"/>
            </a:avLst>
          </a:prstGeom>
          <a:solidFill>
            <a:srgbClr val="E8ECF0"/>
          </a:solidFill>
          <a:ln w="15875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800" b="1">
                <a:solidFill>
                  <a:srgbClr val="1F3A5F"/>
                </a:solidFill>
                <a:latin typeface="Calibri"/>
              </a:defRPr>
            </a:pPr>
            <a:r>
              <a:rPr sz="1800" b="1">
                <a:solidFill>
                  <a:srgbClr val="1F3A5F"/>
                </a:solidFill>
                <a:latin typeface="Calibri"/>
              </a:rPr>
              <a:t>1.  INITIALIZATION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1947672"/>
            <a:ext cx="3337560" cy="93827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Libraries, constants, variables.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The top of the file.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2743200"/>
            <a:ext cx="3520440" cy="1371600"/>
          </a:xfrm>
          <a:prstGeom prst="rect">
            <a:avLst/>
          </a:prstGeom>
          <a:solidFill>
            <a:srgbClr val="F4F6F8"/>
          </a:solidFill>
          <a:ln w="9525">
            <a:solidFill>
              <a:srgbClr val="C8D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lnSpc>
                <a:spcPct val="100000"/>
              </a:lnSpc>
              <a:spcAft>
                <a:spcPts val="0"/>
              </a:spcAft>
              <a:defRPr sz="1400" b="0">
                <a:solidFill>
                  <a:srgbClr val="222222"/>
                </a:solidFill>
                <a:latin typeface="Consolas"/>
              </a:defRPr>
            </a:pPr>
            <a:r>
              <a:rPr sz="1400" b="0">
                <a:solidFill>
                  <a:srgbClr val="222222"/>
                </a:solidFill>
                <a:latin typeface="Consolas"/>
              </a:rPr>
              <a:t>#include &lt;Adafruit_NeoPixel.h&gt;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 b="0">
                <a:solidFill>
                  <a:srgbClr val="222222"/>
                </a:solidFill>
                <a:latin typeface="Consolas"/>
              </a:defRPr>
            </a:pPr>
            <a:r>
              <a:rPr sz="1400" b="0">
                <a:solidFill>
                  <a:srgbClr val="222222"/>
                </a:solidFill>
                <a:latin typeface="Consolas"/>
              </a:rPr>
              <a:t>const int LED_PIN = 5;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069080" y="2788920"/>
            <a:ext cx="201168" cy="0"/>
          </a:xfrm>
          <a:prstGeom prst="line">
            <a:avLst/>
          </a:prstGeom>
          <a:ln w="22225">
            <a:solidFill>
              <a:srgbClr val="1F3A5F"/>
            </a:solidFill>
            <a:headEnd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4315968" y="1325880"/>
            <a:ext cx="3520440" cy="457200"/>
          </a:xfrm>
          <a:prstGeom prst="roundRect">
            <a:avLst>
              <a:gd name="adj" fmla="val 12000"/>
            </a:avLst>
          </a:prstGeom>
          <a:solidFill>
            <a:srgbClr val="D6ECEE"/>
          </a:solidFill>
          <a:ln w="15875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800" b="1">
                <a:solidFill>
                  <a:srgbClr val="1F3A5F"/>
                </a:solidFill>
                <a:latin typeface="Calibri"/>
              </a:defRPr>
            </a:pPr>
            <a:r>
              <a:rPr sz="1800" b="1">
                <a:solidFill>
                  <a:srgbClr val="1F3A5F"/>
                </a:solidFill>
                <a:latin typeface="Calibri"/>
              </a:rPr>
              <a:t>2.  SETUP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07408" y="1947672"/>
            <a:ext cx="3337560" cy="93827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setup() runs ONCE, at power-up.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Get the hardware ready.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15968" y="2743200"/>
            <a:ext cx="3520440" cy="1371600"/>
          </a:xfrm>
          <a:prstGeom prst="rect">
            <a:avLst/>
          </a:prstGeom>
          <a:solidFill>
            <a:srgbClr val="F4F6F8"/>
          </a:solidFill>
          <a:ln w="9525">
            <a:solidFill>
              <a:srgbClr val="C8D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lnSpc>
                <a:spcPct val="100000"/>
              </a:lnSpc>
              <a:spcAft>
                <a:spcPts val="0"/>
              </a:spcAft>
              <a:defRPr sz="1400" b="0">
                <a:solidFill>
                  <a:srgbClr val="222222"/>
                </a:solidFill>
                <a:latin typeface="Consolas"/>
              </a:defRPr>
            </a:pPr>
            <a:r>
              <a:rPr sz="1400" b="0">
                <a:solidFill>
                  <a:srgbClr val="222222"/>
                </a:solidFill>
                <a:latin typeface="Consolas"/>
              </a:rPr>
              <a:t>void setup() {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 b="0">
                <a:solidFill>
                  <a:srgbClr val="222222"/>
                </a:solidFill>
                <a:latin typeface="Consolas"/>
              </a:defRPr>
            </a:pPr>
            <a:r>
              <a:rPr sz="1400" b="0">
                <a:solidFill>
                  <a:srgbClr val="222222"/>
                </a:solidFill>
                <a:latin typeface="Consolas"/>
              </a:rPr>
              <a:t>  pinMode(LED_PIN, OUTPUT);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 b="0">
                <a:solidFill>
                  <a:srgbClr val="222222"/>
                </a:solidFill>
                <a:latin typeface="Consolas"/>
              </a:defRPr>
            </a:pPr>
            <a:r>
              <a:rPr sz="1400" b="0">
                <a:solidFill>
                  <a:srgbClr val="222222"/>
                </a:solidFill>
                <a:latin typeface="Consolas"/>
              </a:rPr>
              <a:t>}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7882128" y="2788920"/>
            <a:ext cx="201168" cy="0"/>
          </a:xfrm>
          <a:prstGeom prst="line">
            <a:avLst/>
          </a:prstGeom>
          <a:ln w="22225">
            <a:solidFill>
              <a:srgbClr val="1F3A5F"/>
            </a:solidFill>
            <a:headEnd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8129016" y="1325880"/>
            <a:ext cx="3520440" cy="457200"/>
          </a:xfrm>
          <a:prstGeom prst="roundRect">
            <a:avLst>
              <a:gd name="adj" fmla="val 12000"/>
            </a:avLst>
          </a:prstGeom>
          <a:solidFill>
            <a:srgbClr val="FAE6C8"/>
          </a:solidFill>
          <a:ln w="15875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800" b="1">
                <a:solidFill>
                  <a:srgbClr val="1F3A5F"/>
                </a:solidFill>
                <a:latin typeface="Calibri"/>
              </a:defRPr>
            </a:pPr>
            <a:r>
              <a:rPr sz="1800" b="1">
                <a:solidFill>
                  <a:srgbClr val="1F3A5F"/>
                </a:solidFill>
                <a:latin typeface="Calibri"/>
              </a:rPr>
              <a:t>3.  LOOP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0456" y="1947672"/>
            <a:ext cx="3337560" cy="6593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loop() runs OVER AND OVER,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until the power goes off.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129016" y="2743200"/>
            <a:ext cx="3520440" cy="1371600"/>
          </a:xfrm>
          <a:prstGeom prst="rect">
            <a:avLst/>
          </a:prstGeom>
          <a:solidFill>
            <a:srgbClr val="F4F6F8"/>
          </a:solidFill>
          <a:ln w="9525">
            <a:solidFill>
              <a:srgbClr val="C8D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lnSpc>
                <a:spcPct val="100000"/>
              </a:lnSpc>
              <a:spcAft>
                <a:spcPts val="0"/>
              </a:spcAft>
              <a:defRPr sz="1400" b="0">
                <a:solidFill>
                  <a:srgbClr val="222222"/>
                </a:solidFill>
                <a:latin typeface="Consolas"/>
              </a:defRPr>
            </a:pPr>
            <a:r>
              <a:rPr sz="1400" b="0">
                <a:solidFill>
                  <a:srgbClr val="222222"/>
                </a:solidFill>
                <a:latin typeface="Consolas"/>
              </a:rPr>
              <a:t>void loop() {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 b="0">
                <a:solidFill>
                  <a:srgbClr val="222222"/>
                </a:solidFill>
                <a:latin typeface="Consolas"/>
              </a:defRPr>
            </a:pPr>
            <a:r>
              <a:rPr sz="1400" b="0">
                <a:solidFill>
                  <a:srgbClr val="222222"/>
                </a:solidFill>
                <a:latin typeface="Consolas"/>
              </a:rPr>
              <a:t>  digitalWrite(LED_PIN, HIGH);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 b="0">
                <a:solidFill>
                  <a:srgbClr val="222222"/>
                </a:solidFill>
                <a:latin typeface="Consolas"/>
              </a:defRPr>
            </a:pPr>
            <a:r>
              <a:rPr sz="1400" b="0">
                <a:solidFill>
                  <a:srgbClr val="222222"/>
                </a:solidFill>
                <a:latin typeface="Consolas"/>
              </a:rPr>
              <a:t>  delay(1000);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 b="0">
                <a:solidFill>
                  <a:srgbClr val="222222"/>
                </a:solidFill>
                <a:latin typeface="Consolas"/>
              </a:defRPr>
            </a:pPr>
            <a:r>
              <a:rPr sz="1400" b="0">
                <a:solidFill>
                  <a:srgbClr val="222222"/>
                </a:solidFill>
                <a:latin typeface="Consolas"/>
              </a:rPr>
              <a:t>}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29016" y="4251960"/>
            <a:ext cx="3520440" cy="6466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1800" b="1">
                <a:solidFill>
                  <a:srgbClr val="B46A0F"/>
                </a:solidFill>
                <a:latin typeface="Calibri"/>
              </a:defRPr>
            </a:pPr>
            <a:r>
              <a:rPr sz="1800" b="1">
                <a:solidFill>
                  <a:srgbClr val="B46A0F"/>
                </a:solidFill>
                <a:latin typeface="Calibri"/>
              </a:rPr>
              <a:t>and round again, thousands of times a second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5303520"/>
            <a:ext cx="11185855" cy="960120"/>
          </a:xfrm>
          <a:prstGeom prst="roundRect">
            <a:avLst>
              <a:gd name="adj" fmla="val 4000"/>
            </a:avLst>
          </a:prstGeom>
          <a:solidFill>
            <a:srgbClr val="EEF3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l"/>
            <a:r>
              <a:rPr sz="1300" b="1">
                <a:solidFill>
                  <a:srgbClr val="0E7C86"/>
                </a:solidFill>
                <a:latin typeface="Calibri"/>
              </a:rPr>
              <a:t>KEY POINT   </a:t>
            </a:r>
            <a:r>
              <a:rPr sz="1500">
                <a:solidFill>
                  <a:srgbClr val="222222"/>
                </a:solidFill>
                <a:latin typeface="Calibri"/>
              </a:rPr>
              <a:t>Ingredients, then preparation, then cooking. A 500-line vehicle program has exactly this shape - there is just more in each part.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700" b="1">
                <a:solidFill>
                  <a:srgbClr val="1F3A5F"/>
                </a:solidFill>
                <a:latin typeface="Calibri"/>
              </a:defRPr>
            </a:pPr>
            <a:r>
              <a:rPr sz="2700" b="1">
                <a:solidFill>
                  <a:srgbClr val="1F3A5F"/>
                </a:solidFill>
                <a:latin typeface="Calibri"/>
              </a:rPr>
              <a:t>The ESP32 has no LED we can use, so you are going to give it one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Nintendo Switch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27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53035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900" b="1">
                <a:solidFill>
                  <a:srgbClr val="0E7C86"/>
                </a:solidFill>
                <a:latin typeface="Calibri"/>
              </a:defRPr>
            </a:pPr>
            <a:r>
              <a:rPr sz="1900" b="1">
                <a:solidFill>
                  <a:srgbClr val="0E7C86"/>
                </a:solidFill>
                <a:latin typeface="Calibri"/>
              </a:rPr>
              <a:t>Your first circuit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755648"/>
            <a:ext cx="11185855" cy="45079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Some development boards have a little LED soldered on. The module on this vehicle does not have one free for us, so your first program will blink an LED you wire up yourself.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That is a better place to start anyway. Before you can make something blink, you have to make a circuit that works - and a circuit is the thing underneath everything else on this vehicle.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You need three things from the kit:</a:t>
            </a:r>
          </a:p>
          <a:p>
            <a:pPr lvl="1"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a breadboard</a:t>
            </a:r>
          </a:p>
          <a:p>
            <a:pPr lvl="1"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an LED</a:t>
            </a:r>
          </a:p>
          <a:p>
            <a:pPr lvl="1"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a 220 ohm resistor</a:t>
            </a:r>
          </a:p>
          <a:p>
            <a:pPr lvl="1"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two jumper wires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What a breadboard is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Nintendo Switch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28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A breadboard lets you build a circuit without soldering, and take it apart again.</a:t>
            </a:r>
          </a:p>
        </p:txBody>
      </p:sp>
      <p:pic>
        <p:nvPicPr>
          <p:cNvPr id="7" name="Picture 6" descr="breadboard-parts-name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8530" y="1810512"/>
            <a:ext cx="4418826" cy="248716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02920" y="4370832"/>
            <a:ext cx="5410047" cy="6583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200"/>
              </a:spcAft>
              <a:defRPr sz="1800" b="0">
                <a:solidFill>
                  <a:srgbClr val="666666"/>
                </a:solidFill>
                <a:latin typeface="Calibri"/>
              </a:defRPr>
            </a:pPr>
            <a:r>
              <a:rPr sz="1800" b="0">
                <a:solidFill>
                  <a:srgbClr val="666666"/>
                </a:solidFill>
                <a:latin typeface="Calibri"/>
              </a:rPr>
              <a:t>Terminal strips down the middle, power rails along the edges</a:t>
            </a:r>
          </a:p>
        </p:txBody>
      </p:sp>
      <p:pic>
        <p:nvPicPr>
          <p:cNvPr id="9" name="Picture 8" descr="breadboard-parts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74337" y="1810512"/>
            <a:ext cx="4418826" cy="248716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278727" y="4370832"/>
            <a:ext cx="5410047" cy="6583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200"/>
              </a:spcAft>
              <a:defRPr sz="1800" b="0">
                <a:solidFill>
                  <a:srgbClr val="666666"/>
                </a:solidFill>
                <a:latin typeface="Calibri"/>
              </a:defRPr>
            </a:pPr>
            <a:r>
              <a:rPr sz="1800" b="0">
                <a:solidFill>
                  <a:srgbClr val="666666"/>
                </a:solidFill>
                <a:latin typeface="Calibri"/>
              </a:rPr>
              <a:t>A 220 ohm resistor and an LED. Note the LED has one leg longer.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5303520"/>
            <a:ext cx="11185855" cy="960120"/>
          </a:xfrm>
          <a:prstGeom prst="roundRect">
            <a:avLst>
              <a:gd name="adj" fmla="val 4000"/>
            </a:avLst>
          </a:prstGeom>
          <a:solidFill>
            <a:srgbClr val="EEF3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l"/>
            <a:r>
              <a:rPr sz="1300" b="1">
                <a:solidFill>
                  <a:srgbClr val="0E7C86"/>
                </a:solidFill>
                <a:latin typeface="Calibri"/>
              </a:rPr>
              <a:t>KEY POINT   </a:t>
            </a:r>
            <a:r>
              <a:rPr sz="1500">
                <a:solidFill>
                  <a:srgbClr val="222222"/>
                </a:solidFill>
                <a:latin typeface="Calibri"/>
              </a:rPr>
              <a:t>The five holes in a row are joined to each other under the plastic. That is the whole trick: push two legs into the same row and they are connected.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The circuit you are about to build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Nintendo Switch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29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1051560" y="1691640"/>
            <a:ext cx="6035040" cy="0"/>
          </a:xfrm>
          <a:prstGeom prst="line">
            <a:avLst/>
          </a:prstGeom>
          <a:ln w="3175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7086600" y="1691640"/>
            <a:ext cx="0" cy="2377440"/>
          </a:xfrm>
          <a:prstGeom prst="line">
            <a:avLst/>
          </a:prstGeom>
          <a:ln w="3175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51560" y="4069080"/>
            <a:ext cx="6035040" cy="0"/>
          </a:xfrm>
          <a:prstGeom prst="line">
            <a:avLst/>
          </a:prstGeom>
          <a:ln w="3175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51560" y="1691640"/>
            <a:ext cx="0" cy="2377440"/>
          </a:xfrm>
          <a:prstGeom prst="line">
            <a:avLst/>
          </a:prstGeom>
          <a:ln w="3175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137160" y="1399032"/>
            <a:ext cx="1828800" cy="585216"/>
          </a:xfrm>
          <a:prstGeom prst="roundRect">
            <a:avLst>
              <a:gd name="adj" fmla="val 12000"/>
            </a:avLst>
          </a:prstGeom>
          <a:solidFill>
            <a:srgbClr val="D6ECEE"/>
          </a:solidFill>
          <a:ln w="15875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800" b="1">
                <a:solidFill>
                  <a:srgbClr val="1F3A5F"/>
                </a:solidFill>
                <a:latin typeface="Calibri"/>
              </a:defRPr>
            </a:pPr>
            <a:r>
              <a:rPr sz="1800" b="1">
                <a:solidFill>
                  <a:srgbClr val="1F3A5F"/>
                </a:solidFill>
                <a:latin typeface="Calibri"/>
              </a:rPr>
              <a:t>ESP32  GPIO 2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82880" y="3776472"/>
            <a:ext cx="1737360" cy="585216"/>
          </a:xfrm>
          <a:prstGeom prst="roundRect">
            <a:avLst>
              <a:gd name="adj" fmla="val 12000"/>
            </a:avLst>
          </a:prstGeom>
          <a:solidFill>
            <a:srgbClr val="E8ECF0"/>
          </a:solidFill>
          <a:ln w="15875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800" b="1">
                <a:solidFill>
                  <a:srgbClr val="1F3A5F"/>
                </a:solidFill>
                <a:latin typeface="Calibri"/>
              </a:defRPr>
            </a:pPr>
            <a:r>
              <a:rPr sz="1800" b="1">
                <a:solidFill>
                  <a:srgbClr val="1F3A5F"/>
                </a:solidFill>
                <a:latin typeface="Calibri"/>
              </a:rPr>
              <a:t>ESP32  GND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514600" y="1380744"/>
            <a:ext cx="1920240" cy="62179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B46A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800" b="1">
                <a:solidFill>
                  <a:srgbClr val="1F3A5F"/>
                </a:solidFill>
                <a:latin typeface="Calibri"/>
              </a:defRPr>
            </a:pPr>
            <a:r>
              <a:rPr sz="1800" b="1">
                <a:solidFill>
                  <a:srgbClr val="1F3A5F"/>
                </a:solidFill>
                <a:latin typeface="Calibri"/>
              </a:rPr>
              <a:t>220 ohm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83680" y="2468880"/>
            <a:ext cx="1005840" cy="822960"/>
          </a:xfrm>
          <a:prstGeom prst="roundRect">
            <a:avLst>
              <a:gd name="adj" fmla="val 12000"/>
            </a:avLst>
          </a:prstGeom>
          <a:solidFill>
            <a:srgbClr val="FAE6C8"/>
          </a:solidFill>
          <a:ln w="15875">
            <a:solidFill>
              <a:srgbClr val="B46A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800" b="1">
                <a:solidFill>
                  <a:srgbClr val="1F3A5F"/>
                </a:solidFill>
                <a:latin typeface="Calibri"/>
              </a:defRPr>
            </a:pPr>
            <a:r>
              <a:rPr sz="1800" b="1">
                <a:solidFill>
                  <a:srgbClr val="1F3A5F"/>
                </a:solidFill>
                <a:latin typeface="Calibri"/>
              </a:rPr>
              <a:t>LED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937760" y="2350008"/>
            <a:ext cx="1554480" cy="367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800" b="1">
                <a:solidFill>
                  <a:srgbClr val="0E7C86"/>
                </a:solidFill>
                <a:latin typeface="Calibri"/>
              </a:defRPr>
            </a:pPr>
            <a:r>
              <a:rPr sz="1800" b="1">
                <a:solidFill>
                  <a:srgbClr val="0E7C86"/>
                </a:solidFill>
                <a:latin typeface="Calibri"/>
              </a:rPr>
              <a:t>long leg  +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937760" y="3227832"/>
            <a:ext cx="1554480" cy="367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666666"/>
                </a:solidFill>
                <a:latin typeface="Calibri"/>
              </a:defRPr>
            </a:pPr>
            <a:r>
              <a:rPr sz="1800" b="0">
                <a:solidFill>
                  <a:srgbClr val="666666"/>
                </a:solidFill>
                <a:latin typeface="Calibri"/>
              </a:rPr>
              <a:t>short leg  -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1560" y="4389120"/>
            <a:ext cx="6035040" cy="92557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Current goes round ONE loop. The resistor may sit on either side of the LED - what matters is that it is in the loop.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09560" y="1280160"/>
            <a:ext cx="3749039" cy="367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100"/>
              </a:spcAft>
              <a:defRPr sz="1800" b="1">
                <a:solidFill>
                  <a:srgbClr val="0E7C86"/>
                </a:solidFill>
                <a:latin typeface="Calibri"/>
              </a:defRPr>
            </a:pPr>
            <a:r>
              <a:rPr sz="1800" b="1">
                <a:solidFill>
                  <a:srgbClr val="0E7C86"/>
                </a:solidFill>
                <a:latin typeface="Calibri"/>
              </a:rPr>
              <a:t>Why 220 ohms?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909560" y="1737360"/>
            <a:ext cx="3749039" cy="1508760"/>
          </a:xfrm>
          <a:prstGeom prst="rect">
            <a:avLst/>
          </a:prstGeom>
          <a:solidFill>
            <a:srgbClr val="F4F6F8"/>
          </a:solidFill>
          <a:ln w="9525">
            <a:solidFill>
              <a:srgbClr val="C8D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l">
              <a:lnSpc>
                <a:spcPct val="100000"/>
              </a:lnSpc>
              <a:spcAft>
                <a:spcPts val="0"/>
              </a:spcAft>
              <a:defRPr sz="1400" b="0">
                <a:solidFill>
                  <a:srgbClr val="222222"/>
                </a:solidFill>
                <a:latin typeface="Consolas"/>
              </a:defRPr>
            </a:pPr>
            <a:r>
              <a:rPr sz="1400" b="0">
                <a:solidFill>
                  <a:srgbClr val="222222"/>
                </a:solidFill>
                <a:latin typeface="Consolas"/>
              </a:rPr>
              <a:t>R = (supply - LED drop) / current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 b="0">
                <a:solidFill>
                  <a:srgbClr val="222222"/>
                </a:solidFill>
                <a:latin typeface="Consolas"/>
              </a:defRPr>
            </a:pPr>
          </a:p>
          <a:p>
            <a:pPr algn="l">
              <a:lnSpc>
                <a:spcPct val="100000"/>
              </a:lnSpc>
              <a:spcAft>
                <a:spcPts val="0"/>
              </a:spcAft>
              <a:defRPr sz="1400" b="0">
                <a:solidFill>
                  <a:srgbClr val="222222"/>
                </a:solidFill>
                <a:latin typeface="Consolas"/>
              </a:defRPr>
            </a:pPr>
            <a:r>
              <a:rPr sz="1400" b="0">
                <a:solidFill>
                  <a:srgbClr val="222222"/>
                </a:solidFill>
                <a:latin typeface="Consolas"/>
              </a:rPr>
              <a:t>  = (3.3 - 2.0) / 0.020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 b="0">
                <a:solidFill>
                  <a:srgbClr val="222222"/>
                </a:solidFill>
                <a:latin typeface="Consolas"/>
              </a:defRPr>
            </a:pPr>
            <a:r>
              <a:rPr sz="1400" b="0">
                <a:solidFill>
                  <a:srgbClr val="222222"/>
                </a:solidFill>
                <a:latin typeface="Consolas"/>
              </a:rPr>
              <a:t>  = 65 ohms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909560" y="3383280"/>
            <a:ext cx="3749039" cy="20919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220 ohms is in the kit, and is a good choice: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(3.3 - 2.0) / 220 = about 6 mA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Dimmer than flat out, but easy to see and safe.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5303520"/>
            <a:ext cx="11185855" cy="960120"/>
          </a:xfrm>
          <a:prstGeom prst="roundRect">
            <a:avLst>
              <a:gd name="adj" fmla="val 4000"/>
            </a:avLst>
          </a:prstGeom>
          <a:solidFill>
            <a:srgbClr val="FDF3E3"/>
          </a:solidFill>
          <a:ln w="12700">
            <a:solidFill>
              <a:srgbClr val="B46A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l"/>
            <a:r>
              <a:rPr sz="1300" b="1">
                <a:solidFill>
                  <a:srgbClr val="B46A0F"/>
                </a:solidFill>
                <a:latin typeface="Calibri"/>
              </a:rPr>
              <a:t>WATCH OUT   </a:t>
            </a:r>
            <a:r>
              <a:rPr sz="1500">
                <a:solidFill>
                  <a:srgbClr val="222222"/>
                </a:solidFill>
                <a:latin typeface="Calibri"/>
              </a:rPr>
              <a:t>No resistor means one bright flash and a dead LED. An ESP32 pin should not be asked for more than about 20 mA, so erring high is the right way to err.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Building it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Nintendo Switch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30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Bend the resistor legs, push everything into the board, and connect GPIO 2 and GND with the two jumper wires.</a:t>
            </a:r>
          </a:p>
        </p:txBody>
      </p:sp>
      <p:pic>
        <p:nvPicPr>
          <p:cNvPr id="7" name="Picture 6" descr="breadboard-step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8530" y="1810512"/>
            <a:ext cx="4418826" cy="248716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02920" y="4370832"/>
            <a:ext cx="5410047" cy="6583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200"/>
              </a:spcAft>
              <a:defRPr sz="1800" b="0">
                <a:solidFill>
                  <a:srgbClr val="666666"/>
                </a:solidFill>
                <a:latin typeface="Calibri"/>
              </a:defRPr>
            </a:pPr>
            <a:r>
              <a:rPr sz="1800" b="0">
                <a:solidFill>
                  <a:srgbClr val="666666"/>
                </a:solidFill>
                <a:latin typeface="Calibri"/>
              </a:rPr>
              <a:t>Resistor and LED in the same row, so they are connected</a:t>
            </a:r>
          </a:p>
        </p:txBody>
      </p:sp>
      <p:pic>
        <p:nvPicPr>
          <p:cNvPr id="9" name="Picture 8" descr="breadboard-complet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74337" y="1810512"/>
            <a:ext cx="4418826" cy="248716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278727" y="4370832"/>
            <a:ext cx="5410047" cy="6583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200"/>
              </a:spcAft>
              <a:defRPr sz="1800" b="0">
                <a:solidFill>
                  <a:srgbClr val="666666"/>
                </a:solidFill>
                <a:latin typeface="Calibri"/>
              </a:defRPr>
            </a:pPr>
            <a:r>
              <a:rPr sz="1800" b="0">
                <a:solidFill>
                  <a:srgbClr val="666666"/>
                </a:solidFill>
                <a:latin typeface="Calibri"/>
              </a:rPr>
              <a:t>Powered up. Kevin's photos use a 9 V battery; yours runs from GPIO 2.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5303520"/>
            <a:ext cx="11185855" cy="960120"/>
          </a:xfrm>
          <a:prstGeom prst="roundRect">
            <a:avLst>
              <a:gd name="adj" fmla="val 4000"/>
            </a:avLst>
          </a:prstGeom>
          <a:solidFill>
            <a:srgbClr val="FDF3E3"/>
          </a:solidFill>
          <a:ln w="12700">
            <a:solidFill>
              <a:srgbClr val="B46A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l"/>
            <a:r>
              <a:rPr sz="1300" b="1">
                <a:solidFill>
                  <a:srgbClr val="B46A0F"/>
                </a:solidFill>
                <a:latin typeface="Calibri"/>
              </a:rPr>
              <a:t>WATCH OUT   </a:t>
            </a:r>
            <a:r>
              <a:rPr sz="1500">
                <a:solidFill>
                  <a:srgbClr val="222222"/>
                </a:solidFill>
                <a:latin typeface="Calibri"/>
              </a:rPr>
              <a:t>Long leg of the LED towards the resistor and GPIO 2. Short leg towards ground. Backwards means no light, no damage - just turn it round.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l1a_blink  -  the whole program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Nintendo Switch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31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7047088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  <a:defRPr sz="1200" b="1">
                <a:solidFill>
                  <a:srgbClr val="0E7C86"/>
                </a:solidFill>
                <a:latin typeface="Consolas"/>
              </a:defRPr>
            </a:pPr>
            <a:r>
              <a:rPr sz="1200" b="1">
                <a:solidFill>
                  <a:srgbClr val="0E7C86"/>
                </a:solidFill>
                <a:latin typeface="Consolas"/>
              </a:rPr>
              <a:t>l1a_blink.ino</a:t>
            </a:r>
          </a:p>
        </p:txBody>
      </p:sp>
      <p:sp>
        <p:nvSpPr>
          <p:cNvPr id="7" name="CODE_PANEL"/>
          <p:cNvSpPr/>
          <p:nvPr/>
        </p:nvSpPr>
        <p:spPr>
          <a:xfrm>
            <a:off x="502920" y="1517904"/>
            <a:ext cx="7047088" cy="4745736"/>
          </a:xfrm>
          <a:prstGeom prst="roundRect">
            <a:avLst>
              <a:gd name="adj" fmla="val 4000"/>
            </a:avLst>
          </a:prstGeom>
          <a:solidFill>
            <a:srgbClr val="F4F6F8"/>
          </a:solidFill>
          <a:ln w="12700">
            <a:solidFill>
              <a:srgbClr val="C8D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tIns="91440" bIns="73152"/>
          <a:lstStyle/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const int LED_PIN = 2;   // the pin your LED is wired to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const int BLINK_MS = 1000;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void setup() {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  pinMode(LED_PIN, OUTPUT);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}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void loop() {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  digitalWrite(LED_PIN, HIGH);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  delay(BLINK_MS);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  digitalWrite(LED_PIN, LOW);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  delay(BLINK_MS);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70048" y="1517904"/>
            <a:ext cx="3818727" cy="47457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const int  says this is a whole number that never changes. Naming it means you change it in one place - move your LED to another pin and only this line changes.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pinMode(..., OUTPUT)  tells the ESP32 we intend to WRITE to that pin. Without it, digitalWrite does nothing.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HIGH puts 3.3 volts on the pin.  LOW puts 0 volts on it. That is the entire idea of digital output.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delay(1000)  waits one second. Remember this line - in Lesson 5 we will throw it away.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Where we are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Nintendo Switch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32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240280"/>
            <a:ext cx="2120127" cy="1737360"/>
          </a:xfrm>
          <a:prstGeom prst="roundRect">
            <a:avLst>
              <a:gd name="adj" fmla="val 8000"/>
            </a:avLst>
          </a:prstGeom>
          <a:solidFill>
            <a:srgbClr val="EEF3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700" b="0">
                <a:solidFill>
                  <a:srgbClr val="1F3A5F"/>
                </a:solidFill>
                <a:latin typeface="Calibri"/>
              </a:defRPr>
            </a:pPr>
            <a:r>
              <a:rPr sz="1700" b="0">
                <a:solidFill>
                  <a:srgbClr val="1F3A5F"/>
                </a:solidFill>
                <a:latin typeface="Calibri"/>
              </a:rPr>
              <a:t>The vehicle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856232"/>
            <a:ext cx="2120127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  <a:defRPr sz="1200" b="1">
                <a:solidFill>
                  <a:srgbClr val="0E7C86"/>
                </a:solidFill>
                <a:latin typeface="Calibri"/>
              </a:defRPr>
            </a:pPr>
            <a:r>
              <a:rPr sz="1200" b="1">
                <a:solidFill>
                  <a:srgbClr val="0E7C86"/>
                </a:solidFill>
                <a:latin typeface="Calibri"/>
              </a:rPr>
              <a:t>done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769351" y="2240280"/>
            <a:ext cx="2120127" cy="1737360"/>
          </a:xfrm>
          <a:prstGeom prst="roundRect">
            <a:avLst>
              <a:gd name="adj" fmla="val 8000"/>
            </a:avLst>
          </a:prstGeom>
          <a:solidFill>
            <a:srgbClr val="D6ECEE"/>
          </a:solidFill>
          <a:ln w="254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700" b="1">
                <a:solidFill>
                  <a:srgbClr val="1F3A5F"/>
                </a:solidFill>
                <a:latin typeface="Calibri"/>
              </a:defRPr>
            </a:pPr>
            <a:r>
              <a:rPr sz="1700" b="1">
                <a:solidFill>
                  <a:srgbClr val="1F3A5F"/>
                </a:solidFill>
                <a:latin typeface="Calibri"/>
              </a:rPr>
              <a:t>Setting up the IDE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69351" y="1856232"/>
            <a:ext cx="2120127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  <a:defRPr sz="1200" b="1">
                <a:solidFill>
                  <a:srgbClr val="0E7C86"/>
                </a:solidFill>
                <a:latin typeface="Calibri"/>
              </a:defRPr>
            </a:pPr>
            <a:r>
              <a:rPr sz="1200" b="1">
                <a:solidFill>
                  <a:srgbClr val="0E7C86"/>
                </a:solidFill>
                <a:latin typeface="Calibri"/>
              </a:rPr>
              <a:t>NOW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35782" y="2240280"/>
            <a:ext cx="2120127" cy="17373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700" b="0">
                <a:solidFill>
                  <a:srgbClr val="666666"/>
                </a:solidFill>
                <a:latin typeface="Calibri"/>
              </a:defRPr>
            </a:pPr>
            <a:r>
              <a:rPr sz="1700" b="0">
                <a:solidFill>
                  <a:srgbClr val="666666"/>
                </a:solidFill>
                <a:latin typeface="Calibri"/>
              </a:rPr>
              <a:t>Your first circuit and program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02213" y="2240280"/>
            <a:ext cx="2120127" cy="17373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700" b="0">
                <a:solidFill>
                  <a:srgbClr val="666666"/>
                </a:solidFill>
                <a:latin typeface="Calibri"/>
              </a:defRPr>
            </a:pPr>
            <a:r>
              <a:rPr sz="1700" b="0">
                <a:solidFill>
                  <a:srgbClr val="666666"/>
                </a:solidFill>
                <a:latin typeface="Calibri"/>
              </a:rPr>
              <a:t>Talking back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568644" y="2240280"/>
            <a:ext cx="2120127" cy="17373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700" b="0">
                <a:solidFill>
                  <a:srgbClr val="666666"/>
                </a:solidFill>
                <a:latin typeface="Calibri"/>
              </a:defRPr>
            </a:pPr>
            <a:r>
              <a:rPr sz="1700" b="0">
                <a:solidFill>
                  <a:srgbClr val="666666"/>
                </a:solidFill>
                <a:latin typeface="Calibri"/>
              </a:rPr>
              <a:t>Your first light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Do it now  -  blink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Nintendo Switch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33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188720"/>
            <a:ext cx="11185855" cy="530352"/>
          </a:xfrm>
          <a:prstGeom prst="roundRect">
            <a:avLst>
              <a:gd name="adj" fmla="val 4000"/>
            </a:avLst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UPLOAD AND RUN:   </a:t>
            </a:r>
            <a:r>
              <a:rPr sz="1500" b="1">
                <a:solidFill>
                  <a:srgbClr val="FFFFFF"/>
                </a:solidFill>
                <a:latin typeface="Consolas"/>
              </a:rPr>
              <a:t>l1a_blink</a:t>
            </a:r>
            <a:r>
              <a:rPr sz="1200">
                <a:solidFill>
                  <a:srgbClr val="FFFFFF"/>
                </a:solidFill>
                <a:latin typeface="Calibri"/>
              </a:rPr>
              <a:t>     (15 minutes)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901952"/>
            <a:ext cx="5387187" cy="43616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1.  File &gt; Open, and find l1a_blink.ino.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2.  Click the tick to VERIFY. It should compile with no errors.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3.  Click the arrow to UPLOAD. Do not unplug during upload.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4.  Wait for "Done uploading" and look at your LED.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Then change things: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5.  Set BLINK_MS to 100. Upload. Then 2000. Upload.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1587" y="1901952"/>
            <a:ext cx="5387187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  <a:defRPr sz="1800" b="1">
                <a:solidFill>
                  <a:srgbClr val="0E7C86"/>
                </a:solidFill>
                <a:latin typeface="Calibri"/>
              </a:defRPr>
            </a:pPr>
            <a:r>
              <a:rPr sz="1800" b="1">
                <a:solidFill>
                  <a:srgbClr val="0E7C86"/>
                </a:solidFill>
                <a:latin typeface="Calibri"/>
              </a:rPr>
              <a:t>What you should see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01587" y="2304288"/>
            <a:ext cx="5387187" cy="17785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YOUR LED, on the breadboard, one second on and one second off.</a:t>
            </a:r>
          </a:p>
          <a:p>
            <a:pPr algn="l">
              <a:lnSpc>
                <a:spcPct val="100000"/>
              </a:lnSpc>
              <a:spcAft>
                <a:spcPts val="2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Nothing at all means the LED is in backwards, or a leg is in the wrong row.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01587" y="4119372"/>
            <a:ext cx="5387187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  <a:defRPr sz="1800" b="1">
                <a:solidFill>
                  <a:srgbClr val="0E7C86"/>
                </a:solidFill>
                <a:latin typeface="Calibri"/>
              </a:defRPr>
            </a:pPr>
            <a:r>
              <a:rPr sz="1800" b="1">
                <a:solidFill>
                  <a:srgbClr val="0E7C86"/>
                </a:solidFill>
                <a:latin typeface="Calibri"/>
              </a:rPr>
              <a:t>Answer these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1587" y="4521708"/>
            <a:ext cx="5387187" cy="17785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Which makes it blink faster, a bigger number or a smaller one? Why?</a:t>
            </a:r>
          </a:p>
          <a:p>
            <a:pPr algn="l">
              <a:lnSpc>
                <a:spcPct val="100000"/>
              </a:lnSpc>
              <a:spcAft>
                <a:spcPts val="2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With one delay deleted, the LED is still blinking. How fast, and why can you barely see it?</a:t>
            </a:r>
          </a:p>
          <a:p>
            <a:pPr algn="l">
              <a:lnSpc>
                <a:spcPct val="100000"/>
              </a:lnSpc>
              <a:spcAft>
                <a:spcPts val="2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What resistor would a RED LED need? It drops about 1.8 V instead of 2.0 V.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Do it now  -  blink  (continued)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Nintendo Switch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34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188720"/>
            <a:ext cx="11185855" cy="530352"/>
          </a:xfrm>
          <a:prstGeom prst="roundRect">
            <a:avLst>
              <a:gd name="adj" fmla="val 4000"/>
            </a:avLst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UPLOAD AND RUN:   </a:t>
            </a:r>
            <a:r>
              <a:rPr sz="1500" b="1">
                <a:solidFill>
                  <a:srgbClr val="FFFFFF"/>
                </a:solidFill>
                <a:latin typeface="Consolas"/>
              </a:rPr>
              <a:t>l1a_blink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901952"/>
            <a:ext cx="5387187" cy="43616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6.  Delete ONE of the two delay lines and upload.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Nintendo Switch  |  Lesson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35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2194560"/>
            <a:ext cx="256032" cy="18288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286000"/>
            <a:ext cx="10515600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3600" b="1">
                <a:solidFill>
                  <a:srgbClr val="1F3A5F"/>
                </a:solidFill>
                <a:latin typeface="Calibri"/>
              </a:defRPr>
            </a:pPr>
            <a:r>
              <a:rPr sz="3600" b="1">
                <a:solidFill>
                  <a:srgbClr val="1F3A5F"/>
                </a:solidFill>
                <a:latin typeface="Calibri"/>
              </a:rPr>
              <a:t>Making the vehicle talk back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3520440"/>
            <a:ext cx="10515600" cy="914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  <a:defRPr sz="1600" b="0">
                <a:solidFill>
                  <a:srgbClr val="666666"/>
                </a:solidFill>
                <a:latin typeface="Calibri"/>
              </a:defRPr>
            </a:pPr>
            <a:r>
              <a:rPr sz="1600" b="0">
                <a:solidFill>
                  <a:srgbClr val="666666"/>
                </a:solidFill>
                <a:latin typeface="Calibri"/>
              </a:rPr>
              <a:t>About 25 minutes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The Serial Monitor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Nintendo Switch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36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5074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The ESP32 has no screen. If you want to know what it is thinking, it has to tell you - down the same USB cable you upload through.</a:t>
            </a:r>
          </a:p>
          <a:p>
            <a:pPr lvl="1"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Serial.begin(115200);   opens the connection. Put it in setup().</a:t>
            </a:r>
          </a:p>
          <a:p>
            <a:pPr lvl="1"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Serial.print("text");    prints and stays on the same line.</a:t>
            </a:r>
          </a:p>
          <a:p>
            <a:pPr lvl="1"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Serial.println(x);       prints and moves to a new line.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Open it with Tools &gt; Serial Monitor, or the magnifying glass at the top right.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The baud rate box at the bottom MUST say 115200, because that is the number in Serial.begin(). Rows of nonsense characters mean the two numbers disagree.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The Serial Monitor  (continued)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Nintendo Switch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37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When something does not work, print the numbers your program is working from. That will find the fault faster than staring at the code will.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303520"/>
            <a:ext cx="11185855" cy="960120"/>
          </a:xfrm>
          <a:prstGeom prst="roundRect">
            <a:avLst>
              <a:gd name="adj" fmla="val 4000"/>
            </a:avLst>
          </a:prstGeom>
          <a:solidFill>
            <a:srgbClr val="EEF3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l"/>
            <a:r>
              <a:rPr sz="1300" b="1">
                <a:solidFill>
                  <a:srgbClr val="0E7C86"/>
                </a:solidFill>
                <a:latin typeface="Calibri"/>
              </a:rPr>
              <a:t>KEY POINT   </a:t>
            </a:r>
            <a:r>
              <a:rPr sz="1500">
                <a:solidFill>
                  <a:srgbClr val="222222"/>
                </a:solidFill>
                <a:latin typeface="Calibri"/>
              </a:rPr>
              <a:t>Every program from here on prints something. Get in the habit of having the Serial Monitor open.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Variables: named boxes that hold a value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Nintendo Switch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38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1188720"/>
          <a:ext cx="11185852" cy="20129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64309"/>
                <a:gridCol w="3107181"/>
                <a:gridCol w="3107181"/>
                <a:gridCol w="3107181"/>
              </a:tblGrid>
              <a:tr h="335491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Type</a:t>
                      </a:r>
                    </a:p>
                  </a:txBody>
                  <a:tcPr marL="73152" marT="18288" marB="18288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Holds</a:t>
                      </a:r>
                    </a:p>
                  </a:txBody>
                  <a:tcPr marL="73152" marT="18288" marB="18288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Example</a:t>
                      </a:r>
                    </a:p>
                  </a:txBody>
                  <a:tcPr marL="73152" marT="18288" marB="18288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Used for</a:t>
                      </a:r>
                    </a:p>
                  </a:txBody>
                  <a:tcPr marL="73152" marT="18288" marB="18288">
                    <a:solidFill>
                      <a:srgbClr val="1F3A5F"/>
                    </a:solidFill>
                  </a:tcPr>
                </a:tc>
              </a:tr>
              <a:tr h="335491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int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A whole number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int loopCount = 0;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Speeds, pin numbers, counts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335491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float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A number with a decimal point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float volts = 16.8;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Voltages, measurements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  <a:tr h="335491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bool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Only true or false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bool lightsOn = true;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Switches and flags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335491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const int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A whole number that never changes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const int LED_PIN = 2;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Pins and settings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  <a:tr h="335495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unsigned long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A big whole number, never negative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unsigned long now;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millis(), in Lesson 5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502920" y="5303520"/>
            <a:ext cx="11185855" cy="960120"/>
          </a:xfrm>
          <a:prstGeom prst="roundRect">
            <a:avLst>
              <a:gd name="adj" fmla="val 4000"/>
            </a:avLst>
          </a:prstGeom>
          <a:solidFill>
            <a:srgbClr val="EEF3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l"/>
            <a:r>
              <a:rPr sz="1300" b="1">
                <a:solidFill>
                  <a:srgbClr val="0E7C86"/>
                </a:solidFill>
                <a:latin typeface="Calibri"/>
              </a:rPr>
              <a:t>KEY POINT   </a:t>
            </a:r>
            <a:r>
              <a:rPr sz="1500">
                <a:solidFill>
                  <a:srgbClr val="222222"/>
                </a:solidFill>
                <a:latin typeface="Calibri"/>
              </a:rPr>
              <a:t>const means the compiler will stop you changing it by accident. Use it for anything that is a setting rather than a working value.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One trap worth meeting on day one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Nintendo Switch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39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7047088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  <a:defRPr sz="1200" b="1">
                <a:solidFill>
                  <a:srgbClr val="0E7C86"/>
                </a:solidFill>
                <a:latin typeface="Consolas"/>
              </a:defRPr>
            </a:pPr>
            <a:r>
              <a:rPr sz="1200" b="1">
                <a:solidFill>
                  <a:srgbClr val="0E7C86"/>
                </a:solidFill>
                <a:latin typeface="Consolas"/>
              </a:rPr>
              <a:t>from l1b_serial_monitor.ino</a:t>
            </a:r>
          </a:p>
        </p:txBody>
      </p:sp>
      <p:sp>
        <p:nvSpPr>
          <p:cNvPr id="7" name="CODE_PANEL"/>
          <p:cNvSpPr/>
          <p:nvPr/>
        </p:nvSpPr>
        <p:spPr>
          <a:xfrm>
            <a:off x="502920" y="1517904"/>
            <a:ext cx="7047088" cy="4745736"/>
          </a:xfrm>
          <a:prstGeom prst="roundRect">
            <a:avLst>
              <a:gd name="adj" fmla="val 4000"/>
            </a:avLst>
          </a:prstGeom>
          <a:solidFill>
            <a:srgbClr val="F4F6F8"/>
          </a:solidFill>
          <a:ln w="12700">
            <a:solidFill>
              <a:srgbClr val="C8D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tIns="91440" bIns="73152"/>
          <a:lstStyle/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Serial.print("7 / 2 = ");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 b="1">
                <a:solidFill>
                  <a:srgbClr val="0E7C86"/>
                </a:solidFill>
                <a:latin typeface="Consolas"/>
              </a:rPr>
              <a:t>Serial.println(7 / 2);          // prints 3, not 3.5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Serial.print("7.0 / 2 = ");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 b="1">
                <a:solidFill>
                  <a:srgbClr val="0E7C86"/>
                </a:solidFill>
                <a:latin typeface="Consolas"/>
              </a:rPr>
              <a:t>Serial.println(7.0 / 2);        // prints 3.50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Serial.print("7 % 2 = ");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Serial.println(7 % 2);          // prints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70048" y="1517904"/>
            <a:ext cx="3818727" cy="47457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Both 7 and 2 are whole numbers, so the ESP32 does whole-number division and throws the remainder away.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It does NOT round. 7 / 2 is 3, and 9 / 10 is 0.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Writing one number with a decimal point asks for decimal division instead.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The % operator gives you the remainder that the first division discarded.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This bites everybody eventually, usually when a speed calculation quietly comes out as zero.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Where we are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Nintendo Switch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40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240280"/>
            <a:ext cx="2120127" cy="1737360"/>
          </a:xfrm>
          <a:prstGeom prst="roundRect">
            <a:avLst>
              <a:gd name="adj" fmla="val 8000"/>
            </a:avLst>
          </a:prstGeom>
          <a:solidFill>
            <a:srgbClr val="EEF3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700" b="0">
                <a:solidFill>
                  <a:srgbClr val="1F3A5F"/>
                </a:solidFill>
                <a:latin typeface="Calibri"/>
              </a:defRPr>
            </a:pPr>
            <a:r>
              <a:rPr sz="1700" b="0">
                <a:solidFill>
                  <a:srgbClr val="1F3A5F"/>
                </a:solidFill>
                <a:latin typeface="Calibri"/>
              </a:rPr>
              <a:t>The vehicle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856232"/>
            <a:ext cx="2120127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  <a:defRPr sz="1200" b="1">
                <a:solidFill>
                  <a:srgbClr val="0E7C86"/>
                </a:solidFill>
                <a:latin typeface="Calibri"/>
              </a:defRPr>
            </a:pPr>
            <a:r>
              <a:rPr sz="1200" b="1">
                <a:solidFill>
                  <a:srgbClr val="0E7C86"/>
                </a:solidFill>
                <a:latin typeface="Calibri"/>
              </a:rPr>
              <a:t>done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769351" y="2240280"/>
            <a:ext cx="2120127" cy="1737360"/>
          </a:xfrm>
          <a:prstGeom prst="roundRect">
            <a:avLst>
              <a:gd name="adj" fmla="val 8000"/>
            </a:avLst>
          </a:prstGeom>
          <a:solidFill>
            <a:srgbClr val="EEF3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700" b="0">
                <a:solidFill>
                  <a:srgbClr val="1F3A5F"/>
                </a:solidFill>
                <a:latin typeface="Calibri"/>
              </a:defRPr>
            </a:pPr>
            <a:r>
              <a:rPr sz="1700" b="0">
                <a:solidFill>
                  <a:srgbClr val="1F3A5F"/>
                </a:solidFill>
                <a:latin typeface="Calibri"/>
              </a:rPr>
              <a:t>Setting up the IDE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69351" y="1856232"/>
            <a:ext cx="2120127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  <a:defRPr sz="1200" b="1">
                <a:solidFill>
                  <a:srgbClr val="0E7C86"/>
                </a:solidFill>
                <a:latin typeface="Calibri"/>
              </a:defRPr>
            </a:pPr>
            <a:r>
              <a:rPr sz="1200" b="1">
                <a:solidFill>
                  <a:srgbClr val="0E7C86"/>
                </a:solidFill>
                <a:latin typeface="Calibri"/>
              </a:rPr>
              <a:t>done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35782" y="2240280"/>
            <a:ext cx="2120127" cy="1737360"/>
          </a:xfrm>
          <a:prstGeom prst="roundRect">
            <a:avLst>
              <a:gd name="adj" fmla="val 8000"/>
            </a:avLst>
          </a:prstGeom>
          <a:solidFill>
            <a:srgbClr val="D6ECEE"/>
          </a:solidFill>
          <a:ln w="254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700" b="1">
                <a:solidFill>
                  <a:srgbClr val="1F3A5F"/>
                </a:solidFill>
                <a:latin typeface="Calibri"/>
              </a:defRPr>
            </a:pPr>
            <a:r>
              <a:rPr sz="1700" b="1">
                <a:solidFill>
                  <a:srgbClr val="1F3A5F"/>
                </a:solidFill>
                <a:latin typeface="Calibri"/>
              </a:rPr>
              <a:t>Your first circuit and program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35782" y="1856232"/>
            <a:ext cx="2120127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  <a:defRPr sz="1200" b="1">
                <a:solidFill>
                  <a:srgbClr val="0E7C86"/>
                </a:solidFill>
                <a:latin typeface="Calibri"/>
              </a:defRPr>
            </a:pPr>
            <a:r>
              <a:rPr sz="1200" b="1">
                <a:solidFill>
                  <a:srgbClr val="0E7C86"/>
                </a:solidFill>
                <a:latin typeface="Calibri"/>
              </a:rPr>
              <a:t>NOW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02213" y="2240280"/>
            <a:ext cx="2120127" cy="17373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700" b="0">
                <a:solidFill>
                  <a:srgbClr val="666666"/>
                </a:solidFill>
                <a:latin typeface="Calibri"/>
              </a:defRPr>
            </a:pPr>
            <a:r>
              <a:rPr sz="1700" b="0">
                <a:solidFill>
                  <a:srgbClr val="666666"/>
                </a:solidFill>
                <a:latin typeface="Calibri"/>
              </a:rPr>
              <a:t>Talking back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568644" y="2240280"/>
            <a:ext cx="2120127" cy="17373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700" b="0">
                <a:solidFill>
                  <a:srgbClr val="666666"/>
                </a:solidFill>
                <a:latin typeface="Calibri"/>
              </a:defRPr>
            </a:pPr>
            <a:r>
              <a:rPr sz="1700" b="0">
                <a:solidFill>
                  <a:srgbClr val="666666"/>
                </a:solidFill>
                <a:latin typeface="Calibri"/>
              </a:rPr>
              <a:t>Your first light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Do it now  -  make it talk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Nintendo Switch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41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188720"/>
            <a:ext cx="11185855" cy="530352"/>
          </a:xfrm>
          <a:prstGeom prst="roundRect">
            <a:avLst>
              <a:gd name="adj" fmla="val 4000"/>
            </a:avLst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UPLOAD AND RUN:   </a:t>
            </a:r>
            <a:r>
              <a:rPr sz="1500" b="1">
                <a:solidFill>
                  <a:srgbClr val="FFFFFF"/>
                </a:solidFill>
                <a:latin typeface="Consolas"/>
              </a:rPr>
              <a:t>l1b_serial_monitor</a:t>
            </a:r>
            <a:r>
              <a:rPr sz="1200">
                <a:solidFill>
                  <a:srgbClr val="FFFFFF"/>
                </a:solidFill>
                <a:latin typeface="Calibri"/>
              </a:rPr>
              <a:t>     (15 minutes)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901952"/>
            <a:ext cx="5387187" cy="43616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1.  Open and upload l1b_serial_monitor.ino.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2.  Open the Serial Monitor and set the baud rate to 115200.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3.  Press the EN (reset) button on the ESP32. Watch it start again.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4.  Change the greeting to your group's name and upload.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5.  Change the two numbers in the maths section. PREDICT the answers before you upload, then check.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6.  Add a line of your own that prints every time round the loop.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1587" y="1901952"/>
            <a:ext cx="5387187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  <a:defRPr sz="1800" b="1">
                <a:solidFill>
                  <a:srgbClr val="0E7C86"/>
                </a:solidFill>
                <a:latin typeface="Calibri"/>
              </a:defRPr>
            </a:pPr>
            <a:r>
              <a:rPr sz="1800" b="1">
                <a:solidFill>
                  <a:srgbClr val="0E7C86"/>
                </a:solidFill>
                <a:latin typeface="Calibri"/>
              </a:rPr>
              <a:t>What you should see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01587" y="2304288"/>
            <a:ext cx="5387187" cy="17785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A greeting, some arithmetic, then one line per second counting up.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01587" y="4119372"/>
            <a:ext cx="5387187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  <a:defRPr sz="1800" b="1">
                <a:solidFill>
                  <a:srgbClr val="0E7C86"/>
                </a:solidFill>
                <a:latin typeface="Calibri"/>
              </a:defRPr>
            </a:pPr>
            <a:r>
              <a:rPr sz="1800" b="1">
                <a:solidFill>
                  <a:srgbClr val="0E7C86"/>
                </a:solidFill>
                <a:latin typeface="Calibri"/>
              </a:rPr>
              <a:t>Answer these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1587" y="4521708"/>
            <a:ext cx="5387187" cy="17785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What is 9 / 10 in this program? What did you expect?</a:t>
            </a:r>
          </a:p>
          <a:p>
            <a:pPr algn="l">
              <a:lnSpc>
                <a:spcPct val="100000"/>
              </a:lnSpc>
              <a:spcAft>
                <a:spcPts val="2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What does millis() / 1000 give you, and why?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Nintendo Switch  |  Lesson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42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2194560"/>
            <a:ext cx="256032" cy="18288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286000"/>
            <a:ext cx="10515600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3600" b="1">
                <a:solidFill>
                  <a:srgbClr val="1F3A5F"/>
                </a:solidFill>
                <a:latin typeface="Calibri"/>
              </a:defRPr>
            </a:pPr>
            <a:r>
              <a:rPr sz="3600" b="1">
                <a:solidFill>
                  <a:srgbClr val="1F3A5F"/>
                </a:solidFill>
                <a:latin typeface="Calibri"/>
              </a:rPr>
              <a:t>Your first light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3520440"/>
            <a:ext cx="10515600" cy="914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  <a:defRPr sz="1600" b="0">
                <a:solidFill>
                  <a:srgbClr val="666666"/>
                </a:solidFill>
                <a:latin typeface="Calibri"/>
              </a:defRPr>
            </a:pPr>
            <a:r>
              <a:rPr sz="1600" b="0">
                <a:solidFill>
                  <a:srgbClr val="666666"/>
                </a:solidFill>
                <a:latin typeface="Calibri"/>
              </a:rPr>
              <a:t>About 20 minutes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An addressable LED is a small computer of its own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Nintendo Switch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43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An ordinary LED has two wires and is either on or off.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A NeoPixel has FOUR connections - power, ground, data in, data out - and a tiny controller chip inside it.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Send a colour message into the first one and it keeps the first message, then passes everything after it down the chain to the next.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That is why all 32 LEDs on the vehicle need only ONE signal wire, on GPIO 5.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It is also why they are NUMBERED, 0 to 31, in the order the data flows. You will map that out properly in Lesson 4.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Each one holds three LEDs: red, green and blue. Every colour you can make is a mixture of those three, each from 0 to 255.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303520"/>
            <a:ext cx="11185855" cy="960120"/>
          </a:xfrm>
          <a:prstGeom prst="roundRect">
            <a:avLst>
              <a:gd name="adj" fmla="val 4000"/>
            </a:avLst>
          </a:prstGeom>
          <a:solidFill>
            <a:srgbClr val="FDF3E3"/>
          </a:solidFill>
          <a:ln w="12700">
            <a:solidFill>
              <a:srgbClr val="B46A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l"/>
            <a:r>
              <a:rPr sz="1300" b="1">
                <a:solidFill>
                  <a:srgbClr val="B46A0F"/>
                </a:solidFill>
                <a:latin typeface="Calibri"/>
              </a:rPr>
              <a:t>WATCH OUT   </a:t>
            </a:r>
            <a:r>
              <a:rPr sz="1500">
                <a:solidFill>
                  <a:srgbClr val="222222"/>
                </a:solidFill>
                <a:latin typeface="Calibri"/>
              </a:rPr>
              <a:t>setPixelColor() only changes the ESP32's memory. Nothing happens on the vehicle until you call show(). This is the most common NeoPixel mistake there is.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l1c_first_pixel  -  the important lines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Nintendo Switch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44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7047088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  <a:defRPr sz="1200" b="1">
                <a:solidFill>
                  <a:srgbClr val="0E7C86"/>
                </a:solidFill>
                <a:latin typeface="Consolas"/>
              </a:defRPr>
            </a:pPr>
            <a:r>
              <a:rPr sz="1200" b="1">
                <a:solidFill>
                  <a:srgbClr val="0E7C86"/>
                </a:solidFill>
                <a:latin typeface="Consolas"/>
              </a:rPr>
              <a:t>l1c_first_pixel.ino</a:t>
            </a:r>
          </a:p>
        </p:txBody>
      </p:sp>
      <p:sp>
        <p:nvSpPr>
          <p:cNvPr id="7" name="CODE_PANEL"/>
          <p:cNvSpPr/>
          <p:nvPr/>
        </p:nvSpPr>
        <p:spPr>
          <a:xfrm>
            <a:off x="502920" y="1517904"/>
            <a:ext cx="7047088" cy="4745736"/>
          </a:xfrm>
          <a:prstGeom prst="roundRect">
            <a:avLst>
              <a:gd name="adj" fmla="val 4000"/>
            </a:avLst>
          </a:prstGeom>
          <a:solidFill>
            <a:srgbClr val="F4F6F8"/>
          </a:solidFill>
          <a:ln w="12700">
            <a:solidFill>
              <a:srgbClr val="C8D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tIns="91440" bIns="73152"/>
          <a:lstStyle/>
          <a:p>
            <a:pPr algn="l">
              <a:lnSpc>
                <a:spcPct val="100000"/>
              </a:lnSpc>
              <a:spcAft>
                <a:spcPts val="0"/>
              </a:spcAft>
              <a:defRPr sz="1200">
                <a:latin typeface="Consolas"/>
              </a:defRPr>
            </a:pPr>
            <a:r>
              <a:rPr sz="1200">
                <a:solidFill>
                  <a:srgbClr val="222222"/>
                </a:solidFill>
                <a:latin typeface="Consolas"/>
              </a:rPr>
              <a:t>#include &lt;Adafruit_NeoPixel.h&gt;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200">
                <a:latin typeface="Consolas"/>
              </a:defRPr>
            </a:pPr>
            <a:r>
              <a:rPr sz="1200">
                <a:solidFill>
                  <a:srgbClr val="222222"/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200">
                <a:latin typeface="Consolas"/>
              </a:defRPr>
            </a:pPr>
            <a:r>
              <a:rPr sz="1200">
                <a:solidFill>
                  <a:srgbClr val="222222"/>
                </a:solidFill>
                <a:latin typeface="Consolas"/>
              </a:rPr>
              <a:t>const int LED_PIN   = 5;      // all 32 LEDs are on GPIO 5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200">
                <a:latin typeface="Consolas"/>
              </a:defRPr>
            </a:pPr>
            <a:r>
              <a:rPr sz="1200">
                <a:solidFill>
                  <a:srgbClr val="222222"/>
                </a:solidFill>
                <a:latin typeface="Consolas"/>
              </a:rPr>
              <a:t>const int LED_COUNT = 32;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200">
                <a:latin typeface="Consolas"/>
              </a:defRPr>
            </a:pPr>
            <a:r>
              <a:rPr sz="1200">
                <a:solidFill>
                  <a:srgbClr val="222222"/>
                </a:solidFill>
                <a:latin typeface="Consolas"/>
              </a:rPr>
              <a:t>const int WHICH_LED = 0;      // the one we light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200">
                <a:latin typeface="Consolas"/>
              </a:defRPr>
            </a:pPr>
            <a:r>
              <a:rPr sz="1200">
                <a:solidFill>
                  <a:srgbClr val="222222"/>
                </a:solidFill>
                <a:latin typeface="Consolas"/>
              </a:rPr>
              <a:t>const int BRIGHTNESS = 60;    // master brightness, 0 to 255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200">
                <a:latin typeface="Consolas"/>
              </a:defRPr>
            </a:pPr>
            <a:r>
              <a:rPr sz="1200">
                <a:solidFill>
                  <a:srgbClr val="222222"/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200">
                <a:latin typeface="Consolas"/>
              </a:defRPr>
            </a:pPr>
            <a:r>
              <a:rPr sz="1200">
                <a:solidFill>
                  <a:srgbClr val="222222"/>
                </a:solidFill>
                <a:latin typeface="Consolas"/>
              </a:rPr>
              <a:t>Adafruit_NeoPixel strip(LED_COUNT, LED_PIN, NEO_GRB + NEO_KHZ800);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200">
                <a:latin typeface="Consolas"/>
              </a:defRPr>
            </a:pPr>
            <a:r>
              <a:rPr sz="1200">
                <a:solidFill>
                  <a:srgbClr val="222222"/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200">
                <a:latin typeface="Consolas"/>
              </a:defRPr>
            </a:pPr>
            <a:r>
              <a:rPr sz="1200">
                <a:solidFill>
                  <a:srgbClr val="222222"/>
                </a:solidFill>
                <a:latin typeface="Consolas"/>
              </a:rPr>
              <a:t>void setup() {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200">
                <a:latin typeface="Consolas"/>
              </a:defRPr>
            </a:pPr>
            <a:r>
              <a:rPr sz="1200">
                <a:solidFill>
                  <a:srgbClr val="222222"/>
                </a:solidFill>
                <a:latin typeface="Consolas"/>
              </a:rPr>
              <a:t>  strip.begin();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200">
                <a:latin typeface="Consolas"/>
              </a:defRPr>
            </a:pPr>
            <a:r>
              <a:rPr sz="1200">
                <a:solidFill>
                  <a:srgbClr val="222222"/>
                </a:solidFill>
                <a:latin typeface="Consolas"/>
              </a:rPr>
              <a:t>  strip.setBrightness(BRIGHTNESS);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200">
                <a:latin typeface="Consolas"/>
              </a:defRPr>
            </a:pPr>
            <a:r>
              <a:rPr sz="1200">
                <a:solidFill>
                  <a:srgbClr val="222222"/>
                </a:solidFill>
                <a:latin typeface="Consolas"/>
              </a:rPr>
              <a:t>  strip.clear();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200">
                <a:latin typeface="Consolas"/>
              </a:defRPr>
            </a:pPr>
            <a:r>
              <a:rPr sz="1200">
                <a:solidFill>
                  <a:srgbClr val="222222"/>
                </a:solidFill>
                <a:latin typeface="Consolas"/>
              </a:rPr>
              <a:t>  strip.show();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200">
                <a:latin typeface="Consolas"/>
              </a:defRPr>
            </a:pPr>
            <a:r>
              <a:rPr sz="1200">
                <a:solidFill>
                  <a:srgbClr val="222222"/>
                </a:solidFill>
                <a:latin typeface="Consolas"/>
              </a:rPr>
              <a:t>}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200">
                <a:latin typeface="Consolas"/>
              </a:defRPr>
            </a:pPr>
            <a:r>
              <a:rPr sz="1200">
                <a:solidFill>
                  <a:srgbClr val="222222"/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200">
                <a:latin typeface="Consolas"/>
              </a:defRPr>
            </a:pPr>
            <a:r>
              <a:rPr sz="1200">
                <a:solidFill>
                  <a:srgbClr val="222222"/>
                </a:solidFill>
                <a:latin typeface="Consolas"/>
              </a:rPr>
              <a:t>void loop() {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200">
                <a:latin typeface="Consolas"/>
              </a:defRPr>
            </a:pPr>
            <a:r>
              <a:rPr sz="1200">
                <a:solidFill>
                  <a:srgbClr val="222222"/>
                </a:solidFill>
                <a:latin typeface="Consolas"/>
              </a:rPr>
              <a:t>  strip.setPixelColor(WHICH_LED, strip.Color(255, 0, 0));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200">
                <a:latin typeface="Consolas"/>
              </a:defRPr>
            </a:pPr>
            <a:r>
              <a:rPr sz="1200" b="1">
                <a:solidFill>
                  <a:srgbClr val="0E7C86"/>
                </a:solidFill>
                <a:latin typeface="Consolas"/>
              </a:rPr>
              <a:t>  strip.show();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200">
                <a:latin typeface="Consolas"/>
              </a:defRPr>
            </a:pPr>
            <a:r>
              <a:rPr sz="1200">
                <a:solidFill>
                  <a:srgbClr val="222222"/>
                </a:solidFill>
                <a:latin typeface="Consolas"/>
              </a:rPr>
              <a:t>  delay(1000);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200">
                <a:latin typeface="Consolas"/>
              </a:defRPr>
            </a:pPr>
            <a:r>
              <a:rPr sz="1200">
                <a:solidFill>
                  <a:srgbClr val="222222"/>
                </a:solidFill>
                <a:latin typeface="Consolas"/>
              </a:rPr>
              <a:t>  ...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200">
                <a:latin typeface="Consolas"/>
              </a:defRPr>
            </a:pPr>
            <a:r>
              <a:rPr sz="1200">
                <a:solidFill>
                  <a:srgbClr val="222222"/>
                </a:solidFill>
                <a:latin typeface="Consolas"/>
              </a:rPr>
              <a:t>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70048" y="1517904"/>
            <a:ext cx="3818727" cy="47457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#include pulls in the library.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NEO_GRB says these LEDs want their colour data green first. NEO_KHZ800 is the speed it is clocked out at. Both are correct for the WS2812B parts we use.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strip.begin() wakes the strip up. Always needed.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Color(red, green, blue), each 0 to 255.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show() is what actually sends it.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Where we are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Nintendo Switch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45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240280"/>
            <a:ext cx="2120127" cy="1737360"/>
          </a:xfrm>
          <a:prstGeom prst="roundRect">
            <a:avLst>
              <a:gd name="adj" fmla="val 8000"/>
            </a:avLst>
          </a:prstGeom>
          <a:solidFill>
            <a:srgbClr val="EEF3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700" b="0">
                <a:solidFill>
                  <a:srgbClr val="1F3A5F"/>
                </a:solidFill>
                <a:latin typeface="Calibri"/>
              </a:defRPr>
            </a:pPr>
            <a:r>
              <a:rPr sz="1700" b="0">
                <a:solidFill>
                  <a:srgbClr val="1F3A5F"/>
                </a:solidFill>
                <a:latin typeface="Calibri"/>
              </a:rPr>
              <a:t>The vehicle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856232"/>
            <a:ext cx="2120127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  <a:defRPr sz="1200" b="1">
                <a:solidFill>
                  <a:srgbClr val="0E7C86"/>
                </a:solidFill>
                <a:latin typeface="Calibri"/>
              </a:defRPr>
            </a:pPr>
            <a:r>
              <a:rPr sz="1200" b="1">
                <a:solidFill>
                  <a:srgbClr val="0E7C86"/>
                </a:solidFill>
                <a:latin typeface="Calibri"/>
              </a:rPr>
              <a:t>done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769351" y="2240280"/>
            <a:ext cx="2120127" cy="1737360"/>
          </a:xfrm>
          <a:prstGeom prst="roundRect">
            <a:avLst>
              <a:gd name="adj" fmla="val 8000"/>
            </a:avLst>
          </a:prstGeom>
          <a:solidFill>
            <a:srgbClr val="EEF3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700" b="0">
                <a:solidFill>
                  <a:srgbClr val="1F3A5F"/>
                </a:solidFill>
                <a:latin typeface="Calibri"/>
              </a:defRPr>
            </a:pPr>
            <a:r>
              <a:rPr sz="1700" b="0">
                <a:solidFill>
                  <a:srgbClr val="1F3A5F"/>
                </a:solidFill>
                <a:latin typeface="Calibri"/>
              </a:rPr>
              <a:t>Setting up the IDE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69351" y="1856232"/>
            <a:ext cx="2120127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  <a:defRPr sz="1200" b="1">
                <a:solidFill>
                  <a:srgbClr val="0E7C86"/>
                </a:solidFill>
                <a:latin typeface="Calibri"/>
              </a:defRPr>
            </a:pPr>
            <a:r>
              <a:rPr sz="1200" b="1">
                <a:solidFill>
                  <a:srgbClr val="0E7C86"/>
                </a:solidFill>
                <a:latin typeface="Calibri"/>
              </a:rPr>
              <a:t>done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35782" y="2240280"/>
            <a:ext cx="2120127" cy="1737360"/>
          </a:xfrm>
          <a:prstGeom prst="roundRect">
            <a:avLst>
              <a:gd name="adj" fmla="val 8000"/>
            </a:avLst>
          </a:prstGeom>
          <a:solidFill>
            <a:srgbClr val="EEF3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700" b="0">
                <a:solidFill>
                  <a:srgbClr val="1F3A5F"/>
                </a:solidFill>
                <a:latin typeface="Calibri"/>
              </a:defRPr>
            </a:pPr>
            <a:r>
              <a:rPr sz="1700" b="0">
                <a:solidFill>
                  <a:srgbClr val="1F3A5F"/>
                </a:solidFill>
                <a:latin typeface="Calibri"/>
              </a:rPr>
              <a:t>Your first circuit and program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35782" y="1856232"/>
            <a:ext cx="2120127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  <a:defRPr sz="1200" b="1">
                <a:solidFill>
                  <a:srgbClr val="0E7C86"/>
                </a:solidFill>
                <a:latin typeface="Calibri"/>
              </a:defRPr>
            </a:pPr>
            <a:r>
              <a:rPr sz="1200" b="1">
                <a:solidFill>
                  <a:srgbClr val="0E7C86"/>
                </a:solidFill>
                <a:latin typeface="Calibri"/>
              </a:rPr>
              <a:t>done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02213" y="2240280"/>
            <a:ext cx="2120127" cy="1737360"/>
          </a:xfrm>
          <a:prstGeom prst="roundRect">
            <a:avLst>
              <a:gd name="adj" fmla="val 8000"/>
            </a:avLst>
          </a:prstGeom>
          <a:solidFill>
            <a:srgbClr val="D6ECEE"/>
          </a:solidFill>
          <a:ln w="254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700" b="1">
                <a:solidFill>
                  <a:srgbClr val="1F3A5F"/>
                </a:solidFill>
                <a:latin typeface="Calibri"/>
              </a:defRPr>
            </a:pPr>
            <a:r>
              <a:rPr sz="1700" b="1">
                <a:solidFill>
                  <a:srgbClr val="1F3A5F"/>
                </a:solidFill>
                <a:latin typeface="Calibri"/>
              </a:rPr>
              <a:t>Talking back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02213" y="1856232"/>
            <a:ext cx="2120127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  <a:defRPr sz="1200" b="1">
                <a:solidFill>
                  <a:srgbClr val="0E7C86"/>
                </a:solidFill>
                <a:latin typeface="Calibri"/>
              </a:defRPr>
            </a:pPr>
            <a:r>
              <a:rPr sz="1200" b="1">
                <a:solidFill>
                  <a:srgbClr val="0E7C86"/>
                </a:solidFill>
                <a:latin typeface="Calibri"/>
              </a:rPr>
              <a:t>NOW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568644" y="2240280"/>
            <a:ext cx="2120127" cy="17373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700" b="0">
                <a:solidFill>
                  <a:srgbClr val="666666"/>
                </a:solidFill>
                <a:latin typeface="Calibri"/>
              </a:defRPr>
            </a:pPr>
            <a:r>
              <a:rPr sz="1700" b="0">
                <a:solidFill>
                  <a:srgbClr val="666666"/>
                </a:solidFill>
                <a:latin typeface="Calibri"/>
              </a:rPr>
              <a:t>Your first light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Do it now  -  light one pixel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Nintendo Switch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46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188720"/>
            <a:ext cx="11185855" cy="530352"/>
          </a:xfrm>
          <a:prstGeom prst="roundRect">
            <a:avLst>
              <a:gd name="adj" fmla="val 4000"/>
            </a:avLst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UPLOAD AND RUN:   </a:t>
            </a:r>
            <a:r>
              <a:rPr sz="1500" b="1">
                <a:solidFill>
                  <a:srgbClr val="FFFFFF"/>
                </a:solidFill>
                <a:latin typeface="Consolas"/>
              </a:rPr>
              <a:t>l1c_first_pixel</a:t>
            </a:r>
            <a:r>
              <a:rPr sz="1200">
                <a:solidFill>
                  <a:srgbClr val="FFFFFF"/>
                </a:solidFill>
                <a:latin typeface="Calibri"/>
              </a:rPr>
              <a:t>     (15 minutes)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901952"/>
            <a:ext cx="5387187" cy="43616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1.  Upload it and find which physical LED comes on.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2.  Change WHICH_LED to 15, then 16, then 31, uploading each time.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3.  Draw the vehicle on paper and mark where LEDs 0, 8, 15, 16, 24 and 31 are. Keep that drawing - you need it in Lesson 4.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4.  Invent a colour with strip.Color(r, g, b). What do you get from (255, 255, 0)? From (128, 0, 128)?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5.  Delete the strip.show() line and upload. What happens?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1587" y="1901952"/>
            <a:ext cx="5387187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  <a:defRPr sz="1800" b="1">
                <a:solidFill>
                  <a:srgbClr val="0E7C86"/>
                </a:solidFill>
                <a:latin typeface="Calibri"/>
              </a:defRPr>
            </a:pPr>
            <a:r>
              <a:rPr sz="1800" b="1">
                <a:solidFill>
                  <a:srgbClr val="0E7C86"/>
                </a:solidFill>
                <a:latin typeface="Calibri"/>
              </a:rPr>
              <a:t>What you should see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01587" y="2304288"/>
            <a:ext cx="5387187" cy="17785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One LED cycling red, green, blue, white, off.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01587" y="4119372"/>
            <a:ext cx="5387187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  <a:defRPr sz="1800" b="1">
                <a:solidFill>
                  <a:srgbClr val="0E7C86"/>
                </a:solidFill>
                <a:latin typeface="Calibri"/>
              </a:defRPr>
            </a:pPr>
            <a:r>
              <a:rPr sz="1800" b="1">
                <a:solidFill>
                  <a:srgbClr val="0E7C86"/>
                </a:solidFill>
                <a:latin typeface="Calibri"/>
              </a:rPr>
              <a:t>Answer these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1587" y="4521708"/>
            <a:ext cx="5387187" cy="17785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Where is LED 0 on the vehicle? Where is LED 31?</a:t>
            </a:r>
          </a:p>
          <a:p>
            <a:pPr algn="l">
              <a:lnSpc>
                <a:spcPct val="100000"/>
              </a:lnSpc>
              <a:spcAft>
                <a:spcPts val="2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With show() deleted, why does nothing happen?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Safety, and looking after the vehicle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Nintendo Switch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47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LITHIUM BATTERIES. 4S, 3300 mAh, about 16 volts and a lot of stored energy. Never puncture, crush or short one. If a pack is swollen, hot, or has been dropped hard, stop and tell an instructor.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Charge only on the bench, only supervised, and never leave a charging pack unattended.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WHEELS OFF THE GROUND when you upload a change for the first time. A vehicle on a block cannot drive off the desk.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Keep fingers, hair, sleeves and USB cables away from the wheels.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Know where your power switch is BEFORE you start a program that drives.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Do not stare into the LEDs at full brightness from close up.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Carry the vehicle by the base plate, not by the top plate or the wires.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303520"/>
            <a:ext cx="11185855" cy="960120"/>
          </a:xfrm>
          <a:prstGeom prst="roundRect">
            <a:avLst>
              <a:gd name="adj" fmla="val 4000"/>
            </a:avLst>
          </a:prstGeom>
          <a:solidFill>
            <a:srgbClr val="FBECEC"/>
          </a:solidFill>
          <a:ln w="12700">
            <a:solidFill>
              <a:srgbClr val="A32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l"/>
            <a:r>
              <a:rPr sz="1300" b="1">
                <a:solidFill>
                  <a:srgbClr val="A32A2A"/>
                </a:solidFill>
                <a:latin typeface="Calibri"/>
              </a:rPr>
              <a:t>SAFETY   </a:t>
            </a:r>
            <a:r>
              <a:rPr sz="1500">
                <a:solidFill>
                  <a:srgbClr val="222222"/>
                </a:solidFill>
                <a:latin typeface="Calibri"/>
              </a:rPr>
              <a:t>Everything in Lesson 2 onwards moves. This page stops being theoretical next lesson.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Check yourself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Nintendo Switch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48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600" b="0">
                <a:solidFill>
                  <a:srgbClr val="666666"/>
                </a:solidFill>
                <a:latin typeface="Calibri"/>
              </a:defRPr>
            </a:pPr>
            <a:r>
              <a:rPr sz="1600" b="0">
                <a:solidFill>
                  <a:srgbClr val="666666"/>
                </a:solidFill>
                <a:latin typeface="Calibri"/>
              </a:rPr>
              <a:t>Next lesson: motors. Bring the drawing you made of the LED numbers.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664208"/>
            <a:ext cx="11185855" cy="45994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10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1.  Name the three parts of an Arduino program, and say how many times each one runs.</a:t>
            </a:r>
          </a:p>
          <a:p>
            <a:pPr algn="l">
              <a:lnSpc>
                <a:spcPct val="100000"/>
              </a:lnSpc>
              <a:spcAft>
                <a:spcPts val="10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2.  What does pinMode(LED_PIN, OUTPUT) do, and what happens if you leave it out?</a:t>
            </a:r>
          </a:p>
          <a:p>
            <a:pPr algn="l">
              <a:lnSpc>
                <a:spcPct val="100000"/>
              </a:lnSpc>
              <a:spcAft>
                <a:spcPts val="10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3.  Your Serial Monitor shows rows of strange characters. What is almost certainly wrong?</a:t>
            </a:r>
          </a:p>
          <a:p>
            <a:pPr algn="l">
              <a:lnSpc>
                <a:spcPct val="100000"/>
              </a:lnSpc>
              <a:spcAft>
                <a:spcPts val="10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4.  What does 7 / 2 evaluate to in C++? What about 7.0 / 2?</a:t>
            </a:r>
          </a:p>
          <a:p>
            <a:pPr algn="l">
              <a:lnSpc>
                <a:spcPct val="100000"/>
              </a:lnSpc>
              <a:spcAft>
                <a:spcPts val="10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5.  All 32 LEDs share one data wire. How does LED number 20 know that a message is for it?</a:t>
            </a:r>
          </a:p>
          <a:p>
            <a:pPr algn="l">
              <a:lnSpc>
                <a:spcPct val="100000"/>
              </a:lnSpc>
              <a:spcAft>
                <a:spcPts val="10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6.  You call setPixelColor() and nothing lights up. What did you forget?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