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Mechatronics, the Pathfinder vehicle, the Arduino IDE, and your first three programs.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24528"/>
            <a:ext cx="64922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Porpoise Robotics  -  porpoiserobotics.org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Kevin P. Bowen, President  -  kbowen6@icloud.com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Three hours.  Work in groups of three.</a:t>
            </a:r>
          </a:p>
        </p:txBody>
      </p:sp>
      <p:pic>
        <p:nvPicPr>
          <p:cNvPr id="7" name="Picture 6" descr="vehicle-front-blue-led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371600"/>
            <a:ext cx="4480560" cy="33604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Welcome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a five-lesson course. Each lesson is three hours, and each one ends with your vehicle doing something it could not do at the start.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Please make it interactive. Questions, comments and better ideas are all welcome, and the best ones usually come from somebody who has just broken something.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 work in groups of three and share a vehicle. There are more vehicles if your group wants one each.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 will read programs, change them, upload them, and see what happens. Modifying a working program is the fastest way to learn to write one.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Very often the vehicle will do exactly what you told it to do, and not at all what you meant. That is not a setback. That is the job.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By the end of Lesson 5 you will be driving a vehicle you understand line by line, and racing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course goes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3" cy="1790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8581"/>
                <a:gridCol w="4142909"/>
                <a:gridCol w="6214363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Lesson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Subject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your vehicle can do by the end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Introduction and the toolchain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Blink an LED, print to the screen, light one 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Motor control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Drive itself round a square you calculated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Controller programming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Be driven by you, with a thumbstick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NeoPixel LEDs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Run headlights, signals and light patterns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Maneuvers with lights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Everything at once - and race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 lesson builds directly on the one before it. Nothing gets thrown away.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2686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What mechatronics is, and what a Pathfinder is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0:35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tour of the vehicle: computer, motors, lights, battery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Install the Arduino IDE, the board package and the libraries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1:35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1:45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three parts of every program.  Upload l1a_blink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Talking back: the Serial Monitor.  Upload l1b_serial_monitor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2:35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Your first light.  Upload l1c_first_pixel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2:55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Safety, batteries, and what to expect next week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Mechatronics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674602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Much of the design and building of robots belongs to a field called MECHATRONICS - mechanical systems, electrical systems, and the computers that control them, treated as one thing.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An unmanned ground vehicle is one small corner of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What you learn here applies to the rest: factory automation, appliances, printers, cars, aircraft, and undersea vehicles.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The reason we teach it with a rover is that you can watch a rover, reach it when it gets stuck, and a mistake means a bumped wall rather than a flooded electronics bay.</a:t>
            </a:r>
          </a:p>
        </p:txBody>
      </p:sp>
      <p:pic>
        <p:nvPicPr>
          <p:cNvPr id="7" name="Picture 6" descr="engineering-to-mechatron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3891" y="1188720"/>
            <a:ext cx="3904275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163891" y="5102352"/>
            <a:ext cx="390427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Engineering, narrowing down to what you are about to build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STEM, and where it shows up in this course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Maths and science you will actually 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Circumference and pi, to work out how far one wheel turn takes you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Distance = speed x time, for every pre-programmed maneuver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Ratios and percentages, for duty cycle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Linear mapping, to turn a stick reading into a motor speed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Ohm's law and power, for the LED current budget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Wavelength and colour perception, for the lighting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Trigonometry, when you plot where a maneuver ends 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Engineering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Reading somebody else's program before changing it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Changing ONE thing at a time and observing the result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Measuring rather than guessing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Writing down what you measured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Working out whether a fault is mechanical, electrical or software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Version control, so a working program is never lost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STEM is not four subjects. It is using maths and science to build something that has to actually work.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Pathfinder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A fast, rugged, four-wheel-drive vehicle with an ESP32 computer, four independently driven motors, 32 programmable LEDs, four servo outputs and a rechargeable lithium battery.</a:t>
            </a:r>
          </a:p>
        </p:txBody>
      </p:sp>
      <p:pic>
        <p:nvPicPr>
          <p:cNvPr id="7" name="Picture 6" descr="vehicle-front-blue-led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3543" y="2267712"/>
            <a:ext cx="4864608" cy="36484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5971032"/>
            <a:ext cx="1118585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Four-wheel drive, computer controlled, 32 addressable LEDs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is on the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6122036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ESP32 computer - a small, fast microcontroller with Bluetooth and Wi-Fi built in. Your program runs here.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Four brushed DC motors, each with its own DRV8871 H-bridge driver.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32 WS2812B addressable LEDs, in two bars of 16.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Four servo outputs on the top plate.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A 4S 3300 mAh lithium polymer battery, about 16 volts charged.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A top plate with a breadboard area, for sensors you add later.</a:t>
            </a:r>
          </a:p>
        </p:txBody>
      </p:sp>
      <p:pic>
        <p:nvPicPr>
          <p:cNvPr id="7" name="Picture 6" descr="vehicle-top-esp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0716" y="1188720"/>
            <a:ext cx="4698059" cy="37553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990716" y="5017228"/>
            <a:ext cx="4698059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Top view: the ESP32 module and the battery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No steering rack. It turns by driving one side faster than the other, like a tank. That matters from Lesson 2 onwards.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Which GPIO pin does what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Keep this page. Every program in the course refers back to it.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3" cy="2686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5982"/>
                <a:gridCol w="4386609"/>
                <a:gridCol w="5483262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Pin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it drives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12, 13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Front left motor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Two pins per motor: one per direction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18, 19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Rear left motor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22, 23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Front right motor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16, 17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Rear right motor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All 32 NeoPixel LEDs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One wire drives the whole chain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25, 26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Servos 1 and 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27 and 14 are servos 3 and 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blue LED on the ESP32 module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Your first program uses this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BOOT button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Used for pairing on the advanced program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"GPIO" is General Purpose Input/Output: a pin your program can switch on and off, or read.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 command gets from your thumb to a wheel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500" b="1">
                <a:solidFill>
                  <a:srgbClr val="1F3A5F"/>
                </a:solidFill>
                <a:latin typeface="Calibri"/>
              </a:defRPr>
            </a:pPr>
            <a:r>
              <a:rPr sz="1500" b="1">
                <a:solidFill>
                  <a:srgbClr val="1F3A5F"/>
                </a:solidFill>
                <a:latin typeface="Calibri"/>
              </a:rPr>
              <a:t>Switch controller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9464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you move a stick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645920"/>
            <a:ext cx="14630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500" b="1">
                <a:solidFill>
                  <a:srgbClr val="1F3A5F"/>
                </a:solidFill>
                <a:latin typeface="Calibri"/>
              </a:defRPr>
            </a:pPr>
            <a:r>
              <a:rPr sz="1500" b="1">
                <a:solidFill>
                  <a:srgbClr val="1F3A5F"/>
                </a:solidFill>
                <a:latin typeface="Calibri"/>
              </a:rPr>
              <a:t>Bluetooth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569464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radio, 2.4 GHz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645920"/>
            <a:ext cx="173736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500" b="1">
                <a:solidFill>
                  <a:srgbClr val="1F3A5F"/>
                </a:solidFill>
                <a:latin typeface="Calibri"/>
              </a:defRPr>
            </a:pPr>
            <a:r>
              <a:rPr sz="1500" b="1">
                <a:solidFill>
                  <a:srgbClr val="1F3A5F"/>
                </a:solidFill>
                <a:latin typeface="Calibri"/>
              </a:rPr>
              <a:t>ESP32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569464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your program runs here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2316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29768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269480" y="1280160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DRV8871 drivers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4 motors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205740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000" b="0">
                <a:solidFill>
                  <a:srgbClr val="666666"/>
                </a:solidFill>
                <a:latin typeface="Consolas"/>
              </a:defRPr>
            </a:pPr>
            <a:r>
              <a:rPr sz="1000" b="0">
                <a:solidFill>
                  <a:srgbClr val="666666"/>
                </a:solidFill>
                <a:latin typeface="Consolas"/>
              </a:rPr>
              <a:t>12 13 16 17 18 19 22 23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6858000" y="1655064"/>
            <a:ext cx="411480" cy="42519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269480" y="2414016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WS2812B strip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32 LEDs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191256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000" b="0">
                <a:solidFill>
                  <a:srgbClr val="666666"/>
                </a:solidFill>
                <a:latin typeface="Consolas"/>
              </a:defRPr>
            </a:pPr>
            <a:r>
              <a:rPr sz="1000" b="0">
                <a:solidFill>
                  <a:srgbClr val="666666"/>
                </a:solidFill>
                <a:latin typeface="Consolas"/>
              </a:rPr>
              <a:t>GPIO 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0" y="2080260"/>
            <a:ext cx="411480" cy="708660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269480" y="3547872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Servo headers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up to 4 servos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32511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000" b="0">
                <a:solidFill>
                  <a:srgbClr val="666666"/>
                </a:solidFill>
                <a:latin typeface="Consolas"/>
              </a:defRPr>
            </a:pPr>
            <a:r>
              <a:rPr sz="1000" b="0">
                <a:solidFill>
                  <a:srgbClr val="666666"/>
                </a:solidFill>
                <a:latin typeface="Consolas"/>
              </a:rPr>
              <a:t>25 26 27 14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0" y="2080260"/>
            <a:ext cx="411480" cy="184251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the vehicle can do happens on one of those three outputs. The rest of the program is deciding what to send.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a microcontroller actually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The ESP32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5364327" cy="4617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A whole computer on one chip: processor, memory, storage, and the hardware to drive pins.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240 MHz, dual core, with Wi-Fi and Bluetooth built in.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It runs ONE program. There is no desktop, no windows, no files.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It starts running the instant it has power, and stops when it does not.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We compile programs in C++ on a laptop and send them down the USB cable into its flash memory.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How that differs from your laptop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645920"/>
            <a:ext cx="5364327" cy="4617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Your laptop runs hundreds of programs at once and shares its processor between them.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The ESP32 gives your program the whole machine. Nothing interrupts you, and nothing rescues you either.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If your program stops, the vehicle stops. If your program waits, the vehicle waits. You will meet that head-on in Lesson 5.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There is no error message on a screen unless you print one. That is why the Serial Monitor matters so much.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Setting up the Arduino 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35 minutes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35 minutes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1  -  install the Arduino 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Go to arduino.cc/en/software and download the Arduino IDE, version 2.3.4 or newer.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Windows: install it and sign in to your Microsoft account if it asks. You can ignore the donation and newsletter prompts.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Mac: open the downloaded .zip and drag Arduino.app into your Applications folder.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needs about 500 MB of disk space.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IDE is where you will write code, compile it, upload it to the vehicle, and read what the vehicle prints back.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"Compile" means turn your C++ into the machine language the ESP32 runs. "Upload" means send that down the USB cable.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If the IDE will not install, that is a school IT problem, not a robotics problem. Pair up with a neighbour and carry 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2  -  install the board package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The Arduino IDE does not know about the ESP32 until you add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File &gt; Preferences &gt; "Additional boards manager URLs".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Paste this in (one line, no spaces):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https://raw.githubusercontent.com/ricardoquesada/esp32-arduino-lib-builder/master/bluepad32_files/package_esp32_bluepad32_index.json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Click OK.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Tools &gt; Board &gt; Boards Manager, search "bluepad32", install it. Choose version 4.1.0.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Tools &gt; Board &gt; esp32_bluepad32 &gt; "ESP32 Dev Module".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Package:  esp32_bluepad32  by Ricardo Quesada,  version 4.1.0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400">
                <a:solidFill>
                  <a:srgbClr val="222222"/>
                </a:solidFill>
                <a:latin typeface="Calibri"/>
              </a:rPr>
              <a:t>You now have TWO entries called "ESP32 Dev Module" - one under "esp32" and one under "esp32_bluepad32". Everything on this track needs the esp32_bluepad32 one. A pile of errors that make no sense usually means the wrong one is selected.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3  -  select the board and the 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BOARD:  Tools &gt; Board &gt; esp32_bluepad32 &gt; "ESP32 Dev Module"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Then set Upload Speed to 921600 and Flash Frequency to 80 MHz.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PORT:  plug the vehicle into your computer with a micro USB cable FIRST, then choose Tools &gt; Port.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Windows: the next available COM port, such as COM4.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Mac: something like /dev/cu.usbserial-14130.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no port appears at all, the usual causes are: the vehicle is not switched on, or the cable is a charge-only cable with no data wires in it. Try a different cable before you try anything else.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A charge-only USB cable looks identical to a real one and is the single most common reason a board "will not connect".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4  -  install the libraries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LIBRARY is code somebody else already wrote and tested, which your program can call instead of you writing it again.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Tools &gt; Manage Libraries, then search and click Install.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"Adafruit NeoPixel" by Adafruit  -  drives the 32 LEDs.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none - Bluepad32 arrives with the board package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 still need "Adafruit NeoPixel" by Adafruit for the lighting lessons.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Without the NeoPixel library, nothing in Lesson 4 will compile.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Your first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25 minutes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25 minutes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Every program has the same three parts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3520440" cy="457200"/>
          </a:xfrm>
          <a:prstGeom prst="roundRect">
            <a:avLst>
              <a:gd name="adj" fmla="val 12000"/>
            </a:avLst>
          </a:prstGeom>
          <a:solidFill>
            <a:srgbClr val="E8ECF0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1">
                <a:solidFill>
                  <a:srgbClr val="1F3A5F"/>
                </a:solidFill>
                <a:latin typeface="Calibri"/>
              </a:defRPr>
            </a:pPr>
            <a:r>
              <a:rPr sz="1400" b="1">
                <a:solidFill>
                  <a:srgbClr val="1F3A5F"/>
                </a:solidFill>
                <a:latin typeface="Calibri"/>
              </a:rPr>
              <a:t>1.  THE TOP OF THE 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47672"/>
            <a:ext cx="3337560" cy="4457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Libraries, constants, variables.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Read before anything runs.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743200"/>
            <a:ext cx="3520440" cy="137160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#include &lt;Adafruit_NeoPixel.h&gt;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const int LED_PIN = 5;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069080" y="2788920"/>
            <a:ext cx="201168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315968" y="1325880"/>
            <a:ext cx="3520440" cy="45720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1">
                <a:solidFill>
                  <a:srgbClr val="1F3A5F"/>
                </a:solidFill>
                <a:latin typeface="Calibri"/>
              </a:defRPr>
            </a:pPr>
            <a:r>
              <a:rPr sz="1400" b="1">
                <a:solidFill>
                  <a:srgbClr val="1F3A5F"/>
                </a:solidFill>
                <a:latin typeface="Calibri"/>
              </a:rPr>
              <a:t>2.  setup()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1947672"/>
            <a:ext cx="3337560" cy="4457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Runs ONCE, at power-up or reset.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Get the hardware ready.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2743200"/>
            <a:ext cx="3520440" cy="137160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  pinMode(LED_PIN, OUTPUT);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82128" y="2788920"/>
            <a:ext cx="201168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29016" y="1325880"/>
            <a:ext cx="3520440" cy="457200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1">
                <a:solidFill>
                  <a:srgbClr val="1F3A5F"/>
                </a:solidFill>
                <a:latin typeface="Calibri"/>
              </a:defRPr>
            </a:pPr>
            <a:r>
              <a:rPr sz="1400" b="1">
                <a:solidFill>
                  <a:srgbClr val="1F3A5F"/>
                </a:solidFill>
                <a:latin typeface="Calibri"/>
              </a:rPr>
              <a:t>3.  loop()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1947672"/>
            <a:ext cx="3337560" cy="4457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Runs OVER AND OVER, forever,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until the power goes off.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29016" y="2743200"/>
            <a:ext cx="3520440" cy="137160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  digitalWrite(LED_PIN, HIGH);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  delay(1000);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9016" y="4251960"/>
            <a:ext cx="35204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1">
                <a:solidFill>
                  <a:srgbClr val="B46A0F"/>
                </a:solidFill>
                <a:latin typeface="Calibri"/>
              </a:defRPr>
            </a:pPr>
            <a:r>
              <a:rPr sz="1100" b="1">
                <a:solidFill>
                  <a:srgbClr val="B46A0F"/>
                </a:solidFill>
                <a:latin typeface="Calibri"/>
              </a:rPr>
              <a:t>and round again, thousands of times a second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Ingredients, then preparation, then cooking. A 500-line vehicle program has exactly this shape - there is just more in each part.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l1a_blink  -  the whole program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l1a_blink.ino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const int LED_PIN = 2;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const int BLINK_MS = 1000;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pinMode(LED_PIN, OUTPUT);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digitalWrite(LED_PIN, HIGH);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delay(BLINK_MS);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digitalWrite(LED_PIN, LOW);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delay(BLINK_MS);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const int  says this is a whole number that never changes. Naming it means you change it in one place.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pinMode(..., OUTPUT)  tells the ESP32 we intend to WRITE to that pin. Without it, digitalWrite does nothing.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HIGH puts 3.3 volts on the pin.  LOW puts 0 volts on it. That is the entire idea of digital output.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delay(1000)  waits one second. Remember this line - in Lesson 5 we will throw it away.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blink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l1a_blink</a:t>
            </a:r>
            <a:r>
              <a:rPr sz="1200">
                <a:solidFill>
                  <a:srgbClr val="FFFFFF"/>
                </a:solidFill>
                <a:latin typeface="Calibri"/>
              </a:rPr>
              <a:t>     (15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File &gt; Open, and find l1a_blink.ino.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Click the tick to VERIFY. It should compile with no errors.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Click the arrow to UPLOAD. Do not unplug during upload.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Wait for "Done uploading" and look at the ESP32 module.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Then change things: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Set BLINK_MS to 100. Upload. Then 2000. Upload.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6.  Delete ONE of the two delay lines and upload.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small blue LED on the ESP32 module itself, one second on and one second 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0108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448556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Which makes it blink faster, a bigger number or a smaller one? Why?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With one delay deleted, the LED is still blinking. How fast, and why can you barely see it?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Making the vehicle talk 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25 minutes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25 minutes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Serial Monitor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ESP32 has no screen. If you want to know what it is thinking, it has to tell you - down the same USB cable you upload through.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Serial.begin(115200);   opens the connection. Put it in setup().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Serial.print("text");    prints and stays on the same line.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Serial.println(x);       prints and moves to a new line.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Open it with Tools &gt; Serial Monitor, or the magnifying glass at the top right.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baud rate box at the bottom MUST say 115200, because that is the number in Serial.begin(). Rows of nonsense characters mean the two numbers disagree.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When something does not work, print the numbers your program is working from. That will find the fault faster than staring at the code will.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 program from here on prints something. Get in the habit of having the Serial Monitor open.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Variables: named boxes that hold a value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2" cy="2012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4309"/>
                <a:gridCol w="3107181"/>
                <a:gridCol w="3107181"/>
                <a:gridCol w="3107181"/>
              </a:tblGrid>
              <a:tr h="335491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Holds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Used for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33549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whole number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int loopCount = 0;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Speeds, pin numbers, counts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3549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float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number with a decimal point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float volts = 16.8;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Voltages, measurements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3549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bool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Only true or false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bool lightsOn = true;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Switches and flags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3549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const int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whole number that never changes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const int LED_PIN = 2;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Pins and settings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35495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unsigned long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big whole number, never negative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unsigned long now;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millis(), in Lesson 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const means the compiler will stop you changing it by accident. Use it for anything that is a setting rather than a working value.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One trap worth meeting on day 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from l1b_serial_monitor.ino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Serial.print("7 / 2 = ");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Serial.println(7 / 2);          // prints 3, not 3.5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Serial.print("7.0 / 2 = ");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Serial.println(7.0 / 2);        // prints 3.50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Serial.print("7 % 2 = ");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Serial.println(7 % 2);          // prints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Both 7 and 2 are whole numbers, so the ESP32 does whole-number division and throws the remainder away.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It does NOT round. 7 / 2 is 3, and 9 / 10 is 0.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Writing one number with a decimal point asks for decimal division instead.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% operator gives you the remainder that the first division discarded.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This bites everybody eventually, usually when a speed calculation quietly comes out as zero.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make it talk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l1b_serial_monitor</a:t>
            </a:r>
            <a:r>
              <a:rPr sz="1200">
                <a:solidFill>
                  <a:srgbClr val="FFFFFF"/>
                </a:solidFill>
                <a:latin typeface="Calibri"/>
              </a:rPr>
              <a:t>     (15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Open and upload l1b_serial_monitor.ino.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Open the Serial Monitor and set the baud rate to 115200.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Press the EN (reset) button on the ESP32. Watch it start again.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Change the greeting to your group's name and upload.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Change the two numbers in the maths section. PREDICT the answers before you upload, then check.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6.  Add a line of your own that prints every time round the loop.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greeting, some arithmetic, then one line per second counting up.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0108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448556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What is 9 / 10 in this program? What did you expect?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What does millis() / 1000 give you, and why?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Your first light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20 minutes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20 minutes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An addressable LED is a small computer of its own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 ordinary LED has two wires and is either on or off.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NeoPixel has FOUR connections - power, ground, data in, data out - and a tiny controller chip inside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Send a colour message into the first one and it keeps the first message, then passes everything after it down the chain to the next.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That is why all 32 LEDs on the vehicle need only ONE signal wire, on GPIO 5.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is also why they are NUMBERED, 0 to 31, in the order the data flows. You will map that out properly in Lesson 4.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one holds three LEDs: red, green and blue. Every colour you can make is a mixture of those three, each from 0 to 255.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setPixelColor() only changes the ESP32's memory. Nothing happens on the vehicle until you call show(). This is the most common NeoPixel mistake there is.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l1c_first_pixel  -  the important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l1c_first_pixel.ino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#include &lt;Adafruit_NeoPixel.h&gt;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const int LED_PIN   = 5;      // all 32 LEDs are on GPIO 5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const int LED_COUNT = 32;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const int WHICH_LED = 0;      // the one we light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Adafruit_NeoPixel strip(LED_COUNT, LED_PIN,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                      NEO_GRB + NEO_KHZ800);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strip.begin();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strip.setBrightness(60);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strip.clear();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strip.show();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strip.setPixelColor(WHICH_LED, strip.Color(255, 0, 0));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  strip.show();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delay(1000);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#include pulls in the library.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NEO_GRB says these LEDs want their colour data green first. NEO_KHZ800 is the speed it is clocked out at. Both are correct for the WS2812B parts we use.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strip.begin() wakes the strip up. Always needed.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Color(red, green, blue), each 0 to 255.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show() is what actually sends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light one pixel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l1c_first_pixel</a:t>
            </a:r>
            <a:r>
              <a:rPr sz="1200">
                <a:solidFill>
                  <a:srgbClr val="FFFFFF"/>
                </a:solidFill>
                <a:latin typeface="Calibri"/>
              </a:rPr>
              <a:t>     (15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Upload it and find which physical LED comes on.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Change WHICH_LED to 15, then 16, then 31, uploading each time.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Draw the vehicle on paper and mark where LEDs 0, 8, 15, 16, 24 and 31 are. Keep that drawing - you need it in Lesson 4.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Invent a colour with strip.Color(r, g, b). What do you get from (255, 255, 0)? From (128, 0, 128)?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Delete the strip.show() line and upload. What happens?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One LED cycling red, green, blue, white, 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0108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448556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Where is LED 0 on the vehicle? Where is LED 31?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With show() deleted, why does nothing happen?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Safety, and looking after the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LITHIUM BATTERIES. 4S, 3300 mAh, about 16 volts and a lot of stored energy. Never puncture, crush or short one. If a pack is swollen, hot, or has been dropped hard, stop and tell an instructor.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Charge only on the bench, only supervised, and never leave a charging pack unattended.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WHEELS OFF THE GROUND when you upload a change for the first time. A vehicle on a block cannot drive off the desk.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Keep fingers, hair, sleeves and USB cables away from the wheels.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Know where your power switch is BEFORE you start a program that drives.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Do not stare into the LEDs at full brightness from close up.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Carry the vehicle by the base plate, not by the top plate or the wires.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in Lesson 2 onwards moves. This page stops being theoretical next week.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week: motors. Bring the drawing you made of the LED numbers.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1.  Name the three parts of an Arduino program, and say how many times each one runs.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2.  What does pinMode(LED_PIN, OUTPUT) do, and what happens if you leave it out?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3.  Your Serial Monitor shows rows of strange characters. What is almost certainly wrong?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4.  What does 7 / 2 evaluate to in C++? What about 7.0 / 2?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5.  All 32 LEDs share one data wire. How does LED number 20 know that a message is for it?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6.  You call setPixelColor() and nothing lights up. What did you forget?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