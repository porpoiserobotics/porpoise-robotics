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Both photographs are taken from the front, so you can only see the front bar. Say what the camera cannot show: the rear bar is indicating on the same side at the same time, the way a car does. It is one SIDE of the vehicle lighting up, not one end.</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The sketches are grouped by lesson because they need the same things. The one row worth pointing at is l1c_first_pixel: Lesson 1 is the only lesson where the three sketches do not all need the same library.</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turn-signal-left.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3886200"/>
        </p:xfrm>
        <a:graphic>
          <a:graphicData uri="http://schemas.openxmlformats.org/drawingml/2006/table">
            <a:tbl>
              <a:tblPr firstRow="1" bandRow="1">
                <a:tableStyleId>{5C22544A-7EE6-4342-B048-85BDC9FD1C3A}</a:tableStyleId>
              </a:tblPr>
              <a:tblGrid>
                <a:gridCol w="1092200"/>
                <a:gridCol w="4056220"/>
                <a:gridCol w="6037434"/>
              </a:tblGrid>
              <a:tr h="647700">
                <a:tc>
                  <a:txBody>
                    <a:bodyPr/>
                    <a:lstStyle/>
                    <a:p>
                      <a:r>
                        <a:rPr sz="2400" b="1">
                          <a:solidFill>
                            <a:srgbClr val="FFFFFF"/>
                          </a:solidFill>
                          <a:latin typeface="Calibri"/>
                        </a:rPr>
                        <a:t>Lesson</a:t>
                      </a:r>
                    </a:p>
                  </a:txBody>
                  <a:tcPr marL="73152" marT="18288" marB="18288">
                    <a:solidFill>
                      <a:srgbClr val="1F3A5F"/>
                    </a:solidFill>
                  </a:tcPr>
                </a:tc>
                <a:tc>
                  <a:txBody>
                    <a:bodyPr/>
                    <a:lstStyle/>
                    <a:p>
                      <a:r>
                        <a:rPr sz="2400" b="1">
                          <a:solidFill>
                            <a:srgbClr val="FFFFFF"/>
                          </a:solidFill>
                          <a:latin typeface="Calibri"/>
                        </a:rPr>
                        <a:t>Subject</a:t>
                      </a:r>
                    </a:p>
                  </a:txBody>
                  <a:tcPr marL="73152" marT="18288" marB="18288">
                    <a:solidFill>
                      <a:srgbClr val="1F3A5F"/>
                    </a:solidFill>
                  </a:tcPr>
                </a:tc>
                <a:tc>
                  <a:txBody>
                    <a:bodyPr/>
                    <a:lstStyle/>
                    <a:p>
                      <a:r>
                        <a:rPr sz="2400" b="1">
                          <a:solidFill>
                            <a:srgbClr val="FFFFFF"/>
                          </a:solidFill>
                          <a:latin typeface="Calibri"/>
                        </a:rPr>
                        <a:t>What your vehicle can do by the end</a:t>
                      </a:r>
                    </a:p>
                  </a:txBody>
                  <a:tcPr marL="73152" marT="18288" marB="18288">
                    <a:solidFill>
                      <a:srgbClr val="1F3A5F"/>
                    </a:solidFill>
                  </a:tcPr>
                </a:tc>
              </a:tr>
              <a:tr h="647700">
                <a:tc>
                  <a:txBody>
                    <a:bodyPr/>
                    <a:lstStyle/>
                    <a:p>
                      <a:r>
                        <a:rPr sz="2400">
                          <a:solidFill>
                            <a:srgbClr val="222222"/>
                          </a:solidFill>
                          <a:latin typeface="Calibri"/>
                        </a:rPr>
                        <a:t>1</a:t>
                      </a:r>
                    </a:p>
                  </a:txBody>
                  <a:tcPr marL="73152" marT="18288" marB="18288">
                    <a:solidFill>
                      <a:srgbClr val="FFFFFF"/>
                    </a:solidFill>
                  </a:tcPr>
                </a:tc>
                <a:tc>
                  <a:txBody>
                    <a:bodyPr/>
                    <a:lstStyle/>
                    <a:p>
                      <a:r>
                        <a:rPr sz="2400">
                          <a:solidFill>
                            <a:srgbClr val="222222"/>
                          </a:solidFill>
                          <a:latin typeface="Calibri"/>
                        </a:rPr>
                        <a:t>Introduction and the toolchain</a:t>
                      </a:r>
                    </a:p>
                  </a:txBody>
                  <a:tcPr marL="73152" marT="18288" marB="18288">
                    <a:solidFill>
                      <a:srgbClr val="FFFFFF"/>
                    </a:solidFill>
                  </a:tcPr>
                </a:tc>
                <a:tc>
                  <a:txBody>
                    <a:bodyPr/>
                    <a:lstStyle/>
                    <a:p>
                      <a:r>
                        <a:rPr sz="2400">
                          <a:solidFill>
                            <a:srgbClr val="222222"/>
                          </a:solidFill>
                          <a:latin typeface="Calibri"/>
                        </a:rPr>
                        <a:t>Blink an LED, print to the screen, light one pixel</a:t>
                      </a:r>
                    </a:p>
                  </a:txBody>
                  <a:tcPr marL="73152" marT="18288" marB="18288">
                    <a:solidFill>
                      <a:srgbClr val="FFFFFF"/>
                    </a:solidFill>
                  </a:tcPr>
                </a:tc>
              </a:tr>
              <a:tr h="647700">
                <a:tc>
                  <a:txBody>
                    <a:bodyPr/>
                    <a:lstStyle/>
                    <a:p>
                      <a:r>
                        <a:rPr sz="2400">
                          <a:solidFill>
                            <a:srgbClr val="222222"/>
                          </a:solidFill>
                          <a:latin typeface="Calibri"/>
                        </a:rPr>
                        <a:t>2</a:t>
                      </a:r>
                    </a:p>
                  </a:txBody>
                  <a:tcPr marL="73152" marT="18288" marB="18288">
                    <a:solidFill>
                      <a:srgbClr val="EEF3F8"/>
                    </a:solidFill>
                  </a:tcPr>
                </a:tc>
                <a:tc>
                  <a:txBody>
                    <a:bodyPr/>
                    <a:lstStyle/>
                    <a:p>
                      <a:r>
                        <a:rPr sz="2400">
                          <a:solidFill>
                            <a:srgbClr val="222222"/>
                          </a:solidFill>
                          <a:latin typeface="Calibri"/>
                        </a:rPr>
                        <a:t>Motor control</a:t>
                      </a:r>
                    </a:p>
                  </a:txBody>
                  <a:tcPr marL="73152" marT="18288" marB="18288">
                    <a:solidFill>
                      <a:srgbClr val="EEF3F8"/>
                    </a:solidFill>
                  </a:tcPr>
                </a:tc>
                <a:tc>
                  <a:txBody>
                    <a:bodyPr/>
                    <a:lstStyle/>
                    <a:p>
                      <a:r>
                        <a:rPr sz="2400">
                          <a:solidFill>
                            <a:srgbClr val="222222"/>
                          </a:solidFill>
                          <a:latin typeface="Calibri"/>
                        </a:rPr>
                        <a:t>Drive itself round a square you calculated</a:t>
                      </a:r>
                    </a:p>
                  </a:txBody>
                  <a:tcPr marL="73152" marT="18288" marB="18288">
                    <a:solidFill>
                      <a:srgbClr val="EEF3F8"/>
                    </a:solidFill>
                  </a:tcPr>
                </a:tc>
              </a:tr>
              <a:tr h="647700">
                <a:tc>
                  <a:txBody>
                    <a:bodyPr/>
                    <a:lstStyle/>
                    <a:p>
                      <a:r>
                        <a:rPr sz="2400">
                          <a:solidFill>
                            <a:srgbClr val="222222"/>
                          </a:solidFill>
                          <a:latin typeface="Calibri"/>
                        </a:rPr>
                        <a:t>3</a:t>
                      </a:r>
                    </a:p>
                  </a:txBody>
                  <a:tcPr marL="73152" marT="18288" marB="18288">
                    <a:solidFill>
                      <a:srgbClr val="FFFFFF"/>
                    </a:solidFill>
                  </a:tcPr>
                </a:tc>
                <a:tc>
                  <a:txBody>
                    <a:bodyPr/>
                    <a:lstStyle/>
                    <a:p>
                      <a:r>
                        <a:rPr sz="2400">
                          <a:solidFill>
                            <a:srgbClr val="222222"/>
                          </a:solidFill>
                          <a:latin typeface="Calibri"/>
                        </a:rPr>
                        <a:t>Controller programming</a:t>
                      </a:r>
                    </a:p>
                  </a:txBody>
                  <a:tcPr marL="73152" marT="18288" marB="18288">
                    <a:solidFill>
                      <a:srgbClr val="FFFFFF"/>
                    </a:solidFill>
                  </a:tcPr>
                </a:tc>
                <a:tc>
                  <a:txBody>
                    <a:bodyPr/>
                    <a:lstStyle/>
                    <a:p>
                      <a:r>
                        <a:rPr sz="2400">
                          <a:solidFill>
                            <a:srgbClr val="222222"/>
                          </a:solidFill>
                          <a:latin typeface="Calibri"/>
                        </a:rPr>
                        <a:t>Be driven by you, with a thumbstick</a:t>
                      </a:r>
                    </a:p>
                  </a:txBody>
                  <a:tcPr marL="73152" marT="18288" marB="18288">
                    <a:solidFill>
                      <a:srgbClr val="FFFFFF"/>
                    </a:solidFill>
                  </a:tcPr>
                </a:tc>
              </a:tr>
              <a:tr h="647700">
                <a:tc>
                  <a:txBody>
                    <a:bodyPr/>
                    <a:lstStyle/>
                    <a:p>
                      <a:r>
                        <a:rPr sz="2400">
                          <a:solidFill>
                            <a:srgbClr val="222222"/>
                          </a:solidFill>
                          <a:latin typeface="Calibri"/>
                        </a:rPr>
                        <a:t>4</a:t>
                      </a:r>
                    </a:p>
                  </a:txBody>
                  <a:tcPr marL="73152" marT="18288" marB="18288">
                    <a:solidFill>
                      <a:srgbClr val="EEF3F8"/>
                    </a:solidFill>
                  </a:tcPr>
                </a:tc>
                <a:tc>
                  <a:txBody>
                    <a:bodyPr/>
                    <a:lstStyle/>
                    <a:p>
                      <a:r>
                        <a:rPr sz="2400">
                          <a:solidFill>
                            <a:srgbClr val="222222"/>
                          </a:solidFill>
                          <a:latin typeface="Calibri"/>
                        </a:rPr>
                        <a:t>NeoPixel LEDs</a:t>
                      </a:r>
                    </a:p>
                  </a:txBody>
                  <a:tcPr marL="73152" marT="18288" marB="18288">
                    <a:solidFill>
                      <a:srgbClr val="EEF3F8"/>
                    </a:solidFill>
                  </a:tcPr>
                </a:tc>
                <a:tc>
                  <a:txBody>
                    <a:bodyPr/>
                    <a:lstStyle/>
                    <a:p>
                      <a:r>
                        <a:rPr sz="2400">
                          <a:solidFill>
                            <a:srgbClr val="222222"/>
                          </a:solidFill>
                          <a:latin typeface="Calibri"/>
                        </a:rPr>
                        <a:t>Run headlights, signals and light patterns</a:t>
                      </a:r>
                    </a:p>
                  </a:txBody>
                  <a:tcPr marL="73152" marT="18288" marB="18288">
                    <a:solidFill>
                      <a:srgbClr val="EEF3F8"/>
                    </a:solidFill>
                  </a:tcPr>
                </a:tc>
              </a:tr>
              <a:tr h="647700">
                <a:tc>
                  <a:txBody>
                    <a:bodyPr/>
                    <a:lstStyle/>
                    <a:p>
                      <a:r>
                        <a:rPr sz="2400">
                          <a:solidFill>
                            <a:srgbClr val="222222"/>
                          </a:solidFill>
                          <a:latin typeface="Calibri"/>
                        </a:rPr>
                        <a:t>5</a:t>
                      </a:r>
                    </a:p>
                  </a:txBody>
                  <a:tcPr marL="73152" marT="18288" marB="18288">
                    <a:solidFill>
                      <a:srgbClr val="FFFFFF"/>
                    </a:solidFill>
                  </a:tcPr>
                </a:tc>
                <a:tc>
                  <a:txBody>
                    <a:bodyPr/>
                    <a:lstStyle/>
                    <a:p>
                      <a:r>
                        <a:rPr sz="2400">
                          <a:solidFill>
                            <a:srgbClr val="222222"/>
                          </a:solidFill>
                          <a:latin typeface="Calibri"/>
                        </a:rPr>
                        <a:t>Maneuvers with lights</a:t>
                      </a:r>
                    </a:p>
                  </a:txBody>
                  <a:tcPr marL="73152" marT="18288" marB="18288">
                    <a:solidFill>
                      <a:srgbClr val="FFFFFF"/>
                    </a:solidFill>
                  </a:tcPr>
                </a:tc>
                <a:tc>
                  <a:txBody>
                    <a:bodyPr/>
                    <a:lstStyle/>
                    <a:p>
                      <a:r>
                        <a:rPr sz="240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pic>
        <p:nvPicPr>
          <p:cNvPr id="7" name="Picture 6" descr="vehicle-turn-signal-left.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vehicle-turn-signal-right.jpg"/>
          <p:cNvPicPr>
            <a:picLocks noChangeAspect="1"/>
          </p:cNvPicPr>
          <p:nvPr/>
        </p:nvPicPr>
        <p:blipFill>
          <a:blip r:embed="rId3"/>
          <a:stretch>
            <a:fillRect/>
          </a:stretch>
        </p:blipFill>
        <p:spPr>
          <a:xfrm>
            <a:off x="6533158" y="1810512"/>
            <a:ext cx="4901184" cy="3675888"/>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from the front. The rear bar is lit on the same side at the same time.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Same vehicle, same program, same 32 LEDs - the D-pad just went the other 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Switch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https://raw.githubusercontent.com/ricardoquesada/esp32-arduino-lib-builder/master/bluepad32_files/package_esp32_bluepad32_index.json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"bluepad32".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esp32_bluepad32  by Ricardo Quesada,  version 4.1.0</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4.1.0 -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esp32_bluepad32 &gt; "ESP32 Dev Module"</a:t>
            </a:r>
          </a:p>
        </p:txBody>
      </p:sp>
      <p:sp>
        <p:nvSpPr>
          <p:cNvPr id="7" name="Rectangle 6"/>
          <p:cNvSpPr/>
          <p:nvPr/>
        </p:nvSpPr>
        <p:spPr>
          <a:xfrm>
            <a:off x="8556736" y="1188720"/>
            <a:ext cx="3132039" cy="384048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URL above pasted into the "Additional boards manager URLs" box, so students can see exactly which field it goes in.</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Two entries are now called "ESP32 Dev Module". This track needs the one under "esp32_bluepad32".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esp32_bluepad32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r>
              <a:rPr sz="2900" b="0">
                <a:solidFill>
                  <a:srgbClr val="222222"/>
                </a:solidFill>
                <a:latin typeface="Calibri"/>
              </a:rPr>
              <a:t>Tools &gt; Manage Libraries, then search the name and click Install.</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"Adafruit NeoPixel" by Adafruit  -  drives the 32 LEDs.</a:t>
            </a:r>
          </a:p>
          <a:p>
            <a:pPr algn="l">
              <a:lnSpc>
                <a:spcPct val="100000"/>
              </a:lnSpc>
              <a:spcAft>
                <a:spcPts val="900"/>
              </a:spcAft>
              <a:defRPr sz="2900" b="0">
                <a:solidFill>
                  <a:srgbClr val="222222"/>
                </a:solidFill>
                <a:latin typeface="Calibri"/>
              </a:defRPr>
            </a:pPr>
            <a:r>
              <a:rPr sz="2900" b="0">
                <a:solidFill>
                  <a:srgbClr val="222222"/>
                </a:solidFill>
                <a:latin typeface="Calibri"/>
              </a:rPr>
              <a:t>none - Bluepad32 arrives with the board package</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You still need "Adafruit NeoPixel" by Adafruit for the lighting lessons.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149600"/>
        </p:xfrm>
        <a:graphic>
          <a:graphicData uri="http://schemas.openxmlformats.org/drawingml/2006/table">
            <a:tbl>
              <a:tblPr firstRow="1" bandRow="1">
                <a:tableStyleId>{5C22544A-7EE6-4342-B048-85BDC9FD1C3A}</a:tableStyleId>
              </a:tblPr>
              <a:tblGrid>
                <a:gridCol w="1118585"/>
                <a:gridCol w="4026907"/>
                <a:gridCol w="6040361"/>
              </a:tblGrid>
              <a:tr h="393700">
                <a:tc>
                  <a:txBody>
                    <a:bodyPr/>
                    <a:lstStyle/>
                    <a:p>
                      <a:r>
                        <a:rPr sz="2000" b="1">
                          <a:solidFill>
                            <a:srgbClr val="FFFFFF"/>
                          </a:solidFill>
                          <a:latin typeface="Calibri"/>
                        </a:rPr>
                        <a:t>Lesson</a:t>
                      </a:r>
                    </a:p>
                  </a:txBody>
                  <a:tcPr marL="73152" marT="18288" marB="18288">
                    <a:solidFill>
                      <a:srgbClr val="1F3A5F"/>
                    </a:solidFill>
                  </a:tcPr>
                </a:tc>
                <a:tc>
                  <a:txBody>
                    <a:bodyPr/>
                    <a:lstStyle/>
                    <a:p>
                      <a:r>
                        <a:rPr sz="2000" b="1">
                          <a:solidFill>
                            <a:srgbClr val="FFFFFF"/>
                          </a:solidFill>
                          <a:latin typeface="Calibri"/>
                        </a:rPr>
                        <a:t>Sketch</a:t>
                      </a:r>
                    </a:p>
                  </a:txBody>
                  <a:tcPr marL="73152" marT="18288" marB="18288">
                    <a:solidFill>
                      <a:srgbClr val="1F3A5F"/>
                    </a:solidFill>
                  </a:tcPr>
                </a:tc>
                <a:tc>
                  <a:txBody>
                    <a:bodyPr/>
                    <a:lstStyle/>
                    <a:p>
                      <a:r>
                        <a:rPr sz="2000" b="1">
                          <a:solidFill>
                            <a:srgbClr val="FFFFFF"/>
                          </a:solidFill>
                          <a:latin typeface="Calibri"/>
                        </a:rPr>
                        <a:t>Libraries beyond the board package</a:t>
                      </a:r>
                    </a:p>
                  </a:txBody>
                  <a:tcPr marL="73152" marT="18288" marB="18288">
                    <a:solidFill>
                      <a:srgbClr val="1F3A5F"/>
                    </a:solidFill>
                  </a:tcPr>
                </a:tc>
              </a:tr>
              <a:tr h="393700">
                <a:tc>
                  <a:txBody>
                    <a:bodyPr/>
                    <a:lstStyle/>
                    <a:p>
                      <a:r>
                        <a:rPr sz="2000">
                          <a:solidFill>
                            <a:srgbClr val="222222"/>
                          </a:solidFill>
                          <a:latin typeface="Calibri"/>
                        </a:rPr>
                        <a:t>1</a:t>
                      </a:r>
                    </a:p>
                  </a:txBody>
                  <a:tcPr marL="73152" marT="18288" marB="18288">
                    <a:solidFill>
                      <a:srgbClr val="FFFFFF"/>
                    </a:solidFill>
                  </a:tcPr>
                </a:tc>
                <a:tc>
                  <a:txBody>
                    <a:bodyPr/>
                    <a:lstStyle/>
                    <a:p>
                      <a:r>
                        <a:rPr sz="2000">
                          <a:solidFill>
                            <a:srgbClr val="222222"/>
                          </a:solidFill>
                          <a:latin typeface="Calibri"/>
                        </a:rPr>
                        <a:t>l1a_blink / l1b_serial_monitor</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1</a:t>
                      </a:r>
                    </a:p>
                  </a:txBody>
                  <a:tcPr marL="73152" marT="18288" marB="18288">
                    <a:solidFill>
                      <a:srgbClr val="EEF3F8"/>
                    </a:solidFill>
                  </a:tcPr>
                </a:tc>
                <a:tc>
                  <a:txBody>
                    <a:bodyPr/>
                    <a:lstStyle/>
                    <a:p>
                      <a:r>
                        <a:rPr sz="2000">
                          <a:solidFill>
                            <a:srgbClr val="222222"/>
                          </a:solidFill>
                          <a:latin typeface="Calibri"/>
                        </a:rPr>
                        <a:t>l1c_first_pixel</a:t>
                      </a:r>
                    </a:p>
                  </a:txBody>
                  <a:tcPr marL="73152" marT="18288" marB="18288">
                    <a:solidFill>
                      <a:srgbClr val="EEF3F8"/>
                    </a:solidFill>
                  </a:tcPr>
                </a:tc>
                <a:tc>
                  <a:txBody>
                    <a:bodyPr/>
                    <a:lstStyle/>
                    <a:p>
                      <a:r>
                        <a:rPr sz="2000">
                          <a:solidFill>
                            <a:srgbClr val="222222"/>
                          </a:solidFill>
                          <a:latin typeface="Calibri"/>
                        </a:rPr>
                        <a:t>Adafruit NeoPixel</a:t>
                      </a:r>
                    </a:p>
                  </a:txBody>
                  <a:tcPr marL="73152" marT="18288" marB="18288">
                    <a:solidFill>
                      <a:srgbClr val="EEF3F8"/>
                    </a:solidFill>
                  </a:tcPr>
                </a:tc>
              </a:tr>
              <a:tr h="393700">
                <a:tc>
                  <a:txBody>
                    <a:bodyPr/>
                    <a:lstStyle/>
                    <a:p>
                      <a:r>
                        <a:rPr sz="2000">
                          <a:solidFill>
                            <a:srgbClr val="222222"/>
                          </a:solidFill>
                          <a:latin typeface="Calibri"/>
                        </a:rPr>
                        <a:t>2</a:t>
                      </a:r>
                    </a:p>
                  </a:txBody>
                  <a:tcPr marL="73152" marT="18288" marB="18288">
                    <a:solidFill>
                      <a:srgbClr val="FFFFFF"/>
                    </a:solidFill>
                  </a:tcPr>
                </a:tc>
                <a:tc>
                  <a:txBody>
                    <a:bodyPr/>
                    <a:lstStyle/>
                    <a:p>
                      <a:r>
                        <a:rPr sz="2000">
                          <a:solidFill>
                            <a:srgbClr val="222222"/>
                          </a:solidFill>
                          <a:latin typeface="Calibri"/>
                        </a:rPr>
                        <a:t>l2a / l2b / l2c</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3</a:t>
                      </a:r>
                    </a:p>
                  </a:txBody>
                  <a:tcPr marL="73152" marT="18288" marB="18288">
                    <a:solidFill>
                      <a:srgbClr val="EEF3F8"/>
                    </a:solidFill>
                  </a:tcPr>
                </a:tc>
                <a:tc>
                  <a:txBody>
                    <a:bodyPr/>
                    <a:lstStyle/>
                    <a:p>
                      <a:r>
                        <a:rPr sz="2000">
                          <a:solidFill>
                            <a:srgbClr val="222222"/>
                          </a:solidFill>
                          <a:latin typeface="Calibri"/>
                        </a:rPr>
                        <a:t>l3a / l3b / l3c</a:t>
                      </a:r>
                    </a:p>
                  </a:txBody>
                  <a:tcPr marL="73152" marT="18288" marB="18288">
                    <a:solidFill>
                      <a:srgbClr val="EEF3F8"/>
                    </a:solidFill>
                  </a:tcPr>
                </a:tc>
                <a:tc>
                  <a:txBody>
                    <a:bodyPr/>
                    <a:lstStyle/>
                    <a:p>
                      <a:r>
                        <a:rPr sz="2000">
                          <a:solidFill>
                            <a:srgbClr val="222222"/>
                          </a:solidFill>
                          <a:latin typeface="Calibri"/>
                        </a:rPr>
                        <a:t>none (Bluepad32 ships with the board package)</a:t>
                      </a:r>
                    </a:p>
                  </a:txBody>
                  <a:tcPr marL="73152" marT="18288" marB="18288">
                    <a:solidFill>
                      <a:srgbClr val="EEF3F8"/>
                    </a:solidFill>
                  </a:tcPr>
                </a:tc>
              </a:tr>
              <a:tr h="393700">
                <a:tc>
                  <a:txBody>
                    <a:bodyPr/>
                    <a:lstStyle/>
                    <a:p>
                      <a:r>
                        <a:rPr sz="2000">
                          <a:solidFill>
                            <a:srgbClr val="222222"/>
                          </a:solidFill>
                          <a:latin typeface="Calibri"/>
                        </a:rPr>
                        <a:t>4</a:t>
                      </a:r>
                    </a:p>
                  </a:txBody>
                  <a:tcPr marL="73152" marT="18288" marB="18288">
                    <a:solidFill>
                      <a:srgbClr val="FFFFFF"/>
                    </a:solidFill>
                  </a:tcPr>
                </a:tc>
                <a:tc>
                  <a:txBody>
                    <a:bodyPr/>
                    <a:lstStyle/>
                    <a:p>
                      <a:r>
                        <a:rPr sz="2000">
                          <a:solidFill>
                            <a:srgbClr val="222222"/>
                          </a:solidFill>
                          <a:latin typeface="Calibri"/>
                        </a:rPr>
                        <a:t>l4a / l4b / l4c</a:t>
                      </a:r>
                    </a:p>
                  </a:txBody>
                  <a:tcPr marL="73152" marT="18288" marB="18288">
                    <a:solidFill>
                      <a:srgbClr val="FFFFFF"/>
                    </a:solidFill>
                  </a:tcPr>
                </a:tc>
                <a:tc>
                  <a:txBody>
                    <a:bodyPr/>
                    <a:lstStyle/>
                    <a:p>
                      <a:r>
                        <a:rPr sz="2000">
                          <a:solidFill>
                            <a:srgbClr val="222222"/>
                          </a:solidFill>
                          <a:latin typeface="Calibri"/>
                        </a:rPr>
                        <a:t>Adafruit NeoPixel</a:t>
                      </a:r>
                    </a:p>
                  </a:txBody>
                  <a:tcPr marL="73152" marT="18288" marB="18288">
                    <a:solidFill>
                      <a:srgbClr val="FFFFFF"/>
                    </a:solidFill>
                  </a:tcPr>
                </a:tc>
              </a:tr>
              <a:tr h="393700">
                <a:tc>
                  <a:txBody>
                    <a:bodyPr/>
                    <a:lstStyle/>
                    <a:p>
                      <a:r>
                        <a:rPr sz="2000">
                          <a:solidFill>
                            <a:srgbClr val="222222"/>
                          </a:solidFill>
                          <a:latin typeface="Calibri"/>
                        </a:rPr>
                        <a:t>5</a:t>
                      </a:r>
                    </a:p>
                  </a:txBody>
                  <a:tcPr marL="73152" marT="18288" marB="18288">
                    <a:solidFill>
                      <a:srgbClr val="EEF3F8"/>
                    </a:solidFill>
                  </a:tcPr>
                </a:tc>
                <a:tc>
                  <a:txBody>
                    <a:bodyPr/>
                    <a:lstStyle/>
                    <a:p>
                      <a:r>
                        <a:rPr sz="2000">
                          <a:solidFill>
                            <a:srgbClr val="222222"/>
                          </a:solidFill>
                          <a:latin typeface="Calibri"/>
                        </a:rPr>
                        <a:t>l5a / l5b / l5c</a:t>
                      </a:r>
                    </a:p>
                  </a:txBody>
                  <a:tcPr marL="73152" marT="18288" marB="18288">
                    <a:solidFill>
                      <a:srgbClr val="EEF3F8"/>
                    </a:solidFill>
                  </a:tcPr>
                </a:tc>
                <a:tc>
                  <a:txBody>
                    <a:bodyPr/>
                    <a:lstStyle/>
                    <a:p>
                      <a:r>
                        <a:rPr sz="2000">
                          <a:solidFill>
                            <a:srgbClr val="222222"/>
                          </a:solidFill>
                          <a:latin typeface="Calibri"/>
                        </a:rPr>
                        <a:t>Adafruit NeoPixel</a:t>
                      </a:r>
                    </a:p>
                  </a:txBody>
                  <a:tcPr marL="73152" marT="18288" marB="18288">
                    <a:solidFill>
                      <a:srgbClr val="EEF3F8"/>
                    </a:solidFill>
                  </a:tcPr>
                </a:tc>
              </a:tr>
              <a:tr h="393700">
                <a:tc>
                  <a:txBody>
                    <a:bodyPr/>
                    <a:lstStyle/>
                    <a:p>
                      <a:r>
                        <a:rPr sz="2000">
                          <a:solidFill>
                            <a:srgbClr val="222222"/>
                          </a:solidFill>
                          <a:latin typeface="Calibri"/>
                        </a:rPr>
                        <a:t>5</a:t>
                      </a:r>
                    </a:p>
                  </a:txBody>
                  <a:tcPr marL="73152" marT="18288" marB="18288">
                    <a:solidFill>
                      <a:srgbClr val="FFFFFF"/>
                    </a:solidFill>
                  </a:tcPr>
                </a:tc>
                <a:tc>
                  <a:txBody>
                    <a:bodyPr/>
                    <a:lstStyle/>
                    <a:p>
                      <a:r>
                        <a:rPr sz="2000">
                          <a:solidFill>
                            <a:srgbClr val="222222"/>
                          </a:solidFill>
                          <a:latin typeface="Calibri"/>
                        </a:rPr>
                        <a:t>pathfinder_nintendoswitch</a:t>
                      </a:r>
                    </a:p>
                  </a:txBody>
                  <a:tcPr marL="73152" marT="18288" marB="18288">
                    <a:solidFill>
                      <a:srgbClr val="FFFFFF"/>
                    </a:solidFill>
                  </a:tcPr>
                </a:tc>
                <a:tc>
                  <a:txBody>
                    <a:bodyPr/>
                    <a:lstStyle/>
                    <a:p>
                      <a:r>
                        <a:rPr sz="2000">
                          <a:solidFill>
                            <a:srgbClr val="222222"/>
                          </a:solidFill>
                          <a:latin typeface="Calibri"/>
                        </a:rPr>
                        <a:t>Adafruit NeoPixel</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program from here on prints something. Get in the habit of having the Serial Monitor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15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light</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Everything in Lesson 2 onwards moves. This page stops being theoretical next lesson.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