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The sketches are grouped by lesson because they need the same things. The one row worth pointing at is l1c_first_pixel: Lesson 1 is the only lesson where the three sketches do not all need the same library.</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3886200"/>
        </p:xfrm>
        <a:graphic>
          <a:graphicData uri="http://schemas.openxmlformats.org/drawingml/2006/table">
            <a:tbl>
              <a:tblPr firstRow="1" bandRow="1">
                <a:tableStyleId>{5C22544A-7EE6-4342-B048-85BDC9FD1C3A}</a:tableStyleId>
              </a:tblPr>
              <a:tblGrid>
                <a:gridCol w="1092200"/>
                <a:gridCol w="4056220"/>
                <a:gridCol w="6037434"/>
              </a:tblGrid>
              <a:tr h="647700">
                <a:tc>
                  <a:txBody>
                    <a:bodyPr/>
                    <a:lstStyle/>
                    <a:p>
                      <a:r>
                        <a:rPr sz="2400" b="1">
                          <a:solidFill>
                            <a:srgbClr val="FFFFFF"/>
                          </a:solidFill>
                          <a:latin typeface="Calibri"/>
                        </a:rPr>
                        <a:t>Lesson</a:t>
                      </a:r>
                    </a:p>
                  </a:txBody>
                  <a:tcPr marL="73152" marT="18288" marB="18288">
                    <a:solidFill>
                      <a:srgbClr val="1F3A5F"/>
                    </a:solidFill>
                  </a:tcPr>
                </a:tc>
                <a:tc>
                  <a:txBody>
                    <a:bodyPr/>
                    <a:lstStyle/>
                    <a:p>
                      <a:r>
                        <a:rPr sz="2400" b="1">
                          <a:solidFill>
                            <a:srgbClr val="FFFFFF"/>
                          </a:solidFill>
                          <a:latin typeface="Calibri"/>
                        </a:rPr>
                        <a:t>Subject</a:t>
                      </a:r>
                    </a:p>
                  </a:txBody>
                  <a:tcPr marL="73152" marT="18288" marB="18288">
                    <a:solidFill>
                      <a:srgbClr val="1F3A5F"/>
                    </a:solidFill>
                  </a:tcPr>
                </a:tc>
                <a:tc>
                  <a:txBody>
                    <a:bodyPr/>
                    <a:lstStyle/>
                    <a:p>
                      <a:r>
                        <a:rPr sz="2400" b="1">
                          <a:solidFill>
                            <a:srgbClr val="FFFFFF"/>
                          </a:solidFill>
                          <a:latin typeface="Calibri"/>
                        </a:rPr>
                        <a:t>What your vehicle can do by the end</a:t>
                      </a:r>
                    </a:p>
                  </a:txBody>
                  <a:tcPr marL="73152" marT="18288" marB="18288">
                    <a:solidFill>
                      <a:srgbClr val="1F3A5F"/>
                    </a:solidFill>
                  </a:tcPr>
                </a:tc>
              </a:tr>
              <a:tr h="647700">
                <a:tc>
                  <a:txBody>
                    <a:bodyPr/>
                    <a:lstStyle/>
                    <a:p>
                      <a:r>
                        <a:rPr sz="2400">
                          <a:solidFill>
                            <a:srgbClr val="222222"/>
                          </a:solidFill>
                          <a:latin typeface="Calibri"/>
                        </a:rPr>
                        <a:t>1</a:t>
                      </a:r>
                    </a:p>
                  </a:txBody>
                  <a:tcPr marL="73152" marT="18288" marB="18288">
                    <a:solidFill>
                      <a:srgbClr val="FFFFFF"/>
                    </a:solidFill>
                  </a:tcPr>
                </a:tc>
                <a:tc>
                  <a:txBody>
                    <a:bodyPr/>
                    <a:lstStyle/>
                    <a:p>
                      <a:r>
                        <a:rPr sz="2400">
                          <a:solidFill>
                            <a:srgbClr val="222222"/>
                          </a:solidFill>
                          <a:latin typeface="Calibri"/>
                        </a:rPr>
                        <a:t>Introduction and the toolchain</a:t>
                      </a:r>
                    </a:p>
                  </a:txBody>
                  <a:tcPr marL="73152" marT="18288" marB="18288">
                    <a:solidFill>
                      <a:srgbClr val="FFFFFF"/>
                    </a:solidFill>
                  </a:tcPr>
                </a:tc>
                <a:tc>
                  <a:txBody>
                    <a:bodyPr/>
                    <a:lstStyle/>
                    <a:p>
                      <a:r>
                        <a:rPr sz="2400">
                          <a:solidFill>
                            <a:srgbClr val="222222"/>
                          </a:solidFill>
                          <a:latin typeface="Calibri"/>
                        </a:rPr>
                        <a:t>Blink an LED, print to the screen, light one pixel</a:t>
                      </a:r>
                    </a:p>
                  </a:txBody>
                  <a:tcPr marL="73152" marT="18288" marB="18288">
                    <a:solidFill>
                      <a:srgbClr val="FFFFFF"/>
                    </a:solidFill>
                  </a:tcPr>
                </a:tc>
              </a:tr>
              <a:tr h="647700">
                <a:tc>
                  <a:txBody>
                    <a:bodyPr/>
                    <a:lstStyle/>
                    <a:p>
                      <a:r>
                        <a:rPr sz="2400">
                          <a:solidFill>
                            <a:srgbClr val="222222"/>
                          </a:solidFill>
                          <a:latin typeface="Calibri"/>
                        </a:rPr>
                        <a:t>2</a:t>
                      </a:r>
                    </a:p>
                  </a:txBody>
                  <a:tcPr marL="73152" marT="18288" marB="18288">
                    <a:solidFill>
                      <a:srgbClr val="EEF3F8"/>
                    </a:solidFill>
                  </a:tcPr>
                </a:tc>
                <a:tc>
                  <a:txBody>
                    <a:bodyPr/>
                    <a:lstStyle/>
                    <a:p>
                      <a:r>
                        <a:rPr sz="2400">
                          <a:solidFill>
                            <a:srgbClr val="222222"/>
                          </a:solidFill>
                          <a:latin typeface="Calibri"/>
                        </a:rPr>
                        <a:t>Motor control</a:t>
                      </a:r>
                    </a:p>
                  </a:txBody>
                  <a:tcPr marL="73152" marT="18288" marB="18288">
                    <a:solidFill>
                      <a:srgbClr val="EEF3F8"/>
                    </a:solidFill>
                  </a:tcPr>
                </a:tc>
                <a:tc>
                  <a:txBody>
                    <a:bodyPr/>
                    <a:lstStyle/>
                    <a:p>
                      <a:r>
                        <a:rPr sz="2400">
                          <a:solidFill>
                            <a:srgbClr val="222222"/>
                          </a:solidFill>
                          <a:latin typeface="Calibri"/>
                        </a:rPr>
                        <a:t>Drive itself round a square you calculated</a:t>
                      </a:r>
                    </a:p>
                  </a:txBody>
                  <a:tcPr marL="73152" marT="18288" marB="18288">
                    <a:solidFill>
                      <a:srgbClr val="EEF3F8"/>
                    </a:solidFill>
                  </a:tcPr>
                </a:tc>
              </a:tr>
              <a:tr h="647700">
                <a:tc>
                  <a:txBody>
                    <a:bodyPr/>
                    <a:lstStyle/>
                    <a:p>
                      <a:r>
                        <a:rPr sz="2400">
                          <a:solidFill>
                            <a:srgbClr val="222222"/>
                          </a:solidFill>
                          <a:latin typeface="Calibri"/>
                        </a:rPr>
                        <a:t>3</a:t>
                      </a:r>
                    </a:p>
                  </a:txBody>
                  <a:tcPr marL="73152" marT="18288" marB="18288">
                    <a:solidFill>
                      <a:srgbClr val="FFFFFF"/>
                    </a:solidFill>
                  </a:tcPr>
                </a:tc>
                <a:tc>
                  <a:txBody>
                    <a:bodyPr/>
                    <a:lstStyle/>
                    <a:p>
                      <a:r>
                        <a:rPr sz="2400">
                          <a:solidFill>
                            <a:srgbClr val="222222"/>
                          </a:solidFill>
                          <a:latin typeface="Calibri"/>
                        </a:rPr>
                        <a:t>Controller programming</a:t>
                      </a:r>
                    </a:p>
                  </a:txBody>
                  <a:tcPr marL="73152" marT="18288" marB="18288">
                    <a:solidFill>
                      <a:srgbClr val="FFFFFF"/>
                    </a:solidFill>
                  </a:tcPr>
                </a:tc>
                <a:tc>
                  <a:txBody>
                    <a:bodyPr/>
                    <a:lstStyle/>
                    <a:p>
                      <a:r>
                        <a:rPr sz="2400">
                          <a:solidFill>
                            <a:srgbClr val="222222"/>
                          </a:solidFill>
                          <a:latin typeface="Calibri"/>
                        </a:rPr>
                        <a:t>Be driven by you, with a thumbstick</a:t>
                      </a:r>
                    </a:p>
                  </a:txBody>
                  <a:tcPr marL="73152" marT="18288" marB="18288">
                    <a:solidFill>
                      <a:srgbClr val="FFFFFF"/>
                    </a:solidFill>
                  </a:tcPr>
                </a:tc>
              </a:tr>
              <a:tr h="647700">
                <a:tc>
                  <a:txBody>
                    <a:bodyPr/>
                    <a:lstStyle/>
                    <a:p>
                      <a:r>
                        <a:rPr sz="2400">
                          <a:solidFill>
                            <a:srgbClr val="222222"/>
                          </a:solidFill>
                          <a:latin typeface="Calibri"/>
                        </a:rPr>
                        <a:t>4</a:t>
                      </a:r>
                    </a:p>
                  </a:txBody>
                  <a:tcPr marL="73152" marT="18288" marB="18288">
                    <a:solidFill>
                      <a:srgbClr val="EEF3F8"/>
                    </a:solidFill>
                  </a:tcPr>
                </a:tc>
                <a:tc>
                  <a:txBody>
                    <a:bodyPr/>
                    <a:lstStyle/>
                    <a:p>
                      <a:r>
                        <a:rPr sz="2400">
                          <a:solidFill>
                            <a:srgbClr val="222222"/>
                          </a:solidFill>
                          <a:latin typeface="Calibri"/>
                        </a:rPr>
                        <a:t>NeoPixel LEDs</a:t>
                      </a:r>
                    </a:p>
                  </a:txBody>
                  <a:tcPr marL="73152" marT="18288" marB="18288">
                    <a:solidFill>
                      <a:srgbClr val="EEF3F8"/>
                    </a:solidFill>
                  </a:tcPr>
                </a:tc>
                <a:tc>
                  <a:txBody>
                    <a:bodyPr/>
                    <a:lstStyle/>
                    <a:p>
                      <a:r>
                        <a:rPr sz="2400">
                          <a:solidFill>
                            <a:srgbClr val="222222"/>
                          </a:solidFill>
                          <a:latin typeface="Calibri"/>
                        </a:rPr>
                        <a:t>Run headlights, signals and light patterns</a:t>
                      </a:r>
                    </a:p>
                  </a:txBody>
                  <a:tcPr marL="73152" marT="18288" marB="18288">
                    <a:solidFill>
                      <a:srgbClr val="EEF3F8"/>
                    </a:solidFill>
                  </a:tcPr>
                </a:tc>
              </a:tr>
              <a:tr h="647700">
                <a:tc>
                  <a:txBody>
                    <a:bodyPr/>
                    <a:lstStyle/>
                    <a:p>
                      <a:r>
                        <a:rPr sz="2400">
                          <a:solidFill>
                            <a:srgbClr val="222222"/>
                          </a:solidFill>
                          <a:latin typeface="Calibri"/>
                        </a:rPr>
                        <a:t>5</a:t>
                      </a:r>
                    </a:p>
                  </a:txBody>
                  <a:tcPr marL="73152" marT="18288" marB="18288">
                    <a:solidFill>
                      <a:srgbClr val="FFFFFF"/>
                    </a:solidFill>
                  </a:tcPr>
                </a:tc>
                <a:tc>
                  <a:txBody>
                    <a:bodyPr/>
                    <a:lstStyle/>
                    <a:p>
                      <a:r>
                        <a:rPr sz="2400">
                          <a:solidFill>
                            <a:srgbClr val="222222"/>
                          </a:solidFill>
                          <a:latin typeface="Calibri"/>
                        </a:rPr>
                        <a:t>Maneuvers with lights</a:t>
                      </a:r>
                    </a:p>
                  </a:txBody>
                  <a:tcPr marL="73152" marT="18288" marB="18288">
                    <a:solidFill>
                      <a:srgbClr val="FFFFFF"/>
                    </a:solidFill>
                  </a:tcPr>
                </a:tc>
                <a:tc>
                  <a:txBody>
                    <a:bodyPr/>
                    <a:lstStyle/>
                    <a:p>
                      <a:r>
                        <a:rPr sz="240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149600"/>
        </p:xfrm>
        <a:graphic>
          <a:graphicData uri="http://schemas.openxmlformats.org/drawingml/2006/table">
            <a:tbl>
              <a:tblPr firstRow="1" bandRow="1">
                <a:tableStyleId>{5C22544A-7EE6-4342-B048-85BDC9FD1C3A}</a:tableStyleId>
              </a:tblPr>
              <a:tblGrid>
                <a:gridCol w="1118585"/>
                <a:gridCol w="4026907"/>
                <a:gridCol w="6040361"/>
              </a:tblGrid>
              <a:tr h="393700">
                <a:tc>
                  <a:txBody>
                    <a:bodyPr/>
                    <a:lstStyle/>
                    <a:p>
                      <a:r>
                        <a:rPr sz="2000" b="1">
                          <a:solidFill>
                            <a:srgbClr val="FFFFFF"/>
                          </a:solidFill>
                          <a:latin typeface="Calibri"/>
                        </a:rPr>
                        <a:t>Lesson</a:t>
                      </a:r>
                    </a:p>
                  </a:txBody>
                  <a:tcPr marL="73152" marT="18288" marB="18288">
                    <a:solidFill>
                      <a:srgbClr val="1F3A5F"/>
                    </a:solidFill>
                  </a:tcPr>
                </a:tc>
                <a:tc>
                  <a:txBody>
                    <a:bodyPr/>
                    <a:lstStyle/>
                    <a:p>
                      <a:r>
                        <a:rPr sz="2000" b="1">
                          <a:solidFill>
                            <a:srgbClr val="FFFFFF"/>
                          </a:solidFill>
                          <a:latin typeface="Calibri"/>
                        </a:rPr>
                        <a:t>Sketch</a:t>
                      </a:r>
                    </a:p>
                  </a:txBody>
                  <a:tcPr marL="73152" marT="18288" marB="18288">
                    <a:solidFill>
                      <a:srgbClr val="1F3A5F"/>
                    </a:solidFill>
                  </a:tcPr>
                </a:tc>
                <a:tc>
                  <a:txBody>
                    <a:bodyPr/>
                    <a:lstStyle/>
                    <a:p>
                      <a:r>
                        <a:rPr sz="2000" b="1">
                          <a:solidFill>
                            <a:srgbClr val="FFFFFF"/>
                          </a:solidFill>
                          <a:latin typeface="Calibri"/>
                        </a:rPr>
                        <a:t>Libraries beyond the board package</a:t>
                      </a:r>
                    </a:p>
                  </a:txBody>
                  <a:tcPr marL="73152" marT="18288" marB="18288">
                    <a:solidFill>
                      <a:srgbClr val="1F3A5F"/>
                    </a:solidFill>
                  </a:tcPr>
                </a:tc>
              </a:tr>
              <a:tr h="393700">
                <a:tc>
                  <a:txBody>
                    <a:bodyPr/>
                    <a:lstStyle/>
                    <a:p>
                      <a:r>
                        <a:rPr sz="2000">
                          <a:solidFill>
                            <a:srgbClr val="222222"/>
                          </a:solidFill>
                          <a:latin typeface="Calibri"/>
                        </a:rPr>
                        <a:t>1</a:t>
                      </a:r>
                    </a:p>
                  </a:txBody>
                  <a:tcPr marL="73152" marT="18288" marB="18288">
                    <a:solidFill>
                      <a:srgbClr val="FFFFFF"/>
                    </a:solidFill>
                  </a:tcPr>
                </a:tc>
                <a:tc>
                  <a:txBody>
                    <a:bodyPr/>
                    <a:lstStyle/>
                    <a:p>
                      <a:r>
                        <a:rPr sz="2000">
                          <a:solidFill>
                            <a:srgbClr val="222222"/>
                          </a:solidFill>
                          <a:latin typeface="Calibri"/>
                        </a:rPr>
                        <a:t>l1a_blink / l1b_serial_monitor</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1</a:t>
                      </a:r>
                    </a:p>
                  </a:txBody>
                  <a:tcPr marL="73152" marT="18288" marB="18288">
                    <a:solidFill>
                      <a:srgbClr val="EEF3F8"/>
                    </a:solidFill>
                  </a:tcPr>
                </a:tc>
                <a:tc>
                  <a:txBody>
                    <a:bodyPr/>
                    <a:lstStyle/>
                    <a:p>
                      <a:r>
                        <a:rPr sz="2000">
                          <a:solidFill>
                            <a:srgbClr val="222222"/>
                          </a:solidFill>
                          <a:latin typeface="Calibri"/>
                        </a:rPr>
                        <a:t>l1c_first_pixel</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2</a:t>
                      </a:r>
                    </a:p>
                  </a:txBody>
                  <a:tcPr marL="73152" marT="18288" marB="18288">
                    <a:solidFill>
                      <a:srgbClr val="FFFFFF"/>
                    </a:solidFill>
                  </a:tcPr>
                </a:tc>
                <a:tc>
                  <a:txBody>
                    <a:bodyPr/>
                    <a:lstStyle/>
                    <a:p>
                      <a:r>
                        <a:rPr sz="2000">
                          <a:solidFill>
                            <a:srgbClr val="222222"/>
                          </a:solidFill>
                          <a:latin typeface="Calibri"/>
                        </a:rPr>
                        <a:t>l2a / l2b / l2c</a:t>
                      </a:r>
                    </a:p>
                  </a:txBody>
                  <a:tcPr marL="73152" marT="18288" marB="18288">
                    <a:solidFill>
                      <a:srgbClr val="FFFFFF"/>
                    </a:solidFill>
                  </a:tcPr>
                </a:tc>
                <a:tc>
                  <a:txBody>
                    <a:bodyPr/>
                    <a:lstStyle/>
                    <a:p>
                      <a:r>
                        <a:rPr sz="2000">
                          <a:solidFill>
                            <a:srgbClr val="222222"/>
                          </a:solidFill>
                          <a:latin typeface="Calibri"/>
                        </a:rPr>
                        <a:t>none</a:t>
                      </a:r>
                    </a:p>
                  </a:txBody>
                  <a:tcPr marL="73152" marT="18288" marB="18288">
                    <a:solidFill>
                      <a:srgbClr val="FFFFFF"/>
                    </a:solidFill>
                  </a:tcPr>
                </a:tc>
              </a:tr>
              <a:tr h="393700">
                <a:tc>
                  <a:txBody>
                    <a:bodyPr/>
                    <a:lstStyle/>
                    <a:p>
                      <a:r>
                        <a:rPr sz="2000">
                          <a:solidFill>
                            <a:srgbClr val="222222"/>
                          </a:solidFill>
                          <a:latin typeface="Calibri"/>
                        </a:rPr>
                        <a:t>3</a:t>
                      </a:r>
                    </a:p>
                  </a:txBody>
                  <a:tcPr marL="73152" marT="18288" marB="18288">
                    <a:solidFill>
                      <a:srgbClr val="EEF3F8"/>
                    </a:solidFill>
                  </a:tcPr>
                </a:tc>
                <a:tc>
                  <a:txBody>
                    <a:bodyPr/>
                    <a:lstStyle/>
                    <a:p>
                      <a:r>
                        <a:rPr sz="2000">
                          <a:solidFill>
                            <a:srgbClr val="222222"/>
                          </a:solidFill>
                          <a:latin typeface="Calibri"/>
                        </a:rPr>
                        <a:t>l3a / l3b / l3c</a:t>
                      </a:r>
                    </a:p>
                  </a:txBody>
                  <a:tcPr marL="73152" marT="18288" marB="18288">
                    <a:solidFill>
                      <a:srgbClr val="EEF3F8"/>
                    </a:solidFill>
                  </a:tcPr>
                </a:tc>
                <a:tc>
                  <a:txBody>
                    <a:bodyPr/>
                    <a:lstStyle/>
                    <a:p>
                      <a:r>
                        <a:rPr sz="2000">
                          <a:solidFill>
                            <a:srgbClr val="222222"/>
                          </a:solidFill>
                          <a:latin typeface="Calibri"/>
                        </a:rPr>
                        <a:t>none (Bluepad32 ships with the board package)</a:t>
                      </a:r>
                    </a:p>
                  </a:txBody>
                  <a:tcPr marL="73152" marT="18288" marB="18288">
                    <a:solidFill>
                      <a:srgbClr val="EEF3F8"/>
                    </a:solidFill>
                  </a:tcPr>
                </a:tc>
              </a:tr>
              <a:tr h="393700">
                <a:tc>
                  <a:txBody>
                    <a:bodyPr/>
                    <a:lstStyle/>
                    <a:p>
                      <a:r>
                        <a:rPr sz="2000">
                          <a:solidFill>
                            <a:srgbClr val="222222"/>
                          </a:solidFill>
                          <a:latin typeface="Calibri"/>
                        </a:rPr>
                        <a:t>4</a:t>
                      </a:r>
                    </a:p>
                  </a:txBody>
                  <a:tcPr marL="73152" marT="18288" marB="18288">
                    <a:solidFill>
                      <a:srgbClr val="FFFFFF"/>
                    </a:solidFill>
                  </a:tcPr>
                </a:tc>
                <a:tc>
                  <a:txBody>
                    <a:bodyPr/>
                    <a:lstStyle/>
                    <a:p>
                      <a:r>
                        <a:rPr sz="2000">
                          <a:solidFill>
                            <a:srgbClr val="222222"/>
                          </a:solidFill>
                          <a:latin typeface="Calibri"/>
                        </a:rPr>
                        <a:t>l4a / l4b / l4c</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r h="393700">
                <a:tc>
                  <a:txBody>
                    <a:bodyPr/>
                    <a:lstStyle/>
                    <a:p>
                      <a:r>
                        <a:rPr sz="2000">
                          <a:solidFill>
                            <a:srgbClr val="222222"/>
                          </a:solidFill>
                          <a:latin typeface="Calibri"/>
                        </a:rPr>
                        <a:t>5</a:t>
                      </a:r>
                    </a:p>
                  </a:txBody>
                  <a:tcPr marL="73152" marT="18288" marB="18288">
                    <a:solidFill>
                      <a:srgbClr val="EEF3F8"/>
                    </a:solidFill>
                  </a:tcPr>
                </a:tc>
                <a:tc>
                  <a:txBody>
                    <a:bodyPr/>
                    <a:lstStyle/>
                    <a:p>
                      <a:r>
                        <a:rPr sz="2000">
                          <a:solidFill>
                            <a:srgbClr val="222222"/>
                          </a:solidFill>
                          <a:latin typeface="Calibri"/>
                        </a:rPr>
                        <a:t>l5a / l5b / l5c</a:t>
                      </a:r>
                    </a:p>
                  </a:txBody>
                  <a:tcPr marL="73152" marT="18288" marB="18288">
                    <a:solidFill>
                      <a:srgbClr val="EEF3F8"/>
                    </a:solidFill>
                  </a:tcPr>
                </a:tc>
                <a:tc>
                  <a:txBody>
                    <a:bodyPr/>
                    <a:lstStyle/>
                    <a:p>
                      <a:r>
                        <a:rPr sz="2000">
                          <a:solidFill>
                            <a:srgbClr val="222222"/>
                          </a:solidFill>
                          <a:latin typeface="Calibri"/>
                        </a:rPr>
                        <a:t>Adafruit NeoPixel</a:t>
                      </a:r>
                    </a:p>
                  </a:txBody>
                  <a:tcPr marL="73152" marT="18288" marB="18288">
                    <a:solidFill>
                      <a:srgbClr val="EEF3F8"/>
                    </a:solidFill>
                  </a:tcPr>
                </a:tc>
              </a:tr>
              <a:tr h="393700">
                <a:tc>
                  <a:txBody>
                    <a:bodyPr/>
                    <a:lstStyle/>
                    <a:p>
                      <a:r>
                        <a:rPr sz="2000">
                          <a:solidFill>
                            <a:srgbClr val="222222"/>
                          </a:solidFill>
                          <a:latin typeface="Calibri"/>
                        </a:rPr>
                        <a:t>5</a:t>
                      </a:r>
                    </a:p>
                  </a:txBody>
                  <a:tcPr marL="73152" marT="18288" marB="18288">
                    <a:solidFill>
                      <a:srgbClr val="FFFFFF"/>
                    </a:solidFill>
                  </a:tcPr>
                </a:tc>
                <a:tc>
                  <a:txBody>
                    <a:bodyPr/>
                    <a:lstStyle/>
                    <a:p>
                      <a:r>
                        <a:rPr sz="2000">
                          <a:solidFill>
                            <a:srgbClr val="222222"/>
                          </a:solidFill>
                          <a:latin typeface="Calibri"/>
                        </a:rPr>
                        <a:t>pathfinder_nintendoswitch</a:t>
                      </a:r>
                    </a:p>
                  </a:txBody>
                  <a:tcPr marL="73152" marT="18288" marB="18288">
                    <a:solidFill>
                      <a:srgbClr val="FFFFFF"/>
                    </a:solidFill>
                  </a:tcPr>
                </a:tc>
                <a:tc>
                  <a:txBody>
                    <a:bodyPr/>
                    <a:lstStyle/>
                    <a:p>
                      <a:r>
                        <a:rPr sz="2000">
                          <a:solidFill>
                            <a:srgbClr val="222222"/>
                          </a:solidFill>
                          <a:latin typeface="Calibri"/>
                        </a:rPr>
                        <a:t>Adafruit NeoPixel</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 program from here on prints something. Get in the habit of having the Serial Monitor open.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15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Talking back</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light</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Everything in Lesson 2 onwards moves. This page stops being theoretical next lesson.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