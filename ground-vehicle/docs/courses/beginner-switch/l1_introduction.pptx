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the clock here. Three hours, two ten-minute breaks, and by the end every group has uploaded three programs.</a:t>
            </a:r>
          </a:p>
          <a:p>
            <a:r>
              <a:rPr sz="1200">
                <a:latin typeface="Calibri"/>
              </a:rPr>
              <a:t>Introduce yourself and get their names. Ask who has written any code before - the answer shapes how fast you can go through the IDE section.</a:t>
            </a:r>
          </a:p>
          <a:p>
            <a:r>
              <a:rPr sz="1200">
                <a:latin typeface="Calibri"/>
              </a:rPr>
              <a:t>Have the vehicles out on the desks already, switched off. People settle faster when there is something in front of them.</a:t>
            </a:r>
          </a:p>
          <a:p>
            <a:r>
              <a:rPr sz="1200">
                <a:latin typeface="Calibri"/>
              </a:rPr>
              <a:t>Say what today is NOT: nothing drives today. Motors are next lesson.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these out. It takes forty seconds and it tells the room what success looks like.</a:t>
            </a:r>
          </a:p>
          <a:p>
            <a:r>
              <a:rPr sz="1200">
                <a:latin typeface="Calibri"/>
              </a:rPr>
              <a:t>Come back to this slide in the last five minutes and ask them to score themselves against it. Anything nobody can do is what you open with next lesson.</a:t>
            </a:r>
          </a:p>
          <a:p>
            <a:r>
              <a:rPr sz="1200">
                <a:latin typeface="Calibri"/>
              </a:rPr>
              <a:t>Objective four - saying why the resistor is there - is the one that separates following instructions from understanding. Watch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tone of the whole course is set in the next two minutes. Interruptions are wanted, not tolerated.</a:t>
            </a:r>
          </a:p>
          <a:p>
            <a:r>
              <a:rPr sz="1200">
                <a:latin typeface="Calibri"/>
              </a:rPr>
              <a:t>Groups of three: one driving the laptop, one reading the slide out, one on the vehicle. Tell them to swap roles every activity, and mean it.</a:t>
            </a:r>
          </a:p>
          <a:p>
            <a:r>
              <a:rPr sz="1200">
                <a:latin typeface="Calibri"/>
              </a:rPr>
              <a:t>The last bullet is the important one. Say it slowly. Students who think a misbehaving vehicle means they are bad at this will give up in Lesson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line each, no more. This is a map, not a syllabus.</a:t>
            </a:r>
          </a:p>
          <a:p>
            <a:r>
              <a:rPr sz="1200">
                <a:latin typeface="Calibri"/>
              </a:rPr>
              <a:t>Point at Lesson 5 and say that the program they end on is the same one that leaves the factory on a finished vehicle. That lands.</a:t>
            </a:r>
          </a:p>
          <a:p>
            <a:r>
              <a:rPr sz="1200">
                <a:latin typeface="Calibri"/>
              </a:rPr>
              <a:t>If somebody asks about the advanced course, hold it - it is on the last slide of Lesson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the two break times on the whiteboard as well. People relax when they know when the next one is.</a:t>
            </a:r>
          </a:p>
          <a:p>
            <a:r>
              <a:rPr sz="1200">
                <a:latin typeface="Calibri"/>
              </a:rPr>
              <a:t>The timings are a guide. The IDE install is the one that runs over; if it does, take it out of the Serial Monitor section, not out of the blink activity.</a:t>
            </a:r>
          </a:p>
          <a:p>
            <a:r>
              <a:rPr sz="1200">
                <a:latin typeface="Calibri"/>
              </a:rPr>
              <a:t>If the whole room is installed and ready early, go straight to the breadboards. Never fill 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 word MECHATRONICS said out loud by somebody other than you.</a:t>
            </a:r>
          </a:p>
          <a:p>
            <a:r>
              <a:rPr sz="1200">
                <a:latin typeface="Calibri"/>
              </a:rPr>
              <a:t>The figure narrows from all of engineering down to what is on the desk. Walk it inwards with a finger.</a:t>
            </a:r>
          </a:p>
          <a:p>
            <a:r>
              <a:rPr sz="1200">
                <a:latin typeface="Calibri"/>
              </a:rPr>
              <a:t>Ask for three mechatronic things in the room. Printer, car, washing machine, lift, and the vehicle in front of them all count.</a:t>
            </a:r>
          </a:p>
          <a:p>
            <a:r>
              <a:rPr sz="1200">
                <a:latin typeface="Calibri"/>
              </a:rPr>
              <a:t>Do not get drawn into a definitions argument. The point is that the three disciplines are one job, not three.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to point at when somebody asks why they are doing math in a robotics class.</a:t>
            </a:r>
          </a:p>
          <a:p>
            <a:r>
              <a:rPr sz="1200">
                <a:latin typeface="Calibri"/>
              </a:rPr>
              <a:t>Every item on the left is used in a specific lesson, not in general, and the slide is deliberately terse so you can say which. Circumference and trigonometry in Lesson 2, linear mapping in Lesson 3, Ohm's law in Lessons 2 and 4, wavelength and color perception in Lesson 4.</a:t>
            </a:r>
          </a:p>
          <a:p>
            <a:r>
              <a:rPr sz="1200">
                <a:latin typeface="Calibri"/>
              </a:rPr>
              <a:t>"Mechanical, electrical or software?" is the diagnostic question of the whole course. Ask it out loud every time something does not work, and they will start asking it themselves by Lesson 3.</a:t>
            </a:r>
          </a:p>
          <a:p>
            <a:r>
              <a:rPr sz="1200">
                <a:latin typeface="Calibri"/>
              </a:rPr>
              <a:t>The right-hand column is what actually gets people hired. Read it as a list of habits, and tell them you will be marking those habits all term.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vehicle round while you talk over this slide. Let them pick it up - it is built to be handled.</a:t>
            </a:r>
          </a:p>
          <a:p>
            <a:r>
              <a:rPr sz="1200">
                <a:latin typeface="Calibri"/>
              </a:rPr>
              <a:t>Both pictures are the same vehicle running the SAME PROGRAM. Nobody reprogrammed anything between them - somebody pushed the D-pad the other way. Say that explicitly, because it is easy to assume two pictures mean two programs.</a:t>
            </a:r>
          </a:p>
          <a:p>
            <a:r>
              <a:rPr sz="1200">
                <a:latin typeface="Calibri"/>
              </a:rPr>
              <a:t>Point out that each indicator lights the front bar and the rear bar on that side, the way a car does. It is one side of the vehicle, seen front and back, not one end of it.</a:t>
            </a:r>
          </a:p>
          <a:p>
            <a:r>
              <a:rPr sz="1200">
                <a:latin typeface="Calibri"/>
              </a:rPr>
              <a:t>That is the through-line of the whole course: the hardware is fixed, one program covers every behavior, and what changes is the input it is given.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each part while holding a vehicle, then put the labeled picture up on the next slide and let them match the two.</a:t>
            </a:r>
          </a:p>
          <a:p>
            <a:r>
              <a:rPr sz="1200">
                <a:latin typeface="Calibri"/>
              </a:rPr>
              <a:t>The tank-steering point is the one to land. Everything in Lesson 2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a minute to find each part on a real vehicle.</a:t>
            </a:r>
          </a:p>
          <a:p>
            <a:r>
              <a:rPr sz="1200">
                <a:latin typeface="Calibri"/>
              </a:rPr>
              <a:t>Worth pointing out the two LED bars are 16 each, front and rear - that becomes important in Lesson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same vehicle as the photograph before it, drawn flat so you can see what is under the battery.</a:t>
            </a:r>
          </a:p>
          <a:p>
            <a:r>
              <a:rPr sz="1200">
                <a:latin typeface="Calibri"/>
              </a:rPr>
              <a:t>The four corners each carry a turn signal, a headlight or brights at the front, and a tail light and backup light at the rear. That naming comes back in Lesson 4 when they light them.</a:t>
            </a:r>
          </a:p>
          <a:p>
            <a:r>
              <a:rPr sz="1200">
                <a:latin typeface="Calibri"/>
              </a:rPr>
              <a:t>Get them to find the power switch and the 16 V socket on a real vehicle before moving on.</a:t>
            </a:r>
          </a:p>
          <a:p>
            <a:r>
              <a:rPr sz="1200">
                <a:latin typeface="Calibri"/>
              </a:rPr>
              <a:t>Note there are FOUR motor drive connectors, numbered 1 to 4, and the numbering is not the order you would guess. Lesson 2 has the pin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top plate is not a lid. It is the development area, and it is why this vehicle can grow.</a:t>
            </a:r>
          </a:p>
          <a:p>
            <a:r>
              <a:rPr sz="1200">
                <a:latin typeface="Calibri"/>
              </a:rPr>
              <a:t>The cutout gives you access to the ESP32 pins without taking anything apart. That is where the breadboard circuit later in this lesson connects.</a:t>
            </a:r>
          </a:p>
          <a:p>
            <a:r>
              <a:rPr sz="1200">
                <a:latin typeface="Calibri"/>
              </a:rPr>
              <a:t>Everything in the advanced course - the range finder, the extra sensors - lands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seconds of history, no more. The point is that the vehicle is a real product line that has been revised, not a kit somebody assembled once.</a:t>
            </a:r>
          </a:p>
          <a:p>
            <a:r>
              <a:rPr sz="1200">
                <a:latin typeface="Calibri"/>
              </a:rPr>
              <a:t>Gen 1 was the proof that the idea worked. Gen 2 is most of the fleet. Gen 3 is what new vehicles are built as.</a:t>
            </a:r>
          </a:p>
          <a:p>
            <a:r>
              <a:rPr sz="1200">
                <a:latin typeface="Calibri"/>
              </a:rPr>
              <a:t>Do not let this run long. The slide they actually need is the next one, which tells them which vehicle is in front of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first: hands up who has the frame in one piece? Then let them work out which generation they are holding.</a:t>
            </a:r>
          </a:p>
          <a:p>
            <a:r>
              <a:rPr sz="1200">
                <a:latin typeface="Calibri"/>
              </a:rPr>
              <a:t>Nothing in these five lessons needs a Gen 3. Say so plainly, so nobody with a Gen 2 thinks they are missing out.</a:t>
            </a:r>
          </a:p>
          <a:p>
            <a:r>
              <a:rPr sz="1200">
                <a:latin typeface="Calibri"/>
              </a:rPr>
              <a:t>The upside-down point is worth demonstrating if you have a Gen 3 handy. Flip it over on the desk and let it drive.</a:t>
            </a:r>
          </a:p>
          <a:p>
            <a:r>
              <a:rPr sz="1200">
                <a:latin typeface="Calibri"/>
              </a:rPr>
              <a:t>The INA219 is only mentioned here. It comes back properly in the advanced course, so do not go down that road now.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Gen 3 round if you have one. The unibody frame is obvious the moment somebody picks it up.</a:t>
            </a:r>
          </a:p>
          <a:p>
            <a:r>
              <a:rPr sz="1200">
                <a:latin typeface="Calibri"/>
              </a:rPr>
              <a:t>The upside-down trick is the one they will remember. If you have a Gen 3 to hand, do it live rather than showing a picture.</a:t>
            </a:r>
          </a:p>
          <a:p>
            <a:r>
              <a:rPr sz="1200">
                <a:latin typeface="Calibri"/>
              </a:rPr>
              <a:t>The placeholder is a photograph we still owe this deck. Until it arrives, demonstrate it instead.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LIVE if you have a Gen 3 and the jumper. Two minutes of watching beats a slide, and it is the first time they see the vehicle check itself.</a:t>
            </a:r>
          </a:p>
          <a:p>
            <a:r>
              <a:rPr sz="1200">
                <a:latin typeface="Calibri"/>
              </a:rPr>
              <a:t>Put the Serial Monitor on the projector while it runs. The per-motor PASS and FAIL lines are the interesting part.</a:t>
            </a:r>
          </a:p>
          <a:p>
            <a:r>
              <a:rPr sz="1200">
                <a:latin typeface="Calibri"/>
              </a:rPr>
              <a:t>Unplug one motor first if you want a FAIL to show. It is worth doing - a test that only ever passes teaches nothing.</a:t>
            </a:r>
          </a:p>
          <a:p>
            <a:r>
              <a:rPr sz="1200">
                <a:latin typeface="Calibri"/>
              </a:rPr>
              <a:t>Head off the obvious question: no, they are not writing this today. It is the advanced course. Today it is a promise of where the five lessons lead.</a:t>
            </a:r>
          </a:p>
          <a:p>
            <a:r>
              <a:rPr sz="1200">
                <a:latin typeface="Calibri"/>
              </a:rPr>
              <a:t>A Gen 2 has no current sensor and will simply skip the test. Say so, so nobody thinks their vehicle is broken.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Walk it left to right with a real vehicle in your hand, touching each box as you name it.</a:t>
            </a:r>
          </a:p>
          <a:p>
            <a:r>
              <a:rPr sz="1200">
                <a:latin typeface="Calibri"/>
              </a:rPr>
              <a:t>The point of the diagram is that nothing here is magic - every arrow is a wire or a radio link you can point at.</a:t>
            </a:r>
          </a:p>
          <a:p>
            <a:r>
              <a:rPr sz="1200">
                <a:latin typeface="Calibri"/>
              </a:rPr>
              <a:t>Ask where THEIR program sits. The answer is the ESP32 box, and everything either side of it is fixed hardware they inherit.</a:t>
            </a:r>
          </a:p>
          <a:p>
            <a:r>
              <a:rPr sz="1200">
                <a:latin typeface="Calibri"/>
              </a:rPr>
              <a:t>Come back to this slide whenever somebody is stuck: naming which box the fault is in is most of the debugging.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not a teaching slide. Point at it and tell them where to find it again.</a:t>
            </a:r>
          </a:p>
          <a:p>
            <a:r>
              <a:rPr sz="1200">
                <a:latin typeface="Calibri"/>
              </a:rPr>
              <a:t>The full ESP32 has 38 pins. These are the ones wired to something on this board, which is the only list they need.</a:t>
            </a:r>
          </a:p>
          <a:p>
            <a:r>
              <a:rPr sz="1200">
                <a:latin typeface="Calibri"/>
              </a:rPr>
              <a:t>The motor pin numbers come straight out of the sketch, so the slide cannot disagree with the file.</a:t>
            </a:r>
          </a:p>
          <a:p>
            <a:r>
              <a:rPr sz="1200">
                <a:latin typeface="Calibri"/>
              </a:rPr>
              <a:t>The two facts worth saying out loud: GPIO 34 to 39 are INPUT ONLY and have no internal pull-up, and GPIO 0 is the BOOT button, so holding it down at reset does something special.</a:t>
            </a:r>
          </a:p>
          <a:p>
            <a:r>
              <a:rPr sz="1200">
                <a:latin typeface="Calibri"/>
              </a:rPr>
              <a:t>Worth printing and taping inside the lid of the parts box.</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it, say what it is, and move on. Fifteen seconds.</a:t>
            </a:r>
          </a:p>
          <a:p>
            <a:r>
              <a:rPr sz="1200">
                <a:latin typeface="Calibri"/>
              </a:rPr>
              <a:t>The reason it is in the deck is that somebody always asks what is actually on the board, and "there is a drawing, here it is" is a better answer than a description.</a:t>
            </a:r>
          </a:p>
          <a:p>
            <a:r>
              <a:rPr sz="1200">
                <a:latin typeface="Calibri"/>
              </a:rPr>
              <a:t>Point out that everything on the previous slide - the motor pins, the LED pin, the I2C pins - is somewhere on this sheet. That is the connection worth making.</a:t>
            </a:r>
          </a:p>
          <a:p>
            <a:r>
              <a:rPr sz="1200">
                <a:latin typeface="Calibri"/>
              </a:rPr>
              <a:t>Anybody who wants to follow it properly should be pointed at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contrast with a laptop is what makes this land. Most of them have never used a machine that runs exactly one program.</a:t>
            </a:r>
          </a:p>
          <a:p>
            <a:r>
              <a:rPr sz="1200">
                <a:latin typeface="Calibri"/>
              </a:rPr>
              <a:t>Nothing interrupts you, and nothing rescues you either. That sentence is the whole slide.</a:t>
            </a:r>
          </a:p>
          <a:p>
            <a:r>
              <a:rPr sz="1200">
                <a:latin typeface="Calibri"/>
              </a:rPr>
              <a:t>This sets up two later ideas: why the Serial Monitor matters (there is no error window) and why delay() is fatal (nothing else is running).</a:t>
            </a:r>
          </a:p>
          <a:p>
            <a:r>
              <a:rPr sz="1200">
                <a:latin typeface="Calibri"/>
              </a:rPr>
              <a:t>If somebody asks about the second core: yes, it has one, and no, we do not use it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 two-machine point explicitly. A surprising number of students assume the laptop is still driving the vehicle.</a:t>
            </a:r>
          </a:p>
          <a:p>
            <a:r>
              <a:rPr sz="1200">
                <a:latin typeface="Calibri"/>
              </a:rPr>
              <a:t>Once a program is uploaded it stays in flash. Unplug the cable, switch the vehicle on tomorrow, and it runs the same program.</a:t>
            </a:r>
          </a:p>
          <a:p>
            <a:r>
              <a:rPr sz="1200">
                <a:latin typeface="Calibri"/>
              </a:rPr>
              <a:t>The left photograph is a vehicle being worked on in the field, which is where this kit is actually used.</a:t>
            </a:r>
          </a:p>
          <a:p>
            <a:r>
              <a:rPr sz="1200">
                <a:latin typeface="Calibri"/>
              </a:rPr>
              <a:t>Point at the ESP32 on a real vehicle before moving on. It is smaller than most people expect.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next thirty-five minutes are the least fun part of the whole course. Say so, and promise them something blinking at the end of it.</a:t>
            </a:r>
          </a:p>
          <a:p>
            <a:r>
              <a:rPr sz="1200">
                <a:latin typeface="Calibri"/>
              </a:rPr>
              <a:t>Get the fast finishers helping their neighbors rather than sitting idle.</a:t>
            </a:r>
          </a:p>
          <a:p>
            <a:r>
              <a:rPr sz="1200">
                <a:latin typeface="Calibri"/>
              </a:rPr>
              <a:t>Have a spare laptop set up and working, so a machine that will not cooperate never blocks a whole group.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one step at a time with the room, not as a slide to read.</a:t>
            </a:r>
          </a:p>
          <a:p>
            <a:r>
              <a:rPr sz="1200">
                <a:latin typeface="Calibri"/>
              </a:rPr>
              <a:t>Anybody on a school-managed laptop may need an administrator. Find that out now rather than at the upload step.</a:t>
            </a:r>
          </a:p>
          <a:p>
            <a:r>
              <a:rPr sz="1200">
                <a:latin typeface="Calibri"/>
              </a:rPr>
              <a:t>The download is large. Start it, then talk over the top of it - do not watch a progress bar with thirty people.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goes wrong most often. Do it together, one line at a time, and do not let the fast groups run ahead.</a:t>
            </a:r>
          </a:p>
          <a:p>
            <a:r>
              <a:rPr sz="1200">
                <a:latin typeface="Calibri"/>
              </a:rPr>
              <a:t>The URL is the part everybody mistypes. Have it ready to paste into the chat, or written on the board, rather than reading it out.</a:t>
            </a:r>
          </a:p>
          <a:p>
            <a:r>
              <a:rPr sz="1200">
                <a:latin typeface="Calibri"/>
              </a:rPr>
              <a:t>The board package is a large download. Start everybody off, then talk over it rather than watching a progress bar with thirty people.</a:t>
            </a:r>
          </a:p>
          <a:p>
            <a:r>
              <a:rPr sz="1200">
                <a:latin typeface="Calibri"/>
              </a:rPr>
              <a:t>If a download fails halfway, close the IDE completely and start it again before retrying.</a:t>
            </a:r>
          </a:p>
          <a:p>
            <a:r>
              <a:rPr sz="1200">
                <a:latin typeface="Calibri"/>
              </a:rPr>
              <a:t>Nobody moves on until Boards Manager shows the package as INSTALLED. Check screens rather than taking their word for it.</a:t>
            </a:r>
          </a:p>
          <a:p>
            <a:r>
              <a:rPr sz="1200">
                <a:latin typeface="Calibri"/>
              </a:rPr>
              <a:t>The version number matters more than they think. A different version is the cause of most compile errors that make no sense.</a:t>
            </a:r>
          </a:p>
          <a:p>
            <a:r>
              <a:rPr sz="1200">
                <a:latin typeface="Calibri"/>
              </a:rPr>
              <a:t>On the Switch track, warn them that Boards Manager now lists TWO entries called "ESP32 Dev Module", one under "esp32" and one under "esp32_bluepad32". A pile of errors that make no sense almost always means the wrong one is selected.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menus, and both are easy to get wrong. Walk round and check every screen before anybody tries to upload.</a:t>
            </a:r>
          </a:p>
          <a:p>
            <a:r>
              <a:rPr sz="1200">
                <a:latin typeface="Calibri"/>
              </a:rPr>
              <a:t>The charge-only cable is the single most common failure in this room. Have two known-good cables in your pocket.</a:t>
            </a:r>
          </a:p>
          <a:p>
            <a:r>
              <a:rPr sz="1200">
                <a:latin typeface="Calibri"/>
              </a:rPr>
              <a:t>If no port appears: is the vehicle switched on? Is it the right cable? In that order, every time.</a:t>
            </a:r>
          </a:p>
          <a:p>
            <a:r>
              <a:rPr sz="1200">
                <a:latin typeface="Calibri"/>
              </a:rPr>
              <a:t>On Windows a missing driver can also do it. That is a CP210x or CH340 install, and it is worth having the file on a memory stick.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Define LIBRARY properly here, out loud: code somebody else already wrote and tested, which your program can call instead of you writing it again. It is the first time the word has meant anything to most of the room, and it does not need to be on the slide.</a:t>
            </a:r>
          </a:p>
          <a:p>
            <a:r>
              <a:rPr sz="1200">
                <a:latin typeface="Calibri"/>
              </a:rPr>
              <a:t>Both libraries go in now, even though nothing needs them until Lesson 4. Doing it once saves a whole class of upload failures later.</a:t>
            </a:r>
          </a:p>
          <a:p>
            <a:r>
              <a:rPr sz="1200">
                <a:latin typeface="Calibri"/>
              </a:rPr>
              <a:t>Watch the search box. The display name is not always what you would guess, which is exactly what the note on the slide says.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reference page. Tell students to photograph it.</a:t>
            </a:r>
          </a:p>
          <a:p>
            <a:r>
              <a:rPr sz="1200">
                <a:latin typeface="Calibri"/>
              </a:rPr>
              <a:t>Worth saying out loud: the board package is not a library. The board package teaches the IDE what an ESP32 is; a library is code your program calls.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together. It is the single most common place a beginner gets stuck, and it costs ten minutes now against forty later.</a:t>
            </a:r>
          </a:p>
          <a:p>
            <a:r>
              <a:rPr sz="1200">
                <a:latin typeface="Calibri"/>
              </a:rPr>
              <a:t>Say plainly that the drive holds programs only. Anybody who did an earlier version of this course will remember copying libraries off it, and that is no longer how it works. Library Manager is the one route in, and it gets them the version we tested against.</a:t>
            </a:r>
          </a:p>
          <a:p>
            <a:r>
              <a:rPr sz="1200">
                <a:latin typeface="Calibri"/>
              </a:rPr>
              <a:t>Walk the room. Check File &gt; Sketchbook actually lists the lessons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From here on they are building rather than installing. The energy in the room should go up.</a:t>
            </a:r>
          </a:p>
          <a:p>
            <a:r>
              <a:rPr sz="1200">
                <a:latin typeface="Calibri"/>
              </a:rPr>
              <a:t>Hand out the breadboards, LEDs, resistors and jumper wires now, one set per group,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this shape up for the whole course. Every program they ever open has these three parts, and knowing which part a line lives in tells you WHEN it runs.</a:t>
            </a:r>
          </a:p>
          <a:p>
            <a:r>
              <a:rPr sz="1200">
                <a:latin typeface="Calibri"/>
              </a:rPr>
              <a:t>Ask before you explain: which of these three runs more than once? Let somebody get it wrong first - the answer sticks better.</a:t>
            </a:r>
          </a:p>
          <a:p>
            <a:r>
              <a:rPr sz="1200">
                <a:latin typeface="Calibri"/>
              </a:rPr>
              <a:t>The first part has no keyword in C++. It is just the top of the file. Naming it anyway gives them somewhere to file #includes and constants.</a:t>
            </a:r>
          </a:p>
          <a:p>
            <a:r>
              <a:rPr sz="1200">
                <a:latin typeface="Calibri"/>
              </a:rPr>
              <a:t>Common misunderstanding: students think setup() runs every time round. Say plainly that it runs once, at power-up, and never again until reset.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the three parts as you name them.</a:t>
            </a:r>
          </a:p>
          <a:p>
            <a:r>
              <a:rPr sz="1200">
                <a:latin typeface="Calibri"/>
              </a:rPr>
              <a:t>If anyone asks why the resistor: tell them to wait ninety seconds, it is the next slide but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them to look down into the holes. The metal clips are visible.</a:t>
            </a:r>
          </a:p>
          <a:p>
            <a:r>
              <a:rPr sz="1200">
                <a:latin typeface="Calibri"/>
              </a:rPr>
              <a:t>The row-of-five rule is the single fact that makes breadboards make sense. Say it twice.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Trace the loop with a finger: out of the pin, through the resistor, through the LED, back to ground. A circuit that is not a loop does nothing.</a:t>
            </a:r>
          </a:p>
          <a:p>
            <a:r>
              <a:rPr sz="1200">
                <a:latin typeface="Calibri"/>
              </a:rPr>
              <a:t>Ask what the resistor is for BEFORE you say. The answer is that the LED will take as much current as you let it, and then stop being an LED.</a:t>
            </a:r>
          </a:p>
          <a:p>
            <a:r>
              <a:rPr sz="1200">
                <a:latin typeface="Calibri"/>
              </a:rPr>
              <a:t>The long leg is the anode and goes toward the pin. Backwards means no light and no damage, so let them find out.</a:t>
            </a:r>
          </a:p>
          <a:p>
            <a:r>
              <a:rPr sz="1200">
                <a:latin typeface="Calibri"/>
              </a:rPr>
              <a:t>This is a SCHEMATIC, and for most of the room it is the first one they have read. Name the two symbols out loud - a zigzag is a resistor, a triangle pointing at a bar is a diode - and say that the bar is the side current cannot come back through.</a:t>
            </a:r>
          </a:p>
          <a:p>
            <a:r>
              <a:rPr sz="1200">
                <a:latin typeface="Calibri"/>
              </a:rPr>
              <a:t>The three-bar symbol at the bottom is ground. They will see it on every circuit diagram for the rest of their lives.</a:t>
            </a:r>
          </a:p>
          <a:p>
            <a:r>
              <a:rPr sz="1200">
                <a:latin typeface="Calibri"/>
              </a:rPr>
              <a:t>Ground is not optional. Half the circuits that do not work are missing the return path.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Circulate. The two failures you will see are the LED in backwards and legs in different rows so nothing is connected.</a:t>
            </a:r>
          </a:p>
          <a:p>
            <a:r>
              <a:rPr sz="1200">
                <a:latin typeface="Calibri"/>
              </a:rPr>
              <a:t>Nobody uploads anything until their circuit is built and checked.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turns a circuit into a computer-controlled circuit. Make the distinction explicit.</a:t>
            </a:r>
          </a:p>
          <a:p>
            <a:r>
              <a:rPr sz="1200">
                <a:latin typeface="Calibri"/>
              </a:rPr>
              <a:t>Point at the top-plate cutout on a real vehicle and show them where the two wires go.</a:t>
            </a:r>
          </a:p>
          <a:p>
            <a:r>
              <a:rPr sz="1200">
                <a:latin typeface="Calibri"/>
              </a:rPr>
              <a:t>The 12 milliamp figure is worth saying: it is why an LED is fine straight off a pin and a motor never is. That is what the H-bridge in Lesson 2 is for.</a:t>
            </a:r>
          </a:p>
          <a:p>
            <a:r>
              <a:rPr sz="1200">
                <a:latin typeface="Calibri"/>
              </a:rPr>
              <a:t>The photograph here is still to be taken. Until it arrives, wire one up on the desk and hold it where people can see.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Fourteen lines, and every one of them is worth a sentence. This is the first program they read, so read it properly.</a:t>
            </a:r>
          </a:p>
          <a:p>
            <a:r>
              <a:rPr sz="1200">
                <a:latin typeface="Calibri"/>
              </a:rPr>
              <a:t>Ask which lines are initialisation, which are setup, which are loop, and point back to the three-part diagram.</a:t>
            </a:r>
          </a:p>
          <a:p>
            <a:r>
              <a:rPr sz="1200">
                <a:latin typeface="Calibri"/>
              </a:rPr>
              <a:t>Ask what happens when loop() reaches the bottom. The answer - it starts again immediately - is not obvious to everybody.</a:t>
            </a:r>
          </a:p>
          <a:p>
            <a:r>
              <a:rPr sz="1200">
                <a:latin typeface="Calibri"/>
              </a:rPr>
              <a:t>Flag the two delay() calls. Tell them these come out in Lesson 5 and that there is a good reason.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Where we have been, where we are, what is left.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Circuits checked before anybody uploads. Say it once, then enforce it.</a:t>
            </a:r>
          </a:p>
          <a:p>
            <a:r>
              <a:rPr sz="1200">
                <a:latin typeface="Calibri"/>
              </a:rPr>
              <a:t>Steps 1 to 4 are following instructions. Steps 5 and 6 are the actual lesson - do not let a group stop at step 4.</a:t>
            </a:r>
          </a:p>
          <a:p>
            <a:r>
              <a:rPr sz="1200">
                <a:latin typeface="Calibri"/>
              </a:rPr>
              <a:t>The deleted-delay question is the good one. It still blinks, at about half a second on and no time off, so it looks permanently lit.</a:t>
            </a:r>
          </a:p>
          <a:p>
            <a:r>
              <a:rPr sz="1200">
                <a:latin typeface="Calibri"/>
              </a:rPr>
              <a:t>The red-LED question needs Ohm's law, which they have not had yet. Take answers, do not resolve it, and promise it for Lesson 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Frame this as giving the vehicle a voice. It is the only way it can tell them anything.</a:t>
            </a:r>
          </a:p>
          <a:p>
            <a:r>
              <a:rPr sz="1200">
                <a:latin typeface="Calibri"/>
              </a:rPr>
              <a:t>Twenty-five minutes, and most of it should be them typing.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baud rate mismatch is the thing that will happen to somebody in the next ten minutes. Show them the nonsense characters deliberately so they recognise it.</a:t>
            </a:r>
          </a:p>
          <a:p>
            <a:r>
              <a:rPr sz="1200">
                <a:latin typeface="Calibri"/>
              </a:rPr>
              <a:t>print versus println is worth ten seconds with a marker on the board.</a:t>
            </a:r>
          </a:p>
          <a:p>
            <a:r>
              <a:rPr sz="1200">
                <a:latin typeface="Calibri"/>
              </a:rPr>
              <a:t>The last bullet is the debugging habit the whole course rests on: print the numbers, do not stare at the code.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lecture types. Read the table, then get them to tell you which type they would use for a battery voltage and which for a pin number.</a:t>
            </a:r>
          </a:p>
          <a:p>
            <a:r>
              <a:rPr sz="1200">
                <a:latin typeface="Calibri"/>
              </a:rPr>
              <a:t>unsigned long is on the table now purely so it is not a surprise in Lesson 5. Say that and move on.</a:t>
            </a:r>
          </a:p>
          <a:p>
            <a:r>
              <a:rPr sz="1200">
                <a:latin typeface="Calibri"/>
              </a:rPr>
              <a:t>The const point is worth making twice: it is not about the computer, it is about stopping YOU from changing a setting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them predict all three answers before you reveal anything.</a:t>
            </a:r>
          </a:p>
          <a:p>
            <a:r>
              <a:rPr sz="1200">
                <a:latin typeface="Calibri"/>
              </a:rPr>
              <a:t>The 7 / 2 result is genuinely surprising, and being surprised is the point. It does not round - it throws the remainder away.</a:t>
            </a:r>
          </a:p>
          <a:p>
            <a:r>
              <a:rPr sz="1200">
                <a:latin typeface="Calibri"/>
              </a:rPr>
              <a:t>This exact trap turns up in Lesson 2 when a speed calculation comes out as zero. Tell them now, so they remember it then.</a:t>
            </a:r>
          </a:p>
          <a:p>
            <a:r>
              <a:rPr sz="1200">
                <a:latin typeface="Calibri"/>
              </a:rPr>
              <a:t>The % operator is new to most. One example is enough.</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down, three to go.</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5 is the one that matters: predict, then check. Do not let anybody upload before writing down what they expect.</a:t>
            </a:r>
          </a:p>
          <a:p>
            <a:r>
              <a:rPr sz="1200">
                <a:latin typeface="Calibri"/>
              </a:rPr>
              <a:t>The reset button is on the ESP32 itself and is marked EN. Show them where before they hunt for it.</a:t>
            </a:r>
          </a:p>
          <a:p>
            <a:r>
              <a:rPr sz="1200">
                <a:latin typeface="Calibri"/>
              </a:rPr>
              <a:t>millis() / 1000 gives seconds since power-up. That is the first time millis() appears, and it is deliberate groundwork for Lesson 5.</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Last twenty minutes. This is the one they will tell people about.</a:t>
            </a:r>
          </a:p>
          <a:p>
            <a:r>
              <a:rPr sz="1200">
                <a:latin typeface="Calibri"/>
              </a:rPr>
              <a:t>Have a vehicle switched on and connected to your laptop, ready to demonstrate if a group is stuck.</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slide: each LED keeps the first message and passes the rest along.</a:t>
            </a:r>
          </a:p>
          <a:p>
            <a:r>
              <a:rPr sz="1200">
                <a:latin typeface="Calibri"/>
              </a:rPr>
              <a:t>That is why one wire drives thirty-two lights, and why they are numbered in the order the data flows rather than in any tidy order.</a:t>
            </a:r>
          </a:p>
          <a:p>
            <a:r>
              <a:rPr sz="1200">
                <a:latin typeface="Calibri"/>
              </a:rPr>
              <a:t>Say the show() rule now and say it again during the activity. It is the single most common NeoPixel mistake and it looks exactly like broken hardware.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all twenty lines. Read the constants block, the strip declaration, and the two lines in loop() that actually do something.</a:t>
            </a:r>
          </a:p>
          <a:p>
            <a:r>
              <a:rPr sz="1200">
                <a:latin typeface="Calibri"/>
              </a:rPr>
              <a:t>NEO_GRB catches people out: these parts want green first. It is not a mistake on the slide.</a:t>
            </a:r>
          </a:p>
          <a:p>
            <a:r>
              <a:rPr sz="1200">
                <a:latin typeface="Calibri"/>
              </a:rPr>
              <a:t>setBrightness is a master dimmer for the whole strip and is set once. setPixelColor is per LED. Keep those two apart.</a:t>
            </a:r>
          </a:p>
          <a:p>
            <a:r>
              <a:rPr sz="1200">
                <a:latin typeface="Calibri"/>
              </a:rPr>
              <a:t>Point at strip.show() and say that nothing reaches the vehicle without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One to go, and it is the one with the lights.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 the paper drawing - is homework for Lesson 4. Make sure every group actually does it and keeps it.</a:t>
            </a:r>
          </a:p>
          <a:p>
            <a:r>
              <a:rPr sz="1200">
                <a:latin typeface="Calibri"/>
              </a:rPr>
              <a:t>Walk round with the LED numbers in your head: 0 to 15 is one bar, 16 to 31 is the other. Do not just tell them - let them find it.</a:t>
            </a:r>
          </a:p>
          <a:p>
            <a:r>
              <a:rPr sz="1200">
                <a:latin typeface="Calibri"/>
              </a:rPr>
              <a:t>(255, 255, 0) is yellow and (128, 0, 128) is a dim purple. Let them predict first.</a:t>
            </a:r>
          </a:p>
          <a:p>
            <a:r>
              <a:rPr sz="1200">
                <a:latin typeface="Calibri"/>
              </a:rPr>
              <a:t>Deleting show() is a deliberate failure. Make everybody do it, so the symptom is familiar before it happens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here. This is the page that stops somebody getting hurt next lesson.</a:t>
            </a:r>
          </a:p>
          <a:p>
            <a:r>
              <a:rPr sz="1200">
                <a:latin typeface="Calibri"/>
              </a:rPr>
              <a:t>Show them a real pack, and show them the swelling you are describing. Words alone do not do it.</a:t>
            </a:r>
          </a:p>
          <a:p>
            <a:r>
              <a:rPr sz="1200">
                <a:latin typeface="Calibri"/>
              </a:rPr>
              <a:t>Wheels off the ground is the rule they will be tempted to break in Lesson 2. Make it a habit today, while nothing moves.</a:t>
            </a:r>
          </a:p>
          <a:p>
            <a:r>
              <a:rPr sz="1200">
                <a:latin typeface="Calibri"/>
              </a:rPr>
              <a:t>Ask each group to find their power switch now and point at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as a conversation, not a test. Ask the room, take a wrong answer first, then get to the right one.</a:t>
            </a:r>
          </a:p>
          <a:p>
            <a:r>
              <a:rPr sz="1200">
                <a:latin typeface="Calibri"/>
              </a:rPr>
              <a:t>Answers, in order: initialisation once at the top / setup once at power-up / loop forever; pinMode makes the pin an output, and without it digitalWrite does nothing; the baud rate does not match Serial.begin; 7 / 2 is 3 and 7.0 / 2 is 3.5; the data is passed down the chain and each LED keeps the first message it sees; you forgot strip.show().</a:t>
            </a:r>
          </a:p>
          <a:p>
            <a:r>
              <a:rPr sz="1200">
                <a:latin typeface="Calibri"/>
              </a:rPr>
              <a:t>Remind them to bring the LED drawing next lesson.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1</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Introduction</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Mechatronics, the Pathfinder vehicle, the Arduino IDE, and your first three programs.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Work in groups of three.</a:t>
            </a:r>
          </a:p>
        </p:txBody>
      </p:sp>
      <p:pic>
        <p:nvPicPr>
          <p:cNvPr id="8" name="Picture 7" descr="vehicle-front-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what mechatronics is, and point to three parts of the Pathfinder that are mechanical, electrical and software</a:t>
            </a:r>
          </a:p>
          <a:p>
            <a:pPr algn="l">
              <a:lnSpc>
                <a:spcPct val="100000"/>
              </a:lnSpc>
              <a:spcAft>
                <a:spcPts val="1300"/>
              </a:spcAft>
              <a:defRPr sz="1900" b="0">
                <a:solidFill>
                  <a:srgbClr val="222222"/>
                </a:solidFill>
                <a:latin typeface="Calibri"/>
              </a:defRPr>
            </a:pPr>
            <a:r>
              <a:rPr sz="1900" b="0">
                <a:solidFill>
                  <a:srgbClr val="222222"/>
                </a:solidFill>
                <a:latin typeface="Calibri"/>
              </a:rPr>
              <a:t>2.   Set up the Arduino IDE, the board package and the libraries, and get the course files into your Arduino folder</a:t>
            </a:r>
          </a:p>
          <a:p>
            <a:pPr algn="l">
              <a:lnSpc>
                <a:spcPct val="100000"/>
              </a:lnSpc>
              <a:spcAft>
                <a:spcPts val="1300"/>
              </a:spcAft>
              <a:defRPr sz="1900" b="0">
                <a:solidFill>
                  <a:srgbClr val="222222"/>
                </a:solidFill>
                <a:latin typeface="Calibri"/>
              </a:defRPr>
            </a:pPr>
            <a:r>
              <a:rPr sz="1900" b="0">
                <a:solidFill>
                  <a:srgbClr val="222222"/>
                </a:solidFill>
                <a:latin typeface="Calibri"/>
              </a:rPr>
              <a:t>3.   Name the three parts of every Arduino program and say when each runs</a:t>
            </a:r>
          </a:p>
          <a:p>
            <a:pPr algn="l">
              <a:lnSpc>
                <a:spcPct val="100000"/>
              </a:lnSpc>
              <a:spcAft>
                <a:spcPts val="1300"/>
              </a:spcAft>
              <a:defRPr sz="1900" b="0">
                <a:solidFill>
                  <a:srgbClr val="222222"/>
                </a:solidFill>
                <a:latin typeface="Calibri"/>
              </a:defRPr>
            </a:pPr>
            <a:r>
              <a:rPr sz="1900" b="0">
                <a:solidFill>
                  <a:srgbClr val="222222"/>
                </a:solidFill>
                <a:latin typeface="Calibri"/>
              </a:rPr>
              <a:t>4.   Build a working LED circuit on a breadboard, and say why the resistor is there</a:t>
            </a:r>
          </a:p>
          <a:p>
            <a:pPr algn="l">
              <a:lnSpc>
                <a:spcPct val="100000"/>
              </a:lnSpc>
              <a:spcAft>
                <a:spcPts val="1300"/>
              </a:spcAft>
              <a:defRPr sz="1900" b="0">
                <a:solidFill>
                  <a:srgbClr val="222222"/>
                </a:solidFill>
                <a:latin typeface="Calibri"/>
              </a:defRPr>
            </a:pPr>
            <a:r>
              <a:rPr sz="1900" b="0">
                <a:solidFill>
                  <a:srgbClr val="222222"/>
                </a:solidFill>
                <a:latin typeface="Calibri"/>
              </a:rPr>
              <a:t>5.   Upload a program to the vehicle and change it</a:t>
            </a:r>
          </a:p>
          <a:p>
            <a:pPr algn="l">
              <a:lnSpc>
                <a:spcPct val="100000"/>
              </a:lnSpc>
              <a:spcAft>
                <a:spcPts val="1300"/>
              </a:spcAft>
              <a:defRPr sz="1900" b="0">
                <a:solidFill>
                  <a:srgbClr val="222222"/>
                </a:solidFill>
                <a:latin typeface="Calibri"/>
              </a:defRPr>
            </a:pPr>
            <a:r>
              <a:rPr sz="1900" b="0">
                <a:solidFill>
                  <a:srgbClr val="222222"/>
                </a:solidFill>
                <a:latin typeface="Calibri"/>
              </a:rPr>
              <a:t>6.   Read what the vehicle prints back on the Serial Monitor</a:t>
            </a:r>
          </a:p>
          <a:p>
            <a:pPr algn="l">
              <a:lnSpc>
                <a:spcPct val="100000"/>
              </a:lnSpc>
              <a:spcAft>
                <a:spcPts val="1300"/>
              </a:spcAft>
              <a:defRPr sz="1900" b="0">
                <a:solidFill>
                  <a:srgbClr val="222222"/>
                </a:solidFill>
                <a:latin typeface="Calibri"/>
              </a:defRPr>
            </a:pPr>
            <a:r>
              <a:rPr sz="1900" b="0">
                <a:solidFill>
                  <a:srgbClr val="222222"/>
                </a:solidFill>
                <a:latin typeface="Calibri"/>
              </a:rPr>
              <a:t>7.   Light any one of the 32 LEDs, in any color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Welcome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This is a five-lesson course. Each lesson is three hours, and each one ends with your vehicle doing something it could not do at the start.</a:t>
            </a:r>
          </a:p>
          <a:p>
            <a:pPr algn="l">
              <a:lnSpc>
                <a:spcPct val="100000"/>
              </a:lnSpc>
              <a:spcAft>
                <a:spcPts val="600"/>
              </a:spcAft>
              <a:defRPr sz="2200" b="0">
                <a:solidFill>
                  <a:srgbClr val="222222"/>
                </a:solidFill>
                <a:latin typeface="Calibri"/>
              </a:defRPr>
            </a:pPr>
            <a:r>
              <a:rPr sz="2200" b="0">
                <a:solidFill>
                  <a:srgbClr val="222222"/>
                </a:solidFill>
                <a:latin typeface="Calibri"/>
              </a:rPr>
              <a:t>Please make it interactive. Questions, comments and better ideas are all welcome, and the best ones usually come from somebody who has just broken something.</a:t>
            </a:r>
          </a:p>
          <a:p>
            <a:pPr algn="l">
              <a:lnSpc>
                <a:spcPct val="100000"/>
              </a:lnSpc>
              <a:spcAft>
                <a:spcPts val="600"/>
              </a:spcAft>
              <a:defRPr sz="2200" b="0">
                <a:solidFill>
                  <a:srgbClr val="222222"/>
                </a:solidFill>
                <a:latin typeface="Calibri"/>
              </a:defRPr>
            </a:pPr>
            <a:r>
              <a:rPr sz="2200" b="0">
                <a:solidFill>
                  <a:srgbClr val="222222"/>
                </a:solidFill>
                <a:latin typeface="Calibri"/>
              </a:rPr>
              <a:t>You work in groups of three and share a vehicle. There are more vehicles if your group wants one each.</a:t>
            </a:r>
          </a:p>
          <a:p>
            <a:pPr algn="l">
              <a:lnSpc>
                <a:spcPct val="100000"/>
              </a:lnSpc>
              <a:spcAft>
                <a:spcPts val="600"/>
              </a:spcAft>
              <a:defRPr sz="2200" b="0">
                <a:solidFill>
                  <a:srgbClr val="222222"/>
                </a:solidFill>
                <a:latin typeface="Calibri"/>
              </a:defRPr>
            </a:pPr>
            <a:r>
              <a:rPr sz="2200" b="0">
                <a:solidFill>
                  <a:srgbClr val="222222"/>
                </a:solidFill>
                <a:latin typeface="Calibri"/>
              </a:rPr>
              <a:t>You will read programs, change them, upload them, and see what happens. Modifying a working program is the fastest way to learn to write one.</a:t>
            </a:r>
          </a:p>
          <a:p>
            <a:pPr algn="l">
              <a:lnSpc>
                <a:spcPct val="100000"/>
              </a:lnSpc>
              <a:spcAft>
                <a:spcPts val="600"/>
              </a:spcAft>
              <a:defRPr sz="2200" b="0">
                <a:solidFill>
                  <a:srgbClr val="222222"/>
                </a:solidFill>
                <a:latin typeface="Calibri"/>
              </a:defRPr>
            </a:pPr>
            <a:r>
              <a:rPr sz="2200" b="0">
                <a:solidFill>
                  <a:srgbClr val="222222"/>
                </a:solidFill>
                <a:latin typeface="Calibri"/>
              </a:rPr>
              <a:t>Very often the vehicle will do exactly what you told it to do, and not at all what you meant. That is not a setback. That is the job.</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By the end of Lesson 5 you will be driving a vehicle you understand line by line, and racing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course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3" cy="3314700"/>
        </p:xfrm>
        <a:graphic>
          <a:graphicData uri="http://schemas.openxmlformats.org/drawingml/2006/table">
            <a:tbl>
              <a:tblPr firstRow="1" bandRow="1">
                <a:tableStyleId>{5C22544A-7EE6-4342-B048-85BDC9FD1C3A}</a:tableStyleId>
              </a:tblPr>
              <a:tblGrid>
                <a:gridCol w="828581"/>
                <a:gridCol w="4142909"/>
                <a:gridCol w="6214363"/>
              </a:tblGrid>
              <a:tr h="552450">
                <a:tc>
                  <a:txBody>
                    <a:bodyPr/>
                    <a:lstStyle/>
                    <a:p>
                      <a:r>
                        <a:rPr sz="2250" b="1">
                          <a:solidFill>
                            <a:srgbClr val="FFFFFF"/>
                          </a:solidFill>
                          <a:latin typeface="Calibri"/>
                        </a:rPr>
                        <a:t>Lesson</a:t>
                      </a:r>
                    </a:p>
                  </a:txBody>
                  <a:tcPr marL="73152" marT="18288" marB="18288">
                    <a:solidFill>
                      <a:srgbClr val="1F3A5F"/>
                    </a:solidFill>
                  </a:tcPr>
                </a:tc>
                <a:tc>
                  <a:txBody>
                    <a:bodyPr/>
                    <a:lstStyle/>
                    <a:p>
                      <a:r>
                        <a:rPr sz="2250" b="1">
                          <a:solidFill>
                            <a:srgbClr val="FFFFFF"/>
                          </a:solidFill>
                          <a:latin typeface="Calibri"/>
                        </a:rPr>
                        <a:t>Subject</a:t>
                      </a:r>
                    </a:p>
                  </a:txBody>
                  <a:tcPr marL="73152" marT="18288" marB="18288">
                    <a:solidFill>
                      <a:srgbClr val="1F3A5F"/>
                    </a:solidFill>
                  </a:tcPr>
                </a:tc>
                <a:tc>
                  <a:txBody>
                    <a:bodyPr/>
                    <a:lstStyle/>
                    <a:p>
                      <a:r>
                        <a:rPr sz="2250" b="1">
                          <a:solidFill>
                            <a:srgbClr val="FFFFFF"/>
                          </a:solidFill>
                          <a:latin typeface="Calibri"/>
                        </a:rPr>
                        <a:t>What your vehicle can do by the end</a:t>
                      </a:r>
                    </a:p>
                  </a:txBody>
                  <a:tcPr marL="73152" marT="18288" marB="18288">
                    <a:solidFill>
                      <a:srgbClr val="1F3A5F"/>
                    </a:solidFill>
                  </a:tcPr>
                </a:tc>
              </a:tr>
              <a:tr h="552450">
                <a:tc>
                  <a:txBody>
                    <a:bodyPr/>
                    <a:lstStyle/>
                    <a:p>
                      <a:r>
                        <a:rPr sz="2250">
                          <a:solidFill>
                            <a:srgbClr val="222222"/>
                          </a:solidFill>
                          <a:latin typeface="Calibri"/>
                        </a:rPr>
                        <a:t>1</a:t>
                      </a:r>
                    </a:p>
                  </a:txBody>
                  <a:tcPr marL="73152" marT="18288" marB="18288">
                    <a:solidFill>
                      <a:srgbClr val="FFFFFF"/>
                    </a:solidFill>
                  </a:tcPr>
                </a:tc>
                <a:tc>
                  <a:txBody>
                    <a:bodyPr/>
                    <a:lstStyle/>
                    <a:p>
                      <a:r>
                        <a:rPr sz="2250">
                          <a:solidFill>
                            <a:srgbClr val="222222"/>
                          </a:solidFill>
                          <a:latin typeface="Calibri"/>
                        </a:rPr>
                        <a:t>Introduction and the toolchain</a:t>
                      </a:r>
                    </a:p>
                  </a:txBody>
                  <a:tcPr marL="73152" marT="18288" marB="18288">
                    <a:solidFill>
                      <a:srgbClr val="FFFFFF"/>
                    </a:solidFill>
                  </a:tcPr>
                </a:tc>
                <a:tc>
                  <a:txBody>
                    <a:bodyPr/>
                    <a:lstStyle/>
                    <a:p>
                      <a:r>
                        <a:rPr sz="2250">
                          <a:solidFill>
                            <a:srgbClr val="222222"/>
                          </a:solidFill>
                          <a:latin typeface="Calibri"/>
                        </a:rPr>
                        <a:t>Blink an LED, print to the screen, light one pixel</a:t>
                      </a:r>
                    </a:p>
                  </a:txBody>
                  <a:tcPr marL="73152" marT="18288" marB="18288">
                    <a:solidFill>
                      <a:srgbClr val="FFFFFF"/>
                    </a:solidFill>
                  </a:tcPr>
                </a:tc>
              </a:tr>
              <a:tr h="552450">
                <a:tc>
                  <a:txBody>
                    <a:bodyPr/>
                    <a:lstStyle/>
                    <a:p>
                      <a:r>
                        <a:rPr sz="2250">
                          <a:solidFill>
                            <a:srgbClr val="222222"/>
                          </a:solidFill>
                          <a:latin typeface="Calibri"/>
                        </a:rPr>
                        <a:t>2</a:t>
                      </a:r>
                    </a:p>
                  </a:txBody>
                  <a:tcPr marL="73152" marT="18288" marB="18288">
                    <a:solidFill>
                      <a:srgbClr val="EEF3F8"/>
                    </a:solidFill>
                  </a:tcPr>
                </a:tc>
                <a:tc>
                  <a:txBody>
                    <a:bodyPr/>
                    <a:lstStyle/>
                    <a:p>
                      <a:r>
                        <a:rPr sz="2250">
                          <a:solidFill>
                            <a:srgbClr val="222222"/>
                          </a:solidFill>
                          <a:latin typeface="Calibri"/>
                        </a:rPr>
                        <a:t>Motor control</a:t>
                      </a:r>
                    </a:p>
                  </a:txBody>
                  <a:tcPr marL="73152" marT="18288" marB="18288">
                    <a:solidFill>
                      <a:srgbClr val="EEF3F8"/>
                    </a:solidFill>
                  </a:tcPr>
                </a:tc>
                <a:tc>
                  <a:txBody>
                    <a:bodyPr/>
                    <a:lstStyle/>
                    <a:p>
                      <a:r>
                        <a:rPr sz="2250">
                          <a:solidFill>
                            <a:srgbClr val="222222"/>
                          </a:solidFill>
                          <a:latin typeface="Calibri"/>
                        </a:rPr>
                        <a:t>Drive itself round a square you calculated</a:t>
                      </a:r>
                    </a:p>
                  </a:txBody>
                  <a:tcPr marL="73152" marT="18288" marB="18288">
                    <a:solidFill>
                      <a:srgbClr val="EEF3F8"/>
                    </a:solidFill>
                  </a:tcPr>
                </a:tc>
              </a:tr>
              <a:tr h="552450">
                <a:tc>
                  <a:txBody>
                    <a:bodyPr/>
                    <a:lstStyle/>
                    <a:p>
                      <a:r>
                        <a:rPr sz="2250">
                          <a:solidFill>
                            <a:srgbClr val="222222"/>
                          </a:solidFill>
                          <a:latin typeface="Calibri"/>
                        </a:rPr>
                        <a:t>3</a:t>
                      </a:r>
                    </a:p>
                  </a:txBody>
                  <a:tcPr marL="73152" marT="18288" marB="18288">
                    <a:solidFill>
                      <a:srgbClr val="FFFFFF"/>
                    </a:solidFill>
                  </a:tcPr>
                </a:tc>
                <a:tc>
                  <a:txBody>
                    <a:bodyPr/>
                    <a:lstStyle/>
                    <a:p>
                      <a:r>
                        <a:rPr sz="2250">
                          <a:solidFill>
                            <a:srgbClr val="222222"/>
                          </a:solidFill>
                          <a:latin typeface="Calibri"/>
                        </a:rPr>
                        <a:t>Controller programming</a:t>
                      </a:r>
                    </a:p>
                  </a:txBody>
                  <a:tcPr marL="73152" marT="18288" marB="18288">
                    <a:solidFill>
                      <a:srgbClr val="FFFFFF"/>
                    </a:solidFill>
                  </a:tcPr>
                </a:tc>
                <a:tc>
                  <a:txBody>
                    <a:bodyPr/>
                    <a:lstStyle/>
                    <a:p>
                      <a:r>
                        <a:rPr sz="2250">
                          <a:solidFill>
                            <a:srgbClr val="222222"/>
                          </a:solidFill>
                          <a:latin typeface="Calibri"/>
                        </a:rPr>
                        <a:t>Be driven by you, with a thumbstick</a:t>
                      </a:r>
                    </a:p>
                  </a:txBody>
                  <a:tcPr marL="73152" marT="18288" marB="18288">
                    <a:solidFill>
                      <a:srgbClr val="FFFFFF"/>
                    </a:solidFill>
                  </a:tcPr>
                </a:tc>
              </a:tr>
              <a:tr h="552450">
                <a:tc>
                  <a:txBody>
                    <a:bodyPr/>
                    <a:lstStyle/>
                    <a:p>
                      <a:r>
                        <a:rPr sz="2250">
                          <a:solidFill>
                            <a:srgbClr val="222222"/>
                          </a:solidFill>
                          <a:latin typeface="Calibri"/>
                        </a:rPr>
                        <a:t>4</a:t>
                      </a:r>
                    </a:p>
                  </a:txBody>
                  <a:tcPr marL="73152" marT="18288" marB="18288">
                    <a:solidFill>
                      <a:srgbClr val="EEF3F8"/>
                    </a:solidFill>
                  </a:tcPr>
                </a:tc>
                <a:tc>
                  <a:txBody>
                    <a:bodyPr/>
                    <a:lstStyle/>
                    <a:p>
                      <a:r>
                        <a:rPr sz="2250">
                          <a:solidFill>
                            <a:srgbClr val="222222"/>
                          </a:solidFill>
                          <a:latin typeface="Calibri"/>
                        </a:rPr>
                        <a:t>NeoPixel LEDs</a:t>
                      </a:r>
                    </a:p>
                  </a:txBody>
                  <a:tcPr marL="73152" marT="18288" marB="18288">
                    <a:solidFill>
                      <a:srgbClr val="EEF3F8"/>
                    </a:solidFill>
                  </a:tcPr>
                </a:tc>
                <a:tc>
                  <a:txBody>
                    <a:bodyPr/>
                    <a:lstStyle/>
                    <a:p>
                      <a:r>
                        <a:rPr sz="2250">
                          <a:solidFill>
                            <a:srgbClr val="222222"/>
                          </a:solidFill>
                          <a:latin typeface="Calibri"/>
                        </a:rPr>
                        <a:t>Run headlights, signals and light patterns</a:t>
                      </a:r>
                    </a:p>
                  </a:txBody>
                  <a:tcPr marL="73152" marT="18288" marB="18288">
                    <a:solidFill>
                      <a:srgbClr val="EEF3F8"/>
                    </a:solidFill>
                  </a:tcPr>
                </a:tc>
              </a:tr>
              <a:tr h="552450">
                <a:tc>
                  <a:txBody>
                    <a:bodyPr/>
                    <a:lstStyle/>
                    <a:p>
                      <a:r>
                        <a:rPr sz="2250">
                          <a:solidFill>
                            <a:srgbClr val="222222"/>
                          </a:solidFill>
                          <a:latin typeface="Calibri"/>
                        </a:rPr>
                        <a:t>5</a:t>
                      </a:r>
                    </a:p>
                  </a:txBody>
                  <a:tcPr marL="73152" marT="18288" marB="18288">
                    <a:solidFill>
                      <a:srgbClr val="FFFFFF"/>
                    </a:solidFill>
                  </a:tcPr>
                </a:tc>
                <a:tc>
                  <a:txBody>
                    <a:bodyPr/>
                    <a:lstStyle/>
                    <a:p>
                      <a:r>
                        <a:rPr sz="2250">
                          <a:solidFill>
                            <a:srgbClr val="222222"/>
                          </a:solidFill>
                          <a:latin typeface="Calibri"/>
                        </a:rPr>
                        <a:t>Maneuvers with lights</a:t>
                      </a:r>
                    </a:p>
                  </a:txBody>
                  <a:tcPr marL="73152" marT="18288" marB="18288">
                    <a:solidFill>
                      <a:srgbClr val="FFFFFF"/>
                    </a:solidFill>
                  </a:tcPr>
                </a:tc>
                <a:tc>
                  <a:txBody>
                    <a:bodyPr/>
                    <a:lstStyle/>
                    <a:p>
                      <a:r>
                        <a:rPr sz="2250">
                          <a:solidFill>
                            <a:srgbClr val="222222"/>
                          </a:solidFill>
                          <a:latin typeface="Calibri"/>
                        </a:rPr>
                        <a:t>Everything at once - and race</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 lesson builds directly on the one before it. Nothing gets thrown away.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4889500"/>
        </p:xfrm>
        <a:graphic>
          <a:graphicData uri="http://schemas.openxmlformats.org/drawingml/2006/table">
            <a:tbl>
              <a:tblPr firstRow="1" bandRow="1">
                <a:tableStyleId>{5C22544A-7EE6-4342-B048-85BDC9FD1C3A}</a:tableStyleId>
              </a:tblPr>
              <a:tblGrid>
                <a:gridCol w="1118585"/>
                <a:gridCol w="10067269"/>
              </a:tblGrid>
              <a:tr h="488950">
                <a:tc>
                  <a:txBody>
                    <a:bodyPr/>
                    <a:lstStyle/>
                    <a:p>
                      <a:r>
                        <a:rPr sz="2600" b="1">
                          <a:solidFill>
                            <a:srgbClr val="FFFFFF"/>
                          </a:solidFill>
                          <a:latin typeface="Calibri"/>
                        </a:rPr>
                        <a:t>Time</a:t>
                      </a:r>
                    </a:p>
                  </a:txBody>
                  <a:tcPr marL="73152" marT="18288" marB="18288">
                    <a:solidFill>
                      <a:srgbClr val="1F3A5F"/>
                    </a:solidFill>
                  </a:tcPr>
                </a:tc>
                <a:tc>
                  <a:txBody>
                    <a:bodyPr/>
                    <a:lstStyle/>
                    <a:p>
                      <a:r>
                        <a:rPr sz="2600" b="1">
                          <a:solidFill>
                            <a:srgbClr val="FFFFFF"/>
                          </a:solidFill>
                          <a:latin typeface="Calibri"/>
                        </a:rPr>
                        <a:t>What we do</a:t>
                      </a:r>
                    </a:p>
                  </a:txBody>
                  <a:tcPr marL="73152" marT="18288" marB="18288">
                    <a:solidFill>
                      <a:srgbClr val="1F3A5F"/>
                    </a:solidFill>
                  </a:tcPr>
                </a:tc>
              </a:tr>
              <a:tr h="488950">
                <a:tc>
                  <a:txBody>
                    <a:bodyPr/>
                    <a:lstStyle/>
                    <a:p>
                      <a:r>
                        <a:rPr sz="2600">
                          <a:solidFill>
                            <a:srgbClr val="222222"/>
                          </a:solidFill>
                          <a:latin typeface="Calibri"/>
                        </a:rPr>
                        <a:t>0:00</a:t>
                      </a:r>
                    </a:p>
                  </a:txBody>
                  <a:tcPr marL="73152" marT="18288" marB="18288">
                    <a:solidFill>
                      <a:srgbClr val="FFFFFF"/>
                    </a:solidFill>
                  </a:tcPr>
                </a:tc>
                <a:tc>
                  <a:txBody>
                    <a:bodyPr/>
                    <a:lstStyle/>
                    <a:p>
                      <a:r>
                        <a:rPr sz="2600">
                          <a:solidFill>
                            <a:srgbClr val="222222"/>
                          </a:solidFill>
                          <a:latin typeface="Calibri"/>
                        </a:rPr>
                        <a:t>What mechatronics is, and what a Pathfinder is</a:t>
                      </a:r>
                    </a:p>
                  </a:txBody>
                  <a:tcPr marL="73152" marT="18288" marB="18288">
                    <a:solidFill>
                      <a:srgbClr val="FFFFFF"/>
                    </a:solidFill>
                  </a:tcPr>
                </a:tc>
              </a:tr>
              <a:tr h="488950">
                <a:tc>
                  <a:txBody>
                    <a:bodyPr/>
                    <a:lstStyle/>
                    <a:p>
                      <a:r>
                        <a:rPr sz="2600">
                          <a:solidFill>
                            <a:srgbClr val="222222"/>
                          </a:solidFill>
                          <a:latin typeface="Calibri"/>
                        </a:rPr>
                        <a:t>0:30</a:t>
                      </a:r>
                    </a:p>
                  </a:txBody>
                  <a:tcPr marL="73152" marT="18288" marB="18288">
                    <a:solidFill>
                      <a:srgbClr val="EEF3F8"/>
                    </a:solidFill>
                  </a:tcPr>
                </a:tc>
                <a:tc>
                  <a:txBody>
                    <a:bodyPr/>
                    <a:lstStyle/>
                    <a:p>
                      <a:r>
                        <a:rPr sz="2600">
                          <a:solidFill>
                            <a:srgbClr val="222222"/>
                          </a:solidFill>
                          <a:latin typeface="Calibri"/>
                        </a:rPr>
                        <a:t>A tour of the vehicle: computer, motors, lights, battery</a:t>
                      </a:r>
                    </a:p>
                  </a:txBody>
                  <a:tcPr marL="73152" marT="18288" marB="18288">
                    <a:solidFill>
                      <a:srgbClr val="EEF3F8"/>
                    </a:solidFill>
                  </a:tcPr>
                </a:tc>
              </a:tr>
              <a:tr h="488950">
                <a:tc>
                  <a:txBody>
                    <a:bodyPr/>
                    <a:lstStyle/>
                    <a:p>
                      <a:r>
                        <a:rPr sz="2600">
                          <a:solidFill>
                            <a:srgbClr val="222222"/>
                          </a:solidFill>
                          <a:latin typeface="Calibri"/>
                        </a:rPr>
                        <a:t>0:55</a:t>
                      </a:r>
                    </a:p>
                  </a:txBody>
                  <a:tcPr marL="73152" marT="18288" marB="18288">
                    <a:solidFill>
                      <a:srgbClr val="FFFFFF"/>
                    </a:solidFill>
                  </a:tcPr>
                </a:tc>
                <a:tc>
                  <a:txBody>
                    <a:bodyPr/>
                    <a:lstStyle/>
                    <a:p>
                      <a:r>
                        <a:rPr sz="2600">
                          <a:solidFill>
                            <a:srgbClr val="222222"/>
                          </a:solidFill>
                          <a:latin typeface="Calibri"/>
                        </a:rPr>
                        <a:t>BREAK  (10 minutes)</a:t>
                      </a:r>
                    </a:p>
                  </a:txBody>
                  <a:tcPr marL="73152" marT="18288" marB="18288">
                    <a:solidFill>
                      <a:srgbClr val="FFFFFF"/>
                    </a:solidFill>
                  </a:tcPr>
                </a:tc>
              </a:tr>
              <a:tr h="488950">
                <a:tc>
                  <a:txBody>
                    <a:bodyPr/>
                    <a:lstStyle/>
                    <a:p>
                      <a:r>
                        <a:rPr sz="2600">
                          <a:solidFill>
                            <a:srgbClr val="222222"/>
                          </a:solidFill>
                          <a:latin typeface="Calibri"/>
                        </a:rPr>
                        <a:t>1:05</a:t>
                      </a:r>
                    </a:p>
                  </a:txBody>
                  <a:tcPr marL="73152" marT="18288" marB="18288">
                    <a:solidFill>
                      <a:srgbClr val="EEF3F8"/>
                    </a:solidFill>
                  </a:tcPr>
                </a:tc>
                <a:tc>
                  <a:txBody>
                    <a:bodyPr/>
                    <a:lstStyle/>
                    <a:p>
                      <a:r>
                        <a:rPr sz="2600">
                          <a:solidFill>
                            <a:srgbClr val="222222"/>
                          </a:solidFill>
                          <a:latin typeface="Calibri"/>
                        </a:rPr>
                        <a:t>Install the Arduino IDE, the board package and the libraries</a:t>
                      </a:r>
                    </a:p>
                  </a:txBody>
                  <a:tcPr marL="73152" marT="18288" marB="18288">
                    <a:solidFill>
                      <a:srgbClr val="EEF3F8"/>
                    </a:solidFill>
                  </a:tcPr>
                </a:tc>
              </a:tr>
              <a:tr h="488950">
                <a:tc>
                  <a:txBody>
                    <a:bodyPr/>
                    <a:lstStyle/>
                    <a:p>
                      <a:r>
                        <a:rPr sz="2600">
                          <a:solidFill>
                            <a:srgbClr val="222222"/>
                          </a:solidFill>
                          <a:latin typeface="Calibri"/>
                        </a:rPr>
                        <a:t>1:40</a:t>
                      </a:r>
                    </a:p>
                  </a:txBody>
                  <a:tcPr marL="73152" marT="18288" marB="18288">
                    <a:solidFill>
                      <a:srgbClr val="FFFFFF"/>
                    </a:solidFill>
                  </a:tcPr>
                </a:tc>
                <a:tc>
                  <a:txBody>
                    <a:bodyPr/>
                    <a:lstStyle/>
                    <a:p>
                      <a:r>
                        <a:rPr sz="2600">
                          <a:solidFill>
                            <a:srgbClr val="222222"/>
                          </a:solidFill>
                          <a:latin typeface="Calibri"/>
                        </a:rPr>
                        <a:t>The three parts of every program.  Upload l1a_blink</a:t>
                      </a:r>
                    </a:p>
                  </a:txBody>
                  <a:tcPr marL="73152" marT="18288" marB="18288">
                    <a:solidFill>
                      <a:srgbClr val="FFFFFF"/>
                    </a:solidFill>
                  </a:tcPr>
                </a:tc>
              </a:tr>
              <a:tr h="488950">
                <a:tc>
                  <a:txBody>
                    <a:bodyPr/>
                    <a:lstStyle/>
                    <a:p>
                      <a:r>
                        <a:rPr sz="2600">
                          <a:solidFill>
                            <a:srgbClr val="222222"/>
                          </a:solidFill>
                          <a:latin typeface="Calibri"/>
                        </a:rPr>
                        <a:t>2:05</a:t>
                      </a:r>
                    </a:p>
                  </a:txBody>
                  <a:tcPr marL="73152" marT="18288" marB="18288">
                    <a:solidFill>
                      <a:srgbClr val="EEF3F8"/>
                    </a:solidFill>
                  </a:tcPr>
                </a:tc>
                <a:tc>
                  <a:txBody>
                    <a:bodyPr/>
                    <a:lstStyle/>
                    <a:p>
                      <a:r>
                        <a:rPr sz="2600">
                          <a:solidFill>
                            <a:srgbClr val="222222"/>
                          </a:solidFill>
                          <a:latin typeface="Calibri"/>
                        </a:rPr>
                        <a:t>BREAK  (10 minutes)</a:t>
                      </a:r>
                    </a:p>
                  </a:txBody>
                  <a:tcPr marL="73152" marT="18288" marB="18288">
                    <a:solidFill>
                      <a:srgbClr val="EEF3F8"/>
                    </a:solidFill>
                  </a:tcPr>
                </a:tc>
              </a:tr>
              <a:tr h="488950">
                <a:tc>
                  <a:txBody>
                    <a:bodyPr/>
                    <a:lstStyle/>
                    <a:p>
                      <a:r>
                        <a:rPr sz="2600">
                          <a:solidFill>
                            <a:srgbClr val="222222"/>
                          </a:solidFill>
                          <a:latin typeface="Calibri"/>
                        </a:rPr>
                        <a:t>2:15</a:t>
                      </a:r>
                    </a:p>
                  </a:txBody>
                  <a:tcPr marL="73152" marT="18288" marB="18288">
                    <a:solidFill>
                      <a:srgbClr val="FFFFFF"/>
                    </a:solidFill>
                  </a:tcPr>
                </a:tc>
                <a:tc>
                  <a:txBody>
                    <a:bodyPr/>
                    <a:lstStyle/>
                    <a:p>
                      <a:r>
                        <a:rPr sz="2600">
                          <a:solidFill>
                            <a:srgbClr val="222222"/>
                          </a:solidFill>
                          <a:latin typeface="Calibri"/>
                        </a:rPr>
                        <a:t>Talking back: the Serial Monitor.  Upload l1b_serial_monitor</a:t>
                      </a:r>
                    </a:p>
                  </a:txBody>
                  <a:tcPr marL="73152" marT="18288" marB="18288">
                    <a:solidFill>
                      <a:srgbClr val="FFFFFF"/>
                    </a:solidFill>
                  </a:tcPr>
                </a:tc>
              </a:tr>
              <a:tr h="488950">
                <a:tc>
                  <a:txBody>
                    <a:bodyPr/>
                    <a:lstStyle/>
                    <a:p>
                      <a:r>
                        <a:rPr sz="2600">
                          <a:solidFill>
                            <a:srgbClr val="222222"/>
                          </a:solidFill>
                          <a:latin typeface="Calibri"/>
                        </a:rPr>
                        <a:t>2:40</a:t>
                      </a:r>
                    </a:p>
                  </a:txBody>
                  <a:tcPr marL="73152" marT="18288" marB="18288">
                    <a:solidFill>
                      <a:srgbClr val="EEF3F8"/>
                    </a:solidFill>
                  </a:tcPr>
                </a:tc>
                <a:tc>
                  <a:txBody>
                    <a:bodyPr/>
                    <a:lstStyle/>
                    <a:p>
                      <a:r>
                        <a:rPr sz="2600">
                          <a:solidFill>
                            <a:srgbClr val="222222"/>
                          </a:solidFill>
                          <a:latin typeface="Calibri"/>
                        </a:rPr>
                        <a:t>Your first light.  Upload l1c_first_pixel</a:t>
                      </a:r>
                    </a:p>
                  </a:txBody>
                  <a:tcPr marL="73152" marT="18288" marB="18288">
                    <a:solidFill>
                      <a:srgbClr val="EEF3F8"/>
                    </a:solidFill>
                  </a:tcPr>
                </a:tc>
              </a:tr>
              <a:tr h="488950">
                <a:tc>
                  <a:txBody>
                    <a:bodyPr/>
                    <a:lstStyle/>
                    <a:p>
                      <a:r>
                        <a:rPr sz="2600">
                          <a:solidFill>
                            <a:srgbClr val="222222"/>
                          </a:solidFill>
                          <a:latin typeface="Calibri"/>
                        </a:rPr>
                        <a:t>2:55</a:t>
                      </a:r>
                    </a:p>
                  </a:txBody>
                  <a:tcPr marL="73152" marT="18288" marB="18288">
                    <a:solidFill>
                      <a:srgbClr val="FFFFFF"/>
                    </a:solidFill>
                  </a:tcPr>
                </a:tc>
                <a:tc>
                  <a:txBody>
                    <a:bodyPr/>
                    <a:lstStyle/>
                    <a:p>
                      <a:r>
                        <a:rPr sz="2600">
                          <a:solidFill>
                            <a:srgbClr val="222222"/>
                          </a:solidFill>
                          <a:latin typeface="Calibri"/>
                        </a:rPr>
                        <a:t>Safety, batteries, and what to expect next lesson</a:t>
                      </a:r>
                    </a:p>
                  </a:txBody>
                  <a:tcPr marL="73152" marT="18288" marB="1828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Mechatronics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4108582"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Much of the design and building of robots belongs to a field called MECHATRONICS - mechanical systems, electrical systems, and the computers that control them, treated as one thing.</a:t>
            </a:r>
          </a:p>
          <a:p>
            <a:pPr algn="l">
              <a:lnSpc>
                <a:spcPct val="100000"/>
              </a:lnSpc>
              <a:spcAft>
                <a:spcPts val="500"/>
              </a:spcAft>
              <a:defRPr sz="1800" b="0">
                <a:solidFill>
                  <a:srgbClr val="222222"/>
                </a:solidFill>
                <a:latin typeface="Calibri"/>
              </a:defRPr>
            </a:pPr>
            <a:r>
              <a:rPr sz="1800" b="0">
                <a:solidFill>
                  <a:srgbClr val="222222"/>
                </a:solidFill>
                <a:latin typeface="Calibri"/>
              </a:rPr>
              <a:t>An unmanned ground vehicle is one small corner of it.</a:t>
            </a:r>
          </a:p>
          <a:p>
            <a:pPr algn="l">
              <a:lnSpc>
                <a:spcPct val="100000"/>
              </a:lnSpc>
              <a:spcAft>
                <a:spcPts val="500"/>
              </a:spcAft>
              <a:defRPr sz="1800" b="0">
                <a:solidFill>
                  <a:srgbClr val="222222"/>
                </a:solidFill>
                <a:latin typeface="Calibri"/>
              </a:defRPr>
            </a:pPr>
            <a:r>
              <a:rPr sz="1800" b="0">
                <a:solidFill>
                  <a:srgbClr val="222222"/>
                </a:solidFill>
                <a:latin typeface="Calibri"/>
              </a:rPr>
              <a:t>What you learn here applies to the rest: factory automation, appliances, printers, cars, aircraft, and undersea vehicles.</a:t>
            </a:r>
          </a:p>
          <a:p>
            <a:pPr algn="l">
              <a:lnSpc>
                <a:spcPct val="100000"/>
              </a:lnSpc>
              <a:spcAft>
                <a:spcPts val="500"/>
              </a:spcAft>
              <a:defRPr sz="1800" b="0">
                <a:solidFill>
                  <a:srgbClr val="222222"/>
                </a:solidFill>
                <a:latin typeface="Calibri"/>
              </a:defRPr>
            </a:pPr>
            <a:r>
              <a:rPr sz="1800" b="0">
                <a:solidFill>
                  <a:srgbClr val="222222"/>
                </a:solidFill>
                <a:latin typeface="Calibri"/>
              </a:rPr>
              <a:t>The reason we teach it with a rover is that you can watch a rover, reach it when it gets stuck, and a mistake means a bumped wall rather than a flooded electronics bay.</a:t>
            </a:r>
          </a:p>
        </p:txBody>
      </p:sp>
      <p:pic>
        <p:nvPicPr>
          <p:cNvPr id="7" name="Picture 6" descr="engineering-to-mechatronics.png"/>
          <p:cNvPicPr>
            <a:picLocks noChangeAspect="1"/>
          </p:cNvPicPr>
          <p:nvPr/>
        </p:nvPicPr>
        <p:blipFill>
          <a:blip r:embed="rId2"/>
          <a:stretch>
            <a:fillRect/>
          </a:stretch>
        </p:blipFill>
        <p:spPr>
          <a:xfrm>
            <a:off x="6380881" y="1188720"/>
            <a:ext cx="3904275" cy="3840480"/>
          </a:xfrm>
          <a:prstGeom prst="rect">
            <a:avLst/>
          </a:prstGeom>
        </p:spPr>
      </p:pic>
      <p:sp>
        <p:nvSpPr>
          <p:cNvPr id="8" name="TextBox 7"/>
          <p:cNvSpPr txBox="1"/>
          <p:nvPr/>
        </p:nvSpPr>
        <p:spPr>
          <a:xfrm>
            <a:off x="6380881" y="5084064"/>
            <a:ext cx="390427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Engineering, narrowing down to what you are about to build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STEM, and where it shows up in this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Math and science you will actually use</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Circumference and pi, for wheel travel</a:t>
            </a:r>
          </a:p>
          <a:p>
            <a:pPr algn="l">
              <a:lnSpc>
                <a:spcPct val="100000"/>
              </a:lnSpc>
              <a:spcAft>
                <a:spcPts val="800"/>
              </a:spcAft>
              <a:defRPr sz="2100" b="0">
                <a:solidFill>
                  <a:srgbClr val="222222"/>
                </a:solidFill>
                <a:latin typeface="Calibri"/>
              </a:defRPr>
            </a:pPr>
            <a:r>
              <a:rPr sz="2100" b="0">
                <a:solidFill>
                  <a:srgbClr val="222222"/>
                </a:solidFill>
                <a:latin typeface="Calibri"/>
              </a:rPr>
              <a:t>Distance = speed x time, for maneuvers</a:t>
            </a:r>
          </a:p>
          <a:p>
            <a:pPr algn="l">
              <a:lnSpc>
                <a:spcPct val="100000"/>
              </a:lnSpc>
              <a:spcAft>
                <a:spcPts val="800"/>
              </a:spcAft>
              <a:defRPr sz="2100" b="0">
                <a:solidFill>
                  <a:srgbClr val="222222"/>
                </a:solidFill>
                <a:latin typeface="Calibri"/>
              </a:defRPr>
            </a:pPr>
            <a:r>
              <a:rPr sz="2100" b="0">
                <a:solidFill>
                  <a:srgbClr val="222222"/>
                </a:solidFill>
                <a:latin typeface="Calibri"/>
              </a:rPr>
              <a:t>Ratios and percentages, for duty cycle</a:t>
            </a:r>
          </a:p>
          <a:p>
            <a:pPr algn="l">
              <a:lnSpc>
                <a:spcPct val="100000"/>
              </a:lnSpc>
              <a:spcAft>
                <a:spcPts val="800"/>
              </a:spcAft>
              <a:defRPr sz="2100" b="0">
                <a:solidFill>
                  <a:srgbClr val="222222"/>
                </a:solidFill>
                <a:latin typeface="Calibri"/>
              </a:defRPr>
            </a:pPr>
            <a:r>
              <a:rPr sz="2100" b="0">
                <a:solidFill>
                  <a:srgbClr val="222222"/>
                </a:solidFill>
                <a:latin typeface="Calibri"/>
              </a:rPr>
              <a:t>Linear mapping, stick reading to speed</a:t>
            </a:r>
          </a:p>
          <a:p>
            <a:pPr algn="l">
              <a:lnSpc>
                <a:spcPct val="100000"/>
              </a:lnSpc>
              <a:spcAft>
                <a:spcPts val="800"/>
              </a:spcAft>
              <a:defRPr sz="2100" b="0">
                <a:solidFill>
                  <a:srgbClr val="222222"/>
                </a:solidFill>
                <a:latin typeface="Calibri"/>
              </a:defRPr>
            </a:pPr>
            <a:r>
              <a:rPr sz="2100" b="0">
                <a:solidFill>
                  <a:srgbClr val="222222"/>
                </a:solidFill>
                <a:latin typeface="Calibri"/>
              </a:rPr>
              <a:t>Ohm's law and power, for the LED budget</a:t>
            </a:r>
          </a:p>
          <a:p>
            <a:pPr algn="l">
              <a:lnSpc>
                <a:spcPct val="100000"/>
              </a:lnSpc>
              <a:spcAft>
                <a:spcPts val="800"/>
              </a:spcAft>
              <a:defRPr sz="2100" b="0">
                <a:solidFill>
                  <a:srgbClr val="222222"/>
                </a:solidFill>
                <a:latin typeface="Calibri"/>
              </a:defRPr>
            </a:pPr>
            <a:r>
              <a:rPr sz="2100" b="0">
                <a:solidFill>
                  <a:srgbClr val="222222"/>
                </a:solidFill>
                <a:latin typeface="Calibri"/>
              </a:rPr>
              <a:t>Wavelength and color, for the lighting</a:t>
            </a:r>
          </a:p>
          <a:p>
            <a:pPr algn="l">
              <a:lnSpc>
                <a:spcPct val="100000"/>
              </a:lnSpc>
              <a:spcAft>
                <a:spcPts val="800"/>
              </a:spcAft>
              <a:defRPr sz="2100" b="0">
                <a:solidFill>
                  <a:srgbClr val="222222"/>
                </a:solidFill>
                <a:latin typeface="Calibri"/>
              </a:defRPr>
            </a:pPr>
            <a:r>
              <a:rPr sz="2100" b="0">
                <a:solidFill>
                  <a:srgbClr val="222222"/>
                </a:solidFill>
                <a:latin typeface="Calibri"/>
              </a:rPr>
              <a:t>Trigonometry, to plot where you end up</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Engineering practice</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Reading a program before changing it</a:t>
            </a:r>
          </a:p>
          <a:p>
            <a:pPr algn="l">
              <a:lnSpc>
                <a:spcPct val="100000"/>
              </a:lnSpc>
              <a:spcAft>
                <a:spcPts val="800"/>
              </a:spcAft>
              <a:defRPr sz="2200" b="0">
                <a:solidFill>
                  <a:srgbClr val="222222"/>
                </a:solidFill>
                <a:latin typeface="Calibri"/>
              </a:defRPr>
            </a:pPr>
            <a:r>
              <a:rPr sz="2200" b="0">
                <a:solidFill>
                  <a:srgbClr val="222222"/>
                </a:solidFill>
                <a:latin typeface="Calibri"/>
              </a:rPr>
              <a:t>Changing ONE thing at a time</a:t>
            </a:r>
          </a:p>
          <a:p>
            <a:pPr algn="l">
              <a:lnSpc>
                <a:spcPct val="100000"/>
              </a:lnSpc>
              <a:spcAft>
                <a:spcPts val="800"/>
              </a:spcAft>
              <a:defRPr sz="2200" b="0">
                <a:solidFill>
                  <a:srgbClr val="222222"/>
                </a:solidFill>
                <a:latin typeface="Calibri"/>
              </a:defRPr>
            </a:pPr>
            <a:r>
              <a:rPr sz="2200" b="0">
                <a:solidFill>
                  <a:srgbClr val="222222"/>
                </a:solidFill>
                <a:latin typeface="Calibri"/>
              </a:rPr>
              <a:t>Measuring rather than guessing</a:t>
            </a:r>
          </a:p>
          <a:p>
            <a:pPr algn="l">
              <a:lnSpc>
                <a:spcPct val="100000"/>
              </a:lnSpc>
              <a:spcAft>
                <a:spcPts val="800"/>
              </a:spcAft>
              <a:defRPr sz="2200" b="0">
                <a:solidFill>
                  <a:srgbClr val="222222"/>
                </a:solidFill>
                <a:latin typeface="Calibri"/>
              </a:defRPr>
            </a:pPr>
            <a:r>
              <a:rPr sz="2200" b="0">
                <a:solidFill>
                  <a:srgbClr val="222222"/>
                </a:solidFill>
                <a:latin typeface="Calibri"/>
              </a:rPr>
              <a:t>Writing down what you measured</a:t>
            </a:r>
          </a:p>
          <a:p>
            <a:pPr algn="l">
              <a:lnSpc>
                <a:spcPct val="100000"/>
              </a:lnSpc>
              <a:spcAft>
                <a:spcPts val="800"/>
              </a:spcAft>
              <a:defRPr sz="2200" b="0">
                <a:solidFill>
                  <a:srgbClr val="222222"/>
                </a:solidFill>
                <a:latin typeface="Calibri"/>
              </a:defRPr>
            </a:pPr>
            <a:r>
              <a:rPr sz="2200" b="0">
                <a:solidFill>
                  <a:srgbClr val="222222"/>
                </a:solidFill>
                <a:latin typeface="Calibri"/>
              </a:rPr>
              <a:t>Mechanical, electrical or software?</a:t>
            </a:r>
          </a:p>
          <a:p>
            <a:pPr algn="l">
              <a:lnSpc>
                <a:spcPct val="100000"/>
              </a:lnSpc>
              <a:spcAft>
                <a:spcPts val="800"/>
              </a:spcAft>
              <a:defRPr sz="2200" b="0">
                <a:solidFill>
                  <a:srgbClr val="222222"/>
                </a:solidFill>
                <a:latin typeface="Calibri"/>
              </a:defRPr>
            </a:pPr>
            <a:r>
              <a:rPr sz="2200" b="0">
                <a:solidFill>
                  <a:srgbClr val="222222"/>
                </a:solidFill>
                <a:latin typeface="Calibri"/>
              </a:rPr>
              <a:t>Version control, so work is never lost</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STEM is not four subjects. It is using math and science to build something that has to actually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fast, rugged, four-wheel-drive vehicle with an ESP32 computer, four independently driven motors, 32 programmable LEDs, four servo outputs and a rechargeable lithium battery.</a:t>
            </a:r>
          </a:p>
        </p:txBody>
      </p:sp>
      <p:sp>
        <p:nvSpPr>
          <p:cNvPr id="7" name="Rectangle 6"/>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left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Three-quarter view with the LEFT indicator running, taken so that BOTH the front bar and the rear bar are visible at once.</a:t>
            </a:r>
          </a:p>
        </p:txBody>
      </p:sp>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Left turn signal - front bar and rear bar, both on that side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right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The same shot from the other side, with the RIGHT indicator running. Front and rear bars both visible.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Right turn signal - the same program, and the same 32 LEDs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ESP32 computer - a small, fast microcontroller with Bluetooth and Wi-Fi built in. Your program runs here.</a:t>
            </a:r>
          </a:p>
          <a:p>
            <a:pPr algn="l">
              <a:lnSpc>
                <a:spcPct val="100000"/>
              </a:lnSpc>
              <a:spcAft>
                <a:spcPts val="600"/>
              </a:spcAft>
              <a:defRPr sz="2600" b="0">
                <a:solidFill>
                  <a:srgbClr val="222222"/>
                </a:solidFill>
                <a:latin typeface="Calibri"/>
              </a:defRPr>
            </a:pPr>
            <a:r>
              <a:rPr sz="2600" b="0">
                <a:solidFill>
                  <a:srgbClr val="222222"/>
                </a:solidFill>
                <a:latin typeface="Calibri"/>
              </a:rPr>
              <a:t>Four brushed DC motors, each with its own DRV8871 H-bridge driver.</a:t>
            </a:r>
          </a:p>
          <a:p>
            <a:pPr algn="l">
              <a:lnSpc>
                <a:spcPct val="100000"/>
              </a:lnSpc>
              <a:spcAft>
                <a:spcPts val="600"/>
              </a:spcAft>
              <a:defRPr sz="2600" b="0">
                <a:solidFill>
                  <a:srgbClr val="222222"/>
                </a:solidFill>
                <a:latin typeface="Calibri"/>
              </a:defRPr>
            </a:pPr>
            <a:r>
              <a:rPr sz="2600" b="0">
                <a:solidFill>
                  <a:srgbClr val="222222"/>
                </a:solidFill>
                <a:latin typeface="Calibri"/>
              </a:rPr>
              <a:t>32 WS2812B addressable LEDs, in two bars of 16.</a:t>
            </a:r>
          </a:p>
          <a:p>
            <a:pPr algn="l">
              <a:lnSpc>
                <a:spcPct val="100000"/>
              </a:lnSpc>
              <a:spcAft>
                <a:spcPts val="600"/>
              </a:spcAft>
              <a:defRPr sz="2600" b="0">
                <a:solidFill>
                  <a:srgbClr val="222222"/>
                </a:solidFill>
                <a:latin typeface="Calibri"/>
              </a:defRPr>
            </a:pPr>
            <a:r>
              <a:rPr sz="2600" b="0">
                <a:solidFill>
                  <a:srgbClr val="222222"/>
                </a:solidFill>
                <a:latin typeface="Calibri"/>
              </a:rPr>
              <a:t>Four servo outputs on the top plate.</a:t>
            </a:r>
          </a:p>
          <a:p>
            <a:pPr algn="l">
              <a:lnSpc>
                <a:spcPct val="100000"/>
              </a:lnSpc>
              <a:spcAft>
                <a:spcPts val="600"/>
              </a:spcAft>
              <a:defRPr sz="2600" b="0">
                <a:solidFill>
                  <a:srgbClr val="222222"/>
                </a:solidFill>
                <a:latin typeface="Calibri"/>
              </a:defRPr>
            </a:pPr>
            <a:r>
              <a:rPr sz="2600" b="0">
                <a:solidFill>
                  <a:srgbClr val="222222"/>
                </a:solidFill>
                <a:latin typeface="Calibri"/>
              </a:rPr>
              <a:t>A 4S 3300 mAh lithium polymer battery, about 16 volts charged.</a:t>
            </a:r>
          </a:p>
          <a:p>
            <a:pPr algn="l">
              <a:lnSpc>
                <a:spcPct val="100000"/>
              </a:lnSpc>
              <a:spcAft>
                <a:spcPts val="600"/>
              </a:spcAft>
              <a:defRPr sz="2600" b="0">
                <a:solidFill>
                  <a:srgbClr val="222222"/>
                </a:solidFill>
                <a:latin typeface="Calibri"/>
              </a:defRPr>
            </a:pPr>
            <a:r>
              <a:rPr sz="2600" b="0">
                <a:solidFill>
                  <a:srgbClr val="222222"/>
                </a:solidFill>
                <a:latin typeface="Calibri"/>
              </a:rPr>
              <a:t>A top plate with a breadboard area, for the sensors you add later.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No steering rack. It turns by driving one side faster than the other, like a tank. That matters from Lesson 2 onwards.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part, called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pic>
        <p:nvPicPr>
          <p:cNvPr id="6" name="Picture 5" descr="vehicle-parts-labeled.jpg"/>
          <p:cNvPicPr>
            <a:picLocks noChangeAspect="1"/>
          </p:cNvPicPr>
          <p:nvPr/>
        </p:nvPicPr>
        <p:blipFill>
          <a:blip r:embed="rId2"/>
          <a:stretch>
            <a:fillRect/>
          </a:stretch>
        </p:blipFill>
        <p:spPr>
          <a:xfrm>
            <a:off x="1581373" y="1188720"/>
            <a:ext cx="9028949"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Keep this page open for the rest of the lesson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board, from above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One board carries the computer, the four motor drivers, the servo outputs and the LED connectors. The battery sits in the middle of it.</a:t>
            </a:r>
          </a:p>
        </p:txBody>
      </p:sp>
      <p:pic>
        <p:nvPicPr>
          <p:cNvPr id="7" name="Picture 6" descr="vehicle-basic-layout.jpg"/>
          <p:cNvPicPr>
            <a:picLocks noChangeAspect="1"/>
          </p:cNvPicPr>
          <p:nvPr/>
        </p:nvPicPr>
        <p:blipFill>
          <a:blip r:embed="rId2"/>
          <a:stretch>
            <a:fillRect/>
          </a:stretch>
        </p:blipFill>
        <p:spPr>
          <a:xfrm>
            <a:off x="2702863" y="2267712"/>
            <a:ext cx="678596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Every connector, and which lights sit at which corner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top plate is where your own work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pic>
        <p:nvPicPr>
          <p:cNvPr id="6" name="Picture 5" descr="vehicle-dev-system-labeled.jpg"/>
          <p:cNvPicPr>
            <a:picLocks noChangeAspect="1"/>
          </p:cNvPicPr>
          <p:nvPr/>
        </p:nvPicPr>
        <p:blipFill>
          <a:blip r:embed="rId2"/>
          <a:stretch>
            <a:fillRect/>
          </a:stretch>
        </p:blipFill>
        <p:spPr>
          <a:xfrm>
            <a:off x="1154942" y="1188720"/>
            <a:ext cx="988181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A cutout for the ESP32 pins, and clear space for a breadboard, sensors and servos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generations of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vehicle has been through three designs. The program you write today runs on the last two.</a:t>
            </a:r>
          </a:p>
        </p:txBody>
      </p:sp>
      <p:pic>
        <p:nvPicPr>
          <p:cNvPr id="7" name="Picture 6" descr="vehicle-gen3-top.jpg"/>
          <p:cNvPicPr>
            <a:picLocks noChangeAspect="1"/>
          </p:cNvPicPr>
          <p:nvPr/>
        </p:nvPicPr>
        <p:blipFill>
          <a:blip r:embed="rId2"/>
          <a:stretch>
            <a:fillRect/>
          </a:stretch>
        </p:blipFill>
        <p:spPr>
          <a:xfrm>
            <a:off x="6533158" y="1810512"/>
            <a:ext cx="4901184" cy="3675888"/>
          </a:xfrm>
          <a:prstGeom prst="rect">
            <a:avLst/>
          </a:prstGeom>
        </p:spPr>
      </p:pic>
      <p:sp>
        <p:nvSpPr>
          <p:cNvPr id="8" name="Rectangle 7"/>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Gen 1 and Gen 2 together</a:t>
            </a:r>
          </a:p>
          <a:p>
            <a:pPr algn="ctr">
              <a:lnSpc>
                <a:spcPct val="100000"/>
              </a:lnSpc>
              <a:spcAft>
                <a:spcPts val="700"/>
              </a:spcAft>
              <a:defRPr sz="1600" b="0">
                <a:solidFill>
                  <a:srgbClr val="0E7C86"/>
                </a:solidFill>
                <a:latin typeface="Calibri"/>
              </a:defRPr>
            </a:pPr>
            <a:r>
              <a:rPr sz="1600" b="0">
                <a:solidFill>
                  <a:srgbClr val="0E7C86"/>
                </a:solidFill>
                <a:latin typeface="Calibri"/>
              </a:rPr>
              <a:t>Gen 1 beside a Gen 2, same angle, so the change in the frame and the electronics is obvious.</a:t>
            </a:r>
          </a:p>
        </p:txBody>
      </p:sp>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1 and Gen 2  -  an open chassis, board and battery on top</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3  -  one piece, everything inside, a clear top plate to build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2 and Gen 3  -  which vehicle are you holding?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Gen 2</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Most of the fleet.</a:t>
            </a:r>
          </a:p>
          <a:p>
            <a:pPr algn="l">
              <a:lnSpc>
                <a:spcPct val="100000"/>
              </a:lnSpc>
              <a:spcAft>
                <a:spcPts val="800"/>
              </a:spcAft>
              <a:defRPr sz="2000" b="0">
                <a:solidFill>
                  <a:srgbClr val="222222"/>
                </a:solidFill>
                <a:latin typeface="Calibri"/>
              </a:defRPr>
            </a:pPr>
            <a:r>
              <a:rPr sz="2000" b="0">
                <a:solidFill>
                  <a:srgbClr val="222222"/>
                </a:solidFill>
                <a:latin typeface="Calibri"/>
              </a:rPr>
              <a:t>ESP32, four DRV8871 H-bridges, 32 LEDs, four servo outputs.</a:t>
            </a:r>
          </a:p>
          <a:p>
            <a:pPr algn="l">
              <a:lnSpc>
                <a:spcPct val="100000"/>
              </a:lnSpc>
              <a:spcAft>
                <a:spcPts val="800"/>
              </a:spcAft>
              <a:defRPr sz="2000" b="0">
                <a:solidFill>
                  <a:srgbClr val="222222"/>
                </a:solidFill>
                <a:latin typeface="Calibri"/>
              </a:defRPr>
            </a:pPr>
            <a:r>
              <a:rPr sz="2000" b="0">
                <a:solidFill>
                  <a:srgbClr val="222222"/>
                </a:solidFill>
                <a:latin typeface="Calibri"/>
              </a:rPr>
              <a:t>No current sensor.</a:t>
            </a:r>
          </a:p>
          <a:p>
            <a:pPr algn="l">
              <a:lnSpc>
                <a:spcPct val="100000"/>
              </a:lnSpc>
              <a:spcAft>
                <a:spcPts val="800"/>
              </a:spcAft>
              <a:defRPr sz="2000" b="0">
                <a:solidFill>
                  <a:srgbClr val="222222"/>
                </a:solidFill>
                <a:latin typeface="Calibri"/>
              </a:defRPr>
            </a:pPr>
            <a:r>
              <a:rPr sz="2000" b="0">
                <a:solidFill>
                  <a:srgbClr val="222222"/>
                </a:solidFill>
                <a:latin typeface="Calibri"/>
              </a:rPr>
              <a:t>Everything in this course works on it.</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Gen 3</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UNIBODY frame: one piece, with the board, battery and wiring inside it rather than on top.</a:t>
            </a:r>
          </a:p>
          <a:p>
            <a:pPr algn="l">
              <a:lnSpc>
                <a:spcPct val="100000"/>
              </a:lnSpc>
              <a:spcAft>
                <a:spcPts val="800"/>
              </a:spcAft>
              <a:defRPr sz="1900" b="0">
                <a:solidFill>
                  <a:srgbClr val="222222"/>
                </a:solidFill>
                <a:latin typeface="Calibri"/>
              </a:defRPr>
            </a:pPr>
            <a:r>
              <a:rPr sz="1900" b="0">
                <a:solidFill>
                  <a:srgbClr val="222222"/>
                </a:solidFill>
                <a:latin typeface="Calibri"/>
              </a:rPr>
              <a:t>Wheels at the vehicle's VERTICAL CENTER, so it drives just as well upside down.</a:t>
            </a:r>
          </a:p>
          <a:p>
            <a:pPr algn="l">
              <a:lnSpc>
                <a:spcPct val="100000"/>
              </a:lnSpc>
              <a:spcAft>
                <a:spcPts val="800"/>
              </a:spcAft>
              <a:defRPr sz="1900" b="0">
                <a:solidFill>
                  <a:srgbClr val="222222"/>
                </a:solidFill>
                <a:latin typeface="Calibri"/>
              </a:defRPr>
            </a:pPr>
            <a:r>
              <a:rPr sz="1900" b="0">
                <a:solidFill>
                  <a:srgbClr val="222222"/>
                </a:solidFill>
                <a:latin typeface="Calibri"/>
              </a:rPr>
              <a:t>A clear lexan TOP PLATE to mount sensors on.</a:t>
            </a:r>
          </a:p>
          <a:p>
            <a:pPr algn="l">
              <a:lnSpc>
                <a:spcPct val="100000"/>
              </a:lnSpc>
              <a:spcAft>
                <a:spcPts val="800"/>
              </a:spcAft>
              <a:defRPr sz="1900" b="0">
                <a:solidFill>
                  <a:srgbClr val="222222"/>
                </a:solidFill>
                <a:latin typeface="Calibri"/>
              </a:defRPr>
            </a:pPr>
            <a:r>
              <a:rPr sz="1900" b="0">
                <a:solidFill>
                  <a:srgbClr val="222222"/>
                </a:solidFill>
                <a:latin typeface="Calibri"/>
              </a:rPr>
              <a:t>An INA219 power monitor, so it can measure its own voltage and current - which is what makes a self-test possible.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programs detect which one they are running on at boot, by looking for the sensor. One program, either vehicle - you do not have to know which you have before you upload.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3, in two pictures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two things that make a Gen 3 different are easiest to show rather than describe.</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Looking down through the lexan top plate: board, battery, and the four motors inside the frame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Gen 3 driving upside down</a:t>
            </a:r>
          </a:p>
          <a:p>
            <a:pPr algn="ctr">
              <a:lnSpc>
                <a:spcPct val="100000"/>
              </a:lnSpc>
              <a:spcAft>
                <a:spcPts val="700"/>
              </a:spcAft>
              <a:defRPr sz="1600" b="0">
                <a:solidFill>
                  <a:srgbClr val="0E7C86"/>
                </a:solidFill>
                <a:latin typeface="Calibri"/>
              </a:defRPr>
            </a:pPr>
            <a:r>
              <a:rPr sz="1600" b="0">
                <a:solidFill>
                  <a:srgbClr val="0E7C86"/>
                </a:solidFill>
                <a:latin typeface="Calibri"/>
              </a:rPr>
              <a:t>Wheels are at the vehicle's vertical center, so it runs either way up. Taken from floor level, mid-drive.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Flip it over and it keeps going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self-test looks like  -  a demonstration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it does</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Fit the jumper on GPIO 34 and switch the vehicle on.</a:t>
            </a:r>
          </a:p>
          <a:p>
            <a:pPr algn="l">
              <a:lnSpc>
                <a:spcPct val="100000"/>
              </a:lnSpc>
              <a:spcAft>
                <a:spcPts val="400"/>
              </a:spcAft>
              <a:defRPr sz="1800" b="0">
                <a:solidFill>
                  <a:srgbClr val="222222"/>
                </a:solidFill>
                <a:latin typeface="Calibri"/>
              </a:defRPr>
            </a:pPr>
            <a:r>
              <a:rPr sz="1800" b="0">
                <a:solidFill>
                  <a:srgbClr val="222222"/>
                </a:solidFill>
                <a:latin typeface="Calibri"/>
              </a:rPr>
              <a:t>It measures what the electronics draw with the motors stopped. That is the BASELINE.</a:t>
            </a:r>
          </a:p>
          <a:p>
            <a:pPr algn="l">
              <a:lnSpc>
                <a:spcPct val="100000"/>
              </a:lnSpc>
              <a:spcAft>
                <a:spcPts val="400"/>
              </a:spcAft>
              <a:defRPr sz="1800" b="0">
                <a:solidFill>
                  <a:srgbClr val="222222"/>
                </a:solidFill>
                <a:latin typeface="Calibri"/>
              </a:defRPr>
            </a:pPr>
            <a:r>
              <a:rPr sz="1800" b="0">
                <a:solidFill>
                  <a:srgbClr val="222222"/>
                </a:solidFill>
                <a:latin typeface="Calibri"/>
              </a:rPr>
              <a:t>Then it drives each motor forward, then in reverse, watching the current against that baseline.</a:t>
            </a:r>
          </a:p>
          <a:p>
            <a:pPr algn="l">
              <a:lnSpc>
                <a:spcPct val="100000"/>
              </a:lnSpc>
              <a:spcAft>
                <a:spcPts val="400"/>
              </a:spcAft>
              <a:defRPr sz="1800" b="0">
                <a:solidFill>
                  <a:srgbClr val="222222"/>
                </a:solidFill>
                <a:latin typeface="Calibri"/>
              </a:defRPr>
            </a:pPr>
            <a:r>
              <a:rPr sz="1800" b="0">
                <a:solidFill>
                  <a:srgbClr val="222222"/>
                </a:solidFill>
                <a:latin typeface="Calibri"/>
              </a:rPr>
              <a:t>The LEDs blink GREEN if every motor passed, RED if any failed.</a:t>
            </a:r>
          </a:p>
          <a:p>
            <a:pPr algn="l">
              <a:lnSpc>
                <a:spcPct val="100000"/>
              </a:lnSpc>
              <a:spcAft>
                <a:spcPts val="400"/>
              </a:spcAft>
              <a:defRPr sz="1800" b="0">
                <a:solidFill>
                  <a:srgbClr val="222222"/>
                </a:solidFill>
                <a:latin typeface="Calibri"/>
              </a:defRPr>
            </a:pPr>
            <a:r>
              <a:rPr sz="1800" b="0">
                <a:solidFill>
                  <a:srgbClr val="222222"/>
                </a:solidFill>
                <a:latin typeface="Calibri"/>
              </a:rPr>
              <a:t>Press any button on the controller to clear it and drive.</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current tells it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A healthy motor spikes as it breaks away, then settles.</a:t>
            </a:r>
          </a:p>
          <a:p>
            <a:pPr algn="l">
              <a:lnSpc>
                <a:spcPct val="100000"/>
              </a:lnSpc>
              <a:spcAft>
                <a:spcPts val="800"/>
              </a:spcAft>
              <a:defRPr sz="1800" b="0">
                <a:solidFill>
                  <a:srgbClr val="222222"/>
                </a:solidFill>
                <a:latin typeface="Calibri"/>
              </a:defRPr>
            </a:pPr>
            <a:r>
              <a:rPr sz="1800" b="0">
                <a:solidFill>
                  <a:srgbClr val="222222"/>
                </a:solidFill>
                <a:latin typeface="Calibri"/>
              </a:rPr>
              <a:t>A disconnected motor draws almost nothing.</a:t>
            </a:r>
          </a:p>
          <a:p>
            <a:pPr algn="l">
              <a:lnSpc>
                <a:spcPct val="100000"/>
              </a:lnSpc>
              <a:spcAft>
                <a:spcPts val="800"/>
              </a:spcAft>
              <a:defRPr sz="1800" b="0">
                <a:solidFill>
                  <a:srgbClr val="222222"/>
                </a:solidFill>
                <a:latin typeface="Calibri"/>
              </a:defRPr>
            </a:pPr>
            <a:r>
              <a:rPr sz="1800" b="0">
                <a:solidFill>
                  <a:srgbClr val="222222"/>
                </a:solidFill>
                <a:latin typeface="Calibri"/>
              </a:rPr>
              <a:t>A jammed motor draws a lot, and keeps drawing it.</a:t>
            </a:r>
          </a:p>
          <a:p>
            <a:pPr algn="l">
              <a:lnSpc>
                <a:spcPct val="100000"/>
              </a:lnSpc>
              <a:spcAft>
                <a:spcPts val="800"/>
              </a:spcAft>
              <a:defRPr sz="1800" b="0">
                <a:solidFill>
                  <a:srgbClr val="222222"/>
                </a:solidFill>
                <a:latin typeface="Calibri"/>
              </a:defRPr>
            </a:pPr>
            <a:r>
              <a:rPr sz="1800" b="0">
                <a:solidFill>
                  <a:srgbClr val="222222"/>
                </a:solidFill>
                <a:latin typeface="Calibri"/>
              </a:rPr>
              <a:t>The Serial Monitor prints a line per motor with the numbers it measured, and PASS or FAIL beside each one.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This is the advanced program, not today's. But every idea in it is one of yours: a current is a number, a number can be compared, and a comparison can drive an LED.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a command gets from your thumb to a wheel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645920"/>
            <a:ext cx="192024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Switch controller</a:t>
            </a:r>
          </a:p>
        </p:txBody>
      </p:sp>
      <p:sp>
        <p:nvSpPr>
          <p:cNvPr id="7" name="TextBox 6"/>
          <p:cNvSpPr txBox="1"/>
          <p:nvPr/>
        </p:nvSpPr>
        <p:spPr>
          <a:xfrm>
            <a:off x="502920" y="2569464"/>
            <a:ext cx="19202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 move a stick</a:t>
            </a:r>
          </a:p>
        </p:txBody>
      </p:sp>
      <p:sp>
        <p:nvSpPr>
          <p:cNvPr id="8" name="Rounded Rectangle 7"/>
          <p:cNvSpPr/>
          <p:nvPr/>
        </p:nvSpPr>
        <p:spPr>
          <a:xfrm>
            <a:off x="2834640" y="1645920"/>
            <a:ext cx="1463040" cy="868680"/>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Bluetooth</a:t>
            </a:r>
          </a:p>
        </p:txBody>
      </p:sp>
      <p:sp>
        <p:nvSpPr>
          <p:cNvPr id="9" name="TextBox 8"/>
          <p:cNvSpPr txBox="1"/>
          <p:nvPr/>
        </p:nvSpPr>
        <p:spPr>
          <a:xfrm>
            <a:off x="2834640" y="2569464"/>
            <a:ext cx="14630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radio, 2.4 GHz</a:t>
            </a:r>
          </a:p>
        </p:txBody>
      </p:sp>
      <p:sp>
        <p:nvSpPr>
          <p:cNvPr id="10" name="Rounded Rectangle 9"/>
          <p:cNvSpPr/>
          <p:nvPr/>
        </p:nvSpPr>
        <p:spPr>
          <a:xfrm>
            <a:off x="4709160" y="1645920"/>
            <a:ext cx="173736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ESP32</a:t>
            </a:r>
          </a:p>
        </p:txBody>
      </p:sp>
      <p:sp>
        <p:nvSpPr>
          <p:cNvPr id="11" name="TextBox 10"/>
          <p:cNvSpPr txBox="1"/>
          <p:nvPr/>
        </p:nvSpPr>
        <p:spPr>
          <a:xfrm>
            <a:off x="4709160" y="2569464"/>
            <a:ext cx="173736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your program runs here</a:t>
            </a:r>
          </a:p>
        </p:txBody>
      </p:sp>
      <p:cxnSp>
        <p:nvCxnSpPr>
          <p:cNvPr id="12" name="Connector 11"/>
          <p:cNvCxnSpPr/>
          <p:nvPr/>
        </p:nvCxnSpPr>
        <p:spPr>
          <a:xfrm>
            <a:off x="242316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29768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269480" y="1280160"/>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 drivers</a:t>
            </a:r>
          </a:p>
          <a:p>
            <a:pPr algn="ctr">
              <a:lnSpc>
                <a:spcPct val="100000"/>
              </a:lnSpc>
              <a:spcAft>
                <a:spcPts val="0"/>
              </a:spcAft>
              <a:defRPr sz="1800" b="1">
                <a:solidFill>
                  <a:srgbClr val="1F3A5F"/>
                </a:solidFill>
                <a:latin typeface="Calibri"/>
              </a:defRPr>
            </a:pPr>
            <a:r>
              <a:rPr sz="1800" b="1">
                <a:solidFill>
                  <a:srgbClr val="1F3A5F"/>
                </a:solidFill>
                <a:latin typeface="Calibri"/>
              </a:rPr>
              <a:t>4 motors</a:t>
            </a:r>
          </a:p>
        </p:txBody>
      </p:sp>
      <p:sp>
        <p:nvSpPr>
          <p:cNvPr id="15" name="TextBox 14"/>
          <p:cNvSpPr txBox="1"/>
          <p:nvPr/>
        </p:nvSpPr>
        <p:spPr>
          <a:xfrm>
            <a:off x="7269480" y="20574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12 13 16 17 18 19 22 23</a:t>
            </a:r>
          </a:p>
        </p:txBody>
      </p:sp>
      <p:cxnSp>
        <p:nvCxnSpPr>
          <p:cNvPr id="16" name="Connector 15"/>
          <p:cNvCxnSpPr/>
          <p:nvPr/>
        </p:nvCxnSpPr>
        <p:spPr>
          <a:xfrm flipV="1">
            <a:off x="6858000" y="1655064"/>
            <a:ext cx="411480" cy="42519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69480" y="2414016"/>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WS2812B strip</a:t>
            </a:r>
          </a:p>
          <a:p>
            <a:pPr algn="ctr">
              <a:lnSpc>
                <a:spcPct val="100000"/>
              </a:lnSpc>
              <a:spcAft>
                <a:spcPts val="0"/>
              </a:spcAft>
              <a:defRPr sz="1800" b="1">
                <a:solidFill>
                  <a:srgbClr val="1F3A5F"/>
                </a:solidFill>
                <a:latin typeface="Calibri"/>
              </a:defRPr>
            </a:pPr>
            <a:r>
              <a:rPr sz="1800" b="1">
                <a:solidFill>
                  <a:srgbClr val="1F3A5F"/>
                </a:solidFill>
                <a:latin typeface="Calibri"/>
              </a:rPr>
              <a:t>32 LEDs</a:t>
            </a:r>
          </a:p>
        </p:txBody>
      </p:sp>
      <p:sp>
        <p:nvSpPr>
          <p:cNvPr id="18" name="TextBox 17"/>
          <p:cNvSpPr txBox="1"/>
          <p:nvPr/>
        </p:nvSpPr>
        <p:spPr>
          <a:xfrm>
            <a:off x="7269480" y="3191256"/>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GPIO 5</a:t>
            </a:r>
          </a:p>
        </p:txBody>
      </p:sp>
      <p:cxnSp>
        <p:nvCxnSpPr>
          <p:cNvPr id="19" name="Connector 18"/>
          <p:cNvCxnSpPr/>
          <p:nvPr/>
        </p:nvCxnSpPr>
        <p:spPr>
          <a:xfrm>
            <a:off x="6858000" y="2080260"/>
            <a:ext cx="411480" cy="70866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69480" y="3547872"/>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Servo headers</a:t>
            </a:r>
          </a:p>
          <a:p>
            <a:pPr algn="ctr">
              <a:lnSpc>
                <a:spcPct val="100000"/>
              </a:lnSpc>
              <a:spcAft>
                <a:spcPts val="0"/>
              </a:spcAft>
              <a:defRPr sz="1800" b="1">
                <a:solidFill>
                  <a:srgbClr val="1F3A5F"/>
                </a:solidFill>
                <a:latin typeface="Calibri"/>
              </a:defRPr>
            </a:pPr>
            <a:r>
              <a:rPr sz="1800" b="1">
                <a:solidFill>
                  <a:srgbClr val="1F3A5F"/>
                </a:solidFill>
                <a:latin typeface="Calibri"/>
              </a:rPr>
              <a:t>up to 4 servos</a:t>
            </a:r>
          </a:p>
        </p:txBody>
      </p:sp>
      <p:sp>
        <p:nvSpPr>
          <p:cNvPr id="21" name="TextBox 20"/>
          <p:cNvSpPr txBox="1"/>
          <p:nvPr/>
        </p:nvSpPr>
        <p:spPr>
          <a:xfrm>
            <a:off x="7269480" y="4325112"/>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25 26 27 14</a:t>
            </a:r>
          </a:p>
        </p:txBody>
      </p:sp>
      <p:cxnSp>
        <p:nvCxnSpPr>
          <p:cNvPr id="22" name="Connector 21"/>
          <p:cNvCxnSpPr/>
          <p:nvPr/>
        </p:nvCxnSpPr>
        <p:spPr>
          <a:xfrm>
            <a:off x="6858000" y="2080260"/>
            <a:ext cx="411480" cy="184251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the vehicle can do happens on one of those three outputs. The rest of the program is deciding what to send.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ESP32 pins this vehicle actually uses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ectangle 5"/>
          <p:cNvSpPr/>
          <p:nvPr/>
        </p:nvSpPr>
        <p:spPr>
          <a:xfrm>
            <a:off x="502920" y="1325880"/>
            <a:ext cx="3611880" cy="475488"/>
          </a:xfrm>
          <a:prstGeom prst="rect">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MOTORS</a:t>
            </a:r>
          </a:p>
        </p:txBody>
      </p:sp>
      <p:sp>
        <p:nvSpPr>
          <p:cNvPr id="7" name="TextBox 6"/>
          <p:cNvSpPr txBox="1"/>
          <p:nvPr/>
        </p:nvSpPr>
        <p:spPr>
          <a:xfrm>
            <a:off x="557784"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left</a:t>
            </a:r>
          </a:p>
        </p:txBody>
      </p:sp>
      <p:sp>
        <p:nvSpPr>
          <p:cNvPr id="8" name="TextBox 7"/>
          <p:cNvSpPr txBox="1"/>
          <p:nvPr/>
        </p:nvSpPr>
        <p:spPr>
          <a:xfrm>
            <a:off x="3063240"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12 / 13</a:t>
            </a:r>
          </a:p>
        </p:txBody>
      </p:sp>
      <p:sp>
        <p:nvSpPr>
          <p:cNvPr id="9" name="TextBox 8"/>
          <p:cNvSpPr txBox="1"/>
          <p:nvPr/>
        </p:nvSpPr>
        <p:spPr>
          <a:xfrm>
            <a:off x="557784"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left</a:t>
            </a:r>
          </a:p>
        </p:txBody>
      </p:sp>
      <p:sp>
        <p:nvSpPr>
          <p:cNvPr id="10" name="TextBox 9"/>
          <p:cNvSpPr txBox="1"/>
          <p:nvPr/>
        </p:nvSpPr>
        <p:spPr>
          <a:xfrm>
            <a:off x="3063240"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18 / 19</a:t>
            </a:r>
          </a:p>
        </p:txBody>
      </p:sp>
      <p:sp>
        <p:nvSpPr>
          <p:cNvPr id="11" name="TextBox 10"/>
          <p:cNvSpPr txBox="1"/>
          <p:nvPr/>
        </p:nvSpPr>
        <p:spPr>
          <a:xfrm>
            <a:off x="557784"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right</a:t>
            </a:r>
          </a:p>
        </p:txBody>
      </p:sp>
      <p:sp>
        <p:nvSpPr>
          <p:cNvPr id="12" name="TextBox 11"/>
          <p:cNvSpPr txBox="1"/>
          <p:nvPr/>
        </p:nvSpPr>
        <p:spPr>
          <a:xfrm>
            <a:off x="3063240"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22 / 23</a:t>
            </a:r>
          </a:p>
        </p:txBody>
      </p:sp>
      <p:sp>
        <p:nvSpPr>
          <p:cNvPr id="13" name="TextBox 12"/>
          <p:cNvSpPr txBox="1"/>
          <p:nvPr/>
        </p:nvSpPr>
        <p:spPr>
          <a:xfrm>
            <a:off x="557784"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right</a:t>
            </a:r>
          </a:p>
        </p:txBody>
      </p:sp>
      <p:sp>
        <p:nvSpPr>
          <p:cNvPr id="14" name="TextBox 13"/>
          <p:cNvSpPr txBox="1"/>
          <p:nvPr/>
        </p:nvSpPr>
        <p:spPr>
          <a:xfrm>
            <a:off x="3063240"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16 / 17</a:t>
            </a:r>
          </a:p>
        </p:txBody>
      </p:sp>
      <p:sp>
        <p:nvSpPr>
          <p:cNvPr id="15" name="TextBox 14"/>
          <p:cNvSpPr txBox="1"/>
          <p:nvPr/>
        </p:nvSpPr>
        <p:spPr>
          <a:xfrm>
            <a:off x="557784"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two pins each: drive one for</a:t>
            </a:r>
          </a:p>
        </p:txBody>
      </p:sp>
      <p:sp>
        <p:nvSpPr>
          <p:cNvPr id="16" name="TextBox 15"/>
          <p:cNvSpPr txBox="1"/>
          <p:nvPr/>
        </p:nvSpPr>
        <p:spPr>
          <a:xfrm>
            <a:off x="557784"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forward, the other for reverse</a:t>
            </a:r>
          </a:p>
        </p:txBody>
      </p:sp>
      <p:sp>
        <p:nvSpPr>
          <p:cNvPr id="17" name="Rectangle 16"/>
          <p:cNvSpPr/>
          <p:nvPr/>
        </p:nvSpPr>
        <p:spPr>
          <a:xfrm>
            <a:off x="4370832" y="1325880"/>
            <a:ext cx="3611880" cy="475488"/>
          </a:xfrm>
          <a:prstGeom prst="rect">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LIGHTS AND SERVOS</a:t>
            </a:r>
          </a:p>
        </p:txBody>
      </p:sp>
      <p:sp>
        <p:nvSpPr>
          <p:cNvPr id="18" name="TextBox 17"/>
          <p:cNvSpPr txBox="1"/>
          <p:nvPr/>
        </p:nvSpPr>
        <p:spPr>
          <a:xfrm>
            <a:off x="4425696"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32 NeoPixels</a:t>
            </a:r>
          </a:p>
        </p:txBody>
      </p:sp>
      <p:sp>
        <p:nvSpPr>
          <p:cNvPr id="19" name="TextBox 18"/>
          <p:cNvSpPr txBox="1"/>
          <p:nvPr/>
        </p:nvSpPr>
        <p:spPr>
          <a:xfrm>
            <a:off x="6931152"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5</a:t>
            </a:r>
          </a:p>
        </p:txBody>
      </p:sp>
      <p:sp>
        <p:nvSpPr>
          <p:cNvPr id="20" name="TextBox 19"/>
          <p:cNvSpPr txBox="1"/>
          <p:nvPr/>
        </p:nvSpPr>
        <p:spPr>
          <a:xfrm>
            <a:off x="4425696"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1 / 2</a:t>
            </a:r>
          </a:p>
        </p:txBody>
      </p:sp>
      <p:sp>
        <p:nvSpPr>
          <p:cNvPr id="21" name="TextBox 20"/>
          <p:cNvSpPr txBox="1"/>
          <p:nvPr/>
        </p:nvSpPr>
        <p:spPr>
          <a:xfrm>
            <a:off x="6931152"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25 / 26</a:t>
            </a:r>
          </a:p>
        </p:txBody>
      </p:sp>
      <p:sp>
        <p:nvSpPr>
          <p:cNvPr id="22" name="TextBox 21"/>
          <p:cNvSpPr txBox="1"/>
          <p:nvPr/>
        </p:nvSpPr>
        <p:spPr>
          <a:xfrm>
            <a:off x="4425696"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3 / 4</a:t>
            </a:r>
          </a:p>
        </p:txBody>
      </p:sp>
      <p:sp>
        <p:nvSpPr>
          <p:cNvPr id="23" name="TextBox 22"/>
          <p:cNvSpPr txBox="1"/>
          <p:nvPr/>
        </p:nvSpPr>
        <p:spPr>
          <a:xfrm>
            <a:off x="6931152"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27 / 14</a:t>
            </a:r>
          </a:p>
        </p:txBody>
      </p:sp>
      <p:sp>
        <p:nvSpPr>
          <p:cNvPr id="24" name="TextBox 23"/>
          <p:cNvSpPr txBox="1"/>
          <p:nvPr/>
        </p:nvSpPr>
        <p:spPr>
          <a:xfrm>
            <a:off x="4425696" y="415795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one data wire drives all 32</a:t>
            </a:r>
          </a:p>
        </p:txBody>
      </p:sp>
      <p:sp>
        <p:nvSpPr>
          <p:cNvPr id="25" name="TextBox 24"/>
          <p:cNvSpPr txBox="1"/>
          <p:nvPr/>
        </p:nvSpPr>
        <p:spPr>
          <a:xfrm>
            <a:off x="4425696" y="4588531"/>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LEDs, in one chain</a:t>
            </a:r>
          </a:p>
        </p:txBody>
      </p:sp>
      <p:sp>
        <p:nvSpPr>
          <p:cNvPr id="26" name="Rectangle 25"/>
          <p:cNvSpPr/>
          <p:nvPr/>
        </p:nvSpPr>
        <p:spPr>
          <a:xfrm>
            <a:off x="8238744" y="1325880"/>
            <a:ext cx="3611880" cy="475488"/>
          </a:xfrm>
          <a:prstGeom prst="rect">
            <a:avLst/>
          </a:prstGeom>
          <a:solidFill>
            <a:srgbClr val="E8ECF0"/>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EVERYTHING ELSE</a:t>
            </a:r>
          </a:p>
        </p:txBody>
      </p:sp>
      <p:sp>
        <p:nvSpPr>
          <p:cNvPr id="27" name="TextBox 26"/>
          <p:cNvSpPr txBox="1"/>
          <p:nvPr/>
        </p:nvSpPr>
        <p:spPr>
          <a:xfrm>
            <a:off x="8293608"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I2C  SDA / SCL</a:t>
            </a:r>
          </a:p>
        </p:txBody>
      </p:sp>
      <p:sp>
        <p:nvSpPr>
          <p:cNvPr id="28" name="TextBox 27"/>
          <p:cNvSpPr txBox="1"/>
          <p:nvPr/>
        </p:nvSpPr>
        <p:spPr>
          <a:xfrm>
            <a:off x="10799064"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32 / 33</a:t>
            </a:r>
          </a:p>
        </p:txBody>
      </p:sp>
      <p:sp>
        <p:nvSpPr>
          <p:cNvPr id="29" name="TextBox 28"/>
          <p:cNvSpPr txBox="1"/>
          <p:nvPr/>
        </p:nvSpPr>
        <p:spPr>
          <a:xfrm>
            <a:off x="8293608"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BOOT button</a:t>
            </a:r>
          </a:p>
        </p:txBody>
      </p:sp>
      <p:sp>
        <p:nvSpPr>
          <p:cNvPr id="30" name="TextBox 29"/>
          <p:cNvSpPr txBox="1"/>
          <p:nvPr/>
        </p:nvSpPr>
        <p:spPr>
          <a:xfrm>
            <a:off x="10799064"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0</a:t>
            </a:r>
          </a:p>
        </p:txBody>
      </p:sp>
      <p:sp>
        <p:nvSpPr>
          <p:cNvPr id="31" name="TextBox 30"/>
          <p:cNvSpPr txBox="1"/>
          <p:nvPr/>
        </p:nvSpPr>
        <p:spPr>
          <a:xfrm>
            <a:off x="8293608"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Self-test jumper</a:t>
            </a:r>
          </a:p>
        </p:txBody>
      </p:sp>
      <p:sp>
        <p:nvSpPr>
          <p:cNvPr id="32" name="TextBox 31"/>
          <p:cNvSpPr txBox="1"/>
          <p:nvPr/>
        </p:nvSpPr>
        <p:spPr>
          <a:xfrm>
            <a:off x="10799064"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34</a:t>
            </a:r>
          </a:p>
        </p:txBody>
      </p:sp>
      <p:sp>
        <p:nvSpPr>
          <p:cNvPr id="33" name="TextBox 32"/>
          <p:cNvSpPr txBox="1"/>
          <p:nvPr/>
        </p:nvSpPr>
        <p:spPr>
          <a:xfrm>
            <a:off x="8293608"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Blink LED, Lesson 1</a:t>
            </a:r>
          </a:p>
        </p:txBody>
      </p:sp>
      <p:sp>
        <p:nvSpPr>
          <p:cNvPr id="34" name="TextBox 33"/>
          <p:cNvSpPr txBox="1"/>
          <p:nvPr/>
        </p:nvSpPr>
        <p:spPr>
          <a:xfrm>
            <a:off x="10799064"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a:t>
            </a:r>
          </a:p>
        </p:txBody>
      </p:sp>
      <p:sp>
        <p:nvSpPr>
          <p:cNvPr id="35" name="TextBox 34"/>
          <p:cNvSpPr txBox="1"/>
          <p:nvPr/>
        </p:nvSpPr>
        <p:spPr>
          <a:xfrm>
            <a:off x="8293608"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34 to 39 are INPUT ONLY</a:t>
            </a:r>
          </a:p>
        </p:txBody>
      </p:sp>
      <p:sp>
        <p:nvSpPr>
          <p:cNvPr id="36" name="TextBox 35"/>
          <p:cNvSpPr txBox="1"/>
          <p:nvPr/>
        </p:nvSpPr>
        <p:spPr>
          <a:xfrm>
            <a:off x="8293608"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and have no pull-ups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Gen 3 control board, drawn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SCHEMATIC: Gen 3 control board</a:t>
            </a:r>
          </a:p>
          <a:p>
            <a:pPr algn="ctr">
              <a:lnSpc>
                <a:spcPct val="100000"/>
              </a:lnSpc>
              <a:spcAft>
                <a:spcPts val="700"/>
              </a:spcAft>
              <a:defRPr sz="1600" b="0">
                <a:solidFill>
                  <a:srgbClr val="0E7C86"/>
                </a:solidFill>
                <a:latin typeface="Calibri"/>
              </a:defRPr>
            </a:pPr>
            <a:r>
              <a:rPr sz="1600" b="0">
                <a:solidFill>
                  <a:srgbClr val="0E7C86"/>
                </a:solidFill>
                <a:latin typeface="Calibri"/>
              </a:rPr>
              <a:t>The full circuit diagram, exported as an image. A reference page - nobody is asked to read it today.</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You are not expected to read this today. It is here so you know it exists, and so you can come back to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microcontroller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ESP32</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A whole computer on one chip: processor, memory, storage, and the hardware to drive pins.</a:t>
            </a:r>
          </a:p>
          <a:p>
            <a:pPr algn="l">
              <a:lnSpc>
                <a:spcPct val="100000"/>
              </a:lnSpc>
              <a:spcAft>
                <a:spcPts val="800"/>
              </a:spcAft>
              <a:defRPr sz="2100" b="0">
                <a:solidFill>
                  <a:srgbClr val="222222"/>
                </a:solidFill>
                <a:latin typeface="Calibri"/>
              </a:defRPr>
            </a:pPr>
            <a:r>
              <a:rPr sz="2100" b="0">
                <a:solidFill>
                  <a:srgbClr val="222222"/>
                </a:solidFill>
                <a:latin typeface="Calibri"/>
              </a:rPr>
              <a:t>240 MHz, dual core, with Wi-Fi and Bluetooth built in.</a:t>
            </a:r>
          </a:p>
          <a:p>
            <a:pPr algn="l">
              <a:lnSpc>
                <a:spcPct val="100000"/>
              </a:lnSpc>
              <a:spcAft>
                <a:spcPts val="800"/>
              </a:spcAft>
              <a:defRPr sz="2100" b="0">
                <a:solidFill>
                  <a:srgbClr val="222222"/>
                </a:solidFill>
                <a:latin typeface="Calibri"/>
              </a:defRPr>
            </a:pPr>
            <a:r>
              <a:rPr sz="2100" b="0">
                <a:solidFill>
                  <a:srgbClr val="222222"/>
                </a:solidFill>
                <a:latin typeface="Calibri"/>
              </a:rPr>
              <a:t>It runs ONE program. There is no desktop, no windows, no files.</a:t>
            </a:r>
          </a:p>
          <a:p>
            <a:pPr algn="l">
              <a:lnSpc>
                <a:spcPct val="100000"/>
              </a:lnSpc>
              <a:spcAft>
                <a:spcPts val="800"/>
              </a:spcAft>
              <a:defRPr sz="2100" b="0">
                <a:solidFill>
                  <a:srgbClr val="222222"/>
                </a:solidFill>
                <a:latin typeface="Calibri"/>
              </a:defRPr>
            </a:pPr>
            <a:r>
              <a:rPr sz="2100" b="0">
                <a:solidFill>
                  <a:srgbClr val="222222"/>
                </a:solidFill>
                <a:latin typeface="Calibri"/>
              </a:rPr>
              <a:t>It starts running the instant it has power, and stops when it does not.</a:t>
            </a:r>
          </a:p>
          <a:p>
            <a:pPr algn="l">
              <a:lnSpc>
                <a:spcPct val="100000"/>
              </a:lnSpc>
              <a:spcAft>
                <a:spcPts val="800"/>
              </a:spcAft>
              <a:defRPr sz="2100" b="0">
                <a:solidFill>
                  <a:srgbClr val="222222"/>
                </a:solidFill>
                <a:latin typeface="Calibri"/>
              </a:defRPr>
            </a:pPr>
            <a:r>
              <a:rPr sz="2100" b="0">
                <a:solidFill>
                  <a:srgbClr val="222222"/>
                </a:solidFill>
                <a:latin typeface="Calibri"/>
              </a:rPr>
              <a:t>We compile programs in C++ on a laptop and send them down the USB cable into its flash memory.</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that differs from your laptop</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Your laptop runs hundreds of programs at once and shares its processor between them.</a:t>
            </a:r>
          </a:p>
          <a:p>
            <a:pPr algn="l">
              <a:lnSpc>
                <a:spcPct val="100000"/>
              </a:lnSpc>
              <a:spcAft>
                <a:spcPts val="800"/>
              </a:spcAft>
              <a:defRPr sz="2000" b="0">
                <a:solidFill>
                  <a:srgbClr val="222222"/>
                </a:solidFill>
                <a:latin typeface="Calibri"/>
              </a:defRPr>
            </a:pPr>
            <a:r>
              <a:rPr sz="2000" b="0">
                <a:solidFill>
                  <a:srgbClr val="222222"/>
                </a:solidFill>
                <a:latin typeface="Calibri"/>
              </a:rPr>
              <a:t>The ESP32 gives your program the whole machine. Nothing interrupts you, and nothing rescues you either.</a:t>
            </a:r>
          </a:p>
          <a:p>
            <a:pPr algn="l">
              <a:lnSpc>
                <a:spcPct val="100000"/>
              </a:lnSpc>
              <a:spcAft>
                <a:spcPts val="800"/>
              </a:spcAft>
              <a:defRPr sz="2000" b="0">
                <a:solidFill>
                  <a:srgbClr val="222222"/>
                </a:solidFill>
                <a:latin typeface="Calibri"/>
              </a:defRPr>
            </a:pPr>
            <a:r>
              <a:rPr sz="2000" b="0">
                <a:solidFill>
                  <a:srgbClr val="222222"/>
                </a:solidFill>
                <a:latin typeface="Calibri"/>
              </a:rPr>
              <a:t>If your program stops, the vehicle stops. If your program waits, the vehicle waits. You will meet that head-on in Lesson 5.</a:t>
            </a:r>
          </a:p>
          <a:p>
            <a:pPr algn="l">
              <a:lnSpc>
                <a:spcPct val="100000"/>
              </a:lnSpc>
              <a:spcAft>
                <a:spcPts val="800"/>
              </a:spcAft>
              <a:defRPr sz="2000" b="0">
                <a:solidFill>
                  <a:srgbClr val="222222"/>
                </a:solidFill>
                <a:latin typeface="Calibri"/>
              </a:defRPr>
            </a:pPr>
            <a:r>
              <a:rPr sz="2000" b="0">
                <a:solidFill>
                  <a:srgbClr val="222222"/>
                </a:solidFill>
                <a:latin typeface="Calibri"/>
              </a:rPr>
              <a:t>There is no error message on a screen unless you print one. That is why the Serial Monitor matters so much.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development system is two machines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Your program is written and compiled on a laptop, then sent down a USB cable into the ESP32, where it runs on its own with the laptop unplugged.</a:t>
            </a:r>
          </a:p>
        </p:txBody>
      </p:sp>
      <p:pic>
        <p:nvPicPr>
          <p:cNvPr id="7" name="Picture 6" descr="vehicle-and-laptop.jpg"/>
          <p:cNvPicPr>
            <a:picLocks noChangeAspect="1"/>
          </p:cNvPicPr>
          <p:nvPr/>
        </p:nvPicPr>
        <p:blipFill>
          <a:blip r:embed="rId2"/>
          <a:stretch>
            <a:fillRect/>
          </a:stretch>
        </p:blipFill>
        <p:spPr>
          <a:xfrm>
            <a:off x="1549831" y="1810512"/>
            <a:ext cx="3316224" cy="2487168"/>
          </a:xfrm>
          <a:prstGeom prst="rect">
            <a:avLst/>
          </a:prstGeom>
        </p:spPr>
      </p:pic>
      <p:pic>
        <p:nvPicPr>
          <p:cNvPr id="8" name="Picture 7" descr="vehicle-top-esp32.jpg"/>
          <p:cNvPicPr>
            <a:picLocks noChangeAspect="1"/>
          </p:cNvPicPr>
          <p:nvPr/>
        </p:nvPicPr>
        <p:blipFill>
          <a:blip r:embed="rId3"/>
          <a:stretch>
            <a:fillRect/>
          </a:stretch>
        </p:blipFill>
        <p:spPr>
          <a:xfrm>
            <a:off x="7427991" y="1810512"/>
            <a:ext cx="3111519"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laptop compiles. The vehicle runs.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ESP32 sits on the control board, under the top plate</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That is the whole toolchain: edit here, compile here, upload there, run there. Everything in the next half hour is setting up the first two.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Setting up the Arduino IDE</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1  -  install the Arduino IDE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Go to arduino.cc/en/software and download the Arduino IDE, version 2.3.10 or newer.</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install it and sign in to your Microsoft account if it asks. You can ignore the donation and newsletter prompts.</a:t>
            </a:r>
          </a:p>
          <a:p>
            <a:pPr lvl="1" algn="l">
              <a:lnSpc>
                <a:spcPct val="100000"/>
              </a:lnSpc>
              <a:spcAft>
                <a:spcPts val="600"/>
              </a:spcAft>
              <a:defRPr sz="2100" b="0">
                <a:solidFill>
                  <a:srgbClr val="222222"/>
                </a:solidFill>
                <a:latin typeface="Calibri"/>
              </a:defRPr>
            </a:pPr>
            <a:r>
              <a:rPr sz="2100" b="0">
                <a:solidFill>
                  <a:srgbClr val="222222"/>
                </a:solidFill>
                <a:latin typeface="Calibri"/>
              </a:rPr>
              <a:t>Mac: open the downloaded .zip and drag Arduino.app into your Applications folder.</a:t>
            </a:r>
          </a:p>
          <a:p>
            <a:pPr lvl="1" algn="l">
              <a:lnSpc>
                <a:spcPct val="100000"/>
              </a:lnSpc>
              <a:spcAft>
                <a:spcPts val="600"/>
              </a:spcAft>
              <a:defRPr sz="2100" b="0">
                <a:solidFill>
                  <a:srgbClr val="222222"/>
                </a:solidFill>
                <a:latin typeface="Calibri"/>
              </a:defRPr>
            </a:pPr>
            <a:r>
              <a:rPr sz="2100" b="0">
                <a:solidFill>
                  <a:srgbClr val="222222"/>
                </a:solidFill>
                <a:latin typeface="Calibri"/>
              </a:rPr>
              <a:t>It needs about 500 MB of disk space.</a:t>
            </a:r>
          </a:p>
          <a:p>
            <a:pPr algn="l">
              <a:lnSpc>
                <a:spcPct val="100000"/>
              </a:lnSpc>
              <a:spcAft>
                <a:spcPts val="600"/>
              </a:spcAft>
              <a:defRPr sz="210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IDE is where you will write code, compile it, upload it to the vehicle, and read what the vehicle prints back.</a:t>
            </a:r>
          </a:p>
          <a:p>
            <a:pPr algn="l">
              <a:lnSpc>
                <a:spcPct val="100000"/>
              </a:lnSpc>
              <a:spcAft>
                <a:spcPts val="600"/>
              </a:spcAft>
              <a:defRPr sz="2100" b="0">
                <a:solidFill>
                  <a:srgbClr val="222222"/>
                </a:solidFill>
                <a:latin typeface="Calibri"/>
              </a:defRPr>
            </a:pPr>
            <a:r>
              <a:rPr sz="2100" b="0">
                <a:solidFill>
                  <a:srgbClr val="222222"/>
                </a:solidFill>
                <a:latin typeface="Calibri"/>
              </a:rPr>
              <a:t>"Compile" means turn your C++ into the machine language the ESP32 runs. "Upload" means send that down the USB cable.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the install will not go through, pair up with a neighbor and carry on - you lose nothing today. Note down the error and we will sort the machine out afterwards.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2  -  install the board package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7688056" cy="3986784"/>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Arduino IDE does not know what an ESP32 is until you tell it.</a:t>
            </a:r>
          </a:p>
          <a:p>
            <a:pPr algn="l">
              <a:lnSpc>
                <a:spcPct val="100000"/>
              </a:lnSpc>
              <a:spcAft>
                <a:spcPts val="500"/>
              </a:spcAft>
              <a:defRPr sz="1800" b="0">
                <a:solidFill>
                  <a:srgbClr val="222222"/>
                </a:solidFill>
                <a:latin typeface="Calibri"/>
              </a:defRPr>
            </a:pPr>
            <a:r>
              <a:rPr sz="1800" b="0">
                <a:solidFill>
                  <a:srgbClr val="222222"/>
                </a:solidFill>
                <a:latin typeface="Calibri"/>
              </a:rPr>
              <a:t>1.  File &gt; Preferences.</a:t>
            </a:r>
          </a:p>
          <a:p>
            <a:pPr algn="l">
              <a:lnSpc>
                <a:spcPct val="100000"/>
              </a:lnSpc>
              <a:spcAft>
                <a:spcPts val="500"/>
              </a:spcAft>
              <a:defRPr sz="1800" b="0">
                <a:solidFill>
                  <a:srgbClr val="222222"/>
                </a:solidFill>
                <a:latin typeface="Calibri"/>
              </a:defRPr>
            </a:pPr>
            <a:r>
              <a:rPr sz="1800" b="0">
                <a:solidFill>
                  <a:srgbClr val="222222"/>
                </a:solidFill>
                <a:latin typeface="Calibri"/>
              </a:rPr>
              <a:t>2.  Paste this into "Additional boards manager URLs", one line, no spaces:</a:t>
            </a:r>
          </a:p>
          <a:p>
            <a:pPr lvl="1" algn="l">
              <a:lnSpc>
                <a:spcPct val="100000"/>
              </a:lnSpc>
              <a:spcAft>
                <a:spcPts val="500"/>
              </a:spcAft>
              <a:defRPr sz="1800" b="0">
                <a:solidFill>
                  <a:srgbClr val="222222"/>
                </a:solidFill>
                <a:latin typeface="Calibri"/>
              </a:defRPr>
            </a:pPr>
            <a:r>
              <a:rPr sz="1800" b="0">
                <a:solidFill>
                  <a:srgbClr val="222222"/>
                </a:solidFill>
                <a:latin typeface="Calibri"/>
              </a:rPr>
              <a:t>https://raw.githubusercontent.com/ricardoquesada/esp32-arduino-lib-builder/master/bluepad32_files/package_esp32_bluepad32_index.json</a:t>
            </a:r>
          </a:p>
          <a:p>
            <a:pPr algn="l">
              <a:lnSpc>
                <a:spcPct val="100000"/>
              </a:lnSpc>
              <a:spcAft>
                <a:spcPts val="500"/>
              </a:spcAft>
              <a:defRPr sz="1800" b="0">
                <a:solidFill>
                  <a:srgbClr val="222222"/>
                </a:solidFill>
                <a:latin typeface="Calibri"/>
              </a:defRPr>
            </a:pPr>
            <a:r>
              <a:rPr sz="1800" b="0">
                <a:solidFill>
                  <a:srgbClr val="222222"/>
                </a:solidFill>
                <a:latin typeface="Calibri"/>
              </a:rPr>
              <a:t>3.  Click OK.</a:t>
            </a:r>
          </a:p>
          <a:p>
            <a:pPr algn="l">
              <a:lnSpc>
                <a:spcPct val="100000"/>
              </a:lnSpc>
              <a:spcAft>
                <a:spcPts val="500"/>
              </a:spcAft>
              <a:defRPr sz="1800" b="0">
                <a:solidFill>
                  <a:srgbClr val="222222"/>
                </a:solidFill>
                <a:latin typeface="Calibri"/>
              </a:defRPr>
            </a:pPr>
            <a:r>
              <a:rPr sz="1800" b="0">
                <a:solidFill>
                  <a:srgbClr val="222222"/>
                </a:solidFill>
                <a:latin typeface="Calibri"/>
              </a:rPr>
              <a:t>4.  Tools &gt; Board &gt; Boards Manager. Search "bluepad32".</a:t>
            </a:r>
          </a:p>
          <a:p>
            <a:pPr lvl="1" algn="l">
              <a:lnSpc>
                <a:spcPct val="100000"/>
              </a:lnSpc>
              <a:spcAft>
                <a:spcPts val="500"/>
              </a:spcAft>
              <a:defRPr sz="1800" b="0">
                <a:solidFill>
                  <a:srgbClr val="222222"/>
                </a:solidFill>
                <a:latin typeface="Calibri"/>
              </a:defRPr>
            </a:pPr>
            <a:r>
              <a:rPr sz="1800" b="0">
                <a:solidFill>
                  <a:srgbClr val="222222"/>
                </a:solidFill>
                <a:latin typeface="Calibri"/>
              </a:rPr>
              <a:t>The entry you want is  esp32_bluepad32  by Ricardo Quesada,  version 4.1.0</a:t>
            </a:r>
          </a:p>
          <a:p>
            <a:pPr algn="l">
              <a:lnSpc>
                <a:spcPct val="100000"/>
              </a:lnSpc>
              <a:spcAft>
                <a:spcPts val="500"/>
              </a:spcAft>
              <a:defRPr sz="1800" b="0">
                <a:solidFill>
                  <a:srgbClr val="222222"/>
                </a:solidFill>
                <a:latin typeface="Calibri"/>
              </a:defRPr>
            </a:pPr>
            <a:r>
              <a:rPr sz="1800" b="0">
                <a:solidFill>
                  <a:srgbClr val="222222"/>
                </a:solidFill>
                <a:latin typeface="Calibri"/>
              </a:rPr>
              <a:t>5.  Choose version 4.1.0 - NOT the latest - and click Install.</a:t>
            </a:r>
          </a:p>
          <a:p>
            <a:pPr algn="l">
              <a:lnSpc>
                <a:spcPct val="100000"/>
              </a:lnSpc>
              <a:spcAft>
                <a:spcPts val="500"/>
              </a:spcAft>
              <a:defRPr sz="1800" b="0">
                <a:solidFill>
                  <a:srgbClr val="222222"/>
                </a:solidFill>
                <a:latin typeface="Calibri"/>
              </a:defRPr>
            </a:pPr>
            <a:r>
              <a:rPr sz="1800" b="0">
                <a:solidFill>
                  <a:srgbClr val="222222"/>
                </a:solidFill>
                <a:latin typeface="Calibri"/>
              </a:rPr>
              <a:t>6.  Tools &gt; Board &gt; esp32_bluepad32 &gt; "ESP32 Dev Module"</a:t>
            </a:r>
          </a:p>
        </p:txBody>
      </p:sp>
      <p:sp>
        <p:nvSpPr>
          <p:cNvPr id="7" name="Rectangle 6"/>
          <p:cNvSpPr/>
          <p:nvPr/>
        </p:nvSpPr>
        <p:spPr>
          <a:xfrm>
            <a:off x="8556736" y="1188720"/>
            <a:ext cx="3132039" cy="384048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SCREENSHOT: Arduino IDE Preferences</a:t>
            </a:r>
          </a:p>
          <a:p>
            <a:pPr algn="ctr">
              <a:lnSpc>
                <a:spcPct val="100000"/>
              </a:lnSpc>
              <a:spcAft>
                <a:spcPts val="700"/>
              </a:spcAft>
              <a:defRPr sz="1600" b="0">
                <a:solidFill>
                  <a:srgbClr val="0E7C86"/>
                </a:solidFill>
                <a:latin typeface="Calibri"/>
              </a:defRPr>
            </a:pPr>
            <a:r>
              <a:rPr sz="1600" b="0">
                <a:solidFill>
                  <a:srgbClr val="0E7C86"/>
                </a:solidFill>
                <a:latin typeface="Calibri"/>
              </a:rPr>
              <a:t>File &gt; Preferences with the URL above pasted into the "Additional boards manager URLs" box, so students can see exactly which field it goes in.</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Two entries are now called "ESP32 Dev Module". This track needs the one under "esp32_bluepad32".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3  -  select the board and the port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BOARD:  Tools &gt; Board &gt; esp32_bluepad32 &gt; "ESP32 Dev Module"</a:t>
            </a:r>
          </a:p>
          <a:p>
            <a:pPr lvl="1" algn="l">
              <a:lnSpc>
                <a:spcPct val="100000"/>
              </a:lnSpc>
              <a:spcAft>
                <a:spcPts val="600"/>
              </a:spcAft>
              <a:defRPr sz="1900" b="0">
                <a:solidFill>
                  <a:srgbClr val="222222"/>
                </a:solidFill>
                <a:latin typeface="Calibri"/>
              </a:defRPr>
            </a:pPr>
            <a:r>
              <a:rPr sz="1900" b="0">
                <a:solidFill>
                  <a:srgbClr val="222222"/>
                </a:solidFill>
                <a:latin typeface="Calibri"/>
              </a:rPr>
              <a:t>Then set Upload Speed to 921600 and Flash Frequency to 80 MHz.</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PORT:  plug the vehicle into your computer with a micro USB cable FIRST, then choose Tools &gt; Port.</a:t>
            </a:r>
          </a:p>
          <a:p>
            <a:pPr lvl="1" algn="l">
              <a:lnSpc>
                <a:spcPct val="100000"/>
              </a:lnSpc>
              <a:spcAft>
                <a:spcPts val="600"/>
              </a:spcAft>
              <a:defRPr sz="1900" b="0">
                <a:solidFill>
                  <a:srgbClr val="222222"/>
                </a:solidFill>
                <a:latin typeface="Calibri"/>
              </a:defRPr>
            </a:pPr>
            <a:r>
              <a:rPr sz="1900" b="0">
                <a:solidFill>
                  <a:srgbClr val="222222"/>
                </a:solidFill>
                <a:latin typeface="Calibri"/>
              </a:rPr>
              <a:t>Windows: the next available COM port, such as COM4.</a:t>
            </a:r>
          </a:p>
          <a:p>
            <a:pPr lvl="1" algn="l">
              <a:lnSpc>
                <a:spcPct val="100000"/>
              </a:lnSpc>
              <a:spcAft>
                <a:spcPts val="600"/>
              </a:spcAft>
              <a:defRPr sz="1900" b="0">
                <a:solidFill>
                  <a:srgbClr val="222222"/>
                </a:solidFill>
                <a:latin typeface="Calibri"/>
              </a:defRPr>
            </a:pPr>
            <a:r>
              <a:rPr sz="1900" b="0">
                <a:solidFill>
                  <a:srgbClr val="222222"/>
                </a:solidFill>
                <a:latin typeface="Calibri"/>
              </a:rPr>
              <a:t>Mac: something like /dev/cu.usbserial-0001.</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no port appears at all, the usual causes are: the vehicle is not switched on, or the cable is a charge-only cable with no data wires in it. Try a different cable before you try anything else.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A charge-only USB cable looks identical to a real one and is the single most common reason a board "will not connect".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4  -  install the libraries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Tools &gt; Manage Libraries, then search the name and click Install.</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"Adafruit NeoPixel" by Adafruit  -  drives the 32 LEDs.</a:t>
            </a:r>
          </a:p>
          <a:p>
            <a:pPr algn="l">
              <a:lnSpc>
                <a:spcPct val="100000"/>
              </a:lnSpc>
              <a:spcAft>
                <a:spcPts val="600"/>
              </a:spcAft>
              <a:defRPr sz="2700" b="0">
                <a:solidFill>
                  <a:srgbClr val="222222"/>
                </a:solidFill>
                <a:latin typeface="Calibri"/>
              </a:defRPr>
            </a:pPr>
            <a:r>
              <a:rPr sz="2700" b="0">
                <a:solidFill>
                  <a:srgbClr val="222222"/>
                </a:solidFill>
                <a:latin typeface="Calibri"/>
              </a:rPr>
              <a:t>none - Bluepad32 arrives with the board package</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You still need "Adafruit NeoPixel" by Adafruit for the lighting lessons.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Without the NeoPixel library, nothing in Lesson 4 will compile.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in this course, and what it needs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Install both libraries now and you are set for all five lessons.</a:t>
            </a:r>
          </a:p>
        </p:txBody>
      </p:sp>
      <p:graphicFrame>
        <p:nvGraphicFramePr>
          <p:cNvPr id="7" name="Table 6"/>
          <p:cNvGraphicFramePr>
            <a:graphicFrameLocks noGrp="1"/>
          </p:cNvGraphicFramePr>
          <p:nvPr/>
        </p:nvGraphicFramePr>
        <p:xfrm>
          <a:off x="502920" y="1691640"/>
          <a:ext cx="11185853" cy="3363912"/>
        </p:xfrm>
        <a:graphic>
          <a:graphicData uri="http://schemas.openxmlformats.org/drawingml/2006/table">
            <a:tbl>
              <a:tblPr firstRow="1" bandRow="1">
                <a:tableStyleId>{5C22544A-7EE6-4342-B048-85BDC9FD1C3A}</a:tableStyleId>
              </a:tblPr>
              <a:tblGrid>
                <a:gridCol w="1118585"/>
                <a:gridCol w="4026907"/>
                <a:gridCol w="6040361"/>
              </a:tblGrid>
              <a:tr h="258762">
                <a:tc>
                  <a:txBody>
                    <a:bodyPr/>
                    <a:lstStyle/>
                    <a:p>
                      <a:r>
                        <a:rPr sz="1150" b="1">
                          <a:solidFill>
                            <a:srgbClr val="FFFFFF"/>
                          </a:solidFill>
                          <a:latin typeface="Calibri"/>
                        </a:rPr>
                        <a:t>Lesson</a:t>
                      </a:r>
                    </a:p>
                  </a:txBody>
                  <a:tcPr marL="73152" marT="18288" marB="18288">
                    <a:solidFill>
                      <a:srgbClr val="1F3A5F"/>
                    </a:solidFill>
                  </a:tcPr>
                </a:tc>
                <a:tc>
                  <a:txBody>
                    <a:bodyPr/>
                    <a:lstStyle/>
                    <a:p>
                      <a:r>
                        <a:rPr sz="1150" b="1">
                          <a:solidFill>
                            <a:srgbClr val="FFFFFF"/>
                          </a:solidFill>
                          <a:latin typeface="Calibri"/>
                        </a:rPr>
                        <a:t>Sketch</a:t>
                      </a:r>
                    </a:p>
                  </a:txBody>
                  <a:tcPr marL="73152" marT="18288" marB="18288">
                    <a:solidFill>
                      <a:srgbClr val="1F3A5F"/>
                    </a:solidFill>
                  </a:tcPr>
                </a:tc>
                <a:tc>
                  <a:txBody>
                    <a:bodyPr/>
                    <a:lstStyle/>
                    <a:p>
                      <a:r>
                        <a:rPr sz="1150" b="1">
                          <a:solidFill>
                            <a:srgbClr val="FFFFFF"/>
                          </a:solidFill>
                          <a:latin typeface="Calibri"/>
                        </a:rPr>
                        <a:t>Libraries beyond the board package</a:t>
                      </a:r>
                    </a:p>
                  </a:txBody>
                  <a:tcPr marL="73152" marT="18288" marB="18288">
                    <a:solidFill>
                      <a:srgbClr val="1F3A5F"/>
                    </a:solidFill>
                  </a:tcPr>
                </a:tc>
              </a:tr>
              <a:tr h="258762">
                <a:tc>
                  <a:txBody>
                    <a:bodyPr/>
                    <a:lstStyle/>
                    <a:p>
                      <a:r>
                        <a:rPr sz="1150">
                          <a:solidFill>
                            <a:srgbClr val="222222"/>
                          </a:solidFill>
                          <a:latin typeface="Calibri"/>
                        </a:rPr>
                        <a:t>1</a:t>
                      </a:r>
                    </a:p>
                  </a:txBody>
                  <a:tcPr marL="73152" marT="18288" marB="18288">
                    <a:solidFill>
                      <a:srgbClr val="FFFFFF"/>
                    </a:solidFill>
                  </a:tcPr>
                </a:tc>
                <a:tc>
                  <a:txBody>
                    <a:bodyPr/>
                    <a:lstStyle/>
                    <a:p>
                      <a:r>
                        <a:rPr sz="1150">
                          <a:solidFill>
                            <a:srgbClr val="222222"/>
                          </a:solidFill>
                          <a:latin typeface="Calibri"/>
                        </a:rPr>
                        <a:t>l1a_blink</a:t>
                      </a:r>
                    </a:p>
                  </a:txBody>
                  <a:tcPr marL="73152" marT="18288" marB="18288">
                    <a:solidFill>
                      <a:srgbClr val="FFFFFF"/>
                    </a:solidFill>
                  </a:tcPr>
                </a:tc>
                <a:tc>
                  <a:txBody>
                    <a:bodyPr/>
                    <a:lstStyle/>
                    <a:p>
                      <a:r>
                        <a:rPr sz="1150">
                          <a:solidFill>
                            <a:srgbClr val="222222"/>
                          </a:solidFill>
                          <a:latin typeface="Calibri"/>
                        </a:rPr>
                        <a:t>none</a:t>
                      </a:r>
                    </a:p>
                  </a:txBody>
                  <a:tcPr marL="73152" marT="18288" marB="18288">
                    <a:solidFill>
                      <a:srgbClr val="FFFFFF"/>
                    </a:solidFill>
                  </a:tcPr>
                </a:tc>
              </a:tr>
              <a:tr h="258762">
                <a:tc>
                  <a:txBody>
                    <a:bodyPr/>
                    <a:lstStyle/>
                    <a:p>
                      <a:r>
                        <a:rPr sz="1150">
                          <a:solidFill>
                            <a:srgbClr val="222222"/>
                          </a:solidFill>
                          <a:latin typeface="Calibri"/>
                        </a:rPr>
                        <a:t>1</a:t>
                      </a:r>
                    </a:p>
                  </a:txBody>
                  <a:tcPr marL="73152" marT="18288" marB="18288">
                    <a:solidFill>
                      <a:srgbClr val="EEF3F8"/>
                    </a:solidFill>
                  </a:tcPr>
                </a:tc>
                <a:tc>
                  <a:txBody>
                    <a:bodyPr/>
                    <a:lstStyle/>
                    <a:p>
                      <a:r>
                        <a:rPr sz="1150">
                          <a:solidFill>
                            <a:srgbClr val="222222"/>
                          </a:solidFill>
                          <a:latin typeface="Calibri"/>
                        </a:rPr>
                        <a:t>l1b_serial_monitor</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1</a:t>
                      </a:r>
                    </a:p>
                  </a:txBody>
                  <a:tcPr marL="73152" marT="18288" marB="18288">
                    <a:solidFill>
                      <a:srgbClr val="FFFFFF"/>
                    </a:solidFill>
                  </a:tcPr>
                </a:tc>
                <a:tc>
                  <a:txBody>
                    <a:bodyPr/>
                    <a:lstStyle/>
                    <a:p>
                      <a:r>
                        <a:rPr sz="1150">
                          <a:solidFill>
                            <a:srgbClr val="222222"/>
                          </a:solidFill>
                          <a:latin typeface="Calibri"/>
                        </a:rPr>
                        <a:t>l1c_first_pixel</a:t>
                      </a:r>
                    </a:p>
                  </a:txBody>
                  <a:tcPr marL="73152" marT="18288" marB="18288">
                    <a:solidFill>
                      <a:srgbClr val="FFFFFF"/>
                    </a:solidFill>
                  </a:tcPr>
                </a:tc>
                <a:tc>
                  <a:txBody>
                    <a:bodyPr/>
                    <a:lstStyle/>
                    <a:p>
                      <a:r>
                        <a:rPr sz="1150">
                          <a:solidFill>
                            <a:srgbClr val="222222"/>
                          </a:solidFill>
                          <a:latin typeface="Calibri"/>
                        </a:rPr>
                        <a:t>Adafruit NeoPixel</a:t>
                      </a:r>
                    </a:p>
                  </a:txBody>
                  <a:tcPr marL="73152" marT="18288" marB="18288">
                    <a:solidFill>
                      <a:srgbClr val="FFFFFF"/>
                    </a:solidFill>
                  </a:tcPr>
                </a:tc>
              </a:tr>
              <a:tr h="258762">
                <a:tc>
                  <a:txBody>
                    <a:bodyPr/>
                    <a:lstStyle/>
                    <a:p>
                      <a:r>
                        <a:rPr sz="1150">
                          <a:solidFill>
                            <a:srgbClr val="222222"/>
                          </a:solidFill>
                          <a:latin typeface="Calibri"/>
                        </a:rPr>
                        <a:t>2</a:t>
                      </a:r>
                    </a:p>
                  </a:txBody>
                  <a:tcPr marL="73152" marT="18288" marB="18288">
                    <a:solidFill>
                      <a:srgbClr val="EEF3F8"/>
                    </a:solidFill>
                  </a:tcPr>
                </a:tc>
                <a:tc>
                  <a:txBody>
                    <a:bodyPr/>
                    <a:lstStyle/>
                    <a:p>
                      <a:r>
                        <a:rPr sz="1150">
                          <a:solidFill>
                            <a:srgbClr val="222222"/>
                          </a:solidFill>
                          <a:latin typeface="Calibri"/>
                        </a:rPr>
                        <a:t>l2a_one_motor</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2</a:t>
                      </a:r>
                    </a:p>
                  </a:txBody>
                  <a:tcPr marL="73152" marT="18288" marB="18288">
                    <a:solidFill>
                      <a:srgbClr val="FFFFFF"/>
                    </a:solidFill>
                  </a:tcPr>
                </a:tc>
                <a:tc>
                  <a:txBody>
                    <a:bodyPr/>
                    <a:lstStyle/>
                    <a:p>
                      <a:r>
                        <a:rPr sz="1150">
                          <a:solidFill>
                            <a:srgbClr val="222222"/>
                          </a:solidFill>
                          <a:latin typeface="Calibri"/>
                        </a:rPr>
                        <a:t>l2b_speed_ramp</a:t>
                      </a:r>
                    </a:p>
                  </a:txBody>
                  <a:tcPr marL="73152" marT="18288" marB="18288">
                    <a:solidFill>
                      <a:srgbClr val="FFFFFF"/>
                    </a:solidFill>
                  </a:tcPr>
                </a:tc>
                <a:tc>
                  <a:txBody>
                    <a:bodyPr/>
                    <a:lstStyle/>
                    <a:p>
                      <a:r>
                        <a:rPr sz="1150">
                          <a:solidFill>
                            <a:srgbClr val="222222"/>
                          </a:solidFill>
                          <a:latin typeface="Calibri"/>
                        </a:rPr>
                        <a:t>none</a:t>
                      </a:r>
                    </a:p>
                  </a:txBody>
                  <a:tcPr marL="73152" marT="18288" marB="18288">
                    <a:solidFill>
                      <a:srgbClr val="FFFFFF"/>
                    </a:solidFill>
                  </a:tcPr>
                </a:tc>
              </a:tr>
              <a:tr h="258762">
                <a:tc>
                  <a:txBody>
                    <a:bodyPr/>
                    <a:lstStyle/>
                    <a:p>
                      <a:r>
                        <a:rPr sz="1150">
                          <a:solidFill>
                            <a:srgbClr val="222222"/>
                          </a:solidFill>
                          <a:latin typeface="Calibri"/>
                        </a:rPr>
                        <a:t>2</a:t>
                      </a:r>
                    </a:p>
                  </a:txBody>
                  <a:tcPr marL="73152" marT="18288" marB="18288">
                    <a:solidFill>
                      <a:srgbClr val="EEF3F8"/>
                    </a:solidFill>
                  </a:tcPr>
                </a:tc>
                <a:tc>
                  <a:txBody>
                    <a:bodyPr/>
                    <a:lstStyle/>
                    <a:p>
                      <a:r>
                        <a:rPr sz="1150">
                          <a:solidFill>
                            <a:srgbClr val="222222"/>
                          </a:solidFill>
                          <a:latin typeface="Calibri"/>
                        </a:rPr>
                        <a:t>l2c_maneuver_square</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3</a:t>
                      </a:r>
                    </a:p>
                  </a:txBody>
                  <a:tcPr marL="73152" marT="18288" marB="18288">
                    <a:solidFill>
                      <a:srgbClr val="FFFFFF"/>
                    </a:solidFill>
                  </a:tcPr>
                </a:tc>
                <a:tc>
                  <a:txBody>
                    <a:bodyPr/>
                    <a:lstStyle/>
                    <a:p>
                      <a:r>
                        <a:rPr sz="1150">
                          <a:solidFill>
                            <a:srgbClr val="222222"/>
                          </a:solidFill>
                          <a:latin typeface="Calibri"/>
                        </a:rPr>
                        <a:t>l3a_controller_check</a:t>
                      </a:r>
                    </a:p>
                  </a:txBody>
                  <a:tcPr marL="73152" marT="18288" marB="18288">
                    <a:solidFill>
                      <a:srgbClr val="FFFFFF"/>
                    </a:solidFill>
                  </a:tcPr>
                </a:tc>
                <a:tc>
                  <a:txBody>
                    <a:bodyPr/>
                    <a:lstStyle/>
                    <a:p>
                      <a:r>
                        <a:rPr sz="1150">
                          <a:solidFill>
                            <a:srgbClr val="222222"/>
                          </a:solidFill>
                          <a:latin typeface="Calibri"/>
                        </a:rPr>
                        <a:t>none (Bluepad32 ships with the board package)</a:t>
                      </a:r>
                    </a:p>
                  </a:txBody>
                  <a:tcPr marL="73152" marT="18288" marB="18288">
                    <a:solidFill>
                      <a:srgbClr val="FFFFFF"/>
                    </a:solidFill>
                  </a:tcPr>
                </a:tc>
              </a:tr>
              <a:tr h="258762">
                <a:tc>
                  <a:txBody>
                    <a:bodyPr/>
                    <a:lstStyle/>
                    <a:p>
                      <a:r>
                        <a:rPr sz="1150">
                          <a:solidFill>
                            <a:srgbClr val="222222"/>
                          </a:solidFill>
                          <a:latin typeface="Calibri"/>
                        </a:rPr>
                        <a:t>3</a:t>
                      </a:r>
                    </a:p>
                  </a:txBody>
                  <a:tcPr marL="73152" marT="18288" marB="18288">
                    <a:solidFill>
                      <a:srgbClr val="EEF3F8"/>
                    </a:solidFill>
                  </a:tcPr>
                </a:tc>
                <a:tc>
                  <a:txBody>
                    <a:bodyPr/>
                    <a:lstStyle/>
                    <a:p>
                      <a:r>
                        <a:rPr sz="1150">
                          <a:solidFill>
                            <a:srgbClr val="222222"/>
                          </a:solidFill>
                          <a:latin typeface="Calibri"/>
                        </a:rPr>
                        <a:t>l3b_deadzone_and_map</a:t>
                      </a:r>
                    </a:p>
                  </a:txBody>
                  <a:tcPr marL="73152" marT="18288" marB="18288">
                    <a:solidFill>
                      <a:srgbClr val="EEF3F8"/>
                    </a:solidFill>
                  </a:tcPr>
                </a:tc>
                <a:tc>
                  <a:txBody>
                    <a:bodyPr/>
                    <a:lstStyle/>
                    <a:p>
                      <a:r>
                        <a:rPr sz="1150">
                          <a:solidFill>
                            <a:srgbClr val="222222"/>
                          </a:solidFill>
                          <a:latin typeface="Calibri"/>
                        </a:rPr>
                        <a:t>none (Bluepad32 ships with the board package)</a:t>
                      </a:r>
                    </a:p>
                  </a:txBody>
                  <a:tcPr marL="73152" marT="18288" marB="18288">
                    <a:solidFill>
                      <a:srgbClr val="EEF3F8"/>
                    </a:solidFill>
                  </a:tcPr>
                </a:tc>
              </a:tr>
              <a:tr h="258762">
                <a:tc>
                  <a:txBody>
                    <a:bodyPr/>
                    <a:lstStyle/>
                    <a:p>
                      <a:r>
                        <a:rPr sz="1150">
                          <a:solidFill>
                            <a:srgbClr val="222222"/>
                          </a:solidFill>
                          <a:latin typeface="Calibri"/>
                        </a:rPr>
                        <a:t>3</a:t>
                      </a:r>
                    </a:p>
                  </a:txBody>
                  <a:tcPr marL="73152" marT="18288" marB="18288">
                    <a:solidFill>
                      <a:srgbClr val="FFFFFF"/>
                    </a:solidFill>
                  </a:tcPr>
                </a:tc>
                <a:tc>
                  <a:txBody>
                    <a:bodyPr/>
                    <a:lstStyle/>
                    <a:p>
                      <a:r>
                        <a:rPr sz="1150">
                          <a:solidFill>
                            <a:srgbClr val="222222"/>
                          </a:solidFill>
                          <a:latin typeface="Calibri"/>
                        </a:rPr>
                        <a:t>l3c_tank_drive</a:t>
                      </a:r>
                    </a:p>
                  </a:txBody>
                  <a:tcPr marL="73152" marT="18288" marB="18288">
                    <a:solidFill>
                      <a:srgbClr val="FFFFFF"/>
                    </a:solidFill>
                  </a:tcPr>
                </a:tc>
                <a:tc>
                  <a:txBody>
                    <a:bodyPr/>
                    <a:lstStyle/>
                    <a:p>
                      <a:r>
                        <a:rPr sz="1150">
                          <a:solidFill>
                            <a:srgbClr val="222222"/>
                          </a:solidFill>
                          <a:latin typeface="Calibri"/>
                        </a:rPr>
                        <a:t>none (Bluepad32 ships with the board package)</a:t>
                      </a:r>
                    </a:p>
                  </a:txBody>
                  <a:tcPr marL="73152" marT="18288" marB="18288">
                    <a:solidFill>
                      <a:srgbClr val="FFFFFF"/>
                    </a:solidFill>
                  </a:tcPr>
                </a:tc>
              </a:tr>
              <a:tr h="258762">
                <a:tc>
                  <a:txBody>
                    <a:bodyPr/>
                    <a:lstStyle/>
                    <a:p>
                      <a:r>
                        <a:rPr sz="1150">
                          <a:solidFill>
                            <a:srgbClr val="222222"/>
                          </a:solidFill>
                          <a:latin typeface="Calibri"/>
                        </a:rPr>
                        <a:t>4</a:t>
                      </a:r>
                    </a:p>
                  </a:txBody>
                  <a:tcPr marL="73152" marT="18288" marB="18288">
                    <a:solidFill>
                      <a:srgbClr val="EEF3F8"/>
                    </a:solidFill>
                  </a:tcPr>
                </a:tc>
                <a:tc>
                  <a:txBody>
                    <a:bodyPr/>
                    <a:lstStyle/>
                    <a:p>
                      <a:r>
                        <a:rPr sz="1150">
                          <a:solidFill>
                            <a:srgbClr val="222222"/>
                          </a:solidFill>
                          <a:latin typeface="Calibri"/>
                        </a:rPr>
                        <a:t>l4a / l4b / l4c</a:t>
                      </a:r>
                    </a:p>
                  </a:txBody>
                  <a:tcPr marL="73152" marT="18288" marB="18288">
                    <a:solidFill>
                      <a:srgbClr val="EEF3F8"/>
                    </a:solidFill>
                  </a:tcPr>
                </a:tc>
                <a:tc>
                  <a:txBody>
                    <a:bodyPr/>
                    <a:lstStyle/>
                    <a:p>
                      <a:r>
                        <a:rPr sz="1150">
                          <a:solidFill>
                            <a:srgbClr val="222222"/>
                          </a:solidFill>
                          <a:latin typeface="Calibri"/>
                        </a:rPr>
                        <a:t>Adafruit NeoPixel</a:t>
                      </a:r>
                    </a:p>
                  </a:txBody>
                  <a:tcPr marL="73152" marT="18288" marB="18288">
                    <a:solidFill>
                      <a:srgbClr val="EEF3F8"/>
                    </a:solidFill>
                  </a:tcPr>
                </a:tc>
              </a:tr>
              <a:tr h="258762">
                <a:tc>
                  <a:txBody>
                    <a:bodyPr/>
                    <a:lstStyle/>
                    <a:p>
                      <a:r>
                        <a:rPr sz="1150">
                          <a:solidFill>
                            <a:srgbClr val="222222"/>
                          </a:solidFill>
                          <a:latin typeface="Calibri"/>
                        </a:rPr>
                        <a:t>5</a:t>
                      </a:r>
                    </a:p>
                  </a:txBody>
                  <a:tcPr marL="73152" marT="18288" marB="18288">
                    <a:solidFill>
                      <a:srgbClr val="FFFFFF"/>
                    </a:solidFill>
                  </a:tcPr>
                </a:tc>
                <a:tc>
                  <a:txBody>
                    <a:bodyPr/>
                    <a:lstStyle/>
                    <a:p>
                      <a:r>
                        <a:rPr sz="1150">
                          <a:solidFill>
                            <a:srgbClr val="222222"/>
                          </a:solidFill>
                          <a:latin typeface="Calibri"/>
                        </a:rPr>
                        <a:t>l5a / l5b / l5c</a:t>
                      </a:r>
                    </a:p>
                  </a:txBody>
                  <a:tcPr marL="73152" marT="18288" marB="18288">
                    <a:solidFill>
                      <a:srgbClr val="FFFFFF"/>
                    </a:solidFill>
                  </a:tcPr>
                </a:tc>
                <a:tc>
                  <a:txBody>
                    <a:bodyPr/>
                    <a:lstStyle/>
                    <a:p>
                      <a:r>
                        <a:rPr sz="1150">
                          <a:solidFill>
                            <a:srgbClr val="222222"/>
                          </a:solidFill>
                          <a:latin typeface="Calibri"/>
                        </a:rPr>
                        <a:t>Adafruit NeoPixel</a:t>
                      </a:r>
                    </a:p>
                  </a:txBody>
                  <a:tcPr marL="73152" marT="18288" marB="18288">
                    <a:solidFill>
                      <a:srgbClr val="FFFFFF"/>
                    </a:solidFill>
                  </a:tcPr>
                </a:tc>
              </a:tr>
              <a:tr h="258768">
                <a:tc>
                  <a:txBody>
                    <a:bodyPr/>
                    <a:lstStyle/>
                    <a:p>
                      <a:r>
                        <a:rPr sz="1150">
                          <a:solidFill>
                            <a:srgbClr val="222222"/>
                          </a:solidFill>
                          <a:latin typeface="Calibri"/>
                        </a:rPr>
                        <a:t>5</a:t>
                      </a:r>
                    </a:p>
                  </a:txBody>
                  <a:tcPr marL="73152" marT="18288" marB="18288">
                    <a:solidFill>
                      <a:srgbClr val="EEF3F8"/>
                    </a:solidFill>
                  </a:tcPr>
                </a:tc>
                <a:tc>
                  <a:txBody>
                    <a:bodyPr/>
                    <a:lstStyle/>
                    <a:p>
                      <a:r>
                        <a:rPr sz="1150">
                          <a:solidFill>
                            <a:srgbClr val="222222"/>
                          </a:solidFill>
                          <a:latin typeface="Calibri"/>
                        </a:rPr>
                        <a:t>pathfinder_nintendoswitch</a:t>
                      </a:r>
                    </a:p>
                  </a:txBody>
                  <a:tcPr marL="73152" marT="18288" marB="18288">
                    <a:solidFill>
                      <a:srgbClr val="EEF3F8"/>
                    </a:solidFill>
                  </a:tcPr>
                </a:tc>
                <a:tc>
                  <a:txBody>
                    <a:bodyPr/>
                    <a:lstStyle/>
                    <a:p>
                      <a:r>
                        <a:rPr sz="1150">
                          <a:solidFill>
                            <a:srgbClr val="222222"/>
                          </a:solidFill>
                          <a:latin typeface="Calibri"/>
                        </a:rPr>
                        <a:t>Adafruit NeoPixel</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a sketch will not compile, check this table before you change any code. A missing library is by far the most common cause.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Getting the course files onto your computer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Thumb drive or email, into your Arduino folder</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The thumb drive carries the SKETCHES - the programs for all five lessons. There are no libraries on it; you installed those from Library Manager in Step 4.</a:t>
            </a:r>
          </a:p>
          <a:p>
            <a:pPr algn="l">
              <a:lnSpc>
                <a:spcPct val="100000"/>
              </a:lnSpc>
              <a:spcAft>
                <a:spcPts val="900"/>
              </a:spcAft>
              <a:defRPr sz="22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WINDOWS.  Copy the sketch folders into</a:t>
            </a:r>
          </a:p>
          <a:p>
            <a:pPr lvl="1" algn="l">
              <a:lnSpc>
                <a:spcPct val="100000"/>
              </a:lnSpc>
              <a:spcAft>
                <a:spcPts val="900"/>
              </a:spcAft>
              <a:defRPr sz="2200" b="0">
                <a:solidFill>
                  <a:srgbClr val="222222"/>
                </a:solidFill>
                <a:latin typeface="Calibri"/>
              </a:defRPr>
            </a:pPr>
            <a:r>
              <a:rPr sz="2200" b="0">
                <a:solidFill>
                  <a:srgbClr val="222222"/>
                </a:solidFill>
                <a:latin typeface="Calibri"/>
              </a:rPr>
              <a:t>Documents\\Arduino\\</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MAC.  Copy the sketch folders into</a:t>
            </a:r>
          </a:p>
          <a:p>
            <a:pPr lvl="1" algn="l">
              <a:lnSpc>
                <a:spcPct val="100000"/>
              </a:lnSpc>
              <a:spcAft>
                <a:spcPts val="900"/>
              </a:spcAft>
              <a:defRPr sz="2200" b="0">
                <a:solidFill>
                  <a:srgbClr val="222222"/>
                </a:solidFill>
                <a:latin typeface="Calibri"/>
              </a:defRPr>
            </a:pPr>
            <a:r>
              <a:rPr sz="2200" b="0">
                <a:solidFill>
                  <a:srgbClr val="222222"/>
                </a:solidFill>
                <a:latin typeface="Calibri"/>
              </a:rPr>
              <a:t>Documents/Arduino/</a:t>
            </a:r>
          </a:p>
          <a:p>
            <a:pPr algn="l">
              <a:lnSpc>
                <a:spcPct val="100000"/>
              </a:lnSpc>
              <a:spcAft>
                <a:spcPts val="900"/>
              </a:spcAft>
              <a:defRPr sz="22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If they arrived as a .zip, unzip it first.</a:t>
            </a:r>
          </a:p>
          <a:p>
            <a:pPr algn="l">
              <a:lnSpc>
                <a:spcPct val="100000"/>
              </a:lnSpc>
              <a:spcAft>
                <a:spcPts val="900"/>
              </a:spcAft>
              <a:defRPr sz="2200" b="0">
                <a:solidFill>
                  <a:srgbClr val="222222"/>
                </a:solidFill>
                <a:latin typeface="Calibri"/>
              </a:defRPr>
            </a:pPr>
            <a:r>
              <a:rPr sz="2200" b="0">
                <a:solidFill>
                  <a:srgbClr val="222222"/>
                </a:solidFill>
                <a:latin typeface="Calibri"/>
              </a:rPr>
              <a:t>Then restart the Arduino IDE. It only looks for sketches when it starts.</a:t>
            </a:r>
          </a:p>
        </p:txBody>
      </p:sp>
      <p:sp>
        <p:nvSpPr>
          <p:cNvPr id="9" name="Rounded Rectangle 8"/>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One folder per sketch, and the folder name must match the .ino inside it. l1a_blink/l1a_blink.ino. The IDE will refuse to open a sketch whose folder is named differently.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program</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has the same three parts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Rounded Rectangle 5"/>
          <p:cNvSpPr/>
          <p:nvPr/>
        </p:nvSpPr>
        <p:spPr>
          <a:xfrm>
            <a:off x="502920" y="1325880"/>
            <a:ext cx="3520440" cy="45720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1.  INITIALIZATION</a:t>
            </a:r>
          </a:p>
        </p:txBody>
      </p:sp>
      <p:sp>
        <p:nvSpPr>
          <p:cNvPr id="7" name="TextBox 6"/>
          <p:cNvSpPr txBox="1"/>
          <p:nvPr/>
        </p:nvSpPr>
        <p:spPr>
          <a:xfrm>
            <a:off x="594360"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Libraries, constants, variables.</a:t>
            </a:r>
          </a:p>
          <a:p>
            <a:pPr algn="l">
              <a:lnSpc>
                <a:spcPct val="100000"/>
              </a:lnSpc>
              <a:spcAft>
                <a:spcPts val="0"/>
              </a:spcAft>
              <a:defRPr sz="1800" b="0">
                <a:solidFill>
                  <a:srgbClr val="222222"/>
                </a:solidFill>
                <a:latin typeface="Calibri"/>
              </a:defRPr>
            </a:pPr>
            <a:r>
              <a:rPr sz="1800" b="0">
                <a:solidFill>
                  <a:srgbClr val="222222"/>
                </a:solidFill>
                <a:latin typeface="Calibri"/>
              </a:rPr>
              <a:t>The top of the file.</a:t>
            </a:r>
          </a:p>
        </p:txBody>
      </p:sp>
      <p:sp>
        <p:nvSpPr>
          <p:cNvPr id="8" name="Rectangle 7"/>
          <p:cNvSpPr/>
          <p:nvPr/>
        </p:nvSpPr>
        <p:spPr>
          <a:xfrm>
            <a:off x="502920"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#include &lt;Adafruit_NeoPixel.h&gt;</a:t>
            </a:r>
          </a:p>
          <a:p>
            <a:pPr algn="l">
              <a:lnSpc>
                <a:spcPct val="100000"/>
              </a:lnSpc>
              <a:spcAft>
                <a:spcPts val="0"/>
              </a:spcAft>
              <a:defRPr sz="1400" b="0">
                <a:solidFill>
                  <a:srgbClr val="222222"/>
                </a:solidFill>
                <a:latin typeface="Consolas"/>
              </a:defRPr>
            </a:pPr>
            <a:r>
              <a:rPr sz="1400" b="0">
                <a:solidFill>
                  <a:srgbClr val="222222"/>
                </a:solidFill>
                <a:latin typeface="Consolas"/>
              </a:rPr>
              <a:t>const int LED_PIN = 5;</a:t>
            </a:r>
          </a:p>
        </p:txBody>
      </p:sp>
      <p:cxnSp>
        <p:nvCxnSpPr>
          <p:cNvPr id="9" name="Connector 8"/>
          <p:cNvCxnSpPr/>
          <p:nvPr/>
        </p:nvCxnSpPr>
        <p:spPr>
          <a:xfrm>
            <a:off x="4069080"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15968" y="1325880"/>
            <a:ext cx="3520440" cy="45720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2.  SETUP</a:t>
            </a:r>
          </a:p>
        </p:txBody>
      </p:sp>
      <p:sp>
        <p:nvSpPr>
          <p:cNvPr id="11" name="TextBox 10"/>
          <p:cNvSpPr txBox="1"/>
          <p:nvPr/>
        </p:nvSpPr>
        <p:spPr>
          <a:xfrm>
            <a:off x="4407408"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setup() runs ONCE, at power-up.</a:t>
            </a:r>
          </a:p>
          <a:p>
            <a:pPr algn="l">
              <a:lnSpc>
                <a:spcPct val="100000"/>
              </a:lnSpc>
              <a:spcAft>
                <a:spcPts val="0"/>
              </a:spcAft>
              <a:defRPr sz="1800" b="0">
                <a:solidFill>
                  <a:srgbClr val="222222"/>
                </a:solidFill>
                <a:latin typeface="Calibri"/>
              </a:defRPr>
            </a:pPr>
            <a:r>
              <a:rPr sz="1800" b="0">
                <a:solidFill>
                  <a:srgbClr val="222222"/>
                </a:solidFill>
                <a:latin typeface="Calibri"/>
              </a:rPr>
              <a:t>Get the hardware ready.</a:t>
            </a:r>
          </a:p>
        </p:txBody>
      </p:sp>
      <p:sp>
        <p:nvSpPr>
          <p:cNvPr id="12" name="Rectangle 11"/>
          <p:cNvSpPr/>
          <p:nvPr/>
        </p:nvSpPr>
        <p:spPr>
          <a:xfrm>
            <a:off x="4315968"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setup() {</a:t>
            </a:r>
          </a:p>
          <a:p>
            <a:pPr algn="l">
              <a:lnSpc>
                <a:spcPct val="100000"/>
              </a:lnSpc>
              <a:spcAft>
                <a:spcPts val="0"/>
              </a:spcAft>
              <a:defRPr sz="1400" b="0">
                <a:solidFill>
                  <a:srgbClr val="222222"/>
                </a:solidFill>
                <a:latin typeface="Consolas"/>
              </a:defRPr>
            </a:pPr>
            <a:r>
              <a:rPr sz="1400" b="0">
                <a:solidFill>
                  <a:srgbClr val="222222"/>
                </a:solidFill>
                <a:latin typeface="Consolas"/>
              </a:rPr>
              <a:t>  pinMode(LED_PIN, OUTPUT);</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cxnSp>
        <p:nvCxnSpPr>
          <p:cNvPr id="13" name="Connector 12"/>
          <p:cNvCxnSpPr/>
          <p:nvPr/>
        </p:nvCxnSpPr>
        <p:spPr>
          <a:xfrm>
            <a:off x="7882128"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29016" y="1325880"/>
            <a:ext cx="3520440" cy="45720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3.  LOOP</a:t>
            </a:r>
          </a:p>
        </p:txBody>
      </p:sp>
      <p:sp>
        <p:nvSpPr>
          <p:cNvPr id="15" name="TextBox 14"/>
          <p:cNvSpPr txBox="1"/>
          <p:nvPr/>
        </p:nvSpPr>
        <p:spPr>
          <a:xfrm>
            <a:off x="8220456" y="1947672"/>
            <a:ext cx="3337560" cy="6593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loop() runs OVER AND OVER,</a:t>
            </a:r>
          </a:p>
          <a:p>
            <a:pPr algn="l">
              <a:lnSpc>
                <a:spcPct val="100000"/>
              </a:lnSpc>
              <a:spcAft>
                <a:spcPts val="0"/>
              </a:spcAft>
              <a:defRPr sz="1800" b="0">
                <a:solidFill>
                  <a:srgbClr val="222222"/>
                </a:solidFill>
                <a:latin typeface="Calibri"/>
              </a:defRPr>
            </a:pPr>
            <a:r>
              <a:rPr sz="1800" b="0">
                <a:solidFill>
                  <a:srgbClr val="222222"/>
                </a:solidFill>
                <a:latin typeface="Calibri"/>
              </a:rPr>
              <a:t>until the power goes off.</a:t>
            </a:r>
          </a:p>
        </p:txBody>
      </p:sp>
      <p:sp>
        <p:nvSpPr>
          <p:cNvPr id="16" name="Rectangle 15"/>
          <p:cNvSpPr/>
          <p:nvPr/>
        </p:nvSpPr>
        <p:spPr>
          <a:xfrm>
            <a:off x="8129016"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loop() {</a:t>
            </a:r>
          </a:p>
          <a:p>
            <a:pPr algn="l">
              <a:lnSpc>
                <a:spcPct val="100000"/>
              </a:lnSpc>
              <a:spcAft>
                <a:spcPts val="0"/>
              </a:spcAft>
              <a:defRPr sz="1400" b="0">
                <a:solidFill>
                  <a:srgbClr val="222222"/>
                </a:solidFill>
                <a:latin typeface="Consolas"/>
              </a:defRPr>
            </a:pPr>
            <a:r>
              <a:rPr sz="1400" b="0">
                <a:solidFill>
                  <a:srgbClr val="222222"/>
                </a:solidFill>
                <a:latin typeface="Consolas"/>
              </a:rPr>
              <a:t>  digitalWrite(LED_PIN, HIGH);</a:t>
            </a:r>
          </a:p>
          <a:p>
            <a:pPr algn="l">
              <a:lnSpc>
                <a:spcPct val="100000"/>
              </a:lnSpc>
              <a:spcAft>
                <a:spcPts val="0"/>
              </a:spcAft>
              <a:defRPr sz="1400" b="0">
                <a:solidFill>
                  <a:srgbClr val="222222"/>
                </a:solidFill>
                <a:latin typeface="Consolas"/>
              </a:defRPr>
            </a:pPr>
            <a:r>
              <a:rPr sz="1400" b="0">
                <a:solidFill>
                  <a:srgbClr val="222222"/>
                </a:solidFill>
                <a:latin typeface="Consolas"/>
              </a:rPr>
              <a:t>  delay(1000);</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sp>
        <p:nvSpPr>
          <p:cNvPr id="17" name="TextBox 16"/>
          <p:cNvSpPr txBox="1"/>
          <p:nvPr/>
        </p:nvSpPr>
        <p:spPr>
          <a:xfrm>
            <a:off x="8129016" y="4251960"/>
            <a:ext cx="3520440" cy="6466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and round again, as fast as it can - unless you make it wait</a:t>
            </a:r>
          </a:p>
        </p:txBody>
      </p:sp>
      <p:sp>
        <p:nvSpPr>
          <p:cNvPr id="18" name="Rounded Rectangle 1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delay(1000) is what makes this one blink once a second. Take the delay out and the same loop runs thousands of times a second, too fast to see.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ESP32 has no LED we can use, so you are going to give it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Your first circuit</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Some development boards have a little LED soldered on. The module on this vehicle does not have one free for us, so your first program will blink an LED you wire up yourself.</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That is a better place to start anyway. Before you can make something blink, you have to make a circuit that works - and a circuit is the thing underneath everything else on this vehicle.</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need three things from the kit:</a:t>
            </a:r>
          </a:p>
          <a:p>
            <a:pPr lvl="1" algn="l">
              <a:lnSpc>
                <a:spcPct val="100000"/>
              </a:lnSpc>
              <a:spcAft>
                <a:spcPts val="600"/>
              </a:spcAft>
              <a:defRPr sz="2000" b="0">
                <a:solidFill>
                  <a:srgbClr val="222222"/>
                </a:solidFill>
                <a:latin typeface="Calibri"/>
              </a:defRPr>
            </a:pPr>
            <a:r>
              <a:rPr sz="2000" b="0">
                <a:solidFill>
                  <a:srgbClr val="222222"/>
                </a:solidFill>
                <a:latin typeface="Calibri"/>
              </a:rPr>
              <a:t>a breadboard</a:t>
            </a:r>
          </a:p>
          <a:p>
            <a:pPr lvl="1" algn="l">
              <a:lnSpc>
                <a:spcPct val="100000"/>
              </a:lnSpc>
              <a:spcAft>
                <a:spcPts val="600"/>
              </a:spcAft>
              <a:defRPr sz="2000" b="0">
                <a:solidFill>
                  <a:srgbClr val="222222"/>
                </a:solidFill>
                <a:latin typeface="Calibri"/>
              </a:defRPr>
            </a:pPr>
            <a:r>
              <a:rPr sz="2000" b="0">
                <a:solidFill>
                  <a:srgbClr val="222222"/>
                </a:solidFill>
                <a:latin typeface="Calibri"/>
              </a:rPr>
              <a:t>an LED</a:t>
            </a:r>
          </a:p>
          <a:p>
            <a:pPr lvl="1" algn="l">
              <a:lnSpc>
                <a:spcPct val="100000"/>
              </a:lnSpc>
              <a:spcAft>
                <a:spcPts val="600"/>
              </a:spcAft>
              <a:defRPr sz="2000" b="0">
                <a:solidFill>
                  <a:srgbClr val="222222"/>
                </a:solidFill>
                <a:latin typeface="Calibri"/>
              </a:defRPr>
            </a:pPr>
            <a:r>
              <a:rPr sz="2000" b="0">
                <a:solidFill>
                  <a:srgbClr val="222222"/>
                </a:solidFill>
                <a:latin typeface="Calibri"/>
              </a:rPr>
              <a:t>a 220 ohm resistor</a:t>
            </a:r>
          </a:p>
          <a:p>
            <a:pPr lvl="1" algn="l">
              <a:lnSpc>
                <a:spcPct val="100000"/>
              </a:lnSpc>
              <a:spcAft>
                <a:spcPts val="600"/>
              </a:spcAft>
              <a:defRPr sz="2000" b="0">
                <a:solidFill>
                  <a:srgbClr val="222222"/>
                </a:solidFill>
                <a:latin typeface="Calibri"/>
              </a:defRPr>
            </a:pPr>
            <a:r>
              <a:rPr sz="2000" b="0">
                <a:solidFill>
                  <a:srgbClr val="222222"/>
                </a:solidFill>
                <a:latin typeface="Calibri"/>
              </a:rPr>
              <a:t>two jumper wires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breadboard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breadboard lets you build a circuit without soldering, and take it apart again.</a:t>
            </a:r>
          </a:p>
        </p:txBody>
      </p:sp>
      <p:pic>
        <p:nvPicPr>
          <p:cNvPr id="7" name="Picture 6" descr="breadboard-parts-named.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parts.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Terminal strips down the middle, power rails along the edges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220 ohm resistor and an LED. Note the LED has one leg longer.</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five holes in a row are joined to each other under the plastic. That is the whole trick: push two legs into the same row and they are connected.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circuit you are about to build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cxnSp>
        <p:nvCxnSpPr>
          <p:cNvPr id="6" name="Connector 5"/>
          <p:cNvCxnSpPr/>
          <p:nvPr/>
        </p:nvCxnSpPr>
        <p:spPr>
          <a:xfrm>
            <a:off x="1554480" y="1755648"/>
            <a:ext cx="13716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1755648"/>
            <a:ext cx="201168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926080" y="157276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6324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333756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1188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88620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6052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434840" y="175564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1755648"/>
            <a:ext cx="0" cy="73152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054096"/>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10800000">
            <a:off x="6236208" y="2487168"/>
            <a:ext cx="694944" cy="566928"/>
          </a:xfrm>
          <a:prstGeom prst="triangle">
            <a:avLst/>
          </a:prstGeom>
          <a:solidFill>
            <a:srgbClr val="FAE6C8"/>
          </a:solidFill>
          <a:ln w="25400">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 name="Connector 17"/>
          <p:cNvCxnSpPr/>
          <p:nvPr/>
        </p:nvCxnSpPr>
        <p:spPr>
          <a:xfrm>
            <a:off x="6199632" y="3054096"/>
            <a:ext cx="768096"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58000" y="2377440"/>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858000" y="2578608"/>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3584448"/>
            <a:ext cx="50292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1755648"/>
            <a:ext cx="0" cy="182880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554480" y="3584448"/>
            <a:ext cx="0" cy="201168"/>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80160" y="3785616"/>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80744" y="3877056"/>
            <a:ext cx="34747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472184" y="3968496"/>
            <a:ext cx="16459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5760" y="128016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ESP32  GPIO 2</a:t>
            </a:r>
          </a:p>
        </p:txBody>
      </p:sp>
      <p:sp>
        <p:nvSpPr>
          <p:cNvPr id="28" name="TextBox 27"/>
          <p:cNvSpPr txBox="1"/>
          <p:nvPr/>
        </p:nvSpPr>
        <p:spPr>
          <a:xfrm>
            <a:off x="365760" y="4041648"/>
            <a:ext cx="21945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ESP32  GND</a:t>
            </a:r>
          </a:p>
        </p:txBody>
      </p:sp>
      <p:sp>
        <p:nvSpPr>
          <p:cNvPr id="29" name="TextBox 28"/>
          <p:cNvSpPr txBox="1"/>
          <p:nvPr/>
        </p:nvSpPr>
        <p:spPr>
          <a:xfrm>
            <a:off x="2651760" y="118872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 = 220 ohms</a:t>
            </a:r>
          </a:p>
        </p:txBody>
      </p:sp>
      <p:sp>
        <p:nvSpPr>
          <p:cNvPr id="30" name="TextBox 29"/>
          <p:cNvSpPr txBox="1"/>
          <p:nvPr/>
        </p:nvSpPr>
        <p:spPr>
          <a:xfrm>
            <a:off x="3703320" y="2359152"/>
            <a:ext cx="22860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ANODE - the long leg, toward the pin</a:t>
            </a:r>
          </a:p>
        </p:txBody>
      </p:sp>
      <p:sp>
        <p:nvSpPr>
          <p:cNvPr id="31" name="TextBox 30"/>
          <p:cNvSpPr txBox="1"/>
          <p:nvPr/>
        </p:nvSpPr>
        <p:spPr>
          <a:xfrm>
            <a:off x="3703320" y="2999232"/>
            <a:ext cx="228600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CATHODE - the short leg, toward ground</a:t>
            </a:r>
          </a:p>
        </p:txBody>
      </p:sp>
      <p:sp>
        <p:nvSpPr>
          <p:cNvPr id="32" name="TextBox 31"/>
          <p:cNvSpPr txBox="1"/>
          <p:nvPr/>
        </p:nvSpPr>
        <p:spPr>
          <a:xfrm>
            <a:off x="502920" y="4480560"/>
            <a:ext cx="6766560" cy="9255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Current leaves GPIO 2, crosses the resistor, passes through the LED from the triangle to the bar, and returns to ground.</a:t>
            </a:r>
          </a:p>
        </p:txBody>
      </p:sp>
      <p:sp>
        <p:nvSpPr>
          <p:cNvPr id="33" name="TextBox 32"/>
          <p:cNvSpPr txBox="1"/>
          <p:nvPr/>
        </p:nvSpPr>
        <p:spPr>
          <a:xfrm>
            <a:off x="7909560" y="1280160"/>
            <a:ext cx="3749039" cy="367792"/>
          </a:xfrm>
          <a:prstGeom prst="rect">
            <a:avLst/>
          </a:prstGeom>
          <a:noFill/>
        </p:spPr>
        <p:txBody>
          <a:bodyPr wrap="square" lIns="0" tIns="0" rIns="0" bIns="0">
            <a:spAutoFit/>
          </a:bodyPr>
          <a:lstStyle/>
          <a:p>
            <a:pPr algn="l">
              <a:lnSpc>
                <a:spcPct val="100000"/>
              </a:lnSpc>
              <a:spcAft>
                <a:spcPts val="100"/>
              </a:spcAft>
              <a:defRPr sz="1800" b="1">
                <a:solidFill>
                  <a:srgbClr val="0E7C86"/>
                </a:solidFill>
                <a:latin typeface="Calibri"/>
              </a:defRPr>
            </a:pPr>
            <a:r>
              <a:rPr sz="1800" b="1">
                <a:solidFill>
                  <a:srgbClr val="0E7C86"/>
                </a:solidFill>
                <a:latin typeface="Calibri"/>
              </a:rPr>
              <a:t>Why 220 ohms?</a:t>
            </a:r>
          </a:p>
        </p:txBody>
      </p:sp>
      <p:sp>
        <p:nvSpPr>
          <p:cNvPr id="34" name="Rectangle 33"/>
          <p:cNvSpPr/>
          <p:nvPr/>
        </p:nvSpPr>
        <p:spPr>
          <a:xfrm>
            <a:off x="7909560" y="1737360"/>
            <a:ext cx="3749039" cy="150876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R = (supply - LED drop) / current</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  = (3.3 - 2.0) / 0.020</a:t>
            </a:r>
          </a:p>
          <a:p>
            <a:pPr algn="l">
              <a:lnSpc>
                <a:spcPct val="100000"/>
              </a:lnSpc>
              <a:spcAft>
                <a:spcPts val="0"/>
              </a:spcAft>
              <a:defRPr sz="1400" b="0">
                <a:solidFill>
                  <a:srgbClr val="222222"/>
                </a:solidFill>
                <a:latin typeface="Consolas"/>
              </a:defRPr>
            </a:pPr>
            <a:r>
              <a:rPr sz="1400" b="0">
                <a:solidFill>
                  <a:srgbClr val="222222"/>
                </a:solidFill>
                <a:latin typeface="Consolas"/>
              </a:rPr>
              <a:t>  = 65 ohms</a:t>
            </a:r>
          </a:p>
        </p:txBody>
      </p:sp>
      <p:sp>
        <p:nvSpPr>
          <p:cNvPr id="35" name="TextBox 34"/>
          <p:cNvSpPr txBox="1"/>
          <p:nvPr/>
        </p:nvSpPr>
        <p:spPr>
          <a:xfrm>
            <a:off x="7909560" y="3383280"/>
            <a:ext cx="3749039" cy="209194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220 ohms is in the kit, and is a good choice:</a:t>
            </a:r>
          </a:p>
          <a:p>
            <a:pPr algn="l">
              <a:lnSpc>
                <a:spcPct val="100000"/>
              </a:lnSpc>
              <a:spcAft>
                <a:spcPts val="0"/>
              </a:spcAft>
              <a:defRPr sz="18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(3.3 - 2.0) / 220 = about 6 mA</a:t>
            </a:r>
          </a:p>
          <a:p>
            <a:pPr algn="l">
              <a:lnSpc>
                <a:spcPct val="100000"/>
              </a:lnSpc>
              <a:spcAft>
                <a:spcPts val="0"/>
              </a:spcAft>
              <a:defRPr sz="18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Dimmer than flat out, and easy to see.</a:t>
            </a:r>
          </a:p>
        </p:txBody>
      </p:sp>
      <p:sp>
        <p:nvSpPr>
          <p:cNvPr id="36" name="Rounded Rectangle 35"/>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WHEN IN DOUBT, PICK THE BIGGER RESISTOR. Too big and the LED is dim. Too small and you get one bright flash, a dead LED, and possibly a damaged pin.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Building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Bend the resistor legs, push everything into the board, and connect GPIO 2 and GND with the two jumper wires.</a:t>
            </a:r>
          </a:p>
        </p:txBody>
      </p:sp>
      <p:pic>
        <p:nvPicPr>
          <p:cNvPr id="7" name="Picture 6" descr="breadboard-step2.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complete.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Both legs in the SAME row, so they are joined. Leads on, ready for power.</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Lit. These photographs use a 9 V battery; yours runs from GPIO 2.</a:t>
            </a:r>
          </a:p>
        </p:txBody>
      </p:sp>
      <p:sp>
        <p:nvSpPr>
          <p:cNvPr id="11" name="Rounded Rectangle 1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Long leg of the LED toward the resistor and GPIO 2. Short leg toward ground. Backwards means no light, no damage - just turn it round.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Powering it from the vehicle, not from a battery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5898319" cy="3986784"/>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battery lights an LED. The ESP32 lets a PROGRAM light it.</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Two jumper wires, through the top plate cutout:</a:t>
            </a:r>
          </a:p>
          <a:p>
            <a:pPr lvl="1" algn="l">
              <a:lnSpc>
                <a:spcPct val="100000"/>
              </a:lnSpc>
              <a:spcAft>
                <a:spcPts val="600"/>
              </a:spcAft>
              <a:defRPr sz="1900" b="0">
                <a:solidFill>
                  <a:srgbClr val="222222"/>
                </a:solidFill>
                <a:latin typeface="Calibri"/>
              </a:defRPr>
            </a:pPr>
            <a:r>
              <a:rPr sz="1900" b="0">
                <a:solidFill>
                  <a:srgbClr val="222222"/>
                </a:solidFill>
                <a:latin typeface="Calibri"/>
              </a:rPr>
              <a:t>GPIO 2  -&gt;  the resistor's row</a:t>
            </a:r>
          </a:p>
          <a:p>
            <a:pPr lvl="1" algn="l">
              <a:lnSpc>
                <a:spcPct val="100000"/>
              </a:lnSpc>
              <a:spcAft>
                <a:spcPts val="600"/>
              </a:spcAft>
              <a:defRPr sz="1900" b="0">
                <a:solidFill>
                  <a:srgbClr val="222222"/>
                </a:solidFill>
                <a:latin typeface="Calibri"/>
              </a:defRPr>
            </a:pPr>
            <a:r>
              <a:rPr sz="1900" b="0">
                <a:solidFill>
                  <a:srgbClr val="222222"/>
                </a:solidFill>
                <a:latin typeface="Calibri"/>
              </a:rPr>
              <a:t>GND     -&gt;  the row with the LED's SHORT leg</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A pin supplies about 12 mA safely. Plenty for one LED through 220 ohms, and the reason you never drive a motor off a pin.</a:t>
            </a:r>
          </a:p>
        </p:txBody>
      </p:sp>
      <p:sp>
        <p:nvSpPr>
          <p:cNvPr id="7" name="Rectangle 6"/>
          <p:cNvSpPr/>
          <p:nvPr/>
        </p:nvSpPr>
        <p:spPr>
          <a:xfrm>
            <a:off x="6766999" y="1188720"/>
            <a:ext cx="4921776"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our own breadboard wired to GPIO 2 and GND</a:t>
            </a:r>
          </a:p>
          <a:p>
            <a:pPr algn="ctr">
              <a:lnSpc>
                <a:spcPct val="100000"/>
              </a:lnSpc>
              <a:spcAft>
                <a:spcPts val="700"/>
              </a:spcAft>
              <a:defRPr sz="1600" b="0">
                <a:solidFill>
                  <a:srgbClr val="0E7C86"/>
                </a:solidFill>
                <a:latin typeface="Calibri"/>
              </a:defRPr>
            </a:pPr>
            <a:r>
              <a:rPr sz="1600" b="0">
                <a:solidFill>
                  <a:srgbClr val="0E7C86"/>
                </a:solidFill>
                <a:latin typeface="Calibri"/>
              </a:rPr>
              <a:t>Same circuit as the previous slide, powered from the vehicle through the top-plate cutout, LED lit.</a:t>
            </a:r>
          </a:p>
        </p:txBody>
      </p:sp>
      <p:sp>
        <p:nvSpPr>
          <p:cNvPr id="8" name="TextBox 7"/>
          <p:cNvSpPr txBox="1"/>
          <p:nvPr/>
        </p:nvSpPr>
        <p:spPr>
          <a:xfrm>
            <a:off x="6766999" y="4535424"/>
            <a:ext cx="4921776"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What yours should look like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Any GND pin will do - there are several, and they are all the same wire inside the 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l1a_blink  -  the whole program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l1a_blink.ino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700">
                <a:latin typeface="Consolas"/>
              </a:defRPr>
            </a:pPr>
            <a:r>
              <a:rPr sz="1700">
                <a:solidFill>
                  <a:srgbClr val="222222"/>
                </a:solidFill>
                <a:latin typeface="Consolas"/>
              </a:rPr>
              <a:t>const int LED_PIN = 2;   // the pin your LED is wired to</a:t>
            </a:r>
          </a:p>
          <a:p>
            <a:pPr algn="l">
              <a:lnSpc>
                <a:spcPct val="100000"/>
              </a:lnSpc>
              <a:spcAft>
                <a:spcPts val="0"/>
              </a:spcAft>
              <a:defRPr sz="1700">
                <a:latin typeface="Consolas"/>
              </a:defRPr>
            </a:pPr>
            <a:r>
              <a:rPr sz="1700">
                <a:solidFill>
                  <a:srgbClr val="222222"/>
                </a:solidFill>
                <a:latin typeface="Consolas"/>
              </a:rPr>
              <a:t>const int BLINK_MS = 1000;</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setup() {</a:t>
            </a:r>
          </a:p>
          <a:p>
            <a:pPr algn="l">
              <a:lnSpc>
                <a:spcPct val="100000"/>
              </a:lnSpc>
              <a:spcAft>
                <a:spcPts val="0"/>
              </a:spcAft>
              <a:defRPr sz="1700">
                <a:latin typeface="Consolas"/>
              </a:defRPr>
            </a:pPr>
            <a:r>
              <a:rPr sz="1700">
                <a:solidFill>
                  <a:srgbClr val="222222"/>
                </a:solidFill>
                <a:latin typeface="Consolas"/>
              </a:rPr>
              <a:t>  pinMode(LED_PIN, OUTPUT);</a:t>
            </a:r>
          </a:p>
          <a:p>
            <a:pPr algn="l">
              <a:lnSpc>
                <a:spcPct val="100000"/>
              </a:lnSpc>
              <a:spcAft>
                <a:spcPts val="0"/>
              </a:spcAft>
              <a:defRPr sz="1700">
                <a:latin typeface="Consolas"/>
              </a:defRPr>
            </a:pPr>
            <a:r>
              <a:rPr sz="1700">
                <a:solidFill>
                  <a:srgbClr val="222222"/>
                </a:solidFill>
                <a:latin typeface="Consolas"/>
              </a:rPr>
              <a:t>}</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loop() {</a:t>
            </a:r>
          </a:p>
          <a:p>
            <a:pPr algn="l">
              <a:lnSpc>
                <a:spcPct val="100000"/>
              </a:lnSpc>
              <a:spcAft>
                <a:spcPts val="0"/>
              </a:spcAft>
              <a:defRPr sz="1700">
                <a:latin typeface="Consolas"/>
              </a:defRPr>
            </a:pPr>
            <a:r>
              <a:rPr sz="1700">
                <a:solidFill>
                  <a:srgbClr val="222222"/>
                </a:solidFill>
                <a:latin typeface="Consolas"/>
              </a:rPr>
              <a:t>  digitalWrite(LED_PIN, HIGH);</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  digitalWrite(LED_PIN, LOW);</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const int  says this is a whole number that never changes. Naming it means you change it in one place - move your LED to another pin and only this line changes.</a:t>
            </a:r>
          </a:p>
          <a:p>
            <a:pPr algn="l">
              <a:lnSpc>
                <a:spcPct val="100000"/>
              </a:lnSpc>
              <a:spcAft>
                <a:spcPts val="700"/>
              </a:spcAft>
              <a:defRPr sz="1800" b="0">
                <a:solidFill>
                  <a:srgbClr val="222222"/>
                </a:solidFill>
                <a:latin typeface="Calibri"/>
              </a:defRPr>
            </a:pPr>
            <a:r>
              <a:rPr sz="1800" b="0">
                <a:solidFill>
                  <a:srgbClr val="222222"/>
                </a:solidFill>
                <a:latin typeface="Calibri"/>
              </a:rPr>
              <a:t>pinMode(..., OUTPUT)  tells the ESP32 we intend to WRITE to that pin. Without it, digitalWrite does nothing.</a:t>
            </a:r>
          </a:p>
          <a:p>
            <a:pPr algn="l">
              <a:lnSpc>
                <a:spcPct val="100000"/>
              </a:lnSpc>
              <a:spcAft>
                <a:spcPts val="700"/>
              </a:spcAft>
              <a:defRPr sz="1800" b="0">
                <a:solidFill>
                  <a:srgbClr val="222222"/>
                </a:solidFill>
                <a:latin typeface="Calibri"/>
              </a:defRPr>
            </a:pPr>
            <a:r>
              <a:rPr sz="1800" b="0">
                <a:solidFill>
                  <a:srgbClr val="222222"/>
                </a:solidFill>
                <a:latin typeface="Calibri"/>
              </a:rPr>
              <a:t>HIGH puts 3.3 volts on the pin.  LOW puts 0 volts on it. That is the entire idea of digital output.</a:t>
            </a:r>
          </a:p>
          <a:p>
            <a:pPr algn="l">
              <a:lnSpc>
                <a:spcPct val="100000"/>
              </a:lnSpc>
              <a:spcAft>
                <a:spcPts val="700"/>
              </a:spcAft>
              <a:defRPr sz="1800" b="0">
                <a:solidFill>
                  <a:srgbClr val="222222"/>
                </a:solidFill>
                <a:latin typeface="Calibri"/>
              </a:defRPr>
            </a:pPr>
            <a:r>
              <a:rPr sz="1800" b="0">
                <a:solidFill>
                  <a:srgbClr val="222222"/>
                </a:solidFill>
                <a:latin typeface="Calibri"/>
              </a:rPr>
              <a:t>delay(1000)  waits one second. Remember this line - in Lesson 5 we will throw it away.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Setting up the IDE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5035782"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circuit and program</a:t>
            </a:r>
          </a:p>
        </p:txBody>
      </p:sp>
      <p:sp>
        <p:nvSpPr>
          <p:cNvPr id="11" name="Rounded Rectangle 10"/>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2" name="Rounded Rectangle 11"/>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blink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l1a_blink</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File &gt; Open, and find l1a_blink.ino.</a:t>
            </a:r>
          </a:p>
          <a:p>
            <a:pPr algn="l">
              <a:lnSpc>
                <a:spcPct val="100000"/>
              </a:lnSpc>
              <a:spcAft>
                <a:spcPts val="800"/>
              </a:spcAft>
              <a:defRPr sz="1900" b="0">
                <a:solidFill>
                  <a:srgbClr val="222222"/>
                </a:solidFill>
                <a:latin typeface="Calibri"/>
              </a:defRPr>
            </a:pPr>
            <a:r>
              <a:rPr sz="1900" b="0">
                <a:solidFill>
                  <a:srgbClr val="222222"/>
                </a:solidFill>
                <a:latin typeface="Calibri"/>
              </a:rPr>
              <a:t>2.  Click the tick to VERIFY. It should compile with no errors.</a:t>
            </a:r>
          </a:p>
          <a:p>
            <a:pPr algn="l">
              <a:lnSpc>
                <a:spcPct val="100000"/>
              </a:lnSpc>
              <a:spcAft>
                <a:spcPts val="800"/>
              </a:spcAft>
              <a:defRPr sz="1900" b="0">
                <a:solidFill>
                  <a:srgbClr val="222222"/>
                </a:solidFill>
                <a:latin typeface="Calibri"/>
              </a:defRPr>
            </a:pPr>
            <a:r>
              <a:rPr sz="1900" b="0">
                <a:solidFill>
                  <a:srgbClr val="222222"/>
                </a:solidFill>
                <a:latin typeface="Calibri"/>
              </a:rPr>
              <a:t>3.  Click the arrow to UPLOAD. Do not unplug during upload.</a:t>
            </a:r>
          </a:p>
          <a:p>
            <a:pPr algn="l">
              <a:lnSpc>
                <a:spcPct val="100000"/>
              </a:lnSpc>
              <a:spcAft>
                <a:spcPts val="800"/>
              </a:spcAft>
              <a:defRPr sz="1900" b="0">
                <a:solidFill>
                  <a:srgbClr val="222222"/>
                </a:solidFill>
                <a:latin typeface="Calibri"/>
              </a:defRPr>
            </a:pPr>
            <a:r>
              <a:rPr sz="1900" b="0">
                <a:solidFill>
                  <a:srgbClr val="222222"/>
                </a:solidFill>
                <a:latin typeface="Calibri"/>
              </a:rPr>
              <a:t>4.  Wait for "Done uploading" and look at your LED.</a:t>
            </a:r>
          </a:p>
          <a:p>
            <a:pPr algn="l">
              <a:lnSpc>
                <a:spcPct val="100000"/>
              </a:lnSpc>
              <a:spcAft>
                <a:spcPts val="800"/>
              </a:spcAft>
              <a:defRPr sz="190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Then change things:</a:t>
            </a:r>
          </a:p>
          <a:p>
            <a:pPr algn="l">
              <a:lnSpc>
                <a:spcPct val="100000"/>
              </a:lnSpc>
              <a:spcAft>
                <a:spcPts val="800"/>
              </a:spcAft>
              <a:defRPr sz="1900" b="0">
                <a:solidFill>
                  <a:srgbClr val="222222"/>
                </a:solidFill>
                <a:latin typeface="Calibri"/>
              </a:defRPr>
            </a:pPr>
            <a:r>
              <a:rPr sz="1900" b="0">
                <a:solidFill>
                  <a:srgbClr val="222222"/>
                </a:solidFill>
                <a:latin typeface="Calibri"/>
              </a:rPr>
              <a:t>5.  Set BLINK_MS to 100. Upload. Then 2000. Upload.</a:t>
            </a:r>
          </a:p>
          <a:p>
            <a:pPr algn="l">
              <a:lnSpc>
                <a:spcPct val="100000"/>
              </a:lnSpc>
              <a:spcAft>
                <a:spcPts val="800"/>
              </a:spcAft>
              <a:defRPr sz="1900" b="0">
                <a:solidFill>
                  <a:srgbClr val="222222"/>
                </a:solidFill>
                <a:latin typeface="Calibri"/>
              </a:defRPr>
            </a:pPr>
            <a:r>
              <a:rPr sz="1900" b="0">
                <a:solidFill>
                  <a:srgbClr val="222222"/>
                </a:solidFill>
                <a:latin typeface="Calibri"/>
              </a:rPr>
              <a:t>6.  Delete ONE of the two delay lines and upload.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80854"/>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YOUR LED, on the breadboard, one second on and one second off.</a:t>
            </a:r>
          </a:p>
          <a:p>
            <a:pPr algn="l">
              <a:lnSpc>
                <a:spcPct val="100000"/>
              </a:lnSpc>
              <a:spcAft>
                <a:spcPts val="300"/>
              </a:spcAft>
              <a:defRPr sz="1800" b="0">
                <a:solidFill>
                  <a:srgbClr val="222222"/>
                </a:solidFill>
                <a:latin typeface="Calibri"/>
              </a:defRPr>
            </a:pPr>
            <a:r>
              <a:rPr sz="1800" b="0">
                <a:solidFill>
                  <a:srgbClr val="222222"/>
                </a:solidFill>
                <a:latin typeface="Calibri"/>
              </a:rPr>
              <a:t>Nothing at all means the LED is in backwards, or a leg is in the wrong row.</a:t>
            </a:r>
          </a:p>
        </p:txBody>
      </p:sp>
      <p:sp>
        <p:nvSpPr>
          <p:cNvPr id="10" name="TextBox 9"/>
          <p:cNvSpPr txBox="1"/>
          <p:nvPr/>
        </p:nvSpPr>
        <p:spPr>
          <a:xfrm>
            <a:off x="7163537" y="3658294"/>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60630"/>
            <a:ext cx="4525238" cy="220300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Which makes it blink faster, a bigger number or a smaller one? Why?</a:t>
            </a:r>
          </a:p>
          <a:p>
            <a:pPr algn="l">
              <a:lnSpc>
                <a:spcPct val="100000"/>
              </a:lnSpc>
              <a:spcAft>
                <a:spcPts val="300"/>
              </a:spcAft>
              <a:defRPr sz="1800" b="0">
                <a:solidFill>
                  <a:srgbClr val="222222"/>
                </a:solidFill>
                <a:latin typeface="Calibri"/>
              </a:defRPr>
            </a:pPr>
            <a:r>
              <a:rPr sz="1800" b="0">
                <a:solidFill>
                  <a:srgbClr val="222222"/>
                </a:solidFill>
                <a:latin typeface="Calibri"/>
              </a:rPr>
              <a:t>With one delay deleted, the LED is still blinking. How fast, and why can you barely see it?</a:t>
            </a:r>
          </a:p>
          <a:p>
            <a:pPr algn="l">
              <a:lnSpc>
                <a:spcPct val="100000"/>
              </a:lnSpc>
              <a:spcAft>
                <a:spcPts val="300"/>
              </a:spcAft>
              <a:defRPr sz="1800" b="0">
                <a:solidFill>
                  <a:srgbClr val="222222"/>
                </a:solidFill>
                <a:latin typeface="Calibri"/>
              </a:defRPr>
            </a:pPr>
            <a:r>
              <a:rPr sz="1800" b="0">
                <a:solidFill>
                  <a:srgbClr val="222222"/>
                </a:solidFill>
                <a:latin typeface="Calibri"/>
              </a:rPr>
              <a:t>What resistor would a RED LED need? It drops about 1.8 V instead of 2.0 V.</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the vehicle talk back</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Serial Monitor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The ESP32 has no screen. If you want to know what it is thinking, it has to tell you - down the same USB cable you upload through.</a:t>
            </a:r>
          </a:p>
          <a:p>
            <a:pPr lvl="1" algn="l">
              <a:lnSpc>
                <a:spcPct val="100000"/>
              </a:lnSpc>
              <a:spcAft>
                <a:spcPts val="900"/>
              </a:spcAft>
              <a:defRPr sz="2100" b="0">
                <a:solidFill>
                  <a:srgbClr val="222222"/>
                </a:solidFill>
                <a:latin typeface="Calibri"/>
              </a:defRPr>
            </a:pPr>
            <a:r>
              <a:rPr sz="2100" b="0">
                <a:solidFill>
                  <a:srgbClr val="222222"/>
                </a:solidFill>
                <a:latin typeface="Calibri"/>
              </a:rPr>
              <a:t>Serial.begin(115200);   opens the connection. Put it in setup().</a:t>
            </a:r>
          </a:p>
          <a:p>
            <a:pPr lvl="1" algn="l">
              <a:lnSpc>
                <a:spcPct val="100000"/>
              </a:lnSpc>
              <a:spcAft>
                <a:spcPts val="900"/>
              </a:spcAft>
              <a:defRPr sz="2100" b="0">
                <a:solidFill>
                  <a:srgbClr val="222222"/>
                </a:solidFill>
                <a:latin typeface="Calibri"/>
              </a:defRPr>
            </a:pPr>
            <a:r>
              <a:rPr sz="2100" b="0">
                <a:solidFill>
                  <a:srgbClr val="222222"/>
                </a:solidFill>
                <a:latin typeface="Calibri"/>
              </a:rPr>
              <a:t>Serial.print("text");    prints and stays on the same line.</a:t>
            </a:r>
          </a:p>
          <a:p>
            <a:pPr lvl="1" algn="l">
              <a:lnSpc>
                <a:spcPct val="100000"/>
              </a:lnSpc>
              <a:spcAft>
                <a:spcPts val="900"/>
              </a:spcAft>
              <a:defRPr sz="2100" b="0">
                <a:solidFill>
                  <a:srgbClr val="222222"/>
                </a:solidFill>
                <a:latin typeface="Calibri"/>
              </a:defRPr>
            </a:pPr>
            <a:r>
              <a:rPr sz="2100" b="0">
                <a:solidFill>
                  <a:srgbClr val="222222"/>
                </a:solidFill>
                <a:latin typeface="Calibri"/>
              </a:rPr>
              <a:t>Serial.println(x);       prints and moves to a new line.</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Open it with Tools &gt; Serial Monitor, or the magnifying glass at the top right.</a:t>
            </a:r>
          </a:p>
          <a:p>
            <a:pPr algn="l">
              <a:lnSpc>
                <a:spcPct val="100000"/>
              </a:lnSpc>
              <a:spcAft>
                <a:spcPts val="900"/>
              </a:spcAft>
              <a:defRPr sz="2000" b="0">
                <a:solidFill>
                  <a:srgbClr val="222222"/>
                </a:solidFill>
                <a:latin typeface="Calibri"/>
              </a:defRPr>
            </a:pPr>
            <a:r>
              <a:rPr sz="2000" b="0">
                <a:solidFill>
                  <a:srgbClr val="222222"/>
                </a:solidFill>
                <a:latin typeface="Calibri"/>
              </a:rPr>
              <a:t>The baud rate box at the bottom MUST say 115200, because that is the number in Serial.begin(). Rows of nonsense characters mean the two numbers disagree.</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When something does not work, print the numbers your program is working from. That will find the fault faster than staring at the code will.</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 program from here on prints something. Get in the habit of having the Serial Monitor open.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Variables: named boxes that hold a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graphicFrame>
        <p:nvGraphicFramePr>
          <p:cNvPr id="6" name="Table 5"/>
          <p:cNvGraphicFramePr>
            <a:graphicFrameLocks noGrp="1"/>
          </p:cNvGraphicFramePr>
          <p:nvPr/>
        </p:nvGraphicFramePr>
        <p:xfrm>
          <a:off x="502920" y="1188720"/>
          <a:ext cx="11185852" cy="3870325"/>
        </p:xfrm>
        <a:graphic>
          <a:graphicData uri="http://schemas.openxmlformats.org/drawingml/2006/table">
            <a:tbl>
              <a:tblPr firstRow="1" bandRow="1">
                <a:tableStyleId>{5C22544A-7EE6-4342-B048-85BDC9FD1C3A}</a:tableStyleId>
              </a:tblPr>
              <a:tblGrid>
                <a:gridCol w="1864309"/>
                <a:gridCol w="3107181"/>
                <a:gridCol w="3107181"/>
                <a:gridCol w="3107181"/>
              </a:tblGrid>
              <a:tr h="645054">
                <a:tc>
                  <a:txBody>
                    <a:bodyPr/>
                    <a:lstStyle/>
                    <a:p>
                      <a:r>
                        <a:rPr sz="2150" b="1">
                          <a:solidFill>
                            <a:srgbClr val="FFFFFF"/>
                          </a:solidFill>
                          <a:latin typeface="Calibri"/>
                        </a:rPr>
                        <a:t>Type</a:t>
                      </a:r>
                    </a:p>
                  </a:txBody>
                  <a:tcPr marL="73152" marT="18288" marB="18288">
                    <a:solidFill>
                      <a:srgbClr val="1F3A5F"/>
                    </a:solidFill>
                  </a:tcPr>
                </a:tc>
                <a:tc>
                  <a:txBody>
                    <a:bodyPr/>
                    <a:lstStyle/>
                    <a:p>
                      <a:r>
                        <a:rPr sz="2150" b="1">
                          <a:solidFill>
                            <a:srgbClr val="FFFFFF"/>
                          </a:solidFill>
                          <a:latin typeface="Calibri"/>
                        </a:rPr>
                        <a:t>Holds</a:t>
                      </a:r>
                    </a:p>
                  </a:txBody>
                  <a:tcPr marL="73152" marT="18288" marB="18288">
                    <a:solidFill>
                      <a:srgbClr val="1F3A5F"/>
                    </a:solidFill>
                  </a:tcPr>
                </a:tc>
                <a:tc>
                  <a:txBody>
                    <a:bodyPr/>
                    <a:lstStyle/>
                    <a:p>
                      <a:r>
                        <a:rPr sz="2150" b="1">
                          <a:solidFill>
                            <a:srgbClr val="FFFFFF"/>
                          </a:solidFill>
                          <a:latin typeface="Calibri"/>
                        </a:rPr>
                        <a:t>Example</a:t>
                      </a:r>
                    </a:p>
                  </a:txBody>
                  <a:tcPr marL="73152" marT="18288" marB="18288">
                    <a:solidFill>
                      <a:srgbClr val="1F3A5F"/>
                    </a:solidFill>
                  </a:tcPr>
                </a:tc>
                <a:tc>
                  <a:txBody>
                    <a:bodyPr/>
                    <a:lstStyle/>
                    <a:p>
                      <a:r>
                        <a:rPr sz="2150" b="1">
                          <a:solidFill>
                            <a:srgbClr val="FFFFFF"/>
                          </a:solidFill>
                          <a:latin typeface="Calibri"/>
                        </a:rPr>
                        <a:t>Used for</a:t>
                      </a:r>
                    </a:p>
                  </a:txBody>
                  <a:tcPr marL="73152" marT="18288" marB="18288">
                    <a:solidFill>
                      <a:srgbClr val="1F3A5F"/>
                    </a:solidFill>
                  </a:tcPr>
                </a:tc>
              </a:tr>
              <a:tr h="645054">
                <a:tc>
                  <a:txBody>
                    <a:bodyPr/>
                    <a:lstStyle/>
                    <a:p>
                      <a:r>
                        <a:rPr sz="2150">
                          <a:solidFill>
                            <a:srgbClr val="222222"/>
                          </a:solidFill>
                          <a:latin typeface="Calibri"/>
                        </a:rPr>
                        <a:t>int</a:t>
                      </a:r>
                    </a:p>
                  </a:txBody>
                  <a:tcPr marL="73152" marT="18288" marB="18288">
                    <a:solidFill>
                      <a:srgbClr val="FFFFFF"/>
                    </a:solidFill>
                  </a:tcPr>
                </a:tc>
                <a:tc>
                  <a:txBody>
                    <a:bodyPr/>
                    <a:lstStyle/>
                    <a:p>
                      <a:r>
                        <a:rPr sz="2150">
                          <a:solidFill>
                            <a:srgbClr val="222222"/>
                          </a:solidFill>
                          <a:latin typeface="Calibri"/>
                        </a:rPr>
                        <a:t>A whole number</a:t>
                      </a:r>
                    </a:p>
                  </a:txBody>
                  <a:tcPr marL="73152" marT="18288" marB="18288">
                    <a:solidFill>
                      <a:srgbClr val="FFFFFF"/>
                    </a:solidFill>
                  </a:tcPr>
                </a:tc>
                <a:tc>
                  <a:txBody>
                    <a:bodyPr/>
                    <a:lstStyle/>
                    <a:p>
                      <a:r>
                        <a:rPr sz="2150">
                          <a:solidFill>
                            <a:srgbClr val="222222"/>
                          </a:solidFill>
                          <a:latin typeface="Calibri"/>
                        </a:rPr>
                        <a:t>int loopCount = 0;</a:t>
                      </a:r>
                    </a:p>
                  </a:txBody>
                  <a:tcPr marL="73152" marT="18288" marB="18288">
                    <a:solidFill>
                      <a:srgbClr val="FFFFFF"/>
                    </a:solidFill>
                  </a:tcPr>
                </a:tc>
                <a:tc>
                  <a:txBody>
                    <a:bodyPr/>
                    <a:lstStyle/>
                    <a:p>
                      <a:r>
                        <a:rPr sz="2150">
                          <a:solidFill>
                            <a:srgbClr val="222222"/>
                          </a:solidFill>
                          <a:latin typeface="Calibri"/>
                        </a:rPr>
                        <a:t>Speeds, pin numbers, counts</a:t>
                      </a:r>
                    </a:p>
                  </a:txBody>
                  <a:tcPr marL="73152" marT="18288" marB="18288">
                    <a:solidFill>
                      <a:srgbClr val="FFFFFF"/>
                    </a:solidFill>
                  </a:tcPr>
                </a:tc>
              </a:tr>
              <a:tr h="645054">
                <a:tc>
                  <a:txBody>
                    <a:bodyPr/>
                    <a:lstStyle/>
                    <a:p>
                      <a:r>
                        <a:rPr sz="2150">
                          <a:solidFill>
                            <a:srgbClr val="222222"/>
                          </a:solidFill>
                          <a:latin typeface="Calibri"/>
                        </a:rPr>
                        <a:t>float</a:t>
                      </a:r>
                    </a:p>
                  </a:txBody>
                  <a:tcPr marL="73152" marT="18288" marB="18288">
                    <a:solidFill>
                      <a:srgbClr val="EEF3F8"/>
                    </a:solidFill>
                  </a:tcPr>
                </a:tc>
                <a:tc>
                  <a:txBody>
                    <a:bodyPr/>
                    <a:lstStyle/>
                    <a:p>
                      <a:r>
                        <a:rPr sz="2150">
                          <a:solidFill>
                            <a:srgbClr val="222222"/>
                          </a:solidFill>
                          <a:latin typeface="Calibri"/>
                        </a:rPr>
                        <a:t>A number with a decimal point</a:t>
                      </a:r>
                    </a:p>
                  </a:txBody>
                  <a:tcPr marL="73152" marT="18288" marB="18288">
                    <a:solidFill>
                      <a:srgbClr val="EEF3F8"/>
                    </a:solidFill>
                  </a:tcPr>
                </a:tc>
                <a:tc>
                  <a:txBody>
                    <a:bodyPr/>
                    <a:lstStyle/>
                    <a:p>
                      <a:r>
                        <a:rPr sz="2150">
                          <a:solidFill>
                            <a:srgbClr val="222222"/>
                          </a:solidFill>
                          <a:latin typeface="Calibri"/>
                        </a:rPr>
                        <a:t>float volts = 16.8;</a:t>
                      </a:r>
                    </a:p>
                  </a:txBody>
                  <a:tcPr marL="73152" marT="18288" marB="18288">
                    <a:solidFill>
                      <a:srgbClr val="EEF3F8"/>
                    </a:solidFill>
                  </a:tcPr>
                </a:tc>
                <a:tc>
                  <a:txBody>
                    <a:bodyPr/>
                    <a:lstStyle/>
                    <a:p>
                      <a:r>
                        <a:rPr sz="2150">
                          <a:solidFill>
                            <a:srgbClr val="222222"/>
                          </a:solidFill>
                          <a:latin typeface="Calibri"/>
                        </a:rPr>
                        <a:t>Voltages, measurements</a:t>
                      </a:r>
                    </a:p>
                  </a:txBody>
                  <a:tcPr marL="73152" marT="18288" marB="18288">
                    <a:solidFill>
                      <a:srgbClr val="EEF3F8"/>
                    </a:solidFill>
                  </a:tcPr>
                </a:tc>
              </a:tr>
              <a:tr h="645054">
                <a:tc>
                  <a:txBody>
                    <a:bodyPr/>
                    <a:lstStyle/>
                    <a:p>
                      <a:r>
                        <a:rPr sz="2150">
                          <a:solidFill>
                            <a:srgbClr val="222222"/>
                          </a:solidFill>
                          <a:latin typeface="Calibri"/>
                        </a:rPr>
                        <a:t>bool</a:t>
                      </a:r>
                    </a:p>
                  </a:txBody>
                  <a:tcPr marL="73152" marT="18288" marB="18288">
                    <a:solidFill>
                      <a:srgbClr val="FFFFFF"/>
                    </a:solidFill>
                  </a:tcPr>
                </a:tc>
                <a:tc>
                  <a:txBody>
                    <a:bodyPr/>
                    <a:lstStyle/>
                    <a:p>
                      <a:r>
                        <a:rPr sz="2150">
                          <a:solidFill>
                            <a:srgbClr val="222222"/>
                          </a:solidFill>
                          <a:latin typeface="Calibri"/>
                        </a:rPr>
                        <a:t>Only true or false</a:t>
                      </a:r>
                    </a:p>
                  </a:txBody>
                  <a:tcPr marL="73152" marT="18288" marB="18288">
                    <a:solidFill>
                      <a:srgbClr val="FFFFFF"/>
                    </a:solidFill>
                  </a:tcPr>
                </a:tc>
                <a:tc>
                  <a:txBody>
                    <a:bodyPr/>
                    <a:lstStyle/>
                    <a:p>
                      <a:r>
                        <a:rPr sz="2150">
                          <a:solidFill>
                            <a:srgbClr val="222222"/>
                          </a:solidFill>
                          <a:latin typeface="Calibri"/>
                        </a:rPr>
                        <a:t>bool lightsOn = true;</a:t>
                      </a:r>
                    </a:p>
                  </a:txBody>
                  <a:tcPr marL="73152" marT="18288" marB="18288">
                    <a:solidFill>
                      <a:srgbClr val="FFFFFF"/>
                    </a:solidFill>
                  </a:tcPr>
                </a:tc>
                <a:tc>
                  <a:txBody>
                    <a:bodyPr/>
                    <a:lstStyle/>
                    <a:p>
                      <a:r>
                        <a:rPr sz="2150">
                          <a:solidFill>
                            <a:srgbClr val="222222"/>
                          </a:solidFill>
                          <a:latin typeface="Calibri"/>
                        </a:rPr>
                        <a:t>Switches and flags</a:t>
                      </a:r>
                    </a:p>
                  </a:txBody>
                  <a:tcPr marL="73152" marT="18288" marB="18288">
                    <a:solidFill>
                      <a:srgbClr val="FFFFFF"/>
                    </a:solidFill>
                  </a:tcPr>
                </a:tc>
              </a:tr>
              <a:tr h="645054">
                <a:tc>
                  <a:txBody>
                    <a:bodyPr/>
                    <a:lstStyle/>
                    <a:p>
                      <a:r>
                        <a:rPr sz="2150">
                          <a:solidFill>
                            <a:srgbClr val="222222"/>
                          </a:solidFill>
                          <a:latin typeface="Calibri"/>
                        </a:rPr>
                        <a:t>const int</a:t>
                      </a:r>
                    </a:p>
                  </a:txBody>
                  <a:tcPr marL="73152" marT="18288" marB="18288">
                    <a:solidFill>
                      <a:srgbClr val="EEF3F8"/>
                    </a:solidFill>
                  </a:tcPr>
                </a:tc>
                <a:tc>
                  <a:txBody>
                    <a:bodyPr/>
                    <a:lstStyle/>
                    <a:p>
                      <a:r>
                        <a:rPr sz="2150">
                          <a:solidFill>
                            <a:srgbClr val="222222"/>
                          </a:solidFill>
                          <a:latin typeface="Calibri"/>
                        </a:rPr>
                        <a:t>A whole number that never changes</a:t>
                      </a:r>
                    </a:p>
                  </a:txBody>
                  <a:tcPr marL="73152" marT="18288" marB="18288">
                    <a:solidFill>
                      <a:srgbClr val="EEF3F8"/>
                    </a:solidFill>
                  </a:tcPr>
                </a:tc>
                <a:tc>
                  <a:txBody>
                    <a:bodyPr/>
                    <a:lstStyle/>
                    <a:p>
                      <a:r>
                        <a:rPr sz="2150">
                          <a:solidFill>
                            <a:srgbClr val="222222"/>
                          </a:solidFill>
                          <a:latin typeface="Calibri"/>
                        </a:rPr>
                        <a:t>const int LED_PIN = 2;</a:t>
                      </a:r>
                    </a:p>
                  </a:txBody>
                  <a:tcPr marL="73152" marT="18288" marB="18288">
                    <a:solidFill>
                      <a:srgbClr val="EEF3F8"/>
                    </a:solidFill>
                  </a:tcPr>
                </a:tc>
                <a:tc>
                  <a:txBody>
                    <a:bodyPr/>
                    <a:lstStyle/>
                    <a:p>
                      <a:r>
                        <a:rPr sz="2150">
                          <a:solidFill>
                            <a:srgbClr val="222222"/>
                          </a:solidFill>
                          <a:latin typeface="Calibri"/>
                        </a:rPr>
                        <a:t>Pins and settings</a:t>
                      </a:r>
                    </a:p>
                  </a:txBody>
                  <a:tcPr marL="73152" marT="18288" marB="18288">
                    <a:solidFill>
                      <a:srgbClr val="EEF3F8"/>
                    </a:solidFill>
                  </a:tcPr>
                </a:tc>
              </a:tr>
              <a:tr h="645055">
                <a:tc>
                  <a:txBody>
                    <a:bodyPr/>
                    <a:lstStyle/>
                    <a:p>
                      <a:r>
                        <a:rPr sz="2150">
                          <a:solidFill>
                            <a:srgbClr val="222222"/>
                          </a:solidFill>
                          <a:latin typeface="Calibri"/>
                        </a:rPr>
                        <a:t>unsigned long</a:t>
                      </a:r>
                    </a:p>
                  </a:txBody>
                  <a:tcPr marL="73152" marT="18288" marB="18288">
                    <a:solidFill>
                      <a:srgbClr val="FFFFFF"/>
                    </a:solidFill>
                  </a:tcPr>
                </a:tc>
                <a:tc>
                  <a:txBody>
                    <a:bodyPr/>
                    <a:lstStyle/>
                    <a:p>
                      <a:r>
                        <a:rPr sz="2150">
                          <a:solidFill>
                            <a:srgbClr val="222222"/>
                          </a:solidFill>
                          <a:latin typeface="Calibri"/>
                        </a:rPr>
                        <a:t>A big whole number, never negative</a:t>
                      </a:r>
                    </a:p>
                  </a:txBody>
                  <a:tcPr marL="73152" marT="18288" marB="18288">
                    <a:solidFill>
                      <a:srgbClr val="FFFFFF"/>
                    </a:solidFill>
                  </a:tcPr>
                </a:tc>
                <a:tc>
                  <a:txBody>
                    <a:bodyPr/>
                    <a:lstStyle/>
                    <a:p>
                      <a:r>
                        <a:rPr sz="2150">
                          <a:solidFill>
                            <a:srgbClr val="222222"/>
                          </a:solidFill>
                          <a:latin typeface="Calibri"/>
                        </a:rPr>
                        <a:t>unsigned long now;</a:t>
                      </a:r>
                    </a:p>
                  </a:txBody>
                  <a:tcPr marL="73152" marT="18288" marB="18288">
                    <a:solidFill>
                      <a:srgbClr val="FFFFFF"/>
                    </a:solidFill>
                  </a:tcPr>
                </a:tc>
                <a:tc>
                  <a:txBody>
                    <a:bodyPr/>
                    <a:lstStyle/>
                    <a:p>
                      <a:r>
                        <a:rPr sz="2150">
                          <a:solidFill>
                            <a:srgbClr val="222222"/>
                          </a:solidFill>
                          <a:latin typeface="Calibri"/>
                        </a:rPr>
                        <a:t>millis(), in Lesson 5</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const means the compiler will stop you changing it by accident. Use it for anything that is a setting rather than a working value.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trap worth meeting on day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l1b_serial_monitor.ino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b="1">
                <a:solidFill>
                  <a:srgbClr val="0E7C86"/>
                </a:solidFill>
                <a:latin typeface="Consolas"/>
              </a:rPr>
              <a:t>Serial.println(7 / 2);          // prints 3, not 3.5</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Serial.print("7.0 / 2 = ");</a:t>
            </a:r>
          </a:p>
          <a:p>
            <a:pPr algn="l">
              <a:lnSpc>
                <a:spcPct val="100000"/>
              </a:lnSpc>
              <a:spcAft>
                <a:spcPts val="0"/>
              </a:spcAft>
              <a:defRPr sz="1800">
                <a:latin typeface="Consolas"/>
              </a:defRPr>
            </a:pPr>
            <a:r>
              <a:rPr sz="1800" b="1">
                <a:solidFill>
                  <a:srgbClr val="0E7C86"/>
                </a:solidFill>
                <a:latin typeface="Consolas"/>
              </a:rPr>
              <a:t>Serial.println(7.0 / 2);        // prints 3.50</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a:solidFill>
                  <a:srgbClr val="222222"/>
                </a:solidFill>
                <a:latin typeface="Consolas"/>
              </a:rPr>
              <a:t>Serial.println(7 % 2);          // prints 1</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Both 7 and 2 are whole numbers, so the ESP32 does whole-number division and throws the remainder away.</a:t>
            </a:r>
          </a:p>
          <a:p>
            <a:pPr algn="l">
              <a:lnSpc>
                <a:spcPct val="100000"/>
              </a:lnSpc>
              <a:spcAft>
                <a:spcPts val="700"/>
              </a:spcAft>
              <a:defRPr sz="1800" b="0">
                <a:solidFill>
                  <a:srgbClr val="222222"/>
                </a:solidFill>
                <a:latin typeface="Calibri"/>
              </a:defRPr>
            </a:pPr>
            <a:r>
              <a:rPr sz="1800" b="0">
                <a:solidFill>
                  <a:srgbClr val="222222"/>
                </a:solidFill>
                <a:latin typeface="Calibri"/>
              </a:rPr>
              <a:t>It does NOT round. 7 / 2 is 3, and 9 / 10 is 0.</a:t>
            </a:r>
          </a:p>
          <a:p>
            <a:pPr algn="l">
              <a:lnSpc>
                <a:spcPct val="100000"/>
              </a:lnSpc>
              <a:spcAft>
                <a:spcPts val="700"/>
              </a:spcAft>
              <a:defRPr sz="1800" b="0">
                <a:solidFill>
                  <a:srgbClr val="222222"/>
                </a:solidFill>
                <a:latin typeface="Calibri"/>
              </a:defRPr>
            </a:pPr>
            <a:r>
              <a:rPr sz="1800" b="0">
                <a:solidFill>
                  <a:srgbClr val="222222"/>
                </a:solidFill>
                <a:latin typeface="Calibri"/>
              </a:rPr>
              <a:t>Writing one number with a decimal point asks for decimal division instead.</a:t>
            </a:r>
          </a:p>
          <a:p>
            <a:pPr algn="l">
              <a:lnSpc>
                <a:spcPct val="100000"/>
              </a:lnSpc>
              <a:spcAft>
                <a:spcPts val="700"/>
              </a:spcAft>
              <a:defRPr sz="1800" b="0">
                <a:solidFill>
                  <a:srgbClr val="222222"/>
                </a:solidFill>
                <a:latin typeface="Calibri"/>
              </a:defRPr>
            </a:pPr>
            <a:r>
              <a:rPr sz="1800" b="0">
                <a:solidFill>
                  <a:srgbClr val="222222"/>
                </a:solidFill>
                <a:latin typeface="Calibri"/>
              </a:rPr>
              <a:t>The % operator gives you the remainder that the first division discarded.</a:t>
            </a:r>
          </a:p>
          <a:p>
            <a:pPr algn="l">
              <a:lnSpc>
                <a:spcPct val="100000"/>
              </a:lnSpc>
              <a:spcAft>
                <a:spcPts val="700"/>
              </a:spcAft>
              <a:defRPr sz="1800" b="0">
                <a:solidFill>
                  <a:srgbClr val="222222"/>
                </a:solidFill>
                <a:latin typeface="Calibri"/>
              </a:defRPr>
            </a:pPr>
            <a:r>
              <a:rPr sz="1800" b="0">
                <a:solidFill>
                  <a:srgbClr val="222222"/>
                </a:solidFill>
                <a:latin typeface="Calibri"/>
              </a:rPr>
              <a:t>This bites everybody eventually, usually when a speed calculation quietly comes out as zero.</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circuit and program</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3" name="Rounded Rectangle 12"/>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make it talk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l1b_serial_monitor</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Open and upload l1b_serial_monitor.ino.</a:t>
            </a:r>
          </a:p>
          <a:p>
            <a:pPr algn="l">
              <a:lnSpc>
                <a:spcPct val="100000"/>
              </a:lnSpc>
              <a:spcAft>
                <a:spcPts val="800"/>
              </a:spcAft>
              <a:defRPr sz="2000" b="0">
                <a:solidFill>
                  <a:srgbClr val="222222"/>
                </a:solidFill>
                <a:latin typeface="Calibri"/>
              </a:defRPr>
            </a:pPr>
            <a:r>
              <a:rPr sz="2000" b="0">
                <a:solidFill>
                  <a:srgbClr val="222222"/>
                </a:solidFill>
                <a:latin typeface="Calibri"/>
              </a:rPr>
              <a:t>2.  Open the Serial Monitor and set the baud rate to 115200.</a:t>
            </a:r>
          </a:p>
          <a:p>
            <a:pPr algn="l">
              <a:lnSpc>
                <a:spcPct val="100000"/>
              </a:lnSpc>
              <a:spcAft>
                <a:spcPts val="800"/>
              </a:spcAft>
              <a:defRPr sz="2000" b="0">
                <a:solidFill>
                  <a:srgbClr val="222222"/>
                </a:solidFill>
                <a:latin typeface="Calibri"/>
              </a:defRPr>
            </a:pPr>
            <a:r>
              <a:rPr sz="2000" b="0">
                <a:solidFill>
                  <a:srgbClr val="222222"/>
                </a:solidFill>
                <a:latin typeface="Calibri"/>
              </a:rPr>
              <a:t>3.  Press the EN (reset) button on the ESP32. Watch it start again.</a:t>
            </a:r>
          </a:p>
          <a:p>
            <a:pPr algn="l">
              <a:lnSpc>
                <a:spcPct val="100000"/>
              </a:lnSpc>
              <a:spcAft>
                <a:spcPts val="800"/>
              </a:spcAft>
              <a:defRPr sz="2000" b="0">
                <a:solidFill>
                  <a:srgbClr val="222222"/>
                </a:solidFill>
                <a:latin typeface="Calibri"/>
              </a:defRPr>
            </a:pPr>
            <a:r>
              <a:rPr sz="2000" b="0">
                <a:solidFill>
                  <a:srgbClr val="222222"/>
                </a:solidFill>
                <a:latin typeface="Calibri"/>
              </a:rPr>
              <a:t>4.  Change the greeting to your group's name and upload.</a:t>
            </a:r>
          </a:p>
          <a:p>
            <a:pPr algn="l">
              <a:lnSpc>
                <a:spcPct val="100000"/>
              </a:lnSpc>
              <a:spcAft>
                <a:spcPts val="800"/>
              </a:spcAft>
              <a:defRPr sz="2000" b="0">
                <a:solidFill>
                  <a:srgbClr val="222222"/>
                </a:solidFill>
                <a:latin typeface="Calibri"/>
              </a:defRPr>
            </a:pPr>
            <a:r>
              <a:rPr sz="2000" b="0">
                <a:solidFill>
                  <a:srgbClr val="222222"/>
                </a:solidFill>
                <a:latin typeface="Calibri"/>
              </a:rPr>
              <a:t>5.  Change the two numbers in the math section. PREDICT the answers before you upload, then check.</a:t>
            </a:r>
          </a:p>
          <a:p>
            <a:pPr algn="l">
              <a:lnSpc>
                <a:spcPct val="100000"/>
              </a:lnSpc>
              <a:spcAft>
                <a:spcPts val="800"/>
              </a:spcAft>
              <a:defRPr sz="2000" b="0">
                <a:solidFill>
                  <a:srgbClr val="222222"/>
                </a:solidFill>
                <a:latin typeface="Calibri"/>
              </a:defRPr>
            </a:pPr>
            <a:r>
              <a:rPr sz="2000" b="0">
                <a:solidFill>
                  <a:srgbClr val="222222"/>
                </a:solidFill>
                <a:latin typeface="Calibri"/>
              </a:rPr>
              <a:t>6.  Add a line of your own that prints every time round the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 greeting, some arithmetic, then one line per second counting up.</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700" b="0">
                <a:solidFill>
                  <a:srgbClr val="222222"/>
                </a:solidFill>
                <a:latin typeface="Calibri"/>
              </a:defRPr>
            </a:pPr>
            <a:r>
              <a:rPr sz="2700" b="0">
                <a:solidFill>
                  <a:srgbClr val="222222"/>
                </a:solidFill>
                <a:latin typeface="Calibri"/>
              </a:rPr>
              <a:t>What is 9 / 10 in this program? What did you expect?</a:t>
            </a:r>
          </a:p>
          <a:p>
            <a:pPr algn="l">
              <a:lnSpc>
                <a:spcPct val="100000"/>
              </a:lnSpc>
              <a:spcAft>
                <a:spcPts val="300"/>
              </a:spcAft>
              <a:defRPr sz="2700" b="0">
                <a:solidFill>
                  <a:srgbClr val="222222"/>
                </a:solidFill>
                <a:latin typeface="Calibri"/>
              </a:defRPr>
            </a:pPr>
            <a:r>
              <a:rPr sz="2700" b="0">
                <a:solidFill>
                  <a:srgbClr val="222222"/>
                </a:solidFill>
                <a:latin typeface="Calibri"/>
              </a:rPr>
              <a:t>What does millis() / 1000 give you, and why?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light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An addressable LED is a small computer of its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An ordinary LED has two wires and is either on or off.</a:t>
            </a:r>
          </a:p>
          <a:p>
            <a:pPr algn="l">
              <a:lnSpc>
                <a:spcPct val="100000"/>
              </a:lnSpc>
              <a:spcAft>
                <a:spcPts val="600"/>
              </a:spcAft>
              <a:defRPr sz="1900" b="0">
                <a:solidFill>
                  <a:srgbClr val="222222"/>
                </a:solidFill>
                <a:latin typeface="Calibri"/>
              </a:defRPr>
            </a:pPr>
            <a:r>
              <a:rPr sz="1900" b="0">
                <a:solidFill>
                  <a:srgbClr val="222222"/>
                </a:solidFill>
                <a:latin typeface="Calibri"/>
              </a:rPr>
              <a:t>A NeoPixel has FOUR connections - power, ground, data in, data out - and a tiny controller chip inside it.</a:t>
            </a:r>
          </a:p>
          <a:p>
            <a:pPr algn="l">
              <a:lnSpc>
                <a:spcPct val="100000"/>
              </a:lnSpc>
              <a:spcAft>
                <a:spcPts val="600"/>
              </a:spcAft>
              <a:defRPr sz="1900" b="0">
                <a:solidFill>
                  <a:srgbClr val="222222"/>
                </a:solidFill>
                <a:latin typeface="Calibri"/>
              </a:defRPr>
            </a:pPr>
            <a:r>
              <a:rPr sz="1900" b="0">
                <a:solidFill>
                  <a:srgbClr val="222222"/>
                </a:solidFill>
                <a:latin typeface="Calibri"/>
              </a:rPr>
              <a:t>Send a color message into the first one and it keeps the first message, then passes everything after it down the chain to the next.</a:t>
            </a:r>
          </a:p>
          <a:p>
            <a:pPr algn="l">
              <a:lnSpc>
                <a:spcPct val="100000"/>
              </a:lnSpc>
              <a:spcAft>
                <a:spcPts val="600"/>
              </a:spcAft>
              <a:defRPr sz="1900" b="0">
                <a:solidFill>
                  <a:srgbClr val="222222"/>
                </a:solidFill>
                <a:latin typeface="Calibri"/>
              </a:defRPr>
            </a:pPr>
            <a:r>
              <a:rPr sz="1900" b="0">
                <a:solidFill>
                  <a:srgbClr val="222222"/>
                </a:solidFill>
                <a:latin typeface="Calibri"/>
              </a:rPr>
              <a:t>That is why all 32 LEDs on the vehicle need only ONE signal wire, on GPIO 5.</a:t>
            </a:r>
          </a:p>
          <a:p>
            <a:pPr algn="l">
              <a:lnSpc>
                <a:spcPct val="100000"/>
              </a:lnSpc>
              <a:spcAft>
                <a:spcPts val="600"/>
              </a:spcAft>
              <a:defRPr sz="1900" b="0">
                <a:solidFill>
                  <a:srgbClr val="222222"/>
                </a:solidFill>
                <a:latin typeface="Calibri"/>
              </a:defRPr>
            </a:pPr>
            <a:r>
              <a:rPr sz="1900" b="0">
                <a:solidFill>
                  <a:srgbClr val="222222"/>
                </a:solidFill>
                <a:latin typeface="Calibri"/>
              </a:rPr>
              <a:t>It is also why they are NUMBERED, 0 to 31, in the order the data flows. You will map that out properly in Lesson 4.</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Each one holds three LEDs: red, green and blue. Every color you can make is a mixture of those three, each from 0 to 255.</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setPixelColor() only changes the ESP32's memory. Nothing happens on the vehicle until you call show(). This is the most common NeoPixel mistake there is.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l1c_first_pixel  -  the important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l1c_first_pixel.ino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#include &lt;Adafruit_NeoPixel.h&gt;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const int LED_PIN   = 5;      // all 32 LEDs are on GPIO 5</a:t>
            </a:r>
          </a:p>
          <a:p>
            <a:pPr algn="l">
              <a:lnSpc>
                <a:spcPct val="100000"/>
              </a:lnSpc>
              <a:spcAft>
                <a:spcPts val="0"/>
              </a:spcAft>
              <a:defRPr sz="1400">
                <a:latin typeface="Consolas"/>
              </a:defRPr>
            </a:pPr>
            <a:r>
              <a:rPr sz="1400">
                <a:solidFill>
                  <a:srgbClr val="222222"/>
                </a:solidFill>
                <a:latin typeface="Consolas"/>
              </a:rPr>
              <a:t>const int LED_COUNT = 32;</a:t>
            </a:r>
          </a:p>
          <a:p>
            <a:pPr algn="l">
              <a:lnSpc>
                <a:spcPct val="100000"/>
              </a:lnSpc>
              <a:spcAft>
                <a:spcPts val="0"/>
              </a:spcAft>
              <a:defRPr sz="1400">
                <a:latin typeface="Consolas"/>
              </a:defRPr>
            </a:pPr>
            <a:r>
              <a:rPr sz="1400">
                <a:solidFill>
                  <a:srgbClr val="222222"/>
                </a:solidFill>
                <a:latin typeface="Consolas"/>
              </a:rPr>
              <a:t>const int WHICH_LED = 0;      // the one we light</a:t>
            </a:r>
          </a:p>
          <a:p>
            <a:pPr algn="l">
              <a:lnSpc>
                <a:spcPct val="100000"/>
              </a:lnSpc>
              <a:spcAft>
                <a:spcPts val="0"/>
              </a:spcAft>
              <a:defRPr sz="1400">
                <a:latin typeface="Consolas"/>
              </a:defRPr>
            </a:pPr>
            <a:r>
              <a:rPr sz="1400">
                <a:solidFill>
                  <a:srgbClr val="222222"/>
                </a:solidFill>
                <a:latin typeface="Consolas"/>
              </a:rPr>
              <a:t>const int BRIGHTNESS = 60;    // master brightness, 0 to 255</a:t>
            </a:r>
          </a:p>
          <a:p>
            <a:pPr algn="l">
              <a:lnSpc>
                <a:spcPct val="100000"/>
              </a:lnSpc>
              <a:spcAft>
                <a:spcPts val="0"/>
              </a:spcAft>
              <a:defRPr sz="1400">
                <a:latin typeface="Consolas"/>
              </a:defRPr>
            </a:pPr>
            <a:r>
              <a:rPr sz="1400">
                <a:solidFill>
                  <a:srgbClr val="222222"/>
                </a:solidFill>
                <a:latin typeface="Consolas"/>
              </a:rPr>
              <a:t>Adafruit_NeoPixel strip(LED_COUNT, LED_PIN, NEO_GRB + NEO_KHZ800);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setup() {</a:t>
            </a:r>
          </a:p>
          <a:p>
            <a:pPr algn="l">
              <a:lnSpc>
                <a:spcPct val="100000"/>
              </a:lnSpc>
              <a:spcAft>
                <a:spcPts val="0"/>
              </a:spcAft>
              <a:defRPr sz="1400">
                <a:latin typeface="Consolas"/>
              </a:defRPr>
            </a:pPr>
            <a:r>
              <a:rPr sz="1400">
                <a:solidFill>
                  <a:srgbClr val="222222"/>
                </a:solidFill>
                <a:latin typeface="Consolas"/>
              </a:rPr>
              <a:t>  strip.begin();</a:t>
            </a:r>
          </a:p>
          <a:p>
            <a:pPr algn="l">
              <a:lnSpc>
                <a:spcPct val="100000"/>
              </a:lnSpc>
              <a:spcAft>
                <a:spcPts val="0"/>
              </a:spcAft>
              <a:defRPr sz="1400">
                <a:latin typeface="Consolas"/>
              </a:defRPr>
            </a:pPr>
            <a:r>
              <a:rPr sz="1400">
                <a:solidFill>
                  <a:srgbClr val="222222"/>
                </a:solidFill>
                <a:latin typeface="Consolas"/>
              </a:rPr>
              <a:t>  strip.setBrightness(BRIGHTNESS);</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222222"/>
                </a:solidFill>
                <a:latin typeface="Consolas"/>
              </a:rPr>
              <a:t>  strip.setPixelColor(WHICH_LED, strip.Color(255, 0, 0));</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delay(1000);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#include pulls in the library.</a:t>
            </a:r>
          </a:p>
          <a:p>
            <a:pPr algn="l">
              <a:lnSpc>
                <a:spcPct val="100000"/>
              </a:lnSpc>
              <a:spcAft>
                <a:spcPts val="700"/>
              </a:spcAft>
              <a:defRPr sz="2000" b="0">
                <a:solidFill>
                  <a:srgbClr val="222222"/>
                </a:solidFill>
                <a:latin typeface="Calibri"/>
              </a:defRPr>
            </a:pPr>
            <a:r>
              <a:rPr sz="2000" b="0">
                <a:solidFill>
                  <a:srgbClr val="222222"/>
                </a:solidFill>
                <a:latin typeface="Calibri"/>
              </a:rPr>
              <a:t>NEO_GRB says these LEDs want their color data green first. NEO_KHZ800 is the speed it is clocked out at. Both are correct for the WS2812B parts we use.</a:t>
            </a:r>
          </a:p>
          <a:p>
            <a:pPr algn="l">
              <a:lnSpc>
                <a:spcPct val="100000"/>
              </a:lnSpc>
              <a:spcAft>
                <a:spcPts val="700"/>
              </a:spcAft>
              <a:defRPr sz="2000" b="0">
                <a:solidFill>
                  <a:srgbClr val="222222"/>
                </a:solidFill>
                <a:latin typeface="Calibri"/>
              </a:defRPr>
            </a:pPr>
            <a:r>
              <a:rPr sz="2000" b="0">
                <a:solidFill>
                  <a:srgbClr val="222222"/>
                </a:solidFill>
                <a:latin typeface="Calibri"/>
              </a:rPr>
              <a:t>strip.begin() wakes the strip up. Always needed.</a:t>
            </a:r>
          </a:p>
          <a:p>
            <a:pPr algn="l">
              <a:lnSpc>
                <a:spcPct val="100000"/>
              </a:lnSpc>
              <a:spcAft>
                <a:spcPts val="700"/>
              </a:spcAft>
              <a:defRPr sz="2000" b="0">
                <a:solidFill>
                  <a:srgbClr val="222222"/>
                </a:solidFill>
                <a:latin typeface="Calibri"/>
              </a:defRPr>
            </a:pPr>
            <a:r>
              <a:rPr sz="2000" b="0">
                <a:solidFill>
                  <a:srgbClr val="222222"/>
                </a:solidFill>
                <a:latin typeface="Calibri"/>
              </a:rPr>
              <a:t>Color(red, green, blue), each 0 to 255.</a:t>
            </a:r>
          </a:p>
          <a:p>
            <a:pPr algn="l">
              <a:lnSpc>
                <a:spcPct val="100000"/>
              </a:lnSpc>
              <a:spcAft>
                <a:spcPts val="700"/>
              </a:spcAft>
              <a:defRPr sz="2000" b="0">
                <a:solidFill>
                  <a:srgbClr val="222222"/>
                </a:solidFill>
                <a:latin typeface="Calibri"/>
              </a:defRPr>
            </a:pPr>
            <a:r>
              <a:rPr sz="2000" b="0">
                <a:solidFill>
                  <a:srgbClr val="222222"/>
                </a:solidFill>
                <a:latin typeface="Calibri"/>
              </a:rPr>
              <a:t>show() is what actually sends it.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Talking back</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4" name="Rounded Rectangle 13"/>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light one pixel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l1c_first_pixel</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 and find which physical LED comes on.</a:t>
            </a:r>
          </a:p>
          <a:p>
            <a:pPr algn="l">
              <a:lnSpc>
                <a:spcPct val="100000"/>
              </a:lnSpc>
              <a:spcAft>
                <a:spcPts val="800"/>
              </a:spcAft>
              <a:defRPr sz="2000" b="0">
                <a:solidFill>
                  <a:srgbClr val="222222"/>
                </a:solidFill>
                <a:latin typeface="Calibri"/>
              </a:defRPr>
            </a:pPr>
            <a:r>
              <a:rPr sz="2000" b="0">
                <a:solidFill>
                  <a:srgbClr val="222222"/>
                </a:solidFill>
                <a:latin typeface="Calibri"/>
              </a:rPr>
              <a:t>2.  Change WHICH_LED to 15, then 16, then 31, uploading each time.</a:t>
            </a:r>
          </a:p>
          <a:p>
            <a:pPr algn="l">
              <a:lnSpc>
                <a:spcPct val="100000"/>
              </a:lnSpc>
              <a:spcAft>
                <a:spcPts val="800"/>
              </a:spcAft>
              <a:defRPr sz="2000" b="0">
                <a:solidFill>
                  <a:srgbClr val="222222"/>
                </a:solidFill>
                <a:latin typeface="Calibri"/>
              </a:defRPr>
            </a:pPr>
            <a:r>
              <a:rPr sz="2000" b="0">
                <a:solidFill>
                  <a:srgbClr val="222222"/>
                </a:solidFill>
                <a:latin typeface="Calibri"/>
              </a:rPr>
              <a:t>3.  Draw the vehicle on paper and mark where LEDs 0, 8, 15, 16, 24 and 31 are. Keep that drawing - you need it in Lesson 4.</a:t>
            </a:r>
          </a:p>
          <a:p>
            <a:pPr algn="l">
              <a:lnSpc>
                <a:spcPct val="100000"/>
              </a:lnSpc>
              <a:spcAft>
                <a:spcPts val="800"/>
              </a:spcAft>
              <a:defRPr sz="2000" b="0">
                <a:solidFill>
                  <a:srgbClr val="222222"/>
                </a:solidFill>
                <a:latin typeface="Calibri"/>
              </a:defRPr>
            </a:pPr>
            <a:r>
              <a:rPr sz="2000" b="0">
                <a:solidFill>
                  <a:srgbClr val="222222"/>
                </a:solidFill>
                <a:latin typeface="Calibri"/>
              </a:rPr>
              <a:t>4.  Invent a color with strip.Color(r, g, b). What do you get from (255, 255, 0)? From (128, 0, 128)?</a:t>
            </a:r>
          </a:p>
          <a:p>
            <a:pPr algn="l">
              <a:lnSpc>
                <a:spcPct val="100000"/>
              </a:lnSpc>
              <a:spcAft>
                <a:spcPts val="800"/>
              </a:spcAft>
              <a:defRPr sz="2000" b="0">
                <a:solidFill>
                  <a:srgbClr val="222222"/>
                </a:solidFill>
                <a:latin typeface="Calibri"/>
              </a:defRPr>
            </a:pPr>
            <a:r>
              <a:rPr sz="2000" b="0">
                <a:solidFill>
                  <a:srgbClr val="222222"/>
                </a:solidFill>
                <a:latin typeface="Calibri"/>
              </a:rPr>
              <a:t>5.  Delete the strip.show() line and upload. What happens?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One LED cycling red, green, blue, white, off.</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600"/>
              </a:spcAft>
              <a:defRPr sz="2900" b="0">
                <a:solidFill>
                  <a:srgbClr val="222222"/>
                </a:solidFill>
                <a:latin typeface="Calibri"/>
              </a:defRPr>
            </a:pPr>
            <a:r>
              <a:rPr sz="2900" b="0">
                <a:solidFill>
                  <a:srgbClr val="222222"/>
                </a:solidFill>
                <a:latin typeface="Calibri"/>
              </a:rPr>
              <a:t>Where is LED 0 on the vehicle? Where is LED 31?</a:t>
            </a:r>
          </a:p>
          <a:p>
            <a:pPr algn="l">
              <a:lnSpc>
                <a:spcPct val="100000"/>
              </a:lnSpc>
              <a:spcAft>
                <a:spcPts val="600"/>
              </a:spcAft>
              <a:defRPr sz="2900" b="0">
                <a:solidFill>
                  <a:srgbClr val="222222"/>
                </a:solidFill>
                <a:latin typeface="Calibri"/>
              </a:defRPr>
            </a:pPr>
            <a:r>
              <a:rPr sz="2900" b="0">
                <a:solidFill>
                  <a:srgbClr val="222222"/>
                </a:solidFill>
                <a:latin typeface="Calibri"/>
              </a:rPr>
              <a:t>With show() deleted, why does nothing happen?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Safety, and looking after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LITHIUM BATTERIES. 4S, 3300 mAh, about 16 volts and a lot of stored energy. Never puncture, crush or short one. If a pack is swollen, hot, or has been dropped hard, stop and tell an instructor.</a:t>
            </a:r>
          </a:p>
          <a:p>
            <a:pPr algn="l">
              <a:lnSpc>
                <a:spcPct val="100000"/>
              </a:lnSpc>
              <a:spcAft>
                <a:spcPts val="600"/>
              </a:spcAft>
              <a:defRPr sz="2000" b="0">
                <a:solidFill>
                  <a:srgbClr val="222222"/>
                </a:solidFill>
                <a:latin typeface="Calibri"/>
              </a:defRPr>
            </a:pPr>
            <a:r>
              <a:rPr sz="2000" b="0">
                <a:solidFill>
                  <a:srgbClr val="222222"/>
                </a:solidFill>
                <a:latin typeface="Calibri"/>
              </a:rPr>
              <a:t>Charge only on the bench, only supervised, and never leave a charging pack unattended.</a:t>
            </a:r>
          </a:p>
          <a:p>
            <a:pPr algn="l">
              <a:lnSpc>
                <a:spcPct val="100000"/>
              </a:lnSpc>
              <a:spcAft>
                <a:spcPts val="600"/>
              </a:spcAft>
              <a:defRPr sz="2000" b="0">
                <a:solidFill>
                  <a:srgbClr val="222222"/>
                </a:solidFill>
                <a:latin typeface="Calibri"/>
              </a:defRPr>
            </a:pPr>
            <a:r>
              <a:rPr sz="2000" b="0">
                <a:solidFill>
                  <a:srgbClr val="222222"/>
                </a:solidFill>
                <a:latin typeface="Calibri"/>
              </a:rPr>
              <a:t>WHEELS OFF THE GROUND when you upload a change for the first time. A vehicle on a block cannot drive off the desk.</a:t>
            </a:r>
          </a:p>
          <a:p>
            <a:pPr algn="l">
              <a:lnSpc>
                <a:spcPct val="100000"/>
              </a:lnSpc>
              <a:spcAft>
                <a:spcPts val="600"/>
              </a:spcAft>
              <a:defRPr sz="2000" b="0">
                <a:solidFill>
                  <a:srgbClr val="222222"/>
                </a:solidFill>
                <a:latin typeface="Calibri"/>
              </a:defRPr>
            </a:pPr>
            <a:r>
              <a:rPr sz="2000" b="0">
                <a:solidFill>
                  <a:srgbClr val="222222"/>
                </a:solidFill>
                <a:latin typeface="Calibri"/>
              </a:rPr>
              <a:t>Keep fingers, hair, sleeves and USB cables away from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Know where your power switch is BEFORE you start a program that drives.</a:t>
            </a:r>
          </a:p>
          <a:p>
            <a:pPr algn="l">
              <a:lnSpc>
                <a:spcPct val="100000"/>
              </a:lnSpc>
              <a:spcAft>
                <a:spcPts val="600"/>
              </a:spcAft>
              <a:defRPr sz="2000" b="0">
                <a:solidFill>
                  <a:srgbClr val="222222"/>
                </a:solidFill>
                <a:latin typeface="Calibri"/>
              </a:defRPr>
            </a:pPr>
            <a:r>
              <a:rPr sz="2000" b="0">
                <a:solidFill>
                  <a:srgbClr val="222222"/>
                </a:solidFill>
                <a:latin typeface="Calibri"/>
              </a:rPr>
              <a:t>Do not stare into the LEDs at full brightness from close up.</a:t>
            </a:r>
          </a:p>
          <a:p>
            <a:pPr algn="l">
              <a:lnSpc>
                <a:spcPct val="100000"/>
              </a:lnSpc>
              <a:spcAft>
                <a:spcPts val="600"/>
              </a:spcAft>
              <a:defRPr sz="2000" b="0">
                <a:solidFill>
                  <a:srgbClr val="222222"/>
                </a:solidFill>
                <a:latin typeface="Calibri"/>
              </a:defRPr>
            </a:pPr>
            <a:r>
              <a:rPr sz="2000" b="0">
                <a:solidFill>
                  <a:srgbClr val="222222"/>
                </a:solidFill>
                <a:latin typeface="Calibri"/>
              </a:rPr>
              <a:t>Carry the vehicle by the base plate, not by the top plate or the wires.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Everything in Lesson 2 onwards moves. This page stops being theoretical next lesson.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50</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motors. Bring the drawing you made of the LED numbers.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300" b="0">
                <a:solidFill>
                  <a:srgbClr val="222222"/>
                </a:solidFill>
                <a:latin typeface="Calibri"/>
              </a:defRPr>
            </a:pPr>
            <a:r>
              <a:rPr sz="2300" b="0">
                <a:solidFill>
                  <a:srgbClr val="222222"/>
                </a:solidFill>
                <a:latin typeface="Calibri"/>
              </a:rPr>
              <a:t>1.  Name the three parts of an Arduino program, and say how many times each one runs.</a:t>
            </a:r>
          </a:p>
          <a:p>
            <a:pPr algn="l">
              <a:lnSpc>
                <a:spcPct val="100000"/>
              </a:lnSpc>
              <a:spcAft>
                <a:spcPts val="1100"/>
              </a:spcAft>
              <a:defRPr sz="2300" b="0">
                <a:solidFill>
                  <a:srgbClr val="222222"/>
                </a:solidFill>
                <a:latin typeface="Calibri"/>
              </a:defRPr>
            </a:pPr>
            <a:r>
              <a:rPr sz="2300" b="0">
                <a:solidFill>
                  <a:srgbClr val="222222"/>
                </a:solidFill>
                <a:latin typeface="Calibri"/>
              </a:rPr>
              <a:t>2.  What does pinMode(LED_PIN, OUTPUT) do, and what happens if you leave it out?</a:t>
            </a:r>
          </a:p>
          <a:p>
            <a:pPr algn="l">
              <a:lnSpc>
                <a:spcPct val="100000"/>
              </a:lnSpc>
              <a:spcAft>
                <a:spcPts val="1100"/>
              </a:spcAft>
              <a:defRPr sz="2300" b="0">
                <a:solidFill>
                  <a:srgbClr val="222222"/>
                </a:solidFill>
                <a:latin typeface="Calibri"/>
              </a:defRPr>
            </a:pPr>
            <a:r>
              <a:rPr sz="2300" b="0">
                <a:solidFill>
                  <a:srgbClr val="222222"/>
                </a:solidFill>
                <a:latin typeface="Calibri"/>
              </a:rPr>
              <a:t>3.  Your Serial Monitor shows rows of strange characters. What is almost certainly wrong?</a:t>
            </a:r>
          </a:p>
          <a:p>
            <a:pPr algn="l">
              <a:lnSpc>
                <a:spcPct val="100000"/>
              </a:lnSpc>
              <a:spcAft>
                <a:spcPts val="1100"/>
              </a:spcAft>
              <a:defRPr sz="2300" b="0">
                <a:solidFill>
                  <a:srgbClr val="222222"/>
                </a:solidFill>
                <a:latin typeface="Calibri"/>
              </a:defRPr>
            </a:pPr>
            <a:r>
              <a:rPr sz="2300" b="0">
                <a:solidFill>
                  <a:srgbClr val="222222"/>
                </a:solidFill>
                <a:latin typeface="Calibri"/>
              </a:rPr>
              <a:t>4.  What does 7 / 2 evaluate to in C++? What about 7.0 / 2?</a:t>
            </a:r>
          </a:p>
          <a:p>
            <a:pPr algn="l">
              <a:lnSpc>
                <a:spcPct val="100000"/>
              </a:lnSpc>
              <a:spcAft>
                <a:spcPts val="1100"/>
              </a:spcAft>
              <a:defRPr sz="2300" b="0">
                <a:solidFill>
                  <a:srgbClr val="222222"/>
                </a:solidFill>
                <a:latin typeface="Calibri"/>
              </a:defRPr>
            </a:pPr>
            <a:r>
              <a:rPr sz="2300" b="0">
                <a:solidFill>
                  <a:srgbClr val="222222"/>
                </a:solidFill>
                <a:latin typeface="Calibri"/>
              </a:rPr>
              <a:t>5.  All 32 LEDs share one data wire. How does LED number 20 know that a message is for it?</a:t>
            </a:r>
          </a:p>
          <a:p>
            <a:pPr algn="l">
              <a:lnSpc>
                <a:spcPct val="100000"/>
              </a:lnSpc>
              <a:spcAft>
                <a:spcPts val="1100"/>
              </a:spcAft>
              <a:defRPr sz="2300" b="0">
                <a:solidFill>
                  <a:srgbClr val="222222"/>
                </a:solidFill>
                <a:latin typeface="Calibri"/>
              </a:defRPr>
            </a:pPr>
            <a:r>
              <a:rPr sz="2300" b="0">
                <a:solidFill>
                  <a:srgbClr val="222222"/>
                </a:solidFill>
                <a:latin typeface="Calibri"/>
              </a:rPr>
              <a:t>6.  You call setPixelColor() and nothing lights up. What did you forget?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