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two pads. Ask the room how a vehicle is supposed to tell them apart.</a:t>
            </a:r>
          </a:p>
          <a:p>
            <a:r>
              <a:rPr sz="1200">
                <a:latin typeface="Calibri"/>
              </a:rPr>
              <a:t>The answer is that it cannot, unless somebody writes down which one it belongs to. That is the next slide.</a:t>
            </a:r>
          </a:p>
          <a:p>
            <a:r>
              <a:rPr sz="1200">
                <a:latin typeface="Calibri"/>
              </a:rPr>
              <a:t>This is worth ten seconds of real confusion before you give them the allowlist.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Switch story is the opposite way round: the vehicle keeps a guest list and turns away anything not on it.</a:t>
            </a:r>
          </a:p>
          <a:p>
            <a:r>
              <a:rPr sz="1200">
                <a:latin typeface="Calibri"/>
              </a:rPr>
              <a:t>Allowlist is the right word to teach. It is checked before the connection is accepted, not after.</a:t>
            </a:r>
          </a:p>
          <a:p>
            <a:r>
              <a:rPr sz="1200">
                <a:latin typeface="Calibri"/>
              </a:rPr>
              <a:t>The list is rebuilt at every boot, so the sketch is always the truth. Nothing is remembered behind their backs.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how THEIR program does it - a constant at the top of the file they can see and edit.</a:t>
            </a:r>
          </a:p>
          <a:p>
            <a:r>
              <a:rPr sz="1200">
                <a:latin typeface="Calibri"/>
              </a:rPr>
              <a:t>Four steps, and step 2 does the hard part for them: l3a_controller_check prints a ready-made line to paste.</a:t>
            </a:r>
          </a:p>
          <a:p>
            <a:r>
              <a:rPr sz="1200">
                <a:latin typeface="Calibri"/>
              </a:rPr>
              <a:t>The advanced program stores the address in EEPROM instead, which is better in the field and worse for learning. One sentence,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a:t>
            </a:r>
          </a:p>
          <a:p>
            <a:r>
              <a:rPr sz="1200">
                <a:latin typeface="Calibri"/>
              </a:rPr>
              <a:t>Warn them now that the names in the program are not always the letters printed on the pad. The next slide is the table that sorts it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is the single most useful page in the Switch track. Print it.</a:t>
            </a:r>
          </a:p>
          <a:p>
            <a:r>
              <a:rPr sz="1200">
                <a:latin typeface="Calibri"/>
              </a:rPr>
              <a:t>Bluepad32 names the face buttons by POSITION, Xbox style. So y() is the button MARKED X, because it is the top one.</a:t>
            </a:r>
          </a:p>
          <a:p>
            <a:r>
              <a:rPr sz="1200">
                <a:latin typeface="Calibri"/>
              </a:rPr>
              <a:t>Third-party pads do not always agree with each other. That is exactly why l3a_controller_check exists - measure, do not assume.</a:t>
            </a:r>
          </a:p>
          <a:p>
            <a:r>
              <a:rPr sz="1200">
                <a:latin typeface="Calibri"/>
              </a:rPr>
              <a:t>Have them press each button and tick it off the table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centred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behaviour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Switch controller paired to your vehicle.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r>
              <a:rPr sz="3000" b="0">
                <a:solidFill>
                  <a:srgbClr val="222222"/>
                </a:solidFill>
                <a:latin typeface="Calibri"/>
              </a:rPr>
              <a:t>You know how an H-bridge reverses a motor, and how PWM sets its speed.</a:t>
            </a:r>
          </a:p>
          <a:p>
            <a:pPr algn="l">
              <a:lnSpc>
                <a:spcPct val="100000"/>
              </a:lnSpc>
              <a:spcAft>
                <a:spcPts val="900"/>
              </a:spcAft>
              <a:defRPr sz="3000" b="0">
                <a:solidFill>
                  <a:srgbClr val="222222"/>
                </a:solidFill>
                <a:latin typeface="Calibri"/>
              </a:defRPr>
            </a:pPr>
            <a:r>
              <a:rPr sz="3000" b="0">
                <a:solidFill>
                  <a:srgbClr val="222222"/>
                </a:solidFill>
                <a:latin typeface="Calibri"/>
              </a:rPr>
              <a:t>You measured your own vehicle's minimum turning speed.</a:t>
            </a:r>
          </a:p>
          <a:p>
            <a:pPr algn="l">
              <a:lnSpc>
                <a:spcPct val="100000"/>
              </a:lnSpc>
              <a:spcAft>
                <a:spcPts val="900"/>
              </a:spcAft>
              <a:defRPr sz="3000" b="0">
                <a:solidFill>
                  <a:srgbClr val="222222"/>
                </a:solidFill>
                <a:latin typeface="Calibri"/>
              </a:defRPr>
            </a:pPr>
            <a:r>
              <a:rPr sz="3000" b="0">
                <a:solidFill>
                  <a:srgbClr val="222222"/>
                </a:solidFill>
                <a:latin typeface="Calibri"/>
              </a:rPr>
              <a:t>You drove a square you calculated, and found out why it did not close.</a:t>
            </a:r>
          </a:p>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metres,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90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pads, one room, and the problem that creates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Switch pad in pairing mode connects to whichever vehicle answers first. With twenty vehicles in a classroom, that is a coin toss.</a:t>
            </a:r>
          </a:p>
        </p:txBody>
      </p:sp>
      <p:pic>
        <p:nvPicPr>
          <p:cNvPr id="7" name="Picture 6" descr="switch-controller-pair.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Identical to look at, and identical to a vehicle that is not told which one is its 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So on this track, the VEHICLE is told which controller address it will accept.</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Bluepad32 keeps an ALLOWLIST - a guest list checked BEFORE a connection is accepted. A pad that is not on the list is turned away before it is ever let in.</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uni_bt_allowlist_add_addr(myControllerAddress);</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uni_bt_allowlist_set_enabled(true);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Upload l3a_controller_check and connect your pad.</a:t>
            </a:r>
          </a:p>
          <a:p>
            <a:pPr algn="l">
              <a:lnSpc>
                <a:spcPct val="100000"/>
              </a:lnSpc>
              <a:spcAft>
                <a:spcPts val="900"/>
              </a:spcAft>
              <a:defRPr sz="1800" b="0">
                <a:solidFill>
                  <a:srgbClr val="222222"/>
                </a:solidFill>
                <a:latin typeface="Calibri"/>
              </a:defRPr>
            </a:pPr>
            <a:r>
              <a:rPr sz="1800" b="0">
                <a:solidFill>
                  <a:srgbClr val="222222"/>
                </a:solidFill>
                <a:latin typeface="Calibri"/>
              </a:rPr>
              <a:t>2.  It prints a ready-made MY_CONTROLLER line.</a:t>
            </a:r>
          </a:p>
          <a:p>
            <a:pPr algn="l">
              <a:lnSpc>
                <a:spcPct val="100000"/>
              </a:lnSpc>
              <a:spcAft>
                <a:spcPts val="900"/>
              </a:spcAft>
              <a:defRPr sz="1800" b="0">
                <a:solidFill>
                  <a:srgbClr val="222222"/>
                </a:solidFill>
                <a:latin typeface="Calibri"/>
              </a:defRPr>
            </a:pPr>
            <a:r>
              <a:rPr sz="1800" b="0">
                <a:solidFill>
                  <a:srgbClr val="222222"/>
                </a:solidFill>
                <a:latin typeface="Calibri"/>
              </a:rPr>
              <a:t>3.  Paste that line into the top of the sketch.</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4.  Upload. From now on the vehicle answers only to that pad.</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To change controllers, you edit the sketch and upload again.</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Nothing is hidden. The whole mechanism is visible in the file in front of you, which is exactly what you want while you are still learning what the pieces are.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4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led.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370262"/>
        </p:xfrm>
        <a:graphic>
          <a:graphicData uri="http://schemas.openxmlformats.org/drawingml/2006/table">
            <a:tbl>
              <a:tblPr firstRow="1" bandRow="1">
                <a:tableStyleId>{5C22544A-7EE6-4342-B048-85BDC9FD1C3A}</a:tableStyleId>
              </a:tblPr>
              <a:tblGrid>
                <a:gridCol w="2663298"/>
                <a:gridCol w="4261278"/>
                <a:gridCol w="4261278"/>
              </a:tblGrid>
              <a:tr h="306387">
                <a:tc>
                  <a:txBody>
                    <a:bodyPr/>
                    <a:lstStyle/>
                    <a:p>
                      <a:r>
                        <a:rPr sz="1450" b="1">
                          <a:solidFill>
                            <a:srgbClr val="FFFFFF"/>
                          </a:solidFill>
                          <a:latin typeface="Calibri"/>
                        </a:rPr>
                        <a:t>Printed on the pad</a:t>
                      </a:r>
                    </a:p>
                  </a:txBody>
                  <a:tcPr marL="73152" marT="18288" marB="18288">
                    <a:solidFill>
                      <a:srgbClr val="1F3A5F"/>
                    </a:solidFill>
                  </a:tcPr>
                </a:tc>
                <a:tc>
                  <a:txBody>
                    <a:bodyPr/>
                    <a:lstStyle/>
                    <a:p>
                      <a:r>
                        <a:rPr sz="1450" b="1">
                          <a:solidFill>
                            <a:srgbClr val="FFFFFF"/>
                          </a:solidFill>
                          <a:latin typeface="Calibri"/>
                        </a:rPr>
                        <a:t>In the program</a:t>
                      </a:r>
                    </a:p>
                  </a:txBody>
                  <a:tcPr marL="73152" marT="18288" marB="18288">
                    <a:solidFill>
                      <a:srgbClr val="1F3A5F"/>
                    </a:solidFill>
                  </a:tcPr>
                </a:tc>
                <a:tc>
                  <a:txBody>
                    <a:bodyPr/>
                    <a:lstStyle/>
                    <a:p>
                      <a:r>
                        <a:rPr sz="1450" b="1">
                          <a:solidFill>
                            <a:srgbClr val="FFFFFF"/>
                          </a:solidFill>
                          <a:latin typeface="Calibri"/>
                        </a:rPr>
                        <a:t>Where it is</a:t>
                      </a:r>
                    </a:p>
                  </a:txBody>
                  <a:tcPr marL="73152" marT="18288" marB="18288">
                    <a:solidFill>
                      <a:srgbClr val="1F3A5F"/>
                    </a:solidFill>
                  </a:tcPr>
                </a:tc>
              </a:tr>
              <a:tr h="306387">
                <a:tc>
                  <a:txBody>
                    <a:bodyPr/>
                    <a:lstStyle/>
                    <a:p>
                      <a:r>
                        <a:rPr sz="1450">
                          <a:solidFill>
                            <a:srgbClr val="222222"/>
                          </a:solidFill>
                          <a:latin typeface="Calibri"/>
                        </a:rPr>
                        <a:t>B</a:t>
                      </a:r>
                    </a:p>
                  </a:txBody>
                  <a:tcPr marL="73152" marT="18288" marB="18288">
                    <a:solidFill>
                      <a:srgbClr val="FFFFFF"/>
                    </a:solidFill>
                  </a:tcPr>
                </a:tc>
                <a:tc>
                  <a:txBody>
                    <a:bodyPr/>
                    <a:lstStyle/>
                    <a:p>
                      <a:r>
                        <a:rPr sz="1450">
                          <a:solidFill>
                            <a:srgbClr val="222222"/>
                          </a:solidFill>
                          <a:latin typeface="Calibri"/>
                        </a:rPr>
                        <a:t>myController-&gt;a()</a:t>
                      </a:r>
                    </a:p>
                  </a:txBody>
                  <a:tcPr marL="73152" marT="18288" marB="18288">
                    <a:solidFill>
                      <a:srgbClr val="FFFFFF"/>
                    </a:solidFill>
                  </a:tcPr>
                </a:tc>
                <a:tc>
                  <a:txBody>
                    <a:bodyPr/>
                    <a:lstStyle/>
                    <a:p>
                      <a:r>
                        <a:rPr sz="1450">
                          <a:solidFill>
                            <a:srgbClr val="222222"/>
                          </a:solidFill>
                          <a:latin typeface="Calibri"/>
                        </a:rPr>
                        <a:t>bottom face button</a:t>
                      </a:r>
                    </a:p>
                  </a:txBody>
                  <a:tcPr marL="73152" marT="18288" marB="18288">
                    <a:solidFill>
                      <a:srgbClr val="FFFFFF"/>
                    </a:solidFill>
                  </a:tcPr>
                </a:tc>
              </a:tr>
              <a:tr h="306387">
                <a:tc>
                  <a:txBody>
                    <a:bodyPr/>
                    <a:lstStyle/>
                    <a:p>
                      <a:r>
                        <a:rPr sz="1450">
                          <a:solidFill>
                            <a:srgbClr val="222222"/>
                          </a:solidFill>
                          <a:latin typeface="Calibri"/>
                        </a:rPr>
                        <a:t>A</a:t>
                      </a:r>
                    </a:p>
                  </a:txBody>
                  <a:tcPr marL="73152" marT="18288" marB="18288">
                    <a:solidFill>
                      <a:srgbClr val="EEF3F8"/>
                    </a:solidFill>
                  </a:tcPr>
                </a:tc>
                <a:tc>
                  <a:txBody>
                    <a:bodyPr/>
                    <a:lstStyle/>
                    <a:p>
                      <a:r>
                        <a:rPr sz="1450">
                          <a:solidFill>
                            <a:srgbClr val="222222"/>
                          </a:solidFill>
                          <a:latin typeface="Calibri"/>
                        </a:rPr>
                        <a:t>myController-&gt;b()</a:t>
                      </a:r>
                    </a:p>
                  </a:txBody>
                  <a:tcPr marL="73152" marT="18288" marB="18288">
                    <a:solidFill>
                      <a:srgbClr val="EEF3F8"/>
                    </a:solidFill>
                  </a:tcPr>
                </a:tc>
                <a:tc>
                  <a:txBody>
                    <a:bodyPr/>
                    <a:lstStyle/>
                    <a:p>
                      <a:r>
                        <a:rPr sz="1450">
                          <a:solidFill>
                            <a:srgbClr val="222222"/>
                          </a:solidFill>
                          <a:latin typeface="Calibri"/>
                        </a:rPr>
                        <a:t>right face button</a:t>
                      </a:r>
                    </a:p>
                  </a:txBody>
                  <a:tcPr marL="73152" marT="18288" marB="18288">
                    <a:solidFill>
                      <a:srgbClr val="EEF3F8"/>
                    </a:solidFill>
                  </a:tcPr>
                </a:tc>
              </a:tr>
              <a:tr h="306387">
                <a:tc>
                  <a:txBody>
                    <a:bodyPr/>
                    <a:lstStyle/>
                    <a:p>
                      <a:r>
                        <a:rPr sz="1450">
                          <a:solidFill>
                            <a:srgbClr val="222222"/>
                          </a:solidFill>
                          <a:latin typeface="Calibri"/>
                        </a:rPr>
                        <a:t>Y</a:t>
                      </a:r>
                    </a:p>
                  </a:txBody>
                  <a:tcPr marL="73152" marT="18288" marB="18288">
                    <a:solidFill>
                      <a:srgbClr val="FFFFFF"/>
                    </a:solidFill>
                  </a:tcPr>
                </a:tc>
                <a:tc>
                  <a:txBody>
                    <a:bodyPr/>
                    <a:lstStyle/>
                    <a:p>
                      <a:r>
                        <a:rPr sz="1450">
                          <a:solidFill>
                            <a:srgbClr val="222222"/>
                          </a:solidFill>
                          <a:latin typeface="Calibri"/>
                        </a:rPr>
                        <a:t>myController-&gt;x()</a:t>
                      </a:r>
                    </a:p>
                  </a:txBody>
                  <a:tcPr marL="73152" marT="18288" marB="18288">
                    <a:solidFill>
                      <a:srgbClr val="FFFFFF"/>
                    </a:solidFill>
                  </a:tcPr>
                </a:tc>
                <a:tc>
                  <a:txBody>
                    <a:bodyPr/>
                    <a:lstStyle/>
                    <a:p>
                      <a:r>
                        <a:rPr sz="1450">
                          <a:solidFill>
                            <a:srgbClr val="222222"/>
                          </a:solidFill>
                          <a:latin typeface="Calibri"/>
                        </a:rPr>
                        <a:t>left face button</a:t>
                      </a:r>
                    </a:p>
                  </a:txBody>
                  <a:tcPr marL="73152" marT="18288" marB="18288">
                    <a:solidFill>
                      <a:srgbClr val="FFFFFF"/>
                    </a:solidFill>
                  </a:tcPr>
                </a:tc>
              </a:tr>
              <a:tr h="306387">
                <a:tc>
                  <a:txBody>
                    <a:bodyPr/>
                    <a:lstStyle/>
                    <a:p>
                      <a:r>
                        <a:rPr sz="1450">
                          <a:solidFill>
                            <a:srgbClr val="222222"/>
                          </a:solidFill>
                          <a:latin typeface="Calibri"/>
                        </a:rPr>
                        <a:t>X</a:t>
                      </a:r>
                    </a:p>
                  </a:txBody>
                  <a:tcPr marL="73152" marT="18288" marB="18288">
                    <a:solidFill>
                      <a:srgbClr val="EEF3F8"/>
                    </a:solidFill>
                  </a:tcPr>
                </a:tc>
                <a:tc>
                  <a:txBody>
                    <a:bodyPr/>
                    <a:lstStyle/>
                    <a:p>
                      <a:r>
                        <a:rPr sz="1450">
                          <a:solidFill>
                            <a:srgbClr val="222222"/>
                          </a:solidFill>
                          <a:latin typeface="Calibri"/>
                        </a:rPr>
                        <a:t>myController-&gt;y()</a:t>
                      </a:r>
                    </a:p>
                  </a:txBody>
                  <a:tcPr marL="73152" marT="18288" marB="18288">
                    <a:solidFill>
                      <a:srgbClr val="EEF3F8"/>
                    </a:solidFill>
                  </a:tcPr>
                </a:tc>
                <a:tc>
                  <a:txBody>
                    <a:bodyPr/>
                    <a:lstStyle/>
                    <a:p>
                      <a:r>
                        <a:rPr sz="1450">
                          <a:solidFill>
                            <a:srgbClr val="222222"/>
                          </a:solidFill>
                          <a:latin typeface="Calibri"/>
                        </a:rPr>
                        <a:t>top face button</a:t>
                      </a:r>
                    </a:p>
                  </a:txBody>
                  <a:tcPr marL="73152" marT="18288" marB="18288">
                    <a:solidFill>
                      <a:srgbClr val="EEF3F8"/>
                    </a:solidFill>
                  </a:tcPr>
                </a:tc>
              </a:tr>
              <a:tr h="306387">
                <a:tc>
                  <a:txBody>
                    <a:bodyPr/>
                    <a:lstStyle/>
                    <a:p>
                      <a:r>
                        <a:rPr sz="1450">
                          <a:solidFill>
                            <a:srgbClr val="222222"/>
                          </a:solidFill>
                          <a:latin typeface="Calibri"/>
                        </a:rPr>
                        <a:t>L / R</a:t>
                      </a:r>
                    </a:p>
                  </a:txBody>
                  <a:tcPr marL="73152" marT="18288" marB="18288">
                    <a:solidFill>
                      <a:srgbClr val="FFFFFF"/>
                    </a:solidFill>
                  </a:tcPr>
                </a:tc>
                <a:tc>
                  <a:txBody>
                    <a:bodyPr/>
                    <a:lstStyle/>
                    <a:p>
                      <a:r>
                        <a:rPr sz="1450">
                          <a:solidFill>
                            <a:srgbClr val="222222"/>
                          </a:solidFill>
                          <a:latin typeface="Calibri"/>
                        </a:rPr>
                        <a:t>l1() / r1()</a:t>
                      </a:r>
                    </a:p>
                  </a:txBody>
                  <a:tcPr marL="73152" marT="18288" marB="18288">
                    <a:solidFill>
                      <a:srgbClr val="FFFFFF"/>
                    </a:solidFill>
                  </a:tcPr>
                </a:tc>
                <a:tc>
                  <a:txBody>
                    <a:bodyPr/>
                    <a:lstStyle/>
                    <a:p>
                      <a:r>
                        <a:rPr sz="1450">
                          <a:solidFill>
                            <a:srgbClr val="222222"/>
                          </a:solidFill>
                          <a:latin typeface="Calibri"/>
                        </a:rPr>
                        <a:t>shoulders</a:t>
                      </a:r>
                    </a:p>
                  </a:txBody>
                  <a:tcPr marL="73152" marT="18288" marB="18288">
                    <a:solidFill>
                      <a:srgbClr val="FFFFFF"/>
                    </a:solidFill>
                  </a:tcPr>
                </a:tc>
              </a:tr>
              <a:tr h="306387">
                <a:tc>
                  <a:txBody>
                    <a:bodyPr/>
                    <a:lstStyle/>
                    <a:p>
                      <a:r>
                        <a:rPr sz="1450">
                          <a:solidFill>
                            <a:srgbClr val="222222"/>
                          </a:solidFill>
                          <a:latin typeface="Calibri"/>
                        </a:rPr>
                        <a:t>ZL / ZR</a:t>
                      </a:r>
                    </a:p>
                  </a:txBody>
                  <a:tcPr marL="73152" marT="18288" marB="18288">
                    <a:solidFill>
                      <a:srgbClr val="EEF3F8"/>
                    </a:solidFill>
                  </a:tcPr>
                </a:tc>
                <a:tc>
                  <a:txBody>
                    <a:bodyPr/>
                    <a:lstStyle/>
                    <a:p>
                      <a:r>
                        <a:rPr sz="1450">
                          <a:solidFill>
                            <a:srgbClr val="222222"/>
                          </a:solidFill>
                          <a:latin typeface="Calibri"/>
                        </a:rPr>
                        <a:t>l2() / r2()</a:t>
                      </a:r>
                    </a:p>
                  </a:txBody>
                  <a:tcPr marL="73152" marT="18288" marB="18288">
                    <a:solidFill>
                      <a:srgbClr val="EEF3F8"/>
                    </a:solidFill>
                  </a:tcPr>
                </a:tc>
                <a:tc>
                  <a:txBody>
                    <a:bodyPr/>
                    <a:lstStyle/>
                    <a:p>
                      <a:r>
                        <a:rPr sz="1450">
                          <a:solidFill>
                            <a:srgbClr val="222222"/>
                          </a:solidFill>
                          <a:latin typeface="Calibri"/>
                        </a:rPr>
                        <a:t>triggers</a:t>
                      </a:r>
                    </a:p>
                  </a:txBody>
                  <a:tcPr marL="73152" marT="18288" marB="18288">
                    <a:solidFill>
                      <a:srgbClr val="EEF3F8"/>
                    </a:solidFill>
                  </a:tcPr>
                </a:tc>
              </a:tr>
              <a:tr h="306387">
                <a:tc>
                  <a:txBody>
                    <a:bodyPr/>
                    <a:lstStyle/>
                    <a:p>
                      <a:r>
                        <a:rPr sz="1450">
                          <a:solidFill>
                            <a:srgbClr val="222222"/>
                          </a:solidFill>
                          <a:latin typeface="Calibri"/>
                        </a:rPr>
                        <a:t>stick click</a:t>
                      </a:r>
                    </a:p>
                  </a:txBody>
                  <a:tcPr marL="73152" marT="18288" marB="18288">
                    <a:solidFill>
                      <a:srgbClr val="FFFFFF"/>
                    </a:solidFill>
                  </a:tcPr>
                </a:tc>
                <a:tc>
                  <a:txBody>
                    <a:bodyPr/>
                    <a:lstStyle/>
                    <a:p>
                      <a:r>
                        <a:rPr sz="1450">
                          <a:solidFill>
                            <a:srgbClr val="222222"/>
                          </a:solidFill>
                          <a:latin typeface="Calibri"/>
                        </a:rPr>
                        <a:t>thumbL() / thumbR()</a:t>
                      </a:r>
                    </a:p>
                  </a:txBody>
                  <a:tcPr marL="73152" marT="18288" marB="18288">
                    <a:solidFill>
                      <a:srgbClr val="FFFFFF"/>
                    </a:solidFill>
                  </a:tcPr>
                </a:tc>
                <a:tc>
                  <a:txBody>
                    <a:bodyPr/>
                    <a:lstStyle/>
                    <a:p>
                      <a:r>
                        <a:rPr sz="1450">
                          <a:solidFill>
                            <a:srgbClr val="222222"/>
                          </a:solidFill>
                          <a:latin typeface="Calibri"/>
                        </a:rPr>
                        <a:t>press a stick in</a:t>
                      </a:r>
                    </a:p>
                  </a:txBody>
                  <a:tcPr marL="73152" marT="18288" marB="18288">
                    <a:solidFill>
                      <a:srgbClr val="FFFFFF"/>
                    </a:solidFill>
                  </a:tcPr>
                </a:tc>
              </a:tr>
              <a:tr h="306387">
                <a:tc>
                  <a:txBody>
                    <a:bodyPr/>
                    <a:lstStyle/>
                    <a:p>
                      <a:r>
                        <a:rPr sz="1450">
                          <a:solidFill>
                            <a:srgbClr val="222222"/>
                          </a:solidFill>
                          <a:latin typeface="Calibri"/>
                        </a:rPr>
                        <a:t>D-pad</a:t>
                      </a:r>
                    </a:p>
                  </a:txBody>
                  <a:tcPr marL="73152" marT="18288" marB="18288">
                    <a:solidFill>
                      <a:srgbClr val="EEF3F8"/>
                    </a:solidFill>
                  </a:tcPr>
                </a:tc>
                <a:tc>
                  <a:txBody>
                    <a:bodyPr/>
                    <a:lstStyle/>
                    <a:p>
                      <a:r>
                        <a:rPr sz="1450">
                          <a:solidFill>
                            <a:srgbClr val="222222"/>
                          </a:solidFill>
                          <a:latin typeface="Calibri"/>
                        </a:rPr>
                        <a:t>dpad() &amp; DPAD_UP  etc.</a:t>
                      </a:r>
                    </a:p>
                  </a:txBody>
                  <a:tcPr marL="73152" marT="18288" marB="18288">
                    <a:solidFill>
                      <a:srgbClr val="EEF3F8"/>
                    </a:solidFill>
                  </a:tcPr>
                </a:tc>
                <a:tc>
                  <a:txBody>
                    <a:bodyPr/>
                    <a:lstStyle/>
                    <a:p>
                      <a:r>
                        <a:rPr sz="1450">
                          <a:solidFill>
                            <a:srgbClr val="222222"/>
                          </a:solidFill>
                          <a:latin typeface="Calibri"/>
                        </a:rPr>
                        <a:t>one number, one bit per direction</a:t>
                      </a:r>
                    </a:p>
                  </a:txBody>
                  <a:tcPr marL="73152" marT="18288" marB="18288">
                    <a:solidFill>
                      <a:srgbClr val="EEF3F8"/>
                    </a:solidFill>
                  </a:tcPr>
                </a:tc>
              </a:tr>
              <a:tr h="306387">
                <a:tc>
                  <a:txBody>
                    <a:bodyPr/>
                    <a:lstStyle/>
                    <a:p>
                      <a:r>
                        <a:rPr sz="1450">
                          <a:solidFill>
                            <a:srgbClr val="222222"/>
                          </a:solidFill>
                          <a:latin typeface="Calibri"/>
                        </a:rPr>
                        <a:t>left stick</a:t>
                      </a:r>
                    </a:p>
                  </a:txBody>
                  <a:tcPr marL="73152" marT="18288" marB="18288">
                    <a:solidFill>
                      <a:srgbClr val="FFFFFF"/>
                    </a:solidFill>
                  </a:tcPr>
                </a:tc>
                <a:tc>
                  <a:txBody>
                    <a:bodyPr/>
                    <a:lstStyle/>
                    <a:p>
                      <a:r>
                        <a:rPr sz="1450">
                          <a:solidFill>
                            <a:srgbClr val="222222"/>
                          </a:solidFill>
                          <a:latin typeface="Calibri"/>
                        </a:rPr>
                        <a:t>axisX() / axisY()</a:t>
                      </a:r>
                    </a:p>
                  </a:txBody>
                  <a:tcPr marL="73152" marT="18288" marB="18288">
                    <a:solidFill>
                      <a:srgbClr val="FFFFFF"/>
                    </a:solidFill>
                  </a:tcPr>
                </a:tc>
                <a:tc>
                  <a:txBody>
                    <a:bodyPr/>
                    <a:lstStyle/>
                    <a:p>
                      <a:r>
                        <a:rPr sz="1450">
                          <a:solidFill>
                            <a:srgbClr val="222222"/>
                          </a:solidFill>
                          <a:latin typeface="Calibri"/>
                        </a:rPr>
                        <a:t>-512 to +511</a:t>
                      </a:r>
                    </a:p>
                  </a:txBody>
                  <a:tcPr marL="73152" marT="18288" marB="18288">
                    <a:solidFill>
                      <a:srgbClr val="FFFFFF"/>
                    </a:solidFill>
                  </a:tcPr>
                </a:tc>
              </a:tr>
              <a:tr h="306392">
                <a:tc>
                  <a:txBody>
                    <a:bodyPr/>
                    <a:lstStyle/>
                    <a:p>
                      <a:r>
                        <a:rPr sz="1450">
                          <a:solidFill>
                            <a:srgbClr val="222222"/>
                          </a:solidFill>
                          <a:latin typeface="Calibri"/>
                        </a:rPr>
                        <a:t>right stick</a:t>
                      </a:r>
                    </a:p>
                  </a:txBody>
                  <a:tcPr marL="73152" marT="18288" marB="18288">
                    <a:solidFill>
                      <a:srgbClr val="EEF3F8"/>
                    </a:solidFill>
                  </a:tcPr>
                </a:tc>
                <a:tc>
                  <a:txBody>
                    <a:bodyPr/>
                    <a:lstStyle/>
                    <a:p>
                      <a:r>
                        <a:rPr sz="1450">
                          <a:solidFill>
                            <a:srgbClr val="222222"/>
                          </a:solidFill>
                          <a:latin typeface="Calibri"/>
                        </a:rPr>
                        <a:t>axisRX() / axisRY()</a:t>
                      </a:r>
                    </a:p>
                  </a:txBody>
                  <a:tcPr marL="73152" marT="18288" marB="18288">
                    <a:solidFill>
                      <a:srgbClr val="EEF3F8"/>
                    </a:solidFill>
                  </a:tcPr>
                </a:tc>
                <a:tc>
                  <a:txBody>
                    <a:bodyPr/>
                    <a:lstStyle/>
                    <a:p>
                      <a:r>
                        <a:rPr sz="145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buttons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 button is either pressed or it is not. true or false.</a:t>
            </a:r>
          </a:p>
          <a:p>
            <a:pPr algn="l">
              <a:lnSpc>
                <a:spcPct val="100000"/>
              </a:lnSpc>
              <a:spcAft>
                <a:spcPts val="800"/>
              </a:spcAft>
              <a:defRPr sz="2000" b="0">
                <a:solidFill>
                  <a:srgbClr val="222222"/>
                </a:solidFill>
                <a:latin typeface="Calibri"/>
              </a:defRPr>
            </a:pPr>
            <a:r>
              <a:rPr sz="2000" b="0">
                <a:solidFill>
                  <a:srgbClr val="222222"/>
                </a:solidFill>
                <a:latin typeface="Calibri"/>
              </a:rPr>
              <a:t>Face buttons, D-pad, shoulders, triggers, and clicking the sticks in.</a:t>
            </a:r>
          </a:p>
          <a:p>
            <a:pPr algn="l">
              <a:lnSpc>
                <a:spcPct val="100000"/>
              </a:lnSpc>
              <a:spcAft>
                <a:spcPts val="800"/>
              </a:spcAft>
              <a:defRPr sz="2000" b="0">
                <a:solidFill>
                  <a:srgbClr val="222222"/>
                </a:solidFill>
                <a:latin typeface="Calibri"/>
              </a:defRPr>
            </a:pPr>
            <a:r>
              <a:rPr sz="2000" b="0">
                <a:solidFill>
                  <a:srgbClr val="222222"/>
                </a:solidFill>
                <a:latin typeface="Calibri"/>
              </a:rPr>
              <a:t>Good for: on/off, mode changes, one-shot actions.</a:t>
            </a:r>
          </a:p>
          <a:p>
            <a:pPr algn="l">
              <a:lnSpc>
                <a:spcPct val="100000"/>
              </a:lnSpc>
              <a:spcAft>
                <a:spcPts val="800"/>
              </a:spcAft>
              <a:defRPr sz="2000" b="0">
                <a:solidFill>
                  <a:srgbClr val="222222"/>
                </a:solidFill>
                <a:latin typeface="Calibri"/>
              </a:defRPr>
            </a:pPr>
          </a:p>
          <a:p>
            <a:pPr algn="l">
              <a:lnSpc>
                <a:spcPct val="100000"/>
              </a:lnSpc>
              <a:spcAft>
                <a:spcPts val="800"/>
              </a:spcAft>
              <a:defRPr sz="2000" b="0">
                <a:solidFill>
                  <a:srgbClr val="222222"/>
                </a:solidFill>
                <a:latin typeface="Calibri"/>
              </a:defRPr>
            </a:pPr>
            <a:r>
              <a:rPr sz="2000" b="0">
                <a:solidFill>
                  <a:srgbClr val="222222"/>
                </a:solidFill>
                <a:latin typeface="Calibri"/>
              </a:rPr>
              <a:t>On this track:</a:t>
            </a:r>
          </a:p>
          <a:p>
            <a:pPr lvl="1" algn="l">
              <a:lnSpc>
                <a:spcPct val="100000"/>
              </a:lnSpc>
              <a:spcAft>
                <a:spcPts val="800"/>
              </a:spcAft>
              <a:defRPr sz="2000" b="0">
                <a:solidFill>
                  <a:srgbClr val="222222"/>
                </a:solidFill>
                <a:latin typeface="Calibri"/>
              </a:defRPr>
            </a:pPr>
            <a:r>
              <a:rPr sz="2000" b="0">
                <a:solidFill>
                  <a:srgbClr val="222222"/>
                </a:solidFill>
                <a:latin typeface="Calibri"/>
              </a:rPr>
              <a:t>myController-&gt;x()</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thumbsticks</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stick reports HOW FAR it is pushed, on two axes.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 each axis reads -512 to +511.</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algn="l">
              <a:lnSpc>
                <a:spcPct val="100000"/>
              </a:lnSpc>
              <a:spcAft>
                <a:spcPts val="800"/>
              </a:spcAft>
              <a:defRPr sz="190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ROTATION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Roll  -  tipping left or right about the fore-aft axis</a:t>
            </a:r>
          </a:p>
          <a:p>
            <a:pPr lvl="1" algn="l">
              <a:lnSpc>
                <a:spcPct val="100000"/>
              </a:lnSpc>
              <a:spcAft>
                <a:spcPts val="900"/>
              </a:spcAft>
              <a:defRPr sz="1800" b="0">
                <a:solidFill>
                  <a:srgbClr val="222222"/>
                </a:solidFill>
                <a:latin typeface="Calibri"/>
              </a:defRPr>
            </a:pPr>
            <a:r>
              <a:rPr sz="1800" b="0">
                <a:solidFill>
                  <a:srgbClr val="222222"/>
                </a:solidFill>
                <a:latin typeface="Calibri"/>
              </a:rPr>
              <a:t>Pitch  -  nose up or nose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Yaw  -  turning left or right, which is your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Switch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Hold the SYNC button until the controller lights run.</a:t>
            </a:r>
          </a:p>
          <a:p>
            <a:pPr algn="l">
              <a:lnSpc>
                <a:spcPct val="100000"/>
              </a:lnSpc>
              <a:spcAft>
                <a:spcPts val="8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800"/>
              </a:spcAft>
              <a:defRPr sz="1800" b="0">
                <a:solidFill>
                  <a:srgbClr val="222222"/>
                </a:solidFill>
                <a:latin typeface="Calibri"/>
              </a:defRPr>
            </a:pPr>
            <a:r>
              <a:rPr sz="1800" b="0">
                <a:solidFill>
                  <a:srgbClr val="222222"/>
                </a:solidFill>
                <a:latin typeface="Calibri"/>
              </a:rPr>
              <a:t>4.  Push the left stick fully UP. Positive or negative?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A line for every press, every release, and every stick movement.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Which way is negative on the Y axis?</a:t>
            </a:r>
          </a:p>
          <a:p>
            <a:pPr algn="l">
              <a:lnSpc>
                <a:spcPct val="100000"/>
              </a:lnSpc>
              <a:spcAft>
                <a:spcPts val="300"/>
              </a:spcAft>
              <a:defRPr sz="2600" b="0">
                <a:solidFill>
                  <a:srgbClr val="222222"/>
                </a:solidFill>
                <a:latin typeface="Calibri"/>
              </a:defRPr>
            </a:pPr>
            <a:r>
              <a:rPr sz="2600" b="0">
                <a:solidFill>
                  <a:srgbClr val="222222"/>
                </a:solidFill>
                <a:latin typeface="Calibri"/>
              </a:rPr>
              <a:t>How far does your stick drift when nobody is touching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Do it now  -  what does the controller actually send?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p>
        </p:txBody>
      </p:sp>
      <p:sp>
        <p:nvSpPr>
          <p:cNvPr id="7" name="TextBox 6"/>
          <p:cNvSpPr txBox="1"/>
          <p:nvPr/>
        </p:nvSpPr>
        <p:spPr>
          <a:xfrm>
            <a:off x="502920" y="1901952"/>
            <a:ext cx="11185855"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8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800"/>
              </a:spcAft>
              <a:defRPr sz="1800" b="0">
                <a:solidFill>
                  <a:srgbClr val="222222"/>
                </a:solidFill>
                <a:latin typeface="Calibri"/>
              </a:defRPr>
            </a:pPr>
            <a:r>
              <a:rPr sz="1800" b="0">
                <a:solidFill>
                  <a:srgbClr val="222222"/>
                </a:solidFill>
                <a:latin typeface="Calibri"/>
              </a:rPr>
              <a:t>7.  Copy the MY_CONTROLLER line it prints. You need it all 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thumbstick that has been thumbed by a hundred students does not come back to exactly zero.</a:t>
            </a:r>
          </a:p>
          <a:p>
            <a:pPr algn="l">
              <a:lnSpc>
                <a:spcPct val="100000"/>
              </a:lnSpc>
              <a:spcAft>
                <a:spcPts val="600"/>
              </a:spcAft>
              <a:defRPr sz="1800" b="0">
                <a:solidFill>
                  <a:srgbClr val="222222"/>
                </a:solidFill>
                <a:latin typeface="Calibri"/>
              </a:defRPr>
            </a:pPr>
            <a:r>
              <a:rPr sz="1800" b="0">
                <a:solidFill>
                  <a:srgbClr val="222222"/>
                </a:solidFill>
                <a:latin typeface="Calibri"/>
              </a:rPr>
              <a:t>You just measured it. Yours probably reads a few counts either side of centre when nobody is touching it.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answer is a DEADZONE: any reading smaller than a threshold is treated as a firm, deliberate zero.</a:t>
            </a:r>
          </a:p>
          <a:p>
            <a:pPr algn="l">
              <a:lnSpc>
                <a:spcPct val="100000"/>
              </a:lnSpc>
              <a:spcAft>
                <a:spcPts val="600"/>
              </a:spcAft>
              <a:defRPr sz="1800" b="0">
                <a:solidFill>
                  <a:srgbClr val="222222"/>
                </a:solidFill>
                <a:latin typeface="Calibri"/>
              </a:defRPr>
            </a:pPr>
            <a:r>
              <a:rPr sz="1800" b="0">
                <a:solidFill>
                  <a:srgbClr val="222222"/>
                </a:solidFill>
                <a:latin typeface="Calibri"/>
              </a:rPr>
              <a:t>On this track the deadzone is 60, which is about 12% of the stick travel.</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Too small and the vehicle creeps. Too big and you waste the stick.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511</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653102"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1921582"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60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511,</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511, 0, 255)   -&gt;    0</a:t>
            </a:r>
          </a:p>
          <a:p>
            <a:pPr algn="l">
              <a:lnSpc>
                <a:spcPct val="100000"/>
              </a:lnSpc>
              <a:spcAft>
                <a:spcPts val="0"/>
              </a:spcAft>
              <a:defRPr sz="1650">
                <a:latin typeface="Consolas"/>
              </a:defRPr>
            </a:pPr>
            <a:r>
              <a:rPr sz="1650">
                <a:solidFill>
                  <a:srgbClr val="222222"/>
                </a:solidFill>
                <a:latin typeface="Consolas"/>
              </a:rPr>
              <a:t>map(255, 0, 255, 0, 255)   -&gt;  127</a:t>
            </a:r>
          </a:p>
          <a:p>
            <a:pPr algn="l">
              <a:lnSpc>
                <a:spcPct val="100000"/>
              </a:lnSpc>
              <a:spcAft>
                <a:spcPts val="0"/>
              </a:spcAft>
              <a:defRPr sz="1650">
                <a:latin typeface="Consolas"/>
              </a:defRPr>
            </a:pPr>
            <a:r>
              <a:rPr sz="1650">
                <a:solidFill>
                  <a:srgbClr val="222222"/>
                </a:solidFill>
                <a:latin typeface="Consolas"/>
              </a:rPr>
              <a:t>map(511, 0, 511,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Nothing moves - this is print only.</a:t>
            </a:r>
          </a:p>
          <a:p>
            <a:pPr algn="l">
              <a:lnSpc>
                <a:spcPct val="100000"/>
              </a:lnSpc>
              <a:spcAft>
                <a:spcPts val="800"/>
              </a:spcAft>
              <a:defRPr sz="1800" b="0">
                <a:solidFill>
                  <a:srgbClr val="222222"/>
                </a:solidFill>
                <a:latin typeface="Calibri"/>
              </a:defRPr>
            </a:pPr>
            <a:r>
              <a:rPr sz="1800" b="0">
                <a:solidFill>
                  <a:srgbClr val="222222"/>
                </a:solidFill>
                <a:latin typeface="Calibri"/>
              </a:rPr>
              <a:t>2.  Push the stick VERY slowly from centre to full forward. Watch both columns. Where does the speed stop being 0?</a:t>
            </a:r>
          </a:p>
          <a:p>
            <a:pPr algn="l">
              <a:lnSpc>
                <a:spcPct val="100000"/>
              </a:lnSpc>
              <a:spcAft>
                <a:spcPts val="800"/>
              </a:spcAft>
              <a:defRPr sz="1800" b="0">
                <a:solidFill>
                  <a:srgbClr val="222222"/>
                </a:solidFill>
                <a:latin typeface="Calibri"/>
              </a:defRPr>
            </a:pPr>
            <a:r>
              <a:rPr sz="1800" b="0">
                <a:solidFill>
                  <a:srgbClr val="222222"/>
                </a:solidFill>
                <a:latin typeface="Calibri"/>
              </a:rPr>
              <a:t>3.  Set STICK_DEADZONE to 0. Upload. Put the controller down and do not touch it. Does the speed stay at 0?</a:t>
            </a:r>
          </a:p>
          <a:p>
            <a:pPr algn="l">
              <a:lnSpc>
                <a:spcPct val="100000"/>
              </a:lnSpc>
              <a:spcAft>
                <a:spcPts val="800"/>
              </a:spcAft>
              <a:defRPr sz="1800" b="0">
                <a:solidFill>
                  <a:srgbClr val="222222"/>
                </a:solidFill>
                <a:latin typeface="Calibri"/>
              </a:defRPr>
            </a:pPr>
            <a:r>
              <a:rPr sz="1800" b="0">
                <a:solidFill>
                  <a:srgbClr val="222222"/>
                </a:solidFill>
                <a:latin typeface="Calibri"/>
              </a:rPr>
              <a:t>4.  Set it to 408. How much of the stick is now wasted?</a:t>
            </a:r>
          </a:p>
          <a:p>
            <a:pPr algn="l">
              <a:lnSpc>
                <a:spcPct val="100000"/>
              </a:lnSpc>
              <a:spcAft>
                <a:spcPts val="800"/>
              </a:spcAft>
              <a:defRPr sz="1800" b="0">
                <a:solidFill>
                  <a:srgbClr val="222222"/>
                </a:solidFill>
                <a:latin typeface="Calibri"/>
              </a:defRPr>
            </a:pPr>
            <a:r>
              <a:rPr sz="18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Two columns: the raw number from the controller, and the motor speed it turns into.</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With the deadzone at 0, what does the vehicle do when nobody is holding the controller?</a:t>
            </a:r>
          </a:p>
          <a:p>
            <a:pPr algn="l">
              <a:lnSpc>
                <a:spcPct val="100000"/>
              </a:lnSpc>
              <a:spcAft>
                <a:spcPts val="300"/>
              </a:spcAft>
              <a:defRPr sz="2000" b="0">
                <a:solidFill>
                  <a:srgbClr val="222222"/>
                </a:solidFill>
                <a:latin typeface="Calibri"/>
              </a:defRPr>
            </a:pPr>
            <a:r>
              <a:rPr sz="2000" b="0">
                <a:solidFill>
                  <a:srgbClr val="222222"/>
                </a:solidFill>
                <a:latin typeface="Calibri"/>
              </a:rPr>
              <a:t>What does MOTOR_MIN = 60 change, and when would you want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left = forward + turn        right = forward - turn</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Driving gets the full MOTOR_MAX of 255.</a:t>
            </a:r>
          </a:p>
          <a:p>
            <a:pPr algn="l">
              <a:lnSpc>
                <a:spcPct val="100000"/>
              </a:lnSpc>
              <a:spcAft>
                <a:spcPts val="600"/>
              </a:spcAft>
              <a:defRPr sz="1800" b="0">
                <a:solidFill>
                  <a:srgbClr val="222222"/>
                </a:solidFill>
                <a:latin typeface="Calibri"/>
              </a:defRPr>
            </a:pPr>
            <a:r>
              <a:rPr sz="1800" b="0">
                <a:solidFill>
                  <a:srgbClr val="222222"/>
                </a:solidFill>
                <a:latin typeface="Calibri"/>
              </a:rPr>
              <a:t>Steering gets turnMax, which is HALF of that by default.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(myController == nullptr || !myController-&gt;isConnected())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myController-&gt;axisX();</a:t>
            </a:r>
          </a:p>
          <a:p>
            <a:pPr algn="l">
              <a:lnSpc>
                <a:spcPct val="100000"/>
              </a:lnSpc>
              <a:spcAft>
                <a:spcPts val="0"/>
              </a:spcAft>
              <a:defRPr sz="1400">
                <a:latin typeface="Consolas"/>
              </a:defRPr>
            </a:pPr>
            <a:r>
              <a:rPr sz="1400">
                <a:solidFill>
                  <a:srgbClr val="222222"/>
                </a:solidFill>
                <a:latin typeface="Consolas"/>
              </a:rPr>
              <a:t>  int leftStickY = myController-&gt;axisY();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Now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controller off. What happens?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A vehicle that goes where you point it.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What happened when the controller switched off, and which four lines made that happen?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and drive again. Which is easier?</a:t>
            </a:r>
          </a:p>
          <a:p>
            <a:pPr algn="l">
              <a:lnSpc>
                <a:spcPct val="100000"/>
              </a:lnSpc>
              <a:spcAft>
                <a:spcPts val="800"/>
              </a:spcAft>
              <a:defRPr sz="1800" b="0">
                <a:solidFill>
                  <a:srgbClr val="222222"/>
                </a:solidFill>
                <a:latin typeface="Calibri"/>
              </a:defRPr>
            </a:pPr>
            <a:r>
              <a:rPr sz="1800" b="0">
                <a:solidFill>
                  <a:srgbClr val="222222"/>
                </a:solidFill>
                <a:latin typeface="Calibri"/>
              </a:rPr>
              <a:t>5.  Swap the + and the - in the mixing lines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Try  right = forward  with no turn term at all. Why is that a worse way to steer?</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behaviour is to STOP. Not carry on with the last command, and not do something clever.</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centred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colour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