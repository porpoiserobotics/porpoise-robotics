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behaviour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Slow down. This is the most transferable idea in the whole course.</a:t>
            </a:r>
          </a:p>
          <a:p>
            <a:r>
              <a:rPr sz="1200">
                <a:latin typeface="Calibri"/>
              </a:rPr>
              <a:t>The only safe behaviour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32829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2:20</a:t>
                      </a:r>
                    </a:p>
                  </a:txBody>
                  <a:tcPr marL="73152" marT="18288" marB="18288">
                    <a:solidFill>
                      <a:srgbClr val="EEF3F8"/>
                    </a:solidFill>
                  </a:tcPr>
                </a:tc>
                <a:tc>
                  <a:txBody>
                    <a:bodyPr/>
                    <a:lstStyle/>
                    <a:p>
                      <a:r>
                        <a:rPr sz="1400">
                          <a:solidFill>
                            <a:srgbClr val="222222"/>
                          </a:solidFill>
                          <a:latin typeface="Calibri"/>
                        </a:rPr>
                        <a:t>Mixing forward and turn</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Upload l3c_tank_drive. Drive it</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800" b="0">
                <a:solidFill>
                  <a:srgbClr val="222222"/>
                </a:solidFill>
                <a:latin typeface="Calibri"/>
              </a:defRPr>
            </a:pPr>
            <a:r>
              <a:rPr sz="18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800" b="0">
                <a:solidFill>
                  <a:srgbClr val="222222"/>
                </a:solidFill>
                <a:latin typeface="Calibri"/>
              </a:defRPr>
            </a:pPr>
            <a:r>
              <a:rPr sz="1800" b="0">
                <a:solidFill>
                  <a:srgbClr val="222222"/>
                </a:solidFill>
                <a:latin typeface="Calibri"/>
              </a:rPr>
              <a:t>Range is tens of metres, and it goes down sharply if somebody stands between the pad and the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Bluetooth built into the chip. That is a large part of why we use it.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uni_bt_allowlist_add_addr(myControllerAddress);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108325"/>
        </p:xfrm>
        <a:graphic>
          <a:graphicData uri="http://schemas.openxmlformats.org/drawingml/2006/table">
            <a:tbl>
              <a:tblPr firstRow="1" bandRow="1">
                <a:tableStyleId>{5C22544A-7EE6-4342-B048-85BDC9FD1C3A}</a:tableStyleId>
              </a:tblPr>
              <a:tblGrid>
                <a:gridCol w="2663298"/>
                <a:gridCol w="4261278"/>
                <a:gridCol w="4261278"/>
              </a:tblGrid>
              <a:tr h="282575">
                <a:tc>
                  <a:txBody>
                    <a:bodyPr/>
                    <a:lstStyle/>
                    <a:p>
                      <a:r>
                        <a:rPr sz="1300" b="1">
                          <a:solidFill>
                            <a:srgbClr val="FFFFFF"/>
                          </a:solidFill>
                          <a:latin typeface="Calibri"/>
                        </a:rPr>
                        <a:t>Printed on the pad</a:t>
                      </a:r>
                    </a:p>
                  </a:txBody>
                  <a:tcPr marL="73152" marT="18288" marB="18288">
                    <a:solidFill>
                      <a:srgbClr val="1F3A5F"/>
                    </a:solidFill>
                  </a:tcPr>
                </a:tc>
                <a:tc>
                  <a:txBody>
                    <a:bodyPr/>
                    <a:lstStyle/>
                    <a:p>
                      <a:r>
                        <a:rPr sz="1300" b="1">
                          <a:solidFill>
                            <a:srgbClr val="FFFFFF"/>
                          </a:solidFill>
                          <a:latin typeface="Calibri"/>
                        </a:rPr>
                        <a:t>In the program</a:t>
                      </a:r>
                    </a:p>
                  </a:txBody>
                  <a:tcPr marL="73152" marT="18288" marB="18288">
                    <a:solidFill>
                      <a:srgbClr val="1F3A5F"/>
                    </a:solidFill>
                  </a:tcPr>
                </a:tc>
                <a:tc>
                  <a:txBody>
                    <a:bodyPr/>
                    <a:lstStyle/>
                    <a:p>
                      <a:r>
                        <a:rPr sz="1300" b="1">
                          <a:solidFill>
                            <a:srgbClr val="FFFFFF"/>
                          </a:solidFill>
                          <a:latin typeface="Calibri"/>
                        </a:rPr>
                        <a:t>Where it is</a:t>
                      </a:r>
                    </a:p>
                  </a:txBody>
                  <a:tcPr marL="73152" marT="18288" marB="18288">
                    <a:solidFill>
                      <a:srgbClr val="1F3A5F"/>
                    </a:solidFill>
                  </a:tcPr>
                </a:tc>
              </a:tr>
              <a:tr h="282575">
                <a:tc>
                  <a:txBody>
                    <a:bodyPr/>
                    <a:lstStyle/>
                    <a:p>
                      <a:r>
                        <a:rPr sz="1300">
                          <a:solidFill>
                            <a:srgbClr val="222222"/>
                          </a:solidFill>
                          <a:latin typeface="Calibri"/>
                        </a:rPr>
                        <a:t>B</a:t>
                      </a:r>
                    </a:p>
                  </a:txBody>
                  <a:tcPr marL="73152" marT="18288" marB="18288">
                    <a:solidFill>
                      <a:srgbClr val="FFFFFF"/>
                    </a:solidFill>
                  </a:tcPr>
                </a:tc>
                <a:tc>
                  <a:txBody>
                    <a:bodyPr/>
                    <a:lstStyle/>
                    <a:p>
                      <a:r>
                        <a:rPr sz="1300">
                          <a:solidFill>
                            <a:srgbClr val="222222"/>
                          </a:solidFill>
                          <a:latin typeface="Calibri"/>
                        </a:rPr>
                        <a:t>myController-&gt;a()</a:t>
                      </a:r>
                    </a:p>
                  </a:txBody>
                  <a:tcPr marL="73152" marT="18288" marB="18288">
                    <a:solidFill>
                      <a:srgbClr val="FFFFFF"/>
                    </a:solidFill>
                  </a:tcPr>
                </a:tc>
                <a:tc>
                  <a:txBody>
                    <a:bodyPr/>
                    <a:lstStyle/>
                    <a:p>
                      <a:r>
                        <a:rPr sz="1300">
                          <a:solidFill>
                            <a:srgbClr val="222222"/>
                          </a:solidFill>
                          <a:latin typeface="Calibri"/>
                        </a:rPr>
                        <a:t>bottom face button</a:t>
                      </a:r>
                    </a:p>
                  </a:txBody>
                  <a:tcPr marL="73152" marT="18288" marB="18288">
                    <a:solidFill>
                      <a:srgbClr val="FFFFFF"/>
                    </a:solidFill>
                  </a:tcPr>
                </a:tc>
              </a:tr>
              <a:tr h="282575">
                <a:tc>
                  <a:txBody>
                    <a:bodyPr/>
                    <a:lstStyle/>
                    <a:p>
                      <a:r>
                        <a:rPr sz="1300">
                          <a:solidFill>
                            <a:srgbClr val="222222"/>
                          </a:solidFill>
                          <a:latin typeface="Calibri"/>
                        </a:rPr>
                        <a:t>A</a:t>
                      </a:r>
                    </a:p>
                  </a:txBody>
                  <a:tcPr marL="73152" marT="18288" marB="18288">
                    <a:solidFill>
                      <a:srgbClr val="EEF3F8"/>
                    </a:solidFill>
                  </a:tcPr>
                </a:tc>
                <a:tc>
                  <a:txBody>
                    <a:bodyPr/>
                    <a:lstStyle/>
                    <a:p>
                      <a:r>
                        <a:rPr sz="1300">
                          <a:solidFill>
                            <a:srgbClr val="222222"/>
                          </a:solidFill>
                          <a:latin typeface="Calibri"/>
                        </a:rPr>
                        <a:t>myController-&gt;b()</a:t>
                      </a:r>
                    </a:p>
                  </a:txBody>
                  <a:tcPr marL="73152" marT="18288" marB="18288">
                    <a:solidFill>
                      <a:srgbClr val="EEF3F8"/>
                    </a:solidFill>
                  </a:tcPr>
                </a:tc>
                <a:tc>
                  <a:txBody>
                    <a:bodyPr/>
                    <a:lstStyle/>
                    <a:p>
                      <a:r>
                        <a:rPr sz="1300">
                          <a:solidFill>
                            <a:srgbClr val="222222"/>
                          </a:solidFill>
                          <a:latin typeface="Calibri"/>
                        </a:rPr>
                        <a:t>right face button</a:t>
                      </a:r>
                    </a:p>
                  </a:txBody>
                  <a:tcPr marL="73152" marT="18288" marB="18288">
                    <a:solidFill>
                      <a:srgbClr val="EEF3F8"/>
                    </a:solidFill>
                  </a:tcPr>
                </a:tc>
              </a:tr>
              <a:tr h="282575">
                <a:tc>
                  <a:txBody>
                    <a:bodyPr/>
                    <a:lstStyle/>
                    <a:p>
                      <a:r>
                        <a:rPr sz="1300">
                          <a:solidFill>
                            <a:srgbClr val="222222"/>
                          </a:solidFill>
                          <a:latin typeface="Calibri"/>
                        </a:rPr>
                        <a:t>Y</a:t>
                      </a:r>
                    </a:p>
                  </a:txBody>
                  <a:tcPr marL="73152" marT="18288" marB="18288">
                    <a:solidFill>
                      <a:srgbClr val="FFFFFF"/>
                    </a:solidFill>
                  </a:tcPr>
                </a:tc>
                <a:tc>
                  <a:txBody>
                    <a:bodyPr/>
                    <a:lstStyle/>
                    <a:p>
                      <a:r>
                        <a:rPr sz="1300">
                          <a:solidFill>
                            <a:srgbClr val="222222"/>
                          </a:solidFill>
                          <a:latin typeface="Calibri"/>
                        </a:rPr>
                        <a:t>myController-&gt;x()</a:t>
                      </a:r>
                    </a:p>
                  </a:txBody>
                  <a:tcPr marL="73152" marT="18288" marB="18288">
                    <a:solidFill>
                      <a:srgbClr val="FFFFFF"/>
                    </a:solidFill>
                  </a:tcPr>
                </a:tc>
                <a:tc>
                  <a:txBody>
                    <a:bodyPr/>
                    <a:lstStyle/>
                    <a:p>
                      <a:r>
                        <a:rPr sz="1300">
                          <a:solidFill>
                            <a:srgbClr val="222222"/>
                          </a:solidFill>
                          <a:latin typeface="Calibri"/>
                        </a:rPr>
                        <a:t>left face button</a:t>
                      </a:r>
                    </a:p>
                  </a:txBody>
                  <a:tcPr marL="73152" marT="18288" marB="18288">
                    <a:solidFill>
                      <a:srgbClr val="FFFFFF"/>
                    </a:solidFill>
                  </a:tcPr>
                </a:tc>
              </a:tr>
              <a:tr h="282575">
                <a:tc>
                  <a:txBody>
                    <a:bodyPr/>
                    <a:lstStyle/>
                    <a:p>
                      <a:r>
                        <a:rPr sz="1300">
                          <a:solidFill>
                            <a:srgbClr val="222222"/>
                          </a:solidFill>
                          <a:latin typeface="Calibri"/>
                        </a:rPr>
                        <a:t>X</a:t>
                      </a:r>
                    </a:p>
                  </a:txBody>
                  <a:tcPr marL="73152" marT="18288" marB="18288">
                    <a:solidFill>
                      <a:srgbClr val="EEF3F8"/>
                    </a:solidFill>
                  </a:tcPr>
                </a:tc>
                <a:tc>
                  <a:txBody>
                    <a:bodyPr/>
                    <a:lstStyle/>
                    <a:p>
                      <a:r>
                        <a:rPr sz="1300">
                          <a:solidFill>
                            <a:srgbClr val="222222"/>
                          </a:solidFill>
                          <a:latin typeface="Calibri"/>
                        </a:rPr>
                        <a:t>myController-&gt;y()</a:t>
                      </a:r>
                    </a:p>
                  </a:txBody>
                  <a:tcPr marL="73152" marT="18288" marB="18288">
                    <a:solidFill>
                      <a:srgbClr val="EEF3F8"/>
                    </a:solidFill>
                  </a:tcPr>
                </a:tc>
                <a:tc>
                  <a:txBody>
                    <a:bodyPr/>
                    <a:lstStyle/>
                    <a:p>
                      <a:r>
                        <a:rPr sz="1300">
                          <a:solidFill>
                            <a:srgbClr val="222222"/>
                          </a:solidFill>
                          <a:latin typeface="Calibri"/>
                        </a:rPr>
                        <a:t>top face button</a:t>
                      </a:r>
                    </a:p>
                  </a:txBody>
                  <a:tcPr marL="73152" marT="18288" marB="18288">
                    <a:solidFill>
                      <a:srgbClr val="EEF3F8"/>
                    </a:solidFill>
                  </a:tcPr>
                </a:tc>
              </a:tr>
              <a:tr h="282575">
                <a:tc>
                  <a:txBody>
                    <a:bodyPr/>
                    <a:lstStyle/>
                    <a:p>
                      <a:r>
                        <a:rPr sz="1300">
                          <a:solidFill>
                            <a:srgbClr val="222222"/>
                          </a:solidFill>
                          <a:latin typeface="Calibri"/>
                        </a:rPr>
                        <a:t>L / R</a:t>
                      </a:r>
                    </a:p>
                  </a:txBody>
                  <a:tcPr marL="73152" marT="18288" marB="18288">
                    <a:solidFill>
                      <a:srgbClr val="FFFFFF"/>
                    </a:solidFill>
                  </a:tcPr>
                </a:tc>
                <a:tc>
                  <a:txBody>
                    <a:bodyPr/>
                    <a:lstStyle/>
                    <a:p>
                      <a:r>
                        <a:rPr sz="1300">
                          <a:solidFill>
                            <a:srgbClr val="222222"/>
                          </a:solidFill>
                          <a:latin typeface="Calibri"/>
                        </a:rPr>
                        <a:t>l1() / r1()</a:t>
                      </a:r>
                    </a:p>
                  </a:txBody>
                  <a:tcPr marL="73152" marT="18288" marB="18288">
                    <a:solidFill>
                      <a:srgbClr val="FFFFFF"/>
                    </a:solidFill>
                  </a:tcPr>
                </a:tc>
                <a:tc>
                  <a:txBody>
                    <a:bodyPr/>
                    <a:lstStyle/>
                    <a:p>
                      <a:r>
                        <a:rPr sz="1300">
                          <a:solidFill>
                            <a:srgbClr val="222222"/>
                          </a:solidFill>
                          <a:latin typeface="Calibri"/>
                        </a:rPr>
                        <a:t>shoulders</a:t>
                      </a:r>
                    </a:p>
                  </a:txBody>
                  <a:tcPr marL="73152" marT="18288" marB="18288">
                    <a:solidFill>
                      <a:srgbClr val="FFFFFF"/>
                    </a:solidFill>
                  </a:tcPr>
                </a:tc>
              </a:tr>
              <a:tr h="282575">
                <a:tc>
                  <a:txBody>
                    <a:bodyPr/>
                    <a:lstStyle/>
                    <a:p>
                      <a:r>
                        <a:rPr sz="1300">
                          <a:solidFill>
                            <a:srgbClr val="222222"/>
                          </a:solidFill>
                          <a:latin typeface="Calibri"/>
                        </a:rPr>
                        <a:t>ZL / ZR</a:t>
                      </a:r>
                    </a:p>
                  </a:txBody>
                  <a:tcPr marL="73152" marT="18288" marB="18288">
                    <a:solidFill>
                      <a:srgbClr val="EEF3F8"/>
                    </a:solidFill>
                  </a:tcPr>
                </a:tc>
                <a:tc>
                  <a:txBody>
                    <a:bodyPr/>
                    <a:lstStyle/>
                    <a:p>
                      <a:r>
                        <a:rPr sz="1300">
                          <a:solidFill>
                            <a:srgbClr val="222222"/>
                          </a:solidFill>
                          <a:latin typeface="Calibri"/>
                        </a:rPr>
                        <a:t>l2() / r2()</a:t>
                      </a:r>
                    </a:p>
                  </a:txBody>
                  <a:tcPr marL="73152" marT="18288" marB="18288">
                    <a:solidFill>
                      <a:srgbClr val="EEF3F8"/>
                    </a:solidFill>
                  </a:tcPr>
                </a:tc>
                <a:tc>
                  <a:txBody>
                    <a:bodyPr/>
                    <a:lstStyle/>
                    <a:p>
                      <a:r>
                        <a:rPr sz="1300">
                          <a:solidFill>
                            <a:srgbClr val="222222"/>
                          </a:solidFill>
                          <a:latin typeface="Calibri"/>
                        </a:rPr>
                        <a:t>triggers</a:t>
                      </a:r>
                    </a:p>
                  </a:txBody>
                  <a:tcPr marL="73152" marT="18288" marB="18288">
                    <a:solidFill>
                      <a:srgbClr val="EEF3F8"/>
                    </a:solidFill>
                  </a:tcPr>
                </a:tc>
              </a:tr>
              <a:tr h="282575">
                <a:tc>
                  <a:txBody>
                    <a:bodyPr/>
                    <a:lstStyle/>
                    <a:p>
                      <a:r>
                        <a:rPr sz="1300">
                          <a:solidFill>
                            <a:srgbClr val="222222"/>
                          </a:solidFill>
                          <a:latin typeface="Calibri"/>
                        </a:rPr>
                        <a:t>stick click</a:t>
                      </a:r>
                    </a:p>
                  </a:txBody>
                  <a:tcPr marL="73152" marT="18288" marB="18288">
                    <a:solidFill>
                      <a:srgbClr val="FFFFFF"/>
                    </a:solidFill>
                  </a:tcPr>
                </a:tc>
                <a:tc>
                  <a:txBody>
                    <a:bodyPr/>
                    <a:lstStyle/>
                    <a:p>
                      <a:r>
                        <a:rPr sz="1300">
                          <a:solidFill>
                            <a:srgbClr val="222222"/>
                          </a:solidFill>
                          <a:latin typeface="Calibri"/>
                        </a:rPr>
                        <a:t>thumbL() / thumbR()</a:t>
                      </a:r>
                    </a:p>
                  </a:txBody>
                  <a:tcPr marL="73152" marT="18288" marB="18288">
                    <a:solidFill>
                      <a:srgbClr val="FFFFFF"/>
                    </a:solidFill>
                  </a:tcPr>
                </a:tc>
                <a:tc>
                  <a:txBody>
                    <a:bodyPr/>
                    <a:lstStyle/>
                    <a:p>
                      <a:r>
                        <a:rPr sz="1300">
                          <a:solidFill>
                            <a:srgbClr val="222222"/>
                          </a:solidFill>
                          <a:latin typeface="Calibri"/>
                        </a:rPr>
                        <a:t>press a stick in</a:t>
                      </a:r>
                    </a:p>
                  </a:txBody>
                  <a:tcPr marL="73152" marT="18288" marB="18288">
                    <a:solidFill>
                      <a:srgbClr val="FFFFFF"/>
                    </a:solidFill>
                  </a:tcPr>
                </a:tc>
              </a:tr>
              <a:tr h="282575">
                <a:tc>
                  <a:txBody>
                    <a:bodyPr/>
                    <a:lstStyle/>
                    <a:p>
                      <a:r>
                        <a:rPr sz="1300">
                          <a:solidFill>
                            <a:srgbClr val="222222"/>
                          </a:solidFill>
                          <a:latin typeface="Calibri"/>
                        </a:rPr>
                        <a:t>D-pad</a:t>
                      </a:r>
                    </a:p>
                  </a:txBody>
                  <a:tcPr marL="73152" marT="18288" marB="18288">
                    <a:solidFill>
                      <a:srgbClr val="EEF3F8"/>
                    </a:solidFill>
                  </a:tcPr>
                </a:tc>
                <a:tc>
                  <a:txBody>
                    <a:bodyPr/>
                    <a:lstStyle/>
                    <a:p>
                      <a:r>
                        <a:rPr sz="1300">
                          <a:solidFill>
                            <a:srgbClr val="222222"/>
                          </a:solidFill>
                          <a:latin typeface="Calibri"/>
                        </a:rPr>
                        <a:t>dpad() &amp; DPAD_UP  etc.</a:t>
                      </a:r>
                    </a:p>
                  </a:txBody>
                  <a:tcPr marL="73152" marT="18288" marB="18288">
                    <a:solidFill>
                      <a:srgbClr val="EEF3F8"/>
                    </a:solidFill>
                  </a:tcPr>
                </a:tc>
                <a:tc>
                  <a:txBody>
                    <a:bodyPr/>
                    <a:lstStyle/>
                    <a:p>
                      <a:r>
                        <a:rPr sz="1300">
                          <a:solidFill>
                            <a:srgbClr val="222222"/>
                          </a:solidFill>
                          <a:latin typeface="Calibri"/>
                        </a:rPr>
                        <a:t>one number, one bit per direction</a:t>
                      </a:r>
                    </a:p>
                  </a:txBody>
                  <a:tcPr marL="73152" marT="18288" marB="18288">
                    <a:solidFill>
                      <a:srgbClr val="EEF3F8"/>
                    </a:solidFill>
                  </a:tcPr>
                </a:tc>
              </a:tr>
              <a:tr h="282575">
                <a:tc>
                  <a:txBody>
                    <a:bodyPr/>
                    <a:lstStyle/>
                    <a:p>
                      <a:r>
                        <a:rPr sz="1300">
                          <a:solidFill>
                            <a:srgbClr val="222222"/>
                          </a:solidFill>
                          <a:latin typeface="Calibri"/>
                        </a:rPr>
                        <a:t>left stick</a:t>
                      </a:r>
                    </a:p>
                  </a:txBody>
                  <a:tcPr marL="73152" marT="18288" marB="18288">
                    <a:solidFill>
                      <a:srgbClr val="FFFFFF"/>
                    </a:solidFill>
                  </a:tcPr>
                </a:tc>
                <a:tc>
                  <a:txBody>
                    <a:bodyPr/>
                    <a:lstStyle/>
                    <a:p>
                      <a:r>
                        <a:rPr sz="1300">
                          <a:solidFill>
                            <a:srgbClr val="222222"/>
                          </a:solidFill>
                          <a:latin typeface="Calibri"/>
                        </a:rPr>
                        <a:t>axisX() / axisY()</a:t>
                      </a:r>
                    </a:p>
                  </a:txBody>
                  <a:tcPr marL="73152" marT="18288" marB="18288">
                    <a:solidFill>
                      <a:srgbClr val="FFFFFF"/>
                    </a:solidFill>
                  </a:tcPr>
                </a:tc>
                <a:tc>
                  <a:txBody>
                    <a:bodyPr/>
                    <a:lstStyle/>
                    <a:p>
                      <a:r>
                        <a:rPr sz="1300">
                          <a:solidFill>
                            <a:srgbClr val="222222"/>
                          </a:solidFill>
                          <a:latin typeface="Calibri"/>
                        </a:rPr>
                        <a:t>-512 to +511</a:t>
                      </a:r>
                    </a:p>
                  </a:txBody>
                  <a:tcPr marL="73152" marT="18288" marB="18288">
                    <a:solidFill>
                      <a:srgbClr val="FFFFFF"/>
                    </a:solidFill>
                  </a:tcPr>
                </a:tc>
              </a:tr>
              <a:tr h="282575">
                <a:tc>
                  <a:txBody>
                    <a:bodyPr/>
                    <a:lstStyle/>
                    <a:p>
                      <a:r>
                        <a:rPr sz="1300">
                          <a:solidFill>
                            <a:srgbClr val="222222"/>
                          </a:solidFill>
                          <a:latin typeface="Calibri"/>
                        </a:rPr>
                        <a:t>right stick</a:t>
                      </a:r>
                    </a:p>
                  </a:txBody>
                  <a:tcPr marL="73152" marT="18288" marB="18288">
                    <a:solidFill>
                      <a:srgbClr val="EEF3F8"/>
                    </a:solidFill>
                  </a:tcPr>
                </a:tc>
                <a:tc>
                  <a:txBody>
                    <a:bodyPr/>
                    <a:lstStyle/>
                    <a:p>
                      <a:r>
                        <a:rPr sz="1300">
                          <a:solidFill>
                            <a:srgbClr val="222222"/>
                          </a:solidFill>
                          <a:latin typeface="Calibri"/>
                        </a:rPr>
                        <a:t>axisRX() / axisRY()</a:t>
                      </a:r>
                    </a:p>
                  </a:txBody>
                  <a:tcPr marL="73152" marT="18288" marB="18288">
                    <a:solidFill>
                      <a:srgbClr val="EEF3F8"/>
                    </a:solidFill>
                  </a:tcPr>
                </a:tc>
                <a:tc>
                  <a:txBody>
                    <a:bodyPr/>
                    <a:lstStyle/>
                    <a:p>
                      <a:r>
                        <a:rPr sz="130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Digital: buttons</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button is either pressed or it is not. true or false.</a:t>
            </a:r>
          </a:p>
          <a:p>
            <a:pPr algn="l">
              <a:lnSpc>
                <a:spcPct val="100000"/>
              </a:lnSpc>
              <a:spcAft>
                <a:spcPts val="400"/>
              </a:spcAft>
              <a:defRPr sz="1800" b="0">
                <a:solidFill>
                  <a:srgbClr val="222222"/>
                </a:solidFill>
                <a:latin typeface="Calibri"/>
              </a:defRPr>
            </a:pPr>
            <a:r>
              <a:rPr sz="1800" b="0">
                <a:solidFill>
                  <a:srgbClr val="222222"/>
                </a:solidFill>
                <a:latin typeface="Calibri"/>
              </a:rPr>
              <a:t>Face buttons, D-pad, shoulders, triggers, and clicking the sticks in.</a:t>
            </a:r>
          </a:p>
          <a:p>
            <a:pPr algn="l">
              <a:lnSpc>
                <a:spcPct val="100000"/>
              </a:lnSpc>
              <a:spcAft>
                <a:spcPts val="400"/>
              </a:spcAft>
              <a:defRPr sz="1800" b="0">
                <a:solidFill>
                  <a:srgbClr val="222222"/>
                </a:solidFill>
                <a:latin typeface="Calibri"/>
              </a:defRPr>
            </a:pPr>
            <a:r>
              <a:rPr sz="1800" b="0">
                <a:solidFill>
                  <a:srgbClr val="222222"/>
                </a:solidFill>
                <a:latin typeface="Calibri"/>
              </a:rPr>
              <a:t>Good for: on/off, mode changes, one-shot actions.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myController-&gt;x()</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Analog: thumbsticks</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stick reports HOW FAR it is pushed, on two axes.</a:t>
            </a:r>
          </a:p>
          <a:p>
            <a:pPr algn="l">
              <a:lnSpc>
                <a:spcPct val="100000"/>
              </a:lnSpc>
              <a:spcAft>
                <a:spcPts val="400"/>
              </a:spcAft>
              <a:defRPr sz="1800" b="0">
                <a:solidFill>
                  <a:srgbClr val="222222"/>
                </a:solidFill>
                <a:latin typeface="Calibri"/>
              </a:defRPr>
            </a:pPr>
            <a:r>
              <a:rPr sz="1800" b="0">
                <a:solidFill>
                  <a:srgbClr val="222222"/>
                </a:solidFill>
                <a:latin typeface="Calibri"/>
              </a:rPr>
              <a:t>On this track each axis reads -512 to +511.</a:t>
            </a:r>
          </a:p>
          <a:p>
            <a:pPr algn="l">
              <a:lnSpc>
                <a:spcPct val="100000"/>
              </a:lnSpc>
              <a:spcAft>
                <a:spcPts val="400"/>
              </a:spcAft>
              <a:defRPr sz="1800" b="0">
                <a:solidFill>
                  <a:srgbClr val="222222"/>
                </a:solidFill>
                <a:latin typeface="Calibri"/>
              </a:defRPr>
            </a:pPr>
            <a:r>
              <a:rPr sz="1800" b="0">
                <a:solidFill>
                  <a:srgbClr val="222222"/>
                </a:solidFill>
                <a:latin typeface="Calibri"/>
              </a:rPr>
              <a:t>Good for: speed, steering, aiming a servo.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myController-&gt;axisX()     // left/right</a:t>
            </a:r>
          </a:p>
          <a:p>
            <a:pPr lvl="1" algn="l">
              <a:lnSpc>
                <a:spcPct val="100000"/>
              </a:lnSpc>
              <a:spcAft>
                <a:spcPts val="400"/>
              </a:spcAft>
              <a:defRPr sz="1800" b="0">
                <a:solidFill>
                  <a:srgbClr val="222222"/>
                </a:solidFill>
                <a:latin typeface="Calibri"/>
              </a:defRPr>
            </a:pPr>
            <a:r>
              <a:rPr sz="18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TRANSLATION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Forward and back  -  surge</a:t>
            </a:r>
          </a:p>
          <a:p>
            <a:pPr lvl="1" algn="l">
              <a:lnSpc>
                <a:spcPct val="100000"/>
              </a:lnSpc>
              <a:spcAft>
                <a:spcPts val="900"/>
              </a:spcAft>
              <a:defRPr sz="1800" b="0">
                <a:solidFill>
                  <a:srgbClr val="222222"/>
                </a:solidFill>
                <a:latin typeface="Calibri"/>
              </a:defRPr>
            </a:pPr>
            <a:r>
              <a:rPr sz="1800" b="0">
                <a:solidFill>
                  <a:srgbClr val="222222"/>
                </a:solidFill>
                <a:latin typeface="Calibri"/>
              </a:rPr>
              <a:t>Side to side  -  sway</a:t>
            </a:r>
          </a:p>
          <a:p>
            <a:pPr lvl="1" algn="l">
              <a:lnSpc>
                <a:spcPct val="100000"/>
              </a:lnSpc>
              <a:spcAft>
                <a:spcPts val="900"/>
              </a:spcAft>
              <a:defRPr sz="1800" b="0">
                <a:solidFill>
                  <a:srgbClr val="222222"/>
                </a:solidFill>
                <a:latin typeface="Calibri"/>
              </a:defRPr>
            </a:pPr>
            <a:r>
              <a:rPr sz="1800" b="0">
                <a:solidFill>
                  <a:srgbClr val="222222"/>
                </a:solidFill>
                <a:latin typeface="Calibri"/>
              </a:rPr>
              <a:t>Up and down  -  heave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way is negative on the Y axis?</a:t>
            </a:r>
          </a:p>
          <a:p>
            <a:pPr algn="l">
              <a:lnSpc>
                <a:spcPct val="100000"/>
              </a:lnSpc>
              <a:spcAft>
                <a:spcPts val="200"/>
              </a:spcAft>
              <a:defRPr sz="1800" b="0">
                <a:solidFill>
                  <a:srgbClr val="222222"/>
                </a:solidFill>
                <a:latin typeface="Calibri"/>
              </a:defRPr>
            </a:pPr>
            <a:r>
              <a:rPr sz="1800" b="0">
                <a:solidFill>
                  <a:srgbClr val="222222"/>
                </a:solidFill>
                <a:latin typeface="Calibri"/>
              </a:rPr>
              <a:t>How far does your stick drift when nobody is touching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Do it now  -  what does the controller actually send?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900"/>
              </a:spcAft>
              <a:defRPr sz="1800" b="0">
                <a:solidFill>
                  <a:srgbClr val="222222"/>
                </a:solidFill>
                <a:latin typeface="Calibri"/>
              </a:defRPr>
            </a:pPr>
            <a:r>
              <a:rPr sz="1800" b="0">
                <a:solidFill>
                  <a:srgbClr val="222222"/>
                </a:solidFill>
                <a:latin typeface="Calibri"/>
              </a:rPr>
              <a:t>You just measured it. Yours probably reads a few counts either side of centre when nobody is touching it.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900"/>
              </a:spcAft>
              <a:defRPr sz="1800" b="0">
                <a:solidFill>
                  <a:srgbClr val="222222"/>
                </a:solidFill>
                <a:latin typeface="Calibri"/>
              </a:defRPr>
            </a:pPr>
            <a:r>
              <a:rPr sz="1800" b="0">
                <a:solidFill>
                  <a:srgbClr val="222222"/>
                </a:solidFill>
                <a:latin typeface="Calibri"/>
              </a:rPr>
              <a:t>On this track the deadzone is 60, which is about 12% of the stick travel.</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511, 0, 255)   -&gt;    0</a:t>
            </a:r>
          </a:p>
          <a:p>
            <a:pPr algn="l">
              <a:lnSpc>
                <a:spcPct val="100000"/>
              </a:lnSpc>
              <a:spcAft>
                <a:spcPts val="0"/>
              </a:spcAft>
              <a:defRPr sz="1300">
                <a:latin typeface="Consolas"/>
              </a:defRPr>
            </a:pPr>
            <a:r>
              <a:rPr sz="1300">
                <a:solidFill>
                  <a:srgbClr val="222222"/>
                </a:solidFill>
                <a:latin typeface="Consolas"/>
              </a:rPr>
              <a:t>map(255, 0, 255, 0, 255)   -&gt;  127</a:t>
            </a:r>
          </a:p>
          <a:p>
            <a:pPr algn="l">
              <a:lnSpc>
                <a:spcPct val="100000"/>
              </a:lnSpc>
              <a:spcAft>
                <a:spcPts val="0"/>
              </a:spcAft>
              <a:defRPr sz="1300">
                <a:latin typeface="Consolas"/>
              </a:defRPr>
            </a:pPr>
            <a:r>
              <a:rPr sz="1300">
                <a:solidFill>
                  <a:srgbClr val="222222"/>
                </a:solidFill>
                <a:latin typeface="Consolas"/>
              </a:rPr>
              <a:t>map(511, 0, 511,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map() is just proportion. Nothing more.</a:t>
            </a:r>
          </a:p>
          <a:p>
            <a:pPr algn="l">
              <a:lnSpc>
                <a:spcPct val="100000"/>
              </a:lnSpc>
              <a:spcAft>
                <a:spcPts val="600"/>
              </a:spcAft>
              <a:defRPr sz="1800" b="0">
                <a:solidFill>
                  <a:srgbClr val="222222"/>
                </a:solidFill>
                <a:latin typeface="Calibri"/>
              </a:defRPr>
            </a:pPr>
            <a:r>
              <a:rPr sz="18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600"/>
              </a:spcAft>
              <a:defRPr sz="1800" b="0">
                <a:solidFill>
                  <a:srgbClr val="222222"/>
                </a:solidFill>
                <a:latin typeface="Calibri"/>
              </a:defRPr>
            </a:pPr>
            <a:r>
              <a:rPr sz="1800" b="0">
                <a:solidFill>
                  <a:srgbClr val="222222"/>
                </a:solidFill>
                <a:latin typeface="Calibri"/>
              </a:rPr>
              <a:t>abs() throws away the sign, so we map the SIZE of the push and put the direction back at the end.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400"/>
              </a:spcAft>
              <a:defRPr sz="1800" b="0">
                <a:solidFill>
                  <a:srgbClr val="222222"/>
                </a:solidFill>
                <a:latin typeface="Calibri"/>
              </a:defRPr>
            </a:pPr>
            <a:r>
              <a:rPr sz="1800" b="0">
                <a:solidFill>
                  <a:srgbClr val="222222"/>
                </a:solidFill>
                <a:latin typeface="Calibri"/>
              </a:rPr>
              <a:t>2.  Push the stick VERY slowly from centre to full forward. Watch both columns. Where does the speed stop being 0?</a:t>
            </a:r>
          </a:p>
          <a:p>
            <a:pPr algn="l">
              <a:lnSpc>
                <a:spcPct val="100000"/>
              </a:lnSpc>
              <a:spcAft>
                <a:spcPts val="4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400"/>
              </a:spcAft>
              <a:defRPr sz="1800" b="0">
                <a:solidFill>
                  <a:srgbClr val="222222"/>
                </a:solidFill>
                <a:latin typeface="Calibri"/>
              </a:defRPr>
            </a:pPr>
            <a:r>
              <a:rPr sz="1800" b="0">
                <a:solidFill>
                  <a:srgbClr val="222222"/>
                </a:solidFill>
                <a:latin typeface="Calibri"/>
              </a:rPr>
              <a:t>4.  Set it to 408. How much of the stick is now wasted?</a:t>
            </a:r>
          </a:p>
          <a:p>
            <a:pPr algn="l">
              <a:lnSpc>
                <a:spcPct val="100000"/>
              </a:lnSpc>
              <a:spcAft>
                <a:spcPts val="4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With the deadzone at 0, what does the vehicle do when nobody is holding the controller?</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MOTOR_MIN = 60 change, and when would you want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9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(myController == nullptr || !myController-&gt;isConnected())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myController-&gt;axisX();</a:t>
            </a:r>
          </a:p>
          <a:p>
            <a:pPr algn="l">
              <a:lnSpc>
                <a:spcPct val="100000"/>
              </a:lnSpc>
              <a:spcAft>
                <a:spcPts val="0"/>
              </a:spcAft>
              <a:defRPr sz="1300">
                <a:latin typeface="Consolas"/>
              </a:defRPr>
            </a:pPr>
            <a:r>
              <a:rPr sz="1300">
                <a:solidFill>
                  <a:srgbClr val="222222"/>
                </a:solidFill>
                <a:latin typeface="Consolas"/>
              </a:rPr>
              <a:t>  int leftStickY = myController-&gt;axisY();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-MOTOR_MAX, MOTOR_MAX);</a:t>
            </a:r>
          </a:p>
          <a:p>
            <a:pPr algn="l">
              <a:lnSpc>
                <a:spcPct val="100000"/>
              </a:lnSpc>
              <a:spcAft>
                <a:spcPts val="0"/>
              </a:spcAft>
              <a:defRPr sz="1300">
                <a:latin typeface="Consolas"/>
              </a:defRPr>
            </a:pPr>
            <a:r>
              <a:rPr sz="1300">
                <a:solidFill>
                  <a:srgbClr val="222222"/>
                </a:solidFill>
                <a:latin typeface="Consolas"/>
              </a:rPr>
              <a:t>  int rightSpeed = constrain(forward - turn, -MOTOR_MAX, MOTOR_MAX);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600"/>
              </a:spcAft>
              <a:defRPr sz="1800" b="0">
                <a:solidFill>
                  <a:srgbClr val="222222"/>
                </a:solidFill>
                <a:latin typeface="Calibri"/>
              </a:defRPr>
            </a:pPr>
            <a:r>
              <a:rPr sz="1800" b="0">
                <a:solidFill>
                  <a:srgbClr val="222222"/>
                </a:solidFill>
                <a:latin typeface="Calibri"/>
              </a:rPr>
              <a:t>Note the minus sign on leftStickY. Up is negative.</a:t>
            </a:r>
          </a:p>
          <a:p>
            <a:pPr algn="l">
              <a:lnSpc>
                <a:spcPct val="100000"/>
              </a:lnSpc>
              <a:spcAft>
                <a:spcPts val="600"/>
              </a:spcAft>
              <a:defRPr sz="1800" b="0">
                <a:solidFill>
                  <a:srgbClr val="222222"/>
                </a:solidFill>
                <a:latin typeface="Calibri"/>
              </a:defRPr>
            </a:pPr>
            <a:r>
              <a:rPr sz="1800" b="0">
                <a:solidFill>
                  <a:srgbClr val="222222"/>
                </a:solidFill>
                <a:latin typeface="Calibri"/>
              </a:rPr>
              <a:t>Driving gets MOTOR_MAX; steering gets turnMax.</a:t>
            </a:r>
          </a:p>
          <a:p>
            <a:pPr algn="l">
              <a:lnSpc>
                <a:spcPct val="100000"/>
              </a:lnSpc>
              <a:spcAft>
                <a:spcPts val="600"/>
              </a:spcAft>
              <a:defRPr sz="1800" b="0">
                <a:solidFill>
                  <a:srgbClr val="222222"/>
                </a:solidFill>
                <a:latin typeface="Calibri"/>
              </a:defRPr>
            </a:pPr>
            <a:r>
              <a:rPr sz="1800" b="0">
                <a:solidFill>
                  <a:srgbClr val="222222"/>
                </a:solidFill>
                <a:latin typeface="Calibri"/>
              </a:rPr>
              <a:t>Everything else you have already seen.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4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400"/>
              </a:spcAft>
              <a:defRPr sz="1800" b="0">
                <a:solidFill>
                  <a:srgbClr val="222222"/>
                </a:solidFill>
                <a:latin typeface="Calibri"/>
              </a:defRPr>
            </a:pPr>
            <a:r>
              <a:rPr sz="1800" b="0">
                <a:solidFill>
                  <a:srgbClr val="222222"/>
                </a:solidFill>
                <a:latin typeface="Calibri"/>
              </a:rPr>
              <a:t>3.  While driving, switch the controller off. What happens?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happened when the controller switched off, and which four lines made that happen?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Set turnMax to MOTOR_MAX and drive again. Which is easier?</a:t>
            </a:r>
          </a:p>
          <a:p>
            <a:pPr algn="l">
              <a:lnSpc>
                <a:spcPct val="100000"/>
              </a:lnSpc>
              <a:spcAft>
                <a:spcPts val="4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4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only safe behaviour is to STOP. Not carry on with the last command, and not do something clever.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Three lines at the top of loop() do it:</a:t>
            </a:r>
          </a:p>
          <a:p>
            <a:pPr lvl="1" algn="l">
              <a:lnSpc>
                <a:spcPct val="100000"/>
              </a:lnSpc>
              <a:spcAft>
                <a:spcPts val="900"/>
              </a:spcAft>
              <a:defRPr sz="1800" b="0">
                <a:solidFill>
                  <a:srgbClr val="222222"/>
                </a:solidFill>
                <a:latin typeface="Calibri"/>
              </a:defRPr>
            </a:pPr>
            <a:r>
              <a:rPr sz="1800" b="0">
                <a:solidFill>
                  <a:srgbClr val="222222"/>
                </a:solidFill>
                <a:latin typeface="Calibri"/>
              </a:rPr>
              <a:t>if (!connected) { drive(0, 0); return;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Failsafe: what a robot does when it stops hearing you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What is a Bluetooth address, and why must every vehicle in the room have a different one?</a:t>
            </a:r>
          </a:p>
          <a:p>
            <a:pPr algn="l">
              <a:lnSpc>
                <a:spcPct val="100000"/>
              </a:lnSpc>
              <a:spcAft>
                <a:spcPts val="1000"/>
              </a:spcAft>
              <a:defRPr sz="1800" b="0">
                <a:solidFill>
                  <a:srgbClr val="222222"/>
                </a:solidFill>
                <a:latin typeface="Calibri"/>
              </a:defRPr>
            </a:pPr>
            <a:r>
              <a:rPr sz="1800" b="0">
                <a:solidFill>
                  <a:srgbClr val="222222"/>
                </a:solidFill>
                <a:latin typeface="Calibri"/>
              </a:rPr>
              <a:t>2.  Push the left stick fully forward. Is the number positive or negative? Why does the program put a minus sign in front of it?</a:t>
            </a:r>
          </a:p>
          <a:p>
            <a:pPr algn="l">
              <a:lnSpc>
                <a:spcPct val="100000"/>
              </a:lnSpc>
              <a:spcAft>
                <a:spcPts val="1000"/>
              </a:spcAft>
              <a:defRPr sz="1800" b="0">
                <a:solidFill>
                  <a:srgbClr val="222222"/>
                </a:solidFill>
                <a:latin typeface="Calibri"/>
              </a:defRPr>
            </a:pPr>
            <a:r>
              <a:rPr sz="1800" b="0">
                <a:solidFill>
                  <a:srgbClr val="222222"/>
                </a:solidFill>
                <a:latin typeface="Calibri"/>
              </a:rPr>
              <a:t>3.  What is a deadzone for? What goes wrong if it is 0? What goes wrong if it is far too big?</a:t>
            </a:r>
          </a:p>
          <a:p>
            <a:pPr algn="l">
              <a:lnSpc>
                <a:spcPct val="100000"/>
              </a:lnSpc>
              <a:spcAft>
                <a:spcPts val="1000"/>
              </a:spcAft>
              <a:defRPr sz="1800" b="0">
                <a:solidFill>
                  <a:srgbClr val="222222"/>
                </a:solidFill>
                <a:latin typeface="Calibri"/>
              </a:defRPr>
            </a:pPr>
            <a:r>
              <a:rPr sz="1800" b="0">
                <a:solidFill>
                  <a:srgbClr val="222222"/>
                </a:solidFill>
                <a:latin typeface="Calibri"/>
              </a:rPr>
              <a:t>4.  In your own words, what does map() do?</a:t>
            </a:r>
          </a:p>
          <a:p>
            <a:pPr algn="l">
              <a:lnSpc>
                <a:spcPct val="100000"/>
              </a:lnSpc>
              <a:spcAft>
                <a:spcPts val="1000"/>
              </a:spcAft>
              <a:defRPr sz="1800" b="0">
                <a:solidFill>
                  <a:srgbClr val="222222"/>
                </a:solidFill>
                <a:latin typeface="Calibri"/>
              </a:defRPr>
            </a:pPr>
            <a:r>
              <a:rPr sz="1800" b="0">
                <a:solidFill>
                  <a:srgbClr val="222222"/>
                </a:solidFill>
                <a:latin typeface="Calibri"/>
              </a:rPr>
              <a:t>5.  forward is 180 and turn is 100. What speed does each side get, before and after constrain()?</a:t>
            </a:r>
          </a:p>
          <a:p>
            <a:pPr algn="l">
              <a:lnSpc>
                <a:spcPct val="100000"/>
              </a:lnSpc>
              <a:spcAft>
                <a:spcPts val="1000"/>
              </a:spcAft>
              <a:defRPr sz="1800" b="0">
                <a:solidFill>
                  <a:srgbClr val="222222"/>
                </a:solidFill>
                <a:latin typeface="Calibri"/>
              </a:defRPr>
            </a:pPr>
            <a:r>
              <a:rPr sz="1800" b="0">
                <a:solidFill>
                  <a:srgbClr val="222222"/>
                </a:solidFill>
                <a:latin typeface="Calibri"/>
              </a:rPr>
              <a:t>6.  Why is steering limited to half power by default?</a:t>
            </a:r>
          </a:p>
          <a:p>
            <a:pPr algn="l">
              <a:lnSpc>
                <a:spcPct val="100000"/>
              </a:lnSpc>
              <a:spcAft>
                <a:spcPts val="1000"/>
              </a:spcAft>
              <a:defRPr sz="1800" b="0">
                <a:solidFill>
                  <a:srgbClr val="222222"/>
                </a:solidFill>
                <a:latin typeface="Calibri"/>
              </a:defRPr>
            </a:pPr>
            <a:r>
              <a:rPr sz="18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