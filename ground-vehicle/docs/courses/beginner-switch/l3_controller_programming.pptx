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3</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Controller Programming</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Bluetooth, thumbsticks, deadzones, and turning a number from your thumb into a speed for four wheels.</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12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12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Bring the Switch controller paired to your vehicle.</a:t>
            </a:r>
          </a:p>
        </p:txBody>
      </p:sp>
      <p:pic>
        <p:nvPicPr>
          <p:cNvPr id="8" name="Picture 7" descr="vehicle-front-blue-leds.jpg"/>
          <p:cNvPicPr>
            <a:picLocks noChangeAspect="1"/>
          </p:cNvPicPr>
          <p:nvPr/>
        </p:nvPicPr>
        <p:blipFill>
          <a:blip r:embed="rId3"/>
          <a:stretch>
            <a:fillRect/>
          </a:stretch>
        </p:blipFill>
        <p:spPr>
          <a:xfrm>
            <a:off x="7223760" y="1371600"/>
            <a:ext cx="4480560" cy="3360420"/>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how a controller reaches one vehicle and not another</a:t>
            </a:r>
          </a:p>
          <a:p>
            <a:pPr algn="l">
              <a:lnSpc>
                <a:spcPct val="100000"/>
              </a:lnSpc>
              <a:spcAft>
                <a:spcPts val="1300"/>
              </a:spcAft>
              <a:defRPr sz="1900" b="0">
                <a:solidFill>
                  <a:srgbClr val="222222"/>
                </a:solidFill>
                <a:latin typeface="Calibri"/>
              </a:defRPr>
            </a:pPr>
            <a:r>
              <a:rPr sz="1900" b="0">
                <a:solidFill>
                  <a:srgbClr val="222222"/>
                </a:solidFill>
                <a:latin typeface="Calibri"/>
              </a:rPr>
              <a:t>2.   Say what a deadzone is for, and what goes wrong without one</a:t>
            </a:r>
          </a:p>
          <a:p>
            <a:pPr algn="l">
              <a:lnSpc>
                <a:spcPct val="100000"/>
              </a:lnSpc>
              <a:spcAft>
                <a:spcPts val="1300"/>
              </a:spcAft>
              <a:defRPr sz="1900" b="0">
                <a:solidFill>
                  <a:srgbClr val="222222"/>
                </a:solidFill>
                <a:latin typeface="Calibri"/>
              </a:defRPr>
            </a:pPr>
            <a:r>
              <a:rPr sz="1900" b="0">
                <a:solidFill>
                  <a:srgbClr val="222222"/>
                </a:solidFill>
                <a:latin typeface="Calibri"/>
              </a:rPr>
              <a:t>3.   Use map() to turn a stick reading into a motor speed</a:t>
            </a:r>
          </a:p>
          <a:p>
            <a:pPr algn="l">
              <a:lnSpc>
                <a:spcPct val="100000"/>
              </a:lnSpc>
              <a:spcAft>
                <a:spcPts val="1300"/>
              </a:spcAft>
              <a:defRPr sz="1900" b="0">
                <a:solidFill>
                  <a:srgbClr val="222222"/>
                </a:solidFill>
                <a:latin typeface="Calibri"/>
              </a:defRPr>
            </a:pPr>
            <a:r>
              <a:rPr sz="1900" b="0">
                <a:solidFill>
                  <a:srgbClr val="222222"/>
                </a:solidFill>
                <a:latin typeface="Calibri"/>
              </a:rPr>
              <a:t>4.   Mix a forward value and a turn value into two wheel speeds</a:t>
            </a:r>
          </a:p>
          <a:p>
            <a:pPr algn="l">
              <a:lnSpc>
                <a:spcPct val="100000"/>
              </a:lnSpc>
              <a:spcAft>
                <a:spcPts val="1300"/>
              </a:spcAft>
              <a:defRPr sz="1900" b="0">
                <a:solidFill>
                  <a:srgbClr val="222222"/>
                </a:solidFill>
                <a:latin typeface="Calibri"/>
              </a:defRPr>
            </a:pPr>
            <a:r>
              <a:rPr sz="1900" b="0">
                <a:solidFill>
                  <a:srgbClr val="222222"/>
                </a:solidFill>
                <a:latin typeface="Calibri"/>
              </a:rPr>
              <a:t>5.   Drive the vehicle under your own control</a:t>
            </a:r>
          </a:p>
          <a:p>
            <a:pPr algn="l">
              <a:lnSpc>
                <a:spcPct val="100000"/>
              </a:lnSpc>
              <a:spcAft>
                <a:spcPts val="1300"/>
              </a:spcAft>
              <a:defRPr sz="1900" b="0">
                <a:solidFill>
                  <a:srgbClr val="222222"/>
                </a:solidFill>
                <a:latin typeface="Calibri"/>
              </a:defRPr>
            </a:pPr>
            <a:r>
              <a:rPr sz="1900" b="0">
                <a:solidFill>
                  <a:srgbClr val="222222"/>
                </a:solidFill>
                <a:latin typeface="Calibri"/>
              </a:rPr>
              <a:t>6.   Write the failsafe that stops the motors when the controller drops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You know how an H-bridge reverses a motor, and how PWM sets its speed.</a:t>
            </a:r>
          </a:p>
          <a:p>
            <a:pPr algn="l">
              <a:lnSpc>
                <a:spcPct val="100000"/>
              </a:lnSpc>
              <a:spcAft>
                <a:spcPts val="900"/>
              </a:spcAft>
              <a:defRPr sz="1800" b="0">
                <a:solidFill>
                  <a:srgbClr val="222222"/>
                </a:solidFill>
                <a:latin typeface="Calibri"/>
              </a:defRPr>
            </a:pPr>
            <a:r>
              <a:rPr sz="1800" b="0">
                <a:solidFill>
                  <a:srgbClr val="222222"/>
                </a:solidFill>
                <a:latin typeface="Calibri"/>
              </a:rPr>
              <a:t>You measured your own vehicle's minimum turning speed.</a:t>
            </a:r>
          </a:p>
          <a:p>
            <a:pPr algn="l">
              <a:lnSpc>
                <a:spcPct val="100000"/>
              </a:lnSpc>
              <a:spcAft>
                <a:spcPts val="900"/>
              </a:spcAft>
              <a:defRPr sz="1800" b="0">
                <a:solidFill>
                  <a:srgbClr val="222222"/>
                </a:solidFill>
                <a:latin typeface="Calibri"/>
              </a:defRPr>
            </a:pPr>
            <a:r>
              <a:rPr sz="1800" b="0">
                <a:solidFill>
                  <a:srgbClr val="222222"/>
                </a:solidFill>
                <a:latin typeface="Calibri"/>
              </a:rPr>
              <a:t>You drove a square you calculated, and found out why it did not close.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Today you take the wheel.</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Everything today until the last hour is print-only. Nothing moves until you have seen the numbers first.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graphicFrame>
        <p:nvGraphicFramePr>
          <p:cNvPr id="6" name="Table 5"/>
          <p:cNvGraphicFramePr>
            <a:graphicFrameLocks noGrp="1"/>
          </p:cNvGraphicFramePr>
          <p:nvPr/>
        </p:nvGraphicFramePr>
        <p:xfrm>
          <a:off x="502920" y="1188720"/>
          <a:ext cx="11185854" cy="3282950"/>
        </p:xfrm>
        <a:graphic>
          <a:graphicData uri="http://schemas.openxmlformats.org/drawingml/2006/table">
            <a:tbl>
              <a:tblPr firstRow="1" bandRow="1">
                <a:tableStyleId>{5C22544A-7EE6-4342-B048-85BDC9FD1C3A}</a:tableStyleId>
              </a:tblPr>
              <a:tblGrid>
                <a:gridCol w="1118585"/>
                <a:gridCol w="10067269"/>
              </a:tblGrid>
              <a:tr h="298450">
                <a:tc>
                  <a:txBody>
                    <a:bodyPr/>
                    <a:lstStyle/>
                    <a:p>
                      <a:r>
                        <a:rPr sz="1400" b="1">
                          <a:solidFill>
                            <a:srgbClr val="FFFFFF"/>
                          </a:solidFill>
                          <a:latin typeface="Calibri"/>
                        </a:rPr>
                        <a:t>Time</a:t>
                      </a:r>
                    </a:p>
                  </a:txBody>
                  <a:tcPr marL="73152" marT="18288" marB="18288">
                    <a:solidFill>
                      <a:srgbClr val="1F3A5F"/>
                    </a:solidFill>
                  </a:tcPr>
                </a:tc>
                <a:tc>
                  <a:txBody>
                    <a:bodyPr/>
                    <a:lstStyle/>
                    <a:p>
                      <a:r>
                        <a:rPr sz="1400" b="1">
                          <a:solidFill>
                            <a:srgbClr val="FFFFFF"/>
                          </a:solidFill>
                          <a:latin typeface="Calibri"/>
                        </a:rPr>
                        <a:t>What we do</a:t>
                      </a:r>
                    </a:p>
                  </a:txBody>
                  <a:tcPr marL="73152" marT="18288" marB="18288">
                    <a:solidFill>
                      <a:srgbClr val="1F3A5F"/>
                    </a:solidFill>
                  </a:tcPr>
                </a:tc>
              </a:tr>
              <a:tr h="298450">
                <a:tc>
                  <a:txBody>
                    <a:bodyPr/>
                    <a:lstStyle/>
                    <a:p>
                      <a:r>
                        <a:rPr sz="1400">
                          <a:solidFill>
                            <a:srgbClr val="222222"/>
                          </a:solidFill>
                          <a:latin typeface="Calibri"/>
                        </a:rPr>
                        <a:t>0:00</a:t>
                      </a:r>
                    </a:p>
                  </a:txBody>
                  <a:tcPr marL="73152" marT="18288" marB="18288">
                    <a:solidFill>
                      <a:srgbClr val="FFFFFF"/>
                    </a:solidFill>
                  </a:tcPr>
                </a:tc>
                <a:tc>
                  <a:txBody>
                    <a:bodyPr/>
                    <a:lstStyle/>
                    <a:p>
                      <a:r>
                        <a:rPr sz="1400">
                          <a:solidFill>
                            <a:srgbClr val="222222"/>
                          </a:solidFill>
                          <a:latin typeface="Calibri"/>
                        </a:rPr>
                        <a:t>Recap. What Bluetooth is, and how a pad finds a vehicle</a:t>
                      </a:r>
                    </a:p>
                  </a:txBody>
                  <a:tcPr marL="73152" marT="18288" marB="18288">
                    <a:solidFill>
                      <a:srgbClr val="FFFFFF"/>
                    </a:solidFill>
                  </a:tcPr>
                </a:tc>
              </a:tr>
              <a:tr h="298450">
                <a:tc>
                  <a:txBody>
                    <a:bodyPr/>
                    <a:lstStyle/>
                    <a:p>
                      <a:r>
                        <a:rPr sz="1400">
                          <a:solidFill>
                            <a:srgbClr val="222222"/>
                          </a:solidFill>
                          <a:latin typeface="Calibri"/>
                        </a:rPr>
                        <a:t>0:25</a:t>
                      </a:r>
                    </a:p>
                  </a:txBody>
                  <a:tcPr marL="73152" marT="18288" marB="18288">
                    <a:solidFill>
                      <a:srgbClr val="EEF3F8"/>
                    </a:solidFill>
                  </a:tcPr>
                </a:tc>
                <a:tc>
                  <a:txBody>
                    <a:bodyPr/>
                    <a:lstStyle/>
                    <a:p>
                      <a:r>
                        <a:rPr sz="1400">
                          <a:solidFill>
                            <a:srgbClr val="222222"/>
                          </a:solidFill>
                          <a:latin typeface="Calibri"/>
                        </a:rPr>
                        <a:t>One vehicle, one controller</a:t>
                      </a:r>
                    </a:p>
                  </a:txBody>
                  <a:tcPr marL="73152" marT="18288" marB="18288">
                    <a:solidFill>
                      <a:srgbClr val="EEF3F8"/>
                    </a:solidFill>
                  </a:tcPr>
                </a:tc>
              </a:tr>
              <a:tr h="298450">
                <a:tc>
                  <a:txBody>
                    <a:bodyPr/>
                    <a:lstStyle/>
                    <a:p>
                      <a:r>
                        <a:rPr sz="1400">
                          <a:solidFill>
                            <a:srgbClr val="222222"/>
                          </a:solidFill>
                          <a:latin typeface="Calibri"/>
                        </a:rPr>
                        <a:t>0:50</a:t>
                      </a:r>
                    </a:p>
                  </a:txBody>
                  <a:tcPr marL="73152" marT="18288" marB="18288">
                    <a:solidFill>
                      <a:srgbClr val="FFFFFF"/>
                    </a:solidFill>
                  </a:tcPr>
                </a:tc>
                <a:tc>
                  <a:txBody>
                    <a:bodyPr/>
                    <a:lstStyle/>
                    <a:p>
                      <a:r>
                        <a:rPr sz="1400">
                          <a:solidFill>
                            <a:srgbClr val="222222"/>
                          </a:solidFill>
                          <a:latin typeface="Calibri"/>
                        </a:rPr>
                        <a:t>Upload l3a_controller_check. Find every button and axis</a:t>
                      </a:r>
                    </a:p>
                  </a:txBody>
                  <a:tcPr marL="73152" marT="18288" marB="18288">
                    <a:solidFill>
                      <a:srgbClr val="FFFFFF"/>
                    </a:solidFill>
                  </a:tcPr>
                </a:tc>
              </a:tr>
              <a:tr h="298450">
                <a:tc>
                  <a:txBody>
                    <a:bodyPr/>
                    <a:lstStyle/>
                    <a:p>
                      <a:r>
                        <a:rPr sz="1400">
                          <a:solidFill>
                            <a:srgbClr val="222222"/>
                          </a:solidFill>
                          <a:latin typeface="Calibri"/>
                        </a:rPr>
                        <a:t>1:15</a:t>
                      </a:r>
                    </a:p>
                  </a:txBody>
                  <a:tcPr marL="73152" marT="18288" marB="18288">
                    <a:solidFill>
                      <a:srgbClr val="EEF3F8"/>
                    </a:solidFill>
                  </a:tcPr>
                </a:tc>
                <a:tc>
                  <a:txBody>
                    <a:bodyPr/>
                    <a:lstStyle/>
                    <a:p>
                      <a:r>
                        <a:rPr sz="1400">
                          <a:solidFill>
                            <a:srgbClr val="222222"/>
                          </a:solidFill>
                          <a:latin typeface="Calibri"/>
                        </a:rPr>
                        <a:t>BREAK  (10 minutes)</a:t>
                      </a:r>
                    </a:p>
                  </a:txBody>
                  <a:tcPr marL="73152" marT="18288" marB="18288">
                    <a:solidFill>
                      <a:srgbClr val="EEF3F8"/>
                    </a:solidFill>
                  </a:tcPr>
                </a:tc>
              </a:tr>
              <a:tr h="298450">
                <a:tc>
                  <a:txBody>
                    <a:bodyPr/>
                    <a:lstStyle/>
                    <a:p>
                      <a:r>
                        <a:rPr sz="1400">
                          <a:solidFill>
                            <a:srgbClr val="222222"/>
                          </a:solidFill>
                          <a:latin typeface="Calibri"/>
                        </a:rPr>
                        <a:t>1:25</a:t>
                      </a:r>
                    </a:p>
                  </a:txBody>
                  <a:tcPr marL="73152" marT="18288" marB="18288">
                    <a:solidFill>
                      <a:srgbClr val="FFFFFF"/>
                    </a:solidFill>
                  </a:tcPr>
                </a:tc>
                <a:tc>
                  <a:txBody>
                    <a:bodyPr/>
                    <a:lstStyle/>
                    <a:p>
                      <a:r>
                        <a:rPr sz="1400">
                          <a:solidFill>
                            <a:srgbClr val="222222"/>
                          </a:solidFill>
                          <a:latin typeface="Calibri"/>
                        </a:rPr>
                        <a:t>The deadzone problem, and map()</a:t>
                      </a:r>
                    </a:p>
                  </a:txBody>
                  <a:tcPr marL="73152" marT="18288" marB="18288">
                    <a:solidFill>
                      <a:srgbClr val="FFFFFF"/>
                    </a:solidFill>
                  </a:tcPr>
                </a:tc>
              </a:tr>
              <a:tr h="298450">
                <a:tc>
                  <a:txBody>
                    <a:bodyPr/>
                    <a:lstStyle/>
                    <a:p>
                      <a:r>
                        <a:rPr sz="1400">
                          <a:solidFill>
                            <a:srgbClr val="222222"/>
                          </a:solidFill>
                          <a:latin typeface="Calibri"/>
                        </a:rPr>
                        <a:t>1:50</a:t>
                      </a:r>
                    </a:p>
                  </a:txBody>
                  <a:tcPr marL="73152" marT="18288" marB="18288">
                    <a:solidFill>
                      <a:srgbClr val="EEF3F8"/>
                    </a:solidFill>
                  </a:tcPr>
                </a:tc>
                <a:tc>
                  <a:txBody>
                    <a:bodyPr/>
                    <a:lstStyle/>
                    <a:p>
                      <a:r>
                        <a:rPr sz="1400">
                          <a:solidFill>
                            <a:srgbClr val="222222"/>
                          </a:solidFill>
                          <a:latin typeface="Calibri"/>
                        </a:rPr>
                        <a:t>Upload l3b_deadzone_and_map. Watch the arithmetic</a:t>
                      </a:r>
                    </a:p>
                  </a:txBody>
                  <a:tcPr marL="73152" marT="18288" marB="18288">
                    <a:solidFill>
                      <a:srgbClr val="EEF3F8"/>
                    </a:solidFill>
                  </a:tcPr>
                </a:tc>
              </a:tr>
              <a:tr h="298450">
                <a:tc>
                  <a:txBody>
                    <a:bodyPr/>
                    <a:lstStyle/>
                    <a:p>
                      <a:r>
                        <a:rPr sz="1400">
                          <a:solidFill>
                            <a:srgbClr val="222222"/>
                          </a:solidFill>
                          <a:latin typeface="Calibri"/>
                        </a:rPr>
                        <a:t>2:10</a:t>
                      </a:r>
                    </a:p>
                  </a:txBody>
                  <a:tcPr marL="73152" marT="18288" marB="18288">
                    <a:solidFill>
                      <a:srgbClr val="FFFFFF"/>
                    </a:solidFill>
                  </a:tcPr>
                </a:tc>
                <a:tc>
                  <a:txBody>
                    <a:bodyPr/>
                    <a:lstStyle/>
                    <a:p>
                      <a:r>
                        <a:rPr sz="1400">
                          <a:solidFill>
                            <a:srgbClr val="222222"/>
                          </a:solidFill>
                          <a:latin typeface="Calibri"/>
                        </a:rPr>
                        <a:t>BREAK  (10 minutes)</a:t>
                      </a:r>
                    </a:p>
                  </a:txBody>
                  <a:tcPr marL="73152" marT="18288" marB="18288">
                    <a:solidFill>
                      <a:srgbClr val="FFFFFF"/>
                    </a:solidFill>
                  </a:tcPr>
                </a:tc>
              </a:tr>
              <a:tr h="298450">
                <a:tc>
                  <a:txBody>
                    <a:bodyPr/>
                    <a:lstStyle/>
                    <a:p>
                      <a:r>
                        <a:rPr sz="1400">
                          <a:solidFill>
                            <a:srgbClr val="222222"/>
                          </a:solidFill>
                          <a:latin typeface="Calibri"/>
                        </a:rPr>
                        <a:t>2:20</a:t>
                      </a:r>
                    </a:p>
                  </a:txBody>
                  <a:tcPr marL="73152" marT="18288" marB="18288">
                    <a:solidFill>
                      <a:srgbClr val="EEF3F8"/>
                    </a:solidFill>
                  </a:tcPr>
                </a:tc>
                <a:tc>
                  <a:txBody>
                    <a:bodyPr/>
                    <a:lstStyle/>
                    <a:p>
                      <a:r>
                        <a:rPr sz="1400">
                          <a:solidFill>
                            <a:srgbClr val="222222"/>
                          </a:solidFill>
                          <a:latin typeface="Calibri"/>
                        </a:rPr>
                        <a:t>Mixing forward and turn</a:t>
                      </a:r>
                    </a:p>
                  </a:txBody>
                  <a:tcPr marL="73152" marT="18288" marB="18288">
                    <a:solidFill>
                      <a:srgbClr val="EEF3F8"/>
                    </a:solidFill>
                  </a:tcPr>
                </a:tc>
              </a:tr>
              <a:tr h="298450">
                <a:tc>
                  <a:txBody>
                    <a:bodyPr/>
                    <a:lstStyle/>
                    <a:p>
                      <a:r>
                        <a:rPr sz="1400">
                          <a:solidFill>
                            <a:srgbClr val="222222"/>
                          </a:solidFill>
                          <a:latin typeface="Calibri"/>
                        </a:rPr>
                        <a:t>2:35</a:t>
                      </a:r>
                    </a:p>
                  </a:txBody>
                  <a:tcPr marL="73152" marT="18288" marB="18288">
                    <a:solidFill>
                      <a:srgbClr val="FFFFFF"/>
                    </a:solidFill>
                  </a:tcPr>
                </a:tc>
                <a:tc>
                  <a:txBody>
                    <a:bodyPr/>
                    <a:lstStyle/>
                    <a:p>
                      <a:r>
                        <a:rPr sz="1400">
                          <a:solidFill>
                            <a:srgbClr val="222222"/>
                          </a:solidFill>
                          <a:latin typeface="Calibri"/>
                        </a:rPr>
                        <a:t>Upload l3c_tank_drive. Drive it</a:t>
                      </a:r>
                    </a:p>
                  </a:txBody>
                  <a:tcPr marL="73152" marT="18288" marB="18288">
                    <a:solidFill>
                      <a:srgbClr val="FFFFFF"/>
                    </a:solidFill>
                  </a:tcPr>
                </a:tc>
              </a:tr>
              <a:tr h="298450">
                <a:tc>
                  <a:txBody>
                    <a:bodyPr/>
                    <a:lstStyle/>
                    <a:p>
                      <a:r>
                        <a:rPr sz="1400">
                          <a:solidFill>
                            <a:srgbClr val="222222"/>
                          </a:solidFill>
                          <a:latin typeface="Calibri"/>
                        </a:rPr>
                        <a:t>2:55</a:t>
                      </a:r>
                    </a:p>
                  </a:txBody>
                  <a:tcPr marL="73152" marT="18288" marB="18288">
                    <a:solidFill>
                      <a:srgbClr val="EEF3F8"/>
                    </a:solidFill>
                  </a:tcPr>
                </a:tc>
                <a:tc>
                  <a:txBody>
                    <a:bodyPr/>
                    <a:lstStyle/>
                    <a:p>
                      <a:r>
                        <a:rPr sz="1400">
                          <a:solidFill>
                            <a:srgbClr val="222222"/>
                          </a:solidFill>
                          <a:latin typeface="Calibri"/>
                        </a:rPr>
                        <a:t>Failsafe, and what happens when the link drops</a:t>
                      </a:r>
                    </a:p>
                  </a:txBody>
                  <a:tcPr marL="73152" marT="18288" marB="18288">
                    <a:solidFill>
                      <a:srgbClr val="EEF3F8"/>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Bluetooth is doing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A radio link, and a phone number for each device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A short-range radio link in the 2.4 GHz band - the same band as Wi-Fi, microwave ovens and almost everything else.</a:t>
            </a:r>
          </a:p>
          <a:p>
            <a:pPr algn="l">
              <a:lnSpc>
                <a:spcPct val="100000"/>
              </a:lnSpc>
              <a:spcAft>
                <a:spcPts val="900"/>
              </a:spcAft>
              <a:defRPr sz="1800" b="0">
                <a:solidFill>
                  <a:srgbClr val="222222"/>
                </a:solidFill>
                <a:latin typeface="Calibri"/>
              </a:defRPr>
            </a:pPr>
            <a:r>
              <a:rPr sz="1800" b="0">
                <a:solidFill>
                  <a:srgbClr val="222222"/>
                </a:solidFill>
                <a:latin typeface="Calibri"/>
              </a:rPr>
              <a:t>It hops between 79 narrow channels many times a second, so a busy band does not stop it. That is why twenty vehicles in one room actually works.</a:t>
            </a:r>
          </a:p>
          <a:p>
            <a:pPr algn="l">
              <a:lnSpc>
                <a:spcPct val="100000"/>
              </a:lnSpc>
              <a:spcAft>
                <a:spcPts val="900"/>
              </a:spcAft>
              <a:defRPr sz="1800" b="0">
                <a:solidFill>
                  <a:srgbClr val="222222"/>
                </a:solidFill>
                <a:latin typeface="Calibri"/>
              </a:defRPr>
            </a:pPr>
            <a:r>
              <a:rPr sz="1800" b="0">
                <a:solidFill>
                  <a:srgbClr val="222222"/>
                </a:solidFill>
                <a:latin typeface="Calibri"/>
              </a:rPr>
              <a:t>Range is tens of metres, and it goes down sharply if somebody stands between the pad and the vehicle.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Every Bluetooth device has an ADDRESS - six bytes, written as six pairs of hexadecimal digits, like 02:02:03:04:05:08. It is the equivalent of a phone number.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Bluetooth is doing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The ESP32 has Bluetooth built into the chip. That is a large part of why we use it.</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Bluetooth sketch fills about 85% of the ESP32's program storage. That is the radio stack, not your code - but it does mean there is not much room left, so keep additions lean.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vehicle, one controller  -  the allowlist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A Switch pad in pairing mode will happily connect to whichever vehicle answers first. In a room with twenty vehicles that means two students end up driving the same one.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So on this track, the VEHICLE is told which controller address it will accept.</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Bluepad32 keeps an ALLOWLIST - a guest list checked BEFORE a connection is accepted. A pad that is not on the list is turned away before it is ever let in.</a:t>
            </a:r>
          </a:p>
          <a:p>
            <a:pPr algn="l">
              <a:lnSpc>
                <a:spcPct val="100000"/>
              </a:lnSpc>
              <a:spcAft>
                <a:spcPts val="900"/>
              </a:spcAft>
              <a:defRPr sz="1800" b="0">
                <a:solidFill>
                  <a:srgbClr val="222222"/>
                </a:solidFill>
                <a:latin typeface="Calibri"/>
              </a:defRPr>
            </a:pPr>
          </a:p>
          <a:p>
            <a:pPr lvl="1" algn="l">
              <a:lnSpc>
                <a:spcPct val="100000"/>
              </a:lnSpc>
              <a:spcAft>
                <a:spcPts val="900"/>
              </a:spcAft>
              <a:defRPr sz="1800" b="0">
                <a:solidFill>
                  <a:srgbClr val="222222"/>
                </a:solidFill>
                <a:latin typeface="Calibri"/>
              </a:defRPr>
            </a:pPr>
            <a:r>
              <a:rPr sz="1800" b="0">
                <a:solidFill>
                  <a:srgbClr val="222222"/>
                </a:solidFill>
                <a:latin typeface="Calibri"/>
              </a:rPr>
              <a:t>uni_bt_allowlist_remove_all();</a:t>
            </a:r>
          </a:p>
          <a:p>
            <a:pPr lvl="1" algn="l">
              <a:lnSpc>
                <a:spcPct val="100000"/>
              </a:lnSpc>
              <a:spcAft>
                <a:spcPts val="900"/>
              </a:spcAft>
              <a:defRPr sz="1800" b="0">
                <a:solidFill>
                  <a:srgbClr val="222222"/>
                </a:solidFill>
                <a:latin typeface="Calibri"/>
              </a:defRPr>
            </a:pPr>
            <a:r>
              <a:rPr sz="1800" b="0">
                <a:solidFill>
                  <a:srgbClr val="222222"/>
                </a:solidFill>
                <a:latin typeface="Calibri"/>
              </a:rPr>
              <a:t>uni_bt_allowlist_add_addr(myControllerAddress);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vehicle, one controller  -  the allowlist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lvl="1" algn="l">
              <a:lnSpc>
                <a:spcPct val="100000"/>
              </a:lnSpc>
              <a:spcAft>
                <a:spcPts val="900"/>
              </a:spcAft>
              <a:defRPr sz="1800" b="0">
                <a:solidFill>
                  <a:srgbClr val="222222"/>
                </a:solidFill>
                <a:latin typeface="Calibri"/>
              </a:defRPr>
            </a:pPr>
            <a:r>
              <a:rPr sz="1800" b="0">
                <a:solidFill>
                  <a:srgbClr val="222222"/>
                </a:solidFill>
                <a:latin typeface="Calibri"/>
              </a:rPr>
              <a:t>uni_bt_allowlist_set_enabled(true);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vehicle, one controller  -  the allowlist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You find your pad's address with l3a_controller_check, which prints the address for you, then paste the line it prints into the top of every sketch for the rest of the day.</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list is rebuilt from scratch at every boot, so the sketch is always the single source of truth about who may drive. Write the address on a sticker on the vehicle AND the controller.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YOUR vehicle gets paired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pathfinder_nintendoswitch: the address lives in the sketch</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In pathfinder_nintendoswitch - the program this whole course is about - the address is a CONSTANT IN THE PROGRAM, called MY_CONTROLLER.</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1.  Upload l3a_controller_check and connect your pad.</a:t>
            </a:r>
          </a:p>
          <a:p>
            <a:pPr algn="l">
              <a:lnSpc>
                <a:spcPct val="100000"/>
              </a:lnSpc>
              <a:spcAft>
                <a:spcPts val="900"/>
              </a:spcAft>
              <a:defRPr sz="1800" b="0">
                <a:solidFill>
                  <a:srgbClr val="222222"/>
                </a:solidFill>
                <a:latin typeface="Calibri"/>
              </a:defRPr>
            </a:pPr>
            <a:r>
              <a:rPr sz="1800" b="0">
                <a:solidFill>
                  <a:srgbClr val="222222"/>
                </a:solidFill>
                <a:latin typeface="Calibri"/>
              </a:rPr>
              <a:t>2.  It prints a ready-made MY_CONTROLLER line.</a:t>
            </a:r>
          </a:p>
          <a:p>
            <a:pPr algn="l">
              <a:lnSpc>
                <a:spcPct val="100000"/>
              </a:lnSpc>
              <a:spcAft>
                <a:spcPts val="900"/>
              </a:spcAft>
              <a:defRPr sz="1800" b="0">
                <a:solidFill>
                  <a:srgbClr val="222222"/>
                </a:solidFill>
                <a:latin typeface="Calibri"/>
              </a:defRPr>
            </a:pPr>
            <a:r>
              <a:rPr sz="1800" b="0">
                <a:solidFill>
                  <a:srgbClr val="222222"/>
                </a:solidFill>
                <a:latin typeface="Calibri"/>
              </a:rPr>
              <a:t>3.  Paste that line into the top of the sketch.</a:t>
            </a:r>
          </a:p>
          <a:p>
            <a:pPr algn="l">
              <a:lnSpc>
                <a:spcPct val="100000"/>
              </a:lnSpc>
              <a:spcAft>
                <a:spcPts val="900"/>
              </a:spcAft>
              <a:defRPr sz="1800" b="0">
                <a:solidFill>
                  <a:srgbClr val="222222"/>
                </a:solidFill>
                <a:latin typeface="Calibri"/>
              </a:defRPr>
            </a:pPr>
            <a:r>
              <a:rPr sz="1800" b="0">
                <a:solidFill>
                  <a:srgbClr val="222222"/>
                </a:solidFill>
                <a:latin typeface="Calibri"/>
              </a:rPr>
              <a:t>4.  Upload. From now on the vehicle answers only to that pad.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YOUR vehicle gets paired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To change controllers, you edit the sketch and upload again.</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Nothing is hidden. The whole mechanism is visible in the file in front of you, which is exactly what you want while you are still learning what the pieces are.</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400">
                <a:solidFill>
                  <a:srgbClr val="222222"/>
                </a:solidFill>
                <a:latin typeface="Calibri"/>
              </a:rPr>
              <a:t>Side note: the ADVANCED program, Pathfinder_Op_Program12, does this differently - it stores the address in EEPROM and you pair by typing 'pair' in the Serial Monitor, or pressing the BOOT button, then A and HOME on the pad. If somebody hands you a vehicle and tells you to type 'pair', it is running that program, not this one.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Switch controller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TextBox 5"/>
          <p:cNvSpPr txBox="1"/>
          <p:nvPr/>
        </p:nvSpPr>
        <p:spPr>
          <a:xfrm>
            <a:off x="502920" y="1188720"/>
            <a:ext cx="11185855" cy="10058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Every one of those has a name in the program - but not always the name printed on it. The next slide is the table you will actually need.</a:t>
            </a:r>
          </a:p>
        </p:txBody>
      </p:sp>
      <p:pic>
        <p:nvPicPr>
          <p:cNvPr id="7" name="Picture 6" descr="switch-controller-labelled.jpg"/>
          <p:cNvPicPr>
            <a:picLocks noChangeAspect="1"/>
          </p:cNvPicPr>
          <p:nvPr/>
        </p:nvPicPr>
        <p:blipFill>
          <a:blip r:embed="rId2"/>
          <a:stretch>
            <a:fillRect/>
          </a:stretch>
        </p:blipFill>
        <p:spPr>
          <a:xfrm>
            <a:off x="4463643" y="2267712"/>
            <a:ext cx="3264408" cy="3264408"/>
          </a:xfrm>
          <a:prstGeom prst="rect">
            <a:avLst/>
          </a:prstGeom>
        </p:spPr>
      </p:pic>
      <p:sp>
        <p:nvSpPr>
          <p:cNvPr id="8" name="TextBox 7"/>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Two analog sticks, a D-pad, four face buttons, shoulders and triggers, and the small ones in the middle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Switch controller, as Bluepad32 sees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Bluepad32 names the face buttons by POSITION, Xbox style - not by the letter printed on your pad.</a:t>
            </a:r>
          </a:p>
        </p:txBody>
      </p:sp>
      <p:graphicFrame>
        <p:nvGraphicFramePr>
          <p:cNvPr id="7" name="Table 6"/>
          <p:cNvGraphicFramePr>
            <a:graphicFrameLocks noGrp="1"/>
          </p:cNvGraphicFramePr>
          <p:nvPr/>
        </p:nvGraphicFramePr>
        <p:xfrm>
          <a:off x="502920" y="1691640"/>
          <a:ext cx="11185854" cy="3108325"/>
        </p:xfrm>
        <a:graphic>
          <a:graphicData uri="http://schemas.openxmlformats.org/drawingml/2006/table">
            <a:tbl>
              <a:tblPr firstRow="1" bandRow="1">
                <a:tableStyleId>{5C22544A-7EE6-4342-B048-85BDC9FD1C3A}</a:tableStyleId>
              </a:tblPr>
              <a:tblGrid>
                <a:gridCol w="2663298"/>
                <a:gridCol w="4261278"/>
                <a:gridCol w="4261278"/>
              </a:tblGrid>
              <a:tr h="282575">
                <a:tc>
                  <a:txBody>
                    <a:bodyPr/>
                    <a:lstStyle/>
                    <a:p>
                      <a:r>
                        <a:rPr sz="1300" b="1">
                          <a:solidFill>
                            <a:srgbClr val="FFFFFF"/>
                          </a:solidFill>
                          <a:latin typeface="Calibri"/>
                        </a:rPr>
                        <a:t>Printed on the pad</a:t>
                      </a:r>
                    </a:p>
                  </a:txBody>
                  <a:tcPr marL="73152" marT="18288" marB="18288">
                    <a:solidFill>
                      <a:srgbClr val="1F3A5F"/>
                    </a:solidFill>
                  </a:tcPr>
                </a:tc>
                <a:tc>
                  <a:txBody>
                    <a:bodyPr/>
                    <a:lstStyle/>
                    <a:p>
                      <a:r>
                        <a:rPr sz="1300" b="1">
                          <a:solidFill>
                            <a:srgbClr val="FFFFFF"/>
                          </a:solidFill>
                          <a:latin typeface="Calibri"/>
                        </a:rPr>
                        <a:t>In the program</a:t>
                      </a:r>
                    </a:p>
                  </a:txBody>
                  <a:tcPr marL="73152" marT="18288" marB="18288">
                    <a:solidFill>
                      <a:srgbClr val="1F3A5F"/>
                    </a:solidFill>
                  </a:tcPr>
                </a:tc>
                <a:tc>
                  <a:txBody>
                    <a:bodyPr/>
                    <a:lstStyle/>
                    <a:p>
                      <a:r>
                        <a:rPr sz="1300" b="1">
                          <a:solidFill>
                            <a:srgbClr val="FFFFFF"/>
                          </a:solidFill>
                          <a:latin typeface="Calibri"/>
                        </a:rPr>
                        <a:t>Where it is</a:t>
                      </a:r>
                    </a:p>
                  </a:txBody>
                  <a:tcPr marL="73152" marT="18288" marB="18288">
                    <a:solidFill>
                      <a:srgbClr val="1F3A5F"/>
                    </a:solidFill>
                  </a:tcPr>
                </a:tc>
              </a:tr>
              <a:tr h="282575">
                <a:tc>
                  <a:txBody>
                    <a:bodyPr/>
                    <a:lstStyle/>
                    <a:p>
                      <a:r>
                        <a:rPr sz="1300">
                          <a:solidFill>
                            <a:srgbClr val="222222"/>
                          </a:solidFill>
                          <a:latin typeface="Calibri"/>
                        </a:rPr>
                        <a:t>B</a:t>
                      </a:r>
                    </a:p>
                  </a:txBody>
                  <a:tcPr marL="73152" marT="18288" marB="18288">
                    <a:solidFill>
                      <a:srgbClr val="FFFFFF"/>
                    </a:solidFill>
                  </a:tcPr>
                </a:tc>
                <a:tc>
                  <a:txBody>
                    <a:bodyPr/>
                    <a:lstStyle/>
                    <a:p>
                      <a:r>
                        <a:rPr sz="1300">
                          <a:solidFill>
                            <a:srgbClr val="222222"/>
                          </a:solidFill>
                          <a:latin typeface="Calibri"/>
                        </a:rPr>
                        <a:t>myController-&gt;a()</a:t>
                      </a:r>
                    </a:p>
                  </a:txBody>
                  <a:tcPr marL="73152" marT="18288" marB="18288">
                    <a:solidFill>
                      <a:srgbClr val="FFFFFF"/>
                    </a:solidFill>
                  </a:tcPr>
                </a:tc>
                <a:tc>
                  <a:txBody>
                    <a:bodyPr/>
                    <a:lstStyle/>
                    <a:p>
                      <a:r>
                        <a:rPr sz="1300">
                          <a:solidFill>
                            <a:srgbClr val="222222"/>
                          </a:solidFill>
                          <a:latin typeface="Calibri"/>
                        </a:rPr>
                        <a:t>bottom face button</a:t>
                      </a:r>
                    </a:p>
                  </a:txBody>
                  <a:tcPr marL="73152" marT="18288" marB="18288">
                    <a:solidFill>
                      <a:srgbClr val="FFFFFF"/>
                    </a:solidFill>
                  </a:tcPr>
                </a:tc>
              </a:tr>
              <a:tr h="282575">
                <a:tc>
                  <a:txBody>
                    <a:bodyPr/>
                    <a:lstStyle/>
                    <a:p>
                      <a:r>
                        <a:rPr sz="1300">
                          <a:solidFill>
                            <a:srgbClr val="222222"/>
                          </a:solidFill>
                          <a:latin typeface="Calibri"/>
                        </a:rPr>
                        <a:t>A</a:t>
                      </a:r>
                    </a:p>
                  </a:txBody>
                  <a:tcPr marL="73152" marT="18288" marB="18288">
                    <a:solidFill>
                      <a:srgbClr val="EEF3F8"/>
                    </a:solidFill>
                  </a:tcPr>
                </a:tc>
                <a:tc>
                  <a:txBody>
                    <a:bodyPr/>
                    <a:lstStyle/>
                    <a:p>
                      <a:r>
                        <a:rPr sz="1300">
                          <a:solidFill>
                            <a:srgbClr val="222222"/>
                          </a:solidFill>
                          <a:latin typeface="Calibri"/>
                        </a:rPr>
                        <a:t>myController-&gt;b()</a:t>
                      </a:r>
                    </a:p>
                  </a:txBody>
                  <a:tcPr marL="73152" marT="18288" marB="18288">
                    <a:solidFill>
                      <a:srgbClr val="EEF3F8"/>
                    </a:solidFill>
                  </a:tcPr>
                </a:tc>
                <a:tc>
                  <a:txBody>
                    <a:bodyPr/>
                    <a:lstStyle/>
                    <a:p>
                      <a:r>
                        <a:rPr sz="1300">
                          <a:solidFill>
                            <a:srgbClr val="222222"/>
                          </a:solidFill>
                          <a:latin typeface="Calibri"/>
                        </a:rPr>
                        <a:t>right face button</a:t>
                      </a:r>
                    </a:p>
                  </a:txBody>
                  <a:tcPr marL="73152" marT="18288" marB="18288">
                    <a:solidFill>
                      <a:srgbClr val="EEF3F8"/>
                    </a:solidFill>
                  </a:tcPr>
                </a:tc>
              </a:tr>
              <a:tr h="282575">
                <a:tc>
                  <a:txBody>
                    <a:bodyPr/>
                    <a:lstStyle/>
                    <a:p>
                      <a:r>
                        <a:rPr sz="1300">
                          <a:solidFill>
                            <a:srgbClr val="222222"/>
                          </a:solidFill>
                          <a:latin typeface="Calibri"/>
                        </a:rPr>
                        <a:t>Y</a:t>
                      </a:r>
                    </a:p>
                  </a:txBody>
                  <a:tcPr marL="73152" marT="18288" marB="18288">
                    <a:solidFill>
                      <a:srgbClr val="FFFFFF"/>
                    </a:solidFill>
                  </a:tcPr>
                </a:tc>
                <a:tc>
                  <a:txBody>
                    <a:bodyPr/>
                    <a:lstStyle/>
                    <a:p>
                      <a:r>
                        <a:rPr sz="1300">
                          <a:solidFill>
                            <a:srgbClr val="222222"/>
                          </a:solidFill>
                          <a:latin typeface="Calibri"/>
                        </a:rPr>
                        <a:t>myController-&gt;x()</a:t>
                      </a:r>
                    </a:p>
                  </a:txBody>
                  <a:tcPr marL="73152" marT="18288" marB="18288">
                    <a:solidFill>
                      <a:srgbClr val="FFFFFF"/>
                    </a:solidFill>
                  </a:tcPr>
                </a:tc>
                <a:tc>
                  <a:txBody>
                    <a:bodyPr/>
                    <a:lstStyle/>
                    <a:p>
                      <a:r>
                        <a:rPr sz="1300">
                          <a:solidFill>
                            <a:srgbClr val="222222"/>
                          </a:solidFill>
                          <a:latin typeface="Calibri"/>
                        </a:rPr>
                        <a:t>left face button</a:t>
                      </a:r>
                    </a:p>
                  </a:txBody>
                  <a:tcPr marL="73152" marT="18288" marB="18288">
                    <a:solidFill>
                      <a:srgbClr val="FFFFFF"/>
                    </a:solidFill>
                  </a:tcPr>
                </a:tc>
              </a:tr>
              <a:tr h="282575">
                <a:tc>
                  <a:txBody>
                    <a:bodyPr/>
                    <a:lstStyle/>
                    <a:p>
                      <a:r>
                        <a:rPr sz="1300">
                          <a:solidFill>
                            <a:srgbClr val="222222"/>
                          </a:solidFill>
                          <a:latin typeface="Calibri"/>
                        </a:rPr>
                        <a:t>X</a:t>
                      </a:r>
                    </a:p>
                  </a:txBody>
                  <a:tcPr marL="73152" marT="18288" marB="18288">
                    <a:solidFill>
                      <a:srgbClr val="EEF3F8"/>
                    </a:solidFill>
                  </a:tcPr>
                </a:tc>
                <a:tc>
                  <a:txBody>
                    <a:bodyPr/>
                    <a:lstStyle/>
                    <a:p>
                      <a:r>
                        <a:rPr sz="1300">
                          <a:solidFill>
                            <a:srgbClr val="222222"/>
                          </a:solidFill>
                          <a:latin typeface="Calibri"/>
                        </a:rPr>
                        <a:t>myController-&gt;y()</a:t>
                      </a:r>
                    </a:p>
                  </a:txBody>
                  <a:tcPr marL="73152" marT="18288" marB="18288">
                    <a:solidFill>
                      <a:srgbClr val="EEF3F8"/>
                    </a:solidFill>
                  </a:tcPr>
                </a:tc>
                <a:tc>
                  <a:txBody>
                    <a:bodyPr/>
                    <a:lstStyle/>
                    <a:p>
                      <a:r>
                        <a:rPr sz="1300">
                          <a:solidFill>
                            <a:srgbClr val="222222"/>
                          </a:solidFill>
                          <a:latin typeface="Calibri"/>
                        </a:rPr>
                        <a:t>top face button</a:t>
                      </a:r>
                    </a:p>
                  </a:txBody>
                  <a:tcPr marL="73152" marT="18288" marB="18288">
                    <a:solidFill>
                      <a:srgbClr val="EEF3F8"/>
                    </a:solidFill>
                  </a:tcPr>
                </a:tc>
              </a:tr>
              <a:tr h="282575">
                <a:tc>
                  <a:txBody>
                    <a:bodyPr/>
                    <a:lstStyle/>
                    <a:p>
                      <a:r>
                        <a:rPr sz="1300">
                          <a:solidFill>
                            <a:srgbClr val="222222"/>
                          </a:solidFill>
                          <a:latin typeface="Calibri"/>
                        </a:rPr>
                        <a:t>L / R</a:t>
                      </a:r>
                    </a:p>
                  </a:txBody>
                  <a:tcPr marL="73152" marT="18288" marB="18288">
                    <a:solidFill>
                      <a:srgbClr val="FFFFFF"/>
                    </a:solidFill>
                  </a:tcPr>
                </a:tc>
                <a:tc>
                  <a:txBody>
                    <a:bodyPr/>
                    <a:lstStyle/>
                    <a:p>
                      <a:r>
                        <a:rPr sz="1300">
                          <a:solidFill>
                            <a:srgbClr val="222222"/>
                          </a:solidFill>
                          <a:latin typeface="Calibri"/>
                        </a:rPr>
                        <a:t>l1() / r1()</a:t>
                      </a:r>
                    </a:p>
                  </a:txBody>
                  <a:tcPr marL="73152" marT="18288" marB="18288">
                    <a:solidFill>
                      <a:srgbClr val="FFFFFF"/>
                    </a:solidFill>
                  </a:tcPr>
                </a:tc>
                <a:tc>
                  <a:txBody>
                    <a:bodyPr/>
                    <a:lstStyle/>
                    <a:p>
                      <a:r>
                        <a:rPr sz="1300">
                          <a:solidFill>
                            <a:srgbClr val="222222"/>
                          </a:solidFill>
                          <a:latin typeface="Calibri"/>
                        </a:rPr>
                        <a:t>shoulders</a:t>
                      </a:r>
                    </a:p>
                  </a:txBody>
                  <a:tcPr marL="73152" marT="18288" marB="18288">
                    <a:solidFill>
                      <a:srgbClr val="FFFFFF"/>
                    </a:solidFill>
                  </a:tcPr>
                </a:tc>
              </a:tr>
              <a:tr h="282575">
                <a:tc>
                  <a:txBody>
                    <a:bodyPr/>
                    <a:lstStyle/>
                    <a:p>
                      <a:r>
                        <a:rPr sz="1300">
                          <a:solidFill>
                            <a:srgbClr val="222222"/>
                          </a:solidFill>
                          <a:latin typeface="Calibri"/>
                        </a:rPr>
                        <a:t>ZL / ZR</a:t>
                      </a:r>
                    </a:p>
                  </a:txBody>
                  <a:tcPr marL="73152" marT="18288" marB="18288">
                    <a:solidFill>
                      <a:srgbClr val="EEF3F8"/>
                    </a:solidFill>
                  </a:tcPr>
                </a:tc>
                <a:tc>
                  <a:txBody>
                    <a:bodyPr/>
                    <a:lstStyle/>
                    <a:p>
                      <a:r>
                        <a:rPr sz="1300">
                          <a:solidFill>
                            <a:srgbClr val="222222"/>
                          </a:solidFill>
                          <a:latin typeface="Calibri"/>
                        </a:rPr>
                        <a:t>l2() / r2()</a:t>
                      </a:r>
                    </a:p>
                  </a:txBody>
                  <a:tcPr marL="73152" marT="18288" marB="18288">
                    <a:solidFill>
                      <a:srgbClr val="EEF3F8"/>
                    </a:solidFill>
                  </a:tcPr>
                </a:tc>
                <a:tc>
                  <a:txBody>
                    <a:bodyPr/>
                    <a:lstStyle/>
                    <a:p>
                      <a:r>
                        <a:rPr sz="1300">
                          <a:solidFill>
                            <a:srgbClr val="222222"/>
                          </a:solidFill>
                          <a:latin typeface="Calibri"/>
                        </a:rPr>
                        <a:t>triggers</a:t>
                      </a:r>
                    </a:p>
                  </a:txBody>
                  <a:tcPr marL="73152" marT="18288" marB="18288">
                    <a:solidFill>
                      <a:srgbClr val="EEF3F8"/>
                    </a:solidFill>
                  </a:tcPr>
                </a:tc>
              </a:tr>
              <a:tr h="282575">
                <a:tc>
                  <a:txBody>
                    <a:bodyPr/>
                    <a:lstStyle/>
                    <a:p>
                      <a:r>
                        <a:rPr sz="1300">
                          <a:solidFill>
                            <a:srgbClr val="222222"/>
                          </a:solidFill>
                          <a:latin typeface="Calibri"/>
                        </a:rPr>
                        <a:t>stick click</a:t>
                      </a:r>
                    </a:p>
                  </a:txBody>
                  <a:tcPr marL="73152" marT="18288" marB="18288">
                    <a:solidFill>
                      <a:srgbClr val="FFFFFF"/>
                    </a:solidFill>
                  </a:tcPr>
                </a:tc>
                <a:tc>
                  <a:txBody>
                    <a:bodyPr/>
                    <a:lstStyle/>
                    <a:p>
                      <a:r>
                        <a:rPr sz="1300">
                          <a:solidFill>
                            <a:srgbClr val="222222"/>
                          </a:solidFill>
                          <a:latin typeface="Calibri"/>
                        </a:rPr>
                        <a:t>thumbL() / thumbR()</a:t>
                      </a:r>
                    </a:p>
                  </a:txBody>
                  <a:tcPr marL="73152" marT="18288" marB="18288">
                    <a:solidFill>
                      <a:srgbClr val="FFFFFF"/>
                    </a:solidFill>
                  </a:tcPr>
                </a:tc>
                <a:tc>
                  <a:txBody>
                    <a:bodyPr/>
                    <a:lstStyle/>
                    <a:p>
                      <a:r>
                        <a:rPr sz="1300">
                          <a:solidFill>
                            <a:srgbClr val="222222"/>
                          </a:solidFill>
                          <a:latin typeface="Calibri"/>
                        </a:rPr>
                        <a:t>press a stick in</a:t>
                      </a:r>
                    </a:p>
                  </a:txBody>
                  <a:tcPr marL="73152" marT="18288" marB="18288">
                    <a:solidFill>
                      <a:srgbClr val="FFFFFF"/>
                    </a:solidFill>
                  </a:tcPr>
                </a:tc>
              </a:tr>
              <a:tr h="282575">
                <a:tc>
                  <a:txBody>
                    <a:bodyPr/>
                    <a:lstStyle/>
                    <a:p>
                      <a:r>
                        <a:rPr sz="1300">
                          <a:solidFill>
                            <a:srgbClr val="222222"/>
                          </a:solidFill>
                          <a:latin typeface="Calibri"/>
                        </a:rPr>
                        <a:t>D-pad</a:t>
                      </a:r>
                    </a:p>
                  </a:txBody>
                  <a:tcPr marL="73152" marT="18288" marB="18288">
                    <a:solidFill>
                      <a:srgbClr val="EEF3F8"/>
                    </a:solidFill>
                  </a:tcPr>
                </a:tc>
                <a:tc>
                  <a:txBody>
                    <a:bodyPr/>
                    <a:lstStyle/>
                    <a:p>
                      <a:r>
                        <a:rPr sz="1300">
                          <a:solidFill>
                            <a:srgbClr val="222222"/>
                          </a:solidFill>
                          <a:latin typeface="Calibri"/>
                        </a:rPr>
                        <a:t>dpad() &amp; DPAD_UP  etc.</a:t>
                      </a:r>
                    </a:p>
                  </a:txBody>
                  <a:tcPr marL="73152" marT="18288" marB="18288">
                    <a:solidFill>
                      <a:srgbClr val="EEF3F8"/>
                    </a:solidFill>
                  </a:tcPr>
                </a:tc>
                <a:tc>
                  <a:txBody>
                    <a:bodyPr/>
                    <a:lstStyle/>
                    <a:p>
                      <a:r>
                        <a:rPr sz="1300">
                          <a:solidFill>
                            <a:srgbClr val="222222"/>
                          </a:solidFill>
                          <a:latin typeface="Calibri"/>
                        </a:rPr>
                        <a:t>one number, one bit per direction</a:t>
                      </a:r>
                    </a:p>
                  </a:txBody>
                  <a:tcPr marL="73152" marT="18288" marB="18288">
                    <a:solidFill>
                      <a:srgbClr val="EEF3F8"/>
                    </a:solidFill>
                  </a:tcPr>
                </a:tc>
              </a:tr>
              <a:tr h="282575">
                <a:tc>
                  <a:txBody>
                    <a:bodyPr/>
                    <a:lstStyle/>
                    <a:p>
                      <a:r>
                        <a:rPr sz="1300">
                          <a:solidFill>
                            <a:srgbClr val="222222"/>
                          </a:solidFill>
                          <a:latin typeface="Calibri"/>
                        </a:rPr>
                        <a:t>left stick</a:t>
                      </a:r>
                    </a:p>
                  </a:txBody>
                  <a:tcPr marL="73152" marT="18288" marB="18288">
                    <a:solidFill>
                      <a:srgbClr val="FFFFFF"/>
                    </a:solidFill>
                  </a:tcPr>
                </a:tc>
                <a:tc>
                  <a:txBody>
                    <a:bodyPr/>
                    <a:lstStyle/>
                    <a:p>
                      <a:r>
                        <a:rPr sz="1300">
                          <a:solidFill>
                            <a:srgbClr val="222222"/>
                          </a:solidFill>
                          <a:latin typeface="Calibri"/>
                        </a:rPr>
                        <a:t>axisX() / axisY()</a:t>
                      </a:r>
                    </a:p>
                  </a:txBody>
                  <a:tcPr marL="73152" marT="18288" marB="18288">
                    <a:solidFill>
                      <a:srgbClr val="FFFFFF"/>
                    </a:solidFill>
                  </a:tcPr>
                </a:tc>
                <a:tc>
                  <a:txBody>
                    <a:bodyPr/>
                    <a:lstStyle/>
                    <a:p>
                      <a:r>
                        <a:rPr sz="1300">
                          <a:solidFill>
                            <a:srgbClr val="222222"/>
                          </a:solidFill>
                          <a:latin typeface="Calibri"/>
                        </a:rPr>
                        <a:t>-512 to +511</a:t>
                      </a:r>
                    </a:p>
                  </a:txBody>
                  <a:tcPr marL="73152" marT="18288" marB="18288">
                    <a:solidFill>
                      <a:srgbClr val="FFFFFF"/>
                    </a:solidFill>
                  </a:tcPr>
                </a:tc>
              </a:tr>
              <a:tr h="282575">
                <a:tc>
                  <a:txBody>
                    <a:bodyPr/>
                    <a:lstStyle/>
                    <a:p>
                      <a:r>
                        <a:rPr sz="1300">
                          <a:solidFill>
                            <a:srgbClr val="222222"/>
                          </a:solidFill>
                          <a:latin typeface="Calibri"/>
                        </a:rPr>
                        <a:t>right stick</a:t>
                      </a:r>
                    </a:p>
                  </a:txBody>
                  <a:tcPr marL="73152" marT="18288" marB="18288">
                    <a:solidFill>
                      <a:srgbClr val="EEF3F8"/>
                    </a:solidFill>
                  </a:tcPr>
                </a:tc>
                <a:tc>
                  <a:txBody>
                    <a:bodyPr/>
                    <a:lstStyle/>
                    <a:p>
                      <a:r>
                        <a:rPr sz="1300">
                          <a:solidFill>
                            <a:srgbClr val="222222"/>
                          </a:solidFill>
                          <a:latin typeface="Calibri"/>
                        </a:rPr>
                        <a:t>axisRX() / axisRY()</a:t>
                      </a:r>
                    </a:p>
                  </a:txBody>
                  <a:tcPr marL="73152" marT="18288" marB="18288">
                    <a:solidFill>
                      <a:srgbClr val="EEF3F8"/>
                    </a:solidFill>
                  </a:tcPr>
                </a:tc>
                <a:tc>
                  <a:txBody>
                    <a:bodyPr/>
                    <a:lstStyle/>
                    <a:p>
                      <a:r>
                        <a:rPr sz="1300">
                          <a:solidFill>
                            <a:srgbClr val="222222"/>
                          </a:solidFill>
                          <a:latin typeface="Calibri"/>
                        </a:rPr>
                        <a:t>-512 to +511</a:t>
                      </a:r>
                    </a:p>
                  </a:txBody>
                  <a:tcPr marL="73152" marT="18288" marB="18288">
                    <a:solidFill>
                      <a:srgbClr val="EEF3F8"/>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So y() is the button MARKED X, because it is the top one. Third-party pads do not always agree. l3a_controller_check prints what you actually pressed, which settles 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kinds of control, and the axes they move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Digital: buttons</a:t>
            </a:r>
          </a:p>
        </p:txBody>
      </p:sp>
      <p:sp>
        <p:nvSpPr>
          <p:cNvPr id="7" name="TextBox 6"/>
          <p:cNvSpPr txBox="1"/>
          <p:nvPr/>
        </p:nvSpPr>
        <p:spPr>
          <a:xfrm>
            <a:off x="502920" y="1700784"/>
            <a:ext cx="5364327" cy="3419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A button is either pressed or it is not. true or false.</a:t>
            </a:r>
          </a:p>
          <a:p>
            <a:pPr algn="l">
              <a:lnSpc>
                <a:spcPct val="100000"/>
              </a:lnSpc>
              <a:spcAft>
                <a:spcPts val="400"/>
              </a:spcAft>
              <a:defRPr sz="1800" b="0">
                <a:solidFill>
                  <a:srgbClr val="222222"/>
                </a:solidFill>
                <a:latin typeface="Calibri"/>
              </a:defRPr>
            </a:pPr>
            <a:r>
              <a:rPr sz="1800" b="0">
                <a:solidFill>
                  <a:srgbClr val="222222"/>
                </a:solidFill>
                <a:latin typeface="Calibri"/>
              </a:rPr>
              <a:t>Face buttons, D-pad, shoulders, triggers, and clicking the sticks in.</a:t>
            </a:r>
          </a:p>
          <a:p>
            <a:pPr algn="l">
              <a:lnSpc>
                <a:spcPct val="100000"/>
              </a:lnSpc>
              <a:spcAft>
                <a:spcPts val="400"/>
              </a:spcAft>
              <a:defRPr sz="1800" b="0">
                <a:solidFill>
                  <a:srgbClr val="222222"/>
                </a:solidFill>
                <a:latin typeface="Calibri"/>
              </a:defRPr>
            </a:pPr>
            <a:r>
              <a:rPr sz="1800" b="0">
                <a:solidFill>
                  <a:srgbClr val="222222"/>
                </a:solidFill>
                <a:latin typeface="Calibri"/>
              </a:rPr>
              <a:t>Good for: on/off, mode changes, one-shot actions.</a:t>
            </a:r>
          </a:p>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On this track:</a:t>
            </a:r>
          </a:p>
          <a:p>
            <a:pPr lvl="1" algn="l">
              <a:lnSpc>
                <a:spcPct val="100000"/>
              </a:lnSpc>
              <a:spcAft>
                <a:spcPts val="400"/>
              </a:spcAft>
              <a:defRPr sz="1800" b="0">
                <a:solidFill>
                  <a:srgbClr val="222222"/>
                </a:solidFill>
                <a:latin typeface="Calibri"/>
              </a:defRPr>
            </a:pPr>
            <a:r>
              <a:rPr sz="1800" b="0">
                <a:solidFill>
                  <a:srgbClr val="222222"/>
                </a:solidFill>
                <a:latin typeface="Calibri"/>
              </a:rPr>
              <a:t>myController-&gt;x()</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Analog: thumbsticks</a:t>
            </a:r>
          </a:p>
        </p:txBody>
      </p:sp>
      <p:sp>
        <p:nvSpPr>
          <p:cNvPr id="9" name="TextBox 8"/>
          <p:cNvSpPr txBox="1"/>
          <p:nvPr/>
        </p:nvSpPr>
        <p:spPr>
          <a:xfrm>
            <a:off x="6324447" y="1700784"/>
            <a:ext cx="5364327" cy="3419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A stick reports HOW FAR it is pushed, on two axes.</a:t>
            </a:r>
          </a:p>
          <a:p>
            <a:pPr algn="l">
              <a:lnSpc>
                <a:spcPct val="100000"/>
              </a:lnSpc>
              <a:spcAft>
                <a:spcPts val="400"/>
              </a:spcAft>
              <a:defRPr sz="1800" b="0">
                <a:solidFill>
                  <a:srgbClr val="222222"/>
                </a:solidFill>
                <a:latin typeface="Calibri"/>
              </a:defRPr>
            </a:pPr>
            <a:r>
              <a:rPr sz="1800" b="0">
                <a:solidFill>
                  <a:srgbClr val="222222"/>
                </a:solidFill>
                <a:latin typeface="Calibri"/>
              </a:rPr>
              <a:t>On this track each axis reads -512 to +511.</a:t>
            </a:r>
          </a:p>
          <a:p>
            <a:pPr algn="l">
              <a:lnSpc>
                <a:spcPct val="100000"/>
              </a:lnSpc>
              <a:spcAft>
                <a:spcPts val="400"/>
              </a:spcAft>
              <a:defRPr sz="1800" b="0">
                <a:solidFill>
                  <a:srgbClr val="222222"/>
                </a:solidFill>
                <a:latin typeface="Calibri"/>
              </a:defRPr>
            </a:pPr>
            <a:r>
              <a:rPr sz="1800" b="0">
                <a:solidFill>
                  <a:srgbClr val="222222"/>
                </a:solidFill>
                <a:latin typeface="Calibri"/>
              </a:rPr>
              <a:t>Good for: speed, steering, aiming a servo.</a:t>
            </a:r>
          </a:p>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On this track:</a:t>
            </a:r>
          </a:p>
          <a:p>
            <a:pPr lvl="1" algn="l">
              <a:lnSpc>
                <a:spcPct val="100000"/>
              </a:lnSpc>
              <a:spcAft>
                <a:spcPts val="400"/>
              </a:spcAft>
              <a:defRPr sz="1800" b="0">
                <a:solidFill>
                  <a:srgbClr val="222222"/>
                </a:solidFill>
                <a:latin typeface="Calibri"/>
              </a:defRPr>
            </a:pPr>
            <a:r>
              <a:rPr sz="1800" b="0">
                <a:solidFill>
                  <a:srgbClr val="222222"/>
                </a:solidFill>
                <a:latin typeface="Calibri"/>
              </a:rPr>
              <a:t>myController-&gt;axisX()     // left/right</a:t>
            </a:r>
          </a:p>
          <a:p>
            <a:pPr lvl="1" algn="l">
              <a:lnSpc>
                <a:spcPct val="100000"/>
              </a:lnSpc>
              <a:spcAft>
                <a:spcPts val="400"/>
              </a:spcAft>
              <a:defRPr sz="1800" b="0">
                <a:solidFill>
                  <a:srgbClr val="222222"/>
                </a:solidFill>
                <a:latin typeface="Calibri"/>
              </a:defRPr>
            </a:pPr>
            <a:r>
              <a:rPr sz="1800" b="0">
                <a:solidFill>
                  <a:srgbClr val="222222"/>
                </a:solidFill>
                <a:latin typeface="Calibri"/>
              </a:rPr>
              <a:t>myController-&gt;axisY()     // up/down</a:t>
            </a:r>
          </a:p>
        </p:txBody>
      </p:sp>
      <p:sp>
        <p:nvSpPr>
          <p:cNvPr id="10" name="Rounded Rectangle 9"/>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Push a stick UP and the number goes NEGATIVE. That catches everybody. It is why the driving code has a minus sign in front of the Y reading.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Six degrees of freedom</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Any rigid object in space can move in six independent ways. Three are translations - sliding along an axis - and three are rotations.</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TRANSLATION</a:t>
            </a:r>
          </a:p>
          <a:p>
            <a:pPr lvl="1" algn="l">
              <a:lnSpc>
                <a:spcPct val="100000"/>
              </a:lnSpc>
              <a:spcAft>
                <a:spcPts val="900"/>
              </a:spcAft>
              <a:defRPr sz="1800" b="0">
                <a:solidFill>
                  <a:srgbClr val="222222"/>
                </a:solidFill>
                <a:latin typeface="Calibri"/>
              </a:defRPr>
            </a:pPr>
            <a:r>
              <a:rPr sz="1800" b="0">
                <a:solidFill>
                  <a:srgbClr val="222222"/>
                </a:solidFill>
                <a:latin typeface="Calibri"/>
              </a:rPr>
              <a:t>Forward and back  -  surge</a:t>
            </a:r>
          </a:p>
          <a:p>
            <a:pPr lvl="1" algn="l">
              <a:lnSpc>
                <a:spcPct val="100000"/>
              </a:lnSpc>
              <a:spcAft>
                <a:spcPts val="900"/>
              </a:spcAft>
              <a:defRPr sz="1800" b="0">
                <a:solidFill>
                  <a:srgbClr val="222222"/>
                </a:solidFill>
                <a:latin typeface="Calibri"/>
              </a:defRPr>
            </a:pPr>
            <a:r>
              <a:rPr sz="1800" b="0">
                <a:solidFill>
                  <a:srgbClr val="222222"/>
                </a:solidFill>
                <a:latin typeface="Calibri"/>
              </a:rPr>
              <a:t>Side to side  -  sway</a:t>
            </a:r>
          </a:p>
          <a:p>
            <a:pPr lvl="1" algn="l">
              <a:lnSpc>
                <a:spcPct val="100000"/>
              </a:lnSpc>
              <a:spcAft>
                <a:spcPts val="900"/>
              </a:spcAft>
              <a:defRPr sz="1800" b="0">
                <a:solidFill>
                  <a:srgbClr val="222222"/>
                </a:solidFill>
                <a:latin typeface="Calibri"/>
              </a:defRPr>
            </a:pPr>
            <a:r>
              <a:rPr sz="1800" b="0">
                <a:solidFill>
                  <a:srgbClr val="222222"/>
                </a:solidFill>
                <a:latin typeface="Calibri"/>
              </a:rPr>
              <a:t>Up and down  -  heave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ROTATION</a:t>
            </a:r>
          </a:p>
          <a:p>
            <a:pPr lvl="1" algn="l">
              <a:lnSpc>
                <a:spcPct val="100000"/>
              </a:lnSpc>
              <a:spcAft>
                <a:spcPts val="900"/>
              </a:spcAft>
              <a:defRPr sz="1800" b="0">
                <a:solidFill>
                  <a:srgbClr val="222222"/>
                </a:solidFill>
                <a:latin typeface="Calibri"/>
              </a:defRPr>
            </a:pPr>
            <a:r>
              <a:rPr sz="1800" b="0">
                <a:solidFill>
                  <a:srgbClr val="222222"/>
                </a:solidFill>
                <a:latin typeface="Calibri"/>
              </a:rPr>
              <a:t>Roll  -  tipping left or right about the fore-aft axis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Six degrees of freedom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lvl="1" algn="l">
              <a:lnSpc>
                <a:spcPct val="100000"/>
              </a:lnSpc>
              <a:spcAft>
                <a:spcPts val="900"/>
              </a:spcAft>
              <a:defRPr sz="1800" b="0">
                <a:solidFill>
                  <a:srgbClr val="222222"/>
                </a:solidFill>
                <a:latin typeface="Calibri"/>
              </a:defRPr>
            </a:pPr>
            <a:r>
              <a:rPr sz="1800" b="0">
                <a:solidFill>
                  <a:srgbClr val="222222"/>
                </a:solidFill>
                <a:latin typeface="Calibri"/>
              </a:rPr>
              <a:t>Pitch  -  nose up or nose down</a:t>
            </a:r>
          </a:p>
          <a:p>
            <a:pPr lvl="1" algn="l">
              <a:lnSpc>
                <a:spcPct val="100000"/>
              </a:lnSpc>
              <a:spcAft>
                <a:spcPts val="900"/>
              </a:spcAft>
              <a:defRPr sz="1800" b="0">
                <a:solidFill>
                  <a:srgbClr val="222222"/>
                </a:solidFill>
                <a:latin typeface="Calibri"/>
              </a:defRPr>
            </a:pPr>
            <a:r>
              <a:rPr sz="1800" b="0">
                <a:solidFill>
                  <a:srgbClr val="222222"/>
                </a:solidFill>
                <a:latin typeface="Calibri"/>
              </a:rPr>
              <a:t>Yaw  -  turning left or right, which is your steering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Six degrees of freedom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A ground vehicle on a flat floor really only controls surge and yaw. A submersible or an aircraft controls all six, which is why they need far more from the operator.</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PS3 controller was originally called the Sixaxis because it could sense all six. Spelled backwards, Sixaxis is still Sixaxis.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Rounded Rectangle 5"/>
          <p:cNvSpPr/>
          <p:nvPr/>
        </p:nvSpPr>
        <p:spPr>
          <a:xfrm>
            <a:off x="502920"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Bluetooth and pairing</a:t>
            </a:r>
          </a:p>
        </p:txBody>
      </p:sp>
      <p:sp>
        <p:nvSpPr>
          <p:cNvPr id="7" name="TextBox 6"/>
          <p:cNvSpPr txBox="1"/>
          <p:nvPr/>
        </p:nvSpPr>
        <p:spPr>
          <a:xfrm>
            <a:off x="502920"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3335959" y="2240280"/>
            <a:ext cx="2686735"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What the pad sends</a:t>
            </a:r>
          </a:p>
        </p:txBody>
      </p:sp>
      <p:sp>
        <p:nvSpPr>
          <p:cNvPr id="9" name="TextBox 8"/>
          <p:cNvSpPr txBox="1"/>
          <p:nvPr/>
        </p:nvSpPr>
        <p:spPr>
          <a:xfrm>
            <a:off x="3335959"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0" name="Rounded Rectangle 9"/>
          <p:cNvSpPr/>
          <p:nvPr/>
        </p:nvSpPr>
        <p:spPr>
          <a:xfrm>
            <a:off x="6168998" y="2240280"/>
            <a:ext cx="2686735"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Deadzone and map</a:t>
            </a:r>
          </a:p>
        </p:txBody>
      </p:sp>
      <p:sp>
        <p:nvSpPr>
          <p:cNvPr id="11" name="Rounded Rectangle 10"/>
          <p:cNvSpPr/>
          <p:nvPr/>
        </p:nvSpPr>
        <p:spPr>
          <a:xfrm>
            <a:off x="9002037" y="2240280"/>
            <a:ext cx="2686735"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it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what does the controller actually send?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l3a_controller_check</a:t>
            </a:r>
            <a:r>
              <a:rPr sz="1200">
                <a:solidFill>
                  <a:srgbClr val="FFFFFF"/>
                </a:solidFill>
                <a:latin typeface="Calibri"/>
              </a:rPr>
              <a:t>     (25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Upload it and open the Serial Monitor.</a:t>
            </a:r>
          </a:p>
          <a:p>
            <a:pPr algn="l">
              <a:lnSpc>
                <a:spcPct val="100000"/>
              </a:lnSpc>
              <a:spcAft>
                <a:spcPts val="400"/>
              </a:spcAft>
              <a:defRPr sz="1800" b="0">
                <a:solidFill>
                  <a:srgbClr val="222222"/>
                </a:solidFill>
                <a:latin typeface="Calibri"/>
              </a:defRPr>
            </a:pPr>
            <a:r>
              <a:rPr sz="1800" b="0">
                <a:solidFill>
                  <a:srgbClr val="222222"/>
                </a:solidFill>
                <a:latin typeface="Calibri"/>
              </a:rPr>
              <a:t>2.  Hold the SYNC button until the controller lights run.</a:t>
            </a:r>
          </a:p>
          <a:p>
            <a:pPr algn="l">
              <a:lnSpc>
                <a:spcPct val="100000"/>
              </a:lnSpc>
              <a:spcAft>
                <a:spcPts val="400"/>
              </a:spcAft>
              <a:defRPr sz="1800" b="0">
                <a:solidFill>
                  <a:srgbClr val="222222"/>
                </a:solidFill>
                <a:latin typeface="Calibri"/>
              </a:defRPr>
            </a:pPr>
            <a:r>
              <a:rPr sz="1800" b="0">
                <a:solidFill>
                  <a:srgbClr val="222222"/>
                </a:solidFill>
                <a:latin typeface="Calibri"/>
              </a:rPr>
              <a:t>3.  Press every button in turn and match it to the printed name.</a:t>
            </a:r>
          </a:p>
          <a:p>
            <a:pPr algn="l">
              <a:lnSpc>
                <a:spcPct val="100000"/>
              </a:lnSpc>
              <a:spcAft>
                <a:spcPts val="400"/>
              </a:spcAft>
              <a:defRPr sz="1800" b="0">
                <a:solidFill>
                  <a:srgbClr val="222222"/>
                </a:solidFill>
                <a:latin typeface="Calibri"/>
              </a:defRPr>
            </a:pPr>
            <a:r>
              <a:rPr sz="1800" b="0">
                <a:solidFill>
                  <a:srgbClr val="222222"/>
                </a:solidFill>
                <a:latin typeface="Calibri"/>
              </a:rPr>
              <a:t>4.  Push the left stick fully UP. Positive or negative?</a:t>
            </a:r>
          </a:p>
          <a:p>
            <a:pPr algn="l">
              <a:lnSpc>
                <a:spcPct val="100000"/>
              </a:lnSpc>
              <a:spcAft>
                <a:spcPts val="400"/>
              </a:spcAft>
              <a:defRPr sz="1800" b="0">
                <a:solidFill>
                  <a:srgbClr val="222222"/>
                </a:solidFill>
                <a:latin typeface="Calibri"/>
              </a:defRPr>
            </a:pPr>
            <a:r>
              <a:rPr sz="1800" b="0">
                <a:solidFill>
                  <a:srgbClr val="222222"/>
                </a:solidFill>
                <a:latin typeface="Calibri"/>
              </a:rPr>
              <a:t>5.  Let go of the sticks and DO NOT touch the controller. Does it print exactly 0, or does it drift?</a:t>
            </a:r>
          </a:p>
          <a:p>
            <a:pPr algn="l">
              <a:lnSpc>
                <a:spcPct val="100000"/>
              </a:lnSpc>
              <a:spcAft>
                <a:spcPts val="400"/>
              </a:spcAft>
              <a:defRPr sz="1800" b="0">
                <a:solidFill>
                  <a:srgbClr val="222222"/>
                </a:solidFill>
                <a:latin typeface="Calibri"/>
              </a:defRPr>
            </a:pPr>
            <a:r>
              <a:rPr sz="1800" b="0">
                <a:solidFill>
                  <a:srgbClr val="222222"/>
                </a:solidFill>
                <a:latin typeface="Calibri"/>
              </a:rPr>
              <a:t>6.  Push a stick diagonally. Watch x and y move together.</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A line for every press, every release, and every stick movement.</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Which way is negative on the Y axis?</a:t>
            </a:r>
          </a:p>
          <a:p>
            <a:pPr algn="l">
              <a:lnSpc>
                <a:spcPct val="100000"/>
              </a:lnSpc>
              <a:spcAft>
                <a:spcPts val="200"/>
              </a:spcAft>
              <a:defRPr sz="1800" b="0">
                <a:solidFill>
                  <a:srgbClr val="222222"/>
                </a:solidFill>
                <a:latin typeface="Calibri"/>
              </a:defRPr>
            </a:pPr>
            <a:r>
              <a:rPr sz="1800" b="0">
                <a:solidFill>
                  <a:srgbClr val="222222"/>
                </a:solidFill>
                <a:latin typeface="Calibri"/>
              </a:rPr>
              <a:t>How far does your stick drift when nobody is touching it?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600" b="1">
                <a:solidFill>
                  <a:srgbClr val="1F3A5F"/>
                </a:solidFill>
                <a:latin typeface="Calibri"/>
              </a:defRPr>
            </a:pPr>
            <a:r>
              <a:rPr sz="2600" b="1">
                <a:solidFill>
                  <a:srgbClr val="1F3A5F"/>
                </a:solidFill>
                <a:latin typeface="Calibri"/>
              </a:rPr>
              <a:t>Do it now  -  what does the controller actually send?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l3a_controller_check</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7.  Copy the MY_CONTROLLER line it prints. You need it all day.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problem with believing the stick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Deadzone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A thumbstick that has been thumbed by a hundred students does not come back to exactly zero.</a:t>
            </a:r>
          </a:p>
          <a:p>
            <a:pPr algn="l">
              <a:lnSpc>
                <a:spcPct val="100000"/>
              </a:lnSpc>
              <a:spcAft>
                <a:spcPts val="900"/>
              </a:spcAft>
              <a:defRPr sz="1800" b="0">
                <a:solidFill>
                  <a:srgbClr val="222222"/>
                </a:solidFill>
                <a:latin typeface="Calibri"/>
              </a:defRPr>
            </a:pPr>
            <a:r>
              <a:rPr sz="1800" b="0">
                <a:solidFill>
                  <a:srgbClr val="222222"/>
                </a:solidFill>
                <a:latin typeface="Calibri"/>
              </a:rPr>
              <a:t>You just measured it. Yours probably reads a few counts either side of centre when nobody is touching it.</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If we fed that straight to the motors, the vehicle would creep across the room on its own while the controller sat on the desk. In a classroom with twenty vehicles, that is not a minor annoyance.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The answer is a DEADZONE: any reading smaller than a threshold is treated as a firm, deliberate zero.</a:t>
            </a:r>
          </a:p>
          <a:p>
            <a:pPr algn="l">
              <a:lnSpc>
                <a:spcPct val="100000"/>
              </a:lnSpc>
              <a:spcAft>
                <a:spcPts val="900"/>
              </a:spcAft>
              <a:defRPr sz="1800" b="0">
                <a:solidFill>
                  <a:srgbClr val="222222"/>
                </a:solidFill>
                <a:latin typeface="Calibri"/>
              </a:defRPr>
            </a:pPr>
            <a:r>
              <a:rPr sz="1800" b="0">
                <a:solidFill>
                  <a:srgbClr val="222222"/>
                </a:solidFill>
                <a:latin typeface="Calibri"/>
              </a:rPr>
              <a:t>On this track the deadzone is 60, which is about 12% of the stick travel.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problem with believing the stick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Too small and the vehicle creeps. Too big and you waste the stick.</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From thumbstick to motor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cxnSp>
        <p:nvCxnSpPr>
          <p:cNvPr id="6" name="Connector 5"/>
          <p:cNvCxnSpPr/>
          <p:nvPr/>
        </p:nvCxnSpPr>
        <p:spPr>
          <a:xfrm>
            <a:off x="1691640" y="4892040"/>
            <a:ext cx="5852160" cy="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691640" y="1600200"/>
            <a:ext cx="0" cy="329184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691640" y="5001768"/>
            <a:ext cx="585216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stick reading   0  to  511</a:t>
            </a:r>
          </a:p>
        </p:txBody>
      </p:sp>
      <p:sp>
        <p:nvSpPr>
          <p:cNvPr id="9" name="TextBox 8"/>
          <p:cNvSpPr txBox="1"/>
          <p:nvPr/>
        </p:nvSpPr>
        <p:spPr>
          <a:xfrm>
            <a:off x="548640" y="1554480"/>
            <a:ext cx="1051560" cy="950976"/>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motor</a:t>
            </a:r>
          </a:p>
          <a:p>
            <a:pPr algn="r">
              <a:lnSpc>
                <a:spcPct val="100000"/>
              </a:lnSpc>
              <a:spcAft>
                <a:spcPts val="0"/>
              </a:spcAft>
              <a:defRPr sz="1800" b="0">
                <a:solidFill>
                  <a:srgbClr val="666666"/>
                </a:solidFill>
                <a:latin typeface="Calibri"/>
              </a:defRPr>
            </a:pPr>
            <a:r>
              <a:rPr sz="1800" b="0">
                <a:solidFill>
                  <a:srgbClr val="666666"/>
                </a:solidFill>
                <a:latin typeface="Calibri"/>
              </a:rPr>
              <a:t>speed</a:t>
            </a:r>
          </a:p>
          <a:p>
            <a:pPr algn="r">
              <a:lnSpc>
                <a:spcPct val="100000"/>
              </a:lnSpc>
              <a:spcAft>
                <a:spcPts val="0"/>
              </a:spcAft>
              <a:defRPr sz="1800" b="0">
                <a:solidFill>
                  <a:srgbClr val="666666"/>
                </a:solidFill>
                <a:latin typeface="Calibri"/>
              </a:defRPr>
            </a:pPr>
            <a:r>
              <a:rPr sz="1800" b="0">
                <a:solidFill>
                  <a:srgbClr val="666666"/>
                </a:solidFill>
                <a:latin typeface="Calibri"/>
              </a:rPr>
              <a:t>0 to 255</a:t>
            </a:r>
          </a:p>
        </p:txBody>
      </p:sp>
      <p:sp>
        <p:nvSpPr>
          <p:cNvPr id="10" name="Rectangle 9"/>
          <p:cNvSpPr/>
          <p:nvPr/>
        </p:nvSpPr>
        <p:spPr>
          <a:xfrm>
            <a:off x="1691640" y="1600200"/>
            <a:ext cx="687142" cy="3291840"/>
          </a:xfrm>
          <a:prstGeom prst="rect">
            <a:avLst/>
          </a:prstGeom>
          <a:solidFill>
            <a:srgbClr val="F6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1" name="Connector 10"/>
          <p:cNvCxnSpPr/>
          <p:nvPr/>
        </p:nvCxnSpPr>
        <p:spPr>
          <a:xfrm>
            <a:off x="1691640" y="4892040"/>
            <a:ext cx="687142" cy="0"/>
          </a:xfrm>
          <a:prstGeom prst="line">
            <a:avLst/>
          </a:prstGeom>
          <a:ln w="3810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2378782" y="1600200"/>
            <a:ext cx="5165018" cy="3291840"/>
          </a:xfrm>
          <a:prstGeom prst="line">
            <a:avLst/>
          </a:prstGeom>
          <a:ln w="38100">
            <a:solidFill>
              <a:srgbClr val="0E7C86"/>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691640" y="1216152"/>
            <a:ext cx="1235782" cy="646684"/>
          </a:xfrm>
          <a:prstGeom prst="rect">
            <a:avLst/>
          </a:prstGeom>
          <a:noFill/>
        </p:spPr>
        <p:txBody>
          <a:bodyPr wrap="square" lIns="0" tIns="0" rIns="0" bIns="0">
            <a:spAutoFit/>
          </a:bodyPr>
          <a:lstStyle/>
          <a:p>
            <a:pPr algn="ctr">
              <a:lnSpc>
                <a:spcPct val="100000"/>
              </a:lnSpc>
              <a:spcAft>
                <a:spcPts val="0"/>
              </a:spcAft>
              <a:defRPr sz="1800" b="1">
                <a:solidFill>
                  <a:srgbClr val="A32A2A"/>
                </a:solidFill>
                <a:latin typeface="Calibri"/>
              </a:defRPr>
            </a:pPr>
            <a:r>
              <a:rPr sz="1800" b="1">
                <a:solidFill>
                  <a:srgbClr val="A32A2A"/>
                </a:solidFill>
                <a:latin typeface="Calibri"/>
              </a:rPr>
              <a:t>DEADZONE</a:t>
            </a:r>
            <a:br/>
            <a:r>
              <a:rPr sz="1800" b="1">
                <a:solidFill>
                  <a:srgbClr val="A32A2A"/>
                </a:solidFill>
                <a:latin typeface="Calibri"/>
              </a:rPr>
              <a:t>answer is 0</a:t>
            </a:r>
          </a:p>
        </p:txBody>
      </p:sp>
      <p:sp>
        <p:nvSpPr>
          <p:cNvPr id="14" name="TextBox 13"/>
          <p:cNvSpPr txBox="1"/>
          <p:nvPr/>
        </p:nvSpPr>
        <p:spPr>
          <a:xfrm>
            <a:off x="2653102" y="1691640"/>
            <a:ext cx="3657600" cy="646684"/>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map() stretches what is left</a:t>
            </a:r>
            <a:br/>
            <a:r>
              <a:rPr sz="1800" b="1">
                <a:solidFill>
                  <a:srgbClr val="0E7C86"/>
                </a:solidFill>
                <a:latin typeface="Calibri"/>
              </a:rPr>
              <a:t>across the whole speed range</a:t>
            </a:r>
          </a:p>
        </p:txBody>
      </p:sp>
      <p:sp>
        <p:nvSpPr>
          <p:cNvPr id="15" name="TextBox 14"/>
          <p:cNvSpPr txBox="1"/>
          <p:nvPr/>
        </p:nvSpPr>
        <p:spPr>
          <a:xfrm>
            <a:off x="1921582" y="5221224"/>
            <a:ext cx="1097280" cy="367792"/>
          </a:xfrm>
          <a:prstGeom prst="rect">
            <a:avLst/>
          </a:prstGeom>
          <a:noFill/>
        </p:spPr>
        <p:txBody>
          <a:bodyPr wrap="square" lIns="0" tIns="0" rIns="0" bIns="0">
            <a:spAutoFit/>
          </a:bodyPr>
          <a:lstStyle/>
          <a:p>
            <a:pPr algn="ctr">
              <a:lnSpc>
                <a:spcPct val="100000"/>
              </a:lnSpc>
              <a:spcAft>
                <a:spcPts val="0"/>
              </a:spcAft>
              <a:defRPr sz="1800" b="0">
                <a:solidFill>
                  <a:srgbClr val="A32A2A"/>
                </a:solidFill>
                <a:latin typeface="Consolas"/>
              </a:defRPr>
            </a:pPr>
            <a:r>
              <a:rPr sz="1800" b="0">
                <a:solidFill>
                  <a:srgbClr val="A32A2A"/>
                </a:solidFill>
                <a:latin typeface="Consolas"/>
              </a:rPr>
              <a:t>60</a:t>
            </a:r>
          </a:p>
        </p:txBody>
      </p:sp>
      <p:sp>
        <p:nvSpPr>
          <p:cNvPr id="16" name="TextBox 15"/>
          <p:cNvSpPr txBox="1"/>
          <p:nvPr/>
        </p:nvSpPr>
        <p:spPr>
          <a:xfrm>
            <a:off x="8595360" y="1325880"/>
            <a:ext cx="329184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onsolas"/>
              </a:defRPr>
            </a:pPr>
            <a:r>
              <a:rPr sz="1800" b="1">
                <a:solidFill>
                  <a:srgbClr val="0E7C86"/>
                </a:solidFill>
                <a:latin typeface="Consolas"/>
              </a:rPr>
              <a:t>stickToSpeed()</a:t>
            </a:r>
          </a:p>
        </p:txBody>
      </p:sp>
      <p:sp>
        <p:nvSpPr>
          <p:cNvPr id="17" name="Rectangle 16"/>
          <p:cNvSpPr/>
          <p:nvPr/>
        </p:nvSpPr>
        <p:spPr>
          <a:xfrm>
            <a:off x="8595360" y="1691640"/>
            <a:ext cx="3291840" cy="22860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if (abs(v) &lt; DEADZONE)</a:t>
            </a:r>
          </a:p>
          <a:p>
            <a:pPr algn="l">
              <a:lnSpc>
                <a:spcPct val="100000"/>
              </a:lnSpc>
              <a:spcAft>
                <a:spcPts val="0"/>
              </a:spcAft>
              <a:defRPr sz="1400" b="0">
                <a:solidFill>
                  <a:srgbClr val="222222"/>
                </a:solidFill>
                <a:latin typeface="Consolas"/>
              </a:defRPr>
            </a:pPr>
            <a:r>
              <a:rPr sz="1400" b="0">
                <a:solidFill>
                  <a:srgbClr val="222222"/>
                </a:solidFill>
                <a:latin typeface="Consolas"/>
              </a:rPr>
              <a:t>    return 0;</a:t>
            </a:r>
          </a:p>
          <a:p>
            <a:pPr algn="l">
              <a:lnSpc>
                <a:spcPct val="100000"/>
              </a:lnSpc>
              <a:spcAft>
                <a:spcPts val="0"/>
              </a:spcAft>
              <a:defRPr sz="1400" b="0">
                <a:solidFill>
                  <a:srgbClr val="222222"/>
                </a:solidFill>
                <a:latin typeface="Consolas"/>
              </a:defRPr>
            </a:pPr>
          </a:p>
          <a:p>
            <a:pPr algn="l">
              <a:lnSpc>
                <a:spcPct val="100000"/>
              </a:lnSpc>
              <a:spcAft>
                <a:spcPts val="0"/>
              </a:spcAft>
              <a:defRPr sz="1400" b="0">
                <a:solidFill>
                  <a:srgbClr val="222222"/>
                </a:solidFill>
                <a:latin typeface="Consolas"/>
              </a:defRPr>
            </a:pPr>
            <a:r>
              <a:rPr sz="1400" b="0">
                <a:solidFill>
                  <a:srgbClr val="222222"/>
                </a:solidFill>
                <a:latin typeface="Consolas"/>
              </a:rPr>
              <a:t>size = map(abs(v),</a:t>
            </a:r>
          </a:p>
          <a:p>
            <a:pPr algn="l">
              <a:lnSpc>
                <a:spcPct val="100000"/>
              </a:lnSpc>
              <a:spcAft>
                <a:spcPts val="0"/>
              </a:spcAft>
              <a:defRPr sz="1400" b="0">
                <a:solidFill>
                  <a:srgbClr val="222222"/>
                </a:solidFill>
                <a:latin typeface="Consolas"/>
              </a:defRPr>
            </a:pPr>
            <a:r>
              <a:rPr sz="1400" b="0">
                <a:solidFill>
                  <a:srgbClr val="222222"/>
                </a:solidFill>
                <a:latin typeface="Consolas"/>
              </a:rPr>
              <a:t>           DEADZONE, 511,</a:t>
            </a:r>
          </a:p>
          <a:p>
            <a:pPr algn="l">
              <a:lnSpc>
                <a:spcPct val="100000"/>
              </a:lnSpc>
              <a:spcAft>
                <a:spcPts val="0"/>
              </a:spcAft>
              <a:defRPr sz="1400" b="0">
                <a:solidFill>
                  <a:srgbClr val="222222"/>
                </a:solidFill>
                <a:latin typeface="Consolas"/>
              </a:defRPr>
            </a:pPr>
            <a:r>
              <a:rPr sz="1400" b="0">
                <a:solidFill>
                  <a:srgbClr val="222222"/>
                </a:solidFill>
                <a:latin typeface="Consolas"/>
              </a:rPr>
              <a:t>           MOTOR_MIN, maxSpeed);</a:t>
            </a:r>
          </a:p>
          <a:p>
            <a:pPr algn="l">
              <a:lnSpc>
                <a:spcPct val="100000"/>
              </a:lnSpc>
              <a:spcAft>
                <a:spcPts val="0"/>
              </a:spcAft>
              <a:defRPr sz="1400" b="0">
                <a:solidFill>
                  <a:srgbClr val="222222"/>
                </a:solidFill>
                <a:latin typeface="Consolas"/>
              </a:defRPr>
            </a:pPr>
          </a:p>
          <a:p>
            <a:pPr algn="l">
              <a:lnSpc>
                <a:spcPct val="100000"/>
              </a:lnSpc>
              <a:spcAft>
                <a:spcPts val="0"/>
              </a:spcAft>
              <a:defRPr sz="1400" b="0">
                <a:solidFill>
                  <a:srgbClr val="222222"/>
                </a:solidFill>
                <a:latin typeface="Consolas"/>
              </a:defRPr>
            </a:pPr>
            <a:r>
              <a:rPr sz="1400" b="0">
                <a:solidFill>
                  <a:srgbClr val="222222"/>
                </a:solidFill>
                <a:latin typeface="Consolas"/>
              </a:rPr>
              <a:t>return (v &gt; 0) ? size</a:t>
            </a:r>
          </a:p>
          <a:p>
            <a:pPr algn="l">
              <a:lnSpc>
                <a:spcPct val="100000"/>
              </a:lnSpc>
              <a:spcAft>
                <a:spcPts val="0"/>
              </a:spcAft>
              <a:defRPr sz="1400" b="0">
                <a:solidFill>
                  <a:srgbClr val="222222"/>
                </a:solidFill>
                <a:latin typeface="Consolas"/>
              </a:defRPr>
            </a:pPr>
            <a:r>
              <a:rPr sz="1400" b="0">
                <a:solidFill>
                  <a:srgbClr val="222222"/>
                </a:solidFill>
                <a:latin typeface="Consolas"/>
              </a:rPr>
              <a:t>                : -size;</a:t>
            </a:r>
          </a:p>
        </p:txBody>
      </p:sp>
      <p:sp>
        <p:nvSpPr>
          <p:cNvPr id="18" name="TextBox 17"/>
          <p:cNvSpPr txBox="1"/>
          <p:nvPr/>
        </p:nvSpPr>
        <p:spPr>
          <a:xfrm>
            <a:off x="8595360" y="4160520"/>
            <a:ext cx="3291840" cy="181305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Why a deadzone at all?</a:t>
            </a:r>
          </a:p>
          <a:p>
            <a:pPr algn="l">
              <a:lnSpc>
                <a:spcPct val="100000"/>
              </a:lnSpc>
              <a:spcAft>
                <a:spcPts val="0"/>
              </a:spcAft>
              <a:defRPr sz="1800" b="0">
                <a:solidFill>
                  <a:srgbClr val="222222"/>
                </a:solidFill>
                <a:latin typeface="Calibri"/>
              </a:defRPr>
            </a:pPr>
            <a:r>
              <a:rPr sz="1800" b="0">
                <a:solidFill>
                  <a:srgbClr val="222222"/>
                </a:solidFill>
                <a:latin typeface="Calibri"/>
              </a:rPr>
              <a:t>A worn stick does not return</a:t>
            </a:r>
          </a:p>
          <a:p>
            <a:pPr algn="l">
              <a:lnSpc>
                <a:spcPct val="100000"/>
              </a:lnSpc>
              <a:spcAft>
                <a:spcPts val="0"/>
              </a:spcAft>
              <a:defRPr sz="1800" b="0">
                <a:solidFill>
                  <a:srgbClr val="222222"/>
                </a:solidFill>
                <a:latin typeface="Calibri"/>
              </a:defRPr>
            </a:pPr>
            <a:r>
              <a:rPr sz="1800" b="0">
                <a:solidFill>
                  <a:srgbClr val="222222"/>
                </a:solidFill>
                <a:latin typeface="Calibri"/>
              </a:rPr>
              <a:t>to exactly zero. Without this</a:t>
            </a:r>
          </a:p>
          <a:p>
            <a:pPr algn="l">
              <a:lnSpc>
                <a:spcPct val="100000"/>
              </a:lnSpc>
              <a:spcAft>
                <a:spcPts val="0"/>
              </a:spcAft>
              <a:defRPr sz="1800" b="0">
                <a:solidFill>
                  <a:srgbClr val="222222"/>
                </a:solidFill>
                <a:latin typeface="Calibri"/>
              </a:defRPr>
            </a:pPr>
            <a:r>
              <a:rPr sz="1800" b="0">
                <a:solidFill>
                  <a:srgbClr val="222222"/>
                </a:solidFill>
                <a:latin typeface="Calibri"/>
              </a:rPr>
              <a:t>the vehicle creeps away on</a:t>
            </a:r>
          </a:p>
          <a:p>
            <a:pPr algn="l">
              <a:lnSpc>
                <a:spcPct val="100000"/>
              </a:lnSpc>
              <a:spcAft>
                <a:spcPts val="0"/>
              </a:spcAft>
              <a:defRPr sz="1800" b="0">
                <a:solidFill>
                  <a:srgbClr val="222222"/>
                </a:solidFill>
                <a:latin typeface="Calibri"/>
              </a:defRPr>
            </a:pPr>
            <a:r>
              <a:rPr sz="1800" b="0">
                <a:solidFill>
                  <a:srgbClr val="222222"/>
                </a:solidFill>
                <a:latin typeface="Calibri"/>
              </a:rPr>
              <a:t>its own.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map()  -  the most useful function in the course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idea, and how the program uses it</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300">
                <a:latin typeface="Consolas"/>
              </a:defRPr>
            </a:pPr>
            <a:r>
              <a:rPr sz="1300">
                <a:solidFill>
                  <a:srgbClr val="222222"/>
                </a:solidFill>
                <a:latin typeface="Consolas"/>
              </a:rPr>
              <a:t>map(value, fromLow, fromHigh, toLow, toHigh)</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666666"/>
                </a:solidFill>
                <a:latin typeface="Consolas"/>
              </a:rPr>
              <a:t>// "value sits somewhere between fromLow and fromHigh.</a:t>
            </a:r>
          </a:p>
          <a:p>
            <a:pPr algn="l">
              <a:lnSpc>
                <a:spcPct val="100000"/>
              </a:lnSpc>
              <a:spcAft>
                <a:spcPts val="0"/>
              </a:spcAft>
              <a:defRPr sz="1300">
                <a:latin typeface="Consolas"/>
              </a:defRPr>
            </a:pPr>
            <a:r>
              <a:rPr sz="1300">
                <a:solidFill>
                  <a:srgbClr val="666666"/>
                </a:solidFill>
                <a:latin typeface="Consolas"/>
              </a:rPr>
              <a:t>//  Where does it sit between toLow and toHigh?"</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222222"/>
                </a:solidFill>
                <a:latin typeface="Consolas"/>
              </a:rPr>
              <a:t>map(0,   0, 511, 0, 255)   -&gt;    0</a:t>
            </a:r>
          </a:p>
          <a:p>
            <a:pPr algn="l">
              <a:lnSpc>
                <a:spcPct val="100000"/>
              </a:lnSpc>
              <a:spcAft>
                <a:spcPts val="0"/>
              </a:spcAft>
              <a:defRPr sz="1300">
                <a:latin typeface="Consolas"/>
              </a:defRPr>
            </a:pPr>
            <a:r>
              <a:rPr sz="1300">
                <a:solidFill>
                  <a:srgbClr val="222222"/>
                </a:solidFill>
                <a:latin typeface="Consolas"/>
              </a:rPr>
              <a:t>map(255, 0, 255, 0, 255)   -&gt;  127</a:t>
            </a:r>
          </a:p>
          <a:p>
            <a:pPr algn="l">
              <a:lnSpc>
                <a:spcPct val="100000"/>
              </a:lnSpc>
              <a:spcAft>
                <a:spcPts val="0"/>
              </a:spcAft>
              <a:defRPr sz="1300">
                <a:latin typeface="Consolas"/>
              </a:defRPr>
            </a:pPr>
            <a:r>
              <a:rPr sz="1300">
                <a:solidFill>
                  <a:srgbClr val="222222"/>
                </a:solidFill>
                <a:latin typeface="Consolas"/>
              </a:rPr>
              <a:t>map(511, 0, 511, 0, 255)   -&gt;  255</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666666"/>
                </a:solidFill>
                <a:latin typeface="Consolas"/>
              </a:rPr>
              <a:t>// In stickToSpeed the low end is the DEADZONE, not zero,</a:t>
            </a:r>
          </a:p>
          <a:p>
            <a:pPr algn="l">
              <a:lnSpc>
                <a:spcPct val="100000"/>
              </a:lnSpc>
              <a:spcAft>
                <a:spcPts val="0"/>
              </a:spcAft>
              <a:defRPr sz="1300">
                <a:latin typeface="Consolas"/>
              </a:defRPr>
            </a:pPr>
            <a:r>
              <a:rPr sz="1300">
                <a:solidFill>
                  <a:srgbClr val="666666"/>
                </a:solidFill>
                <a:latin typeface="Consolas"/>
              </a:rPr>
              <a:t>// so the leftover travel is stretched across the whole</a:t>
            </a:r>
          </a:p>
          <a:p>
            <a:pPr algn="l">
              <a:lnSpc>
                <a:spcPct val="100000"/>
              </a:lnSpc>
              <a:spcAft>
                <a:spcPts val="0"/>
              </a:spcAft>
              <a:defRPr sz="1300">
                <a:latin typeface="Consolas"/>
              </a:defRPr>
            </a:pPr>
            <a:r>
              <a:rPr sz="1300">
                <a:solidFill>
                  <a:srgbClr val="666666"/>
                </a:solidFill>
                <a:latin typeface="Consolas"/>
              </a:rPr>
              <a:t>// speed range. Without that you could never reach 255.</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b="1">
                <a:solidFill>
                  <a:srgbClr val="0E7C86"/>
                </a:solidFill>
                <a:latin typeface="Consolas"/>
              </a:rPr>
              <a:t>size = map(abs(v), 60, 511, MOTOR_MIN, maxSpeed);</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map() is just proportion. Nothing more.</a:t>
            </a:r>
          </a:p>
          <a:p>
            <a:pPr algn="l">
              <a:lnSpc>
                <a:spcPct val="100000"/>
              </a:lnSpc>
              <a:spcAft>
                <a:spcPts val="600"/>
              </a:spcAft>
              <a:defRPr sz="1800" b="0">
                <a:solidFill>
                  <a:srgbClr val="222222"/>
                </a:solidFill>
                <a:latin typeface="Calibri"/>
              </a:defRPr>
            </a:pPr>
            <a:r>
              <a:rPr sz="1800" b="0">
                <a:solidFill>
                  <a:srgbClr val="222222"/>
                </a:solidFill>
                <a:latin typeface="Calibri"/>
              </a:rPr>
              <a:t>It does NOT clamp. Feed it something outside the input range and you get something outside the output range, which is why the program calls constrain() straight afterwards.</a:t>
            </a:r>
          </a:p>
          <a:p>
            <a:pPr algn="l">
              <a:lnSpc>
                <a:spcPct val="100000"/>
              </a:lnSpc>
              <a:spcAft>
                <a:spcPts val="600"/>
              </a:spcAft>
              <a:defRPr sz="1800" b="0">
                <a:solidFill>
                  <a:srgbClr val="222222"/>
                </a:solidFill>
                <a:latin typeface="Calibri"/>
              </a:defRPr>
            </a:pPr>
            <a:r>
              <a:rPr sz="1800" b="0">
                <a:solidFill>
                  <a:srgbClr val="222222"/>
                </a:solidFill>
                <a:latin typeface="Calibri"/>
              </a:rPr>
              <a:t>abs() throws away the sign, so we map the SIZE of the push and put the direction back at the end.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Rounded Rectangle 5"/>
          <p:cNvSpPr/>
          <p:nvPr/>
        </p:nvSpPr>
        <p:spPr>
          <a:xfrm>
            <a:off x="502920"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Bluetooth and pairing</a:t>
            </a:r>
          </a:p>
        </p:txBody>
      </p:sp>
      <p:sp>
        <p:nvSpPr>
          <p:cNvPr id="7" name="TextBox 6"/>
          <p:cNvSpPr txBox="1"/>
          <p:nvPr/>
        </p:nvSpPr>
        <p:spPr>
          <a:xfrm>
            <a:off x="502920"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3335959"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What the pad sends</a:t>
            </a:r>
          </a:p>
        </p:txBody>
      </p:sp>
      <p:sp>
        <p:nvSpPr>
          <p:cNvPr id="9" name="TextBox 8"/>
          <p:cNvSpPr txBox="1"/>
          <p:nvPr/>
        </p:nvSpPr>
        <p:spPr>
          <a:xfrm>
            <a:off x="3335959"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6168998" y="2240280"/>
            <a:ext cx="2686735"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Deadzone and map</a:t>
            </a:r>
          </a:p>
        </p:txBody>
      </p:sp>
      <p:sp>
        <p:nvSpPr>
          <p:cNvPr id="11" name="TextBox 10"/>
          <p:cNvSpPr txBox="1"/>
          <p:nvPr/>
        </p:nvSpPr>
        <p:spPr>
          <a:xfrm>
            <a:off x="6168998"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2" name="Rounded Rectangle 11"/>
          <p:cNvSpPr/>
          <p:nvPr/>
        </p:nvSpPr>
        <p:spPr>
          <a:xfrm>
            <a:off x="9002037" y="2240280"/>
            <a:ext cx="2686735"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it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watch the arithmetic</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l3b_deadzone_and_map</a:t>
            </a:r>
            <a:r>
              <a:rPr sz="1200">
                <a:solidFill>
                  <a:srgbClr val="FFFFFF"/>
                </a:solidFill>
                <a:latin typeface="Calibri"/>
              </a:rPr>
              <a:t>     (20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Upload it. Nothing moves - this is print only.</a:t>
            </a:r>
          </a:p>
          <a:p>
            <a:pPr algn="l">
              <a:lnSpc>
                <a:spcPct val="100000"/>
              </a:lnSpc>
              <a:spcAft>
                <a:spcPts val="400"/>
              </a:spcAft>
              <a:defRPr sz="1800" b="0">
                <a:solidFill>
                  <a:srgbClr val="222222"/>
                </a:solidFill>
                <a:latin typeface="Calibri"/>
              </a:defRPr>
            </a:pPr>
            <a:r>
              <a:rPr sz="1800" b="0">
                <a:solidFill>
                  <a:srgbClr val="222222"/>
                </a:solidFill>
                <a:latin typeface="Calibri"/>
              </a:rPr>
              <a:t>2.  Push the stick VERY slowly from centre to full forward. Watch both columns. Where does the speed stop being 0?</a:t>
            </a:r>
          </a:p>
          <a:p>
            <a:pPr algn="l">
              <a:lnSpc>
                <a:spcPct val="100000"/>
              </a:lnSpc>
              <a:spcAft>
                <a:spcPts val="400"/>
              </a:spcAft>
              <a:defRPr sz="1800" b="0">
                <a:solidFill>
                  <a:srgbClr val="222222"/>
                </a:solidFill>
                <a:latin typeface="Calibri"/>
              </a:defRPr>
            </a:pPr>
            <a:r>
              <a:rPr sz="1800" b="0">
                <a:solidFill>
                  <a:srgbClr val="222222"/>
                </a:solidFill>
                <a:latin typeface="Calibri"/>
              </a:rPr>
              <a:t>3.  Set STICK_DEADZONE to 0. Upload. Put the controller down and do not touch it. Does the speed stay at 0?</a:t>
            </a:r>
          </a:p>
          <a:p>
            <a:pPr algn="l">
              <a:lnSpc>
                <a:spcPct val="100000"/>
              </a:lnSpc>
              <a:spcAft>
                <a:spcPts val="400"/>
              </a:spcAft>
              <a:defRPr sz="1800" b="0">
                <a:solidFill>
                  <a:srgbClr val="222222"/>
                </a:solidFill>
                <a:latin typeface="Calibri"/>
              </a:defRPr>
            </a:pPr>
            <a:r>
              <a:rPr sz="1800" b="0">
                <a:solidFill>
                  <a:srgbClr val="222222"/>
                </a:solidFill>
                <a:latin typeface="Calibri"/>
              </a:rPr>
              <a:t>4.  Set it to 408. How much of the stick is now wasted?</a:t>
            </a:r>
          </a:p>
          <a:p>
            <a:pPr algn="l">
              <a:lnSpc>
                <a:spcPct val="100000"/>
              </a:lnSpc>
              <a:spcAft>
                <a:spcPts val="400"/>
              </a:spcAft>
              <a:defRPr sz="1800" b="0">
                <a:solidFill>
                  <a:srgbClr val="222222"/>
                </a:solidFill>
                <a:latin typeface="Calibri"/>
              </a:defRPr>
            </a:pPr>
            <a:r>
              <a:rPr sz="1800" b="0">
                <a:solidFill>
                  <a:srgbClr val="222222"/>
                </a:solidFill>
                <a:latin typeface="Calibri"/>
              </a:rPr>
              <a:t>5.  Put it back. Now set MOTOR_MIN to 60 and watch what happens the instant you leave the deadzone.</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Two columns: the raw number from the controller, and the motor speed it turns into.</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With the deadzone at 0, what does the vehicle do when nobody is holding the controller?</a:t>
            </a:r>
          </a:p>
          <a:p>
            <a:pPr algn="l">
              <a:lnSpc>
                <a:spcPct val="100000"/>
              </a:lnSpc>
              <a:spcAft>
                <a:spcPts val="200"/>
              </a:spcAft>
              <a:defRPr sz="1800" b="0">
                <a:solidFill>
                  <a:srgbClr val="222222"/>
                </a:solidFill>
                <a:latin typeface="Calibri"/>
              </a:defRPr>
            </a:pPr>
            <a:r>
              <a:rPr sz="1800" b="0">
                <a:solidFill>
                  <a:srgbClr val="222222"/>
                </a:solidFill>
                <a:latin typeface="Calibri"/>
              </a:rPr>
              <a:t>What does MOTOR_MIN = 60 change, and when would you want it?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Mixing, and why steering has its own limit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Full speed forwards, half speed steering</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left = forward + turn        right = forward - turn</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Driving gets the full MOTOR_MAX of 255.</a:t>
            </a:r>
          </a:p>
          <a:p>
            <a:pPr algn="l">
              <a:lnSpc>
                <a:spcPct val="100000"/>
              </a:lnSpc>
              <a:spcAft>
                <a:spcPts val="900"/>
              </a:spcAft>
              <a:defRPr sz="1800" b="0">
                <a:solidFill>
                  <a:srgbClr val="222222"/>
                </a:solidFill>
                <a:latin typeface="Calibri"/>
              </a:defRPr>
            </a:pPr>
            <a:r>
              <a:rPr sz="1800" b="0">
                <a:solidFill>
                  <a:srgbClr val="222222"/>
                </a:solidFill>
                <a:latin typeface="Calibri"/>
              </a:rPr>
              <a:t>Steering gets turnMax, which is HALF of that by default.</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Why? Because at full power a small nudge sideways spins the vehicle faster than anybody can correct for. Half-power steering makes it controllable without making it slow.</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The full program lets you switch between the two with clicking the left stick in. Sharp mode is for spinning on the spot deliberately; normal mode is for actually getting somewhere.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Mixing, and why steering has its own limit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constrain() catches the overflow. forward 200 plus turn 60 is 260, which is more than a motor can take.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l3c_tank_drive  -  the whole of loop()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28</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l3c_tank_drive.ino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300">
                <a:latin typeface="Consolas"/>
              </a:defRPr>
            </a:pPr>
            <a:r>
              <a:rPr sz="1300">
                <a:solidFill>
                  <a:srgbClr val="222222"/>
                </a:solidFill>
                <a:latin typeface="Consolas"/>
              </a:rPr>
              <a:t>void loop() {</a:t>
            </a:r>
          </a:p>
          <a:p>
            <a:pPr algn="l">
              <a:lnSpc>
                <a:spcPct val="100000"/>
              </a:lnSpc>
              <a:spcAft>
                <a:spcPts val="0"/>
              </a:spcAft>
              <a:defRPr sz="1300">
                <a:latin typeface="Consolas"/>
              </a:defRPr>
            </a:pPr>
            <a:r>
              <a:rPr sz="1300" b="1">
                <a:solidFill>
                  <a:srgbClr val="0E7C86"/>
                </a:solidFill>
                <a:latin typeface="Consolas"/>
              </a:rPr>
              <a:t>  if (myController == nullptr || !myController-&gt;isConnected()) {</a:t>
            </a:r>
          </a:p>
          <a:p>
            <a:pPr algn="l">
              <a:lnSpc>
                <a:spcPct val="100000"/>
              </a:lnSpc>
              <a:spcAft>
                <a:spcPts val="0"/>
              </a:spcAft>
              <a:defRPr sz="1300">
                <a:latin typeface="Consolas"/>
              </a:defRPr>
            </a:pPr>
            <a:r>
              <a:rPr sz="1300" b="1">
                <a:solidFill>
                  <a:srgbClr val="0E7C86"/>
                </a:solidFill>
                <a:latin typeface="Consolas"/>
              </a:rPr>
              <a:t>    drive(0, 0);        // never drive without a controller</a:t>
            </a:r>
          </a:p>
          <a:p>
            <a:pPr algn="l">
              <a:lnSpc>
                <a:spcPct val="100000"/>
              </a:lnSpc>
              <a:spcAft>
                <a:spcPts val="0"/>
              </a:spcAft>
              <a:defRPr sz="1300">
                <a:latin typeface="Consolas"/>
              </a:defRPr>
            </a:pPr>
            <a:r>
              <a:rPr sz="1300" b="1">
                <a:solidFill>
                  <a:srgbClr val="0E7C86"/>
                </a:solidFill>
                <a:latin typeface="Consolas"/>
              </a:rPr>
              <a:t>    return;</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222222"/>
                </a:solidFill>
                <a:latin typeface="Consolas"/>
              </a:rPr>
              <a:t>  int leftStickX = myController-&gt;axisX();</a:t>
            </a:r>
          </a:p>
          <a:p>
            <a:pPr algn="l">
              <a:lnSpc>
                <a:spcPct val="100000"/>
              </a:lnSpc>
              <a:spcAft>
                <a:spcPts val="0"/>
              </a:spcAft>
              <a:defRPr sz="1300">
                <a:latin typeface="Consolas"/>
              </a:defRPr>
            </a:pPr>
            <a:r>
              <a:rPr sz="1300">
                <a:solidFill>
                  <a:srgbClr val="222222"/>
                </a:solidFill>
                <a:latin typeface="Consolas"/>
              </a:rPr>
              <a:t>  int leftStickY = myController-&gt;axisY();</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b="1">
                <a:solidFill>
                  <a:srgbClr val="0E7C86"/>
                </a:solidFill>
                <a:latin typeface="Consolas"/>
              </a:rPr>
              <a:t>  int forward = stickToSpeed(-leftStickY, MOTOR_MAX);</a:t>
            </a:r>
          </a:p>
          <a:p>
            <a:pPr algn="l">
              <a:lnSpc>
                <a:spcPct val="100000"/>
              </a:lnSpc>
              <a:spcAft>
                <a:spcPts val="0"/>
              </a:spcAft>
              <a:defRPr sz="1300">
                <a:latin typeface="Consolas"/>
              </a:defRPr>
            </a:pPr>
            <a:r>
              <a:rPr sz="1300" b="1">
                <a:solidFill>
                  <a:srgbClr val="0E7C86"/>
                </a:solidFill>
                <a:latin typeface="Consolas"/>
              </a:rPr>
              <a:t>  int turn    = stickToSpeed(leftStickX,  turnMax);</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222222"/>
                </a:solidFill>
                <a:latin typeface="Consolas"/>
              </a:rPr>
              <a:t>  int leftSpeed  = constrain(forward + turn, -MOTOR_MAX, MOTOR_MAX);</a:t>
            </a:r>
          </a:p>
          <a:p>
            <a:pPr algn="l">
              <a:lnSpc>
                <a:spcPct val="100000"/>
              </a:lnSpc>
              <a:spcAft>
                <a:spcPts val="0"/>
              </a:spcAft>
              <a:defRPr sz="1300">
                <a:latin typeface="Consolas"/>
              </a:defRPr>
            </a:pPr>
            <a:r>
              <a:rPr sz="1300">
                <a:solidFill>
                  <a:srgbClr val="222222"/>
                </a:solidFill>
                <a:latin typeface="Consolas"/>
              </a:rPr>
              <a:t>  int rightSpeed = constrain(forward - turn, -MOTOR_MAX, MOTOR_MAX);</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222222"/>
                </a:solidFill>
                <a:latin typeface="Consolas"/>
              </a:rPr>
              <a:t>  drive(leftSpeed, rightSpeed);</a:t>
            </a:r>
          </a:p>
          <a:p>
            <a:pPr algn="l">
              <a:lnSpc>
                <a:spcPct val="100000"/>
              </a:lnSpc>
              <a:spcAft>
                <a:spcPts val="0"/>
              </a:spcAft>
              <a:defRPr sz="1300">
                <a:latin typeface="Consolas"/>
              </a:defRPr>
            </a:pPr>
            <a:r>
              <a:rPr sz="13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Read the first four lines again. If there is no controller, the motors stop and we go round again. That is the FAILSAFE, and it is the most important part of the program.</a:t>
            </a:r>
          </a:p>
          <a:p>
            <a:pPr algn="l">
              <a:lnSpc>
                <a:spcPct val="100000"/>
              </a:lnSpc>
              <a:spcAft>
                <a:spcPts val="600"/>
              </a:spcAft>
              <a:defRPr sz="1800" b="0">
                <a:solidFill>
                  <a:srgbClr val="222222"/>
                </a:solidFill>
                <a:latin typeface="Calibri"/>
              </a:defRPr>
            </a:pPr>
            <a:r>
              <a:rPr sz="1800" b="0">
                <a:solidFill>
                  <a:srgbClr val="222222"/>
                </a:solidFill>
                <a:latin typeface="Calibri"/>
              </a:rPr>
              <a:t>Note the minus sign on leftStickY. Up is negative.</a:t>
            </a:r>
          </a:p>
          <a:p>
            <a:pPr algn="l">
              <a:lnSpc>
                <a:spcPct val="100000"/>
              </a:lnSpc>
              <a:spcAft>
                <a:spcPts val="600"/>
              </a:spcAft>
              <a:defRPr sz="1800" b="0">
                <a:solidFill>
                  <a:srgbClr val="222222"/>
                </a:solidFill>
                <a:latin typeface="Calibri"/>
              </a:defRPr>
            </a:pPr>
            <a:r>
              <a:rPr sz="1800" b="0">
                <a:solidFill>
                  <a:srgbClr val="222222"/>
                </a:solidFill>
                <a:latin typeface="Calibri"/>
              </a:rPr>
              <a:t>Driving gets MOTOR_MAX; steering gets turnMax.</a:t>
            </a:r>
          </a:p>
          <a:p>
            <a:pPr algn="l">
              <a:lnSpc>
                <a:spcPct val="100000"/>
              </a:lnSpc>
              <a:spcAft>
                <a:spcPts val="600"/>
              </a:spcAft>
              <a:defRPr sz="1800" b="0">
                <a:solidFill>
                  <a:srgbClr val="222222"/>
                </a:solidFill>
                <a:latin typeface="Calibri"/>
              </a:defRPr>
            </a:pPr>
            <a:r>
              <a:rPr sz="1800" b="0">
                <a:solidFill>
                  <a:srgbClr val="222222"/>
                </a:solidFill>
                <a:latin typeface="Calibri"/>
              </a:rPr>
              <a:t>Everything else you have already seen.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29</a:t>
            </a:r>
          </a:p>
        </p:txBody>
      </p:sp>
      <p:sp>
        <p:nvSpPr>
          <p:cNvPr id="6" name="Rounded Rectangle 5"/>
          <p:cNvSpPr/>
          <p:nvPr/>
        </p:nvSpPr>
        <p:spPr>
          <a:xfrm>
            <a:off x="502920"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Bluetooth and pairing</a:t>
            </a:r>
          </a:p>
        </p:txBody>
      </p:sp>
      <p:sp>
        <p:nvSpPr>
          <p:cNvPr id="7" name="TextBox 6"/>
          <p:cNvSpPr txBox="1"/>
          <p:nvPr/>
        </p:nvSpPr>
        <p:spPr>
          <a:xfrm>
            <a:off x="502920"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3335959"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What the pad sends</a:t>
            </a:r>
          </a:p>
        </p:txBody>
      </p:sp>
      <p:sp>
        <p:nvSpPr>
          <p:cNvPr id="9" name="TextBox 8"/>
          <p:cNvSpPr txBox="1"/>
          <p:nvPr/>
        </p:nvSpPr>
        <p:spPr>
          <a:xfrm>
            <a:off x="3335959"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6168998"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Deadzone and map</a:t>
            </a:r>
          </a:p>
        </p:txBody>
      </p:sp>
      <p:sp>
        <p:nvSpPr>
          <p:cNvPr id="11" name="TextBox 10"/>
          <p:cNvSpPr txBox="1"/>
          <p:nvPr/>
        </p:nvSpPr>
        <p:spPr>
          <a:xfrm>
            <a:off x="6168998"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2" name="Rounded Rectangle 11"/>
          <p:cNvSpPr/>
          <p:nvPr/>
        </p:nvSpPr>
        <p:spPr>
          <a:xfrm>
            <a:off x="9002037" y="2240280"/>
            <a:ext cx="2686735"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Driving it</a:t>
            </a:r>
          </a:p>
        </p:txBody>
      </p:sp>
      <p:sp>
        <p:nvSpPr>
          <p:cNvPr id="13" name="TextBox 12"/>
          <p:cNvSpPr txBox="1"/>
          <p:nvPr/>
        </p:nvSpPr>
        <p:spPr>
          <a:xfrm>
            <a:off x="9002037"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30</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l3c_tank_drive</a:t>
            </a:r>
            <a:r>
              <a:rPr sz="1200">
                <a:solidFill>
                  <a:srgbClr val="FFFFFF"/>
                </a:solidFill>
                <a:latin typeface="Calibri"/>
              </a:rPr>
              <a:t>     (30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Wheels off the ground. Upload. Check that up is forward and right is right BEFORE you put it down.</a:t>
            </a:r>
          </a:p>
          <a:p>
            <a:pPr algn="l">
              <a:lnSpc>
                <a:spcPct val="100000"/>
              </a:lnSpc>
              <a:spcAft>
                <a:spcPts val="400"/>
              </a:spcAft>
              <a:defRPr sz="1800" b="0">
                <a:solidFill>
                  <a:srgbClr val="222222"/>
                </a:solidFill>
                <a:latin typeface="Calibri"/>
              </a:defRPr>
            </a:pPr>
            <a:r>
              <a:rPr sz="1800" b="0">
                <a:solidFill>
                  <a:srgbClr val="222222"/>
                </a:solidFill>
                <a:latin typeface="Calibri"/>
              </a:rPr>
              <a:t>2.  Now put it on the floor in a clear space and drive.</a:t>
            </a:r>
          </a:p>
          <a:p>
            <a:pPr algn="l">
              <a:lnSpc>
                <a:spcPct val="100000"/>
              </a:lnSpc>
              <a:spcAft>
                <a:spcPts val="400"/>
              </a:spcAft>
              <a:defRPr sz="1800" b="0">
                <a:solidFill>
                  <a:srgbClr val="222222"/>
                </a:solidFill>
                <a:latin typeface="Calibri"/>
              </a:defRPr>
            </a:pPr>
            <a:r>
              <a:rPr sz="1800" b="0">
                <a:solidFill>
                  <a:srgbClr val="222222"/>
                </a:solidFill>
                <a:latin typeface="Calibri"/>
              </a:rPr>
              <a:t>3.  While driving, switch the controller off. What happens?</a:t>
            </a:r>
          </a:p>
          <a:p>
            <a:pPr algn="l">
              <a:lnSpc>
                <a:spcPct val="100000"/>
              </a:lnSpc>
              <a:spcAft>
                <a:spcPts val="400"/>
              </a:spcAft>
              <a:defRPr sz="1800" b="0">
                <a:solidFill>
                  <a:srgbClr val="222222"/>
                </a:solidFill>
                <a:latin typeface="Calibri"/>
              </a:defRPr>
            </a:pPr>
            <a:r>
              <a:rPr sz="1800" b="0">
                <a:solidFill>
                  <a:srgbClr val="222222"/>
                </a:solidFill>
                <a:latin typeface="Calibri"/>
              </a:rPr>
              <a:t>4.  Set turnMax to MOTOR_MAX and drive again. Which is easier?</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A vehicle that goes where you point it.</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What happened when the controller switched off, and which four lines made that happen?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it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31</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l3c_tank_drive</a:t>
            </a:r>
          </a:p>
        </p:txBody>
      </p:sp>
      <p:sp>
        <p:nvSpPr>
          <p:cNvPr id="7" name="TextBox 6"/>
          <p:cNvSpPr txBox="1"/>
          <p:nvPr/>
        </p:nvSpPr>
        <p:spPr>
          <a:xfrm>
            <a:off x="502920" y="1901952"/>
            <a:ext cx="5387187" cy="317296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5.  Swap the + and the - in the mixing lines and drive. What is wrong now?</a:t>
            </a:r>
          </a:p>
          <a:p>
            <a:pPr algn="l">
              <a:lnSpc>
                <a:spcPct val="100000"/>
              </a:lnSpc>
              <a:spcAft>
                <a:spcPts val="400"/>
              </a:spcAft>
              <a:defRPr sz="1800" b="0">
                <a:solidFill>
                  <a:srgbClr val="222222"/>
                </a:solidFill>
                <a:latin typeface="Calibri"/>
              </a:defRPr>
            </a:pPr>
            <a:r>
              <a:rPr sz="1800" b="0">
                <a:solidFill>
                  <a:srgbClr val="222222"/>
                </a:solidFill>
                <a:latin typeface="Calibri"/>
              </a:rPr>
              <a:t>6.  Try  right = forward  with no turn term at all. Why is that a worse way to steer?</a:t>
            </a:r>
          </a:p>
        </p:txBody>
      </p:sp>
      <p:sp>
        <p:nvSpPr>
          <p:cNvPr id="8" name="Rounded Rectangle 7"/>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Check the controls with the wheels off the ground first. Every time you upload a change.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Failsafe: what a robot does when it stops hearing you</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32</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A radio link is not reliable. Batteries go flat, people walk between the pad and the vehicle, controllers get switched off.</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The only safe behaviour is to STOP. Not carry on with the last command, and not do something clever.</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Three lines at the top of loop() do it:</a:t>
            </a:r>
          </a:p>
          <a:p>
            <a:pPr lvl="1" algn="l">
              <a:lnSpc>
                <a:spcPct val="100000"/>
              </a:lnSpc>
              <a:spcAft>
                <a:spcPts val="900"/>
              </a:spcAft>
              <a:defRPr sz="1800" b="0">
                <a:solidFill>
                  <a:srgbClr val="222222"/>
                </a:solidFill>
                <a:latin typeface="Calibri"/>
              </a:defRPr>
            </a:pPr>
            <a:r>
              <a:rPr sz="1800" b="0">
                <a:solidFill>
                  <a:srgbClr val="222222"/>
                </a:solidFill>
                <a:latin typeface="Calibri"/>
              </a:rPr>
              <a:t>if (!connected) { drive(0, 0); return; }</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600" b="1">
                <a:solidFill>
                  <a:srgbClr val="1F3A5F"/>
                </a:solidFill>
                <a:latin typeface="Calibri"/>
              </a:defRPr>
            </a:pPr>
            <a:r>
              <a:rPr sz="2600" b="1">
                <a:solidFill>
                  <a:srgbClr val="1F3A5F"/>
                </a:solidFill>
                <a:latin typeface="Calibri"/>
              </a:rPr>
              <a:t>Failsafe: what a robot does when it stops hearing you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33</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This is not a Pathfinder detail. Every unmanned vehicle has a failsafe, and what it should do when the link drops is a real engineering decision. A drone hovers, or returns home. A submersible surfaces. A ground vehicle stops.</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Ask yourself, on any system you build: what happens when the operator disappears?</a:t>
            </a:r>
          </a:p>
        </p:txBody>
      </p:sp>
      <p:sp>
        <p:nvSpPr>
          <p:cNvPr id="7" name="Rounded Rectangle 6"/>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If you take one habit away from this course, take this one.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When it will not connect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34</a:t>
            </a:r>
          </a:p>
        </p:txBody>
      </p:sp>
      <p:graphicFrame>
        <p:nvGraphicFramePr>
          <p:cNvPr id="6" name="Table 5"/>
          <p:cNvGraphicFramePr>
            <a:graphicFrameLocks noGrp="1"/>
          </p:cNvGraphicFramePr>
          <p:nvPr/>
        </p:nvGraphicFramePr>
        <p:xfrm>
          <a:off x="502920" y="1188720"/>
          <a:ext cx="11185854" cy="1978025"/>
        </p:xfrm>
        <a:graphic>
          <a:graphicData uri="http://schemas.openxmlformats.org/drawingml/2006/table">
            <a:tbl>
              <a:tblPr firstRow="1" bandRow="1">
                <a:tableStyleId>{5C22544A-7EE6-4342-B048-85BDC9FD1C3A}</a:tableStyleId>
              </a:tblPr>
              <a:tblGrid>
                <a:gridCol w="3728618"/>
                <a:gridCol w="3195958"/>
                <a:gridCol w="4261278"/>
              </a:tblGrid>
              <a:tr h="282575">
                <a:tc>
                  <a:txBody>
                    <a:bodyPr/>
                    <a:lstStyle/>
                    <a:p>
                      <a:r>
                        <a:rPr sz="1300" b="1">
                          <a:solidFill>
                            <a:srgbClr val="FFFFFF"/>
                          </a:solidFill>
                          <a:latin typeface="Calibri"/>
                        </a:rPr>
                        <a:t>Symptom</a:t>
                      </a:r>
                    </a:p>
                  </a:txBody>
                  <a:tcPr marL="73152" marT="18288" marB="18288">
                    <a:solidFill>
                      <a:srgbClr val="1F3A5F"/>
                    </a:solidFill>
                  </a:tcPr>
                </a:tc>
                <a:tc>
                  <a:txBody>
                    <a:bodyPr/>
                    <a:lstStyle/>
                    <a:p>
                      <a:r>
                        <a:rPr sz="1300" b="1">
                          <a:solidFill>
                            <a:srgbClr val="FFFFFF"/>
                          </a:solidFill>
                          <a:latin typeface="Calibri"/>
                        </a:rPr>
                        <a:t>Most likely cause</a:t>
                      </a:r>
                    </a:p>
                  </a:txBody>
                  <a:tcPr marL="73152" marT="18288" marB="18288">
                    <a:solidFill>
                      <a:srgbClr val="1F3A5F"/>
                    </a:solidFill>
                  </a:tcPr>
                </a:tc>
                <a:tc>
                  <a:txBody>
                    <a:bodyPr/>
                    <a:lstStyle/>
                    <a:p>
                      <a:r>
                        <a:rPr sz="1300" b="1">
                          <a:solidFill>
                            <a:srgbClr val="FFFFFF"/>
                          </a:solidFill>
                          <a:latin typeface="Calibri"/>
                        </a:rPr>
                        <a:t>What to do</a:t>
                      </a:r>
                    </a:p>
                  </a:txBody>
                  <a:tcPr marL="73152" marT="18288" marB="18288">
                    <a:solidFill>
                      <a:srgbClr val="1F3A5F"/>
                    </a:solidFill>
                  </a:tcPr>
                </a:tc>
              </a:tr>
              <a:tr h="282575">
                <a:tc>
                  <a:txBody>
                    <a:bodyPr/>
                    <a:lstStyle/>
                    <a:p>
                      <a:r>
                        <a:rPr sz="1300">
                          <a:solidFill>
                            <a:srgbClr val="222222"/>
                          </a:solidFill>
                          <a:latin typeface="Calibri"/>
                        </a:rPr>
                        <a:t>Nothing connects at all</a:t>
                      </a:r>
                    </a:p>
                  </a:txBody>
                  <a:tcPr marL="73152" marT="18288" marB="18288">
                    <a:solidFill>
                      <a:srgbClr val="FFFFFF"/>
                    </a:solidFill>
                  </a:tcPr>
                </a:tc>
                <a:tc>
                  <a:txBody>
                    <a:bodyPr/>
                    <a:lstStyle/>
                    <a:p>
                      <a:r>
                        <a:rPr sz="1300">
                          <a:solidFill>
                            <a:srgbClr val="222222"/>
                          </a:solidFill>
                          <a:latin typeface="Calibri"/>
                        </a:rPr>
                        <a:t>Address mismatch</a:t>
                      </a:r>
                    </a:p>
                  </a:txBody>
                  <a:tcPr marL="73152" marT="18288" marB="18288">
                    <a:solidFill>
                      <a:srgbClr val="FFFFFF"/>
                    </a:solidFill>
                  </a:tcPr>
                </a:tc>
                <a:tc>
                  <a:txBody>
                    <a:bodyPr/>
                    <a:lstStyle/>
                    <a:p>
                      <a:r>
                        <a:rPr sz="1300">
                          <a:solidFill>
                            <a:srgbClr val="222222"/>
                          </a:solidFill>
                          <a:latin typeface="Calibri"/>
                        </a:rPr>
                        <a:t>Check the address in the sketch matches the pad</a:t>
                      </a:r>
                    </a:p>
                  </a:txBody>
                  <a:tcPr marL="73152" marT="18288" marB="18288">
                    <a:solidFill>
                      <a:srgbClr val="FFFFFF"/>
                    </a:solidFill>
                  </a:tcPr>
                </a:tc>
              </a:tr>
              <a:tr h="282575">
                <a:tc>
                  <a:txBody>
                    <a:bodyPr/>
                    <a:lstStyle/>
                    <a:p>
                      <a:r>
                        <a:rPr sz="1300">
                          <a:solidFill>
                            <a:srgbClr val="222222"/>
                          </a:solidFill>
                          <a:latin typeface="Calibri"/>
                        </a:rPr>
                        <a:t>Connects, then drops</a:t>
                      </a:r>
                    </a:p>
                  </a:txBody>
                  <a:tcPr marL="73152" marT="18288" marB="18288">
                    <a:solidFill>
                      <a:srgbClr val="EEF3F8"/>
                    </a:solidFill>
                  </a:tcPr>
                </a:tc>
                <a:tc>
                  <a:txBody>
                    <a:bodyPr/>
                    <a:lstStyle/>
                    <a:p>
                      <a:r>
                        <a:rPr sz="1300">
                          <a:solidFill>
                            <a:srgbClr val="222222"/>
                          </a:solidFill>
                          <a:latin typeface="Calibri"/>
                        </a:rPr>
                        <a:t>Flat controller battery</a:t>
                      </a:r>
                    </a:p>
                  </a:txBody>
                  <a:tcPr marL="73152" marT="18288" marB="18288">
                    <a:solidFill>
                      <a:srgbClr val="EEF3F8"/>
                    </a:solidFill>
                  </a:tcPr>
                </a:tc>
                <a:tc>
                  <a:txBody>
                    <a:bodyPr/>
                    <a:lstStyle/>
                    <a:p>
                      <a:r>
                        <a:rPr sz="1300">
                          <a:solidFill>
                            <a:srgbClr val="222222"/>
                          </a:solidFill>
                          <a:latin typeface="Calibri"/>
                        </a:rPr>
                        <a:t>Charge it over USB for a few minutes</a:t>
                      </a:r>
                    </a:p>
                  </a:txBody>
                  <a:tcPr marL="73152" marT="18288" marB="18288">
                    <a:solidFill>
                      <a:srgbClr val="EEF3F8"/>
                    </a:solidFill>
                  </a:tcPr>
                </a:tc>
              </a:tr>
              <a:tr h="282575">
                <a:tc>
                  <a:txBody>
                    <a:bodyPr/>
                    <a:lstStyle/>
                    <a:p>
                      <a:r>
                        <a:rPr sz="1300">
                          <a:solidFill>
                            <a:srgbClr val="222222"/>
                          </a:solidFill>
                          <a:latin typeface="Calibri"/>
                        </a:rPr>
                        <a:t>Somebody else's vehicle moves</a:t>
                      </a:r>
                    </a:p>
                  </a:txBody>
                  <a:tcPr marL="73152" marT="18288" marB="18288">
                    <a:solidFill>
                      <a:srgbClr val="FFFFFF"/>
                    </a:solidFill>
                  </a:tcPr>
                </a:tc>
                <a:tc>
                  <a:txBody>
                    <a:bodyPr/>
                    <a:lstStyle/>
                    <a:p>
                      <a:r>
                        <a:rPr sz="1300">
                          <a:solidFill>
                            <a:srgbClr val="222222"/>
                          </a:solidFill>
                          <a:latin typeface="Calibri"/>
                        </a:rPr>
                        <a:t>Two vehicles on one address</a:t>
                      </a:r>
                    </a:p>
                  </a:txBody>
                  <a:tcPr marL="73152" marT="18288" marB="18288">
                    <a:solidFill>
                      <a:srgbClr val="FFFFFF"/>
                    </a:solidFill>
                  </a:tcPr>
                </a:tc>
                <a:tc>
                  <a:txBody>
                    <a:bodyPr/>
                    <a:lstStyle/>
                    <a:p>
                      <a:r>
                        <a:rPr sz="1300">
                          <a:solidFill>
                            <a:srgbClr val="222222"/>
                          </a:solidFill>
                          <a:latin typeface="Calibri"/>
                        </a:rPr>
                        <a:t>Give every vehicle a different address</a:t>
                      </a:r>
                    </a:p>
                  </a:txBody>
                  <a:tcPr marL="73152" marT="18288" marB="18288">
                    <a:solidFill>
                      <a:srgbClr val="FFFFFF"/>
                    </a:solidFill>
                  </a:tcPr>
                </a:tc>
              </a:tr>
              <a:tr h="282575">
                <a:tc>
                  <a:txBody>
                    <a:bodyPr/>
                    <a:lstStyle/>
                    <a:p>
                      <a:r>
                        <a:rPr sz="1300">
                          <a:solidFill>
                            <a:srgbClr val="222222"/>
                          </a:solidFill>
                          <a:latin typeface="Calibri"/>
                        </a:rPr>
                        <a:t>Wheels spin the wrong way</a:t>
                      </a:r>
                    </a:p>
                  </a:txBody>
                  <a:tcPr marL="73152" marT="18288" marB="18288">
                    <a:solidFill>
                      <a:srgbClr val="EEF3F8"/>
                    </a:solidFill>
                  </a:tcPr>
                </a:tc>
                <a:tc>
                  <a:txBody>
                    <a:bodyPr/>
                    <a:lstStyle/>
                    <a:p>
                      <a:r>
                        <a:rPr sz="1300">
                          <a:solidFill>
                            <a:srgbClr val="222222"/>
                          </a:solidFill>
                          <a:latin typeface="Calibri"/>
                        </a:rPr>
                        <a:t>Motor pins swapped</a:t>
                      </a:r>
                    </a:p>
                  </a:txBody>
                  <a:tcPr marL="73152" marT="18288" marB="18288">
                    <a:solidFill>
                      <a:srgbClr val="EEF3F8"/>
                    </a:solidFill>
                  </a:tcPr>
                </a:tc>
                <a:tc>
                  <a:txBody>
                    <a:bodyPr/>
                    <a:lstStyle/>
                    <a:p>
                      <a:r>
                        <a:rPr sz="1300">
                          <a:solidFill>
                            <a:srgbClr val="222222"/>
                          </a:solidFill>
                          <a:latin typeface="Calibri"/>
                        </a:rPr>
                        <a:t>Swap that motor's two pin numbers in the sketch</a:t>
                      </a:r>
                    </a:p>
                  </a:txBody>
                  <a:tcPr marL="73152" marT="18288" marB="18288">
                    <a:solidFill>
                      <a:srgbClr val="EEF3F8"/>
                    </a:solidFill>
                  </a:tcPr>
                </a:tc>
              </a:tr>
              <a:tr h="282575">
                <a:tc>
                  <a:txBody>
                    <a:bodyPr/>
                    <a:lstStyle/>
                    <a:p>
                      <a:r>
                        <a:rPr sz="1300">
                          <a:solidFill>
                            <a:srgbClr val="222222"/>
                          </a:solidFill>
                          <a:latin typeface="Calibri"/>
                        </a:rPr>
                        <a:t>It creeps with the stick centred</a:t>
                      </a:r>
                    </a:p>
                  </a:txBody>
                  <a:tcPr marL="73152" marT="18288" marB="18288">
                    <a:solidFill>
                      <a:srgbClr val="FFFFFF"/>
                    </a:solidFill>
                  </a:tcPr>
                </a:tc>
                <a:tc>
                  <a:txBody>
                    <a:bodyPr/>
                    <a:lstStyle/>
                    <a:p>
                      <a:r>
                        <a:rPr sz="1300">
                          <a:solidFill>
                            <a:srgbClr val="222222"/>
                          </a:solidFill>
                          <a:latin typeface="Calibri"/>
                        </a:rPr>
                        <a:t>Deadzone too small</a:t>
                      </a:r>
                    </a:p>
                  </a:txBody>
                  <a:tcPr marL="73152" marT="18288" marB="18288">
                    <a:solidFill>
                      <a:srgbClr val="FFFFFF"/>
                    </a:solidFill>
                  </a:tcPr>
                </a:tc>
                <a:tc>
                  <a:txBody>
                    <a:bodyPr/>
                    <a:lstStyle/>
                    <a:p>
                      <a:r>
                        <a:rPr sz="1300">
                          <a:solidFill>
                            <a:srgbClr val="222222"/>
                          </a:solidFill>
                          <a:latin typeface="Calibri"/>
                        </a:rPr>
                        <a:t>Raise STICK_DEADZONE</a:t>
                      </a:r>
                    </a:p>
                  </a:txBody>
                  <a:tcPr marL="73152" marT="18288" marB="18288">
                    <a:solidFill>
                      <a:srgbClr val="FFFFFF"/>
                    </a:solidFill>
                  </a:tcPr>
                </a:tc>
              </a:tr>
              <a:tr h="282575">
                <a:tc>
                  <a:txBody>
                    <a:bodyPr/>
                    <a:lstStyle/>
                    <a:p>
                      <a:r>
                        <a:rPr sz="1300">
                          <a:solidFill>
                            <a:srgbClr val="222222"/>
                          </a:solidFill>
                          <a:latin typeface="Calibri"/>
                        </a:rPr>
                        <a:t>Nothing at all, no serial output</a:t>
                      </a:r>
                    </a:p>
                  </a:txBody>
                  <a:tcPr marL="73152" marT="18288" marB="18288">
                    <a:solidFill>
                      <a:srgbClr val="EEF3F8"/>
                    </a:solidFill>
                  </a:tcPr>
                </a:tc>
                <a:tc>
                  <a:txBody>
                    <a:bodyPr/>
                    <a:lstStyle/>
                    <a:p>
                      <a:r>
                        <a:rPr sz="1300">
                          <a:solidFill>
                            <a:srgbClr val="222222"/>
                          </a:solidFill>
                          <a:latin typeface="Calibri"/>
                        </a:rPr>
                        <a:t>Wrong board selected</a:t>
                      </a:r>
                    </a:p>
                  </a:txBody>
                  <a:tcPr marL="73152" marT="18288" marB="18288">
                    <a:solidFill>
                      <a:srgbClr val="EEF3F8"/>
                    </a:solidFill>
                  </a:tcPr>
                </a:tc>
                <a:tc>
                  <a:txBody>
                    <a:bodyPr/>
                    <a:lstStyle/>
                    <a:p>
                      <a:r>
                        <a:rPr sz="1300">
                          <a:solidFill>
                            <a:srgbClr val="222222"/>
                          </a:solidFill>
                          <a:latin typeface="Calibri"/>
                        </a:rPr>
                        <a:t>Check the board menu - see Lesson 1</a:t>
                      </a:r>
                    </a:p>
                  </a:txBody>
                  <a:tcPr marL="73152" marT="18288" marB="18288">
                    <a:solidFill>
                      <a:srgbClr val="EEF3F8"/>
                    </a:solidFill>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35</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the 32 LEDs, and what colour actually is.</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000"/>
              </a:spcAft>
              <a:defRPr sz="1800" b="0">
                <a:solidFill>
                  <a:srgbClr val="222222"/>
                </a:solidFill>
                <a:latin typeface="Calibri"/>
              </a:defRPr>
            </a:pPr>
            <a:r>
              <a:rPr sz="1800" b="0">
                <a:solidFill>
                  <a:srgbClr val="222222"/>
                </a:solidFill>
                <a:latin typeface="Calibri"/>
              </a:rPr>
              <a:t>1.  What is a Bluetooth address, and why must every vehicle in the room have a different one?</a:t>
            </a:r>
          </a:p>
          <a:p>
            <a:pPr algn="l">
              <a:lnSpc>
                <a:spcPct val="100000"/>
              </a:lnSpc>
              <a:spcAft>
                <a:spcPts val="1000"/>
              </a:spcAft>
              <a:defRPr sz="1800" b="0">
                <a:solidFill>
                  <a:srgbClr val="222222"/>
                </a:solidFill>
                <a:latin typeface="Calibri"/>
              </a:defRPr>
            </a:pPr>
            <a:r>
              <a:rPr sz="1800" b="0">
                <a:solidFill>
                  <a:srgbClr val="222222"/>
                </a:solidFill>
                <a:latin typeface="Calibri"/>
              </a:rPr>
              <a:t>2.  Push the left stick fully forward. Is the number positive or negative? Why does the program put a minus sign in front of it?</a:t>
            </a:r>
          </a:p>
          <a:p>
            <a:pPr algn="l">
              <a:lnSpc>
                <a:spcPct val="100000"/>
              </a:lnSpc>
              <a:spcAft>
                <a:spcPts val="1000"/>
              </a:spcAft>
              <a:defRPr sz="1800" b="0">
                <a:solidFill>
                  <a:srgbClr val="222222"/>
                </a:solidFill>
                <a:latin typeface="Calibri"/>
              </a:defRPr>
            </a:pPr>
            <a:r>
              <a:rPr sz="1800" b="0">
                <a:solidFill>
                  <a:srgbClr val="222222"/>
                </a:solidFill>
                <a:latin typeface="Calibri"/>
              </a:rPr>
              <a:t>3.  What is a deadzone for? What goes wrong if it is 0? What goes wrong if it is far too big?</a:t>
            </a:r>
          </a:p>
          <a:p>
            <a:pPr algn="l">
              <a:lnSpc>
                <a:spcPct val="100000"/>
              </a:lnSpc>
              <a:spcAft>
                <a:spcPts val="1000"/>
              </a:spcAft>
              <a:defRPr sz="1800" b="0">
                <a:solidFill>
                  <a:srgbClr val="222222"/>
                </a:solidFill>
                <a:latin typeface="Calibri"/>
              </a:defRPr>
            </a:pPr>
            <a:r>
              <a:rPr sz="1800" b="0">
                <a:solidFill>
                  <a:srgbClr val="222222"/>
                </a:solidFill>
                <a:latin typeface="Calibri"/>
              </a:rPr>
              <a:t>4.  In your own words, what does map() do?</a:t>
            </a:r>
          </a:p>
          <a:p>
            <a:pPr algn="l">
              <a:lnSpc>
                <a:spcPct val="100000"/>
              </a:lnSpc>
              <a:spcAft>
                <a:spcPts val="1000"/>
              </a:spcAft>
              <a:defRPr sz="1800" b="0">
                <a:solidFill>
                  <a:srgbClr val="222222"/>
                </a:solidFill>
                <a:latin typeface="Calibri"/>
              </a:defRPr>
            </a:pPr>
            <a:r>
              <a:rPr sz="1800" b="0">
                <a:solidFill>
                  <a:srgbClr val="222222"/>
                </a:solidFill>
                <a:latin typeface="Calibri"/>
              </a:rPr>
              <a:t>5.  forward is 180 and turn is 100. What speed does each side get, before and after constrain()?</a:t>
            </a:r>
          </a:p>
          <a:p>
            <a:pPr algn="l">
              <a:lnSpc>
                <a:spcPct val="100000"/>
              </a:lnSpc>
              <a:spcAft>
                <a:spcPts val="1000"/>
              </a:spcAft>
              <a:defRPr sz="1800" b="0">
                <a:solidFill>
                  <a:srgbClr val="222222"/>
                </a:solidFill>
                <a:latin typeface="Calibri"/>
              </a:defRPr>
            </a:pPr>
            <a:r>
              <a:rPr sz="1800" b="0">
                <a:solidFill>
                  <a:srgbClr val="222222"/>
                </a:solidFill>
                <a:latin typeface="Calibri"/>
              </a:rPr>
              <a:t>6.  Why is steering limited to half power by default?</a:t>
            </a:r>
          </a:p>
          <a:p>
            <a:pPr algn="l">
              <a:lnSpc>
                <a:spcPct val="100000"/>
              </a:lnSpc>
              <a:spcAft>
                <a:spcPts val="1000"/>
              </a:spcAft>
              <a:defRPr sz="1800" b="0">
                <a:solidFill>
                  <a:srgbClr val="222222"/>
                </a:solidFill>
                <a:latin typeface="Calibri"/>
              </a:defRPr>
            </a:pPr>
            <a:r>
              <a:rPr sz="1800" b="0">
                <a:solidFill>
                  <a:srgbClr val="222222"/>
                </a:solidFill>
                <a:latin typeface="Calibri"/>
              </a:rPr>
              <a:t>7.  Write the three lines that stop the vehicle when the controller disconnects.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