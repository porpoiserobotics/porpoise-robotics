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two pads. Ask the room how a vehicle is supposed to tell them apart.</a:t>
            </a:r>
          </a:p>
          <a:p>
            <a:r>
              <a:rPr sz="1200">
                <a:latin typeface="Calibri"/>
              </a:rPr>
              <a:t>The answer is that it cannot, unless somebody writes down which one it belongs to. That is the next slide.</a:t>
            </a:r>
          </a:p>
          <a:p>
            <a:r>
              <a:rPr sz="1200">
                <a:latin typeface="Calibri"/>
              </a:rPr>
              <a:t>This is worth ten seconds of real confusion before you give them the allowlist.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Switch story is the opposite way round: the vehicle keeps a guest list and turns away anything not on it.</a:t>
            </a:r>
          </a:p>
          <a:p>
            <a:r>
              <a:rPr sz="1200">
                <a:latin typeface="Calibri"/>
              </a:rPr>
              <a:t>Allowlist is the right word to teach. It is checked before the connection is accepted, not after.</a:t>
            </a:r>
          </a:p>
          <a:p>
            <a:r>
              <a:rPr sz="1200">
                <a:latin typeface="Calibri"/>
              </a:rPr>
              <a:t>The list is rebuilt at every boot, so the sketch is always the truth. Nothing is remembered behind their backs.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how THEIR program does it - a constant at the top of the file they can see and edit.</a:t>
            </a:r>
          </a:p>
          <a:p>
            <a:r>
              <a:rPr sz="1200">
                <a:latin typeface="Calibri"/>
              </a:rPr>
              <a:t>Four steps, and step 2 does the hard part for them: l3a_controller_check prints a ready-made line to paste.</a:t>
            </a:r>
          </a:p>
          <a:p>
            <a:r>
              <a:rPr sz="1200">
                <a:latin typeface="Calibri"/>
              </a:rPr>
              <a:t>The advanced program stores the address in EEPROM instead, which is better in the field and worse for learning. One sentence,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a real controller up alongside the picture.</a:t>
            </a:r>
          </a:p>
          <a:p>
            <a:r>
              <a:rPr sz="1200">
                <a:latin typeface="Calibri"/>
              </a:rPr>
              <a:t>Warn them now that the names in the program are not always the letters printed on the pad. The next slide is the table that sorts it 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table is the single most useful page in the Switch track. Print it.</a:t>
            </a:r>
          </a:p>
          <a:p>
            <a:r>
              <a:rPr sz="1200">
                <a:latin typeface="Calibri"/>
              </a:rPr>
              <a:t>Bluepad32 names the face buttons by POSITION, Xbox style. So y() is the button MARKED X, because it is the top one.</a:t>
            </a:r>
          </a:p>
          <a:p>
            <a:r>
              <a:rPr sz="1200">
                <a:latin typeface="Calibri"/>
              </a:rPr>
              <a:t>Third-party pads do not always agree with each other. That is exactly why l3a_controller_check exists - measure, do not assume.</a:t>
            </a:r>
          </a:p>
          <a:p>
            <a:r>
              <a:rPr sz="1200">
                <a:latin typeface="Calibri"/>
              </a:rPr>
              <a:t>Have them press each button and tick it off the table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The two triggers are ANALOG on this track as well. Bluepad32 gives them to you as brake() and throttle() with a range, not as pressed-or-not. The face buttons, unlike a PS3 pad, really are digital.</a:t>
            </a:r>
          </a:p>
          <a:p>
            <a:r>
              <a:rPr sz="1200">
                <a:latin typeface="Calibri"/>
              </a:rPr>
              <a:t>A press can read differently from a light one, and you can still treat any of them as a plain yes or no - which is mostly what we do, and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centered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75%.</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and it needs setting up. Kevin caught this in the 2026-09-08 review: the slide used to say switch the pad off, and neither of these controllers CAN be switched off by hand. Walking out of range is the demonstration that actually works.</a:t>
            </a:r>
          </a:p>
          <a:p>
            <a:r>
              <a:rPr sz="1200">
                <a:latin typeface="Calibri"/>
              </a:rPr>
              <a:t>Send one person down the corridor with the pad while the rest of the group watches the wheels. Thirty feet, or one wall, is usually enough. If the room is small, power-cycle the vehicle instead and push the stick while it is disconnected - same guard, seen from the other side.</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1 is not optional. Wheels off the ground, check up is forward and right is right, every single upload.</a:t>
            </a:r>
          </a:p>
          <a:p>
            <a:r>
              <a:rPr sz="1200">
                <a:latin typeface="Calibri"/>
              </a:rPr>
              <a:t>Step 3 is the failsafe demonstration, and it needs setting up. Kevin caught this in the 2026-09-08 review: the slide used to say switch the pad off, and neither of these controllers CAN be switched off by hand. Walking out of range is the demonstration that actually works.</a:t>
            </a:r>
          </a:p>
          <a:p>
            <a:r>
              <a:rPr sz="1200">
                <a:latin typeface="Calibri"/>
              </a:rPr>
              <a:t>Send one person down the corridor with the pad while the rest of the group watches the wheels. Thirty feet, or one wall, is usually enough. If the room is small, power-cycle the vehicle instead and push the stick while it is disconnected - same guard, seen from the other side.</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1 is not optional. Wheels off the ground, check up is forward and right is right, every single upload.</a:t>
            </a:r>
          </a:p>
          <a:p>
            <a:r>
              <a:rPr sz="1200">
                <a:latin typeface="Calibri"/>
              </a:rPr>
              <a:t>Step 3 is the failsafe demonstration, and it needs setting up. Kevin caught this in the 2026-09-08 review: the slide used to say switch the pad off, and neither of these controllers CAN be switched off by hand. Walking out of range is the demonstration that actually works.</a:t>
            </a:r>
          </a:p>
          <a:p>
            <a:r>
              <a:rPr sz="1200">
                <a:latin typeface="Calibri"/>
              </a:rPr>
              <a:t>Send one person down the corridor with the pad while the rest of the group watches the wheels. Thirty feet, or one wall, is usually enough. If the room is small, power-cycle the vehicle instead and push the stick while it is disconnected - same guard, seen from the other side.</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The answer to question 7, in full:  if (!Ps3.isConnected()) { drive(0, 0); return; }  - four lines if you count the closing brace, and they go at the very top of loop().</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Switch controller paired to your vehicle.</a:t>
            </a:r>
          </a:p>
        </p:txBody>
      </p:sp>
      <p:pic>
        <p:nvPicPr>
          <p:cNvPr id="8" name="Picture 7" descr="vehicle-turn-signal-left.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You know how an H-bridge reverses a motor, and how PWM sets its speed.</a:t>
            </a:r>
          </a:p>
          <a:p>
            <a:pPr algn="l">
              <a:lnSpc>
                <a:spcPct val="100000"/>
              </a:lnSpc>
              <a:spcAft>
                <a:spcPts val="900"/>
              </a:spcAft>
              <a:defRPr sz="2800" b="0">
                <a:solidFill>
                  <a:srgbClr val="222222"/>
                </a:solidFill>
                <a:latin typeface="Calibri"/>
              </a:defRPr>
            </a:pPr>
            <a:r>
              <a:rPr sz="2800" b="0">
                <a:solidFill>
                  <a:srgbClr val="222222"/>
                </a:solidFill>
                <a:latin typeface="Calibri"/>
              </a:rPr>
              <a:t>You watched duty and speed change together on the Serial Monitor.</a:t>
            </a:r>
          </a:p>
          <a:p>
            <a:pPr algn="l">
              <a:lnSpc>
                <a:spcPct val="100000"/>
              </a:lnSpc>
              <a:spcAft>
                <a:spcPts val="900"/>
              </a:spcAft>
              <a:defRPr sz="2800" b="0">
                <a:solidFill>
                  <a:srgbClr val="222222"/>
                </a:solidFill>
                <a:latin typeface="Calibri"/>
              </a:defRPr>
            </a:pPr>
            <a:r>
              <a:rPr sz="2800" b="0">
                <a:solidFill>
                  <a:srgbClr val="222222"/>
                </a:solidFill>
                <a:latin typeface="Calibri"/>
              </a:rPr>
              <a:t>You drove a square you calculated, and found out why it did not close.</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pads, one room, and the problem that creates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Switch pad in pairing mode connects to whichever vehicle answers first. With twenty vehicles in a classroom, that is a coin toss.</a:t>
            </a:r>
          </a:p>
        </p:txBody>
      </p:sp>
      <p:pic>
        <p:nvPicPr>
          <p:cNvPr id="7" name="Picture 6" descr="switch-controller-pair.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Identical to look at, and identical to a vehicle that is not told which one is its 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3881628"/>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on this track, the VEHICLE is told which controller address it will accept.</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Bluepad32 keeps an ALLOWLIST - a guest list checked BEFORE a connection is accepted. A pad that is not on the list is turned away before it is ever let in.</a:t>
            </a:r>
          </a:p>
        </p:txBody>
      </p:sp>
      <p:sp>
        <p:nvSpPr>
          <p:cNvPr id="7" name="TextBox 6"/>
          <p:cNvSpPr txBox="1"/>
          <p:nvPr/>
        </p:nvSpPr>
        <p:spPr>
          <a:xfrm>
            <a:off x="6324447" y="1188720"/>
            <a:ext cx="5364327" cy="3881628"/>
          </a:xfrm>
          <a:prstGeom prst="rect">
            <a:avLst/>
          </a:prstGeom>
          <a:noFill/>
        </p:spPr>
        <p:txBody>
          <a:bodyPr wrap="square" lIns="0" tIns="0" rIns="0" bIns="0">
            <a:spAutoFit/>
          </a:bodyPr>
          <a:lstStyle/>
          <a:p>
            <a:pPr lvl="1" algn="l">
              <a:lnSpc>
                <a:spcPct val="100000"/>
              </a:lnSpc>
              <a:spcAft>
                <a:spcPts val="500"/>
              </a:spcAft>
              <a:defRPr sz="1800" b="0">
                <a:solidFill>
                  <a:srgbClr val="222222"/>
                </a:solidFill>
                <a:latin typeface="Calibri"/>
              </a:defRPr>
            </a:pPr>
            <a:r>
              <a:rPr sz="1800" b="0">
                <a:solidFill>
                  <a:srgbClr val="222222"/>
                </a:solidFill>
                <a:latin typeface="Calibri"/>
              </a:rPr>
              <a:t>uni_bt_allowlist_remove_all();</a:t>
            </a:r>
          </a:p>
          <a:p>
            <a:pPr lvl="1" algn="l">
              <a:lnSpc>
                <a:spcPct val="100000"/>
              </a:lnSpc>
              <a:spcAft>
                <a:spcPts val="500"/>
              </a:spcAft>
              <a:defRPr sz="1800" b="0">
                <a:solidFill>
                  <a:srgbClr val="222222"/>
                </a:solidFill>
                <a:latin typeface="Calibri"/>
              </a:defRPr>
            </a:pPr>
            <a:r>
              <a:rPr sz="1800" b="0">
                <a:solidFill>
                  <a:srgbClr val="222222"/>
                </a:solidFill>
                <a:latin typeface="Calibri"/>
              </a:rPr>
              <a:t>uni_bt_allowlist_add_addr(myControllerAddress);</a:t>
            </a:r>
          </a:p>
          <a:p>
            <a:pPr lvl="1" algn="l">
              <a:lnSpc>
                <a:spcPct val="100000"/>
              </a:lnSpc>
              <a:spcAft>
                <a:spcPts val="500"/>
              </a:spcAft>
              <a:defRPr sz="1800" b="0">
                <a:solidFill>
                  <a:srgbClr val="222222"/>
                </a:solidFill>
                <a:latin typeface="Calibri"/>
              </a:defRPr>
            </a:pPr>
            <a:r>
              <a:rPr sz="1800" b="0">
                <a:solidFill>
                  <a:srgbClr val="222222"/>
                </a:solidFill>
                <a:latin typeface="Calibri"/>
              </a:rPr>
              <a:t>uni_bt_allowlist_set_enabled(true);</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8" name="Rounded Rectangle 7"/>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pathfinder_nintendoswitch: the address lives in the sketch</a:t>
            </a:r>
          </a:p>
        </p:txBody>
      </p:sp>
      <p:sp>
        <p:nvSpPr>
          <p:cNvPr id="7" name="TextBox 6"/>
          <p:cNvSpPr txBox="1"/>
          <p:nvPr/>
        </p:nvSpPr>
        <p:spPr>
          <a:xfrm>
            <a:off x="502920" y="1755648"/>
            <a:ext cx="5364327" cy="3035808"/>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pathfinder_nintendoswitch - the program this whole course is about - the address is a CONSTANT IN THE PROGRAM, called MY_CONTROLLER.</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Upload l3a_controller_check and connect your pad.</a:t>
            </a:r>
          </a:p>
          <a:p>
            <a:pPr algn="l">
              <a:lnSpc>
                <a:spcPct val="100000"/>
              </a:lnSpc>
              <a:spcAft>
                <a:spcPts val="900"/>
              </a:spcAft>
              <a:defRPr sz="1800" b="0">
                <a:solidFill>
                  <a:srgbClr val="222222"/>
                </a:solidFill>
                <a:latin typeface="Calibri"/>
              </a:defRPr>
            </a:pPr>
            <a:r>
              <a:rPr sz="1800" b="0">
                <a:solidFill>
                  <a:srgbClr val="222222"/>
                </a:solidFill>
                <a:latin typeface="Calibri"/>
              </a:rPr>
              <a:t>2.  It prints a ready-made MY_CONTROLLER line.</a:t>
            </a:r>
          </a:p>
          <a:p>
            <a:pPr algn="l">
              <a:lnSpc>
                <a:spcPct val="100000"/>
              </a:lnSpc>
              <a:spcAft>
                <a:spcPts val="900"/>
              </a:spcAft>
              <a:defRPr sz="1800" b="0">
                <a:solidFill>
                  <a:srgbClr val="222222"/>
                </a:solidFill>
                <a:latin typeface="Calibri"/>
              </a:defRPr>
            </a:pPr>
            <a:r>
              <a:rPr sz="1800" b="0">
                <a:solidFill>
                  <a:srgbClr val="222222"/>
                </a:solidFill>
                <a:latin typeface="Calibri"/>
              </a:rPr>
              <a:t>3.  Paste that line into the top of the sketch.</a:t>
            </a:r>
          </a:p>
        </p:txBody>
      </p:sp>
      <p:sp>
        <p:nvSpPr>
          <p:cNvPr id="8" name="TextBox 7"/>
          <p:cNvSpPr txBox="1"/>
          <p:nvPr/>
        </p:nvSpPr>
        <p:spPr>
          <a:xfrm>
            <a:off x="6324447" y="1755648"/>
            <a:ext cx="5364327" cy="3035808"/>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4.  Upload. From now on the vehicle answers only to that pad.</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To change controllers, you edit the sketch and upload again.</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Nothing is hidden. The whole mechanism is visible in the file in front of you, which is exactly what you want while you are still learning what the pieces are.</a:t>
            </a:r>
          </a:p>
        </p:txBody>
      </p:sp>
      <p:sp>
        <p:nvSpPr>
          <p:cNvPr id="9" name="Rounded Rectangle 8"/>
          <p:cNvSpPr/>
          <p:nvPr/>
        </p:nvSpPr>
        <p:spPr>
          <a:xfrm>
            <a:off x="502920" y="4919472"/>
            <a:ext cx="11185855" cy="1344168"/>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Side note: the ADVANCED program, Pathfinder_Op_Program12, does this differently - it stores the address in EEPROM and you pair by typing 'pair' in the Serial Monitor, or pressing the BOOT button, then A and HOME on the pad. If somebody hands you a vehicle and tells you to type 'pair', it is running that program, not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 but not always the name printed on it. The next slide is the table you will actually need.</a:t>
            </a:r>
          </a:p>
        </p:txBody>
      </p:sp>
      <p:pic>
        <p:nvPicPr>
          <p:cNvPr id="7" name="Picture 6" descr="switch-controller-labeled.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shoulders and triggers, and the small ones in the middle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370262"/>
        </p:xfrm>
        <a:graphic>
          <a:graphicData uri="http://schemas.openxmlformats.org/drawingml/2006/table">
            <a:tbl>
              <a:tblPr firstRow="1" bandRow="1">
                <a:tableStyleId>{5C22544A-7EE6-4342-B048-85BDC9FD1C3A}</a:tableStyleId>
              </a:tblPr>
              <a:tblGrid>
                <a:gridCol w="2663298"/>
                <a:gridCol w="4261278"/>
                <a:gridCol w="4261278"/>
              </a:tblGrid>
              <a:tr h="306387">
                <a:tc>
                  <a:txBody>
                    <a:bodyPr/>
                    <a:lstStyle/>
                    <a:p>
                      <a:r>
                        <a:rPr sz="1450" b="1">
                          <a:solidFill>
                            <a:srgbClr val="FFFFFF"/>
                          </a:solidFill>
                          <a:latin typeface="Calibri"/>
                        </a:rPr>
                        <a:t>Printed on the pad</a:t>
                      </a:r>
                    </a:p>
                  </a:txBody>
                  <a:tcPr marL="73152" marT="18288" marB="18288">
                    <a:solidFill>
                      <a:srgbClr val="1F3A5F"/>
                    </a:solidFill>
                  </a:tcPr>
                </a:tc>
                <a:tc>
                  <a:txBody>
                    <a:bodyPr/>
                    <a:lstStyle/>
                    <a:p>
                      <a:r>
                        <a:rPr sz="1450" b="1">
                          <a:solidFill>
                            <a:srgbClr val="FFFFFF"/>
                          </a:solidFill>
                          <a:latin typeface="Calibri"/>
                        </a:rPr>
                        <a:t>In the program</a:t>
                      </a:r>
                    </a:p>
                  </a:txBody>
                  <a:tcPr marL="73152" marT="18288" marB="18288">
                    <a:solidFill>
                      <a:srgbClr val="1F3A5F"/>
                    </a:solidFill>
                  </a:tcPr>
                </a:tc>
                <a:tc>
                  <a:txBody>
                    <a:bodyPr/>
                    <a:lstStyle/>
                    <a:p>
                      <a:r>
                        <a:rPr sz="1450" b="1">
                          <a:solidFill>
                            <a:srgbClr val="FFFFFF"/>
                          </a:solidFill>
                          <a:latin typeface="Calibri"/>
                        </a:rPr>
                        <a:t>Where it is</a:t>
                      </a:r>
                    </a:p>
                  </a:txBody>
                  <a:tcPr marL="73152" marT="18288" marB="18288">
                    <a:solidFill>
                      <a:srgbClr val="1F3A5F"/>
                    </a:solidFill>
                  </a:tcPr>
                </a:tc>
              </a:tr>
              <a:tr h="306387">
                <a:tc>
                  <a:txBody>
                    <a:bodyPr/>
                    <a:lstStyle/>
                    <a:p>
                      <a:r>
                        <a:rPr sz="1450">
                          <a:solidFill>
                            <a:srgbClr val="222222"/>
                          </a:solidFill>
                          <a:latin typeface="Calibri"/>
                        </a:rPr>
                        <a:t>B</a:t>
                      </a:r>
                    </a:p>
                  </a:txBody>
                  <a:tcPr marL="73152" marT="18288" marB="18288">
                    <a:solidFill>
                      <a:srgbClr val="FFFFFF"/>
                    </a:solidFill>
                  </a:tcPr>
                </a:tc>
                <a:tc>
                  <a:txBody>
                    <a:bodyPr/>
                    <a:lstStyle/>
                    <a:p>
                      <a:r>
                        <a:rPr sz="1450">
                          <a:solidFill>
                            <a:srgbClr val="222222"/>
                          </a:solidFill>
                          <a:latin typeface="Calibri"/>
                        </a:rPr>
                        <a:t>myController-&gt;a()</a:t>
                      </a:r>
                    </a:p>
                  </a:txBody>
                  <a:tcPr marL="73152" marT="18288" marB="18288">
                    <a:solidFill>
                      <a:srgbClr val="FFFFFF"/>
                    </a:solidFill>
                  </a:tcPr>
                </a:tc>
                <a:tc>
                  <a:txBody>
                    <a:bodyPr/>
                    <a:lstStyle/>
                    <a:p>
                      <a:r>
                        <a:rPr sz="1450">
                          <a:solidFill>
                            <a:srgbClr val="222222"/>
                          </a:solidFill>
                          <a:latin typeface="Calibri"/>
                        </a:rPr>
                        <a:t>bottom face button</a:t>
                      </a:r>
                    </a:p>
                  </a:txBody>
                  <a:tcPr marL="73152" marT="18288" marB="18288">
                    <a:solidFill>
                      <a:srgbClr val="FFFFFF"/>
                    </a:solidFill>
                  </a:tcPr>
                </a:tc>
              </a:tr>
              <a:tr h="306387">
                <a:tc>
                  <a:txBody>
                    <a:bodyPr/>
                    <a:lstStyle/>
                    <a:p>
                      <a:r>
                        <a:rPr sz="1450">
                          <a:solidFill>
                            <a:srgbClr val="222222"/>
                          </a:solidFill>
                          <a:latin typeface="Calibri"/>
                        </a:rPr>
                        <a:t>A</a:t>
                      </a:r>
                    </a:p>
                  </a:txBody>
                  <a:tcPr marL="73152" marT="18288" marB="18288">
                    <a:solidFill>
                      <a:srgbClr val="EEF3F8"/>
                    </a:solidFill>
                  </a:tcPr>
                </a:tc>
                <a:tc>
                  <a:txBody>
                    <a:bodyPr/>
                    <a:lstStyle/>
                    <a:p>
                      <a:r>
                        <a:rPr sz="1450">
                          <a:solidFill>
                            <a:srgbClr val="222222"/>
                          </a:solidFill>
                          <a:latin typeface="Calibri"/>
                        </a:rPr>
                        <a:t>myController-&gt;b()</a:t>
                      </a:r>
                    </a:p>
                  </a:txBody>
                  <a:tcPr marL="73152" marT="18288" marB="18288">
                    <a:solidFill>
                      <a:srgbClr val="EEF3F8"/>
                    </a:solidFill>
                  </a:tcPr>
                </a:tc>
                <a:tc>
                  <a:txBody>
                    <a:bodyPr/>
                    <a:lstStyle/>
                    <a:p>
                      <a:r>
                        <a:rPr sz="1450">
                          <a:solidFill>
                            <a:srgbClr val="222222"/>
                          </a:solidFill>
                          <a:latin typeface="Calibri"/>
                        </a:rPr>
                        <a:t>right face button</a:t>
                      </a:r>
                    </a:p>
                  </a:txBody>
                  <a:tcPr marL="73152" marT="18288" marB="18288">
                    <a:solidFill>
                      <a:srgbClr val="EEF3F8"/>
                    </a:solidFill>
                  </a:tcPr>
                </a:tc>
              </a:tr>
              <a:tr h="306387">
                <a:tc>
                  <a:txBody>
                    <a:bodyPr/>
                    <a:lstStyle/>
                    <a:p>
                      <a:r>
                        <a:rPr sz="1450">
                          <a:solidFill>
                            <a:srgbClr val="222222"/>
                          </a:solidFill>
                          <a:latin typeface="Calibri"/>
                        </a:rPr>
                        <a:t>Y</a:t>
                      </a:r>
                    </a:p>
                  </a:txBody>
                  <a:tcPr marL="73152" marT="18288" marB="18288">
                    <a:solidFill>
                      <a:srgbClr val="FFFFFF"/>
                    </a:solidFill>
                  </a:tcPr>
                </a:tc>
                <a:tc>
                  <a:txBody>
                    <a:bodyPr/>
                    <a:lstStyle/>
                    <a:p>
                      <a:r>
                        <a:rPr sz="1450">
                          <a:solidFill>
                            <a:srgbClr val="222222"/>
                          </a:solidFill>
                          <a:latin typeface="Calibri"/>
                        </a:rPr>
                        <a:t>myController-&gt;x()</a:t>
                      </a:r>
                    </a:p>
                  </a:txBody>
                  <a:tcPr marL="73152" marT="18288" marB="18288">
                    <a:solidFill>
                      <a:srgbClr val="FFFFFF"/>
                    </a:solidFill>
                  </a:tcPr>
                </a:tc>
                <a:tc>
                  <a:txBody>
                    <a:bodyPr/>
                    <a:lstStyle/>
                    <a:p>
                      <a:r>
                        <a:rPr sz="1450">
                          <a:solidFill>
                            <a:srgbClr val="222222"/>
                          </a:solidFill>
                          <a:latin typeface="Calibri"/>
                        </a:rPr>
                        <a:t>left face button</a:t>
                      </a:r>
                    </a:p>
                  </a:txBody>
                  <a:tcPr marL="73152" marT="18288" marB="18288">
                    <a:solidFill>
                      <a:srgbClr val="FFFFFF"/>
                    </a:solidFill>
                  </a:tcPr>
                </a:tc>
              </a:tr>
              <a:tr h="306387">
                <a:tc>
                  <a:txBody>
                    <a:bodyPr/>
                    <a:lstStyle/>
                    <a:p>
                      <a:r>
                        <a:rPr sz="1450">
                          <a:solidFill>
                            <a:srgbClr val="222222"/>
                          </a:solidFill>
                          <a:latin typeface="Calibri"/>
                        </a:rPr>
                        <a:t>X</a:t>
                      </a:r>
                    </a:p>
                  </a:txBody>
                  <a:tcPr marL="73152" marT="18288" marB="18288">
                    <a:solidFill>
                      <a:srgbClr val="EEF3F8"/>
                    </a:solidFill>
                  </a:tcPr>
                </a:tc>
                <a:tc>
                  <a:txBody>
                    <a:bodyPr/>
                    <a:lstStyle/>
                    <a:p>
                      <a:r>
                        <a:rPr sz="1450">
                          <a:solidFill>
                            <a:srgbClr val="222222"/>
                          </a:solidFill>
                          <a:latin typeface="Calibri"/>
                        </a:rPr>
                        <a:t>myController-&gt;y()</a:t>
                      </a:r>
                    </a:p>
                  </a:txBody>
                  <a:tcPr marL="73152" marT="18288" marB="18288">
                    <a:solidFill>
                      <a:srgbClr val="EEF3F8"/>
                    </a:solidFill>
                  </a:tcPr>
                </a:tc>
                <a:tc>
                  <a:txBody>
                    <a:bodyPr/>
                    <a:lstStyle/>
                    <a:p>
                      <a:r>
                        <a:rPr sz="1450">
                          <a:solidFill>
                            <a:srgbClr val="222222"/>
                          </a:solidFill>
                          <a:latin typeface="Calibri"/>
                        </a:rPr>
                        <a:t>top face button</a:t>
                      </a:r>
                    </a:p>
                  </a:txBody>
                  <a:tcPr marL="73152" marT="18288" marB="18288">
                    <a:solidFill>
                      <a:srgbClr val="EEF3F8"/>
                    </a:solidFill>
                  </a:tcPr>
                </a:tc>
              </a:tr>
              <a:tr h="306387">
                <a:tc>
                  <a:txBody>
                    <a:bodyPr/>
                    <a:lstStyle/>
                    <a:p>
                      <a:r>
                        <a:rPr sz="1450">
                          <a:solidFill>
                            <a:srgbClr val="222222"/>
                          </a:solidFill>
                          <a:latin typeface="Calibri"/>
                        </a:rPr>
                        <a:t>L / R</a:t>
                      </a:r>
                    </a:p>
                  </a:txBody>
                  <a:tcPr marL="73152" marT="18288" marB="18288">
                    <a:solidFill>
                      <a:srgbClr val="FFFFFF"/>
                    </a:solidFill>
                  </a:tcPr>
                </a:tc>
                <a:tc>
                  <a:txBody>
                    <a:bodyPr/>
                    <a:lstStyle/>
                    <a:p>
                      <a:r>
                        <a:rPr sz="1450">
                          <a:solidFill>
                            <a:srgbClr val="222222"/>
                          </a:solidFill>
                          <a:latin typeface="Calibri"/>
                        </a:rPr>
                        <a:t>l1() / r1()</a:t>
                      </a:r>
                    </a:p>
                  </a:txBody>
                  <a:tcPr marL="73152" marT="18288" marB="18288">
                    <a:solidFill>
                      <a:srgbClr val="FFFFFF"/>
                    </a:solidFill>
                  </a:tcPr>
                </a:tc>
                <a:tc>
                  <a:txBody>
                    <a:bodyPr/>
                    <a:lstStyle/>
                    <a:p>
                      <a:r>
                        <a:rPr sz="1450">
                          <a:solidFill>
                            <a:srgbClr val="222222"/>
                          </a:solidFill>
                          <a:latin typeface="Calibri"/>
                        </a:rPr>
                        <a:t>shoulders</a:t>
                      </a:r>
                    </a:p>
                  </a:txBody>
                  <a:tcPr marL="73152" marT="18288" marB="18288">
                    <a:solidFill>
                      <a:srgbClr val="FFFFFF"/>
                    </a:solidFill>
                  </a:tcPr>
                </a:tc>
              </a:tr>
              <a:tr h="306387">
                <a:tc>
                  <a:txBody>
                    <a:bodyPr/>
                    <a:lstStyle/>
                    <a:p>
                      <a:r>
                        <a:rPr sz="1450">
                          <a:solidFill>
                            <a:srgbClr val="222222"/>
                          </a:solidFill>
                          <a:latin typeface="Calibri"/>
                        </a:rPr>
                        <a:t>ZL / ZR</a:t>
                      </a:r>
                    </a:p>
                  </a:txBody>
                  <a:tcPr marL="73152" marT="18288" marB="18288">
                    <a:solidFill>
                      <a:srgbClr val="EEF3F8"/>
                    </a:solidFill>
                  </a:tcPr>
                </a:tc>
                <a:tc>
                  <a:txBody>
                    <a:bodyPr/>
                    <a:lstStyle/>
                    <a:p>
                      <a:r>
                        <a:rPr sz="1450">
                          <a:solidFill>
                            <a:srgbClr val="222222"/>
                          </a:solidFill>
                          <a:latin typeface="Calibri"/>
                        </a:rPr>
                        <a:t>l2() / r2()</a:t>
                      </a:r>
                    </a:p>
                  </a:txBody>
                  <a:tcPr marL="73152" marT="18288" marB="18288">
                    <a:solidFill>
                      <a:srgbClr val="EEF3F8"/>
                    </a:solidFill>
                  </a:tcPr>
                </a:tc>
                <a:tc>
                  <a:txBody>
                    <a:bodyPr/>
                    <a:lstStyle/>
                    <a:p>
                      <a:r>
                        <a:rPr sz="1450">
                          <a:solidFill>
                            <a:srgbClr val="222222"/>
                          </a:solidFill>
                          <a:latin typeface="Calibri"/>
                        </a:rPr>
                        <a:t>triggers</a:t>
                      </a:r>
                    </a:p>
                  </a:txBody>
                  <a:tcPr marL="73152" marT="18288" marB="18288">
                    <a:solidFill>
                      <a:srgbClr val="EEF3F8"/>
                    </a:solidFill>
                  </a:tcPr>
                </a:tc>
              </a:tr>
              <a:tr h="306387">
                <a:tc>
                  <a:txBody>
                    <a:bodyPr/>
                    <a:lstStyle/>
                    <a:p>
                      <a:r>
                        <a:rPr sz="1450">
                          <a:solidFill>
                            <a:srgbClr val="222222"/>
                          </a:solidFill>
                          <a:latin typeface="Calibri"/>
                        </a:rPr>
                        <a:t>stick click</a:t>
                      </a:r>
                    </a:p>
                  </a:txBody>
                  <a:tcPr marL="73152" marT="18288" marB="18288">
                    <a:solidFill>
                      <a:srgbClr val="FFFFFF"/>
                    </a:solidFill>
                  </a:tcPr>
                </a:tc>
                <a:tc>
                  <a:txBody>
                    <a:bodyPr/>
                    <a:lstStyle/>
                    <a:p>
                      <a:r>
                        <a:rPr sz="1450">
                          <a:solidFill>
                            <a:srgbClr val="222222"/>
                          </a:solidFill>
                          <a:latin typeface="Calibri"/>
                        </a:rPr>
                        <a:t>thumbL() / thumbR()</a:t>
                      </a:r>
                    </a:p>
                  </a:txBody>
                  <a:tcPr marL="73152" marT="18288" marB="18288">
                    <a:solidFill>
                      <a:srgbClr val="FFFFFF"/>
                    </a:solidFill>
                  </a:tcPr>
                </a:tc>
                <a:tc>
                  <a:txBody>
                    <a:bodyPr/>
                    <a:lstStyle/>
                    <a:p>
                      <a:r>
                        <a:rPr sz="1450">
                          <a:solidFill>
                            <a:srgbClr val="222222"/>
                          </a:solidFill>
                          <a:latin typeface="Calibri"/>
                        </a:rPr>
                        <a:t>press a stick in</a:t>
                      </a:r>
                    </a:p>
                  </a:txBody>
                  <a:tcPr marL="73152" marT="18288" marB="18288">
                    <a:solidFill>
                      <a:srgbClr val="FFFFFF"/>
                    </a:solidFill>
                  </a:tcPr>
                </a:tc>
              </a:tr>
              <a:tr h="306387">
                <a:tc>
                  <a:txBody>
                    <a:bodyPr/>
                    <a:lstStyle/>
                    <a:p>
                      <a:r>
                        <a:rPr sz="1450">
                          <a:solidFill>
                            <a:srgbClr val="222222"/>
                          </a:solidFill>
                          <a:latin typeface="Calibri"/>
                        </a:rPr>
                        <a:t>D-pad</a:t>
                      </a:r>
                    </a:p>
                  </a:txBody>
                  <a:tcPr marL="73152" marT="18288" marB="18288">
                    <a:solidFill>
                      <a:srgbClr val="EEF3F8"/>
                    </a:solidFill>
                  </a:tcPr>
                </a:tc>
                <a:tc>
                  <a:txBody>
                    <a:bodyPr/>
                    <a:lstStyle/>
                    <a:p>
                      <a:r>
                        <a:rPr sz="1450">
                          <a:solidFill>
                            <a:srgbClr val="222222"/>
                          </a:solidFill>
                          <a:latin typeface="Calibri"/>
                        </a:rPr>
                        <a:t>dpad() &amp; DPAD_UP  etc.</a:t>
                      </a:r>
                    </a:p>
                  </a:txBody>
                  <a:tcPr marL="73152" marT="18288" marB="18288">
                    <a:solidFill>
                      <a:srgbClr val="EEF3F8"/>
                    </a:solidFill>
                  </a:tcPr>
                </a:tc>
                <a:tc>
                  <a:txBody>
                    <a:bodyPr/>
                    <a:lstStyle/>
                    <a:p>
                      <a:r>
                        <a:rPr sz="1450">
                          <a:solidFill>
                            <a:srgbClr val="222222"/>
                          </a:solidFill>
                          <a:latin typeface="Calibri"/>
                        </a:rPr>
                        <a:t>one number, one bit per direction</a:t>
                      </a:r>
                    </a:p>
                  </a:txBody>
                  <a:tcPr marL="73152" marT="18288" marB="18288">
                    <a:solidFill>
                      <a:srgbClr val="EEF3F8"/>
                    </a:solidFill>
                  </a:tcPr>
                </a:tc>
              </a:tr>
              <a:tr h="306387">
                <a:tc>
                  <a:txBody>
                    <a:bodyPr/>
                    <a:lstStyle/>
                    <a:p>
                      <a:r>
                        <a:rPr sz="1450">
                          <a:solidFill>
                            <a:srgbClr val="222222"/>
                          </a:solidFill>
                          <a:latin typeface="Calibri"/>
                        </a:rPr>
                        <a:t>left stick</a:t>
                      </a:r>
                    </a:p>
                  </a:txBody>
                  <a:tcPr marL="73152" marT="18288" marB="18288">
                    <a:solidFill>
                      <a:srgbClr val="FFFFFF"/>
                    </a:solidFill>
                  </a:tcPr>
                </a:tc>
                <a:tc>
                  <a:txBody>
                    <a:bodyPr/>
                    <a:lstStyle/>
                    <a:p>
                      <a:r>
                        <a:rPr sz="1450">
                          <a:solidFill>
                            <a:srgbClr val="222222"/>
                          </a:solidFill>
                          <a:latin typeface="Calibri"/>
                        </a:rPr>
                        <a:t>axisX() / axisY()</a:t>
                      </a:r>
                    </a:p>
                  </a:txBody>
                  <a:tcPr marL="73152" marT="18288" marB="18288">
                    <a:solidFill>
                      <a:srgbClr val="FFFFFF"/>
                    </a:solidFill>
                  </a:tcPr>
                </a:tc>
                <a:tc>
                  <a:txBody>
                    <a:bodyPr/>
                    <a:lstStyle/>
                    <a:p>
                      <a:r>
                        <a:rPr sz="1450">
                          <a:solidFill>
                            <a:srgbClr val="222222"/>
                          </a:solidFill>
                          <a:latin typeface="Calibri"/>
                        </a:rPr>
                        <a:t>-512 to +511</a:t>
                      </a:r>
                    </a:p>
                  </a:txBody>
                  <a:tcPr marL="73152" marT="18288" marB="18288">
                    <a:solidFill>
                      <a:srgbClr val="FFFFFF"/>
                    </a:solidFill>
                  </a:tcPr>
                </a:tc>
              </a:tr>
              <a:tr h="306392">
                <a:tc>
                  <a:txBody>
                    <a:bodyPr/>
                    <a:lstStyle/>
                    <a:p>
                      <a:r>
                        <a:rPr sz="1450">
                          <a:solidFill>
                            <a:srgbClr val="222222"/>
                          </a:solidFill>
                          <a:latin typeface="Calibri"/>
                        </a:rPr>
                        <a:t>right stick</a:t>
                      </a:r>
                    </a:p>
                  </a:txBody>
                  <a:tcPr marL="73152" marT="18288" marB="18288">
                    <a:solidFill>
                      <a:srgbClr val="EEF3F8"/>
                    </a:solidFill>
                  </a:tcPr>
                </a:tc>
                <a:tc>
                  <a:txBody>
                    <a:bodyPr/>
                    <a:lstStyle/>
                    <a:p>
                      <a:r>
                        <a:rPr sz="1450">
                          <a:solidFill>
                            <a:srgbClr val="222222"/>
                          </a:solidFill>
                          <a:latin typeface="Calibri"/>
                        </a:rPr>
                        <a:t>axisRX() / axisRY()</a:t>
                      </a:r>
                    </a:p>
                  </a:txBody>
                  <a:tcPr marL="73152" marT="18288" marB="18288">
                    <a:solidFill>
                      <a:srgbClr val="EEF3F8"/>
                    </a:solidFill>
                  </a:tcPr>
                </a:tc>
                <a:tc>
                  <a:txBody>
                    <a:bodyPr/>
                    <a:lstStyle/>
                    <a:p>
                      <a:r>
                        <a:rPr sz="145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47815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47815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digital reading is true or false, with nothing in between.</a:t>
            </a:r>
          </a:p>
          <a:p>
            <a:pPr algn="l">
              <a:lnSpc>
                <a:spcPct val="100000"/>
              </a:lnSpc>
              <a:spcAft>
                <a:spcPts val="800"/>
              </a:spcAft>
              <a:defRPr sz="1900" b="0">
                <a:solidFill>
                  <a:srgbClr val="222222"/>
                </a:solidFill>
                <a:latin typeface="Calibri"/>
              </a:defRPr>
            </a:pPr>
            <a:r>
              <a:rPr sz="1900" b="0">
                <a:solidFill>
                  <a:srgbClr val="222222"/>
                </a:solidFill>
                <a:latin typeface="Calibri"/>
              </a:rPr>
              <a:t>The D-pad, Select, Start and the PS button, and clicking either stick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myController-&gt;x()</a:t>
            </a:r>
          </a:p>
        </p:txBody>
      </p:sp>
      <p:sp>
        <p:nvSpPr>
          <p:cNvPr id="8" name="TextBox 7"/>
          <p:cNvSpPr txBox="1"/>
          <p:nvPr/>
        </p:nvSpPr>
        <p:spPr>
          <a:xfrm>
            <a:off x="5741648" y="1188720"/>
            <a:ext cx="59471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5741648" y="1700784"/>
            <a:ext cx="59471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analog reading says HOW FAR, not just whether.</a:t>
            </a:r>
          </a:p>
          <a:p>
            <a:pPr algn="l">
              <a:lnSpc>
                <a:spcPct val="100000"/>
              </a:lnSpc>
              <a:spcAft>
                <a:spcPts val="800"/>
              </a:spcAft>
              <a:defRPr sz="1900" b="0">
                <a:solidFill>
                  <a:srgbClr val="222222"/>
                </a:solidFill>
                <a:latin typeface="Calibri"/>
              </a:defRPr>
            </a:pPr>
            <a:r>
              <a:rPr sz="1900" b="0">
                <a:solidFill>
                  <a:srgbClr val="222222"/>
                </a:solidFill>
                <a:latin typeface="Calibri"/>
              </a:rPr>
              <a:t>Both thumbsticks, on two axes each, reading -512 to +511.</a:t>
            </a:r>
          </a:p>
          <a:p>
            <a:pPr algn="l">
              <a:lnSpc>
                <a:spcPct val="100000"/>
              </a:lnSpc>
              <a:spcAft>
                <a:spcPts val="800"/>
              </a:spcAft>
              <a:defRPr sz="1900" b="0">
                <a:solidFill>
                  <a:srgbClr val="222222"/>
                </a:solidFill>
                <a:latin typeface="Calibri"/>
              </a:defRPr>
            </a:pPr>
            <a:r>
              <a:rPr sz="1900" b="0">
                <a:solidFill>
                  <a:srgbClr val="222222"/>
                </a:solidFill>
                <a:latin typeface="Calibri"/>
              </a:rPr>
              <a:t>The TRIGGERS are analog too. Bluepad32 reports them as brake() and throttle(), not as buttons.</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ROTATION</a:t>
            </a:r>
          </a:p>
          <a:p>
            <a:pPr lvl="1" algn="l">
              <a:lnSpc>
                <a:spcPct val="100000"/>
              </a:lnSpc>
              <a:spcAft>
                <a:spcPts val="900"/>
              </a:spcAft>
              <a:defRPr sz="1900" b="0">
                <a:solidFill>
                  <a:srgbClr val="222222"/>
                </a:solidFill>
                <a:latin typeface="Calibri"/>
              </a:defRPr>
            </a:pPr>
            <a:r>
              <a:rPr sz="1900" b="0">
                <a:solidFill>
                  <a:srgbClr val="222222"/>
                </a:solidFill>
                <a:latin typeface="Calibri"/>
              </a:rPr>
              <a:t>Roll  -  tipping left or right about the fore-aft axis</a:t>
            </a:r>
          </a:p>
          <a:p>
            <a:pPr lvl="1" algn="l">
              <a:lnSpc>
                <a:spcPct val="100000"/>
              </a:lnSpc>
              <a:spcAft>
                <a:spcPts val="900"/>
              </a:spcAft>
              <a:defRPr sz="1900" b="0">
                <a:solidFill>
                  <a:srgbClr val="222222"/>
                </a:solidFill>
                <a:latin typeface="Calibri"/>
              </a:defRPr>
            </a:pPr>
            <a:r>
              <a:rPr sz="1900" b="0">
                <a:solidFill>
                  <a:srgbClr val="222222"/>
                </a:solidFill>
                <a:latin typeface="Calibri"/>
              </a:rPr>
              <a:t>Pitch  -  nose up or nose down</a:t>
            </a:r>
          </a:p>
          <a:p>
            <a:pPr lvl="1" algn="l">
              <a:lnSpc>
                <a:spcPct val="100000"/>
              </a:lnSpc>
              <a:spcAft>
                <a:spcPts val="900"/>
              </a:spcAft>
              <a:defRPr sz="1900" b="0">
                <a:solidFill>
                  <a:srgbClr val="222222"/>
                </a:solidFill>
                <a:latin typeface="Calibri"/>
              </a:defRPr>
            </a:pPr>
            <a:r>
              <a:rPr sz="1900" b="0">
                <a:solidFill>
                  <a:srgbClr val="222222"/>
                </a:solidFill>
                <a:latin typeface="Calibri"/>
              </a:rPr>
              <a:t>Yaw  -  turning left or right, which is your steering</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Switch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What the pad sends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Hold the SYNC button until the controller lights run.</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a:p>
            <a:pPr algn="l">
              <a:lnSpc>
                <a:spcPct val="100000"/>
              </a:lnSpc>
              <a:spcAft>
                <a:spcPts val="400"/>
              </a:spcAft>
              <a:defRPr sz="1800" b="0">
                <a:solidFill>
                  <a:srgbClr val="222222"/>
                </a:solidFill>
                <a:latin typeface="Calibri"/>
              </a:defRPr>
            </a:pPr>
            <a:r>
              <a:rPr sz="1800" b="0">
                <a:solidFill>
                  <a:srgbClr val="222222"/>
                </a:solidFill>
                <a:latin typeface="Calibri"/>
              </a:rPr>
              <a:t>7.  Copy the MY_CONTROLLER line it prints. You need it all day.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Deadzone and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thumbstick that has been thumbed by a hundred students does not come back to exactly zero.</a:t>
            </a:r>
          </a:p>
          <a:p>
            <a:pPr algn="l">
              <a:lnSpc>
                <a:spcPct val="100000"/>
              </a:lnSpc>
              <a:spcAft>
                <a:spcPts val="600"/>
              </a:spcAft>
              <a:defRPr sz="1900" b="0">
                <a:solidFill>
                  <a:srgbClr val="222222"/>
                </a:solidFill>
                <a:latin typeface="Calibri"/>
              </a:defRPr>
            </a:pPr>
            <a:r>
              <a:rPr sz="1900" b="0">
                <a:solidFill>
                  <a:srgbClr val="222222"/>
                </a:solidFill>
                <a:latin typeface="Calibri"/>
              </a:rPr>
              <a:t>You just measured it. Yours probably reads a few counts either side of center when nobody is touching it.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answer is a DEADZONE: any reading smaller than a threshold is treated as a firm, deliberate zero.</a:t>
            </a:r>
          </a:p>
          <a:p>
            <a:pPr algn="l">
              <a:lnSpc>
                <a:spcPct val="100000"/>
              </a:lnSpc>
              <a:spcAft>
                <a:spcPts val="600"/>
              </a:spcAft>
              <a:defRPr sz="1900" b="0">
                <a:solidFill>
                  <a:srgbClr val="222222"/>
                </a:solidFill>
                <a:latin typeface="Calibri"/>
              </a:defRPr>
            </a:pPr>
            <a:r>
              <a:rPr sz="1900" b="0">
                <a:solidFill>
                  <a:srgbClr val="222222"/>
                </a:solidFill>
                <a:latin typeface="Calibri"/>
              </a:rPr>
              <a:t>On this track the deadzone is 60, which is about 12% of the stick travel.</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Too small and the vehicle creeps. Too big and you waste the stick.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511</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653102"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1921582"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60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511,</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511, 0, 255)   -&gt;    0</a:t>
            </a:r>
          </a:p>
          <a:p>
            <a:pPr algn="l">
              <a:lnSpc>
                <a:spcPct val="100000"/>
              </a:lnSpc>
              <a:spcAft>
                <a:spcPts val="0"/>
              </a:spcAft>
              <a:defRPr sz="1650">
                <a:latin typeface="Consolas"/>
              </a:defRPr>
            </a:pPr>
            <a:r>
              <a:rPr sz="1650">
                <a:solidFill>
                  <a:srgbClr val="222222"/>
                </a:solidFill>
                <a:latin typeface="Consolas"/>
              </a:rPr>
              <a:t>map(255, 0, 255, 0, 255)   -&gt;  127</a:t>
            </a:r>
          </a:p>
          <a:p>
            <a:pPr algn="l">
              <a:lnSpc>
                <a:spcPct val="100000"/>
              </a:lnSpc>
              <a:spcAft>
                <a:spcPts val="0"/>
              </a:spcAft>
              <a:defRPr sz="1650">
                <a:latin typeface="Consolas"/>
              </a:defRPr>
            </a:pPr>
            <a:r>
              <a:rPr sz="1650">
                <a:solidFill>
                  <a:srgbClr val="222222"/>
                </a:solidFill>
                <a:latin typeface="Consolas"/>
              </a:rPr>
              <a:t>map(511, 0, 511,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408.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Driving it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75%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left = forward + turn        right = forward - turn</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Driving gets the full MOTOR_MAX of 255.</a:t>
            </a:r>
          </a:p>
          <a:p>
            <a:pPr algn="l">
              <a:lnSpc>
                <a:spcPct val="100000"/>
              </a:lnSpc>
              <a:spcAft>
                <a:spcPts val="600"/>
              </a:spcAft>
              <a:defRPr sz="1900" b="0">
                <a:solidFill>
                  <a:srgbClr val="222222"/>
                </a:solidFill>
                <a:latin typeface="Calibri"/>
              </a:defRPr>
            </a:pPr>
            <a:r>
              <a:rPr sz="1900" b="0">
                <a:solidFill>
                  <a:srgbClr val="222222"/>
                </a:solidFill>
                <a:latin typeface="Calibri"/>
              </a:rPr>
              <a:t>Steering gets turnMax, which is 75% of that by default - 191.</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Why? Because at full power a small nudge sideways spins the vehicle faster than anybody can correct for. Holding steering to 75% makes it controllable without making it slow.</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full program lets you switch between the two with clicking the left stick in. Sharp mode is for spinning on the spot deliberately; normal mode is for actually getting somewhere.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(myController == nullptr || !myController-&gt;isConnected())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myController-&gt;axisX();</a:t>
            </a:r>
          </a:p>
          <a:p>
            <a:pPr algn="l">
              <a:lnSpc>
                <a:spcPct val="100000"/>
              </a:lnSpc>
              <a:spcAft>
                <a:spcPts val="0"/>
              </a:spcAft>
              <a:defRPr sz="1400">
                <a:latin typeface="Consolas"/>
              </a:defRPr>
            </a:pPr>
            <a:r>
              <a:rPr sz="1400">
                <a:solidFill>
                  <a:srgbClr val="222222"/>
                </a:solidFill>
                <a:latin typeface="Consolas"/>
              </a:rPr>
              <a:t>  int leftStickY = myController-&gt;axisY();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975649"/>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A vehicle that goes where you point it.</a:t>
            </a:r>
          </a:p>
        </p:txBody>
      </p:sp>
      <p:sp>
        <p:nvSpPr>
          <p:cNvPr id="10" name="TextBox 9"/>
          <p:cNvSpPr txBox="1"/>
          <p:nvPr/>
        </p:nvSpPr>
        <p:spPr>
          <a:xfrm>
            <a:off x="7163537" y="33530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55425"/>
            <a:ext cx="4525238" cy="2508214"/>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What happened when the pad went out of range, and which four lines made that happen?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11185855"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3.  Wheels off the ground, motors running. Carry the pad out of range - round a corner, or thirty feet down the corridor - and watch the wheels stop. Walk back and it picks up again.</a:t>
            </a:r>
          </a:p>
          <a:p>
            <a:pPr lvl="1" algn="l">
              <a:lnSpc>
                <a:spcPct val="100000"/>
              </a:lnSpc>
              <a:spcAft>
                <a:spcPts val="800"/>
              </a:spcAft>
              <a:defRPr sz="1800" b="0">
                <a:solidFill>
                  <a:srgbClr val="222222"/>
                </a:solidFill>
                <a:latin typeface="Calibri"/>
              </a:defRPr>
            </a:pPr>
            <a:r>
              <a:rPr sz="1800" b="0">
                <a:solidFill>
                  <a:srgbClr val="222222"/>
                </a:solidFill>
                <a:latin typeface="Calibri"/>
              </a:rPr>
              <a:t>Neither of these pads has an off switch, so out of range is how you prove the failsafe. Power-cycling the VEHICLE shows the same guard from the other side: the pad is on, the sticks work, and nothing moves until it reconnects.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11185855"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224 and 225: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225: make it  rightSpeed = forward;  with no turn term. Why is that worse steering?</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Check the controls with the wheels off the ground first. Every time you upload a change.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and an operator walks further than the radio reaches.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Three lines at the top of loop() do it:</a:t>
            </a:r>
          </a:p>
          <a:p>
            <a:pPr lvl="1" algn="l">
              <a:lnSpc>
                <a:spcPct val="100000"/>
              </a:lnSpc>
              <a:spcAft>
                <a:spcPts val="900"/>
              </a:spcAft>
              <a:defRPr sz="1800" b="0">
                <a:solidFill>
                  <a:srgbClr val="222222"/>
                </a:solidFill>
                <a:latin typeface="Calibri"/>
              </a:defRPr>
            </a:pPr>
            <a:r>
              <a:rPr sz="1800" b="0">
                <a:solidFill>
                  <a:srgbClr val="222222"/>
                </a:solidFill>
                <a:latin typeface="Calibri"/>
              </a:rPr>
              <a:t>if (!connected) { drive(0, 0); return; }</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If you take one habit away from this course, take this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centered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75% of full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