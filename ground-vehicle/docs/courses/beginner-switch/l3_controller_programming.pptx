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Controllers charged and paired before the class starts. A flat pad costs you twenty minutes you do not have.</a:t>
            </a:r>
          </a:p>
          <a:p>
            <a:r>
              <a:rPr sz="1200">
                <a:latin typeface="Calibri"/>
              </a:rPr>
              <a:t>Today is the lesson they came for. Say so, then make them earn it - everything before the last hour is print-only.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Objective six, the failsafe, is the one that matters beyond this course. Flag it now and come back to it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Sixty seconds, then straight on.</a:t>
            </a:r>
          </a:p>
          <a:p>
            <a:r>
              <a:rPr sz="1200">
                <a:latin typeface="Calibri"/>
              </a:rPr>
              <a:t>The note is the discipline for the day: see the numbers first, drive second. It stops a room full of vehicles bolting during the first upload.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Point out that the vehicle does not move until 2:35. Manage the disappointment early rather than fighting it all lesson.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Keep the radio theory to two minutes. The one thing that must land is that every device has an address, and an address is like a phone number.</a:t>
            </a:r>
          </a:p>
          <a:p>
            <a:r>
              <a:rPr sz="1200">
                <a:latin typeface="Calibri"/>
              </a:rPr>
              <a:t>The channel-hopping detail answers the question they are about to ask: why twenty vehicles in one room actually works.</a:t>
            </a:r>
          </a:p>
          <a:p>
            <a:r>
              <a:rPr sz="1200">
                <a:latin typeface="Calibri"/>
              </a:rPr>
              <a:t>The 85% storage note is worth mentioning. It explains why a Bluetooth sketch takes so long to upload and why some boards run out of room.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Hold up two pads. Ask the room how a vehicle is supposed to tell them apart.</a:t>
            </a:r>
          </a:p>
          <a:p>
            <a:r>
              <a:rPr sz="1200">
                <a:latin typeface="Calibri"/>
              </a:rPr>
              <a:t>The answer is that it cannot, unless somebody writes down which one it belongs to. That is the next slide.</a:t>
            </a:r>
          </a:p>
          <a:p>
            <a:r>
              <a:rPr sz="1200">
                <a:latin typeface="Calibri"/>
              </a:rPr>
              <a:t>This is worth ten seconds of real confusion before you give them the allowlist.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Switch story is the opposite way round: the vehicle keeps a guest list and turns away anything not on it.</a:t>
            </a:r>
          </a:p>
          <a:p>
            <a:r>
              <a:rPr sz="1200">
                <a:latin typeface="Calibri"/>
              </a:rPr>
              <a:t>Allowlist is the right word to teach. It is checked before the connection is accepted, not after.</a:t>
            </a:r>
          </a:p>
          <a:p>
            <a:r>
              <a:rPr sz="1200">
                <a:latin typeface="Calibri"/>
              </a:rPr>
              <a:t>The list is rebuilt at every boot, so the sketch is always the truth. Nothing is remembered behind their backs.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how THEIR program does it - a constant at the top of the file they can see and edit.</a:t>
            </a:r>
          </a:p>
          <a:p>
            <a:r>
              <a:rPr sz="1200">
                <a:latin typeface="Calibri"/>
              </a:rPr>
              <a:t>Four steps, and step 2 does the hard part for them: l3a_controller_check prints a ready-made line to paste.</a:t>
            </a:r>
          </a:p>
          <a:p>
            <a:r>
              <a:rPr sz="1200">
                <a:latin typeface="Calibri"/>
              </a:rPr>
              <a:t>The advanced program stores the address in EEPROM instead, which is better in the field and worse for learning. One sentence, then move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Hold a real controller up alongside the picture.</a:t>
            </a:r>
          </a:p>
          <a:p>
            <a:r>
              <a:rPr sz="1200">
                <a:latin typeface="Calibri"/>
              </a:rPr>
              <a:t>Warn them now that the names in the program are not always the letters printed on the pad. The next slide is the table that sorts it out.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table is the single most useful page in the Switch track. Print it.</a:t>
            </a:r>
          </a:p>
          <a:p>
            <a:r>
              <a:rPr sz="1200">
                <a:latin typeface="Calibri"/>
              </a:rPr>
              <a:t>Bluepad32 names the face buttons by POSITION, Xbox style. So y() is the button MARKED X, because it is the top one.</a:t>
            </a:r>
          </a:p>
          <a:p>
            <a:r>
              <a:rPr sz="1200">
                <a:latin typeface="Calibri"/>
              </a:rPr>
              <a:t>Third-party pads do not always agree with each other. That is exactly why l3a_controller_check exists - measure, do not assume.</a:t>
            </a:r>
          </a:p>
          <a:p>
            <a:r>
              <a:rPr sz="1200">
                <a:latin typeface="Calibri"/>
              </a:rPr>
              <a:t>Have them press each button and tick it off the table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one row left to right and the whole thing is obvious: two pins, a driver chip, a motor.</a:t>
            </a:r>
          </a:p>
          <a:p>
            <a:r>
              <a:rPr sz="1200">
                <a:latin typeface="Calibri"/>
              </a:rPr>
              <a:t>The driver is the part worth naming. The ESP32 pin can supply about 20 milliamps at 3.3 volts. A motor wants amps at battery voltage. The DRV8871 is what stands between them.</a:t>
            </a:r>
          </a:p>
          <a:p>
            <a:r>
              <a:rPr sz="1200">
                <a:latin typeface="Calibri"/>
              </a:rPr>
              <a:t>Two pins per motor, not one. Which of the two you drive is what decides the direction - that is the H-bridge from Lesson 2.</a:t>
            </a:r>
          </a:p>
          <a:p>
            <a:r>
              <a:rPr sz="1200">
                <a:latin typeface="Calibri"/>
              </a:rPr>
              <a:t>Point out that the pin numbers on this slide are read out of the sketch when the deck is built, so if they look at the file they will find the same ones.</a:t>
            </a:r>
          </a:p>
          <a:p>
            <a:r>
              <a:rPr sz="1200">
                <a:latin typeface="Calibri"/>
              </a:rPr>
              <a:t>Worth pausing on the fact that all four rows are identical. Four motors is not four times the thinking - it is the same thinking, four times.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Digital and analog is a distinction they will use for the rest of their lives. Two minutes, properly.</a:t>
            </a:r>
          </a:p>
          <a:p>
            <a:r>
              <a:rPr sz="1200">
                <a:latin typeface="Calibri"/>
              </a:rPr>
              <a:t>The two triggers are ANALOG on this track as well. Bluepad32 gives them to you as brake() and throttle() with a range, not as pressed-or-not. The face buttons, unlike a PS3 pad, really are digital.</a:t>
            </a:r>
          </a:p>
          <a:p>
            <a:r>
              <a:rPr sz="1200">
                <a:latin typeface="Calibri"/>
              </a:rPr>
              <a:t>A press can read differently from a light one, and you can still treat any of them as a plain yes or no - which is mostly what we do, and why it is easy to get wrong.</a:t>
            </a:r>
          </a:p>
          <a:p>
            <a:r>
              <a:rPr sz="1200">
                <a:latin typeface="Calibri"/>
              </a:rPr>
              <a:t>If you have five spare minutes, have them squeeze a trigger slowly in l3a_controller_check and watch the number climb.</a:t>
            </a:r>
          </a:p>
          <a:p>
            <a:r>
              <a:rPr sz="1200">
                <a:latin typeface="Calibri"/>
              </a:rPr>
              <a:t>The warning panel is the one to read out. Push a stick up and the number goes negative - it catches everybody, and it is why there is a minus sign in the driving code.</a:t>
            </a:r>
          </a:p>
          <a:p>
            <a:r>
              <a:rPr sz="1200">
                <a:latin typeface="Calibri"/>
              </a:rPr>
              <a:t>Have a controller in your hand and press the things as you name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 degrees of freedom is genuinely useful vocabulary and it costs three minutes.</a:t>
            </a:r>
          </a:p>
          <a:p>
            <a:r>
              <a:rPr sz="1200">
                <a:latin typeface="Calibri"/>
              </a:rPr>
              <a:t>Demonstrate with your hand: three slides, three twists.</a:t>
            </a:r>
          </a:p>
          <a:p>
            <a:r>
              <a:rPr sz="1200">
                <a:latin typeface="Calibri"/>
              </a:rPr>
              <a:t>A rover on a flat floor really only has surge and yaw. That is why one stick is enough here and why a submersible pilot needs two.</a:t>
            </a:r>
          </a:p>
          <a:p>
            <a:r>
              <a:rPr sz="1200">
                <a:latin typeface="Calibri"/>
              </a:rPr>
              <a:t>The Sixaxis palindrome is a cheap laugh and it makes the name stick.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 ways a rigid body can move. Three slides, three twists, and nothing else.</a:t>
            </a:r>
          </a:p>
          <a:p>
            <a:r>
              <a:rPr sz="1200">
                <a:latin typeface="Calibri"/>
              </a:rPr>
              <a:t>Demonstrate with your hand held flat before you show the diagram. Slide it forward, sideways, up. Then tip it, nose it down, spin it.</a:t>
            </a:r>
          </a:p>
          <a:p>
            <a:r>
              <a:rPr sz="1200">
                <a:latin typeface="Calibri"/>
              </a:rPr>
              <a:t>The two boxed in teal are the two a rover on a flat floor can actually control. That is why one stick with two axes is enough here.</a:t>
            </a:r>
          </a:p>
          <a:p>
            <a:r>
              <a:rPr sz="1200">
                <a:latin typeface="Calibri"/>
              </a:rPr>
              <a:t>A submersible or an aircraft controls all six, which is why an ROV pilot needs two sticks and far more practice.</a:t>
            </a:r>
          </a:p>
          <a:p>
            <a:r>
              <a:rPr sz="1200">
                <a:latin typeface="Calibri"/>
              </a:rPr>
              <a:t>Sway is the interesting one to ask about. A rover cannot slide sideways - it has to yaw and then surge. Ask them why.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First of three.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a reading exercise, not a driving one. Nothing moves.</a:t>
            </a:r>
          </a:p>
          <a:p>
            <a:r>
              <a:rPr sz="1200">
                <a:latin typeface="Calibri"/>
              </a:rPr>
              <a:t>Step 5 is the one that sets up the whole deadzone section: hands off, and watch the number refuse to sit at zero.</a:t>
            </a:r>
          </a:p>
          <a:p>
            <a:r>
              <a:rPr sz="1200">
                <a:latin typeface="Calibri"/>
              </a:rPr>
              <a:t>Step 7 gives them the MY_CONTROLLER line they need for the rest of the day. Make sure it is written down or pasted immediately - it is easy to lose.</a:t>
            </a:r>
          </a:p>
          <a:p>
            <a:r>
              <a:rPr sz="1200">
                <a:latin typeface="Calibri"/>
              </a:rPr>
              <a:t>Walk round with a list of button names. Somebody will find a button that prints nothing, and that is usually a third-party pad rather than a fault.</a:t>
            </a:r>
          </a:p>
          <a:p>
            <a:r>
              <a:rPr sz="1200">
                <a:latin typeface="Calibri"/>
              </a:rPr>
              <a:t>The sticks print at most four times a second, on purpose - PRINT_MS in the sketch. Anybody who wants to see why can set it to 20 and watch the window scroll away.</a:t>
            </a:r>
          </a:p>
          <a:p>
            <a:r>
              <a:rPr sz="1200">
                <a:latin typeface="Calibri"/>
              </a:rPr>
              <a:t>ANSWER, Y axis: pushing UP gives a NEGATIVE number, down a positive one (-512 to +511). That is why the driving code puts a minus sign in front of the Y reading.</a:t>
            </a:r>
          </a:p>
          <a:p>
            <a:r>
              <a:rPr sz="1200">
                <a:latin typeface="Calibri"/>
              </a:rPr>
              <a:t>ANSWER, drift: it depends on the pad, which is the point. A worn stick usually rests a few counts off zero. Collect the numbers from the room - the biggest one is what the deadzone has to beat, and it is the next section.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Two of three.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They measured the drift ten minutes ago. Ask for numbers before you explain anything.</a:t>
            </a:r>
          </a:p>
          <a:p>
            <a:r>
              <a:rPr sz="1200">
                <a:latin typeface="Calibri"/>
              </a:rPr>
              <a:t>Paint the picture: twenty vehicles creeping across a classroom floor with nobody touching a controller.</a:t>
            </a:r>
          </a:p>
          <a:p>
            <a:r>
              <a:rPr sz="1200">
                <a:latin typeface="Calibri"/>
              </a:rPr>
              <a:t>The deadzone value and percentage on this slide are read out of the sketch at build time, so they match the file they are about to edit.</a:t>
            </a:r>
          </a:p>
          <a:p>
            <a:r>
              <a:rPr sz="1200">
                <a:latin typeface="Calibri"/>
              </a:rPr>
              <a:t>The trade-off is the point: too small and it creeps, too big and you waste the stick. They will feel both in the next activity.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two numbers that matter are the deadzone and the top of the stick range. Everything else on the slide follows from those.</a:t>
            </a:r>
          </a:p>
          <a:p>
            <a:r>
              <a:rPr sz="1200">
                <a:latin typeface="Calibri"/>
              </a:rPr>
              <a:t>Ask why the ramp does not start at the origin. The answer - a stick at rest is never exactly centered - is worth getting from the room rather than telling them.</a:t>
            </a:r>
          </a:p>
          <a:p>
            <a:r>
              <a:rPr sz="1200">
                <a:latin typeface="Calibri"/>
              </a:rPr>
              <a:t>With MOTOR_MIN at 0 the ramp leaves the deadzone edge at zero speed, with no jump. Step 5 of the next activity sets MOTOR_MIN to 60, and then the speed jumps from 0 straight to 60 at the edge. That is what a speed floor looks like.</a:t>
            </a:r>
          </a:p>
          <a:p>
            <a:r>
              <a:rPr sz="1200">
                <a:latin typeface="Calibri"/>
              </a:rPr>
              <a:t>Come back to this diagram when somebody's vehicle creeps on its own.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map() is just proportion. Say that first, then show the three worked examples.</a:t>
            </a:r>
          </a:p>
          <a:p>
            <a:r>
              <a:rPr sz="1200">
                <a:latin typeface="Calibri"/>
              </a:rPr>
              <a:t>Make them work the middle one out before you say it. Half the stick is NOT exactly half speed, because map() works in whole numbers and throws the fraction away - the 7 / 2 trap from Lesson 1, in a place where it actually matters.</a:t>
            </a:r>
          </a:p>
          <a:p>
            <a:r>
              <a:rPr sz="1200">
                <a:latin typeface="Calibri"/>
              </a:rPr>
              <a:t>The important subtlety is on the last line: the low end is the DEADZONE, not zero. Without that, the leftover travel could never reach full speed.</a:t>
            </a:r>
          </a:p>
          <a:p>
            <a:r>
              <a:rPr sz="1200">
                <a:latin typeface="Calibri"/>
              </a:rPr>
              <a:t>map() does not clamp. Feed it something outside the range and you get something outside the range - which is exactly why constrain() exists.</a:t>
            </a:r>
          </a:p>
          <a:p>
            <a:r>
              <a:rPr sz="1200">
                <a:latin typeface="Calibri"/>
              </a:rPr>
              <a:t>Get them to work out one example on paper before the activity.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Print only. Nothing moves, so nobody needs a block.</a:t>
            </a:r>
          </a:p>
          <a:p>
            <a:r>
              <a:rPr sz="1200">
                <a:latin typeface="Calibri"/>
              </a:rPr>
              <a:t>Step 3 is the demonstration of the whole idea: deadzone at zero, hands off, and the numbers will not sit still.</a:t>
            </a:r>
          </a:p>
          <a:p>
            <a:r>
              <a:rPr sz="1200">
                <a:latin typeface="Calibri"/>
              </a:rPr>
              <a:t>Step 4 makes the opposite mistake on purpose. Ask them how much of the stick is left.</a:t>
            </a:r>
          </a:p>
          <a:p>
            <a:r>
              <a:rPr sz="1200">
                <a:latin typeface="Calibri"/>
              </a:rPr>
              <a:t>Step 5 previews MOTOR_MIN, which they met in Lesson 2. The jump the instant they leave the deadzone is what a raised minimum feels like.</a:t>
            </a:r>
          </a:p>
          <a:p>
            <a:r>
              <a:rPr sz="1200">
                <a:latin typeface="Calibri"/>
              </a:rPr>
              <a:t>ANSWER, deadzone 0: it would creep. The resting drift is no longer thrown away, so it turns into a small motor speed - the speed column stops reading 0 even with nobody touching the pad.</a:t>
            </a:r>
          </a:p>
          <a:p>
            <a:r>
              <a:rPr sz="1200">
                <a:latin typeface="Calibri"/>
              </a:rPr>
              <a:t>ANSWER, MOTOR_MIN = 60: the speed jumps from 0 straight to 60 the moment the stick leaves the deadzone, instead of starting from 0. You want it for motors that will not turn at all below some duty - the number they found with l2b_speed_ramp. These vehicles drive fine without it, which is why it ships at 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then clear the floor.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lines of arithmetic. Write them on the board and work an example with the room before you show the slide.</a:t>
            </a:r>
          </a:p>
          <a:p>
            <a:r>
              <a:rPr sz="1200">
                <a:latin typeface="Calibri"/>
              </a:rPr>
              <a:t>The 75% steering limit is a design decision, not a limitation. Explain the reasoning: full-power steering spins faster than anybody can correct for.</a:t>
            </a:r>
          </a:p>
          <a:p>
            <a:r>
              <a:rPr sz="1200">
                <a:latin typeface="Calibri"/>
              </a:rPr>
              <a:t>constrain() is what catches forward 200 plus turn 60. Ask what would happen without it - the number wraps past what the motor can take and the vehicle turns the wrong way.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the first four lines twice. That is the failsafe, and it is the most important thing in the file.</a:t>
            </a:r>
          </a:p>
          <a:p>
            <a:r>
              <a:rPr sz="1200">
                <a:latin typeface="Calibri"/>
              </a:rPr>
              <a:t>The minus sign in front of leftStickY is the up-is-negative fix from earlier. Point back at it.</a:t>
            </a:r>
          </a:p>
          <a:p>
            <a:r>
              <a:rPr sz="1200">
                <a:latin typeface="Calibri"/>
              </a:rPr>
              <a:t>Ask which line sets speed and which sets steering, then which one limits steering to 75%.</a:t>
            </a:r>
          </a:p>
          <a:p>
            <a:r>
              <a:rPr sz="1200">
                <a:latin typeface="Calibri"/>
              </a:rPr>
              <a:t>This is the first program in the course they could plausibly have written themselves. Say so.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Step 1 is not optional. Wheels off the ground, check up is forward and right is right, every single upload.</a:t>
            </a:r>
          </a:p>
          <a:p>
            <a:r>
              <a:rPr sz="1200">
                <a:latin typeface="Calibri"/>
              </a:rPr>
              <a:t>Step 3 is the failsafe demonstration, and it needs setting up. Kevin caught this in the 2026-09-08 review: the slide used to say switch the pad off, and neither of these controllers CAN be switched off by hand. Walking out of range is the demonstration that actually works.</a:t>
            </a:r>
          </a:p>
          <a:p>
            <a:r>
              <a:rPr sz="1200">
                <a:latin typeface="Calibri"/>
              </a:rPr>
              <a:t>Send one person down the corridor with the pad while the rest of the group watches the wheels. Thirty feet, or one wall, is usually enough. If the room is small, power-cycle the vehicle instead and push the stick while it is disconnected - same guard, seen from the other side.</a:t>
            </a:r>
          </a:p>
          <a:p>
            <a:r>
              <a:rPr sz="1200">
                <a:latin typeface="Calibri"/>
              </a:rPr>
              <a:t>Steps 5 and 6 are deliberate breakages, and the line numbers on the slide are read out of the sketch when the deck is built, so they are right for the track in front of you.</a:t>
            </a:r>
          </a:p>
          <a:p>
            <a:r>
              <a:rPr sz="1200">
                <a:latin typeface="Calibri"/>
              </a:rPr>
              <a:t>Swapped signs give a vehicle that steers backwards. Dropping the turn term from the right side only gives something that swings wide one way and barely turns the other - the left wheels still get forward + turn while the right ones get forward alone.</a:t>
            </a:r>
          </a:p>
          <a:p>
            <a:r>
              <a:rPr sz="1200">
                <a:latin typeface="Calibri"/>
              </a:rPr>
              <a:t>Make them put both back before they leave.</a:t>
            </a:r>
          </a:p>
          <a:p>
            <a:r>
              <a:rPr sz="1200">
                <a:latin typeface="Calibri"/>
              </a:rPr>
              <a:t>Give this the full thirty minutes. It is the payoff for three lessons of groundwork.</a:t>
            </a:r>
          </a:p>
          <a:p>
            <a:r>
              <a:rPr sz="1200">
                <a:latin typeface="Calibri"/>
              </a:rPr>
              <a:t>ANSWER: the wheels stopped within about a second of the link dropping, and picked up again when the pad came back in range. The four lines are the if at the very top of loop(): no controller, so drive(0, 0) and return before anything else runs.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(Continued from the previous slide - the same notes apply.)</a:t>
            </a:r>
          </a:p>
          <a:p/>
          <a:p>
            <a:r>
              <a:rPr sz="1200">
                <a:latin typeface="Calibri"/>
              </a:rPr>
              <a:t>Step 1 is not optional. Wheels off the ground, check up is forward and right is right, every single upload.</a:t>
            </a:r>
          </a:p>
          <a:p>
            <a:r>
              <a:rPr sz="1200">
                <a:latin typeface="Calibri"/>
              </a:rPr>
              <a:t>Step 3 is the failsafe demonstration, and it needs setting up. Kevin caught this in the 2026-09-08 review: the slide used to say switch the pad off, and neither of these controllers CAN be switched off by hand. Walking out of range is the demonstration that actually works.</a:t>
            </a:r>
          </a:p>
          <a:p>
            <a:r>
              <a:rPr sz="1200">
                <a:latin typeface="Calibri"/>
              </a:rPr>
              <a:t>Send one person down the corridor with the pad while the rest of the group watches the wheels. Thirty feet, or one wall, is usually enough. If the room is small, power-cycle the vehicle instead and push the stick while it is disconnected - same guard, seen from the other side.</a:t>
            </a:r>
          </a:p>
          <a:p>
            <a:r>
              <a:rPr sz="1200">
                <a:latin typeface="Calibri"/>
              </a:rPr>
              <a:t>Steps 5 and 6 are deliberate breakages, and the line numbers on the slide are read out of the sketch when the deck is built, so they are right for the track in front of you.</a:t>
            </a:r>
          </a:p>
          <a:p>
            <a:r>
              <a:rPr sz="1200">
                <a:latin typeface="Calibri"/>
              </a:rPr>
              <a:t>Swapped signs give a vehicle that steers backwards. Dropping the turn term from the right side only gives something that swings wide one way and barely turns the other - the left wheels still get forward + turn while the right ones get forward alone.</a:t>
            </a:r>
          </a:p>
          <a:p>
            <a:r>
              <a:rPr sz="1200">
                <a:latin typeface="Calibri"/>
              </a:rPr>
              <a:t>Make them put both back before they leave.</a:t>
            </a:r>
          </a:p>
          <a:p>
            <a:r>
              <a:rPr sz="1200">
                <a:latin typeface="Calibri"/>
              </a:rPr>
              <a:t>Give this the full thirty minutes. It is the payoff for three lessons of groundwork.</a:t>
            </a:r>
          </a:p>
          <a:p>
            <a:r>
              <a:rPr sz="1200">
                <a:latin typeface="Calibri"/>
              </a:rPr>
              <a:t>ANSWER: the wheels stopped within about a second of the link dropping, and picked up again when the pad came back in range. The four lines are the if at the very top of loop(): no controller, so drive(0, 0) and return before anything else runs.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(Continued from the previous slide - the same notes apply.)</a:t>
            </a:r>
          </a:p>
          <a:p/>
          <a:p>
            <a:r>
              <a:rPr sz="1200">
                <a:latin typeface="Calibri"/>
              </a:rPr>
              <a:t>Step 1 is not optional. Wheels off the ground, check up is forward and right is right, every single upload.</a:t>
            </a:r>
          </a:p>
          <a:p>
            <a:r>
              <a:rPr sz="1200">
                <a:latin typeface="Calibri"/>
              </a:rPr>
              <a:t>Step 3 is the failsafe demonstration, and it needs setting up. Kevin caught this in the 2026-09-08 review: the slide used to say switch the pad off, and neither of these controllers CAN be switched off by hand. Walking out of range is the demonstration that actually works.</a:t>
            </a:r>
          </a:p>
          <a:p>
            <a:r>
              <a:rPr sz="1200">
                <a:latin typeface="Calibri"/>
              </a:rPr>
              <a:t>Send one person down the corridor with the pad while the rest of the group watches the wheels. Thirty feet, or one wall, is usually enough. If the room is small, power-cycle the vehicle instead and push the stick while it is disconnected - same guard, seen from the other side.</a:t>
            </a:r>
          </a:p>
          <a:p>
            <a:r>
              <a:rPr sz="1200">
                <a:latin typeface="Calibri"/>
              </a:rPr>
              <a:t>Steps 5 and 6 are deliberate breakages, and the line numbers on the slide are read out of the sketch when the deck is built, so they are right for the track in front of you.</a:t>
            </a:r>
          </a:p>
          <a:p>
            <a:r>
              <a:rPr sz="1200">
                <a:latin typeface="Calibri"/>
              </a:rPr>
              <a:t>Swapped signs give a vehicle that steers backwards. Dropping the turn term from the right side only gives something that swings wide one way and barely turns the other - the left wheels still get forward + turn while the right ones get forward alone.</a:t>
            </a:r>
          </a:p>
          <a:p>
            <a:r>
              <a:rPr sz="1200">
                <a:latin typeface="Calibri"/>
              </a:rPr>
              <a:t>Make them put both back before they leave.</a:t>
            </a:r>
          </a:p>
          <a:p>
            <a:r>
              <a:rPr sz="1200">
                <a:latin typeface="Calibri"/>
              </a:rPr>
              <a:t>Give this the full thirty minutes. It is the payoff for three lessons of groundwork.</a:t>
            </a:r>
          </a:p>
          <a:p>
            <a:r>
              <a:rPr sz="1200">
                <a:latin typeface="Calibri"/>
              </a:rPr>
              <a:t>ANSWER: the wheels stopped within about a second of the link dropping, and picked up again when the pad came back in range. The four lines are the if at the very top of loop(): no controller, so drive(0, 0) and return before anything else runs.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Slow down. This is the most transferable idea in the whole course.</a:t>
            </a:r>
          </a:p>
          <a:p>
            <a:r>
              <a:rPr sz="1200">
                <a:latin typeface="Calibri"/>
              </a:rPr>
              <a:t>The only safe behavior is to stop. Not to carry on with the last command, and not to be clever.</a:t>
            </a:r>
          </a:p>
          <a:p>
            <a:r>
              <a:rPr sz="1200">
                <a:latin typeface="Calibri"/>
              </a:rPr>
              <a:t>Go round the examples: a drone hovers or returns home, a submersible surfaces, a ground vehicle stops. Ask why each is right for that vehicle.</a:t>
            </a:r>
          </a:p>
          <a:p>
            <a:r>
              <a:rPr sz="1200">
                <a:latin typeface="Calibri"/>
              </a:rPr>
              <a:t>End with the question on the slide and let it sit: on anything you ever build, what happens when the operator disappears?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not read this table out. Point at it and tell them to use it during the activity.</a:t>
            </a:r>
          </a:p>
          <a:p>
            <a:r>
              <a:rPr sz="1200">
                <a:latin typeface="Calibri"/>
              </a:rPr>
              <a:t>Worth printing and taping to the wall for the rest of the course.</a:t>
            </a:r>
          </a:p>
          <a:p>
            <a:r>
              <a:rPr sz="1200">
                <a:latin typeface="Calibri"/>
              </a:rPr>
              <a:t>Row three - somebody else's vehicle moving - is the funny one and the one that will actually happen.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Conversation, not a test.</a:t>
            </a:r>
          </a:p>
          <a:p>
            <a:r>
              <a:rPr sz="1200">
                <a:latin typeface="Calibri"/>
              </a:rPr>
              <a:t>Answers, in order: an address is the device's phone number and duplicates mean one pad drives two vehicles; the number is negative, hence the minus sign; a deadzone stops phantom creep, zero means it creeps and too big wastes the stick; map() is proportion.</a:t>
            </a:r>
          </a:p>
          <a:p>
            <a:r>
              <a:rPr sz="1200">
                <a:latin typeface="Calibri"/>
              </a:rPr>
              <a:t>For question 5: left gets 280 and right gets 80 before constrain, then 255 and 80 after.</a:t>
            </a:r>
          </a:p>
          <a:p>
            <a:r>
              <a:rPr sz="1200">
                <a:latin typeface="Calibri"/>
              </a:rPr>
              <a:t>For question 6: full-power steering is faster than a person can correct for.</a:t>
            </a:r>
          </a:p>
          <a:p>
            <a:r>
              <a:rPr sz="1200">
                <a:latin typeface="Calibri"/>
              </a:rPr>
              <a:t>The answer to question 7, in full:  if (myController == nullptr || !myController-&gt;isConnected()) { drive(0, 0); return; }  - four lines if you count the closing brace, and they go at the very top of loop().</a:t>
            </a:r>
          </a:p>
          <a:p>
            <a:r>
              <a:rPr sz="1200">
                <a:latin typeface="Calibri"/>
              </a:rPr>
              <a:t>Question 7 should be written out, not said. Check a few notebooks.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3</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Controller Programming</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Bluetooth, thumbsticks, deadzones, and turning a number from your thumb into a speed for four wheels.</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Three hours.  Bring the Switch controller paired to your vehicle.</a:t>
            </a:r>
          </a:p>
        </p:txBody>
      </p:sp>
      <p:pic>
        <p:nvPicPr>
          <p:cNvPr id="8" name="Picture 7" descr="vehicle-turn-signal-left.jpg"/>
          <p:cNvPicPr>
            <a:picLocks noChangeAspect="1"/>
          </p:cNvPicPr>
          <p:nvPr/>
        </p:nvPicPr>
        <p:blipFill>
          <a:blip r:embed="rId3"/>
          <a:stretch>
            <a:fillRect/>
          </a:stretch>
        </p:blipFill>
        <p:spPr>
          <a:xfrm>
            <a:off x="7223760" y="2023110"/>
            <a:ext cx="4480560" cy="3360420"/>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you will be able to do by the end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this lesson you will be able to:</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Explain how a controller reaches one vehicle and not another</a:t>
            </a:r>
          </a:p>
          <a:p>
            <a:pPr algn="l">
              <a:lnSpc>
                <a:spcPct val="100000"/>
              </a:lnSpc>
              <a:spcAft>
                <a:spcPts val="1300"/>
              </a:spcAft>
              <a:defRPr sz="1900" b="0">
                <a:solidFill>
                  <a:srgbClr val="222222"/>
                </a:solidFill>
                <a:latin typeface="Calibri"/>
              </a:defRPr>
            </a:pPr>
            <a:r>
              <a:rPr sz="1900" b="0">
                <a:solidFill>
                  <a:srgbClr val="222222"/>
                </a:solidFill>
                <a:latin typeface="Calibri"/>
              </a:rPr>
              <a:t>2.   Say what a deadzone is for, and what goes wrong without one</a:t>
            </a:r>
          </a:p>
          <a:p>
            <a:pPr algn="l">
              <a:lnSpc>
                <a:spcPct val="100000"/>
              </a:lnSpc>
              <a:spcAft>
                <a:spcPts val="1300"/>
              </a:spcAft>
              <a:defRPr sz="1900" b="0">
                <a:solidFill>
                  <a:srgbClr val="222222"/>
                </a:solidFill>
                <a:latin typeface="Calibri"/>
              </a:defRPr>
            </a:pPr>
            <a:r>
              <a:rPr sz="1900" b="0">
                <a:solidFill>
                  <a:srgbClr val="222222"/>
                </a:solidFill>
                <a:latin typeface="Calibri"/>
              </a:rPr>
              <a:t>3.   Use map() to turn a stick reading into a motor speed</a:t>
            </a:r>
          </a:p>
          <a:p>
            <a:pPr algn="l">
              <a:lnSpc>
                <a:spcPct val="100000"/>
              </a:lnSpc>
              <a:spcAft>
                <a:spcPts val="1300"/>
              </a:spcAft>
              <a:defRPr sz="1900" b="0">
                <a:solidFill>
                  <a:srgbClr val="222222"/>
                </a:solidFill>
                <a:latin typeface="Calibri"/>
              </a:defRPr>
            </a:pPr>
            <a:r>
              <a:rPr sz="1900" b="0">
                <a:solidFill>
                  <a:srgbClr val="222222"/>
                </a:solidFill>
                <a:latin typeface="Calibri"/>
              </a:rPr>
              <a:t>4.   Mix a forward value and a turn value into two wheel speeds</a:t>
            </a:r>
          </a:p>
          <a:p>
            <a:pPr algn="l">
              <a:lnSpc>
                <a:spcPct val="100000"/>
              </a:lnSpc>
              <a:spcAft>
                <a:spcPts val="1300"/>
              </a:spcAft>
              <a:defRPr sz="1900" b="0">
                <a:solidFill>
                  <a:srgbClr val="222222"/>
                </a:solidFill>
                <a:latin typeface="Calibri"/>
              </a:defRPr>
            </a:pPr>
            <a:r>
              <a:rPr sz="1900" b="0">
                <a:solidFill>
                  <a:srgbClr val="222222"/>
                </a:solidFill>
                <a:latin typeface="Calibri"/>
              </a:rPr>
              <a:t>5.   Drive the vehicle under your own control</a:t>
            </a:r>
          </a:p>
          <a:p>
            <a:pPr algn="l">
              <a:lnSpc>
                <a:spcPct val="100000"/>
              </a:lnSpc>
              <a:spcAft>
                <a:spcPts val="1300"/>
              </a:spcAft>
              <a:defRPr sz="1900" b="0">
                <a:solidFill>
                  <a:srgbClr val="222222"/>
                </a:solidFill>
                <a:latin typeface="Calibri"/>
              </a:defRPr>
            </a:pPr>
            <a:r>
              <a:rPr sz="1900" b="0">
                <a:solidFill>
                  <a:srgbClr val="222222"/>
                </a:solidFill>
                <a:latin typeface="Calibri"/>
              </a:rPr>
              <a:t>6.   Write the failsafe that stops the motors when the controller drops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we got to last lesson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900"/>
              </a:spcAft>
              <a:defRPr sz="2800" b="0">
                <a:solidFill>
                  <a:srgbClr val="222222"/>
                </a:solidFill>
                <a:latin typeface="Calibri"/>
              </a:defRPr>
            </a:pPr>
            <a:r>
              <a:rPr sz="2800" b="0">
                <a:solidFill>
                  <a:srgbClr val="222222"/>
                </a:solidFill>
                <a:latin typeface="Calibri"/>
              </a:rPr>
              <a:t>You know how an H-bridge reverses a motor, and how PWM sets its speed.</a:t>
            </a:r>
          </a:p>
          <a:p>
            <a:pPr algn="l">
              <a:lnSpc>
                <a:spcPct val="100000"/>
              </a:lnSpc>
              <a:spcAft>
                <a:spcPts val="900"/>
              </a:spcAft>
              <a:defRPr sz="2800" b="0">
                <a:solidFill>
                  <a:srgbClr val="222222"/>
                </a:solidFill>
                <a:latin typeface="Calibri"/>
              </a:defRPr>
            </a:pPr>
            <a:r>
              <a:rPr sz="2800" b="0">
                <a:solidFill>
                  <a:srgbClr val="222222"/>
                </a:solidFill>
                <a:latin typeface="Calibri"/>
              </a:rPr>
              <a:t>You watched duty and speed change together on the Serial Monitor.</a:t>
            </a:r>
          </a:p>
          <a:p>
            <a:pPr algn="l">
              <a:lnSpc>
                <a:spcPct val="100000"/>
              </a:lnSpc>
              <a:spcAft>
                <a:spcPts val="900"/>
              </a:spcAft>
              <a:defRPr sz="2800" b="0">
                <a:solidFill>
                  <a:srgbClr val="222222"/>
                </a:solidFill>
                <a:latin typeface="Calibri"/>
              </a:defRPr>
            </a:pPr>
            <a:r>
              <a:rPr sz="2800" b="0">
                <a:solidFill>
                  <a:srgbClr val="222222"/>
                </a:solidFill>
                <a:latin typeface="Calibri"/>
              </a:rPr>
              <a:t>You drove a square you calculated, and found out why it did not close.</a:t>
            </a:r>
          </a:p>
          <a:p>
            <a:pPr algn="l">
              <a:lnSpc>
                <a:spcPct val="100000"/>
              </a:lnSpc>
              <a:spcAft>
                <a:spcPts val="900"/>
              </a:spcAft>
              <a:defRPr sz="1400" b="0">
                <a:solidFill>
                  <a:srgbClr val="222222"/>
                </a:solidFill>
                <a:latin typeface="Calibri"/>
              </a:defRPr>
            </a:pPr>
          </a:p>
          <a:p>
            <a:pPr algn="l">
              <a:lnSpc>
                <a:spcPct val="100000"/>
              </a:lnSpc>
              <a:spcAft>
                <a:spcPts val="900"/>
              </a:spcAft>
              <a:defRPr sz="2800" b="0">
                <a:solidFill>
                  <a:srgbClr val="222222"/>
                </a:solidFill>
                <a:latin typeface="Calibri"/>
              </a:defRPr>
            </a:pPr>
            <a:r>
              <a:rPr sz="2800" b="0">
                <a:solidFill>
                  <a:srgbClr val="222222"/>
                </a:solidFill>
                <a:latin typeface="Calibri"/>
              </a:rPr>
              <a:t>Today you take the wheel.</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Everything today until the last hour is print-only. Nothing moves until you have seen the numbers first.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graphicFrame>
        <p:nvGraphicFramePr>
          <p:cNvPr id="6" name="Table 5"/>
          <p:cNvGraphicFramePr>
            <a:graphicFrameLocks noGrp="1"/>
          </p:cNvGraphicFramePr>
          <p:nvPr/>
        </p:nvGraphicFramePr>
        <p:xfrm>
          <a:off x="502920" y="1188720"/>
          <a:ext cx="11185854" cy="5029200"/>
        </p:xfrm>
        <a:graphic>
          <a:graphicData uri="http://schemas.openxmlformats.org/drawingml/2006/table">
            <a:tbl>
              <a:tblPr firstRow="1" bandRow="1">
                <a:tableStyleId>{5C22544A-7EE6-4342-B048-85BDC9FD1C3A}</a:tableStyleId>
              </a:tblPr>
              <a:tblGrid>
                <a:gridCol w="1118585"/>
                <a:gridCol w="10067269"/>
              </a:tblGrid>
              <a:tr h="457200">
                <a:tc>
                  <a:txBody>
                    <a:bodyPr/>
                    <a:lstStyle/>
                    <a:p>
                      <a:r>
                        <a:rPr sz="2400" b="1">
                          <a:solidFill>
                            <a:srgbClr val="FFFFFF"/>
                          </a:solidFill>
                          <a:latin typeface="Calibri"/>
                        </a:rPr>
                        <a:t>Time</a:t>
                      </a:r>
                    </a:p>
                  </a:txBody>
                  <a:tcPr marL="73152" marT="18288" marB="18288">
                    <a:solidFill>
                      <a:srgbClr val="1F3A5F"/>
                    </a:solidFill>
                  </a:tcPr>
                </a:tc>
                <a:tc>
                  <a:txBody>
                    <a:bodyPr/>
                    <a:lstStyle/>
                    <a:p>
                      <a:r>
                        <a:rPr sz="2400" b="1">
                          <a:solidFill>
                            <a:srgbClr val="FFFFFF"/>
                          </a:solidFill>
                          <a:latin typeface="Calibri"/>
                        </a:rPr>
                        <a:t>What we do</a:t>
                      </a:r>
                    </a:p>
                  </a:txBody>
                  <a:tcPr marL="73152" marT="18288" marB="18288">
                    <a:solidFill>
                      <a:srgbClr val="1F3A5F"/>
                    </a:solidFill>
                  </a:tcPr>
                </a:tc>
              </a:tr>
              <a:tr h="457200">
                <a:tc>
                  <a:txBody>
                    <a:bodyPr/>
                    <a:lstStyle/>
                    <a:p>
                      <a:r>
                        <a:rPr sz="2400">
                          <a:solidFill>
                            <a:srgbClr val="222222"/>
                          </a:solidFill>
                          <a:latin typeface="Calibri"/>
                        </a:rPr>
                        <a:t>0:00</a:t>
                      </a:r>
                    </a:p>
                  </a:txBody>
                  <a:tcPr marL="73152" marT="18288" marB="18288">
                    <a:solidFill>
                      <a:srgbClr val="FFFFFF"/>
                    </a:solidFill>
                  </a:tcPr>
                </a:tc>
                <a:tc>
                  <a:txBody>
                    <a:bodyPr/>
                    <a:lstStyle/>
                    <a:p>
                      <a:r>
                        <a:rPr sz="2400">
                          <a:solidFill>
                            <a:srgbClr val="222222"/>
                          </a:solidFill>
                          <a:latin typeface="Calibri"/>
                        </a:rPr>
                        <a:t>Recap. What Bluetooth is, and how a pad finds a vehicle</a:t>
                      </a:r>
                    </a:p>
                  </a:txBody>
                  <a:tcPr marL="73152" marT="18288" marB="18288">
                    <a:solidFill>
                      <a:srgbClr val="FFFFFF"/>
                    </a:solidFill>
                  </a:tcPr>
                </a:tc>
              </a:tr>
              <a:tr h="457200">
                <a:tc>
                  <a:txBody>
                    <a:bodyPr/>
                    <a:lstStyle/>
                    <a:p>
                      <a:r>
                        <a:rPr sz="2400">
                          <a:solidFill>
                            <a:srgbClr val="222222"/>
                          </a:solidFill>
                          <a:latin typeface="Calibri"/>
                        </a:rPr>
                        <a:t>0:25</a:t>
                      </a:r>
                    </a:p>
                  </a:txBody>
                  <a:tcPr marL="73152" marT="18288" marB="18288">
                    <a:solidFill>
                      <a:srgbClr val="EEF3F8"/>
                    </a:solidFill>
                  </a:tcPr>
                </a:tc>
                <a:tc>
                  <a:txBody>
                    <a:bodyPr/>
                    <a:lstStyle/>
                    <a:p>
                      <a:r>
                        <a:rPr sz="2400">
                          <a:solidFill>
                            <a:srgbClr val="222222"/>
                          </a:solidFill>
                          <a:latin typeface="Calibri"/>
                        </a:rPr>
                        <a:t>One vehicle, one controller</a:t>
                      </a:r>
                    </a:p>
                  </a:txBody>
                  <a:tcPr marL="73152" marT="18288" marB="18288">
                    <a:solidFill>
                      <a:srgbClr val="EEF3F8"/>
                    </a:solidFill>
                  </a:tcPr>
                </a:tc>
              </a:tr>
              <a:tr h="457200">
                <a:tc>
                  <a:txBody>
                    <a:bodyPr/>
                    <a:lstStyle/>
                    <a:p>
                      <a:r>
                        <a:rPr sz="2400">
                          <a:solidFill>
                            <a:srgbClr val="222222"/>
                          </a:solidFill>
                          <a:latin typeface="Calibri"/>
                        </a:rPr>
                        <a:t>0:50</a:t>
                      </a:r>
                    </a:p>
                  </a:txBody>
                  <a:tcPr marL="73152" marT="18288" marB="18288">
                    <a:solidFill>
                      <a:srgbClr val="FFFFFF"/>
                    </a:solidFill>
                  </a:tcPr>
                </a:tc>
                <a:tc>
                  <a:txBody>
                    <a:bodyPr/>
                    <a:lstStyle/>
                    <a:p>
                      <a:r>
                        <a:rPr sz="2400">
                          <a:solidFill>
                            <a:srgbClr val="222222"/>
                          </a:solidFill>
                          <a:latin typeface="Calibri"/>
                        </a:rPr>
                        <a:t>Upload l3a_controller_check. Find every button and axis</a:t>
                      </a:r>
                    </a:p>
                  </a:txBody>
                  <a:tcPr marL="73152" marT="18288" marB="18288">
                    <a:solidFill>
                      <a:srgbClr val="FFFFFF"/>
                    </a:solidFill>
                  </a:tcPr>
                </a:tc>
              </a:tr>
              <a:tr h="457200">
                <a:tc>
                  <a:txBody>
                    <a:bodyPr/>
                    <a:lstStyle/>
                    <a:p>
                      <a:r>
                        <a:rPr sz="2400">
                          <a:solidFill>
                            <a:srgbClr val="222222"/>
                          </a:solidFill>
                          <a:latin typeface="Calibri"/>
                        </a:rPr>
                        <a:t>1:15</a:t>
                      </a:r>
                    </a:p>
                  </a:txBody>
                  <a:tcPr marL="73152" marT="18288" marB="18288">
                    <a:solidFill>
                      <a:srgbClr val="EEF3F8"/>
                    </a:solidFill>
                  </a:tcPr>
                </a:tc>
                <a:tc>
                  <a:txBody>
                    <a:bodyPr/>
                    <a:lstStyle/>
                    <a:p>
                      <a:r>
                        <a:rPr sz="2400">
                          <a:solidFill>
                            <a:srgbClr val="222222"/>
                          </a:solidFill>
                          <a:latin typeface="Calibri"/>
                        </a:rPr>
                        <a:t>BREAK  (10 minutes)</a:t>
                      </a:r>
                    </a:p>
                  </a:txBody>
                  <a:tcPr marL="73152" marT="18288" marB="18288">
                    <a:solidFill>
                      <a:srgbClr val="EEF3F8"/>
                    </a:solidFill>
                  </a:tcPr>
                </a:tc>
              </a:tr>
              <a:tr h="457200">
                <a:tc>
                  <a:txBody>
                    <a:bodyPr/>
                    <a:lstStyle/>
                    <a:p>
                      <a:r>
                        <a:rPr sz="2400">
                          <a:solidFill>
                            <a:srgbClr val="222222"/>
                          </a:solidFill>
                          <a:latin typeface="Calibri"/>
                        </a:rPr>
                        <a:t>1:25</a:t>
                      </a:r>
                    </a:p>
                  </a:txBody>
                  <a:tcPr marL="73152" marT="18288" marB="18288">
                    <a:solidFill>
                      <a:srgbClr val="FFFFFF"/>
                    </a:solidFill>
                  </a:tcPr>
                </a:tc>
                <a:tc>
                  <a:txBody>
                    <a:bodyPr/>
                    <a:lstStyle/>
                    <a:p>
                      <a:r>
                        <a:rPr sz="2400">
                          <a:solidFill>
                            <a:srgbClr val="222222"/>
                          </a:solidFill>
                          <a:latin typeface="Calibri"/>
                        </a:rPr>
                        <a:t>The deadzone problem, and map()</a:t>
                      </a:r>
                    </a:p>
                  </a:txBody>
                  <a:tcPr marL="73152" marT="18288" marB="18288">
                    <a:solidFill>
                      <a:srgbClr val="FFFFFF"/>
                    </a:solidFill>
                  </a:tcPr>
                </a:tc>
              </a:tr>
              <a:tr h="457200">
                <a:tc>
                  <a:txBody>
                    <a:bodyPr/>
                    <a:lstStyle/>
                    <a:p>
                      <a:r>
                        <a:rPr sz="2400">
                          <a:solidFill>
                            <a:srgbClr val="222222"/>
                          </a:solidFill>
                          <a:latin typeface="Calibri"/>
                        </a:rPr>
                        <a:t>1:50</a:t>
                      </a:r>
                    </a:p>
                  </a:txBody>
                  <a:tcPr marL="73152" marT="18288" marB="18288">
                    <a:solidFill>
                      <a:srgbClr val="EEF3F8"/>
                    </a:solidFill>
                  </a:tcPr>
                </a:tc>
                <a:tc>
                  <a:txBody>
                    <a:bodyPr/>
                    <a:lstStyle/>
                    <a:p>
                      <a:r>
                        <a:rPr sz="2400">
                          <a:solidFill>
                            <a:srgbClr val="222222"/>
                          </a:solidFill>
                          <a:latin typeface="Calibri"/>
                        </a:rPr>
                        <a:t>Upload l3b_deadzone_and_map. Watch the arithmetic</a:t>
                      </a:r>
                    </a:p>
                  </a:txBody>
                  <a:tcPr marL="73152" marT="18288" marB="18288">
                    <a:solidFill>
                      <a:srgbClr val="EEF3F8"/>
                    </a:solidFill>
                  </a:tcPr>
                </a:tc>
              </a:tr>
              <a:tr h="457200">
                <a:tc>
                  <a:txBody>
                    <a:bodyPr/>
                    <a:lstStyle/>
                    <a:p>
                      <a:r>
                        <a:rPr sz="2400">
                          <a:solidFill>
                            <a:srgbClr val="222222"/>
                          </a:solidFill>
                          <a:latin typeface="Calibri"/>
                        </a:rPr>
                        <a:t>2:10</a:t>
                      </a:r>
                    </a:p>
                  </a:txBody>
                  <a:tcPr marL="73152" marT="18288" marB="18288">
                    <a:solidFill>
                      <a:srgbClr val="FFFFFF"/>
                    </a:solidFill>
                  </a:tcPr>
                </a:tc>
                <a:tc>
                  <a:txBody>
                    <a:bodyPr/>
                    <a:lstStyle/>
                    <a:p>
                      <a:r>
                        <a:rPr sz="2400">
                          <a:solidFill>
                            <a:srgbClr val="222222"/>
                          </a:solidFill>
                          <a:latin typeface="Calibri"/>
                        </a:rPr>
                        <a:t>BREAK  (10 minutes)</a:t>
                      </a:r>
                    </a:p>
                  </a:txBody>
                  <a:tcPr marL="73152" marT="18288" marB="18288">
                    <a:solidFill>
                      <a:srgbClr val="FFFFFF"/>
                    </a:solidFill>
                  </a:tcPr>
                </a:tc>
              </a:tr>
              <a:tr h="457200">
                <a:tc>
                  <a:txBody>
                    <a:bodyPr/>
                    <a:lstStyle/>
                    <a:p>
                      <a:r>
                        <a:rPr sz="2400">
                          <a:solidFill>
                            <a:srgbClr val="222222"/>
                          </a:solidFill>
                          <a:latin typeface="Calibri"/>
                        </a:rPr>
                        <a:t>2:20</a:t>
                      </a:r>
                    </a:p>
                  </a:txBody>
                  <a:tcPr marL="73152" marT="18288" marB="18288">
                    <a:solidFill>
                      <a:srgbClr val="EEF3F8"/>
                    </a:solidFill>
                  </a:tcPr>
                </a:tc>
                <a:tc>
                  <a:txBody>
                    <a:bodyPr/>
                    <a:lstStyle/>
                    <a:p>
                      <a:r>
                        <a:rPr sz="2400">
                          <a:solidFill>
                            <a:srgbClr val="222222"/>
                          </a:solidFill>
                          <a:latin typeface="Calibri"/>
                        </a:rPr>
                        <a:t>Mixing forward and turn</a:t>
                      </a:r>
                    </a:p>
                  </a:txBody>
                  <a:tcPr marL="73152" marT="18288" marB="18288">
                    <a:solidFill>
                      <a:srgbClr val="EEF3F8"/>
                    </a:solidFill>
                  </a:tcPr>
                </a:tc>
              </a:tr>
              <a:tr h="457200">
                <a:tc>
                  <a:txBody>
                    <a:bodyPr/>
                    <a:lstStyle/>
                    <a:p>
                      <a:r>
                        <a:rPr sz="2400">
                          <a:solidFill>
                            <a:srgbClr val="222222"/>
                          </a:solidFill>
                          <a:latin typeface="Calibri"/>
                        </a:rPr>
                        <a:t>2:35</a:t>
                      </a:r>
                    </a:p>
                  </a:txBody>
                  <a:tcPr marL="73152" marT="18288" marB="18288">
                    <a:solidFill>
                      <a:srgbClr val="FFFFFF"/>
                    </a:solidFill>
                  </a:tcPr>
                </a:tc>
                <a:tc>
                  <a:txBody>
                    <a:bodyPr/>
                    <a:lstStyle/>
                    <a:p>
                      <a:r>
                        <a:rPr sz="2400">
                          <a:solidFill>
                            <a:srgbClr val="222222"/>
                          </a:solidFill>
                          <a:latin typeface="Calibri"/>
                        </a:rPr>
                        <a:t>Upload l3c_tank_drive. Drive it</a:t>
                      </a:r>
                    </a:p>
                  </a:txBody>
                  <a:tcPr marL="73152" marT="18288" marB="18288">
                    <a:solidFill>
                      <a:srgbClr val="FFFFFF"/>
                    </a:solidFill>
                  </a:tcPr>
                </a:tc>
              </a:tr>
              <a:tr h="457200">
                <a:tc>
                  <a:txBody>
                    <a:bodyPr/>
                    <a:lstStyle/>
                    <a:p>
                      <a:r>
                        <a:rPr sz="2400">
                          <a:solidFill>
                            <a:srgbClr val="222222"/>
                          </a:solidFill>
                          <a:latin typeface="Calibri"/>
                        </a:rPr>
                        <a:t>2:55</a:t>
                      </a:r>
                    </a:p>
                  </a:txBody>
                  <a:tcPr marL="73152" marT="18288" marB="18288">
                    <a:solidFill>
                      <a:srgbClr val="EEF3F8"/>
                    </a:solidFill>
                  </a:tcPr>
                </a:tc>
                <a:tc>
                  <a:txBody>
                    <a:bodyPr/>
                    <a:lstStyle/>
                    <a:p>
                      <a:r>
                        <a:rPr sz="2400">
                          <a:solidFill>
                            <a:srgbClr val="222222"/>
                          </a:solidFill>
                          <a:latin typeface="Calibri"/>
                        </a:rPr>
                        <a:t>Failsafe, and what happens when the link drops</a:t>
                      </a:r>
                    </a:p>
                  </a:txBody>
                  <a:tcPr marL="73152" marT="18288" marB="18288">
                    <a:solidFill>
                      <a:srgbClr val="EEF3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Bluetooth is doing</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A radio link, and a phone number for each device</a:t>
            </a:r>
          </a:p>
        </p:txBody>
      </p:sp>
      <p:sp>
        <p:nvSpPr>
          <p:cNvPr id="7" name="TextBox 6"/>
          <p:cNvSpPr txBox="1"/>
          <p:nvPr/>
        </p:nvSpPr>
        <p:spPr>
          <a:xfrm>
            <a:off x="502920" y="1755648"/>
            <a:ext cx="5364327" cy="3419856"/>
          </a:xfrm>
          <a:prstGeom prst="rect">
            <a:avLst/>
          </a:prstGeom>
          <a:noFill/>
        </p:spPr>
        <p:txBody>
          <a:bodyPr wrap="square" lIns="0" tIns="0" rIns="0" bIns="0">
            <a:spAutoFit/>
          </a:bodyPr>
          <a:lstStyle/>
          <a:p>
            <a:pPr algn="l">
              <a:lnSpc>
                <a:spcPct val="100000"/>
              </a:lnSpc>
              <a:spcAft>
                <a:spcPts val="900"/>
              </a:spcAft>
              <a:defRPr sz="1900" b="0">
                <a:solidFill>
                  <a:srgbClr val="222222"/>
                </a:solidFill>
                <a:latin typeface="Calibri"/>
              </a:defRPr>
            </a:pPr>
            <a:r>
              <a:rPr sz="1900" b="0">
                <a:solidFill>
                  <a:srgbClr val="222222"/>
                </a:solidFill>
                <a:latin typeface="Calibri"/>
              </a:rPr>
              <a:t>A short-range radio link in the 2.4 GHz band - the same band as Wi-Fi, microwave ovens and almost everything else.</a:t>
            </a:r>
          </a:p>
          <a:p>
            <a:pPr algn="l">
              <a:lnSpc>
                <a:spcPct val="100000"/>
              </a:lnSpc>
              <a:spcAft>
                <a:spcPts val="900"/>
              </a:spcAft>
              <a:defRPr sz="1900" b="0">
                <a:solidFill>
                  <a:srgbClr val="222222"/>
                </a:solidFill>
                <a:latin typeface="Calibri"/>
              </a:defRPr>
            </a:pPr>
            <a:r>
              <a:rPr sz="1900" b="0">
                <a:solidFill>
                  <a:srgbClr val="222222"/>
                </a:solidFill>
                <a:latin typeface="Calibri"/>
              </a:rPr>
              <a:t>It hops between 79 narrow channels many times a second, so a busy band does not stop it. That is why twenty vehicles in one room actually works.</a:t>
            </a:r>
          </a:p>
          <a:p>
            <a:pPr algn="l">
              <a:lnSpc>
                <a:spcPct val="100000"/>
              </a:lnSpc>
              <a:spcAft>
                <a:spcPts val="900"/>
              </a:spcAft>
              <a:defRPr sz="1900" b="0">
                <a:solidFill>
                  <a:srgbClr val="222222"/>
                </a:solidFill>
                <a:latin typeface="Calibri"/>
              </a:defRPr>
            </a:pPr>
            <a:r>
              <a:rPr sz="1900" b="0">
                <a:solidFill>
                  <a:srgbClr val="222222"/>
                </a:solidFill>
                <a:latin typeface="Calibri"/>
              </a:rPr>
              <a:t>Range is tens of meters, and it goes down sharply if somebody stands between the pad and the vehicle.</a:t>
            </a:r>
          </a:p>
        </p:txBody>
      </p:sp>
      <p:sp>
        <p:nvSpPr>
          <p:cNvPr id="8" name="TextBox 7"/>
          <p:cNvSpPr txBox="1"/>
          <p:nvPr/>
        </p:nvSpPr>
        <p:spPr>
          <a:xfrm>
            <a:off x="6324447" y="1755648"/>
            <a:ext cx="5364327" cy="3419856"/>
          </a:xfrm>
          <a:prstGeom prst="rect">
            <a:avLst/>
          </a:prstGeom>
          <a:noFill/>
        </p:spPr>
        <p:txBody>
          <a:bodyPr wrap="square" lIns="0" tIns="0" rIns="0" bIns="0">
            <a:spAutoFit/>
          </a:bodyPr>
          <a:lstStyle/>
          <a:p>
            <a:pPr algn="l">
              <a:lnSpc>
                <a:spcPct val="100000"/>
              </a:lnSpc>
              <a:spcAft>
                <a:spcPts val="900"/>
              </a:spcAft>
              <a:defRPr sz="1900" b="0">
                <a:solidFill>
                  <a:srgbClr val="222222"/>
                </a:solidFill>
                <a:latin typeface="Calibri"/>
              </a:defRPr>
            </a:pPr>
            <a:r>
              <a:rPr sz="1900" b="0">
                <a:solidFill>
                  <a:srgbClr val="222222"/>
                </a:solidFill>
                <a:latin typeface="Calibri"/>
              </a:rPr>
              <a:t>Every Bluetooth device has an ADDRESS - six bytes, written as six pairs of hexadecimal digits, like 02:02:03:04:05:08. It is the equivalent of a phone number.</a:t>
            </a:r>
          </a:p>
          <a:p>
            <a:pPr algn="l">
              <a:lnSpc>
                <a:spcPct val="100000"/>
              </a:lnSpc>
              <a:spcAft>
                <a:spcPts val="900"/>
              </a:spcAft>
              <a:defRPr sz="950" b="0">
                <a:solidFill>
                  <a:srgbClr val="222222"/>
                </a:solidFill>
                <a:latin typeface="Calibri"/>
              </a:defRPr>
            </a:pPr>
          </a:p>
          <a:p>
            <a:pPr algn="l">
              <a:lnSpc>
                <a:spcPct val="100000"/>
              </a:lnSpc>
              <a:spcAft>
                <a:spcPts val="900"/>
              </a:spcAft>
              <a:defRPr sz="1900" b="0">
                <a:solidFill>
                  <a:srgbClr val="222222"/>
                </a:solidFill>
                <a:latin typeface="Calibri"/>
              </a:defRPr>
            </a:pPr>
            <a:r>
              <a:rPr sz="1900" b="0">
                <a:solidFill>
                  <a:srgbClr val="222222"/>
                </a:solidFill>
                <a:latin typeface="Calibri"/>
              </a:rPr>
              <a:t>The ESP32 has Bluetooth built into the chip. That is a large part of why we use it.</a:t>
            </a:r>
          </a:p>
        </p:txBody>
      </p:sp>
      <p:sp>
        <p:nvSpPr>
          <p:cNvPr id="9" name="Rounded Rectangle 8"/>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A Bluetooth sketch fills about 85% of the ESP32's program storage. That is the radio stack, not your code - but it does mean there is not much room left, so keep additions lean.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Two pads, one room, and the problem that creates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sp>
        <p:nvSpPr>
          <p:cNvPr id="6" name="TextBox 5"/>
          <p:cNvSpPr txBox="1"/>
          <p:nvPr/>
        </p:nvSpPr>
        <p:spPr>
          <a:xfrm>
            <a:off x="502920" y="1188720"/>
            <a:ext cx="11185855" cy="1005840"/>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A Switch pad in pairing mode connects to whichever vehicle answers first. With twenty vehicles in a classroom, that is a coin toss.</a:t>
            </a:r>
          </a:p>
        </p:txBody>
      </p:sp>
      <p:pic>
        <p:nvPicPr>
          <p:cNvPr id="7" name="Picture 6" descr="switch-controller-pair.jpg"/>
          <p:cNvPicPr>
            <a:picLocks noChangeAspect="1"/>
          </p:cNvPicPr>
          <p:nvPr/>
        </p:nvPicPr>
        <p:blipFill>
          <a:blip r:embed="rId2"/>
          <a:stretch>
            <a:fillRect/>
          </a:stretch>
        </p:blipFill>
        <p:spPr>
          <a:xfrm>
            <a:off x="4463643" y="2267712"/>
            <a:ext cx="3264408" cy="3264408"/>
          </a:xfrm>
          <a:prstGeom prst="rect">
            <a:avLst/>
          </a:prstGeom>
        </p:spPr>
      </p:pic>
      <p:sp>
        <p:nvSpPr>
          <p:cNvPr id="8" name="TextBox 7"/>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600"/>
              </a:spcAft>
              <a:defRPr sz="1800" b="0">
                <a:solidFill>
                  <a:srgbClr val="666666"/>
                </a:solidFill>
                <a:latin typeface="Calibri"/>
              </a:defRPr>
            </a:pPr>
            <a:r>
              <a:rPr sz="1800" b="0">
                <a:solidFill>
                  <a:srgbClr val="666666"/>
                </a:solidFill>
                <a:latin typeface="Calibri"/>
              </a:rPr>
              <a:t>Identical to look at, and identical to a vehicle that is not told which one is its own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One vehicle, one controller  -  the allowlist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sp>
        <p:nvSpPr>
          <p:cNvPr id="6" name="TextBox 5"/>
          <p:cNvSpPr txBox="1"/>
          <p:nvPr/>
        </p:nvSpPr>
        <p:spPr>
          <a:xfrm>
            <a:off x="502920" y="1188720"/>
            <a:ext cx="5364327" cy="3881628"/>
          </a:xfrm>
          <a:prstGeom prst="rect">
            <a:avLst/>
          </a:prstGeom>
          <a:noFill/>
        </p:spPr>
        <p:txBody>
          <a:bodyPr wrap="square" lIns="0" tIns="0" rIns="0" bIns="0">
            <a:spAutoFit/>
          </a:bodyPr>
          <a:lstStyle/>
          <a:p>
            <a:pPr algn="l">
              <a:lnSpc>
                <a:spcPct val="100000"/>
              </a:lnSpc>
              <a:spcAft>
                <a:spcPts val="900"/>
              </a:spcAft>
              <a:defRPr sz="1800" b="0">
                <a:solidFill>
                  <a:srgbClr val="222222"/>
                </a:solidFill>
                <a:latin typeface="Calibri"/>
              </a:defRPr>
            </a:pPr>
            <a:r>
              <a:rPr sz="1800" b="0">
                <a:solidFill>
                  <a:srgbClr val="222222"/>
                </a:solidFill>
                <a:latin typeface="Calibri"/>
              </a:rPr>
              <a:t>A Switch pad in pairing mode will happily connect to whichever vehicle answers first. In a room with twenty vehicles that means two students end up driving the same one.</a:t>
            </a:r>
          </a:p>
          <a:p>
            <a:pPr algn="l">
              <a:lnSpc>
                <a:spcPct val="100000"/>
              </a:lnSpc>
              <a:spcAft>
                <a:spcPts val="900"/>
              </a:spcAft>
              <a:defRPr sz="900" b="0">
                <a:solidFill>
                  <a:srgbClr val="222222"/>
                </a:solidFill>
                <a:latin typeface="Calibri"/>
              </a:defRPr>
            </a:pPr>
          </a:p>
          <a:p>
            <a:pPr algn="l">
              <a:lnSpc>
                <a:spcPct val="100000"/>
              </a:lnSpc>
              <a:spcAft>
                <a:spcPts val="900"/>
              </a:spcAft>
              <a:defRPr sz="1800" b="0">
                <a:solidFill>
                  <a:srgbClr val="222222"/>
                </a:solidFill>
                <a:latin typeface="Calibri"/>
              </a:defRPr>
            </a:pPr>
            <a:r>
              <a:rPr sz="1800" b="0">
                <a:solidFill>
                  <a:srgbClr val="222222"/>
                </a:solidFill>
                <a:latin typeface="Calibri"/>
              </a:rPr>
              <a:t>So on this track, the VEHICLE is told which controller address it will accept.</a:t>
            </a:r>
          </a:p>
          <a:p>
            <a:pPr algn="l">
              <a:lnSpc>
                <a:spcPct val="100000"/>
              </a:lnSpc>
              <a:spcAft>
                <a:spcPts val="900"/>
              </a:spcAft>
              <a:defRPr sz="900" b="0">
                <a:solidFill>
                  <a:srgbClr val="222222"/>
                </a:solidFill>
                <a:latin typeface="Calibri"/>
              </a:defRPr>
            </a:pPr>
          </a:p>
          <a:p>
            <a:pPr algn="l">
              <a:lnSpc>
                <a:spcPct val="100000"/>
              </a:lnSpc>
              <a:spcAft>
                <a:spcPts val="900"/>
              </a:spcAft>
              <a:defRPr sz="1800" b="0">
                <a:solidFill>
                  <a:srgbClr val="222222"/>
                </a:solidFill>
                <a:latin typeface="Calibri"/>
              </a:defRPr>
            </a:pPr>
            <a:r>
              <a:rPr sz="1800" b="0">
                <a:solidFill>
                  <a:srgbClr val="222222"/>
                </a:solidFill>
                <a:latin typeface="Calibri"/>
              </a:rPr>
              <a:t>Bluepad32 keeps an ALLOWLIST - a guest list checked BEFORE a connection is accepted. A pad that is not on the list is turned away before it is ever let in.</a:t>
            </a:r>
          </a:p>
        </p:txBody>
      </p:sp>
      <p:sp>
        <p:nvSpPr>
          <p:cNvPr id="7" name="TextBox 6"/>
          <p:cNvSpPr txBox="1"/>
          <p:nvPr/>
        </p:nvSpPr>
        <p:spPr>
          <a:xfrm>
            <a:off x="6324447" y="1188720"/>
            <a:ext cx="5364327" cy="3881628"/>
          </a:xfrm>
          <a:prstGeom prst="rect">
            <a:avLst/>
          </a:prstGeom>
          <a:noFill/>
        </p:spPr>
        <p:txBody>
          <a:bodyPr wrap="square" lIns="0" tIns="0" rIns="0" bIns="0">
            <a:spAutoFit/>
          </a:bodyPr>
          <a:lstStyle/>
          <a:p>
            <a:pPr lvl="1" algn="l">
              <a:lnSpc>
                <a:spcPct val="100000"/>
              </a:lnSpc>
              <a:spcAft>
                <a:spcPts val="500"/>
              </a:spcAft>
              <a:defRPr sz="1800" b="0">
                <a:solidFill>
                  <a:srgbClr val="222222"/>
                </a:solidFill>
                <a:latin typeface="Calibri"/>
              </a:defRPr>
            </a:pPr>
            <a:r>
              <a:rPr sz="1800" b="0">
                <a:solidFill>
                  <a:srgbClr val="222222"/>
                </a:solidFill>
                <a:latin typeface="Calibri"/>
              </a:rPr>
              <a:t>uni_bt_allowlist_remove_all();</a:t>
            </a:r>
          </a:p>
          <a:p>
            <a:pPr lvl="1" algn="l">
              <a:lnSpc>
                <a:spcPct val="100000"/>
              </a:lnSpc>
              <a:spcAft>
                <a:spcPts val="500"/>
              </a:spcAft>
              <a:defRPr sz="1800" b="0">
                <a:solidFill>
                  <a:srgbClr val="222222"/>
                </a:solidFill>
                <a:latin typeface="Calibri"/>
              </a:defRPr>
            </a:pPr>
            <a:r>
              <a:rPr sz="1800" b="0">
                <a:solidFill>
                  <a:srgbClr val="222222"/>
                </a:solidFill>
                <a:latin typeface="Calibri"/>
              </a:rPr>
              <a:t>uni_bt_allowlist_add_addr(myControllerAddress);</a:t>
            </a:r>
          </a:p>
          <a:p>
            <a:pPr lvl="1" algn="l">
              <a:lnSpc>
                <a:spcPct val="100000"/>
              </a:lnSpc>
              <a:spcAft>
                <a:spcPts val="500"/>
              </a:spcAft>
              <a:defRPr sz="1800" b="0">
                <a:solidFill>
                  <a:srgbClr val="222222"/>
                </a:solidFill>
                <a:latin typeface="Calibri"/>
              </a:defRPr>
            </a:pPr>
            <a:r>
              <a:rPr sz="1800" b="0">
                <a:solidFill>
                  <a:srgbClr val="222222"/>
                </a:solidFill>
                <a:latin typeface="Calibri"/>
              </a:rPr>
              <a:t>uni_bt_allowlist_set_enabled(true);</a:t>
            </a:r>
          </a:p>
          <a:p>
            <a:pPr algn="l">
              <a:lnSpc>
                <a:spcPct val="100000"/>
              </a:lnSpc>
              <a:spcAft>
                <a:spcPts val="500"/>
              </a:spcAft>
              <a:defRPr sz="900" b="0">
                <a:solidFill>
                  <a:srgbClr val="222222"/>
                </a:solidFill>
                <a:latin typeface="Calibri"/>
              </a:defRPr>
            </a:pPr>
          </a:p>
          <a:p>
            <a:pPr algn="l">
              <a:lnSpc>
                <a:spcPct val="100000"/>
              </a:lnSpc>
              <a:spcAft>
                <a:spcPts val="500"/>
              </a:spcAft>
              <a:defRPr sz="1800" b="0">
                <a:solidFill>
                  <a:srgbClr val="222222"/>
                </a:solidFill>
                <a:latin typeface="Calibri"/>
              </a:defRPr>
            </a:pPr>
            <a:r>
              <a:rPr sz="1800" b="0">
                <a:solidFill>
                  <a:srgbClr val="222222"/>
                </a:solidFill>
                <a:latin typeface="Calibri"/>
              </a:rPr>
              <a:t>You find your pad's address with l3a_controller_check, which prints the address for you, then paste the line it prints into the top of every sketch for the rest of the day.</a:t>
            </a:r>
          </a:p>
        </p:txBody>
      </p:sp>
      <p:sp>
        <p:nvSpPr>
          <p:cNvPr id="8" name="Rounded Rectangle 7"/>
          <p:cNvSpPr/>
          <p:nvPr/>
        </p:nvSpPr>
        <p:spPr>
          <a:xfrm>
            <a:off x="502920" y="5198364"/>
            <a:ext cx="11185855" cy="1065276"/>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The list is rebuilt from scratch at every boot, so the sketch is always the single source of truth about who may drive. Write the address on a sticker on the vehicle AND the controller.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How YOUR vehicle gets paired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pathfinder_nintendoswitch: the address lives in the sketch</a:t>
            </a:r>
          </a:p>
        </p:txBody>
      </p:sp>
      <p:sp>
        <p:nvSpPr>
          <p:cNvPr id="7" name="TextBox 6"/>
          <p:cNvSpPr txBox="1"/>
          <p:nvPr/>
        </p:nvSpPr>
        <p:spPr>
          <a:xfrm>
            <a:off x="502920" y="1755648"/>
            <a:ext cx="5364327" cy="3035808"/>
          </a:xfrm>
          <a:prstGeom prst="rect">
            <a:avLst/>
          </a:prstGeom>
          <a:noFill/>
        </p:spPr>
        <p:txBody>
          <a:bodyPr wrap="square" lIns="0" tIns="0" rIns="0" bIns="0">
            <a:spAutoFit/>
          </a:bodyPr>
          <a:lstStyle/>
          <a:p>
            <a:pPr algn="l">
              <a:lnSpc>
                <a:spcPct val="100000"/>
              </a:lnSpc>
              <a:spcAft>
                <a:spcPts val="900"/>
              </a:spcAft>
              <a:defRPr sz="1800" b="0">
                <a:solidFill>
                  <a:srgbClr val="222222"/>
                </a:solidFill>
                <a:latin typeface="Calibri"/>
              </a:defRPr>
            </a:pPr>
            <a:r>
              <a:rPr sz="1800" b="0">
                <a:solidFill>
                  <a:srgbClr val="222222"/>
                </a:solidFill>
                <a:latin typeface="Calibri"/>
              </a:rPr>
              <a:t>In pathfinder_nintendoswitch - the program this whole course is about - the address is a CONSTANT IN THE PROGRAM, called MY_CONTROLLER.</a:t>
            </a:r>
          </a:p>
          <a:p>
            <a:pPr algn="l">
              <a:lnSpc>
                <a:spcPct val="100000"/>
              </a:lnSpc>
              <a:spcAft>
                <a:spcPts val="900"/>
              </a:spcAft>
              <a:defRPr sz="900" b="0">
                <a:solidFill>
                  <a:srgbClr val="222222"/>
                </a:solidFill>
                <a:latin typeface="Calibri"/>
              </a:defRPr>
            </a:pPr>
          </a:p>
          <a:p>
            <a:pPr algn="l">
              <a:lnSpc>
                <a:spcPct val="100000"/>
              </a:lnSpc>
              <a:spcAft>
                <a:spcPts val="900"/>
              </a:spcAft>
              <a:defRPr sz="1800" b="0">
                <a:solidFill>
                  <a:srgbClr val="222222"/>
                </a:solidFill>
                <a:latin typeface="Calibri"/>
              </a:defRPr>
            </a:pPr>
            <a:r>
              <a:rPr sz="1800" b="0">
                <a:solidFill>
                  <a:srgbClr val="222222"/>
                </a:solidFill>
                <a:latin typeface="Calibri"/>
              </a:rPr>
              <a:t>1.  Upload l3a_controller_check and connect your pad.</a:t>
            </a:r>
          </a:p>
          <a:p>
            <a:pPr algn="l">
              <a:lnSpc>
                <a:spcPct val="100000"/>
              </a:lnSpc>
              <a:spcAft>
                <a:spcPts val="900"/>
              </a:spcAft>
              <a:defRPr sz="1800" b="0">
                <a:solidFill>
                  <a:srgbClr val="222222"/>
                </a:solidFill>
                <a:latin typeface="Calibri"/>
              </a:defRPr>
            </a:pPr>
            <a:r>
              <a:rPr sz="1800" b="0">
                <a:solidFill>
                  <a:srgbClr val="222222"/>
                </a:solidFill>
                <a:latin typeface="Calibri"/>
              </a:rPr>
              <a:t>2.  It prints a ready-made MY_CONTROLLER line.</a:t>
            </a:r>
          </a:p>
          <a:p>
            <a:pPr algn="l">
              <a:lnSpc>
                <a:spcPct val="100000"/>
              </a:lnSpc>
              <a:spcAft>
                <a:spcPts val="900"/>
              </a:spcAft>
              <a:defRPr sz="1800" b="0">
                <a:solidFill>
                  <a:srgbClr val="222222"/>
                </a:solidFill>
                <a:latin typeface="Calibri"/>
              </a:defRPr>
            </a:pPr>
            <a:r>
              <a:rPr sz="1800" b="0">
                <a:solidFill>
                  <a:srgbClr val="222222"/>
                </a:solidFill>
                <a:latin typeface="Calibri"/>
              </a:rPr>
              <a:t>3.  Paste that line into the top of the sketch.</a:t>
            </a:r>
          </a:p>
        </p:txBody>
      </p:sp>
      <p:sp>
        <p:nvSpPr>
          <p:cNvPr id="8" name="TextBox 7"/>
          <p:cNvSpPr txBox="1"/>
          <p:nvPr/>
        </p:nvSpPr>
        <p:spPr>
          <a:xfrm>
            <a:off x="6324447" y="1755648"/>
            <a:ext cx="5364327" cy="3035808"/>
          </a:xfrm>
          <a:prstGeom prst="rect">
            <a:avLst/>
          </a:prstGeom>
          <a:noFill/>
        </p:spPr>
        <p:txBody>
          <a:bodyPr wrap="square" lIns="0" tIns="0" rIns="0" bIns="0">
            <a:spAutoFit/>
          </a:bodyPr>
          <a:lstStyle/>
          <a:p>
            <a:pPr algn="l">
              <a:lnSpc>
                <a:spcPct val="100000"/>
              </a:lnSpc>
              <a:spcAft>
                <a:spcPts val="500"/>
              </a:spcAft>
              <a:defRPr sz="1800" b="0">
                <a:solidFill>
                  <a:srgbClr val="222222"/>
                </a:solidFill>
                <a:latin typeface="Calibri"/>
              </a:defRPr>
            </a:pPr>
            <a:r>
              <a:rPr sz="1800" b="0">
                <a:solidFill>
                  <a:srgbClr val="222222"/>
                </a:solidFill>
                <a:latin typeface="Calibri"/>
              </a:rPr>
              <a:t>4.  Upload. From now on the vehicle answers only to that pad.</a:t>
            </a:r>
          </a:p>
          <a:p>
            <a:pPr algn="l">
              <a:lnSpc>
                <a:spcPct val="100000"/>
              </a:lnSpc>
              <a:spcAft>
                <a:spcPts val="500"/>
              </a:spcAft>
              <a:defRPr sz="900" b="0">
                <a:solidFill>
                  <a:srgbClr val="222222"/>
                </a:solidFill>
                <a:latin typeface="Calibri"/>
              </a:defRPr>
            </a:pPr>
          </a:p>
          <a:p>
            <a:pPr algn="l">
              <a:lnSpc>
                <a:spcPct val="100000"/>
              </a:lnSpc>
              <a:spcAft>
                <a:spcPts val="500"/>
              </a:spcAft>
              <a:defRPr sz="1800" b="0">
                <a:solidFill>
                  <a:srgbClr val="222222"/>
                </a:solidFill>
                <a:latin typeface="Calibri"/>
              </a:defRPr>
            </a:pPr>
            <a:r>
              <a:rPr sz="1800" b="0">
                <a:solidFill>
                  <a:srgbClr val="222222"/>
                </a:solidFill>
                <a:latin typeface="Calibri"/>
              </a:rPr>
              <a:t>To change controllers, you edit the sketch and upload again.</a:t>
            </a:r>
          </a:p>
          <a:p>
            <a:pPr algn="l">
              <a:lnSpc>
                <a:spcPct val="100000"/>
              </a:lnSpc>
              <a:spcAft>
                <a:spcPts val="500"/>
              </a:spcAft>
              <a:defRPr sz="900" b="0">
                <a:solidFill>
                  <a:srgbClr val="222222"/>
                </a:solidFill>
                <a:latin typeface="Calibri"/>
              </a:defRPr>
            </a:pPr>
          </a:p>
          <a:p>
            <a:pPr algn="l">
              <a:lnSpc>
                <a:spcPct val="100000"/>
              </a:lnSpc>
              <a:spcAft>
                <a:spcPts val="500"/>
              </a:spcAft>
              <a:defRPr sz="1800" b="0">
                <a:solidFill>
                  <a:srgbClr val="222222"/>
                </a:solidFill>
                <a:latin typeface="Calibri"/>
              </a:defRPr>
            </a:pPr>
            <a:r>
              <a:rPr sz="1800" b="0">
                <a:solidFill>
                  <a:srgbClr val="222222"/>
                </a:solidFill>
                <a:latin typeface="Calibri"/>
              </a:rPr>
              <a:t>Nothing is hidden. The whole mechanism is visible in the file in front of you, which is exactly what you want while you are still learning what the pieces are.</a:t>
            </a:r>
          </a:p>
        </p:txBody>
      </p:sp>
      <p:sp>
        <p:nvSpPr>
          <p:cNvPr id="9" name="Rounded Rectangle 8"/>
          <p:cNvSpPr/>
          <p:nvPr/>
        </p:nvSpPr>
        <p:spPr>
          <a:xfrm>
            <a:off x="502920" y="4919472"/>
            <a:ext cx="11185855" cy="1344168"/>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Side note: the ADVANCED program, Pathfinder_Op_Program12, does this differently - it stores the address in EEPROM and you pair by typing 'pair' in the Serial Monitor, or pressing the BOOT button, then A and HOME on the pad. If somebody hands you a vehicle and tells you to type 'pair', it is running that program, not this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Switch controller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TextBox 5"/>
          <p:cNvSpPr txBox="1"/>
          <p:nvPr/>
        </p:nvSpPr>
        <p:spPr>
          <a:xfrm>
            <a:off x="502920" y="1188720"/>
            <a:ext cx="11185855" cy="1005840"/>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Every one of those has a name in the program - but not always the name printed on it. The next slide is the table you will actually need.</a:t>
            </a:r>
          </a:p>
        </p:txBody>
      </p:sp>
      <p:pic>
        <p:nvPicPr>
          <p:cNvPr id="7" name="Picture 6" descr="switch-controller-labeled.jpg"/>
          <p:cNvPicPr>
            <a:picLocks noChangeAspect="1"/>
          </p:cNvPicPr>
          <p:nvPr/>
        </p:nvPicPr>
        <p:blipFill>
          <a:blip r:embed="rId2"/>
          <a:stretch>
            <a:fillRect/>
          </a:stretch>
        </p:blipFill>
        <p:spPr>
          <a:xfrm>
            <a:off x="4463643" y="2267712"/>
            <a:ext cx="3264408" cy="3264408"/>
          </a:xfrm>
          <a:prstGeom prst="rect">
            <a:avLst/>
          </a:prstGeom>
        </p:spPr>
      </p:pic>
      <p:sp>
        <p:nvSpPr>
          <p:cNvPr id="8" name="TextBox 7"/>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Two analog sticks, a D-pad, four face buttons, shoulders and triggers, and the small ones in the middle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Switch controller, as Bluepad32 sees it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600"/>
              </a:spcAft>
              <a:defRPr sz="1600" b="0">
                <a:solidFill>
                  <a:srgbClr val="222222"/>
                </a:solidFill>
                <a:latin typeface="Calibri"/>
              </a:defRPr>
            </a:pPr>
            <a:r>
              <a:rPr sz="1600" b="0">
                <a:solidFill>
                  <a:srgbClr val="222222"/>
                </a:solidFill>
                <a:latin typeface="Calibri"/>
              </a:rPr>
              <a:t>Bluepad32 names the face buttons by POSITION, Xbox style - not by the letter printed on your pad.</a:t>
            </a:r>
          </a:p>
        </p:txBody>
      </p:sp>
      <p:graphicFrame>
        <p:nvGraphicFramePr>
          <p:cNvPr id="7" name="Table 6"/>
          <p:cNvGraphicFramePr>
            <a:graphicFrameLocks noGrp="1"/>
          </p:cNvGraphicFramePr>
          <p:nvPr/>
        </p:nvGraphicFramePr>
        <p:xfrm>
          <a:off x="502920" y="1691640"/>
          <a:ext cx="11185854" cy="3370262"/>
        </p:xfrm>
        <a:graphic>
          <a:graphicData uri="http://schemas.openxmlformats.org/drawingml/2006/table">
            <a:tbl>
              <a:tblPr firstRow="1" bandRow="1">
                <a:tableStyleId>{5C22544A-7EE6-4342-B048-85BDC9FD1C3A}</a:tableStyleId>
              </a:tblPr>
              <a:tblGrid>
                <a:gridCol w="2663298"/>
                <a:gridCol w="4261278"/>
                <a:gridCol w="4261278"/>
              </a:tblGrid>
              <a:tr h="306387">
                <a:tc>
                  <a:txBody>
                    <a:bodyPr/>
                    <a:lstStyle/>
                    <a:p>
                      <a:r>
                        <a:rPr sz="1450" b="1">
                          <a:solidFill>
                            <a:srgbClr val="FFFFFF"/>
                          </a:solidFill>
                          <a:latin typeface="Calibri"/>
                        </a:rPr>
                        <a:t>Printed on the pad</a:t>
                      </a:r>
                    </a:p>
                  </a:txBody>
                  <a:tcPr marL="73152" marT="18288" marB="18288">
                    <a:solidFill>
                      <a:srgbClr val="1F3A5F"/>
                    </a:solidFill>
                  </a:tcPr>
                </a:tc>
                <a:tc>
                  <a:txBody>
                    <a:bodyPr/>
                    <a:lstStyle/>
                    <a:p>
                      <a:r>
                        <a:rPr sz="1450" b="1">
                          <a:solidFill>
                            <a:srgbClr val="FFFFFF"/>
                          </a:solidFill>
                          <a:latin typeface="Calibri"/>
                        </a:rPr>
                        <a:t>In the program</a:t>
                      </a:r>
                    </a:p>
                  </a:txBody>
                  <a:tcPr marL="73152" marT="18288" marB="18288">
                    <a:solidFill>
                      <a:srgbClr val="1F3A5F"/>
                    </a:solidFill>
                  </a:tcPr>
                </a:tc>
                <a:tc>
                  <a:txBody>
                    <a:bodyPr/>
                    <a:lstStyle/>
                    <a:p>
                      <a:r>
                        <a:rPr sz="1450" b="1">
                          <a:solidFill>
                            <a:srgbClr val="FFFFFF"/>
                          </a:solidFill>
                          <a:latin typeface="Calibri"/>
                        </a:rPr>
                        <a:t>Where it is</a:t>
                      </a:r>
                    </a:p>
                  </a:txBody>
                  <a:tcPr marL="73152" marT="18288" marB="18288">
                    <a:solidFill>
                      <a:srgbClr val="1F3A5F"/>
                    </a:solidFill>
                  </a:tcPr>
                </a:tc>
              </a:tr>
              <a:tr h="306387">
                <a:tc>
                  <a:txBody>
                    <a:bodyPr/>
                    <a:lstStyle/>
                    <a:p>
                      <a:r>
                        <a:rPr sz="1450">
                          <a:solidFill>
                            <a:srgbClr val="222222"/>
                          </a:solidFill>
                          <a:latin typeface="Calibri"/>
                        </a:rPr>
                        <a:t>B</a:t>
                      </a:r>
                    </a:p>
                  </a:txBody>
                  <a:tcPr marL="73152" marT="18288" marB="18288">
                    <a:solidFill>
                      <a:srgbClr val="FFFFFF"/>
                    </a:solidFill>
                  </a:tcPr>
                </a:tc>
                <a:tc>
                  <a:txBody>
                    <a:bodyPr/>
                    <a:lstStyle/>
                    <a:p>
                      <a:r>
                        <a:rPr sz="1450">
                          <a:solidFill>
                            <a:srgbClr val="222222"/>
                          </a:solidFill>
                          <a:latin typeface="Calibri"/>
                        </a:rPr>
                        <a:t>myController-&gt;a()</a:t>
                      </a:r>
                    </a:p>
                  </a:txBody>
                  <a:tcPr marL="73152" marT="18288" marB="18288">
                    <a:solidFill>
                      <a:srgbClr val="FFFFFF"/>
                    </a:solidFill>
                  </a:tcPr>
                </a:tc>
                <a:tc>
                  <a:txBody>
                    <a:bodyPr/>
                    <a:lstStyle/>
                    <a:p>
                      <a:r>
                        <a:rPr sz="1450">
                          <a:solidFill>
                            <a:srgbClr val="222222"/>
                          </a:solidFill>
                          <a:latin typeface="Calibri"/>
                        </a:rPr>
                        <a:t>bottom face button</a:t>
                      </a:r>
                    </a:p>
                  </a:txBody>
                  <a:tcPr marL="73152" marT="18288" marB="18288">
                    <a:solidFill>
                      <a:srgbClr val="FFFFFF"/>
                    </a:solidFill>
                  </a:tcPr>
                </a:tc>
              </a:tr>
              <a:tr h="306387">
                <a:tc>
                  <a:txBody>
                    <a:bodyPr/>
                    <a:lstStyle/>
                    <a:p>
                      <a:r>
                        <a:rPr sz="1450">
                          <a:solidFill>
                            <a:srgbClr val="222222"/>
                          </a:solidFill>
                          <a:latin typeface="Calibri"/>
                        </a:rPr>
                        <a:t>A</a:t>
                      </a:r>
                    </a:p>
                  </a:txBody>
                  <a:tcPr marL="73152" marT="18288" marB="18288">
                    <a:solidFill>
                      <a:srgbClr val="EEF3F8"/>
                    </a:solidFill>
                  </a:tcPr>
                </a:tc>
                <a:tc>
                  <a:txBody>
                    <a:bodyPr/>
                    <a:lstStyle/>
                    <a:p>
                      <a:r>
                        <a:rPr sz="1450">
                          <a:solidFill>
                            <a:srgbClr val="222222"/>
                          </a:solidFill>
                          <a:latin typeface="Calibri"/>
                        </a:rPr>
                        <a:t>myController-&gt;b()</a:t>
                      </a:r>
                    </a:p>
                  </a:txBody>
                  <a:tcPr marL="73152" marT="18288" marB="18288">
                    <a:solidFill>
                      <a:srgbClr val="EEF3F8"/>
                    </a:solidFill>
                  </a:tcPr>
                </a:tc>
                <a:tc>
                  <a:txBody>
                    <a:bodyPr/>
                    <a:lstStyle/>
                    <a:p>
                      <a:r>
                        <a:rPr sz="1450">
                          <a:solidFill>
                            <a:srgbClr val="222222"/>
                          </a:solidFill>
                          <a:latin typeface="Calibri"/>
                        </a:rPr>
                        <a:t>right face button</a:t>
                      </a:r>
                    </a:p>
                  </a:txBody>
                  <a:tcPr marL="73152" marT="18288" marB="18288">
                    <a:solidFill>
                      <a:srgbClr val="EEF3F8"/>
                    </a:solidFill>
                  </a:tcPr>
                </a:tc>
              </a:tr>
              <a:tr h="306387">
                <a:tc>
                  <a:txBody>
                    <a:bodyPr/>
                    <a:lstStyle/>
                    <a:p>
                      <a:r>
                        <a:rPr sz="1450">
                          <a:solidFill>
                            <a:srgbClr val="222222"/>
                          </a:solidFill>
                          <a:latin typeface="Calibri"/>
                        </a:rPr>
                        <a:t>Y</a:t>
                      </a:r>
                    </a:p>
                  </a:txBody>
                  <a:tcPr marL="73152" marT="18288" marB="18288">
                    <a:solidFill>
                      <a:srgbClr val="FFFFFF"/>
                    </a:solidFill>
                  </a:tcPr>
                </a:tc>
                <a:tc>
                  <a:txBody>
                    <a:bodyPr/>
                    <a:lstStyle/>
                    <a:p>
                      <a:r>
                        <a:rPr sz="1450">
                          <a:solidFill>
                            <a:srgbClr val="222222"/>
                          </a:solidFill>
                          <a:latin typeface="Calibri"/>
                        </a:rPr>
                        <a:t>myController-&gt;x()</a:t>
                      </a:r>
                    </a:p>
                  </a:txBody>
                  <a:tcPr marL="73152" marT="18288" marB="18288">
                    <a:solidFill>
                      <a:srgbClr val="FFFFFF"/>
                    </a:solidFill>
                  </a:tcPr>
                </a:tc>
                <a:tc>
                  <a:txBody>
                    <a:bodyPr/>
                    <a:lstStyle/>
                    <a:p>
                      <a:r>
                        <a:rPr sz="1450">
                          <a:solidFill>
                            <a:srgbClr val="222222"/>
                          </a:solidFill>
                          <a:latin typeface="Calibri"/>
                        </a:rPr>
                        <a:t>left face button</a:t>
                      </a:r>
                    </a:p>
                  </a:txBody>
                  <a:tcPr marL="73152" marT="18288" marB="18288">
                    <a:solidFill>
                      <a:srgbClr val="FFFFFF"/>
                    </a:solidFill>
                  </a:tcPr>
                </a:tc>
              </a:tr>
              <a:tr h="306387">
                <a:tc>
                  <a:txBody>
                    <a:bodyPr/>
                    <a:lstStyle/>
                    <a:p>
                      <a:r>
                        <a:rPr sz="1450">
                          <a:solidFill>
                            <a:srgbClr val="222222"/>
                          </a:solidFill>
                          <a:latin typeface="Calibri"/>
                        </a:rPr>
                        <a:t>X</a:t>
                      </a:r>
                    </a:p>
                  </a:txBody>
                  <a:tcPr marL="73152" marT="18288" marB="18288">
                    <a:solidFill>
                      <a:srgbClr val="EEF3F8"/>
                    </a:solidFill>
                  </a:tcPr>
                </a:tc>
                <a:tc>
                  <a:txBody>
                    <a:bodyPr/>
                    <a:lstStyle/>
                    <a:p>
                      <a:r>
                        <a:rPr sz="1450">
                          <a:solidFill>
                            <a:srgbClr val="222222"/>
                          </a:solidFill>
                          <a:latin typeface="Calibri"/>
                        </a:rPr>
                        <a:t>myController-&gt;y()</a:t>
                      </a:r>
                    </a:p>
                  </a:txBody>
                  <a:tcPr marL="73152" marT="18288" marB="18288">
                    <a:solidFill>
                      <a:srgbClr val="EEF3F8"/>
                    </a:solidFill>
                  </a:tcPr>
                </a:tc>
                <a:tc>
                  <a:txBody>
                    <a:bodyPr/>
                    <a:lstStyle/>
                    <a:p>
                      <a:r>
                        <a:rPr sz="1450">
                          <a:solidFill>
                            <a:srgbClr val="222222"/>
                          </a:solidFill>
                          <a:latin typeface="Calibri"/>
                        </a:rPr>
                        <a:t>top face button</a:t>
                      </a:r>
                    </a:p>
                  </a:txBody>
                  <a:tcPr marL="73152" marT="18288" marB="18288">
                    <a:solidFill>
                      <a:srgbClr val="EEF3F8"/>
                    </a:solidFill>
                  </a:tcPr>
                </a:tc>
              </a:tr>
              <a:tr h="306387">
                <a:tc>
                  <a:txBody>
                    <a:bodyPr/>
                    <a:lstStyle/>
                    <a:p>
                      <a:r>
                        <a:rPr sz="1450">
                          <a:solidFill>
                            <a:srgbClr val="222222"/>
                          </a:solidFill>
                          <a:latin typeface="Calibri"/>
                        </a:rPr>
                        <a:t>L / R</a:t>
                      </a:r>
                    </a:p>
                  </a:txBody>
                  <a:tcPr marL="73152" marT="18288" marB="18288">
                    <a:solidFill>
                      <a:srgbClr val="FFFFFF"/>
                    </a:solidFill>
                  </a:tcPr>
                </a:tc>
                <a:tc>
                  <a:txBody>
                    <a:bodyPr/>
                    <a:lstStyle/>
                    <a:p>
                      <a:r>
                        <a:rPr sz="1450">
                          <a:solidFill>
                            <a:srgbClr val="222222"/>
                          </a:solidFill>
                          <a:latin typeface="Calibri"/>
                        </a:rPr>
                        <a:t>l1() / r1()</a:t>
                      </a:r>
                    </a:p>
                  </a:txBody>
                  <a:tcPr marL="73152" marT="18288" marB="18288">
                    <a:solidFill>
                      <a:srgbClr val="FFFFFF"/>
                    </a:solidFill>
                  </a:tcPr>
                </a:tc>
                <a:tc>
                  <a:txBody>
                    <a:bodyPr/>
                    <a:lstStyle/>
                    <a:p>
                      <a:r>
                        <a:rPr sz="1450">
                          <a:solidFill>
                            <a:srgbClr val="222222"/>
                          </a:solidFill>
                          <a:latin typeface="Calibri"/>
                        </a:rPr>
                        <a:t>shoulders</a:t>
                      </a:r>
                    </a:p>
                  </a:txBody>
                  <a:tcPr marL="73152" marT="18288" marB="18288">
                    <a:solidFill>
                      <a:srgbClr val="FFFFFF"/>
                    </a:solidFill>
                  </a:tcPr>
                </a:tc>
              </a:tr>
              <a:tr h="306387">
                <a:tc>
                  <a:txBody>
                    <a:bodyPr/>
                    <a:lstStyle/>
                    <a:p>
                      <a:r>
                        <a:rPr sz="1450">
                          <a:solidFill>
                            <a:srgbClr val="222222"/>
                          </a:solidFill>
                          <a:latin typeface="Calibri"/>
                        </a:rPr>
                        <a:t>ZL / ZR</a:t>
                      </a:r>
                    </a:p>
                  </a:txBody>
                  <a:tcPr marL="73152" marT="18288" marB="18288">
                    <a:solidFill>
                      <a:srgbClr val="EEF3F8"/>
                    </a:solidFill>
                  </a:tcPr>
                </a:tc>
                <a:tc>
                  <a:txBody>
                    <a:bodyPr/>
                    <a:lstStyle/>
                    <a:p>
                      <a:r>
                        <a:rPr sz="1450">
                          <a:solidFill>
                            <a:srgbClr val="222222"/>
                          </a:solidFill>
                          <a:latin typeface="Calibri"/>
                        </a:rPr>
                        <a:t>l2() / r2()</a:t>
                      </a:r>
                    </a:p>
                  </a:txBody>
                  <a:tcPr marL="73152" marT="18288" marB="18288">
                    <a:solidFill>
                      <a:srgbClr val="EEF3F8"/>
                    </a:solidFill>
                  </a:tcPr>
                </a:tc>
                <a:tc>
                  <a:txBody>
                    <a:bodyPr/>
                    <a:lstStyle/>
                    <a:p>
                      <a:r>
                        <a:rPr sz="1450">
                          <a:solidFill>
                            <a:srgbClr val="222222"/>
                          </a:solidFill>
                          <a:latin typeface="Calibri"/>
                        </a:rPr>
                        <a:t>triggers</a:t>
                      </a:r>
                    </a:p>
                  </a:txBody>
                  <a:tcPr marL="73152" marT="18288" marB="18288">
                    <a:solidFill>
                      <a:srgbClr val="EEF3F8"/>
                    </a:solidFill>
                  </a:tcPr>
                </a:tc>
              </a:tr>
              <a:tr h="306387">
                <a:tc>
                  <a:txBody>
                    <a:bodyPr/>
                    <a:lstStyle/>
                    <a:p>
                      <a:r>
                        <a:rPr sz="1450">
                          <a:solidFill>
                            <a:srgbClr val="222222"/>
                          </a:solidFill>
                          <a:latin typeface="Calibri"/>
                        </a:rPr>
                        <a:t>stick click</a:t>
                      </a:r>
                    </a:p>
                  </a:txBody>
                  <a:tcPr marL="73152" marT="18288" marB="18288">
                    <a:solidFill>
                      <a:srgbClr val="FFFFFF"/>
                    </a:solidFill>
                  </a:tcPr>
                </a:tc>
                <a:tc>
                  <a:txBody>
                    <a:bodyPr/>
                    <a:lstStyle/>
                    <a:p>
                      <a:r>
                        <a:rPr sz="1450">
                          <a:solidFill>
                            <a:srgbClr val="222222"/>
                          </a:solidFill>
                          <a:latin typeface="Calibri"/>
                        </a:rPr>
                        <a:t>thumbL() / thumbR()</a:t>
                      </a:r>
                    </a:p>
                  </a:txBody>
                  <a:tcPr marL="73152" marT="18288" marB="18288">
                    <a:solidFill>
                      <a:srgbClr val="FFFFFF"/>
                    </a:solidFill>
                  </a:tcPr>
                </a:tc>
                <a:tc>
                  <a:txBody>
                    <a:bodyPr/>
                    <a:lstStyle/>
                    <a:p>
                      <a:r>
                        <a:rPr sz="1450">
                          <a:solidFill>
                            <a:srgbClr val="222222"/>
                          </a:solidFill>
                          <a:latin typeface="Calibri"/>
                        </a:rPr>
                        <a:t>press a stick in</a:t>
                      </a:r>
                    </a:p>
                  </a:txBody>
                  <a:tcPr marL="73152" marT="18288" marB="18288">
                    <a:solidFill>
                      <a:srgbClr val="FFFFFF"/>
                    </a:solidFill>
                  </a:tcPr>
                </a:tc>
              </a:tr>
              <a:tr h="306387">
                <a:tc>
                  <a:txBody>
                    <a:bodyPr/>
                    <a:lstStyle/>
                    <a:p>
                      <a:r>
                        <a:rPr sz="1450">
                          <a:solidFill>
                            <a:srgbClr val="222222"/>
                          </a:solidFill>
                          <a:latin typeface="Calibri"/>
                        </a:rPr>
                        <a:t>D-pad</a:t>
                      </a:r>
                    </a:p>
                  </a:txBody>
                  <a:tcPr marL="73152" marT="18288" marB="18288">
                    <a:solidFill>
                      <a:srgbClr val="EEF3F8"/>
                    </a:solidFill>
                  </a:tcPr>
                </a:tc>
                <a:tc>
                  <a:txBody>
                    <a:bodyPr/>
                    <a:lstStyle/>
                    <a:p>
                      <a:r>
                        <a:rPr sz="1450">
                          <a:solidFill>
                            <a:srgbClr val="222222"/>
                          </a:solidFill>
                          <a:latin typeface="Calibri"/>
                        </a:rPr>
                        <a:t>dpad() &amp; DPAD_UP  etc.</a:t>
                      </a:r>
                    </a:p>
                  </a:txBody>
                  <a:tcPr marL="73152" marT="18288" marB="18288">
                    <a:solidFill>
                      <a:srgbClr val="EEF3F8"/>
                    </a:solidFill>
                  </a:tcPr>
                </a:tc>
                <a:tc>
                  <a:txBody>
                    <a:bodyPr/>
                    <a:lstStyle/>
                    <a:p>
                      <a:r>
                        <a:rPr sz="1450">
                          <a:solidFill>
                            <a:srgbClr val="222222"/>
                          </a:solidFill>
                          <a:latin typeface="Calibri"/>
                        </a:rPr>
                        <a:t>one number, one bit per direction</a:t>
                      </a:r>
                    </a:p>
                  </a:txBody>
                  <a:tcPr marL="73152" marT="18288" marB="18288">
                    <a:solidFill>
                      <a:srgbClr val="EEF3F8"/>
                    </a:solidFill>
                  </a:tcPr>
                </a:tc>
              </a:tr>
              <a:tr h="306387">
                <a:tc>
                  <a:txBody>
                    <a:bodyPr/>
                    <a:lstStyle/>
                    <a:p>
                      <a:r>
                        <a:rPr sz="1450">
                          <a:solidFill>
                            <a:srgbClr val="222222"/>
                          </a:solidFill>
                          <a:latin typeface="Calibri"/>
                        </a:rPr>
                        <a:t>left stick</a:t>
                      </a:r>
                    </a:p>
                  </a:txBody>
                  <a:tcPr marL="73152" marT="18288" marB="18288">
                    <a:solidFill>
                      <a:srgbClr val="FFFFFF"/>
                    </a:solidFill>
                  </a:tcPr>
                </a:tc>
                <a:tc>
                  <a:txBody>
                    <a:bodyPr/>
                    <a:lstStyle/>
                    <a:p>
                      <a:r>
                        <a:rPr sz="1450">
                          <a:solidFill>
                            <a:srgbClr val="222222"/>
                          </a:solidFill>
                          <a:latin typeface="Calibri"/>
                        </a:rPr>
                        <a:t>axisX() / axisY()</a:t>
                      </a:r>
                    </a:p>
                  </a:txBody>
                  <a:tcPr marL="73152" marT="18288" marB="18288">
                    <a:solidFill>
                      <a:srgbClr val="FFFFFF"/>
                    </a:solidFill>
                  </a:tcPr>
                </a:tc>
                <a:tc>
                  <a:txBody>
                    <a:bodyPr/>
                    <a:lstStyle/>
                    <a:p>
                      <a:r>
                        <a:rPr sz="1450">
                          <a:solidFill>
                            <a:srgbClr val="222222"/>
                          </a:solidFill>
                          <a:latin typeface="Calibri"/>
                        </a:rPr>
                        <a:t>-512 to +511</a:t>
                      </a:r>
                    </a:p>
                  </a:txBody>
                  <a:tcPr marL="73152" marT="18288" marB="18288">
                    <a:solidFill>
                      <a:srgbClr val="FFFFFF"/>
                    </a:solidFill>
                  </a:tcPr>
                </a:tc>
              </a:tr>
              <a:tr h="306392">
                <a:tc>
                  <a:txBody>
                    <a:bodyPr/>
                    <a:lstStyle/>
                    <a:p>
                      <a:r>
                        <a:rPr sz="1450">
                          <a:solidFill>
                            <a:srgbClr val="222222"/>
                          </a:solidFill>
                          <a:latin typeface="Calibri"/>
                        </a:rPr>
                        <a:t>right stick</a:t>
                      </a:r>
                    </a:p>
                  </a:txBody>
                  <a:tcPr marL="73152" marT="18288" marB="18288">
                    <a:solidFill>
                      <a:srgbClr val="EEF3F8"/>
                    </a:solidFill>
                  </a:tcPr>
                </a:tc>
                <a:tc>
                  <a:txBody>
                    <a:bodyPr/>
                    <a:lstStyle/>
                    <a:p>
                      <a:r>
                        <a:rPr sz="1450">
                          <a:solidFill>
                            <a:srgbClr val="222222"/>
                          </a:solidFill>
                          <a:latin typeface="Calibri"/>
                        </a:rPr>
                        <a:t>axisRX() / axisRY()</a:t>
                      </a:r>
                    </a:p>
                  </a:txBody>
                  <a:tcPr marL="73152" marT="18288" marB="18288">
                    <a:solidFill>
                      <a:srgbClr val="EEF3F8"/>
                    </a:solidFill>
                  </a:tcPr>
                </a:tc>
                <a:tc>
                  <a:txBody>
                    <a:bodyPr/>
                    <a:lstStyle/>
                    <a:p>
                      <a:r>
                        <a:rPr sz="1450">
                          <a:solidFill>
                            <a:srgbClr val="222222"/>
                          </a:solidFill>
                          <a:latin typeface="Calibri"/>
                        </a:rPr>
                        <a:t>-512 to +511</a:t>
                      </a:r>
                    </a:p>
                  </a:txBody>
                  <a:tcPr marL="73152" marT="18288" marB="18288">
                    <a:solidFill>
                      <a:srgbClr val="EEF3F8"/>
                    </a:solidFill>
                  </a:tcPr>
                </a:tc>
              </a:tr>
            </a:tbl>
          </a:graphicData>
        </a:graphic>
      </p:graphicFrame>
      <p:sp>
        <p:nvSpPr>
          <p:cNvPr id="8" name="Rounded Rectangle 7"/>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So y() is the button MARKED X, because it is the top one. Third-party pads do not always agree. l3a_controller_check prints what you actually pressed, which settles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How the ESP32 controls the motors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6" name="TextBox 5"/>
          <p:cNvSpPr txBox="1"/>
          <p:nvPr/>
        </p:nvSpPr>
        <p:spPr>
          <a:xfrm>
            <a:off x="502920" y="1261872"/>
            <a:ext cx="3017520" cy="367792"/>
          </a:xfrm>
          <a:prstGeom prst="rect">
            <a:avLst/>
          </a:prstGeom>
          <a:noFill/>
        </p:spPr>
        <p:txBody>
          <a:bodyPr wrap="square" lIns="0" tIns="0" rIns="0" bIns="0">
            <a:spAutoFit/>
          </a:bodyPr>
          <a:lstStyle/>
          <a:p>
            <a:pPr algn="ctr">
              <a:lnSpc>
                <a:spcPct val="100000"/>
              </a:lnSpc>
              <a:spcAft>
                <a:spcPts val="0"/>
              </a:spcAft>
              <a:defRPr sz="1800" b="1">
                <a:solidFill>
                  <a:srgbClr val="0E7C86"/>
                </a:solidFill>
                <a:latin typeface="Calibri"/>
              </a:defRPr>
            </a:pPr>
            <a:r>
              <a:rPr sz="1800" b="1">
                <a:solidFill>
                  <a:srgbClr val="0E7C86"/>
                </a:solidFill>
                <a:latin typeface="Calibri"/>
              </a:rPr>
              <a:t>YOUR PROGRAM</a:t>
            </a:r>
          </a:p>
        </p:txBody>
      </p:sp>
      <p:sp>
        <p:nvSpPr>
          <p:cNvPr id="7" name="TextBox 6"/>
          <p:cNvSpPr txBox="1"/>
          <p:nvPr/>
        </p:nvSpPr>
        <p:spPr>
          <a:xfrm>
            <a:off x="4343400" y="1261872"/>
            <a:ext cx="2834640" cy="367792"/>
          </a:xfrm>
          <a:prstGeom prst="rect">
            <a:avLst/>
          </a:prstGeom>
          <a:noFill/>
        </p:spPr>
        <p:txBody>
          <a:bodyPr wrap="square" lIns="0" tIns="0" rIns="0" bIns="0">
            <a:spAutoFit/>
          </a:bodyPr>
          <a:lstStyle/>
          <a:p>
            <a:pPr algn="ctr">
              <a:lnSpc>
                <a:spcPct val="100000"/>
              </a:lnSpc>
              <a:spcAft>
                <a:spcPts val="0"/>
              </a:spcAft>
              <a:defRPr sz="1800" b="1">
                <a:solidFill>
                  <a:srgbClr val="B46A0F"/>
                </a:solidFill>
                <a:latin typeface="Calibri"/>
              </a:defRPr>
            </a:pPr>
            <a:r>
              <a:rPr sz="1800" b="1">
                <a:solidFill>
                  <a:srgbClr val="B46A0F"/>
                </a:solidFill>
                <a:latin typeface="Calibri"/>
              </a:rPr>
              <a:t>H-BRIDGE DRIVER</a:t>
            </a:r>
          </a:p>
        </p:txBody>
      </p:sp>
      <p:sp>
        <p:nvSpPr>
          <p:cNvPr id="8" name="TextBox 7"/>
          <p:cNvSpPr txBox="1"/>
          <p:nvPr/>
        </p:nvSpPr>
        <p:spPr>
          <a:xfrm>
            <a:off x="8000999" y="1261872"/>
            <a:ext cx="3685032" cy="367792"/>
          </a:xfrm>
          <a:prstGeom prst="rect">
            <a:avLst/>
          </a:prstGeom>
          <a:noFill/>
        </p:spPr>
        <p:txBody>
          <a:bodyPr wrap="square" lIns="0" tIns="0" rIns="0" bIns="0">
            <a:spAutoFit/>
          </a:bodyPr>
          <a:lstStyle/>
          <a:p>
            <a:pPr algn="ctr">
              <a:lnSpc>
                <a:spcPct val="100000"/>
              </a:lnSpc>
              <a:spcAft>
                <a:spcPts val="0"/>
              </a:spcAft>
              <a:defRPr sz="1800" b="1">
                <a:solidFill>
                  <a:srgbClr val="666666"/>
                </a:solidFill>
                <a:latin typeface="Calibri"/>
              </a:defRPr>
            </a:pPr>
            <a:r>
              <a:rPr sz="1800" b="1">
                <a:solidFill>
                  <a:srgbClr val="666666"/>
                </a:solidFill>
                <a:latin typeface="Calibri"/>
              </a:rPr>
              <a:t>MOTOR</a:t>
            </a:r>
          </a:p>
        </p:txBody>
      </p:sp>
      <p:sp>
        <p:nvSpPr>
          <p:cNvPr id="9" name="Rounded Rectangle 8"/>
          <p:cNvSpPr/>
          <p:nvPr/>
        </p:nvSpPr>
        <p:spPr>
          <a:xfrm>
            <a:off x="502920" y="1828800"/>
            <a:ext cx="3017520" cy="576072"/>
          </a:xfrm>
          <a:prstGeom prst="roundRect">
            <a:avLst>
              <a:gd name="adj" fmla="val 12000"/>
            </a:avLst>
          </a:prstGeom>
          <a:solidFill>
            <a:srgbClr val="D6ECEE"/>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ledcWrite  -&gt;  GPIO 12 / 13</a:t>
            </a:r>
          </a:p>
        </p:txBody>
      </p:sp>
      <p:cxnSp>
        <p:nvCxnSpPr>
          <p:cNvPr id="10" name="Connector 9"/>
          <p:cNvCxnSpPr/>
          <p:nvPr/>
        </p:nvCxnSpPr>
        <p:spPr>
          <a:xfrm>
            <a:off x="3611880" y="2116836"/>
            <a:ext cx="640080" cy="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43400" y="1828800"/>
            <a:ext cx="2834640" cy="576072"/>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DRV8871</a:t>
            </a:r>
          </a:p>
        </p:txBody>
      </p:sp>
      <p:cxnSp>
        <p:nvCxnSpPr>
          <p:cNvPr id="12" name="Connector 11"/>
          <p:cNvCxnSpPr/>
          <p:nvPr/>
        </p:nvCxnSpPr>
        <p:spPr>
          <a:xfrm>
            <a:off x="7269480" y="2116836"/>
            <a:ext cx="640079" cy="0"/>
          </a:xfrm>
          <a:prstGeom prst="line">
            <a:avLst/>
          </a:prstGeom>
          <a:ln w="22225">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000999" y="1828800"/>
            <a:ext cx="3685032" cy="576072"/>
          </a:xfrm>
          <a:prstGeom prst="roundRect">
            <a:avLst>
              <a:gd name="adj" fmla="val 12000"/>
            </a:avLst>
          </a:prstGeom>
          <a:solidFill>
            <a:srgbClr val="E8ECF0"/>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Front left wheel</a:t>
            </a:r>
          </a:p>
        </p:txBody>
      </p:sp>
      <p:sp>
        <p:nvSpPr>
          <p:cNvPr id="14" name="Rounded Rectangle 13"/>
          <p:cNvSpPr/>
          <p:nvPr/>
        </p:nvSpPr>
        <p:spPr>
          <a:xfrm>
            <a:off x="502920" y="2628900"/>
            <a:ext cx="3017520" cy="576072"/>
          </a:xfrm>
          <a:prstGeom prst="roundRect">
            <a:avLst>
              <a:gd name="adj" fmla="val 12000"/>
            </a:avLst>
          </a:prstGeom>
          <a:solidFill>
            <a:srgbClr val="D6ECEE"/>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ledcWrite  -&gt;  GPIO 18 / 19</a:t>
            </a:r>
          </a:p>
        </p:txBody>
      </p:sp>
      <p:cxnSp>
        <p:nvCxnSpPr>
          <p:cNvPr id="15" name="Connector 14"/>
          <p:cNvCxnSpPr/>
          <p:nvPr/>
        </p:nvCxnSpPr>
        <p:spPr>
          <a:xfrm>
            <a:off x="3611880" y="2916936"/>
            <a:ext cx="640080" cy="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343400" y="2628900"/>
            <a:ext cx="2834640" cy="576072"/>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DRV8871</a:t>
            </a:r>
          </a:p>
        </p:txBody>
      </p:sp>
      <p:cxnSp>
        <p:nvCxnSpPr>
          <p:cNvPr id="17" name="Connector 16"/>
          <p:cNvCxnSpPr/>
          <p:nvPr/>
        </p:nvCxnSpPr>
        <p:spPr>
          <a:xfrm>
            <a:off x="7269480" y="2916936"/>
            <a:ext cx="640079" cy="0"/>
          </a:xfrm>
          <a:prstGeom prst="line">
            <a:avLst/>
          </a:prstGeom>
          <a:ln w="22225">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00999" y="2628900"/>
            <a:ext cx="3685032" cy="576072"/>
          </a:xfrm>
          <a:prstGeom prst="roundRect">
            <a:avLst>
              <a:gd name="adj" fmla="val 12000"/>
            </a:avLst>
          </a:prstGeom>
          <a:solidFill>
            <a:srgbClr val="E8ECF0"/>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Rear left wheel</a:t>
            </a:r>
          </a:p>
        </p:txBody>
      </p:sp>
      <p:sp>
        <p:nvSpPr>
          <p:cNvPr id="19" name="Rounded Rectangle 18"/>
          <p:cNvSpPr/>
          <p:nvPr/>
        </p:nvSpPr>
        <p:spPr>
          <a:xfrm>
            <a:off x="502920" y="3429000"/>
            <a:ext cx="3017520" cy="576072"/>
          </a:xfrm>
          <a:prstGeom prst="roundRect">
            <a:avLst>
              <a:gd name="adj" fmla="val 12000"/>
            </a:avLst>
          </a:prstGeom>
          <a:solidFill>
            <a:srgbClr val="D6ECEE"/>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ledcWrite  -&gt;  GPIO 22 / 23</a:t>
            </a:r>
          </a:p>
        </p:txBody>
      </p:sp>
      <p:cxnSp>
        <p:nvCxnSpPr>
          <p:cNvPr id="20" name="Connector 19"/>
          <p:cNvCxnSpPr/>
          <p:nvPr/>
        </p:nvCxnSpPr>
        <p:spPr>
          <a:xfrm>
            <a:off x="3611880" y="3717036"/>
            <a:ext cx="640080" cy="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343400" y="3429000"/>
            <a:ext cx="2834640" cy="576072"/>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DRV8871</a:t>
            </a:r>
          </a:p>
        </p:txBody>
      </p:sp>
      <p:cxnSp>
        <p:nvCxnSpPr>
          <p:cNvPr id="22" name="Connector 21"/>
          <p:cNvCxnSpPr/>
          <p:nvPr/>
        </p:nvCxnSpPr>
        <p:spPr>
          <a:xfrm>
            <a:off x="7269480" y="3717036"/>
            <a:ext cx="640079" cy="0"/>
          </a:xfrm>
          <a:prstGeom prst="line">
            <a:avLst/>
          </a:prstGeom>
          <a:ln w="22225">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000999" y="3429000"/>
            <a:ext cx="3685032" cy="576072"/>
          </a:xfrm>
          <a:prstGeom prst="roundRect">
            <a:avLst>
              <a:gd name="adj" fmla="val 12000"/>
            </a:avLst>
          </a:prstGeom>
          <a:solidFill>
            <a:srgbClr val="E8ECF0"/>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Front right wheel</a:t>
            </a:r>
          </a:p>
        </p:txBody>
      </p:sp>
      <p:sp>
        <p:nvSpPr>
          <p:cNvPr id="24" name="Rounded Rectangle 23"/>
          <p:cNvSpPr/>
          <p:nvPr/>
        </p:nvSpPr>
        <p:spPr>
          <a:xfrm>
            <a:off x="502920" y="4229100"/>
            <a:ext cx="3017520" cy="576072"/>
          </a:xfrm>
          <a:prstGeom prst="roundRect">
            <a:avLst>
              <a:gd name="adj" fmla="val 12000"/>
            </a:avLst>
          </a:prstGeom>
          <a:solidFill>
            <a:srgbClr val="D6ECEE"/>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ledcWrite  -&gt;  GPIO 16 / 17</a:t>
            </a:r>
          </a:p>
        </p:txBody>
      </p:sp>
      <p:cxnSp>
        <p:nvCxnSpPr>
          <p:cNvPr id="25" name="Connector 24"/>
          <p:cNvCxnSpPr/>
          <p:nvPr/>
        </p:nvCxnSpPr>
        <p:spPr>
          <a:xfrm>
            <a:off x="3611880" y="4517136"/>
            <a:ext cx="640080" cy="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343400" y="4229100"/>
            <a:ext cx="2834640" cy="576072"/>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DRV8871</a:t>
            </a:r>
          </a:p>
        </p:txBody>
      </p:sp>
      <p:cxnSp>
        <p:nvCxnSpPr>
          <p:cNvPr id="27" name="Connector 26"/>
          <p:cNvCxnSpPr/>
          <p:nvPr/>
        </p:nvCxnSpPr>
        <p:spPr>
          <a:xfrm>
            <a:off x="7269480" y="4517136"/>
            <a:ext cx="640079" cy="0"/>
          </a:xfrm>
          <a:prstGeom prst="line">
            <a:avLst/>
          </a:prstGeom>
          <a:ln w="22225">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000999" y="4229100"/>
            <a:ext cx="3685032" cy="576072"/>
          </a:xfrm>
          <a:prstGeom prst="roundRect">
            <a:avLst>
              <a:gd name="adj" fmla="val 12000"/>
            </a:avLst>
          </a:prstGeom>
          <a:solidFill>
            <a:srgbClr val="E8ECF0"/>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Rear right wheel</a:t>
            </a:r>
          </a:p>
        </p:txBody>
      </p:sp>
      <p:sp>
        <p:nvSpPr>
          <p:cNvPr id="29" name="Rounded Rectangle 28"/>
          <p:cNvSpPr/>
          <p:nvPr/>
        </p:nvSpPr>
        <p:spPr>
          <a:xfrm>
            <a:off x="502920" y="5198364"/>
            <a:ext cx="11185855" cy="1065276"/>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TWO pins per motor, and the driver is what makes it possible. An ESP32 pin gives you 3.3 volts and about 20 milliamps; a motor wants battery voltage and amps. The DRV8871 takes the small signal and switches the big 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Two kinds of control, and the axes they move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sp>
        <p:nvSpPr>
          <p:cNvPr id="6" name="TextBox 5"/>
          <p:cNvSpPr txBox="1"/>
          <p:nvPr/>
        </p:nvSpPr>
        <p:spPr>
          <a:xfrm>
            <a:off x="502920" y="1188720"/>
            <a:ext cx="4781528"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Digital: pressed or not</a:t>
            </a:r>
          </a:p>
        </p:txBody>
      </p:sp>
      <p:sp>
        <p:nvSpPr>
          <p:cNvPr id="7" name="TextBox 6"/>
          <p:cNvSpPr txBox="1"/>
          <p:nvPr/>
        </p:nvSpPr>
        <p:spPr>
          <a:xfrm>
            <a:off x="502920" y="1700784"/>
            <a:ext cx="4781528"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A digital reading is true or false, with nothing in between.</a:t>
            </a:r>
          </a:p>
          <a:p>
            <a:pPr algn="l">
              <a:lnSpc>
                <a:spcPct val="100000"/>
              </a:lnSpc>
              <a:spcAft>
                <a:spcPts val="800"/>
              </a:spcAft>
              <a:defRPr sz="1900" b="0">
                <a:solidFill>
                  <a:srgbClr val="222222"/>
                </a:solidFill>
                <a:latin typeface="Calibri"/>
              </a:defRPr>
            </a:pPr>
            <a:r>
              <a:rPr sz="1900" b="0">
                <a:solidFill>
                  <a:srgbClr val="222222"/>
                </a:solidFill>
                <a:latin typeface="Calibri"/>
              </a:rPr>
              <a:t>The D-pad, Select, Start and the PS button, and clicking either stick in.</a:t>
            </a:r>
          </a:p>
          <a:p>
            <a:pPr algn="l">
              <a:lnSpc>
                <a:spcPct val="100000"/>
              </a:lnSpc>
              <a:spcAft>
                <a:spcPts val="800"/>
              </a:spcAft>
              <a:defRPr sz="1900" b="0">
                <a:solidFill>
                  <a:srgbClr val="222222"/>
                </a:solidFill>
                <a:latin typeface="Calibri"/>
              </a:defRPr>
            </a:pPr>
            <a:r>
              <a:rPr sz="1900" b="0">
                <a:solidFill>
                  <a:srgbClr val="222222"/>
                </a:solidFill>
                <a:latin typeface="Calibri"/>
              </a:rPr>
              <a:t>Good for: on/off, mode changes, one-shot actions.</a:t>
            </a:r>
          </a:p>
          <a:p>
            <a:pPr algn="l">
              <a:lnSpc>
                <a:spcPct val="100000"/>
              </a:lnSpc>
              <a:spcAft>
                <a:spcPts val="800"/>
              </a:spcAft>
              <a:defRPr sz="1900" b="0">
                <a:solidFill>
                  <a:srgbClr val="222222"/>
                </a:solidFill>
                <a:latin typeface="Calibri"/>
              </a:defRPr>
            </a:pPr>
            <a:r>
              <a:rPr sz="1900" b="0">
                <a:solidFill>
                  <a:srgbClr val="222222"/>
                </a:solidFill>
                <a:latin typeface="Calibri"/>
              </a:rPr>
              <a:t>On this track:</a:t>
            </a:r>
          </a:p>
          <a:p>
            <a:pPr lvl="1" algn="l">
              <a:lnSpc>
                <a:spcPct val="100000"/>
              </a:lnSpc>
              <a:spcAft>
                <a:spcPts val="800"/>
              </a:spcAft>
              <a:defRPr sz="1900" b="0">
                <a:solidFill>
                  <a:srgbClr val="222222"/>
                </a:solidFill>
                <a:latin typeface="Calibri"/>
              </a:defRPr>
            </a:pPr>
            <a:r>
              <a:rPr sz="1900" b="0">
                <a:solidFill>
                  <a:srgbClr val="222222"/>
                </a:solidFill>
                <a:latin typeface="Calibri"/>
              </a:rPr>
              <a:t>myController-&gt;x()</a:t>
            </a:r>
          </a:p>
        </p:txBody>
      </p:sp>
      <p:sp>
        <p:nvSpPr>
          <p:cNvPr id="8" name="TextBox 7"/>
          <p:cNvSpPr txBox="1"/>
          <p:nvPr/>
        </p:nvSpPr>
        <p:spPr>
          <a:xfrm>
            <a:off x="5741648" y="1188720"/>
            <a:ext cx="5947127"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Analog: how far</a:t>
            </a:r>
          </a:p>
        </p:txBody>
      </p:sp>
      <p:sp>
        <p:nvSpPr>
          <p:cNvPr id="9" name="TextBox 8"/>
          <p:cNvSpPr txBox="1"/>
          <p:nvPr/>
        </p:nvSpPr>
        <p:spPr>
          <a:xfrm>
            <a:off x="5741648" y="1700784"/>
            <a:ext cx="5947127"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An analog reading says HOW FAR, not just whether.</a:t>
            </a:r>
          </a:p>
          <a:p>
            <a:pPr algn="l">
              <a:lnSpc>
                <a:spcPct val="100000"/>
              </a:lnSpc>
              <a:spcAft>
                <a:spcPts val="800"/>
              </a:spcAft>
              <a:defRPr sz="1900" b="0">
                <a:solidFill>
                  <a:srgbClr val="222222"/>
                </a:solidFill>
                <a:latin typeface="Calibri"/>
              </a:defRPr>
            </a:pPr>
            <a:r>
              <a:rPr sz="1900" b="0">
                <a:solidFill>
                  <a:srgbClr val="222222"/>
                </a:solidFill>
                <a:latin typeface="Calibri"/>
              </a:rPr>
              <a:t>Both thumbsticks, on two axes each, reading -512 to +511.</a:t>
            </a:r>
          </a:p>
          <a:p>
            <a:pPr algn="l">
              <a:lnSpc>
                <a:spcPct val="100000"/>
              </a:lnSpc>
              <a:spcAft>
                <a:spcPts val="800"/>
              </a:spcAft>
              <a:defRPr sz="1900" b="0">
                <a:solidFill>
                  <a:srgbClr val="222222"/>
                </a:solidFill>
                <a:latin typeface="Calibri"/>
              </a:defRPr>
            </a:pPr>
            <a:r>
              <a:rPr sz="1900" b="0">
                <a:solidFill>
                  <a:srgbClr val="222222"/>
                </a:solidFill>
                <a:latin typeface="Calibri"/>
              </a:rPr>
              <a:t>The TRIGGERS are analog too. Bluepad32 reports them as brake() and throttle(), not as buttons.</a:t>
            </a:r>
          </a:p>
          <a:p>
            <a:pPr algn="l">
              <a:lnSpc>
                <a:spcPct val="100000"/>
              </a:lnSpc>
              <a:spcAft>
                <a:spcPts val="800"/>
              </a:spcAft>
              <a:defRPr sz="1900" b="0">
                <a:solidFill>
                  <a:srgbClr val="222222"/>
                </a:solidFill>
                <a:latin typeface="Calibri"/>
              </a:defRPr>
            </a:pPr>
            <a:r>
              <a:rPr sz="1900" b="0">
                <a:solidFill>
                  <a:srgbClr val="222222"/>
                </a:solidFill>
                <a:latin typeface="Calibri"/>
              </a:rPr>
              <a:t>Good for: speed, steering, aiming a servo.</a:t>
            </a:r>
          </a:p>
          <a:p>
            <a:pPr lvl="1" algn="l">
              <a:lnSpc>
                <a:spcPct val="100000"/>
              </a:lnSpc>
              <a:spcAft>
                <a:spcPts val="800"/>
              </a:spcAft>
              <a:defRPr sz="1900" b="0">
                <a:solidFill>
                  <a:srgbClr val="222222"/>
                </a:solidFill>
                <a:latin typeface="Calibri"/>
              </a:defRPr>
            </a:pPr>
            <a:r>
              <a:rPr sz="1900" b="0">
                <a:solidFill>
                  <a:srgbClr val="222222"/>
                </a:solidFill>
                <a:latin typeface="Calibri"/>
              </a:rPr>
              <a:t>myController-&gt;axisX()     // left/right</a:t>
            </a:r>
          </a:p>
          <a:p>
            <a:pPr lvl="1" algn="l">
              <a:lnSpc>
                <a:spcPct val="100000"/>
              </a:lnSpc>
              <a:spcAft>
                <a:spcPts val="800"/>
              </a:spcAft>
              <a:defRPr sz="1900" b="0">
                <a:solidFill>
                  <a:srgbClr val="222222"/>
                </a:solidFill>
                <a:latin typeface="Calibri"/>
              </a:defRPr>
            </a:pPr>
            <a:r>
              <a:rPr sz="1900" b="0">
                <a:solidFill>
                  <a:srgbClr val="222222"/>
                </a:solidFill>
                <a:latin typeface="Calibri"/>
              </a:rPr>
              <a:t>myController-&gt;axisY()     // up/down</a:t>
            </a:r>
          </a:p>
        </p:txBody>
      </p:sp>
      <p:sp>
        <p:nvSpPr>
          <p:cNvPr id="10" name="Rounded Rectangle 9"/>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Push a stick UP and the number goes NEGATIVE. That catches everybody. It is why the driving code has a minus sign in front of the Y reading.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Six degrees of freedom</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sp>
        <p:nvSpPr>
          <p:cNvPr id="6" name="TextBox 5"/>
          <p:cNvSpPr txBox="1"/>
          <p:nvPr/>
        </p:nvSpPr>
        <p:spPr>
          <a:xfrm>
            <a:off x="502920" y="1188720"/>
            <a:ext cx="5364327" cy="3986784"/>
          </a:xfrm>
          <a:prstGeom prst="rect">
            <a:avLst/>
          </a:prstGeom>
          <a:noFill/>
        </p:spPr>
        <p:txBody>
          <a:bodyPr wrap="square" lIns="0" tIns="0" rIns="0" bIns="0">
            <a:spAutoFit/>
          </a:bodyPr>
          <a:lstStyle/>
          <a:p>
            <a:pPr algn="l">
              <a:lnSpc>
                <a:spcPct val="100000"/>
              </a:lnSpc>
              <a:spcAft>
                <a:spcPts val="900"/>
              </a:spcAft>
              <a:defRPr sz="2000" b="0">
                <a:solidFill>
                  <a:srgbClr val="222222"/>
                </a:solidFill>
                <a:latin typeface="Calibri"/>
              </a:defRPr>
            </a:pPr>
            <a:r>
              <a:rPr sz="2000" b="0">
                <a:solidFill>
                  <a:srgbClr val="222222"/>
                </a:solidFill>
                <a:latin typeface="Calibri"/>
              </a:rPr>
              <a:t>Any rigid object in space can move in six independent ways. Three are translations - sliding along an axis - and three are rotations.</a:t>
            </a:r>
          </a:p>
          <a:p>
            <a:pPr algn="l">
              <a:lnSpc>
                <a:spcPct val="100000"/>
              </a:lnSpc>
              <a:spcAft>
                <a:spcPts val="900"/>
              </a:spcAft>
              <a:defRPr sz="1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TRANSLATION</a:t>
            </a:r>
          </a:p>
          <a:p>
            <a:pPr lvl="1" algn="l">
              <a:lnSpc>
                <a:spcPct val="100000"/>
              </a:lnSpc>
              <a:spcAft>
                <a:spcPts val="900"/>
              </a:spcAft>
              <a:defRPr sz="2000" b="0">
                <a:solidFill>
                  <a:srgbClr val="222222"/>
                </a:solidFill>
                <a:latin typeface="Calibri"/>
              </a:defRPr>
            </a:pPr>
            <a:r>
              <a:rPr sz="2000" b="0">
                <a:solidFill>
                  <a:srgbClr val="222222"/>
                </a:solidFill>
                <a:latin typeface="Calibri"/>
              </a:rPr>
              <a:t>Forward and back  -  surge</a:t>
            </a:r>
          </a:p>
          <a:p>
            <a:pPr lvl="1" algn="l">
              <a:lnSpc>
                <a:spcPct val="100000"/>
              </a:lnSpc>
              <a:spcAft>
                <a:spcPts val="900"/>
              </a:spcAft>
              <a:defRPr sz="2000" b="0">
                <a:solidFill>
                  <a:srgbClr val="222222"/>
                </a:solidFill>
                <a:latin typeface="Calibri"/>
              </a:defRPr>
            </a:pPr>
            <a:r>
              <a:rPr sz="2000" b="0">
                <a:solidFill>
                  <a:srgbClr val="222222"/>
                </a:solidFill>
                <a:latin typeface="Calibri"/>
              </a:rPr>
              <a:t>Side to side  -  sway</a:t>
            </a:r>
          </a:p>
          <a:p>
            <a:pPr lvl="1" algn="l">
              <a:lnSpc>
                <a:spcPct val="100000"/>
              </a:lnSpc>
              <a:spcAft>
                <a:spcPts val="900"/>
              </a:spcAft>
              <a:defRPr sz="2000" b="0">
                <a:solidFill>
                  <a:srgbClr val="222222"/>
                </a:solidFill>
                <a:latin typeface="Calibri"/>
              </a:defRPr>
            </a:pPr>
            <a:r>
              <a:rPr sz="2000" b="0">
                <a:solidFill>
                  <a:srgbClr val="222222"/>
                </a:solidFill>
                <a:latin typeface="Calibri"/>
              </a:rPr>
              <a:t>Up and down  -  heave</a:t>
            </a:r>
          </a:p>
        </p:txBody>
      </p:sp>
      <p:sp>
        <p:nvSpPr>
          <p:cNvPr id="7" name="TextBox 6"/>
          <p:cNvSpPr txBox="1"/>
          <p:nvPr/>
        </p:nvSpPr>
        <p:spPr>
          <a:xfrm>
            <a:off x="6324447" y="1188720"/>
            <a:ext cx="5364327" cy="3986784"/>
          </a:xfrm>
          <a:prstGeom prst="rect">
            <a:avLst/>
          </a:prstGeom>
          <a:noFill/>
        </p:spPr>
        <p:txBody>
          <a:bodyPr wrap="square" lIns="0" tIns="0" rIns="0" bIns="0">
            <a:spAutoFit/>
          </a:bodyPr>
          <a:lstStyle/>
          <a:p>
            <a:pPr algn="l">
              <a:lnSpc>
                <a:spcPct val="100000"/>
              </a:lnSpc>
              <a:spcAft>
                <a:spcPts val="900"/>
              </a:spcAft>
              <a:defRPr sz="1900" b="0">
                <a:solidFill>
                  <a:srgbClr val="222222"/>
                </a:solidFill>
                <a:latin typeface="Calibri"/>
              </a:defRPr>
            </a:pPr>
            <a:r>
              <a:rPr sz="1900" b="0">
                <a:solidFill>
                  <a:srgbClr val="222222"/>
                </a:solidFill>
                <a:latin typeface="Calibri"/>
              </a:rPr>
              <a:t>ROTATION</a:t>
            </a:r>
          </a:p>
          <a:p>
            <a:pPr lvl="1" algn="l">
              <a:lnSpc>
                <a:spcPct val="100000"/>
              </a:lnSpc>
              <a:spcAft>
                <a:spcPts val="900"/>
              </a:spcAft>
              <a:defRPr sz="1900" b="0">
                <a:solidFill>
                  <a:srgbClr val="222222"/>
                </a:solidFill>
                <a:latin typeface="Calibri"/>
              </a:defRPr>
            </a:pPr>
            <a:r>
              <a:rPr sz="1900" b="0">
                <a:solidFill>
                  <a:srgbClr val="222222"/>
                </a:solidFill>
                <a:latin typeface="Calibri"/>
              </a:rPr>
              <a:t>Roll  -  tipping left or right about the fore-aft axis</a:t>
            </a:r>
          </a:p>
          <a:p>
            <a:pPr lvl="1" algn="l">
              <a:lnSpc>
                <a:spcPct val="100000"/>
              </a:lnSpc>
              <a:spcAft>
                <a:spcPts val="900"/>
              </a:spcAft>
              <a:defRPr sz="1900" b="0">
                <a:solidFill>
                  <a:srgbClr val="222222"/>
                </a:solidFill>
                <a:latin typeface="Calibri"/>
              </a:defRPr>
            </a:pPr>
            <a:r>
              <a:rPr sz="1900" b="0">
                <a:solidFill>
                  <a:srgbClr val="222222"/>
                </a:solidFill>
                <a:latin typeface="Calibri"/>
              </a:rPr>
              <a:t>Pitch  -  nose up or nose down</a:t>
            </a:r>
          </a:p>
          <a:p>
            <a:pPr lvl="1" algn="l">
              <a:lnSpc>
                <a:spcPct val="100000"/>
              </a:lnSpc>
              <a:spcAft>
                <a:spcPts val="900"/>
              </a:spcAft>
              <a:defRPr sz="1900" b="0">
                <a:solidFill>
                  <a:srgbClr val="222222"/>
                </a:solidFill>
                <a:latin typeface="Calibri"/>
              </a:defRPr>
            </a:pPr>
            <a:r>
              <a:rPr sz="1900" b="0">
                <a:solidFill>
                  <a:srgbClr val="222222"/>
                </a:solidFill>
                <a:latin typeface="Calibri"/>
              </a:rPr>
              <a:t>Yaw  -  turning left or right, which is your steering</a:t>
            </a:r>
          </a:p>
          <a:p>
            <a:pPr algn="l">
              <a:lnSpc>
                <a:spcPct val="100000"/>
              </a:lnSpc>
              <a:spcAft>
                <a:spcPts val="900"/>
              </a:spcAft>
              <a:defRPr sz="950" b="0">
                <a:solidFill>
                  <a:srgbClr val="222222"/>
                </a:solidFill>
                <a:latin typeface="Calibri"/>
              </a:defRPr>
            </a:pPr>
          </a:p>
          <a:p>
            <a:pPr algn="l">
              <a:lnSpc>
                <a:spcPct val="100000"/>
              </a:lnSpc>
              <a:spcAft>
                <a:spcPts val="900"/>
              </a:spcAft>
              <a:defRPr sz="1900" b="0">
                <a:solidFill>
                  <a:srgbClr val="222222"/>
                </a:solidFill>
                <a:latin typeface="Calibri"/>
              </a:defRPr>
            </a:pPr>
            <a:r>
              <a:rPr sz="1900" b="0">
                <a:solidFill>
                  <a:srgbClr val="222222"/>
                </a:solidFill>
                <a:latin typeface="Calibri"/>
              </a:rPr>
              <a:t>A ground vehicle on a flat floor really only controls surge and yaw. A submersible or an aircraft controls all six, which is why they need far more from the operator.</a:t>
            </a:r>
          </a:p>
        </p:txBody>
      </p:sp>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The PS3 controller was originally called the Sixaxis because it could sense all six. Spelled backwards, Sixaxis is still Sixaxis.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Six degrees of freedom, and the two your rover has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sp>
        <p:nvSpPr>
          <p:cNvPr id="6" name="TextBox 5"/>
          <p:cNvSpPr txBox="1"/>
          <p:nvPr/>
        </p:nvSpPr>
        <p:spPr>
          <a:xfrm>
            <a:off x="502920" y="1463040"/>
            <a:ext cx="5394960" cy="367792"/>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alibri"/>
              </a:defRPr>
            </a:pPr>
            <a:r>
              <a:rPr sz="1800" b="1">
                <a:solidFill>
                  <a:srgbClr val="0E7C86"/>
                </a:solidFill>
                <a:latin typeface="Calibri"/>
              </a:rPr>
              <a:t>TRANSLATION  -  sliding along an axis</a:t>
            </a:r>
          </a:p>
        </p:txBody>
      </p:sp>
      <p:sp>
        <p:nvSpPr>
          <p:cNvPr id="7" name="TextBox 6"/>
          <p:cNvSpPr txBox="1"/>
          <p:nvPr/>
        </p:nvSpPr>
        <p:spPr>
          <a:xfrm>
            <a:off x="6400800" y="1463040"/>
            <a:ext cx="5394960" cy="367792"/>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alibri"/>
              </a:defRPr>
            </a:pPr>
            <a:r>
              <a:rPr sz="1800" b="1">
                <a:solidFill>
                  <a:srgbClr val="0E7C86"/>
                </a:solidFill>
                <a:latin typeface="Calibri"/>
              </a:rPr>
              <a:t>ROTATION  -  turning about an axis</a:t>
            </a:r>
          </a:p>
        </p:txBody>
      </p:sp>
      <p:sp>
        <p:nvSpPr>
          <p:cNvPr id="8" name="Rounded Rectangle 7"/>
          <p:cNvSpPr/>
          <p:nvPr/>
        </p:nvSpPr>
        <p:spPr>
          <a:xfrm>
            <a:off x="502920" y="1883664"/>
            <a:ext cx="1417320" cy="713232"/>
          </a:xfrm>
          <a:prstGeom prst="roundRect">
            <a:avLst>
              <a:gd name="adj" fmla="val 12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SURGE</a:t>
            </a:r>
          </a:p>
        </p:txBody>
      </p:sp>
      <p:sp>
        <p:nvSpPr>
          <p:cNvPr id="9" name="TextBox 8"/>
          <p:cNvSpPr txBox="1"/>
          <p:nvPr/>
        </p:nvSpPr>
        <p:spPr>
          <a:xfrm>
            <a:off x="2057400" y="1920240"/>
            <a:ext cx="2331720" cy="329184"/>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forward and back</a:t>
            </a:r>
          </a:p>
        </p:txBody>
      </p:sp>
      <p:sp>
        <p:nvSpPr>
          <p:cNvPr id="10" name="TextBox 9"/>
          <p:cNvSpPr txBox="1"/>
          <p:nvPr/>
        </p:nvSpPr>
        <p:spPr>
          <a:xfrm>
            <a:off x="4480559" y="1975104"/>
            <a:ext cx="1371600"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X axis</a:t>
            </a:r>
          </a:p>
        </p:txBody>
      </p:sp>
      <p:sp>
        <p:nvSpPr>
          <p:cNvPr id="11" name="TextBox 10"/>
          <p:cNvSpPr txBox="1"/>
          <p:nvPr/>
        </p:nvSpPr>
        <p:spPr>
          <a:xfrm>
            <a:off x="2057400" y="2267712"/>
            <a:ext cx="3749039" cy="310896"/>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alibri"/>
              </a:defRPr>
            </a:pPr>
            <a:r>
              <a:rPr sz="1800" b="1">
                <a:solidFill>
                  <a:srgbClr val="0E7C86"/>
                </a:solidFill>
                <a:latin typeface="Calibri"/>
              </a:rPr>
              <a:t>your rover controls this one</a:t>
            </a:r>
          </a:p>
        </p:txBody>
      </p:sp>
      <p:sp>
        <p:nvSpPr>
          <p:cNvPr id="12" name="Rounded Rectangle 11"/>
          <p:cNvSpPr/>
          <p:nvPr/>
        </p:nvSpPr>
        <p:spPr>
          <a:xfrm>
            <a:off x="502920" y="2724912"/>
            <a:ext cx="1417320" cy="713232"/>
          </a:xfrm>
          <a:prstGeom prst="roundRect">
            <a:avLst>
              <a:gd name="adj" fmla="val 12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SWAY</a:t>
            </a:r>
          </a:p>
        </p:txBody>
      </p:sp>
      <p:sp>
        <p:nvSpPr>
          <p:cNvPr id="13" name="TextBox 12"/>
          <p:cNvSpPr txBox="1"/>
          <p:nvPr/>
        </p:nvSpPr>
        <p:spPr>
          <a:xfrm>
            <a:off x="2057400" y="2761488"/>
            <a:ext cx="2331720" cy="329184"/>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left and right</a:t>
            </a:r>
          </a:p>
        </p:txBody>
      </p:sp>
      <p:sp>
        <p:nvSpPr>
          <p:cNvPr id="14" name="TextBox 13"/>
          <p:cNvSpPr txBox="1"/>
          <p:nvPr/>
        </p:nvSpPr>
        <p:spPr>
          <a:xfrm>
            <a:off x="4480559" y="2816352"/>
            <a:ext cx="1371600"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Y axis</a:t>
            </a:r>
          </a:p>
        </p:txBody>
      </p:sp>
      <p:sp>
        <p:nvSpPr>
          <p:cNvPr id="15" name="Rounded Rectangle 14"/>
          <p:cNvSpPr/>
          <p:nvPr/>
        </p:nvSpPr>
        <p:spPr>
          <a:xfrm>
            <a:off x="502920" y="3566160"/>
            <a:ext cx="1417320" cy="713232"/>
          </a:xfrm>
          <a:prstGeom prst="roundRect">
            <a:avLst>
              <a:gd name="adj" fmla="val 12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HEAVE</a:t>
            </a:r>
          </a:p>
        </p:txBody>
      </p:sp>
      <p:sp>
        <p:nvSpPr>
          <p:cNvPr id="16" name="TextBox 15"/>
          <p:cNvSpPr txBox="1"/>
          <p:nvPr/>
        </p:nvSpPr>
        <p:spPr>
          <a:xfrm>
            <a:off x="2057400" y="3602736"/>
            <a:ext cx="2331720" cy="329184"/>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up and down</a:t>
            </a:r>
          </a:p>
        </p:txBody>
      </p:sp>
      <p:sp>
        <p:nvSpPr>
          <p:cNvPr id="17" name="TextBox 16"/>
          <p:cNvSpPr txBox="1"/>
          <p:nvPr/>
        </p:nvSpPr>
        <p:spPr>
          <a:xfrm>
            <a:off x="4480559" y="3657600"/>
            <a:ext cx="1371600"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Z axis</a:t>
            </a:r>
          </a:p>
        </p:txBody>
      </p:sp>
      <p:sp>
        <p:nvSpPr>
          <p:cNvPr id="18" name="Rounded Rectangle 17"/>
          <p:cNvSpPr/>
          <p:nvPr/>
        </p:nvSpPr>
        <p:spPr>
          <a:xfrm>
            <a:off x="6400800" y="1883664"/>
            <a:ext cx="1417320" cy="713232"/>
          </a:xfrm>
          <a:prstGeom prst="roundRect">
            <a:avLst>
              <a:gd name="adj" fmla="val 12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ROLL</a:t>
            </a:r>
          </a:p>
        </p:txBody>
      </p:sp>
      <p:sp>
        <p:nvSpPr>
          <p:cNvPr id="19" name="TextBox 18"/>
          <p:cNvSpPr txBox="1"/>
          <p:nvPr/>
        </p:nvSpPr>
        <p:spPr>
          <a:xfrm>
            <a:off x="7955280" y="1920240"/>
            <a:ext cx="2331720" cy="329184"/>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tipping left or right</a:t>
            </a:r>
          </a:p>
        </p:txBody>
      </p:sp>
      <p:sp>
        <p:nvSpPr>
          <p:cNvPr id="20" name="TextBox 19"/>
          <p:cNvSpPr txBox="1"/>
          <p:nvPr/>
        </p:nvSpPr>
        <p:spPr>
          <a:xfrm>
            <a:off x="10378439" y="1975104"/>
            <a:ext cx="1371600"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about X</a:t>
            </a:r>
          </a:p>
        </p:txBody>
      </p:sp>
      <p:sp>
        <p:nvSpPr>
          <p:cNvPr id="21" name="Rounded Rectangle 20"/>
          <p:cNvSpPr/>
          <p:nvPr/>
        </p:nvSpPr>
        <p:spPr>
          <a:xfrm>
            <a:off x="6400800" y="2724912"/>
            <a:ext cx="1417320" cy="713232"/>
          </a:xfrm>
          <a:prstGeom prst="roundRect">
            <a:avLst>
              <a:gd name="adj" fmla="val 12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PITCH</a:t>
            </a:r>
          </a:p>
        </p:txBody>
      </p:sp>
      <p:sp>
        <p:nvSpPr>
          <p:cNvPr id="22" name="TextBox 21"/>
          <p:cNvSpPr txBox="1"/>
          <p:nvPr/>
        </p:nvSpPr>
        <p:spPr>
          <a:xfrm>
            <a:off x="7955280" y="2761488"/>
            <a:ext cx="2331720" cy="329184"/>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nose up or nose down</a:t>
            </a:r>
          </a:p>
        </p:txBody>
      </p:sp>
      <p:sp>
        <p:nvSpPr>
          <p:cNvPr id="23" name="TextBox 22"/>
          <p:cNvSpPr txBox="1"/>
          <p:nvPr/>
        </p:nvSpPr>
        <p:spPr>
          <a:xfrm>
            <a:off x="10378439" y="2816352"/>
            <a:ext cx="1371600"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about Y</a:t>
            </a:r>
          </a:p>
        </p:txBody>
      </p:sp>
      <p:sp>
        <p:nvSpPr>
          <p:cNvPr id="24" name="Rounded Rectangle 23"/>
          <p:cNvSpPr/>
          <p:nvPr/>
        </p:nvSpPr>
        <p:spPr>
          <a:xfrm>
            <a:off x="6400800" y="3566160"/>
            <a:ext cx="1417320" cy="713232"/>
          </a:xfrm>
          <a:prstGeom prst="roundRect">
            <a:avLst>
              <a:gd name="adj" fmla="val 12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YAW</a:t>
            </a:r>
          </a:p>
        </p:txBody>
      </p:sp>
      <p:sp>
        <p:nvSpPr>
          <p:cNvPr id="25" name="TextBox 24"/>
          <p:cNvSpPr txBox="1"/>
          <p:nvPr/>
        </p:nvSpPr>
        <p:spPr>
          <a:xfrm>
            <a:off x="7955280" y="3602736"/>
            <a:ext cx="2331720" cy="329184"/>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turning left or right</a:t>
            </a:r>
          </a:p>
        </p:txBody>
      </p:sp>
      <p:sp>
        <p:nvSpPr>
          <p:cNvPr id="26" name="TextBox 25"/>
          <p:cNvSpPr txBox="1"/>
          <p:nvPr/>
        </p:nvSpPr>
        <p:spPr>
          <a:xfrm>
            <a:off x="10378439" y="3657600"/>
            <a:ext cx="1371600"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about Z</a:t>
            </a:r>
          </a:p>
        </p:txBody>
      </p:sp>
      <p:sp>
        <p:nvSpPr>
          <p:cNvPr id="27" name="TextBox 26"/>
          <p:cNvSpPr txBox="1"/>
          <p:nvPr/>
        </p:nvSpPr>
        <p:spPr>
          <a:xfrm>
            <a:off x="7955280" y="3950208"/>
            <a:ext cx="3749039" cy="310896"/>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alibri"/>
              </a:defRPr>
            </a:pPr>
            <a:r>
              <a:rPr sz="1800" b="1">
                <a:solidFill>
                  <a:srgbClr val="0E7C86"/>
                </a:solidFill>
                <a:latin typeface="Calibri"/>
              </a:rPr>
              <a:t>your rover controls this one</a:t>
            </a:r>
          </a:p>
        </p:txBody>
      </p:sp>
      <p:sp>
        <p:nvSpPr>
          <p:cNvPr id="28" name="Rounded Rectangle 27"/>
          <p:cNvSpPr/>
          <p:nvPr/>
        </p:nvSpPr>
        <p:spPr>
          <a:xfrm>
            <a:off x="502920" y="4498848"/>
            <a:ext cx="5394960" cy="530352"/>
          </a:xfrm>
          <a:prstGeom prst="roundRect">
            <a:avLst>
              <a:gd name="adj" fmla="val 12000"/>
            </a:avLst>
          </a:prstGeom>
          <a:solidFill>
            <a:srgbClr val="EEF3F8"/>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LEFT STICK on the Switch controller  -&gt;  surge and yaw</a:t>
            </a:r>
          </a:p>
        </p:txBody>
      </p:sp>
      <p:sp>
        <p:nvSpPr>
          <p:cNvPr id="29" name="Rounded Rectangle 28"/>
          <p:cNvSpPr/>
          <p:nvPr/>
        </p:nvSpPr>
        <p:spPr>
          <a:xfrm>
            <a:off x="6400800" y="4498848"/>
            <a:ext cx="5394960" cy="530352"/>
          </a:xfrm>
          <a:prstGeom prst="roundRect">
            <a:avLst>
              <a:gd name="adj" fmla="val 12000"/>
            </a:avLst>
          </a:prstGeom>
          <a:solidFill>
            <a:srgbClr val="EEF3F8"/>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RIGHT STICK  -&gt;  the four servos</a:t>
            </a:r>
          </a:p>
        </p:txBody>
      </p:sp>
      <p:sp>
        <p:nvSpPr>
          <p:cNvPr id="30" name="Rounded Rectangle 2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A rover controls two of the six, so one stick drives it and the other is free to aim servos. A submersible controls all six, and an ROV pilot needs both sticks to fly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What the pad sends</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Bluetooth and pairing</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What the pad sends</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1" name="Rounded Rectangle 10"/>
          <p:cNvSpPr/>
          <p:nvPr/>
        </p:nvSpPr>
        <p:spPr>
          <a:xfrm>
            <a:off x="6168998"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Deadzone and map</a:t>
            </a:r>
          </a:p>
        </p:txBody>
      </p:sp>
      <p:sp>
        <p:nvSpPr>
          <p:cNvPr id="12" name="Rounded Rectangle 11"/>
          <p:cNvSpPr/>
          <p:nvPr/>
        </p:nvSpPr>
        <p:spPr>
          <a:xfrm>
            <a:off x="9002037"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Driving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what does the controller actually send?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l3a_controller_check</a:t>
            </a:r>
            <a:r>
              <a:rPr sz="1200">
                <a:solidFill>
                  <a:srgbClr val="FFFFFF"/>
                </a:solidFill>
                <a:latin typeface="Calibri"/>
              </a:rPr>
              <a:t>     (25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400"/>
              </a:spcAft>
              <a:defRPr sz="1800" b="0">
                <a:solidFill>
                  <a:srgbClr val="222222"/>
                </a:solidFill>
                <a:latin typeface="Calibri"/>
              </a:defRPr>
            </a:pPr>
            <a:r>
              <a:rPr sz="1800" b="0">
                <a:solidFill>
                  <a:srgbClr val="222222"/>
                </a:solidFill>
                <a:latin typeface="Calibri"/>
              </a:rPr>
              <a:t>1.  Upload it and open the Serial Monitor.</a:t>
            </a:r>
          </a:p>
          <a:p>
            <a:pPr algn="l">
              <a:lnSpc>
                <a:spcPct val="100000"/>
              </a:lnSpc>
              <a:spcAft>
                <a:spcPts val="400"/>
              </a:spcAft>
              <a:defRPr sz="1800" b="0">
                <a:solidFill>
                  <a:srgbClr val="222222"/>
                </a:solidFill>
                <a:latin typeface="Calibri"/>
              </a:defRPr>
            </a:pPr>
            <a:r>
              <a:rPr sz="1800" b="0">
                <a:solidFill>
                  <a:srgbClr val="222222"/>
                </a:solidFill>
                <a:latin typeface="Calibri"/>
              </a:rPr>
              <a:t>2.  Hold the SYNC button until the controller lights run.</a:t>
            </a:r>
          </a:p>
          <a:p>
            <a:pPr algn="l">
              <a:lnSpc>
                <a:spcPct val="100000"/>
              </a:lnSpc>
              <a:spcAft>
                <a:spcPts val="400"/>
              </a:spcAft>
              <a:defRPr sz="1800" b="0">
                <a:solidFill>
                  <a:srgbClr val="222222"/>
                </a:solidFill>
                <a:latin typeface="Calibri"/>
              </a:defRPr>
            </a:pPr>
            <a:r>
              <a:rPr sz="1800" b="0">
                <a:solidFill>
                  <a:srgbClr val="222222"/>
                </a:solidFill>
                <a:latin typeface="Calibri"/>
              </a:rPr>
              <a:t>3.  Press every button in turn and match it to the printed name.</a:t>
            </a:r>
          </a:p>
          <a:p>
            <a:pPr algn="l">
              <a:lnSpc>
                <a:spcPct val="100000"/>
              </a:lnSpc>
              <a:spcAft>
                <a:spcPts val="400"/>
              </a:spcAft>
              <a:defRPr sz="1800" b="0">
                <a:solidFill>
                  <a:srgbClr val="222222"/>
                </a:solidFill>
                <a:latin typeface="Calibri"/>
              </a:defRPr>
            </a:pPr>
            <a:r>
              <a:rPr sz="1800" b="0">
                <a:solidFill>
                  <a:srgbClr val="222222"/>
                </a:solidFill>
                <a:latin typeface="Calibri"/>
              </a:rPr>
              <a:t>4.  Push the left stick fully UP. Positive or negative?</a:t>
            </a:r>
          </a:p>
          <a:p>
            <a:pPr algn="l">
              <a:lnSpc>
                <a:spcPct val="100000"/>
              </a:lnSpc>
              <a:spcAft>
                <a:spcPts val="400"/>
              </a:spcAft>
              <a:defRPr sz="1800" b="0">
                <a:solidFill>
                  <a:srgbClr val="222222"/>
                </a:solidFill>
                <a:latin typeface="Calibri"/>
              </a:defRPr>
            </a:pPr>
            <a:r>
              <a:rPr sz="1800" b="0">
                <a:solidFill>
                  <a:srgbClr val="222222"/>
                </a:solidFill>
                <a:latin typeface="Calibri"/>
              </a:rPr>
              <a:t>5.  Let go of the sticks and DO NOT touch the controller. Does it print exactly 0, or does it drift?</a:t>
            </a:r>
          </a:p>
          <a:p>
            <a:pPr algn="l">
              <a:lnSpc>
                <a:spcPct val="100000"/>
              </a:lnSpc>
              <a:spcAft>
                <a:spcPts val="400"/>
              </a:spcAft>
              <a:defRPr sz="1800" b="0">
                <a:solidFill>
                  <a:srgbClr val="222222"/>
                </a:solidFill>
                <a:latin typeface="Calibri"/>
              </a:defRPr>
            </a:pPr>
            <a:r>
              <a:rPr sz="1800" b="0">
                <a:solidFill>
                  <a:srgbClr val="222222"/>
                </a:solidFill>
                <a:latin typeface="Calibri"/>
              </a:rPr>
              <a:t>6.  Push a stick diagonally. Watch x and y move together.</a:t>
            </a:r>
          </a:p>
          <a:p>
            <a:pPr algn="l">
              <a:lnSpc>
                <a:spcPct val="100000"/>
              </a:lnSpc>
              <a:spcAft>
                <a:spcPts val="400"/>
              </a:spcAft>
              <a:defRPr sz="1800" b="0">
                <a:solidFill>
                  <a:srgbClr val="222222"/>
                </a:solidFill>
                <a:latin typeface="Calibri"/>
              </a:defRPr>
            </a:pPr>
            <a:r>
              <a:rPr sz="1800" b="0">
                <a:solidFill>
                  <a:srgbClr val="222222"/>
                </a:solidFill>
                <a:latin typeface="Calibri"/>
              </a:rPr>
              <a:t>7.  Copy the MY_CONTROLLER line it prints. You need it all day.</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672143"/>
          </a:xfrm>
          <a:prstGeom prst="rect">
            <a:avLst/>
          </a:prstGeom>
          <a:noFill/>
        </p:spPr>
        <p:txBody>
          <a:bodyPr wrap="square" lIns="0" tIns="0" rIns="0" bIns="0">
            <a:spAutoFit/>
          </a:bodyPr>
          <a:lstStyle/>
          <a:p>
            <a:pPr algn="l">
              <a:lnSpc>
                <a:spcPct val="100000"/>
              </a:lnSpc>
              <a:spcAft>
                <a:spcPts val="300"/>
              </a:spcAft>
              <a:defRPr sz="2500" b="0">
                <a:solidFill>
                  <a:srgbClr val="222222"/>
                </a:solidFill>
                <a:latin typeface="Calibri"/>
              </a:defRPr>
            </a:pPr>
            <a:r>
              <a:rPr sz="2500" b="0">
                <a:solidFill>
                  <a:srgbClr val="222222"/>
                </a:solidFill>
                <a:latin typeface="Calibri"/>
              </a:rPr>
              <a:t>A line for every press and every release, and up to four lines a second while a stick moves.</a:t>
            </a:r>
          </a:p>
        </p:txBody>
      </p:sp>
      <p:sp>
        <p:nvSpPr>
          <p:cNvPr id="10" name="TextBox 9"/>
          <p:cNvSpPr txBox="1"/>
          <p:nvPr/>
        </p:nvSpPr>
        <p:spPr>
          <a:xfrm>
            <a:off x="7163537" y="4049583"/>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451919"/>
            <a:ext cx="4525238" cy="1811720"/>
          </a:xfrm>
          <a:prstGeom prst="rect">
            <a:avLst/>
          </a:prstGeom>
          <a:noFill/>
        </p:spPr>
        <p:txBody>
          <a:bodyPr wrap="square" lIns="0" tIns="0" rIns="0" bIns="0">
            <a:spAutoFit/>
          </a:bodyPr>
          <a:lstStyle/>
          <a:p>
            <a:pPr algn="l">
              <a:lnSpc>
                <a:spcPct val="100000"/>
              </a:lnSpc>
              <a:spcAft>
                <a:spcPts val="300"/>
              </a:spcAft>
              <a:defRPr sz="2400" b="0">
                <a:solidFill>
                  <a:srgbClr val="222222"/>
                </a:solidFill>
                <a:latin typeface="Calibri"/>
              </a:defRPr>
            </a:pPr>
            <a:r>
              <a:rPr sz="2400" b="0">
                <a:solidFill>
                  <a:srgbClr val="222222"/>
                </a:solidFill>
                <a:latin typeface="Calibri"/>
              </a:rPr>
              <a:t>Which way is negative on the Y axis?</a:t>
            </a:r>
          </a:p>
          <a:p>
            <a:pPr algn="l">
              <a:lnSpc>
                <a:spcPct val="100000"/>
              </a:lnSpc>
              <a:spcAft>
                <a:spcPts val="300"/>
              </a:spcAft>
              <a:defRPr sz="2400" b="0">
                <a:solidFill>
                  <a:srgbClr val="222222"/>
                </a:solidFill>
                <a:latin typeface="Calibri"/>
              </a:defRPr>
            </a:pPr>
            <a:r>
              <a:rPr sz="2400" b="0">
                <a:solidFill>
                  <a:srgbClr val="222222"/>
                </a:solidFill>
                <a:latin typeface="Calibri"/>
              </a:rPr>
              <a:t>How far does your stick drift when nobody is touching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Deadzone and map</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45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Bluetooth and pairing</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What the pad sends</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6168998"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Deadzone and map</a:t>
            </a:r>
          </a:p>
        </p:txBody>
      </p:sp>
      <p:sp>
        <p:nvSpPr>
          <p:cNvPr id="12" name="TextBox 11"/>
          <p:cNvSpPr txBox="1"/>
          <p:nvPr/>
        </p:nvSpPr>
        <p:spPr>
          <a:xfrm>
            <a:off x="6168998"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3" name="Rounded Rectangle 12"/>
          <p:cNvSpPr/>
          <p:nvPr/>
        </p:nvSpPr>
        <p:spPr>
          <a:xfrm>
            <a:off x="9002037"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Driving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problem with believing the stick</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Deadzone</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1900" b="0">
                <a:solidFill>
                  <a:srgbClr val="222222"/>
                </a:solidFill>
                <a:latin typeface="Calibri"/>
              </a:defRPr>
            </a:pPr>
            <a:r>
              <a:rPr sz="1900" b="0">
                <a:solidFill>
                  <a:srgbClr val="222222"/>
                </a:solidFill>
                <a:latin typeface="Calibri"/>
              </a:rPr>
              <a:t>A thumbstick that has been thumbed by a hundred students does not come back to exactly zero.</a:t>
            </a:r>
          </a:p>
          <a:p>
            <a:pPr algn="l">
              <a:lnSpc>
                <a:spcPct val="100000"/>
              </a:lnSpc>
              <a:spcAft>
                <a:spcPts val="600"/>
              </a:spcAft>
              <a:defRPr sz="1900" b="0">
                <a:solidFill>
                  <a:srgbClr val="222222"/>
                </a:solidFill>
                <a:latin typeface="Calibri"/>
              </a:defRPr>
            </a:pPr>
            <a:r>
              <a:rPr sz="1900" b="0">
                <a:solidFill>
                  <a:srgbClr val="222222"/>
                </a:solidFill>
                <a:latin typeface="Calibri"/>
              </a:rPr>
              <a:t>You just measured it. Yours probably reads a few counts either side of center when nobody is touching it.</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If we fed that straight to the motors, the vehicle would creep across the room on its own while the controller sat on the desk. In a classroom with twenty vehicles, that is not a minor annoyance.</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The answer is a DEADZONE: any reading smaller than a threshold is treated as a firm, deliberate zero.</a:t>
            </a:r>
          </a:p>
          <a:p>
            <a:pPr algn="l">
              <a:lnSpc>
                <a:spcPct val="100000"/>
              </a:lnSpc>
              <a:spcAft>
                <a:spcPts val="600"/>
              </a:spcAft>
              <a:defRPr sz="1900" b="0">
                <a:solidFill>
                  <a:srgbClr val="222222"/>
                </a:solidFill>
                <a:latin typeface="Calibri"/>
              </a:defRPr>
            </a:pPr>
            <a:r>
              <a:rPr sz="1900" b="0">
                <a:solidFill>
                  <a:srgbClr val="222222"/>
                </a:solidFill>
                <a:latin typeface="Calibri"/>
              </a:rPr>
              <a:t>On this track the deadzone is 60, which is about 12% of the stick travel.</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Too small and the vehicle creeps. Too big and you waste the stick.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From thumbstick to motor speed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19</a:t>
            </a:r>
          </a:p>
        </p:txBody>
      </p:sp>
      <p:cxnSp>
        <p:nvCxnSpPr>
          <p:cNvPr id="6" name="Connector 5"/>
          <p:cNvCxnSpPr/>
          <p:nvPr/>
        </p:nvCxnSpPr>
        <p:spPr>
          <a:xfrm>
            <a:off x="1691640" y="4892040"/>
            <a:ext cx="5852160" cy="0"/>
          </a:xfrm>
          <a:prstGeom prst="line">
            <a:avLst/>
          </a:prstGeom>
          <a:ln w="22225">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691640" y="1600200"/>
            <a:ext cx="0" cy="3291840"/>
          </a:xfrm>
          <a:prstGeom prst="line">
            <a:avLst/>
          </a:prstGeom>
          <a:ln w="22225">
            <a:solidFill>
              <a:srgbClr val="1F3A5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691640" y="5001768"/>
            <a:ext cx="5852160" cy="367792"/>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stick reading   0  to  511</a:t>
            </a:r>
          </a:p>
        </p:txBody>
      </p:sp>
      <p:sp>
        <p:nvSpPr>
          <p:cNvPr id="9" name="TextBox 8"/>
          <p:cNvSpPr txBox="1"/>
          <p:nvPr/>
        </p:nvSpPr>
        <p:spPr>
          <a:xfrm>
            <a:off x="548640" y="1554480"/>
            <a:ext cx="1051560" cy="950976"/>
          </a:xfrm>
          <a:prstGeom prst="rect">
            <a:avLst/>
          </a:prstGeom>
          <a:noFill/>
        </p:spPr>
        <p:txBody>
          <a:bodyPr wrap="square" lIns="0" tIns="0" rIns="0" bIns="0">
            <a:spAutoFit/>
          </a:bodyPr>
          <a:lstStyle/>
          <a:p>
            <a:pPr algn="r">
              <a:lnSpc>
                <a:spcPct val="100000"/>
              </a:lnSpc>
              <a:spcAft>
                <a:spcPts val="0"/>
              </a:spcAft>
              <a:defRPr sz="1800" b="0">
                <a:solidFill>
                  <a:srgbClr val="666666"/>
                </a:solidFill>
                <a:latin typeface="Calibri"/>
              </a:defRPr>
            </a:pPr>
            <a:r>
              <a:rPr sz="1800" b="0">
                <a:solidFill>
                  <a:srgbClr val="666666"/>
                </a:solidFill>
                <a:latin typeface="Calibri"/>
              </a:rPr>
              <a:t>motor</a:t>
            </a:r>
          </a:p>
          <a:p>
            <a:pPr algn="r">
              <a:lnSpc>
                <a:spcPct val="100000"/>
              </a:lnSpc>
              <a:spcAft>
                <a:spcPts val="0"/>
              </a:spcAft>
              <a:defRPr sz="1800" b="0">
                <a:solidFill>
                  <a:srgbClr val="666666"/>
                </a:solidFill>
                <a:latin typeface="Calibri"/>
              </a:defRPr>
            </a:pPr>
            <a:r>
              <a:rPr sz="1800" b="0">
                <a:solidFill>
                  <a:srgbClr val="666666"/>
                </a:solidFill>
                <a:latin typeface="Calibri"/>
              </a:rPr>
              <a:t>speed</a:t>
            </a:r>
          </a:p>
          <a:p>
            <a:pPr algn="r">
              <a:lnSpc>
                <a:spcPct val="100000"/>
              </a:lnSpc>
              <a:spcAft>
                <a:spcPts val="0"/>
              </a:spcAft>
              <a:defRPr sz="1800" b="0">
                <a:solidFill>
                  <a:srgbClr val="666666"/>
                </a:solidFill>
                <a:latin typeface="Calibri"/>
              </a:defRPr>
            </a:pPr>
            <a:r>
              <a:rPr sz="1800" b="0">
                <a:solidFill>
                  <a:srgbClr val="666666"/>
                </a:solidFill>
                <a:latin typeface="Calibri"/>
              </a:rPr>
              <a:t>0 to 255</a:t>
            </a:r>
          </a:p>
        </p:txBody>
      </p:sp>
      <p:sp>
        <p:nvSpPr>
          <p:cNvPr id="10" name="Rectangle 9"/>
          <p:cNvSpPr/>
          <p:nvPr/>
        </p:nvSpPr>
        <p:spPr>
          <a:xfrm>
            <a:off x="1691640" y="1600200"/>
            <a:ext cx="687142" cy="3291840"/>
          </a:xfrm>
          <a:prstGeom prst="rect">
            <a:avLst/>
          </a:prstGeom>
          <a:solidFill>
            <a:srgbClr val="F6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 name="Connector 10"/>
          <p:cNvCxnSpPr/>
          <p:nvPr/>
        </p:nvCxnSpPr>
        <p:spPr>
          <a:xfrm>
            <a:off x="1691640" y="4892040"/>
            <a:ext cx="687142" cy="0"/>
          </a:xfrm>
          <a:prstGeom prst="line">
            <a:avLst/>
          </a:prstGeom>
          <a:ln w="38100">
            <a:solidFill>
              <a:srgbClr val="A32A2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378782" y="1600200"/>
            <a:ext cx="5165018" cy="3291840"/>
          </a:xfrm>
          <a:prstGeom prst="line">
            <a:avLst/>
          </a:prstGeom>
          <a:ln w="38100">
            <a:solidFill>
              <a:srgbClr val="0E7C8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691640" y="1216152"/>
            <a:ext cx="1235782" cy="646684"/>
          </a:xfrm>
          <a:prstGeom prst="rect">
            <a:avLst/>
          </a:prstGeom>
          <a:noFill/>
        </p:spPr>
        <p:txBody>
          <a:bodyPr wrap="square" lIns="0" tIns="0" rIns="0" bIns="0">
            <a:spAutoFit/>
          </a:bodyPr>
          <a:lstStyle/>
          <a:p>
            <a:pPr algn="ctr">
              <a:lnSpc>
                <a:spcPct val="100000"/>
              </a:lnSpc>
              <a:spcAft>
                <a:spcPts val="0"/>
              </a:spcAft>
              <a:defRPr sz="1800" b="1">
                <a:solidFill>
                  <a:srgbClr val="A32A2A"/>
                </a:solidFill>
                <a:latin typeface="Calibri"/>
              </a:defRPr>
            </a:pPr>
            <a:r>
              <a:rPr sz="1800" b="1">
                <a:solidFill>
                  <a:srgbClr val="A32A2A"/>
                </a:solidFill>
                <a:latin typeface="Calibri"/>
              </a:rPr>
              <a:t>DEADZONE</a:t>
            </a:r>
            <a:br/>
            <a:r>
              <a:rPr sz="1800" b="1">
                <a:solidFill>
                  <a:srgbClr val="A32A2A"/>
                </a:solidFill>
                <a:latin typeface="Calibri"/>
              </a:rPr>
              <a:t>answer is 0</a:t>
            </a:r>
          </a:p>
        </p:txBody>
      </p:sp>
      <p:sp>
        <p:nvSpPr>
          <p:cNvPr id="14" name="TextBox 13"/>
          <p:cNvSpPr txBox="1"/>
          <p:nvPr/>
        </p:nvSpPr>
        <p:spPr>
          <a:xfrm>
            <a:off x="2653102" y="1691640"/>
            <a:ext cx="3657600" cy="646684"/>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alibri"/>
              </a:defRPr>
            </a:pPr>
            <a:r>
              <a:rPr sz="1800" b="1">
                <a:solidFill>
                  <a:srgbClr val="0E7C86"/>
                </a:solidFill>
                <a:latin typeface="Calibri"/>
              </a:rPr>
              <a:t>map() stretches what is left</a:t>
            </a:r>
            <a:br/>
            <a:r>
              <a:rPr sz="1800" b="1">
                <a:solidFill>
                  <a:srgbClr val="0E7C86"/>
                </a:solidFill>
                <a:latin typeface="Calibri"/>
              </a:rPr>
              <a:t>across the whole speed range</a:t>
            </a:r>
          </a:p>
        </p:txBody>
      </p:sp>
      <p:sp>
        <p:nvSpPr>
          <p:cNvPr id="15" name="TextBox 14"/>
          <p:cNvSpPr txBox="1"/>
          <p:nvPr/>
        </p:nvSpPr>
        <p:spPr>
          <a:xfrm>
            <a:off x="1921582" y="5221224"/>
            <a:ext cx="1097280" cy="367792"/>
          </a:xfrm>
          <a:prstGeom prst="rect">
            <a:avLst/>
          </a:prstGeom>
          <a:noFill/>
        </p:spPr>
        <p:txBody>
          <a:bodyPr wrap="square" lIns="0" tIns="0" rIns="0" bIns="0">
            <a:spAutoFit/>
          </a:bodyPr>
          <a:lstStyle/>
          <a:p>
            <a:pPr algn="ctr">
              <a:lnSpc>
                <a:spcPct val="100000"/>
              </a:lnSpc>
              <a:spcAft>
                <a:spcPts val="0"/>
              </a:spcAft>
              <a:defRPr sz="1800" b="0">
                <a:solidFill>
                  <a:srgbClr val="A32A2A"/>
                </a:solidFill>
                <a:latin typeface="Consolas"/>
              </a:defRPr>
            </a:pPr>
            <a:r>
              <a:rPr sz="1800" b="0">
                <a:solidFill>
                  <a:srgbClr val="A32A2A"/>
                </a:solidFill>
                <a:latin typeface="Consolas"/>
              </a:rPr>
              <a:t>60</a:t>
            </a:r>
          </a:p>
        </p:txBody>
      </p:sp>
      <p:sp>
        <p:nvSpPr>
          <p:cNvPr id="16" name="TextBox 15"/>
          <p:cNvSpPr txBox="1"/>
          <p:nvPr/>
        </p:nvSpPr>
        <p:spPr>
          <a:xfrm>
            <a:off x="8595360" y="1325880"/>
            <a:ext cx="3291840" cy="367792"/>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onsolas"/>
              </a:defRPr>
            </a:pPr>
            <a:r>
              <a:rPr sz="1800" b="1">
                <a:solidFill>
                  <a:srgbClr val="0E7C86"/>
                </a:solidFill>
                <a:latin typeface="Consolas"/>
              </a:rPr>
              <a:t>stickToSpeed()</a:t>
            </a:r>
          </a:p>
        </p:txBody>
      </p:sp>
      <p:sp>
        <p:nvSpPr>
          <p:cNvPr id="17" name="Rectangle 16"/>
          <p:cNvSpPr/>
          <p:nvPr/>
        </p:nvSpPr>
        <p:spPr>
          <a:xfrm>
            <a:off x="8595360" y="1691640"/>
            <a:ext cx="3291840" cy="22860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0000"/>
              </a:lnSpc>
              <a:spcAft>
                <a:spcPts val="0"/>
              </a:spcAft>
              <a:defRPr sz="1400" b="0">
                <a:solidFill>
                  <a:srgbClr val="222222"/>
                </a:solidFill>
                <a:latin typeface="Consolas"/>
              </a:defRPr>
            </a:pPr>
            <a:r>
              <a:rPr sz="1400" b="0">
                <a:solidFill>
                  <a:srgbClr val="222222"/>
                </a:solidFill>
                <a:latin typeface="Consolas"/>
              </a:rPr>
              <a:t>if (abs(v) &lt; DEADZONE)</a:t>
            </a:r>
          </a:p>
          <a:p>
            <a:pPr algn="l">
              <a:lnSpc>
                <a:spcPct val="100000"/>
              </a:lnSpc>
              <a:spcAft>
                <a:spcPts val="0"/>
              </a:spcAft>
              <a:defRPr sz="1400" b="0">
                <a:solidFill>
                  <a:srgbClr val="222222"/>
                </a:solidFill>
                <a:latin typeface="Consolas"/>
              </a:defRPr>
            </a:pPr>
            <a:r>
              <a:rPr sz="1400" b="0">
                <a:solidFill>
                  <a:srgbClr val="222222"/>
                </a:solidFill>
                <a:latin typeface="Consolas"/>
              </a:rPr>
              <a:t>    return 0;</a:t>
            </a:r>
          </a:p>
          <a:p>
            <a:pPr algn="l">
              <a:lnSpc>
                <a:spcPct val="100000"/>
              </a:lnSpc>
              <a:spcAft>
                <a:spcPts val="0"/>
              </a:spcAft>
              <a:defRPr sz="700" b="0">
                <a:solidFill>
                  <a:srgbClr val="222222"/>
                </a:solidFill>
                <a:latin typeface="Consolas"/>
              </a:defRPr>
            </a:pPr>
          </a:p>
          <a:p>
            <a:pPr algn="l">
              <a:lnSpc>
                <a:spcPct val="100000"/>
              </a:lnSpc>
              <a:spcAft>
                <a:spcPts val="0"/>
              </a:spcAft>
              <a:defRPr sz="1400" b="0">
                <a:solidFill>
                  <a:srgbClr val="222222"/>
                </a:solidFill>
                <a:latin typeface="Consolas"/>
              </a:defRPr>
            </a:pPr>
            <a:r>
              <a:rPr sz="1400" b="0">
                <a:solidFill>
                  <a:srgbClr val="222222"/>
                </a:solidFill>
                <a:latin typeface="Consolas"/>
              </a:rPr>
              <a:t>size = map(abs(v),</a:t>
            </a:r>
          </a:p>
          <a:p>
            <a:pPr algn="l">
              <a:lnSpc>
                <a:spcPct val="100000"/>
              </a:lnSpc>
              <a:spcAft>
                <a:spcPts val="0"/>
              </a:spcAft>
              <a:defRPr sz="1400" b="0">
                <a:solidFill>
                  <a:srgbClr val="222222"/>
                </a:solidFill>
                <a:latin typeface="Consolas"/>
              </a:defRPr>
            </a:pPr>
            <a:r>
              <a:rPr sz="1400" b="0">
                <a:solidFill>
                  <a:srgbClr val="222222"/>
                </a:solidFill>
                <a:latin typeface="Consolas"/>
              </a:rPr>
              <a:t>           DEADZONE, 511,</a:t>
            </a:r>
          </a:p>
          <a:p>
            <a:pPr algn="l">
              <a:lnSpc>
                <a:spcPct val="100000"/>
              </a:lnSpc>
              <a:spcAft>
                <a:spcPts val="0"/>
              </a:spcAft>
              <a:defRPr sz="1400" b="0">
                <a:solidFill>
                  <a:srgbClr val="222222"/>
                </a:solidFill>
                <a:latin typeface="Consolas"/>
              </a:defRPr>
            </a:pPr>
            <a:r>
              <a:rPr sz="1400" b="0">
                <a:solidFill>
                  <a:srgbClr val="222222"/>
                </a:solidFill>
                <a:latin typeface="Consolas"/>
              </a:rPr>
              <a:t>           MOTOR_MIN, maxSpeed);</a:t>
            </a:r>
          </a:p>
          <a:p>
            <a:pPr algn="l">
              <a:lnSpc>
                <a:spcPct val="100000"/>
              </a:lnSpc>
              <a:spcAft>
                <a:spcPts val="0"/>
              </a:spcAft>
              <a:defRPr sz="700" b="0">
                <a:solidFill>
                  <a:srgbClr val="222222"/>
                </a:solidFill>
                <a:latin typeface="Consolas"/>
              </a:defRPr>
            </a:pPr>
          </a:p>
          <a:p>
            <a:pPr algn="l">
              <a:lnSpc>
                <a:spcPct val="100000"/>
              </a:lnSpc>
              <a:spcAft>
                <a:spcPts val="0"/>
              </a:spcAft>
              <a:defRPr sz="1400" b="0">
                <a:solidFill>
                  <a:srgbClr val="222222"/>
                </a:solidFill>
                <a:latin typeface="Consolas"/>
              </a:defRPr>
            </a:pPr>
            <a:r>
              <a:rPr sz="1400" b="0">
                <a:solidFill>
                  <a:srgbClr val="222222"/>
                </a:solidFill>
                <a:latin typeface="Consolas"/>
              </a:rPr>
              <a:t>return (v &gt; 0) ? size</a:t>
            </a:r>
          </a:p>
          <a:p>
            <a:pPr algn="l">
              <a:lnSpc>
                <a:spcPct val="100000"/>
              </a:lnSpc>
              <a:spcAft>
                <a:spcPts val="0"/>
              </a:spcAft>
              <a:defRPr sz="1400" b="0">
                <a:solidFill>
                  <a:srgbClr val="222222"/>
                </a:solidFill>
                <a:latin typeface="Consolas"/>
              </a:defRPr>
            </a:pPr>
            <a:r>
              <a:rPr sz="1400" b="0">
                <a:solidFill>
                  <a:srgbClr val="222222"/>
                </a:solidFill>
                <a:latin typeface="Consolas"/>
              </a:rPr>
              <a:t>                : -size;</a:t>
            </a:r>
          </a:p>
        </p:txBody>
      </p:sp>
      <p:sp>
        <p:nvSpPr>
          <p:cNvPr id="18" name="TextBox 17"/>
          <p:cNvSpPr txBox="1"/>
          <p:nvPr/>
        </p:nvSpPr>
        <p:spPr>
          <a:xfrm>
            <a:off x="8595360" y="4160520"/>
            <a:ext cx="3291840" cy="181305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Why a deadzone at all?</a:t>
            </a:r>
          </a:p>
          <a:p>
            <a:pPr algn="l">
              <a:lnSpc>
                <a:spcPct val="100000"/>
              </a:lnSpc>
              <a:spcAft>
                <a:spcPts val="0"/>
              </a:spcAft>
              <a:defRPr sz="1800" b="0">
                <a:solidFill>
                  <a:srgbClr val="222222"/>
                </a:solidFill>
                <a:latin typeface="Calibri"/>
              </a:defRPr>
            </a:pPr>
            <a:r>
              <a:rPr sz="1800" b="0">
                <a:solidFill>
                  <a:srgbClr val="222222"/>
                </a:solidFill>
                <a:latin typeface="Calibri"/>
              </a:rPr>
              <a:t>A worn stick does not return</a:t>
            </a:r>
          </a:p>
          <a:p>
            <a:pPr algn="l">
              <a:lnSpc>
                <a:spcPct val="100000"/>
              </a:lnSpc>
              <a:spcAft>
                <a:spcPts val="0"/>
              </a:spcAft>
              <a:defRPr sz="1800" b="0">
                <a:solidFill>
                  <a:srgbClr val="222222"/>
                </a:solidFill>
                <a:latin typeface="Calibri"/>
              </a:defRPr>
            </a:pPr>
            <a:r>
              <a:rPr sz="1800" b="0">
                <a:solidFill>
                  <a:srgbClr val="222222"/>
                </a:solidFill>
                <a:latin typeface="Calibri"/>
              </a:rPr>
              <a:t>to exactly zero. Without this</a:t>
            </a:r>
          </a:p>
          <a:p>
            <a:pPr algn="l">
              <a:lnSpc>
                <a:spcPct val="100000"/>
              </a:lnSpc>
              <a:spcAft>
                <a:spcPts val="0"/>
              </a:spcAft>
              <a:defRPr sz="1800" b="0">
                <a:solidFill>
                  <a:srgbClr val="222222"/>
                </a:solidFill>
                <a:latin typeface="Calibri"/>
              </a:defRPr>
            </a:pPr>
            <a:r>
              <a:rPr sz="1800" b="0">
                <a:solidFill>
                  <a:srgbClr val="222222"/>
                </a:solidFill>
                <a:latin typeface="Calibri"/>
              </a:rPr>
              <a:t>the vehicle creeps away on</a:t>
            </a:r>
          </a:p>
          <a:p>
            <a:pPr algn="l">
              <a:lnSpc>
                <a:spcPct val="100000"/>
              </a:lnSpc>
              <a:spcAft>
                <a:spcPts val="0"/>
              </a:spcAft>
              <a:defRPr sz="1800" b="0">
                <a:solidFill>
                  <a:srgbClr val="222222"/>
                </a:solidFill>
                <a:latin typeface="Calibri"/>
              </a:defRPr>
            </a:pPr>
            <a:r>
              <a:rPr sz="1800" b="0">
                <a:solidFill>
                  <a:srgbClr val="222222"/>
                </a:solidFill>
                <a:latin typeface="Calibri"/>
              </a:rPr>
              <a:t>its own.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map()  -  the most useful function in the course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20</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the idea, and how the program uses it</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650">
                <a:latin typeface="Consolas"/>
              </a:defRPr>
            </a:pPr>
            <a:r>
              <a:rPr sz="1650">
                <a:solidFill>
                  <a:srgbClr val="222222"/>
                </a:solidFill>
                <a:latin typeface="Consolas"/>
              </a:rPr>
              <a:t>map(value, fromLow, fromHigh, toLow, toHigh)</a:t>
            </a:r>
          </a:p>
          <a:p>
            <a:pPr algn="l">
              <a:lnSpc>
                <a:spcPct val="100000"/>
              </a:lnSpc>
              <a:spcAft>
                <a:spcPts val="0"/>
              </a:spcAft>
              <a:defRPr sz="1650">
                <a:latin typeface="Consolas"/>
              </a:defRPr>
            </a:pPr>
            <a:r>
              <a:rPr sz="1650">
                <a:solidFill>
                  <a:srgbClr val="222222"/>
                </a:solidFill>
                <a:latin typeface="Consolas"/>
              </a:rPr>
              <a:t> </a:t>
            </a:r>
          </a:p>
          <a:p>
            <a:pPr algn="l">
              <a:lnSpc>
                <a:spcPct val="100000"/>
              </a:lnSpc>
              <a:spcAft>
                <a:spcPts val="0"/>
              </a:spcAft>
              <a:defRPr sz="1650">
                <a:latin typeface="Consolas"/>
              </a:defRPr>
            </a:pPr>
            <a:r>
              <a:rPr sz="1650">
                <a:solidFill>
                  <a:srgbClr val="666666"/>
                </a:solidFill>
                <a:latin typeface="Consolas"/>
              </a:rPr>
              <a:t>// "value sits somewhere between fromLow and fromHigh.</a:t>
            </a:r>
          </a:p>
          <a:p>
            <a:pPr algn="l">
              <a:lnSpc>
                <a:spcPct val="100000"/>
              </a:lnSpc>
              <a:spcAft>
                <a:spcPts val="0"/>
              </a:spcAft>
              <a:defRPr sz="1650">
                <a:latin typeface="Consolas"/>
              </a:defRPr>
            </a:pPr>
            <a:r>
              <a:rPr sz="1650">
                <a:solidFill>
                  <a:srgbClr val="666666"/>
                </a:solidFill>
                <a:latin typeface="Consolas"/>
              </a:rPr>
              <a:t>//  Where does it sit between toLow and toHigh?"</a:t>
            </a:r>
          </a:p>
          <a:p>
            <a:pPr algn="l">
              <a:lnSpc>
                <a:spcPct val="100000"/>
              </a:lnSpc>
              <a:spcAft>
                <a:spcPts val="0"/>
              </a:spcAft>
              <a:defRPr sz="1650">
                <a:latin typeface="Consolas"/>
              </a:defRPr>
            </a:pPr>
            <a:r>
              <a:rPr sz="1650">
                <a:solidFill>
                  <a:srgbClr val="222222"/>
                </a:solidFill>
                <a:latin typeface="Consolas"/>
              </a:rPr>
              <a:t> </a:t>
            </a:r>
          </a:p>
          <a:p>
            <a:pPr algn="l">
              <a:lnSpc>
                <a:spcPct val="100000"/>
              </a:lnSpc>
              <a:spcAft>
                <a:spcPts val="0"/>
              </a:spcAft>
              <a:defRPr sz="1650">
                <a:latin typeface="Consolas"/>
              </a:defRPr>
            </a:pPr>
            <a:r>
              <a:rPr sz="1650">
                <a:solidFill>
                  <a:srgbClr val="222222"/>
                </a:solidFill>
                <a:latin typeface="Consolas"/>
              </a:rPr>
              <a:t>map(0,   0, 511, 0, 255)   -&gt;    0</a:t>
            </a:r>
          </a:p>
          <a:p>
            <a:pPr algn="l">
              <a:lnSpc>
                <a:spcPct val="100000"/>
              </a:lnSpc>
              <a:spcAft>
                <a:spcPts val="0"/>
              </a:spcAft>
              <a:defRPr sz="1650">
                <a:latin typeface="Consolas"/>
              </a:defRPr>
            </a:pPr>
            <a:r>
              <a:rPr sz="1650">
                <a:solidFill>
                  <a:srgbClr val="222222"/>
                </a:solidFill>
                <a:latin typeface="Consolas"/>
              </a:rPr>
              <a:t>map(255, 0, 511, 0, 255)   -&gt;  127</a:t>
            </a:r>
          </a:p>
          <a:p>
            <a:pPr algn="l">
              <a:lnSpc>
                <a:spcPct val="100000"/>
              </a:lnSpc>
              <a:spcAft>
                <a:spcPts val="0"/>
              </a:spcAft>
              <a:defRPr sz="1650">
                <a:latin typeface="Consolas"/>
              </a:defRPr>
            </a:pPr>
            <a:r>
              <a:rPr sz="1650">
                <a:solidFill>
                  <a:srgbClr val="222222"/>
                </a:solidFill>
                <a:latin typeface="Consolas"/>
              </a:rPr>
              <a:t>map(511, 0, 511, 0, 255)   -&gt;  255</a:t>
            </a:r>
          </a:p>
          <a:p>
            <a:pPr algn="l">
              <a:lnSpc>
                <a:spcPct val="100000"/>
              </a:lnSpc>
              <a:spcAft>
                <a:spcPts val="0"/>
              </a:spcAft>
              <a:defRPr sz="1650">
                <a:latin typeface="Consolas"/>
              </a:defRPr>
            </a:pPr>
            <a:r>
              <a:rPr sz="1650">
                <a:solidFill>
                  <a:srgbClr val="222222"/>
                </a:solidFill>
                <a:latin typeface="Consolas"/>
              </a:rPr>
              <a:t> </a:t>
            </a:r>
          </a:p>
          <a:p>
            <a:pPr algn="l">
              <a:lnSpc>
                <a:spcPct val="100000"/>
              </a:lnSpc>
              <a:spcAft>
                <a:spcPts val="0"/>
              </a:spcAft>
              <a:defRPr sz="1650">
                <a:latin typeface="Consolas"/>
              </a:defRPr>
            </a:pPr>
            <a:r>
              <a:rPr sz="1650">
                <a:solidFill>
                  <a:srgbClr val="666666"/>
                </a:solidFill>
                <a:latin typeface="Consolas"/>
              </a:rPr>
              <a:t>// In stickToSpeed the low end is the DEADZONE, not zero,</a:t>
            </a:r>
          </a:p>
          <a:p>
            <a:pPr algn="l">
              <a:lnSpc>
                <a:spcPct val="100000"/>
              </a:lnSpc>
              <a:spcAft>
                <a:spcPts val="0"/>
              </a:spcAft>
              <a:defRPr sz="1650">
                <a:latin typeface="Consolas"/>
              </a:defRPr>
            </a:pPr>
            <a:r>
              <a:rPr sz="1650">
                <a:solidFill>
                  <a:srgbClr val="666666"/>
                </a:solidFill>
                <a:latin typeface="Consolas"/>
              </a:rPr>
              <a:t>// so the leftover travel is stretched across the whole</a:t>
            </a:r>
          </a:p>
          <a:p>
            <a:pPr algn="l">
              <a:lnSpc>
                <a:spcPct val="100000"/>
              </a:lnSpc>
              <a:spcAft>
                <a:spcPts val="0"/>
              </a:spcAft>
              <a:defRPr sz="1650">
                <a:latin typeface="Consolas"/>
              </a:defRPr>
            </a:pPr>
            <a:r>
              <a:rPr sz="1650">
                <a:solidFill>
                  <a:srgbClr val="666666"/>
                </a:solidFill>
                <a:latin typeface="Consolas"/>
              </a:rPr>
              <a:t>// speed range. Without that you could never reach 255.</a:t>
            </a:r>
          </a:p>
          <a:p>
            <a:pPr algn="l">
              <a:lnSpc>
                <a:spcPct val="100000"/>
              </a:lnSpc>
              <a:spcAft>
                <a:spcPts val="0"/>
              </a:spcAft>
              <a:defRPr sz="1650">
                <a:latin typeface="Consolas"/>
              </a:defRPr>
            </a:pPr>
            <a:r>
              <a:rPr sz="1650">
                <a:solidFill>
                  <a:srgbClr val="222222"/>
                </a:solidFill>
                <a:latin typeface="Consolas"/>
              </a:rPr>
              <a:t> </a:t>
            </a:r>
          </a:p>
          <a:p>
            <a:pPr algn="l">
              <a:lnSpc>
                <a:spcPct val="100000"/>
              </a:lnSpc>
              <a:spcAft>
                <a:spcPts val="0"/>
              </a:spcAft>
              <a:defRPr sz="1650">
                <a:latin typeface="Consolas"/>
              </a:defRPr>
            </a:pPr>
            <a:r>
              <a:rPr sz="1650" b="1">
                <a:solidFill>
                  <a:srgbClr val="0E7C86"/>
                </a:solidFill>
                <a:latin typeface="Consolas"/>
              </a:rPr>
              <a:t>size = map(abs(v), 60, 511, MOTOR_MIN, maxSpeed);</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map() is just proportion. Nothing more.</a:t>
            </a:r>
          </a:p>
          <a:p>
            <a:pPr algn="l">
              <a:lnSpc>
                <a:spcPct val="100000"/>
              </a:lnSpc>
              <a:spcAft>
                <a:spcPts val="600"/>
              </a:spcAft>
              <a:defRPr sz="1800" b="0">
                <a:solidFill>
                  <a:srgbClr val="222222"/>
                </a:solidFill>
                <a:latin typeface="Calibri"/>
              </a:defRPr>
            </a:pPr>
            <a:r>
              <a:rPr sz="1800" b="0">
                <a:solidFill>
                  <a:srgbClr val="222222"/>
                </a:solidFill>
                <a:latin typeface="Calibri"/>
              </a:rPr>
              <a:t>It works in WHOLE numbers. 255 x 255 / 511 is 127.250..., and the fraction is thrown away - not rounded - just like 7 / 2 in Lesson 1.</a:t>
            </a:r>
          </a:p>
          <a:p>
            <a:pPr algn="l">
              <a:lnSpc>
                <a:spcPct val="100000"/>
              </a:lnSpc>
              <a:spcAft>
                <a:spcPts val="600"/>
              </a:spcAft>
              <a:defRPr sz="1800" b="0">
                <a:solidFill>
                  <a:srgbClr val="222222"/>
                </a:solidFill>
                <a:latin typeface="Calibri"/>
              </a:defRPr>
            </a:pPr>
            <a:r>
              <a:rPr sz="1800" b="0">
                <a:solidFill>
                  <a:srgbClr val="222222"/>
                </a:solidFill>
                <a:latin typeface="Calibri"/>
              </a:rPr>
              <a:t>It does NOT clamp. Feed it something outside the input range and you get something outside the output range, which is why the program calls constrain() straight afterwards.</a:t>
            </a:r>
          </a:p>
          <a:p>
            <a:pPr algn="l">
              <a:lnSpc>
                <a:spcPct val="100000"/>
              </a:lnSpc>
              <a:spcAft>
                <a:spcPts val="600"/>
              </a:spcAft>
              <a:defRPr sz="1800" b="0">
                <a:solidFill>
                  <a:srgbClr val="222222"/>
                </a:solidFill>
                <a:latin typeface="Calibri"/>
              </a:defRPr>
            </a:pPr>
            <a:r>
              <a:rPr sz="1800" b="0">
                <a:solidFill>
                  <a:srgbClr val="222222"/>
                </a:solidFill>
                <a:latin typeface="Calibri"/>
              </a:rPr>
              <a:t>abs() throws away the sign, so we map the SIZE of the push and put the direction back at the end.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watch the arithmetic</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21</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l3b_deadzone_and_map</a:t>
            </a:r>
            <a:r>
              <a:rPr sz="1200">
                <a:solidFill>
                  <a:srgbClr val="FFFFFF"/>
                </a:solidFill>
                <a:latin typeface="Calibri"/>
              </a:rPr>
              <a:t>     (20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1.  Paste your MY_CONTROLLER line into the top. Upload it. Nothing moves - this is print only.</a:t>
            </a:r>
          </a:p>
          <a:p>
            <a:pPr algn="l">
              <a:lnSpc>
                <a:spcPct val="100000"/>
              </a:lnSpc>
              <a:spcAft>
                <a:spcPts val="800"/>
              </a:spcAft>
              <a:defRPr sz="1900" b="0">
                <a:solidFill>
                  <a:srgbClr val="222222"/>
                </a:solidFill>
                <a:latin typeface="Calibri"/>
              </a:defRPr>
            </a:pPr>
            <a:r>
              <a:rPr sz="1900" b="0">
                <a:solidFill>
                  <a:srgbClr val="222222"/>
                </a:solidFill>
                <a:latin typeface="Calibri"/>
              </a:rPr>
              <a:t>2.  Push the stick VERY slowly from center to full forward. Watch both columns. Where does the speed stop being 0?</a:t>
            </a:r>
          </a:p>
          <a:p>
            <a:pPr algn="l">
              <a:lnSpc>
                <a:spcPct val="100000"/>
              </a:lnSpc>
              <a:spcAft>
                <a:spcPts val="800"/>
              </a:spcAft>
              <a:defRPr sz="1900" b="0">
                <a:solidFill>
                  <a:srgbClr val="222222"/>
                </a:solidFill>
                <a:latin typeface="Calibri"/>
              </a:defRPr>
            </a:pPr>
            <a:r>
              <a:rPr sz="1900" b="0">
                <a:solidFill>
                  <a:srgbClr val="222222"/>
                </a:solidFill>
                <a:latin typeface="Calibri"/>
              </a:rPr>
              <a:t>3.  Set STICK_DEADZONE to 0. Upload. Put the controller down and do not touch it. Does the speed stay at 0?</a:t>
            </a:r>
          </a:p>
          <a:p>
            <a:pPr algn="l">
              <a:lnSpc>
                <a:spcPct val="100000"/>
              </a:lnSpc>
              <a:spcAft>
                <a:spcPts val="800"/>
              </a:spcAft>
              <a:defRPr sz="1900" b="0">
                <a:solidFill>
                  <a:srgbClr val="222222"/>
                </a:solidFill>
                <a:latin typeface="Calibri"/>
              </a:defRPr>
            </a:pPr>
            <a:r>
              <a:rPr sz="1900" b="0">
                <a:solidFill>
                  <a:srgbClr val="222222"/>
                </a:solidFill>
                <a:latin typeface="Calibri"/>
              </a:rPr>
              <a:t>4.  Set it to 408. How much of the stick is now wasted?</a:t>
            </a:r>
          </a:p>
          <a:p>
            <a:pPr algn="l">
              <a:lnSpc>
                <a:spcPct val="100000"/>
              </a:lnSpc>
              <a:spcAft>
                <a:spcPts val="800"/>
              </a:spcAft>
              <a:defRPr sz="1900" b="0">
                <a:solidFill>
                  <a:srgbClr val="222222"/>
                </a:solidFill>
                <a:latin typeface="Calibri"/>
              </a:defRPr>
            </a:pPr>
            <a:r>
              <a:rPr sz="1900" b="0">
                <a:solidFill>
                  <a:srgbClr val="222222"/>
                </a:solidFill>
                <a:latin typeface="Calibri"/>
              </a:rPr>
              <a:t>5.  Put it back. Now set MOTOR_MIN to 60 and watch what happens the instant you leave the deadzone.</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516072"/>
          </a:xfrm>
          <a:prstGeom prst="rect">
            <a:avLst/>
          </a:prstGeom>
          <a:noFill/>
        </p:spPr>
        <p:txBody>
          <a:bodyPr wrap="square" lIns="0" tIns="0" rIns="0" bIns="0">
            <a:spAutoFit/>
          </a:bodyPr>
          <a:lstStyle/>
          <a:p>
            <a:pPr algn="l">
              <a:lnSpc>
                <a:spcPct val="100000"/>
              </a:lnSpc>
              <a:spcAft>
                <a:spcPts val="300"/>
              </a:spcAft>
              <a:defRPr sz="2200" b="0">
                <a:solidFill>
                  <a:srgbClr val="222222"/>
                </a:solidFill>
                <a:latin typeface="Calibri"/>
              </a:defRPr>
            </a:pPr>
            <a:r>
              <a:rPr sz="2200" b="0">
                <a:solidFill>
                  <a:srgbClr val="222222"/>
                </a:solidFill>
                <a:latin typeface="Calibri"/>
              </a:rPr>
              <a:t>Two columns: the raw number from the controller, and the motor speed it turns into. A new line only when the stick moves.</a:t>
            </a:r>
          </a:p>
        </p:txBody>
      </p:sp>
      <p:sp>
        <p:nvSpPr>
          <p:cNvPr id="10" name="TextBox 9"/>
          <p:cNvSpPr txBox="1"/>
          <p:nvPr/>
        </p:nvSpPr>
        <p:spPr>
          <a:xfrm>
            <a:off x="7163537" y="389351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295848"/>
            <a:ext cx="4525238" cy="1967791"/>
          </a:xfrm>
          <a:prstGeom prst="rect">
            <a:avLst/>
          </a:prstGeom>
          <a:noFill/>
        </p:spPr>
        <p:txBody>
          <a:bodyPr wrap="square" lIns="0" tIns="0" rIns="0" bIns="0">
            <a:spAutoFit/>
          </a:bodyPr>
          <a:lstStyle/>
          <a:p>
            <a:pPr algn="l">
              <a:lnSpc>
                <a:spcPct val="100000"/>
              </a:lnSpc>
              <a:spcAft>
                <a:spcPts val="300"/>
              </a:spcAft>
              <a:defRPr sz="2300" b="0">
                <a:solidFill>
                  <a:srgbClr val="222222"/>
                </a:solidFill>
                <a:latin typeface="Calibri"/>
              </a:defRPr>
            </a:pPr>
            <a:r>
              <a:rPr sz="2300" b="0">
                <a:solidFill>
                  <a:srgbClr val="222222"/>
                </a:solidFill>
                <a:latin typeface="Calibri"/>
              </a:rPr>
              <a:t>With the deadzone at 0, what does the vehicle do when nobody is holding the controller?</a:t>
            </a:r>
          </a:p>
          <a:p>
            <a:pPr algn="l">
              <a:lnSpc>
                <a:spcPct val="100000"/>
              </a:lnSpc>
              <a:spcAft>
                <a:spcPts val="300"/>
              </a:spcAft>
              <a:defRPr sz="2300" b="0">
                <a:solidFill>
                  <a:srgbClr val="222222"/>
                </a:solidFill>
                <a:latin typeface="Calibri"/>
              </a:defRPr>
            </a:pPr>
            <a:r>
              <a:rPr sz="2300" b="0">
                <a:solidFill>
                  <a:srgbClr val="222222"/>
                </a:solidFill>
                <a:latin typeface="Calibri"/>
              </a:rPr>
              <a:t>What does MOTOR_MIN = 60 change, and when would you want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22</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Driving it</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35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Bluetooth and pairing</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What the pad sends</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6168998"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Deadzone and map</a:t>
            </a:r>
          </a:p>
        </p:txBody>
      </p:sp>
      <p:sp>
        <p:nvSpPr>
          <p:cNvPr id="12" name="TextBox 11"/>
          <p:cNvSpPr txBox="1"/>
          <p:nvPr/>
        </p:nvSpPr>
        <p:spPr>
          <a:xfrm>
            <a:off x="6168998"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9002037"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Driving it</a:t>
            </a:r>
          </a:p>
        </p:txBody>
      </p:sp>
      <p:sp>
        <p:nvSpPr>
          <p:cNvPr id="14" name="TextBox 13"/>
          <p:cNvSpPr txBox="1"/>
          <p:nvPr/>
        </p:nvSpPr>
        <p:spPr>
          <a:xfrm>
            <a:off x="9002037"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Mixing, and why steering has its own limit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23</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Full speed forwards, 75% steering</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1900" b="0">
                <a:solidFill>
                  <a:srgbClr val="222222"/>
                </a:solidFill>
                <a:latin typeface="Calibri"/>
              </a:defRPr>
            </a:pPr>
            <a:r>
              <a:rPr sz="1900" b="0">
                <a:solidFill>
                  <a:srgbClr val="222222"/>
                </a:solidFill>
                <a:latin typeface="Calibri"/>
              </a:rPr>
              <a:t>left = forward + turn        right = forward - turn</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Driving gets the full MOTOR_MAX of 255.</a:t>
            </a:r>
          </a:p>
          <a:p>
            <a:pPr algn="l">
              <a:lnSpc>
                <a:spcPct val="100000"/>
              </a:lnSpc>
              <a:spcAft>
                <a:spcPts val="600"/>
              </a:spcAft>
              <a:defRPr sz="1900" b="0">
                <a:solidFill>
                  <a:srgbClr val="222222"/>
                </a:solidFill>
                <a:latin typeface="Calibri"/>
              </a:defRPr>
            </a:pPr>
            <a:r>
              <a:rPr sz="1900" b="0">
                <a:solidFill>
                  <a:srgbClr val="222222"/>
                </a:solidFill>
                <a:latin typeface="Calibri"/>
              </a:rPr>
              <a:t>Steering gets turnMax, which is 75% of that by default - 191.</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Why? Because at full power a small nudge sideways spins the vehicle faster than anybody can correct for. Holding steering to 75% makes it controllable without making it slow.</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The full program lets you switch between the two with clicking the left stick in. Sharp mode is for spinning on the spot deliberately; normal mode is for actually getting somewhere.</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constrain() catches the overflow. forward 200 plus turn 60 is 260, which is more than a motor can take.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l3c_tank_drive  -  the whole of loop()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24</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l3c_tank_drive.ino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400">
                <a:latin typeface="Consolas"/>
              </a:defRPr>
            </a:pPr>
            <a:r>
              <a:rPr sz="1400">
                <a:solidFill>
                  <a:srgbClr val="222222"/>
                </a:solidFill>
                <a:latin typeface="Consolas"/>
              </a:rPr>
              <a:t>void loop() {</a:t>
            </a:r>
          </a:p>
          <a:p>
            <a:pPr algn="l">
              <a:lnSpc>
                <a:spcPct val="100000"/>
              </a:lnSpc>
              <a:spcAft>
                <a:spcPts val="0"/>
              </a:spcAft>
              <a:defRPr sz="1400">
                <a:latin typeface="Consolas"/>
              </a:defRPr>
            </a:pPr>
            <a:r>
              <a:rPr sz="1400" b="1">
                <a:solidFill>
                  <a:srgbClr val="0E7C86"/>
                </a:solidFill>
                <a:latin typeface="Consolas"/>
              </a:rPr>
              <a:t>  if (myController == nullptr || !myController-&gt;isConnected()) {</a:t>
            </a:r>
          </a:p>
          <a:p>
            <a:pPr algn="l">
              <a:lnSpc>
                <a:spcPct val="100000"/>
              </a:lnSpc>
              <a:spcAft>
                <a:spcPts val="0"/>
              </a:spcAft>
              <a:defRPr sz="1400">
                <a:latin typeface="Consolas"/>
              </a:defRPr>
            </a:pPr>
            <a:r>
              <a:rPr sz="1400" b="1">
                <a:solidFill>
                  <a:srgbClr val="0E7C86"/>
                </a:solidFill>
                <a:latin typeface="Consolas"/>
              </a:rPr>
              <a:t>    drive(0, 0);        // never drive without a controller</a:t>
            </a:r>
          </a:p>
          <a:p>
            <a:pPr algn="l">
              <a:lnSpc>
                <a:spcPct val="100000"/>
              </a:lnSpc>
              <a:spcAft>
                <a:spcPts val="0"/>
              </a:spcAft>
              <a:defRPr sz="1400">
                <a:latin typeface="Consolas"/>
              </a:defRPr>
            </a:pPr>
            <a:r>
              <a:rPr sz="1400" b="1">
                <a:solidFill>
                  <a:srgbClr val="0E7C86"/>
                </a:solidFill>
                <a:latin typeface="Consolas"/>
              </a:rPr>
              <a:t>    return;</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  int leftStickX = myController-&gt;axisX();</a:t>
            </a:r>
          </a:p>
          <a:p>
            <a:pPr algn="l">
              <a:lnSpc>
                <a:spcPct val="100000"/>
              </a:lnSpc>
              <a:spcAft>
                <a:spcPts val="0"/>
              </a:spcAft>
              <a:defRPr sz="1400">
                <a:latin typeface="Consolas"/>
              </a:defRPr>
            </a:pPr>
            <a:r>
              <a:rPr sz="1400">
                <a:solidFill>
                  <a:srgbClr val="222222"/>
                </a:solidFill>
                <a:latin typeface="Consolas"/>
              </a:rPr>
              <a:t>  int leftStickY = myController-&gt;axisY();</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b="1">
                <a:solidFill>
                  <a:srgbClr val="0E7C86"/>
                </a:solidFill>
                <a:latin typeface="Consolas"/>
              </a:rPr>
              <a:t>  int forward = stickToSpeed(-leftStickY, MOTOR_MAX);</a:t>
            </a:r>
          </a:p>
          <a:p>
            <a:pPr algn="l">
              <a:lnSpc>
                <a:spcPct val="100000"/>
              </a:lnSpc>
              <a:spcAft>
                <a:spcPts val="0"/>
              </a:spcAft>
              <a:defRPr sz="1400">
                <a:latin typeface="Consolas"/>
              </a:defRPr>
            </a:pPr>
            <a:r>
              <a:rPr sz="1400" b="1">
                <a:solidFill>
                  <a:srgbClr val="0E7C86"/>
                </a:solidFill>
                <a:latin typeface="Consolas"/>
              </a:rPr>
              <a:t>  int turn    = stickToSpeed(leftStickX,  turnMax);</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  int leftSpeed  = constrain(forward + turn, -MOTOR_MAX, MOTOR_MAX);</a:t>
            </a:r>
          </a:p>
          <a:p>
            <a:pPr algn="l">
              <a:lnSpc>
                <a:spcPct val="100000"/>
              </a:lnSpc>
              <a:spcAft>
                <a:spcPts val="0"/>
              </a:spcAft>
              <a:defRPr sz="1400">
                <a:latin typeface="Consolas"/>
              </a:defRPr>
            </a:pPr>
            <a:r>
              <a:rPr sz="1400">
                <a:solidFill>
                  <a:srgbClr val="222222"/>
                </a:solidFill>
                <a:latin typeface="Consolas"/>
              </a:rPr>
              <a:t>  int rightSpeed = constrain(forward - turn, -MOTOR_MAX, MOTOR_MAX);</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  drive(leftSpeed, rightSpeed);</a:t>
            </a:r>
          </a:p>
          <a:p>
            <a:pPr algn="l">
              <a:lnSpc>
                <a:spcPct val="100000"/>
              </a:lnSpc>
              <a:spcAft>
                <a:spcPts val="0"/>
              </a:spcAft>
              <a:defRPr sz="1400">
                <a:latin typeface="Consolas"/>
              </a:defRPr>
            </a:pPr>
            <a:r>
              <a:rPr sz="140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2100" b="0">
                <a:solidFill>
                  <a:srgbClr val="222222"/>
                </a:solidFill>
                <a:latin typeface="Calibri"/>
              </a:defRPr>
            </a:pPr>
            <a:r>
              <a:rPr sz="2100" b="0">
                <a:solidFill>
                  <a:srgbClr val="222222"/>
                </a:solidFill>
                <a:latin typeface="Calibri"/>
              </a:rPr>
              <a:t>Read the first four lines again. If there is no controller, the motors stop and we go round again. That is the FAILSAFE, and it is the most important part of the program.</a:t>
            </a:r>
          </a:p>
          <a:p>
            <a:pPr algn="l">
              <a:lnSpc>
                <a:spcPct val="100000"/>
              </a:lnSpc>
              <a:spcAft>
                <a:spcPts val="700"/>
              </a:spcAft>
              <a:defRPr sz="2100" b="0">
                <a:solidFill>
                  <a:srgbClr val="222222"/>
                </a:solidFill>
                <a:latin typeface="Calibri"/>
              </a:defRPr>
            </a:pPr>
            <a:r>
              <a:rPr sz="2100" b="0">
                <a:solidFill>
                  <a:srgbClr val="222222"/>
                </a:solidFill>
                <a:latin typeface="Calibri"/>
              </a:rPr>
              <a:t>Note the minus sign on leftStickY. Up is negative.</a:t>
            </a:r>
          </a:p>
          <a:p>
            <a:pPr algn="l">
              <a:lnSpc>
                <a:spcPct val="100000"/>
              </a:lnSpc>
              <a:spcAft>
                <a:spcPts val="700"/>
              </a:spcAft>
              <a:defRPr sz="2100" b="0">
                <a:solidFill>
                  <a:srgbClr val="222222"/>
                </a:solidFill>
                <a:latin typeface="Calibri"/>
              </a:defRPr>
            </a:pPr>
            <a:r>
              <a:rPr sz="2100" b="0">
                <a:solidFill>
                  <a:srgbClr val="222222"/>
                </a:solidFill>
                <a:latin typeface="Calibri"/>
              </a:rPr>
              <a:t>Driving gets MOTOR_MAX; steering gets turnMax.</a:t>
            </a:r>
          </a:p>
          <a:p>
            <a:pPr algn="l">
              <a:lnSpc>
                <a:spcPct val="100000"/>
              </a:lnSpc>
              <a:spcAft>
                <a:spcPts val="700"/>
              </a:spcAft>
              <a:defRPr sz="2100" b="0">
                <a:solidFill>
                  <a:srgbClr val="222222"/>
                </a:solidFill>
                <a:latin typeface="Calibri"/>
              </a:defRPr>
            </a:pPr>
            <a:r>
              <a:rPr sz="2100" b="0">
                <a:solidFill>
                  <a:srgbClr val="222222"/>
                </a:solidFill>
                <a:latin typeface="Calibri"/>
              </a:rPr>
              <a:t>Everything else you have already seen.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drive it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25</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l3c_tank_drive</a:t>
            </a:r>
            <a:r>
              <a:rPr sz="1200">
                <a:solidFill>
                  <a:srgbClr val="FFFFFF"/>
                </a:solidFill>
                <a:latin typeface="Calibri"/>
              </a:rPr>
              <a:t>     (30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1.  Paste your MY_CONTROLLER line into the top. Then wheels off the ground, upload, and check that up is forward and right is right BEFORE you put it down.</a:t>
            </a:r>
          </a:p>
          <a:p>
            <a:pPr algn="l">
              <a:lnSpc>
                <a:spcPct val="100000"/>
              </a:lnSpc>
              <a:spcAft>
                <a:spcPts val="800"/>
              </a:spcAft>
              <a:defRPr sz="1800" b="0">
                <a:solidFill>
                  <a:srgbClr val="222222"/>
                </a:solidFill>
                <a:latin typeface="Calibri"/>
              </a:defRPr>
            </a:pPr>
            <a:r>
              <a:rPr sz="1800" b="0">
                <a:solidFill>
                  <a:srgbClr val="222222"/>
                </a:solidFill>
                <a:latin typeface="Calibri"/>
              </a:rPr>
              <a:t>2.  Put it on the floor in a clear space and drive.</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975649"/>
          </a:xfrm>
          <a:prstGeom prst="rect">
            <a:avLst/>
          </a:prstGeom>
          <a:noFill/>
        </p:spPr>
        <p:txBody>
          <a:bodyPr wrap="square" lIns="0" tIns="0" rIns="0" bIns="0">
            <a:spAutoFit/>
          </a:bodyPr>
          <a:lstStyle/>
          <a:p>
            <a:pPr algn="l">
              <a:lnSpc>
                <a:spcPct val="100000"/>
              </a:lnSpc>
              <a:spcAft>
                <a:spcPts val="300"/>
              </a:spcAft>
              <a:defRPr sz="2700" b="0">
                <a:solidFill>
                  <a:srgbClr val="222222"/>
                </a:solidFill>
                <a:latin typeface="Calibri"/>
              </a:defRPr>
            </a:pPr>
            <a:r>
              <a:rPr sz="2700" b="0">
                <a:solidFill>
                  <a:srgbClr val="222222"/>
                </a:solidFill>
                <a:latin typeface="Calibri"/>
              </a:rPr>
              <a:t>A vehicle that goes where you point it.</a:t>
            </a:r>
          </a:p>
        </p:txBody>
      </p:sp>
      <p:sp>
        <p:nvSpPr>
          <p:cNvPr id="10" name="TextBox 9"/>
          <p:cNvSpPr txBox="1"/>
          <p:nvPr/>
        </p:nvSpPr>
        <p:spPr>
          <a:xfrm>
            <a:off x="7163537" y="3353089"/>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755425"/>
            <a:ext cx="4525238" cy="2508214"/>
          </a:xfrm>
          <a:prstGeom prst="rect">
            <a:avLst/>
          </a:prstGeom>
          <a:noFill/>
        </p:spPr>
        <p:txBody>
          <a:bodyPr wrap="square" lIns="0" tIns="0" rIns="0" bIns="0">
            <a:spAutoFit/>
          </a:bodyPr>
          <a:lstStyle/>
          <a:p>
            <a:pPr algn="l">
              <a:lnSpc>
                <a:spcPct val="100000"/>
              </a:lnSpc>
              <a:spcAft>
                <a:spcPts val="600"/>
              </a:spcAft>
              <a:defRPr sz="3000" b="0">
                <a:solidFill>
                  <a:srgbClr val="222222"/>
                </a:solidFill>
                <a:latin typeface="Calibri"/>
              </a:defRPr>
            </a:pPr>
            <a:r>
              <a:rPr sz="3000" b="0">
                <a:solidFill>
                  <a:srgbClr val="222222"/>
                </a:solidFill>
                <a:latin typeface="Calibri"/>
              </a:rPr>
              <a:t>What happened when the pad went out of range, and which four lines made that happen?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drive it  (continued)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26</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l3c_tank_drive</a:t>
            </a:r>
          </a:p>
        </p:txBody>
      </p:sp>
      <p:sp>
        <p:nvSpPr>
          <p:cNvPr id="7" name="TextBox 6"/>
          <p:cNvSpPr txBox="1"/>
          <p:nvPr/>
        </p:nvSpPr>
        <p:spPr>
          <a:xfrm>
            <a:off x="502920" y="1901952"/>
            <a:ext cx="11185855" cy="4361688"/>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3.  Wheels off the ground, motors running. Carry the pad out of range - round a corner, or thirty feet down the corridor - and watch the wheels stop. Walk back and it picks up again.</a:t>
            </a:r>
          </a:p>
          <a:p>
            <a:pPr lvl="1" algn="l">
              <a:lnSpc>
                <a:spcPct val="100000"/>
              </a:lnSpc>
              <a:spcAft>
                <a:spcPts val="800"/>
              </a:spcAft>
              <a:defRPr sz="1800" b="0">
                <a:solidFill>
                  <a:srgbClr val="222222"/>
                </a:solidFill>
                <a:latin typeface="Calibri"/>
              </a:defRPr>
            </a:pPr>
            <a:r>
              <a:rPr sz="1800" b="0">
                <a:solidFill>
                  <a:srgbClr val="222222"/>
                </a:solidFill>
                <a:latin typeface="Calibri"/>
              </a:rPr>
              <a:t>Neither of these pads has an off switch, so out of range is how you prove the failsafe. Power-cycling the VEHICLE shows the same guard from the other side: the pad is on, the sticks work, and nothing moves until it reconnects.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drive it  (continued)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27</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l3c_tank_drive</a:t>
            </a:r>
          </a:p>
        </p:txBody>
      </p:sp>
      <p:sp>
        <p:nvSpPr>
          <p:cNvPr id="7" name="TextBox 6"/>
          <p:cNvSpPr txBox="1"/>
          <p:nvPr/>
        </p:nvSpPr>
        <p:spPr>
          <a:xfrm>
            <a:off x="502920" y="1901952"/>
            <a:ext cx="11185855" cy="3273552"/>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4.  Set turnMax to MOTOR_MAX. Which is easier to aim?</a:t>
            </a:r>
          </a:p>
          <a:p>
            <a:pPr algn="l">
              <a:lnSpc>
                <a:spcPct val="100000"/>
              </a:lnSpc>
              <a:spcAft>
                <a:spcPts val="800"/>
              </a:spcAft>
              <a:defRPr sz="1800" b="0">
                <a:solidFill>
                  <a:srgbClr val="222222"/>
                </a:solidFill>
                <a:latin typeface="Calibri"/>
              </a:defRPr>
            </a:pPr>
            <a:r>
              <a:rPr sz="1800" b="0">
                <a:solidFill>
                  <a:srgbClr val="222222"/>
                </a:solidFill>
                <a:latin typeface="Calibri"/>
              </a:rPr>
              <a:t>5.  Lines 224 and 225: swap the + and the - and drive. What is wrong now?</a:t>
            </a:r>
          </a:p>
          <a:p>
            <a:pPr algn="l">
              <a:lnSpc>
                <a:spcPct val="100000"/>
              </a:lnSpc>
              <a:spcAft>
                <a:spcPts val="800"/>
              </a:spcAft>
              <a:defRPr sz="1800" b="0">
                <a:solidFill>
                  <a:srgbClr val="222222"/>
                </a:solidFill>
                <a:latin typeface="Calibri"/>
              </a:defRPr>
            </a:pPr>
            <a:r>
              <a:rPr sz="1800" b="0">
                <a:solidFill>
                  <a:srgbClr val="222222"/>
                </a:solidFill>
                <a:latin typeface="Calibri"/>
              </a:rPr>
              <a:t>6.  Line 225: make it  rightSpeed = forward;  with no turn term. Why is that worse steering?</a:t>
            </a:r>
          </a:p>
        </p:txBody>
      </p:sp>
      <p:sp>
        <p:nvSpPr>
          <p:cNvPr id="8" name="Rounded Rectangle 7"/>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Check the controls with the wheels off the ground first. Every time you upload a change.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Failsafe: what a robot does when it stops hearing you</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28</a:t>
            </a:r>
          </a:p>
        </p:txBody>
      </p:sp>
      <p:sp>
        <p:nvSpPr>
          <p:cNvPr id="6" name="TextBox 5"/>
          <p:cNvSpPr txBox="1"/>
          <p:nvPr/>
        </p:nvSpPr>
        <p:spPr>
          <a:xfrm>
            <a:off x="502920" y="1188720"/>
            <a:ext cx="5364327" cy="3986784"/>
          </a:xfrm>
          <a:prstGeom prst="rect">
            <a:avLst/>
          </a:prstGeom>
          <a:noFill/>
        </p:spPr>
        <p:txBody>
          <a:bodyPr wrap="square" lIns="0" tIns="0" rIns="0" bIns="0">
            <a:spAutoFit/>
          </a:bodyPr>
          <a:lstStyle/>
          <a:p>
            <a:pPr algn="l">
              <a:lnSpc>
                <a:spcPct val="100000"/>
              </a:lnSpc>
              <a:spcAft>
                <a:spcPts val="900"/>
              </a:spcAft>
              <a:defRPr sz="2000" b="0">
                <a:solidFill>
                  <a:srgbClr val="222222"/>
                </a:solidFill>
                <a:latin typeface="Calibri"/>
              </a:defRPr>
            </a:pPr>
            <a:r>
              <a:rPr sz="2000" b="0">
                <a:solidFill>
                  <a:srgbClr val="222222"/>
                </a:solidFill>
                <a:latin typeface="Calibri"/>
              </a:rPr>
              <a:t>A radio link is not reliable. Batteries go flat, people walk between the pad and the vehicle, and an operator walks further than the radio reaches.</a:t>
            </a:r>
          </a:p>
          <a:p>
            <a:pPr algn="l">
              <a:lnSpc>
                <a:spcPct val="100000"/>
              </a:lnSpc>
              <a:spcAft>
                <a:spcPts val="900"/>
              </a:spcAft>
              <a:defRPr sz="1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The only safe behavior is to STOP. Not carry on with the last command, and not do something clever.</a:t>
            </a:r>
          </a:p>
        </p:txBody>
      </p:sp>
      <p:sp>
        <p:nvSpPr>
          <p:cNvPr id="7" name="TextBox 6"/>
          <p:cNvSpPr txBox="1"/>
          <p:nvPr/>
        </p:nvSpPr>
        <p:spPr>
          <a:xfrm>
            <a:off x="6324447" y="1188720"/>
            <a:ext cx="5364327" cy="3986784"/>
          </a:xfrm>
          <a:prstGeom prst="rect">
            <a:avLst/>
          </a:prstGeom>
          <a:noFill/>
        </p:spPr>
        <p:txBody>
          <a:bodyPr wrap="square" lIns="0" tIns="0" rIns="0" bIns="0">
            <a:spAutoFit/>
          </a:bodyPr>
          <a:lstStyle/>
          <a:p>
            <a:pPr algn="l">
              <a:lnSpc>
                <a:spcPct val="100000"/>
              </a:lnSpc>
              <a:spcAft>
                <a:spcPts val="900"/>
              </a:spcAft>
              <a:defRPr sz="1800" b="0">
                <a:solidFill>
                  <a:srgbClr val="222222"/>
                </a:solidFill>
                <a:latin typeface="Calibri"/>
              </a:defRPr>
            </a:pPr>
            <a:r>
              <a:rPr sz="1800" b="0">
                <a:solidFill>
                  <a:srgbClr val="222222"/>
                </a:solidFill>
                <a:latin typeface="Calibri"/>
              </a:rPr>
              <a:t>Three lines at the top of loop() do it:</a:t>
            </a:r>
          </a:p>
          <a:p>
            <a:pPr lvl="1" algn="l">
              <a:lnSpc>
                <a:spcPct val="100000"/>
              </a:lnSpc>
              <a:spcAft>
                <a:spcPts val="900"/>
              </a:spcAft>
              <a:defRPr sz="1800" b="0">
                <a:solidFill>
                  <a:srgbClr val="222222"/>
                </a:solidFill>
                <a:latin typeface="Calibri"/>
              </a:defRPr>
            </a:pPr>
            <a:r>
              <a:rPr sz="1800" b="0">
                <a:solidFill>
                  <a:srgbClr val="222222"/>
                </a:solidFill>
                <a:latin typeface="Calibri"/>
              </a:rPr>
              <a:t>if (!connected) { drive(0, 0); return; }</a:t>
            </a:r>
          </a:p>
          <a:p>
            <a:pPr algn="l">
              <a:lnSpc>
                <a:spcPct val="100000"/>
              </a:lnSpc>
              <a:spcAft>
                <a:spcPts val="900"/>
              </a:spcAft>
              <a:defRPr sz="900" b="0">
                <a:solidFill>
                  <a:srgbClr val="222222"/>
                </a:solidFill>
                <a:latin typeface="Calibri"/>
              </a:defRPr>
            </a:pPr>
          </a:p>
          <a:p>
            <a:pPr algn="l">
              <a:lnSpc>
                <a:spcPct val="100000"/>
              </a:lnSpc>
              <a:spcAft>
                <a:spcPts val="900"/>
              </a:spcAft>
              <a:defRPr sz="1800" b="0">
                <a:solidFill>
                  <a:srgbClr val="222222"/>
                </a:solidFill>
                <a:latin typeface="Calibri"/>
              </a:defRPr>
            </a:pPr>
            <a:r>
              <a:rPr sz="1800" b="0">
                <a:solidFill>
                  <a:srgbClr val="222222"/>
                </a:solidFill>
                <a:latin typeface="Calibri"/>
              </a:rPr>
              <a:t>This is not a Pathfinder detail. Every unmanned vehicle has a failsafe, and what it should do when the link drops is a real engineering decision. A drone hovers, or returns home. A submersible surfaces. A ground vehicle stops.</a:t>
            </a:r>
          </a:p>
          <a:p>
            <a:pPr algn="l">
              <a:lnSpc>
                <a:spcPct val="100000"/>
              </a:lnSpc>
              <a:spcAft>
                <a:spcPts val="900"/>
              </a:spcAft>
              <a:defRPr sz="900" b="0">
                <a:solidFill>
                  <a:srgbClr val="222222"/>
                </a:solidFill>
                <a:latin typeface="Calibri"/>
              </a:defRPr>
            </a:pPr>
          </a:p>
          <a:p>
            <a:pPr algn="l">
              <a:lnSpc>
                <a:spcPct val="100000"/>
              </a:lnSpc>
              <a:spcAft>
                <a:spcPts val="900"/>
              </a:spcAft>
              <a:defRPr sz="1800" b="0">
                <a:solidFill>
                  <a:srgbClr val="222222"/>
                </a:solidFill>
                <a:latin typeface="Calibri"/>
              </a:defRPr>
            </a:pPr>
            <a:r>
              <a:rPr sz="1800" b="0">
                <a:solidFill>
                  <a:srgbClr val="222222"/>
                </a:solidFill>
                <a:latin typeface="Calibri"/>
              </a:rPr>
              <a:t>Ask yourself, on any system you build: what happens when the operator disappears?</a:t>
            </a:r>
          </a:p>
        </p:txBody>
      </p:sp>
      <p:sp>
        <p:nvSpPr>
          <p:cNvPr id="8" name="Rounded Rectangle 7"/>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If you take one habit away from this course, take this one.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When it will not connect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29</a:t>
            </a:r>
          </a:p>
        </p:txBody>
      </p:sp>
      <p:graphicFrame>
        <p:nvGraphicFramePr>
          <p:cNvPr id="6" name="Table 5"/>
          <p:cNvGraphicFramePr>
            <a:graphicFrameLocks noGrp="1"/>
          </p:cNvGraphicFramePr>
          <p:nvPr/>
        </p:nvGraphicFramePr>
        <p:xfrm>
          <a:off x="502920" y="1188720"/>
          <a:ext cx="11185854" cy="5073650"/>
        </p:xfrm>
        <a:graphic>
          <a:graphicData uri="http://schemas.openxmlformats.org/drawingml/2006/table">
            <a:tbl>
              <a:tblPr firstRow="1" bandRow="1">
                <a:tableStyleId>{5C22544A-7EE6-4342-B048-85BDC9FD1C3A}</a:tableStyleId>
              </a:tblPr>
              <a:tblGrid>
                <a:gridCol w="3728618"/>
                <a:gridCol w="3195958"/>
                <a:gridCol w="4261278"/>
              </a:tblGrid>
              <a:tr h="724807">
                <a:tc>
                  <a:txBody>
                    <a:bodyPr/>
                    <a:lstStyle/>
                    <a:p>
                      <a:r>
                        <a:rPr sz="2200" b="1">
                          <a:solidFill>
                            <a:srgbClr val="FFFFFF"/>
                          </a:solidFill>
                          <a:latin typeface="Calibri"/>
                        </a:rPr>
                        <a:t>Symptom</a:t>
                      </a:r>
                    </a:p>
                  </a:txBody>
                  <a:tcPr marL="73152" marT="18288" marB="18288">
                    <a:solidFill>
                      <a:srgbClr val="1F3A5F"/>
                    </a:solidFill>
                  </a:tcPr>
                </a:tc>
                <a:tc>
                  <a:txBody>
                    <a:bodyPr/>
                    <a:lstStyle/>
                    <a:p>
                      <a:r>
                        <a:rPr sz="2200" b="1">
                          <a:solidFill>
                            <a:srgbClr val="FFFFFF"/>
                          </a:solidFill>
                          <a:latin typeface="Calibri"/>
                        </a:rPr>
                        <a:t>Most likely cause</a:t>
                      </a:r>
                    </a:p>
                  </a:txBody>
                  <a:tcPr marL="73152" marT="18288" marB="18288">
                    <a:solidFill>
                      <a:srgbClr val="1F3A5F"/>
                    </a:solidFill>
                  </a:tcPr>
                </a:tc>
                <a:tc>
                  <a:txBody>
                    <a:bodyPr/>
                    <a:lstStyle/>
                    <a:p>
                      <a:r>
                        <a:rPr sz="2200" b="1">
                          <a:solidFill>
                            <a:srgbClr val="FFFFFF"/>
                          </a:solidFill>
                          <a:latin typeface="Calibri"/>
                        </a:rPr>
                        <a:t>What to do</a:t>
                      </a:r>
                    </a:p>
                  </a:txBody>
                  <a:tcPr marL="73152" marT="18288" marB="18288">
                    <a:solidFill>
                      <a:srgbClr val="1F3A5F"/>
                    </a:solidFill>
                  </a:tcPr>
                </a:tc>
              </a:tr>
              <a:tr h="724807">
                <a:tc>
                  <a:txBody>
                    <a:bodyPr/>
                    <a:lstStyle/>
                    <a:p>
                      <a:r>
                        <a:rPr sz="2200">
                          <a:solidFill>
                            <a:srgbClr val="222222"/>
                          </a:solidFill>
                          <a:latin typeface="Calibri"/>
                        </a:rPr>
                        <a:t>Nothing connects at all</a:t>
                      </a:r>
                    </a:p>
                  </a:txBody>
                  <a:tcPr marL="73152" marT="18288" marB="18288">
                    <a:solidFill>
                      <a:srgbClr val="FFFFFF"/>
                    </a:solidFill>
                  </a:tcPr>
                </a:tc>
                <a:tc>
                  <a:txBody>
                    <a:bodyPr/>
                    <a:lstStyle/>
                    <a:p>
                      <a:r>
                        <a:rPr sz="2200">
                          <a:solidFill>
                            <a:srgbClr val="222222"/>
                          </a:solidFill>
                          <a:latin typeface="Calibri"/>
                        </a:rPr>
                        <a:t>Address mismatch</a:t>
                      </a:r>
                    </a:p>
                  </a:txBody>
                  <a:tcPr marL="73152" marT="18288" marB="18288">
                    <a:solidFill>
                      <a:srgbClr val="FFFFFF"/>
                    </a:solidFill>
                  </a:tcPr>
                </a:tc>
                <a:tc>
                  <a:txBody>
                    <a:bodyPr/>
                    <a:lstStyle/>
                    <a:p>
                      <a:r>
                        <a:rPr sz="2200">
                          <a:solidFill>
                            <a:srgbClr val="222222"/>
                          </a:solidFill>
                          <a:latin typeface="Calibri"/>
                        </a:rPr>
                        <a:t>Check the address in the sketch matches the pad</a:t>
                      </a:r>
                    </a:p>
                  </a:txBody>
                  <a:tcPr marL="73152" marT="18288" marB="18288">
                    <a:solidFill>
                      <a:srgbClr val="FFFFFF"/>
                    </a:solidFill>
                  </a:tcPr>
                </a:tc>
              </a:tr>
              <a:tr h="724807">
                <a:tc>
                  <a:txBody>
                    <a:bodyPr/>
                    <a:lstStyle/>
                    <a:p>
                      <a:r>
                        <a:rPr sz="2200">
                          <a:solidFill>
                            <a:srgbClr val="222222"/>
                          </a:solidFill>
                          <a:latin typeface="Calibri"/>
                        </a:rPr>
                        <a:t>Connects, then drops</a:t>
                      </a:r>
                    </a:p>
                  </a:txBody>
                  <a:tcPr marL="73152" marT="18288" marB="18288">
                    <a:solidFill>
                      <a:srgbClr val="EEF3F8"/>
                    </a:solidFill>
                  </a:tcPr>
                </a:tc>
                <a:tc>
                  <a:txBody>
                    <a:bodyPr/>
                    <a:lstStyle/>
                    <a:p>
                      <a:r>
                        <a:rPr sz="2200">
                          <a:solidFill>
                            <a:srgbClr val="222222"/>
                          </a:solidFill>
                          <a:latin typeface="Calibri"/>
                        </a:rPr>
                        <a:t>Flat controller battery</a:t>
                      </a:r>
                    </a:p>
                  </a:txBody>
                  <a:tcPr marL="73152" marT="18288" marB="18288">
                    <a:solidFill>
                      <a:srgbClr val="EEF3F8"/>
                    </a:solidFill>
                  </a:tcPr>
                </a:tc>
                <a:tc>
                  <a:txBody>
                    <a:bodyPr/>
                    <a:lstStyle/>
                    <a:p>
                      <a:r>
                        <a:rPr sz="2200">
                          <a:solidFill>
                            <a:srgbClr val="222222"/>
                          </a:solidFill>
                          <a:latin typeface="Calibri"/>
                        </a:rPr>
                        <a:t>Charge it over USB for a few minutes</a:t>
                      </a:r>
                    </a:p>
                  </a:txBody>
                  <a:tcPr marL="73152" marT="18288" marB="18288">
                    <a:solidFill>
                      <a:srgbClr val="EEF3F8"/>
                    </a:solidFill>
                  </a:tcPr>
                </a:tc>
              </a:tr>
              <a:tr h="724807">
                <a:tc>
                  <a:txBody>
                    <a:bodyPr/>
                    <a:lstStyle/>
                    <a:p>
                      <a:r>
                        <a:rPr sz="2200">
                          <a:solidFill>
                            <a:srgbClr val="222222"/>
                          </a:solidFill>
                          <a:latin typeface="Calibri"/>
                        </a:rPr>
                        <a:t>Somebody else's vehicle moves</a:t>
                      </a:r>
                    </a:p>
                  </a:txBody>
                  <a:tcPr marL="73152" marT="18288" marB="18288">
                    <a:solidFill>
                      <a:srgbClr val="FFFFFF"/>
                    </a:solidFill>
                  </a:tcPr>
                </a:tc>
                <a:tc>
                  <a:txBody>
                    <a:bodyPr/>
                    <a:lstStyle/>
                    <a:p>
                      <a:r>
                        <a:rPr sz="2200">
                          <a:solidFill>
                            <a:srgbClr val="222222"/>
                          </a:solidFill>
                          <a:latin typeface="Calibri"/>
                        </a:rPr>
                        <a:t>Two vehicles on one address</a:t>
                      </a:r>
                    </a:p>
                  </a:txBody>
                  <a:tcPr marL="73152" marT="18288" marB="18288">
                    <a:solidFill>
                      <a:srgbClr val="FFFFFF"/>
                    </a:solidFill>
                  </a:tcPr>
                </a:tc>
                <a:tc>
                  <a:txBody>
                    <a:bodyPr/>
                    <a:lstStyle/>
                    <a:p>
                      <a:r>
                        <a:rPr sz="2200">
                          <a:solidFill>
                            <a:srgbClr val="222222"/>
                          </a:solidFill>
                          <a:latin typeface="Calibri"/>
                        </a:rPr>
                        <a:t>Give every vehicle a different address</a:t>
                      </a:r>
                    </a:p>
                  </a:txBody>
                  <a:tcPr marL="73152" marT="18288" marB="18288">
                    <a:solidFill>
                      <a:srgbClr val="FFFFFF"/>
                    </a:solidFill>
                  </a:tcPr>
                </a:tc>
              </a:tr>
              <a:tr h="724807">
                <a:tc>
                  <a:txBody>
                    <a:bodyPr/>
                    <a:lstStyle/>
                    <a:p>
                      <a:r>
                        <a:rPr sz="2200">
                          <a:solidFill>
                            <a:srgbClr val="222222"/>
                          </a:solidFill>
                          <a:latin typeface="Calibri"/>
                        </a:rPr>
                        <a:t>Wheels spin the wrong way</a:t>
                      </a:r>
                    </a:p>
                  </a:txBody>
                  <a:tcPr marL="73152" marT="18288" marB="18288">
                    <a:solidFill>
                      <a:srgbClr val="EEF3F8"/>
                    </a:solidFill>
                  </a:tcPr>
                </a:tc>
                <a:tc>
                  <a:txBody>
                    <a:bodyPr/>
                    <a:lstStyle/>
                    <a:p>
                      <a:r>
                        <a:rPr sz="2200">
                          <a:solidFill>
                            <a:srgbClr val="222222"/>
                          </a:solidFill>
                          <a:latin typeface="Calibri"/>
                        </a:rPr>
                        <a:t>Motor pins swapped</a:t>
                      </a:r>
                    </a:p>
                  </a:txBody>
                  <a:tcPr marL="73152" marT="18288" marB="18288">
                    <a:solidFill>
                      <a:srgbClr val="EEF3F8"/>
                    </a:solidFill>
                  </a:tcPr>
                </a:tc>
                <a:tc>
                  <a:txBody>
                    <a:bodyPr/>
                    <a:lstStyle/>
                    <a:p>
                      <a:r>
                        <a:rPr sz="2200">
                          <a:solidFill>
                            <a:srgbClr val="222222"/>
                          </a:solidFill>
                          <a:latin typeface="Calibri"/>
                        </a:rPr>
                        <a:t>Swap that motor's two pin numbers in the sketch</a:t>
                      </a:r>
                    </a:p>
                  </a:txBody>
                  <a:tcPr marL="73152" marT="18288" marB="18288">
                    <a:solidFill>
                      <a:srgbClr val="EEF3F8"/>
                    </a:solidFill>
                  </a:tcPr>
                </a:tc>
              </a:tr>
              <a:tr h="724807">
                <a:tc>
                  <a:txBody>
                    <a:bodyPr/>
                    <a:lstStyle/>
                    <a:p>
                      <a:r>
                        <a:rPr sz="2200">
                          <a:solidFill>
                            <a:srgbClr val="222222"/>
                          </a:solidFill>
                          <a:latin typeface="Calibri"/>
                        </a:rPr>
                        <a:t>It creeps with the stick centered</a:t>
                      </a:r>
                    </a:p>
                  </a:txBody>
                  <a:tcPr marL="73152" marT="18288" marB="18288">
                    <a:solidFill>
                      <a:srgbClr val="FFFFFF"/>
                    </a:solidFill>
                  </a:tcPr>
                </a:tc>
                <a:tc>
                  <a:txBody>
                    <a:bodyPr/>
                    <a:lstStyle/>
                    <a:p>
                      <a:r>
                        <a:rPr sz="2200">
                          <a:solidFill>
                            <a:srgbClr val="222222"/>
                          </a:solidFill>
                          <a:latin typeface="Calibri"/>
                        </a:rPr>
                        <a:t>Deadzone too small</a:t>
                      </a:r>
                    </a:p>
                  </a:txBody>
                  <a:tcPr marL="73152" marT="18288" marB="18288">
                    <a:solidFill>
                      <a:srgbClr val="FFFFFF"/>
                    </a:solidFill>
                  </a:tcPr>
                </a:tc>
                <a:tc>
                  <a:txBody>
                    <a:bodyPr/>
                    <a:lstStyle/>
                    <a:p>
                      <a:r>
                        <a:rPr sz="2200">
                          <a:solidFill>
                            <a:srgbClr val="222222"/>
                          </a:solidFill>
                          <a:latin typeface="Calibri"/>
                        </a:rPr>
                        <a:t>Raise STICK_DEADZONE</a:t>
                      </a:r>
                    </a:p>
                  </a:txBody>
                  <a:tcPr marL="73152" marT="18288" marB="18288">
                    <a:solidFill>
                      <a:srgbClr val="FFFFFF"/>
                    </a:solidFill>
                  </a:tcPr>
                </a:tc>
              </a:tr>
              <a:tr h="724808">
                <a:tc>
                  <a:txBody>
                    <a:bodyPr/>
                    <a:lstStyle/>
                    <a:p>
                      <a:r>
                        <a:rPr sz="2200">
                          <a:solidFill>
                            <a:srgbClr val="222222"/>
                          </a:solidFill>
                          <a:latin typeface="Calibri"/>
                        </a:rPr>
                        <a:t>Nothing at all, no serial output</a:t>
                      </a:r>
                    </a:p>
                  </a:txBody>
                  <a:tcPr marL="73152" marT="18288" marB="18288">
                    <a:solidFill>
                      <a:srgbClr val="EEF3F8"/>
                    </a:solidFill>
                  </a:tcPr>
                </a:tc>
                <a:tc>
                  <a:txBody>
                    <a:bodyPr/>
                    <a:lstStyle/>
                    <a:p>
                      <a:r>
                        <a:rPr sz="2200">
                          <a:solidFill>
                            <a:srgbClr val="222222"/>
                          </a:solidFill>
                          <a:latin typeface="Calibri"/>
                        </a:rPr>
                        <a:t>Wrong board selected</a:t>
                      </a:r>
                    </a:p>
                  </a:txBody>
                  <a:tcPr marL="73152" marT="18288" marB="18288">
                    <a:solidFill>
                      <a:srgbClr val="EEF3F8"/>
                    </a:solidFill>
                  </a:tcPr>
                </a:tc>
                <a:tc>
                  <a:txBody>
                    <a:bodyPr/>
                    <a:lstStyle/>
                    <a:p>
                      <a:r>
                        <a:rPr sz="2200">
                          <a:solidFill>
                            <a:srgbClr val="222222"/>
                          </a:solidFill>
                          <a:latin typeface="Calibri"/>
                        </a:rPr>
                        <a:t>Check the board menu - see Lesson 1</a:t>
                      </a:r>
                    </a:p>
                  </a:txBody>
                  <a:tcPr marL="73152" marT="18288" marB="18288">
                    <a:solidFill>
                      <a:srgbClr val="EEF3F8"/>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Check yourself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30</a:t>
            </a:r>
          </a:p>
        </p:txBody>
      </p:sp>
      <p:sp>
        <p:nvSpPr>
          <p:cNvPr id="6" name="TextBox 5"/>
          <p:cNvSpPr txBox="1"/>
          <p:nvPr/>
        </p:nvSpPr>
        <p:spPr>
          <a:xfrm>
            <a:off x="502920" y="1188720"/>
            <a:ext cx="11185855" cy="411480"/>
          </a:xfrm>
          <a:prstGeom prst="rect">
            <a:avLst/>
          </a:prstGeom>
          <a:noFill/>
        </p:spPr>
        <p:txBody>
          <a:bodyPr wrap="square" lIns="0" tIns="0" rIns="0" bIns="0">
            <a:spAutoFit/>
          </a:bodyPr>
          <a:lstStyle/>
          <a:p>
            <a:pPr algn="l">
              <a:lnSpc>
                <a:spcPct val="100000"/>
              </a:lnSpc>
              <a:spcAft>
                <a:spcPts val="600"/>
              </a:spcAft>
              <a:defRPr sz="1600" b="0">
                <a:solidFill>
                  <a:srgbClr val="666666"/>
                </a:solidFill>
                <a:latin typeface="Calibri"/>
              </a:defRPr>
            </a:pPr>
            <a:r>
              <a:rPr sz="1600" b="0">
                <a:solidFill>
                  <a:srgbClr val="666666"/>
                </a:solidFill>
                <a:latin typeface="Calibri"/>
              </a:rPr>
              <a:t>Next lesson: the 32 LEDs, and what color actually is.</a:t>
            </a:r>
          </a:p>
        </p:txBody>
      </p:sp>
      <p:sp>
        <p:nvSpPr>
          <p:cNvPr id="7" name="TextBox 6"/>
          <p:cNvSpPr txBox="1"/>
          <p:nvPr/>
        </p:nvSpPr>
        <p:spPr>
          <a:xfrm>
            <a:off x="502920" y="1664208"/>
            <a:ext cx="11185855" cy="4599432"/>
          </a:xfrm>
          <a:prstGeom prst="rect">
            <a:avLst/>
          </a:prstGeom>
          <a:noFill/>
        </p:spPr>
        <p:txBody>
          <a:bodyPr wrap="square" lIns="0" tIns="0" rIns="0" bIns="0">
            <a:spAutoFit/>
          </a:bodyPr>
          <a:lstStyle/>
          <a:p>
            <a:pPr algn="l">
              <a:lnSpc>
                <a:spcPct val="100000"/>
              </a:lnSpc>
              <a:spcAft>
                <a:spcPts val="1100"/>
              </a:spcAft>
              <a:defRPr sz="2000" b="0">
                <a:solidFill>
                  <a:srgbClr val="222222"/>
                </a:solidFill>
                <a:latin typeface="Calibri"/>
              </a:defRPr>
            </a:pPr>
            <a:r>
              <a:rPr sz="2000" b="0">
                <a:solidFill>
                  <a:srgbClr val="222222"/>
                </a:solidFill>
                <a:latin typeface="Calibri"/>
              </a:rPr>
              <a:t>1.  What is a Bluetooth address, and why must every vehicle in the room have a different one?</a:t>
            </a:r>
          </a:p>
          <a:p>
            <a:pPr algn="l">
              <a:lnSpc>
                <a:spcPct val="100000"/>
              </a:lnSpc>
              <a:spcAft>
                <a:spcPts val="1100"/>
              </a:spcAft>
              <a:defRPr sz="2000" b="0">
                <a:solidFill>
                  <a:srgbClr val="222222"/>
                </a:solidFill>
                <a:latin typeface="Calibri"/>
              </a:defRPr>
            </a:pPr>
            <a:r>
              <a:rPr sz="2000" b="0">
                <a:solidFill>
                  <a:srgbClr val="222222"/>
                </a:solidFill>
                <a:latin typeface="Calibri"/>
              </a:rPr>
              <a:t>2.  Push the left stick fully forward. Is the number positive or negative? Why does the program put a minus sign in front of it?</a:t>
            </a:r>
          </a:p>
          <a:p>
            <a:pPr algn="l">
              <a:lnSpc>
                <a:spcPct val="100000"/>
              </a:lnSpc>
              <a:spcAft>
                <a:spcPts val="1100"/>
              </a:spcAft>
              <a:defRPr sz="2000" b="0">
                <a:solidFill>
                  <a:srgbClr val="222222"/>
                </a:solidFill>
                <a:latin typeface="Calibri"/>
              </a:defRPr>
            </a:pPr>
            <a:r>
              <a:rPr sz="2000" b="0">
                <a:solidFill>
                  <a:srgbClr val="222222"/>
                </a:solidFill>
                <a:latin typeface="Calibri"/>
              </a:rPr>
              <a:t>3.  What is a deadzone for? What goes wrong if it is 0? What goes wrong if it is far too big?</a:t>
            </a:r>
          </a:p>
          <a:p>
            <a:pPr algn="l">
              <a:lnSpc>
                <a:spcPct val="100000"/>
              </a:lnSpc>
              <a:spcAft>
                <a:spcPts val="1100"/>
              </a:spcAft>
              <a:defRPr sz="2000" b="0">
                <a:solidFill>
                  <a:srgbClr val="222222"/>
                </a:solidFill>
                <a:latin typeface="Calibri"/>
              </a:defRPr>
            </a:pPr>
            <a:r>
              <a:rPr sz="2000" b="0">
                <a:solidFill>
                  <a:srgbClr val="222222"/>
                </a:solidFill>
                <a:latin typeface="Calibri"/>
              </a:rPr>
              <a:t>4.  In your own words, what does map() do?</a:t>
            </a:r>
          </a:p>
          <a:p>
            <a:pPr algn="l">
              <a:lnSpc>
                <a:spcPct val="100000"/>
              </a:lnSpc>
              <a:spcAft>
                <a:spcPts val="1100"/>
              </a:spcAft>
              <a:defRPr sz="2000" b="0">
                <a:solidFill>
                  <a:srgbClr val="222222"/>
                </a:solidFill>
                <a:latin typeface="Calibri"/>
              </a:defRPr>
            </a:pPr>
            <a:r>
              <a:rPr sz="2000" b="0">
                <a:solidFill>
                  <a:srgbClr val="222222"/>
                </a:solidFill>
                <a:latin typeface="Calibri"/>
              </a:rPr>
              <a:t>5.  forward is 180 and turn is 100. What speed does each side get, before and after constrain()?</a:t>
            </a:r>
          </a:p>
          <a:p>
            <a:pPr algn="l">
              <a:lnSpc>
                <a:spcPct val="100000"/>
              </a:lnSpc>
              <a:spcAft>
                <a:spcPts val="1100"/>
              </a:spcAft>
              <a:defRPr sz="2000" b="0">
                <a:solidFill>
                  <a:srgbClr val="222222"/>
                </a:solidFill>
                <a:latin typeface="Calibri"/>
              </a:defRPr>
            </a:pPr>
            <a:r>
              <a:rPr sz="2000" b="0">
                <a:solidFill>
                  <a:srgbClr val="222222"/>
                </a:solidFill>
                <a:latin typeface="Calibri"/>
              </a:rPr>
              <a:t>6.  Why is steering limited to 75% of full power by default?</a:t>
            </a:r>
          </a:p>
          <a:p>
            <a:pPr algn="l">
              <a:lnSpc>
                <a:spcPct val="100000"/>
              </a:lnSpc>
              <a:spcAft>
                <a:spcPts val="1100"/>
              </a:spcAft>
              <a:defRPr sz="2000" b="0">
                <a:solidFill>
                  <a:srgbClr val="222222"/>
                </a:solidFill>
                <a:latin typeface="Calibri"/>
              </a:defRPr>
            </a:pPr>
            <a:r>
              <a:rPr sz="2000" b="0">
                <a:solidFill>
                  <a:srgbClr val="222222"/>
                </a:solidFill>
                <a:latin typeface="Calibri"/>
              </a:rPr>
              <a:t>7.  Write the three lines that stop the vehicle when the controller disconnects.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