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the allowlist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So on this track, the VEHICLE is told which controller address it will accept.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Bluepad32 keeps an ALLOWLIST - a guest list checked BEFORE a connection is accepted. A pad that is not on the list is turned away before it is ever let in.</a:t>
            </a:r>
          </a:p>
          <a:p>
            <a:pPr algn="l">
              <a:lnSpc>
                <a:spcPct val="100000"/>
              </a:lnSpc>
              <a:spcAft>
                <a:spcPts val="600"/>
              </a:spcAft>
              <a:defRPr sz="1400" b="0">
                <a:solidFill>
                  <a:srgbClr val="222222"/>
                </a:solidFill>
                <a:latin typeface="Calibri"/>
              </a:defRPr>
            </a:pP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uni_bt_allowlist_remove_all();</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uni_bt_allowlist_add_addr(myControllerAddress);</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uni_bt_allowlist_set_enabled(true);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Two ways a Switch pad gets paired  -  know which one you are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This course:  pathfinder_nintendoswitch</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The address is a CONSTANT IN THE PROGRAM, MY_CONTROLLER.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You find it with l3a_controller_check, paste it in, and upload.</a:t>
            </a:r>
          </a:p>
          <a:p>
            <a:pPr algn="l">
              <a:lnSpc>
                <a:spcPct val="100000"/>
              </a:lnSpc>
              <a:spcAft>
                <a:spcPts val="800"/>
              </a:spcAft>
              <a:defRPr sz="1600" b="0">
                <a:solidFill>
                  <a:srgbClr val="222222"/>
                </a:solidFill>
                <a:latin typeface="Calibri"/>
              </a:defRPr>
            </a:pPr>
            <a:r>
              <a:rPr sz="1600" b="0">
                <a:solidFill>
                  <a:srgbClr val="222222"/>
                </a:solidFill>
                <a:latin typeface="Calibri"/>
              </a:rPr>
              <a:t>To change controllers you edit the sketch and upload again.</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Simple, visible, and nothing is hidden. You can read the whole mechanism in the file in front of you - which is the point at this stage.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advanced program:  Op Program 12</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The address is stored in EEPROM the first time it pairs, so it survives a power cycle.</a:t>
            </a:r>
          </a:p>
          <a:p>
            <a:pPr algn="l">
              <a:lnSpc>
                <a:spcPct val="100000"/>
              </a:lnSpc>
              <a:spcAft>
                <a:spcPts val="800"/>
              </a:spcAft>
              <a:defRPr sz="1500" b="0">
                <a:solidFill>
                  <a:srgbClr val="222222"/>
                </a:solidFill>
                <a:latin typeface="Calibri"/>
              </a:defRPr>
            </a:pPr>
            <a:r>
              <a:rPr sz="1500" b="0">
                <a:solidFill>
                  <a:srgbClr val="222222"/>
                </a:solidFill>
                <a:latin typeface="Calibri"/>
              </a:rPr>
              <a:t>No laptop needed to change it:</a:t>
            </a:r>
          </a:p>
          <a:p>
            <a:pPr lvl="1" algn="l">
              <a:lnSpc>
                <a:spcPct val="100000"/>
              </a:lnSpc>
              <a:spcAft>
                <a:spcPts val="800"/>
              </a:spcAft>
              <a:defRPr sz="1500" b="0">
                <a:solidFill>
                  <a:srgbClr val="222222"/>
                </a:solidFill>
                <a:latin typeface="Calibri"/>
              </a:defRPr>
            </a:pPr>
            <a:r>
              <a:rPr sz="1500" b="0">
                <a:solidFill>
                  <a:srgbClr val="222222"/>
                </a:solidFill>
                <a:latin typeface="Calibri"/>
              </a:rPr>
              <a:t>press the BOOT button on the ESP32, or type  pair  into the Serial Monitor</a:t>
            </a:r>
          </a:p>
          <a:p>
            <a:pPr lvl="1" algn="l">
              <a:lnSpc>
                <a:spcPct val="100000"/>
              </a:lnSpc>
              <a:spcAft>
                <a:spcPts val="800"/>
              </a:spcAft>
              <a:defRPr sz="1500" b="0">
                <a:solidFill>
                  <a:srgbClr val="222222"/>
                </a:solidFill>
                <a:latin typeface="Calibri"/>
              </a:defRPr>
            </a:pPr>
            <a:r>
              <a:rPr sz="1500" b="0">
                <a:solidFill>
                  <a:srgbClr val="222222"/>
                </a:solidFill>
                <a:latin typeface="Calibri"/>
              </a:rPr>
              <a:t>the LEDs breathe blue</a:t>
            </a:r>
          </a:p>
          <a:p>
            <a:pPr lvl="1" algn="l">
              <a:lnSpc>
                <a:spcPct val="100000"/>
              </a:lnSpc>
              <a:spcAft>
                <a:spcPts val="800"/>
              </a:spcAft>
              <a:defRPr sz="1500" b="0">
                <a:solidFill>
                  <a:srgbClr val="222222"/>
                </a:solidFill>
                <a:latin typeface="Calibri"/>
              </a:defRPr>
            </a:pPr>
            <a:r>
              <a:rPr sz="1500" b="0">
                <a:solidFill>
                  <a:srgbClr val="222222"/>
                </a:solidFill>
                <a:latin typeface="Calibri"/>
              </a:rPr>
              <a:t>on the controller, press A and HOME</a:t>
            </a:r>
          </a:p>
          <a:p>
            <a:pPr lvl="1" algn="l">
              <a:lnSpc>
                <a:spcPct val="100000"/>
              </a:lnSpc>
              <a:spcAft>
                <a:spcPts val="800"/>
              </a:spcAft>
              <a:defRPr sz="1500" b="0">
                <a:solidFill>
                  <a:srgbClr val="222222"/>
                </a:solidFill>
                <a:latin typeface="Calibri"/>
              </a:defRPr>
            </a:pPr>
            <a:r>
              <a:rPr sz="1500" b="0">
                <a:solidFill>
                  <a:srgbClr val="222222"/>
                </a:solidFill>
                <a:latin typeface="Calibri"/>
              </a:rPr>
              <a:t>it connects, and the vehicle remembers it from then on</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Lesson 3 of the advanced course is about how that works.</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If somebody hands you a Gen 3 vehicle and tells you to type 'pair', it is running the advanced program, not this one. Same hardware, different pairing.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271619" y="2267712"/>
            <a:ext cx="3648456" cy="3648456"/>
          </a:xfrm>
          <a:prstGeom prst="rect">
            <a:avLst/>
          </a:prstGeom>
        </p:spPr>
      </p:pic>
      <p:sp>
        <p:nvSpPr>
          <p:cNvPr id="8" name="TextBox 7"/>
          <p:cNvSpPr txBox="1"/>
          <p:nvPr/>
        </p:nvSpPr>
        <p:spPr>
          <a:xfrm>
            <a:off x="502920" y="5971032"/>
            <a:ext cx="11185855" cy="310896"/>
          </a:xfrm>
          <a:prstGeom prst="rect">
            <a:avLst/>
          </a:prstGeom>
          <a:noFill/>
        </p:spPr>
        <p:txBody>
          <a:bodyPr wrap="square" lIns="0" tIns="0" rIns="0" bIns="0">
            <a:spAutoFit/>
          </a:bodyPr>
          <a:lstStyle/>
          <a:p>
            <a:pPr algn="ctr">
              <a:lnSpc>
                <a:spcPct val="100000"/>
              </a:lnSpc>
              <a:spcAft>
                <a:spcPts val="600"/>
              </a:spcAft>
              <a:defRPr sz="1000" b="0">
                <a:solidFill>
                  <a:srgbClr val="666666"/>
                </a:solidFill>
                <a:latin typeface="Calibri"/>
              </a:defRPr>
            </a:pPr>
            <a:r>
              <a:rPr sz="10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myController-&gt;x()</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-512 to +511.</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Hold the SYNC button until the controller lights run.</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Copy the MY_CONTROLLER line it prints. You need it all day.</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60, which is about 12%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511</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653102"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1921582"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60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511,</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408.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-255, 255);</a:t>
            </a:r>
          </a:p>
          <a:p>
            <a:pPr algn="l">
              <a:lnSpc>
                <a:spcPct val="100000"/>
              </a:lnSpc>
              <a:spcAft>
                <a:spcPts val="0"/>
              </a:spcAft>
              <a:defRPr sz="1300">
                <a:latin typeface="Consolas"/>
              </a:defRPr>
            </a:pPr>
            <a:r>
              <a:rPr sz="1300">
                <a:solidFill>
                  <a:srgbClr val="222222"/>
                </a:solidFill>
                <a:latin typeface="Consolas"/>
              </a:rPr>
              <a:t>  int rightSpeed = constrain(forward - turn, -255,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