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137160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an H-bridge reverses a motor, and how PWM sets its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measured your own vehicle's minimum turning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drove a square you calculated, and found out why it did not close.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Bluetooth is, and how a pad finds a vehicle</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One vehicle, one controller: the allowlist</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l3a_controller_check. Find every button and axis</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The deadzone problem, and map()</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Upload l3b_deadzone_and_map. Watch the arithmetic</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Mixing forward and turn</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Upload l3c_tank_drive. Drive it</a:t>
                      </a:r>
                    </a:p>
                  </a:txBody>
                  <a:tcPr marL="73152" marT="18288" marB="18288">
                    <a:solidFill>
                      <a:srgbClr val="EEF3F8"/>
                    </a:solidFill>
                  </a:tcPr>
                </a:tc>
              </a:tr>
              <a:tr h="298450">
                <a:tc>
                  <a:txBody>
                    <a:bodyPr/>
                    <a:lstStyle/>
                    <a:p>
                      <a:r>
                        <a:rPr sz="1400">
                          <a:solidFill>
                            <a:srgbClr val="222222"/>
                          </a:solidFill>
                          <a:latin typeface="Calibri"/>
                        </a:rPr>
                        <a:t>2:50</a:t>
                      </a:r>
                    </a:p>
                  </a:txBody>
                  <a:tcPr marL="73152" marT="18288" marB="18288">
                    <a:solidFill>
                      <a:srgbClr val="FFFFFF"/>
                    </a:solidFill>
                  </a:tcPr>
                </a:tc>
                <a:tc>
                  <a:txBody>
                    <a:bodyPr/>
                    <a:lstStyle/>
                    <a:p>
                      <a:r>
                        <a:rPr sz="1400">
                          <a:solidFill>
                            <a:srgbClr val="222222"/>
                          </a:solidFill>
                          <a:latin typeface="Calibri"/>
                        </a:rPr>
                        <a:t>Failsafe, and what happens when the link drops</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600" b="0">
                <a:solidFill>
                  <a:srgbClr val="222222"/>
                </a:solidFill>
                <a:latin typeface="Calibri"/>
              </a:defRPr>
            </a:pPr>
            <a:r>
              <a:rPr sz="16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600" b="0">
                <a:solidFill>
                  <a:srgbClr val="222222"/>
                </a:solidFill>
                <a:latin typeface="Calibri"/>
              </a:defRPr>
            </a:pPr>
            <a:r>
              <a:rPr sz="1600" b="0">
                <a:solidFill>
                  <a:srgbClr val="222222"/>
                </a:solidFill>
                <a:latin typeface="Calibri"/>
              </a:rPr>
              <a:t>Range is tens of metres, and it goes down sharply if somebody stands between the pad and the vehicle.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The ESP32 has Bluetooth built into the chip. That is a large part of why we use it.</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So on this track, the VEHICLE is told which controller address it will accept.</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Bluepad32 keeps an ALLOWLIST - a guest list checked BEFORE a connection is accepted. A pad that is not on the list is turned away before it is ever let in.</a:t>
            </a:r>
          </a:p>
          <a:p>
            <a:pPr algn="l">
              <a:lnSpc>
                <a:spcPct val="100000"/>
              </a:lnSpc>
              <a:spcAft>
                <a:spcPts val="600"/>
              </a:spcAft>
              <a:defRPr sz="1400" b="0">
                <a:solidFill>
                  <a:srgbClr val="222222"/>
                </a:solidFill>
                <a:latin typeface="Calibri"/>
              </a:defRPr>
            </a:pPr>
          </a:p>
          <a:p>
            <a:pPr lvl="1" algn="l">
              <a:lnSpc>
                <a:spcPct val="100000"/>
              </a:lnSpc>
              <a:spcAft>
                <a:spcPts val="600"/>
              </a:spcAft>
              <a:defRPr sz="1400" b="0">
                <a:solidFill>
                  <a:srgbClr val="222222"/>
                </a:solidFill>
                <a:latin typeface="Calibri"/>
              </a:defRPr>
            </a:pPr>
            <a:r>
              <a:rPr sz="1400" b="0">
                <a:solidFill>
                  <a:srgbClr val="222222"/>
                </a:solidFill>
                <a:latin typeface="Calibri"/>
              </a:rPr>
              <a:t>uni_bt_allowlist_remove_all();</a:t>
            </a:r>
          </a:p>
          <a:p>
            <a:pPr lvl="1" algn="l">
              <a:lnSpc>
                <a:spcPct val="100000"/>
              </a:lnSpc>
              <a:spcAft>
                <a:spcPts val="600"/>
              </a:spcAft>
              <a:defRPr sz="1400" b="0">
                <a:solidFill>
                  <a:srgbClr val="222222"/>
                </a:solidFill>
                <a:latin typeface="Calibri"/>
              </a:defRPr>
            </a:pPr>
            <a:r>
              <a:rPr sz="1400" b="0">
                <a:solidFill>
                  <a:srgbClr val="222222"/>
                </a:solidFill>
                <a:latin typeface="Calibri"/>
              </a:rPr>
              <a:t>uni_bt_allowlist_add_addr(myControllerAddress);</a:t>
            </a:r>
          </a:p>
          <a:p>
            <a:pPr lvl="1" algn="l">
              <a:lnSpc>
                <a:spcPct val="100000"/>
              </a:lnSpc>
              <a:spcAft>
                <a:spcPts val="600"/>
              </a:spcAft>
              <a:defRPr sz="1400" b="0">
                <a:solidFill>
                  <a:srgbClr val="222222"/>
                </a:solidFill>
                <a:latin typeface="Calibri"/>
              </a:defRPr>
            </a:pPr>
            <a:r>
              <a:rPr sz="1400" b="0">
                <a:solidFill>
                  <a:srgbClr val="222222"/>
                </a:solidFill>
                <a:latin typeface="Calibri"/>
              </a:rPr>
              <a:t>uni_bt_allowlist_set_enabled(true);</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1.  Upload l3a_controller_check and connect your pad.</a:t>
            </a:r>
          </a:p>
          <a:p>
            <a:pPr algn="l">
              <a:lnSpc>
                <a:spcPct val="100000"/>
              </a:lnSpc>
              <a:spcAft>
                <a:spcPts val="600"/>
              </a:spcAft>
              <a:defRPr sz="1400" b="0">
                <a:solidFill>
                  <a:srgbClr val="222222"/>
                </a:solidFill>
                <a:latin typeface="Calibri"/>
              </a:defRPr>
            </a:pPr>
            <a:r>
              <a:rPr sz="1400" b="0">
                <a:solidFill>
                  <a:srgbClr val="222222"/>
                </a:solidFill>
                <a:latin typeface="Calibri"/>
              </a:rPr>
              <a:t>2.  It prints a ready-made MY_CONTROLLER line.</a:t>
            </a:r>
          </a:p>
          <a:p>
            <a:pPr algn="l">
              <a:lnSpc>
                <a:spcPct val="100000"/>
              </a:lnSpc>
              <a:spcAft>
                <a:spcPts val="600"/>
              </a:spcAft>
              <a:defRPr sz="1400" b="0">
                <a:solidFill>
                  <a:srgbClr val="222222"/>
                </a:solidFill>
                <a:latin typeface="Calibri"/>
              </a:defRPr>
            </a:pPr>
            <a:r>
              <a:rPr sz="1400" b="0">
                <a:solidFill>
                  <a:srgbClr val="222222"/>
                </a:solidFill>
                <a:latin typeface="Calibri"/>
              </a:rPr>
              <a:t>3.  Paste that line into the top of the sketch.</a:t>
            </a:r>
          </a:p>
          <a:p>
            <a:pPr algn="l">
              <a:lnSpc>
                <a:spcPct val="100000"/>
              </a:lnSpc>
              <a:spcAft>
                <a:spcPts val="600"/>
              </a:spcAft>
              <a:defRPr sz="1400" b="0">
                <a:solidFill>
                  <a:srgbClr val="222222"/>
                </a:solidFill>
                <a:latin typeface="Calibri"/>
              </a:defRPr>
            </a:pPr>
            <a:r>
              <a:rPr sz="1400" b="0">
                <a:solidFill>
                  <a:srgbClr val="222222"/>
                </a:solidFill>
                <a:latin typeface="Calibri"/>
              </a:rPr>
              <a:t>4.  Upload. From now on the vehicle answers only to that pad.</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To change controllers, you edit the sketch and upload again.</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Nothing is hidden. The whole mechanism is visible in the file in front of you, which is exactly what you want while you are still learning what the pieces are.</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led.jpg"/>
          <p:cNvPicPr>
            <a:picLocks noChangeAspect="1"/>
          </p:cNvPicPr>
          <p:nvPr/>
        </p:nvPicPr>
        <p:blipFill>
          <a:blip r:embed="rId2"/>
          <a:stretch>
            <a:fillRect/>
          </a:stretch>
        </p:blipFill>
        <p:spPr>
          <a:xfrm>
            <a:off x="4271619" y="2267712"/>
            <a:ext cx="3648456" cy="3648456"/>
          </a:xfrm>
          <a:prstGeom prst="rect">
            <a:avLst/>
          </a:prstGeom>
        </p:spPr>
      </p:pic>
      <p:sp>
        <p:nvSpPr>
          <p:cNvPr id="8" name="TextBox 7"/>
          <p:cNvSpPr txBox="1"/>
          <p:nvPr/>
        </p:nvSpPr>
        <p:spPr>
          <a:xfrm>
            <a:off x="502920" y="5971032"/>
            <a:ext cx="11185855" cy="310896"/>
          </a:xfrm>
          <a:prstGeom prst="rect">
            <a:avLst/>
          </a:prstGeom>
          <a:noFill/>
        </p:spPr>
        <p:txBody>
          <a:bodyPr wrap="square" lIns="0" tIns="0" rIns="0" bIns="0">
            <a:spAutoFit/>
          </a:bodyPr>
          <a:lstStyle/>
          <a:p>
            <a:pPr algn="ctr">
              <a:lnSpc>
                <a:spcPct val="100000"/>
              </a:lnSpc>
              <a:spcAft>
                <a:spcPts val="600"/>
              </a:spcAft>
              <a:defRPr sz="1000" b="0">
                <a:solidFill>
                  <a:srgbClr val="666666"/>
                </a:solidFill>
                <a:latin typeface="Calibri"/>
              </a:defRPr>
            </a:pPr>
            <a:r>
              <a:rPr sz="10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108325"/>
        </p:xfrm>
        <a:graphic>
          <a:graphicData uri="http://schemas.openxmlformats.org/drawingml/2006/table">
            <a:tbl>
              <a:tblPr firstRow="1" bandRow="1">
                <a:tableStyleId>{5C22544A-7EE6-4342-B048-85BDC9FD1C3A}</a:tableStyleId>
              </a:tblPr>
              <a:tblGrid>
                <a:gridCol w="2663298"/>
                <a:gridCol w="4261278"/>
                <a:gridCol w="4261278"/>
              </a:tblGrid>
              <a:tr h="282575">
                <a:tc>
                  <a:txBody>
                    <a:bodyPr/>
                    <a:lstStyle/>
                    <a:p>
                      <a:r>
                        <a:rPr sz="1300" b="1">
                          <a:solidFill>
                            <a:srgbClr val="FFFFFF"/>
                          </a:solidFill>
                          <a:latin typeface="Calibri"/>
                        </a:rPr>
                        <a:t>Printed on the pad</a:t>
                      </a:r>
                    </a:p>
                  </a:txBody>
                  <a:tcPr marL="73152" marT="18288" marB="18288">
                    <a:solidFill>
                      <a:srgbClr val="1F3A5F"/>
                    </a:solidFill>
                  </a:tcPr>
                </a:tc>
                <a:tc>
                  <a:txBody>
                    <a:bodyPr/>
                    <a:lstStyle/>
                    <a:p>
                      <a:r>
                        <a:rPr sz="1300" b="1">
                          <a:solidFill>
                            <a:srgbClr val="FFFFFF"/>
                          </a:solidFill>
                          <a:latin typeface="Calibri"/>
                        </a:rPr>
                        <a:t>In the program</a:t>
                      </a:r>
                    </a:p>
                  </a:txBody>
                  <a:tcPr marL="73152" marT="18288" marB="18288">
                    <a:solidFill>
                      <a:srgbClr val="1F3A5F"/>
                    </a:solidFill>
                  </a:tcPr>
                </a:tc>
                <a:tc>
                  <a:txBody>
                    <a:bodyPr/>
                    <a:lstStyle/>
                    <a:p>
                      <a:r>
                        <a:rPr sz="1300" b="1">
                          <a:solidFill>
                            <a:srgbClr val="FFFFFF"/>
                          </a:solidFill>
                          <a:latin typeface="Calibri"/>
                        </a:rPr>
                        <a:t>Where it is</a:t>
                      </a:r>
                    </a:p>
                  </a:txBody>
                  <a:tcPr marL="73152" marT="18288" marB="18288">
                    <a:solidFill>
                      <a:srgbClr val="1F3A5F"/>
                    </a:solidFill>
                  </a:tcPr>
                </a:tc>
              </a:tr>
              <a:tr h="282575">
                <a:tc>
                  <a:txBody>
                    <a:bodyPr/>
                    <a:lstStyle/>
                    <a:p>
                      <a:r>
                        <a:rPr sz="1300">
                          <a:solidFill>
                            <a:srgbClr val="222222"/>
                          </a:solidFill>
                          <a:latin typeface="Calibri"/>
                        </a:rPr>
                        <a:t>B</a:t>
                      </a:r>
                    </a:p>
                  </a:txBody>
                  <a:tcPr marL="73152" marT="18288" marB="18288">
                    <a:solidFill>
                      <a:srgbClr val="FFFFFF"/>
                    </a:solidFill>
                  </a:tcPr>
                </a:tc>
                <a:tc>
                  <a:txBody>
                    <a:bodyPr/>
                    <a:lstStyle/>
                    <a:p>
                      <a:r>
                        <a:rPr sz="1300">
                          <a:solidFill>
                            <a:srgbClr val="222222"/>
                          </a:solidFill>
                          <a:latin typeface="Calibri"/>
                        </a:rPr>
                        <a:t>myController-&gt;a()</a:t>
                      </a:r>
                    </a:p>
                  </a:txBody>
                  <a:tcPr marL="73152" marT="18288" marB="18288">
                    <a:solidFill>
                      <a:srgbClr val="FFFFFF"/>
                    </a:solidFill>
                  </a:tcPr>
                </a:tc>
                <a:tc>
                  <a:txBody>
                    <a:bodyPr/>
                    <a:lstStyle/>
                    <a:p>
                      <a:r>
                        <a:rPr sz="1300">
                          <a:solidFill>
                            <a:srgbClr val="222222"/>
                          </a:solidFill>
                          <a:latin typeface="Calibri"/>
                        </a:rPr>
                        <a:t>bottom face button</a:t>
                      </a:r>
                    </a:p>
                  </a:txBody>
                  <a:tcPr marL="73152" marT="18288" marB="18288">
                    <a:solidFill>
                      <a:srgbClr val="FFFFFF"/>
                    </a:solidFill>
                  </a:tcPr>
                </a:tc>
              </a:tr>
              <a:tr h="282575">
                <a:tc>
                  <a:txBody>
                    <a:bodyPr/>
                    <a:lstStyle/>
                    <a:p>
                      <a:r>
                        <a:rPr sz="1300">
                          <a:solidFill>
                            <a:srgbClr val="222222"/>
                          </a:solidFill>
                          <a:latin typeface="Calibri"/>
                        </a:rPr>
                        <a:t>A</a:t>
                      </a:r>
                    </a:p>
                  </a:txBody>
                  <a:tcPr marL="73152" marT="18288" marB="18288">
                    <a:solidFill>
                      <a:srgbClr val="EEF3F8"/>
                    </a:solidFill>
                  </a:tcPr>
                </a:tc>
                <a:tc>
                  <a:txBody>
                    <a:bodyPr/>
                    <a:lstStyle/>
                    <a:p>
                      <a:r>
                        <a:rPr sz="1300">
                          <a:solidFill>
                            <a:srgbClr val="222222"/>
                          </a:solidFill>
                          <a:latin typeface="Calibri"/>
                        </a:rPr>
                        <a:t>myController-&gt;b()</a:t>
                      </a:r>
                    </a:p>
                  </a:txBody>
                  <a:tcPr marL="73152" marT="18288" marB="18288">
                    <a:solidFill>
                      <a:srgbClr val="EEF3F8"/>
                    </a:solidFill>
                  </a:tcPr>
                </a:tc>
                <a:tc>
                  <a:txBody>
                    <a:bodyPr/>
                    <a:lstStyle/>
                    <a:p>
                      <a:r>
                        <a:rPr sz="1300">
                          <a:solidFill>
                            <a:srgbClr val="222222"/>
                          </a:solidFill>
                          <a:latin typeface="Calibri"/>
                        </a:rPr>
                        <a:t>right face button</a:t>
                      </a:r>
                    </a:p>
                  </a:txBody>
                  <a:tcPr marL="73152" marT="18288" marB="18288">
                    <a:solidFill>
                      <a:srgbClr val="EEF3F8"/>
                    </a:solidFill>
                  </a:tcPr>
                </a:tc>
              </a:tr>
              <a:tr h="282575">
                <a:tc>
                  <a:txBody>
                    <a:bodyPr/>
                    <a:lstStyle/>
                    <a:p>
                      <a:r>
                        <a:rPr sz="1300">
                          <a:solidFill>
                            <a:srgbClr val="222222"/>
                          </a:solidFill>
                          <a:latin typeface="Calibri"/>
                        </a:rPr>
                        <a:t>Y</a:t>
                      </a:r>
                    </a:p>
                  </a:txBody>
                  <a:tcPr marL="73152" marT="18288" marB="18288">
                    <a:solidFill>
                      <a:srgbClr val="FFFFFF"/>
                    </a:solidFill>
                  </a:tcPr>
                </a:tc>
                <a:tc>
                  <a:txBody>
                    <a:bodyPr/>
                    <a:lstStyle/>
                    <a:p>
                      <a:r>
                        <a:rPr sz="1300">
                          <a:solidFill>
                            <a:srgbClr val="222222"/>
                          </a:solidFill>
                          <a:latin typeface="Calibri"/>
                        </a:rPr>
                        <a:t>myController-&gt;x()</a:t>
                      </a:r>
                    </a:p>
                  </a:txBody>
                  <a:tcPr marL="73152" marT="18288" marB="18288">
                    <a:solidFill>
                      <a:srgbClr val="FFFFFF"/>
                    </a:solidFill>
                  </a:tcPr>
                </a:tc>
                <a:tc>
                  <a:txBody>
                    <a:bodyPr/>
                    <a:lstStyle/>
                    <a:p>
                      <a:r>
                        <a:rPr sz="1300">
                          <a:solidFill>
                            <a:srgbClr val="222222"/>
                          </a:solidFill>
                          <a:latin typeface="Calibri"/>
                        </a:rPr>
                        <a:t>left face button</a:t>
                      </a:r>
                    </a:p>
                  </a:txBody>
                  <a:tcPr marL="73152" marT="18288" marB="18288">
                    <a:solidFill>
                      <a:srgbClr val="FFFFFF"/>
                    </a:solidFill>
                  </a:tcPr>
                </a:tc>
              </a:tr>
              <a:tr h="282575">
                <a:tc>
                  <a:txBody>
                    <a:bodyPr/>
                    <a:lstStyle/>
                    <a:p>
                      <a:r>
                        <a:rPr sz="1300">
                          <a:solidFill>
                            <a:srgbClr val="222222"/>
                          </a:solidFill>
                          <a:latin typeface="Calibri"/>
                        </a:rPr>
                        <a:t>X</a:t>
                      </a:r>
                    </a:p>
                  </a:txBody>
                  <a:tcPr marL="73152" marT="18288" marB="18288">
                    <a:solidFill>
                      <a:srgbClr val="EEF3F8"/>
                    </a:solidFill>
                  </a:tcPr>
                </a:tc>
                <a:tc>
                  <a:txBody>
                    <a:bodyPr/>
                    <a:lstStyle/>
                    <a:p>
                      <a:r>
                        <a:rPr sz="1300">
                          <a:solidFill>
                            <a:srgbClr val="222222"/>
                          </a:solidFill>
                          <a:latin typeface="Calibri"/>
                        </a:rPr>
                        <a:t>myController-&gt;y()</a:t>
                      </a:r>
                    </a:p>
                  </a:txBody>
                  <a:tcPr marL="73152" marT="18288" marB="18288">
                    <a:solidFill>
                      <a:srgbClr val="EEF3F8"/>
                    </a:solidFill>
                  </a:tcPr>
                </a:tc>
                <a:tc>
                  <a:txBody>
                    <a:bodyPr/>
                    <a:lstStyle/>
                    <a:p>
                      <a:r>
                        <a:rPr sz="1300">
                          <a:solidFill>
                            <a:srgbClr val="222222"/>
                          </a:solidFill>
                          <a:latin typeface="Calibri"/>
                        </a:rPr>
                        <a:t>top face button</a:t>
                      </a:r>
                    </a:p>
                  </a:txBody>
                  <a:tcPr marL="73152" marT="18288" marB="18288">
                    <a:solidFill>
                      <a:srgbClr val="EEF3F8"/>
                    </a:solidFill>
                  </a:tcPr>
                </a:tc>
              </a:tr>
              <a:tr h="282575">
                <a:tc>
                  <a:txBody>
                    <a:bodyPr/>
                    <a:lstStyle/>
                    <a:p>
                      <a:r>
                        <a:rPr sz="1300">
                          <a:solidFill>
                            <a:srgbClr val="222222"/>
                          </a:solidFill>
                          <a:latin typeface="Calibri"/>
                        </a:rPr>
                        <a:t>L / R</a:t>
                      </a:r>
                    </a:p>
                  </a:txBody>
                  <a:tcPr marL="73152" marT="18288" marB="18288">
                    <a:solidFill>
                      <a:srgbClr val="FFFFFF"/>
                    </a:solidFill>
                  </a:tcPr>
                </a:tc>
                <a:tc>
                  <a:txBody>
                    <a:bodyPr/>
                    <a:lstStyle/>
                    <a:p>
                      <a:r>
                        <a:rPr sz="1300">
                          <a:solidFill>
                            <a:srgbClr val="222222"/>
                          </a:solidFill>
                          <a:latin typeface="Calibri"/>
                        </a:rPr>
                        <a:t>l1() / r1()</a:t>
                      </a:r>
                    </a:p>
                  </a:txBody>
                  <a:tcPr marL="73152" marT="18288" marB="18288">
                    <a:solidFill>
                      <a:srgbClr val="FFFFFF"/>
                    </a:solidFill>
                  </a:tcPr>
                </a:tc>
                <a:tc>
                  <a:txBody>
                    <a:bodyPr/>
                    <a:lstStyle/>
                    <a:p>
                      <a:r>
                        <a:rPr sz="1300">
                          <a:solidFill>
                            <a:srgbClr val="222222"/>
                          </a:solidFill>
                          <a:latin typeface="Calibri"/>
                        </a:rPr>
                        <a:t>shoulders</a:t>
                      </a:r>
                    </a:p>
                  </a:txBody>
                  <a:tcPr marL="73152" marT="18288" marB="18288">
                    <a:solidFill>
                      <a:srgbClr val="FFFFFF"/>
                    </a:solidFill>
                  </a:tcPr>
                </a:tc>
              </a:tr>
              <a:tr h="282575">
                <a:tc>
                  <a:txBody>
                    <a:bodyPr/>
                    <a:lstStyle/>
                    <a:p>
                      <a:r>
                        <a:rPr sz="1300">
                          <a:solidFill>
                            <a:srgbClr val="222222"/>
                          </a:solidFill>
                          <a:latin typeface="Calibri"/>
                        </a:rPr>
                        <a:t>ZL / ZR</a:t>
                      </a:r>
                    </a:p>
                  </a:txBody>
                  <a:tcPr marL="73152" marT="18288" marB="18288">
                    <a:solidFill>
                      <a:srgbClr val="EEF3F8"/>
                    </a:solidFill>
                  </a:tcPr>
                </a:tc>
                <a:tc>
                  <a:txBody>
                    <a:bodyPr/>
                    <a:lstStyle/>
                    <a:p>
                      <a:r>
                        <a:rPr sz="1300">
                          <a:solidFill>
                            <a:srgbClr val="222222"/>
                          </a:solidFill>
                          <a:latin typeface="Calibri"/>
                        </a:rPr>
                        <a:t>l2() / r2()</a:t>
                      </a:r>
                    </a:p>
                  </a:txBody>
                  <a:tcPr marL="73152" marT="18288" marB="18288">
                    <a:solidFill>
                      <a:srgbClr val="EEF3F8"/>
                    </a:solidFill>
                  </a:tcPr>
                </a:tc>
                <a:tc>
                  <a:txBody>
                    <a:bodyPr/>
                    <a:lstStyle/>
                    <a:p>
                      <a:r>
                        <a:rPr sz="1300">
                          <a:solidFill>
                            <a:srgbClr val="222222"/>
                          </a:solidFill>
                          <a:latin typeface="Calibri"/>
                        </a:rPr>
                        <a:t>triggers</a:t>
                      </a:r>
                    </a:p>
                  </a:txBody>
                  <a:tcPr marL="73152" marT="18288" marB="18288">
                    <a:solidFill>
                      <a:srgbClr val="EEF3F8"/>
                    </a:solidFill>
                  </a:tcPr>
                </a:tc>
              </a:tr>
              <a:tr h="282575">
                <a:tc>
                  <a:txBody>
                    <a:bodyPr/>
                    <a:lstStyle/>
                    <a:p>
                      <a:r>
                        <a:rPr sz="1300">
                          <a:solidFill>
                            <a:srgbClr val="222222"/>
                          </a:solidFill>
                          <a:latin typeface="Calibri"/>
                        </a:rPr>
                        <a:t>stick click</a:t>
                      </a:r>
                    </a:p>
                  </a:txBody>
                  <a:tcPr marL="73152" marT="18288" marB="18288">
                    <a:solidFill>
                      <a:srgbClr val="FFFFFF"/>
                    </a:solidFill>
                  </a:tcPr>
                </a:tc>
                <a:tc>
                  <a:txBody>
                    <a:bodyPr/>
                    <a:lstStyle/>
                    <a:p>
                      <a:r>
                        <a:rPr sz="1300">
                          <a:solidFill>
                            <a:srgbClr val="222222"/>
                          </a:solidFill>
                          <a:latin typeface="Calibri"/>
                        </a:rPr>
                        <a:t>thumbL() / thumbR()</a:t>
                      </a:r>
                    </a:p>
                  </a:txBody>
                  <a:tcPr marL="73152" marT="18288" marB="18288">
                    <a:solidFill>
                      <a:srgbClr val="FFFFFF"/>
                    </a:solidFill>
                  </a:tcPr>
                </a:tc>
                <a:tc>
                  <a:txBody>
                    <a:bodyPr/>
                    <a:lstStyle/>
                    <a:p>
                      <a:r>
                        <a:rPr sz="1300">
                          <a:solidFill>
                            <a:srgbClr val="222222"/>
                          </a:solidFill>
                          <a:latin typeface="Calibri"/>
                        </a:rPr>
                        <a:t>press a stick in</a:t>
                      </a:r>
                    </a:p>
                  </a:txBody>
                  <a:tcPr marL="73152" marT="18288" marB="18288">
                    <a:solidFill>
                      <a:srgbClr val="FFFFFF"/>
                    </a:solidFill>
                  </a:tcPr>
                </a:tc>
              </a:tr>
              <a:tr h="282575">
                <a:tc>
                  <a:txBody>
                    <a:bodyPr/>
                    <a:lstStyle/>
                    <a:p>
                      <a:r>
                        <a:rPr sz="1300">
                          <a:solidFill>
                            <a:srgbClr val="222222"/>
                          </a:solidFill>
                          <a:latin typeface="Calibri"/>
                        </a:rPr>
                        <a:t>D-pad</a:t>
                      </a:r>
                    </a:p>
                  </a:txBody>
                  <a:tcPr marL="73152" marT="18288" marB="18288">
                    <a:solidFill>
                      <a:srgbClr val="EEF3F8"/>
                    </a:solidFill>
                  </a:tcPr>
                </a:tc>
                <a:tc>
                  <a:txBody>
                    <a:bodyPr/>
                    <a:lstStyle/>
                    <a:p>
                      <a:r>
                        <a:rPr sz="1300">
                          <a:solidFill>
                            <a:srgbClr val="222222"/>
                          </a:solidFill>
                          <a:latin typeface="Calibri"/>
                        </a:rPr>
                        <a:t>dpad() &amp; DPAD_UP  etc.</a:t>
                      </a:r>
                    </a:p>
                  </a:txBody>
                  <a:tcPr marL="73152" marT="18288" marB="18288">
                    <a:solidFill>
                      <a:srgbClr val="EEF3F8"/>
                    </a:solidFill>
                  </a:tcPr>
                </a:tc>
                <a:tc>
                  <a:txBody>
                    <a:bodyPr/>
                    <a:lstStyle/>
                    <a:p>
                      <a:r>
                        <a:rPr sz="1300">
                          <a:solidFill>
                            <a:srgbClr val="222222"/>
                          </a:solidFill>
                          <a:latin typeface="Calibri"/>
                        </a:rPr>
                        <a:t>one number, one bit per direction</a:t>
                      </a:r>
                    </a:p>
                  </a:txBody>
                  <a:tcPr marL="73152" marT="18288" marB="18288">
                    <a:solidFill>
                      <a:srgbClr val="EEF3F8"/>
                    </a:solidFill>
                  </a:tcPr>
                </a:tc>
              </a:tr>
              <a:tr h="282575">
                <a:tc>
                  <a:txBody>
                    <a:bodyPr/>
                    <a:lstStyle/>
                    <a:p>
                      <a:r>
                        <a:rPr sz="1300">
                          <a:solidFill>
                            <a:srgbClr val="222222"/>
                          </a:solidFill>
                          <a:latin typeface="Calibri"/>
                        </a:rPr>
                        <a:t>left stick</a:t>
                      </a:r>
                    </a:p>
                  </a:txBody>
                  <a:tcPr marL="73152" marT="18288" marB="18288">
                    <a:solidFill>
                      <a:srgbClr val="FFFFFF"/>
                    </a:solidFill>
                  </a:tcPr>
                </a:tc>
                <a:tc>
                  <a:txBody>
                    <a:bodyPr/>
                    <a:lstStyle/>
                    <a:p>
                      <a:r>
                        <a:rPr sz="1300">
                          <a:solidFill>
                            <a:srgbClr val="222222"/>
                          </a:solidFill>
                          <a:latin typeface="Calibri"/>
                        </a:rPr>
                        <a:t>axisX() / axisY()</a:t>
                      </a:r>
                    </a:p>
                  </a:txBody>
                  <a:tcPr marL="73152" marT="18288" marB="18288">
                    <a:solidFill>
                      <a:srgbClr val="FFFFFF"/>
                    </a:solidFill>
                  </a:tcPr>
                </a:tc>
                <a:tc>
                  <a:txBody>
                    <a:bodyPr/>
                    <a:lstStyle/>
                    <a:p>
                      <a:r>
                        <a:rPr sz="1300">
                          <a:solidFill>
                            <a:srgbClr val="222222"/>
                          </a:solidFill>
                          <a:latin typeface="Calibri"/>
                        </a:rPr>
                        <a:t>-512 to +511</a:t>
                      </a:r>
                    </a:p>
                  </a:txBody>
                  <a:tcPr marL="73152" marT="18288" marB="18288">
                    <a:solidFill>
                      <a:srgbClr val="FFFFFF"/>
                    </a:solidFill>
                  </a:tcPr>
                </a:tc>
              </a:tr>
              <a:tr h="282575">
                <a:tc>
                  <a:txBody>
                    <a:bodyPr/>
                    <a:lstStyle/>
                    <a:p>
                      <a:r>
                        <a:rPr sz="1300">
                          <a:solidFill>
                            <a:srgbClr val="222222"/>
                          </a:solidFill>
                          <a:latin typeface="Calibri"/>
                        </a:rPr>
                        <a:t>right stick</a:t>
                      </a:r>
                    </a:p>
                  </a:txBody>
                  <a:tcPr marL="73152" marT="18288" marB="18288">
                    <a:solidFill>
                      <a:srgbClr val="EEF3F8"/>
                    </a:solidFill>
                  </a:tcPr>
                </a:tc>
                <a:tc>
                  <a:txBody>
                    <a:bodyPr/>
                    <a:lstStyle/>
                    <a:p>
                      <a:r>
                        <a:rPr sz="1300">
                          <a:solidFill>
                            <a:srgbClr val="222222"/>
                          </a:solidFill>
                          <a:latin typeface="Calibri"/>
                        </a:rPr>
                        <a:t>axisRX() / axisRY()</a:t>
                      </a:r>
                    </a:p>
                  </a:txBody>
                  <a:tcPr marL="73152" marT="18288" marB="18288">
                    <a:solidFill>
                      <a:srgbClr val="EEF3F8"/>
                    </a:solidFill>
                  </a:tcPr>
                </a:tc>
                <a:tc>
                  <a:txBody>
                    <a:bodyPr/>
                    <a:lstStyle/>
                    <a:p>
                      <a:r>
                        <a:rPr sz="130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Digital: buttons</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A button is either pressed or it is not. true or false.</a:t>
            </a:r>
          </a:p>
          <a:p>
            <a:pPr algn="l">
              <a:lnSpc>
                <a:spcPct val="100000"/>
              </a:lnSpc>
              <a:spcAft>
                <a:spcPts val="800"/>
              </a:spcAft>
              <a:defRPr sz="1600" b="0">
                <a:solidFill>
                  <a:srgbClr val="222222"/>
                </a:solidFill>
                <a:latin typeface="Calibri"/>
              </a:defRPr>
            </a:pPr>
            <a:r>
              <a:rPr sz="1600" b="0">
                <a:solidFill>
                  <a:srgbClr val="222222"/>
                </a:solidFill>
                <a:latin typeface="Calibri"/>
              </a:rPr>
              <a:t>Face buttons, D-pad, shoulders, triggers, and clicking the sticks in.</a:t>
            </a:r>
          </a:p>
          <a:p>
            <a:pPr algn="l">
              <a:lnSpc>
                <a:spcPct val="100000"/>
              </a:lnSpc>
              <a:spcAft>
                <a:spcPts val="800"/>
              </a:spcAft>
              <a:defRPr sz="1600" b="0">
                <a:solidFill>
                  <a:srgbClr val="222222"/>
                </a:solidFill>
                <a:latin typeface="Calibri"/>
              </a:defRPr>
            </a:pPr>
            <a:r>
              <a:rPr sz="1600" b="0">
                <a:solidFill>
                  <a:srgbClr val="222222"/>
                </a:solidFill>
                <a:latin typeface="Calibri"/>
              </a:rPr>
              <a:t>Good for: on/off, mode changes, one-shot actions.</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On this track:</a:t>
            </a:r>
          </a:p>
          <a:p>
            <a:pPr lvl="1" algn="l">
              <a:lnSpc>
                <a:spcPct val="100000"/>
              </a:lnSpc>
              <a:spcAft>
                <a:spcPts val="800"/>
              </a:spcAft>
              <a:defRPr sz="1600" b="0">
                <a:solidFill>
                  <a:srgbClr val="222222"/>
                </a:solidFill>
                <a:latin typeface="Calibri"/>
              </a:defRPr>
            </a:pPr>
            <a:r>
              <a:rPr sz="1600" b="0">
                <a:solidFill>
                  <a:srgbClr val="222222"/>
                </a:solidFill>
                <a:latin typeface="Calibri"/>
              </a:rPr>
              <a:t>myController-&gt;x()</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Analog: thumbsticks</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A stick reports HOW FAR it is pushed, on two axes.</a:t>
            </a:r>
          </a:p>
          <a:p>
            <a:pPr algn="l">
              <a:lnSpc>
                <a:spcPct val="100000"/>
              </a:lnSpc>
              <a:spcAft>
                <a:spcPts val="800"/>
              </a:spcAft>
              <a:defRPr sz="1600" b="0">
                <a:solidFill>
                  <a:srgbClr val="222222"/>
                </a:solidFill>
                <a:latin typeface="Calibri"/>
              </a:defRPr>
            </a:pPr>
            <a:r>
              <a:rPr sz="1600" b="0">
                <a:solidFill>
                  <a:srgbClr val="222222"/>
                </a:solidFill>
                <a:latin typeface="Calibri"/>
              </a:rPr>
              <a:t>On this track each axis reads -512 to +511.</a:t>
            </a:r>
          </a:p>
          <a:p>
            <a:pPr algn="l">
              <a:lnSpc>
                <a:spcPct val="100000"/>
              </a:lnSpc>
              <a:spcAft>
                <a:spcPts val="800"/>
              </a:spcAft>
              <a:defRPr sz="1600" b="0">
                <a:solidFill>
                  <a:srgbClr val="222222"/>
                </a:solidFill>
                <a:latin typeface="Calibri"/>
              </a:defRPr>
            </a:pPr>
            <a:r>
              <a:rPr sz="1600" b="0">
                <a:solidFill>
                  <a:srgbClr val="222222"/>
                </a:solidFill>
                <a:latin typeface="Calibri"/>
              </a:rPr>
              <a:t>Good for: speed, steering, aiming a servo.</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On this track:</a:t>
            </a:r>
          </a:p>
          <a:p>
            <a:pPr lvl="1" algn="l">
              <a:lnSpc>
                <a:spcPct val="100000"/>
              </a:lnSpc>
              <a:spcAft>
                <a:spcPts val="800"/>
              </a:spcAft>
              <a:defRPr sz="1600" b="0">
                <a:solidFill>
                  <a:srgbClr val="222222"/>
                </a:solidFill>
                <a:latin typeface="Calibri"/>
              </a:defRPr>
            </a:pPr>
            <a:r>
              <a:rPr sz="1600" b="0">
                <a:solidFill>
                  <a:srgbClr val="222222"/>
                </a:solidFill>
                <a:latin typeface="Calibri"/>
              </a:rPr>
              <a:t>myController-&gt;axisX()     // left/right</a:t>
            </a:r>
          </a:p>
          <a:p>
            <a:pPr lvl="1" algn="l">
              <a:lnSpc>
                <a:spcPct val="100000"/>
              </a:lnSpc>
              <a:spcAft>
                <a:spcPts val="800"/>
              </a:spcAft>
              <a:defRPr sz="1600" b="0">
                <a:solidFill>
                  <a:srgbClr val="222222"/>
                </a:solidFill>
                <a:latin typeface="Calibri"/>
              </a:defRPr>
            </a:pPr>
            <a:r>
              <a:rPr sz="16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300" b="0">
                <a:solidFill>
                  <a:srgbClr val="222222"/>
                </a:solidFill>
                <a:latin typeface="Calibri"/>
              </a:defRPr>
            </a:pPr>
            <a:r>
              <a:rPr sz="13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TRANSLATION</a:t>
            </a:r>
          </a:p>
          <a:p>
            <a:pPr lvl="1" algn="l">
              <a:lnSpc>
                <a:spcPct val="100000"/>
              </a:lnSpc>
              <a:spcAft>
                <a:spcPts val="600"/>
              </a:spcAft>
              <a:defRPr sz="1300" b="0">
                <a:solidFill>
                  <a:srgbClr val="222222"/>
                </a:solidFill>
                <a:latin typeface="Calibri"/>
              </a:defRPr>
            </a:pPr>
            <a:r>
              <a:rPr sz="1300" b="0">
                <a:solidFill>
                  <a:srgbClr val="222222"/>
                </a:solidFill>
                <a:latin typeface="Calibri"/>
              </a:rPr>
              <a:t>Forward and back  -  surge</a:t>
            </a:r>
          </a:p>
          <a:p>
            <a:pPr lvl="1" algn="l">
              <a:lnSpc>
                <a:spcPct val="100000"/>
              </a:lnSpc>
              <a:spcAft>
                <a:spcPts val="600"/>
              </a:spcAft>
              <a:defRPr sz="1300" b="0">
                <a:solidFill>
                  <a:srgbClr val="222222"/>
                </a:solidFill>
                <a:latin typeface="Calibri"/>
              </a:defRPr>
            </a:pPr>
            <a:r>
              <a:rPr sz="1300" b="0">
                <a:solidFill>
                  <a:srgbClr val="222222"/>
                </a:solidFill>
                <a:latin typeface="Calibri"/>
              </a:rPr>
              <a:t>Side to side  -  sway</a:t>
            </a:r>
          </a:p>
          <a:p>
            <a:pPr lvl="1" algn="l">
              <a:lnSpc>
                <a:spcPct val="100000"/>
              </a:lnSpc>
              <a:spcAft>
                <a:spcPts val="600"/>
              </a:spcAft>
              <a:defRPr sz="1300" b="0">
                <a:solidFill>
                  <a:srgbClr val="222222"/>
                </a:solidFill>
                <a:latin typeface="Calibri"/>
              </a:defRPr>
            </a:pPr>
            <a:r>
              <a:rPr sz="1300" b="0">
                <a:solidFill>
                  <a:srgbClr val="222222"/>
                </a:solidFill>
                <a:latin typeface="Calibri"/>
              </a:rPr>
              <a:t>Up and down  -  heave</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ROTATION</a:t>
            </a:r>
          </a:p>
          <a:p>
            <a:pPr lvl="1" algn="l">
              <a:lnSpc>
                <a:spcPct val="100000"/>
              </a:lnSpc>
              <a:spcAft>
                <a:spcPts val="600"/>
              </a:spcAft>
              <a:defRPr sz="1300" b="0">
                <a:solidFill>
                  <a:srgbClr val="222222"/>
                </a:solidFill>
                <a:latin typeface="Calibri"/>
              </a:defRPr>
            </a:pPr>
            <a:r>
              <a:rPr sz="1300" b="0">
                <a:solidFill>
                  <a:srgbClr val="222222"/>
                </a:solidFill>
                <a:latin typeface="Calibri"/>
              </a:rPr>
              <a:t>Roll  -  tipping left or right about the fore-aft axis</a:t>
            </a:r>
          </a:p>
          <a:p>
            <a:pPr lvl="1" algn="l">
              <a:lnSpc>
                <a:spcPct val="100000"/>
              </a:lnSpc>
              <a:spcAft>
                <a:spcPts val="600"/>
              </a:spcAft>
              <a:defRPr sz="1300" b="0">
                <a:solidFill>
                  <a:srgbClr val="222222"/>
                </a:solidFill>
                <a:latin typeface="Calibri"/>
              </a:defRPr>
            </a:pPr>
            <a:r>
              <a:rPr sz="1300" b="0">
                <a:solidFill>
                  <a:srgbClr val="222222"/>
                </a:solidFill>
                <a:latin typeface="Calibri"/>
              </a:rPr>
              <a:t>Pitch  -  nose up or nose down</a:t>
            </a:r>
          </a:p>
          <a:p>
            <a:pPr lvl="1" algn="l">
              <a:lnSpc>
                <a:spcPct val="100000"/>
              </a:lnSpc>
              <a:spcAft>
                <a:spcPts val="600"/>
              </a:spcAft>
              <a:defRPr sz="1300" b="0">
                <a:solidFill>
                  <a:srgbClr val="222222"/>
                </a:solidFill>
                <a:latin typeface="Calibri"/>
              </a:defRPr>
            </a:pPr>
            <a:r>
              <a:rPr sz="1300" b="0">
                <a:solidFill>
                  <a:srgbClr val="222222"/>
                </a:solidFill>
                <a:latin typeface="Calibri"/>
              </a:rPr>
              <a:t>Yaw  -  turning left or right, which is your steering</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and open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2.  Hold the SYNC button until the controller lights run.</a:t>
            </a:r>
          </a:p>
          <a:p>
            <a:pPr algn="l">
              <a:lnSpc>
                <a:spcPct val="100000"/>
              </a:lnSpc>
              <a:spcAft>
                <a:spcPts val="800"/>
              </a:spcAft>
              <a:defRPr sz="1600" b="0">
                <a:solidFill>
                  <a:srgbClr val="222222"/>
                </a:solidFill>
                <a:latin typeface="Calibri"/>
              </a:defRPr>
            </a:pPr>
            <a:r>
              <a:rPr sz="1600" b="0">
                <a:solidFill>
                  <a:srgbClr val="222222"/>
                </a:solidFill>
                <a:latin typeface="Calibri"/>
              </a:rPr>
              <a:t>3.  Press every button in turn and match it to the printed name.</a:t>
            </a:r>
          </a:p>
          <a:p>
            <a:pPr algn="l">
              <a:lnSpc>
                <a:spcPct val="100000"/>
              </a:lnSpc>
              <a:spcAft>
                <a:spcPts val="800"/>
              </a:spcAft>
              <a:defRPr sz="1600" b="0">
                <a:solidFill>
                  <a:srgbClr val="222222"/>
                </a:solidFill>
                <a:latin typeface="Calibri"/>
              </a:defRPr>
            </a:pPr>
            <a:r>
              <a:rPr sz="1600" b="0">
                <a:solidFill>
                  <a:srgbClr val="222222"/>
                </a:solidFill>
                <a:latin typeface="Calibri"/>
              </a:rPr>
              <a:t>4.  Push the left stick fully UP. Positive or negative?</a:t>
            </a:r>
          </a:p>
          <a:p>
            <a:pPr algn="l">
              <a:lnSpc>
                <a:spcPct val="100000"/>
              </a:lnSpc>
              <a:spcAft>
                <a:spcPts val="800"/>
              </a:spcAft>
              <a:defRPr sz="1600" b="0">
                <a:solidFill>
                  <a:srgbClr val="222222"/>
                </a:solidFill>
                <a:latin typeface="Calibri"/>
              </a:defRPr>
            </a:pPr>
            <a:r>
              <a:rPr sz="1600" b="0">
                <a:solidFill>
                  <a:srgbClr val="222222"/>
                </a:solidFill>
                <a:latin typeface="Calibri"/>
              </a:rPr>
              <a:t>5.  Let go of the sticks and DO NOT touch the controller. Does it print exactly 0, or does it drift?</a:t>
            </a:r>
          </a:p>
          <a:p>
            <a:pPr algn="l">
              <a:lnSpc>
                <a:spcPct val="100000"/>
              </a:lnSpc>
              <a:spcAft>
                <a:spcPts val="800"/>
              </a:spcAft>
              <a:defRPr sz="1600" b="0">
                <a:solidFill>
                  <a:srgbClr val="222222"/>
                </a:solidFill>
                <a:latin typeface="Calibri"/>
              </a:defRPr>
            </a:pPr>
            <a:r>
              <a:rPr sz="1600" b="0">
                <a:solidFill>
                  <a:srgbClr val="222222"/>
                </a:solidFill>
                <a:latin typeface="Calibri"/>
              </a:rPr>
              <a:t>6.  Push a stick diagonally. Watch x and y move together.</a:t>
            </a:r>
          </a:p>
          <a:p>
            <a:pPr algn="l">
              <a:lnSpc>
                <a:spcPct val="100000"/>
              </a:lnSpc>
              <a:spcAft>
                <a:spcPts val="800"/>
              </a:spcAft>
              <a:defRPr sz="1600" b="0">
                <a:solidFill>
                  <a:srgbClr val="222222"/>
                </a:solidFill>
                <a:latin typeface="Calibri"/>
              </a:defRPr>
            </a:pPr>
            <a:r>
              <a:rPr sz="1600" b="0">
                <a:solidFill>
                  <a:srgbClr val="222222"/>
                </a:solidFill>
                <a:latin typeface="Calibri"/>
              </a:rPr>
              <a:t>7.  Copy the MY_CONTROLLER line it prints. You need it all day.</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line for every press, every release, and every stick movement.</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Which way is negative on the Y axis?</a:t>
            </a:r>
          </a:p>
          <a:p>
            <a:pPr algn="l">
              <a:lnSpc>
                <a:spcPct val="100000"/>
              </a:lnSpc>
              <a:spcAft>
                <a:spcPts val="600"/>
              </a:spcAft>
              <a:defRPr sz="1500" b="0">
                <a:solidFill>
                  <a:srgbClr val="222222"/>
                </a:solidFill>
                <a:latin typeface="Calibri"/>
              </a:defRPr>
            </a:pPr>
            <a:r>
              <a:rPr sz="1500" b="0">
                <a:solidFill>
                  <a:srgbClr val="222222"/>
                </a:solidFill>
                <a:latin typeface="Calibri"/>
              </a:rPr>
              <a:t>How far does your stick drift when nobody is touching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A thumbstick that has been thumbed by a hundred students does not come back to exactly zero.</a:t>
            </a:r>
          </a:p>
          <a:p>
            <a:pPr algn="l">
              <a:lnSpc>
                <a:spcPct val="100000"/>
              </a:lnSpc>
              <a:spcAft>
                <a:spcPts val="900"/>
              </a:spcAft>
              <a:defRPr sz="1700" b="0">
                <a:solidFill>
                  <a:srgbClr val="222222"/>
                </a:solidFill>
                <a:latin typeface="Calibri"/>
              </a:defRPr>
            </a:pPr>
            <a:r>
              <a:rPr sz="1700" b="0">
                <a:solidFill>
                  <a:srgbClr val="222222"/>
                </a:solidFill>
                <a:latin typeface="Calibri"/>
              </a:rPr>
              <a:t>You just measured it. Yours probably reads a few counts either side of centre when nobody is touching it.</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The answer is a DEADZONE: any reading smaller than a threshold is treated as a firm, deliberate zero.</a:t>
            </a:r>
          </a:p>
          <a:p>
            <a:pPr algn="l">
              <a:lnSpc>
                <a:spcPct val="100000"/>
              </a:lnSpc>
              <a:spcAft>
                <a:spcPts val="900"/>
              </a:spcAft>
              <a:defRPr sz="1700" b="0">
                <a:solidFill>
                  <a:srgbClr val="222222"/>
                </a:solidFill>
                <a:latin typeface="Calibri"/>
              </a:defRPr>
            </a:pPr>
            <a:r>
              <a:rPr sz="1700" b="0">
                <a:solidFill>
                  <a:srgbClr val="222222"/>
                </a:solidFill>
                <a:latin typeface="Calibri"/>
              </a:rPr>
              <a:t>On this track the deadzone is 60, which is about 12% of the stick travel.</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Too small and the vehicle creeps. Too big and you waste the stick.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stick reading   0  to  511</a:t>
            </a:r>
          </a:p>
        </p:txBody>
      </p:sp>
      <p:sp>
        <p:nvSpPr>
          <p:cNvPr id="9" name="TextBox 8"/>
          <p:cNvSpPr txBox="1"/>
          <p:nvPr/>
        </p:nvSpPr>
        <p:spPr>
          <a:xfrm>
            <a:off x="548640" y="1554480"/>
            <a:ext cx="1051560" cy="822960"/>
          </a:xfrm>
          <a:prstGeom prst="rect">
            <a:avLst/>
          </a:prstGeom>
          <a:noFill/>
        </p:spPr>
        <p:txBody>
          <a:bodyPr wrap="square" lIns="0" tIns="0" rIns="0" bIns="0">
            <a:spAutoFit/>
          </a:bodyPr>
          <a:lstStyle/>
          <a:p>
            <a:pPr algn="r">
              <a:lnSpc>
                <a:spcPct val="100000"/>
              </a:lnSpc>
              <a:spcAft>
                <a:spcPts val="100"/>
              </a:spcAft>
              <a:defRPr sz="1200" b="0">
                <a:solidFill>
                  <a:srgbClr val="666666"/>
                </a:solidFill>
                <a:latin typeface="Calibri"/>
              </a:defRPr>
            </a:pPr>
            <a:r>
              <a:rPr sz="1200" b="0">
                <a:solidFill>
                  <a:srgbClr val="666666"/>
                </a:solidFill>
                <a:latin typeface="Calibri"/>
              </a:rPr>
              <a:t>motor</a:t>
            </a:r>
          </a:p>
          <a:p>
            <a:pPr algn="r">
              <a:lnSpc>
                <a:spcPct val="100000"/>
              </a:lnSpc>
              <a:spcAft>
                <a:spcPts val="100"/>
              </a:spcAft>
              <a:defRPr sz="1200" b="0">
                <a:solidFill>
                  <a:srgbClr val="666666"/>
                </a:solidFill>
                <a:latin typeface="Calibri"/>
              </a:defRPr>
            </a:pPr>
            <a:r>
              <a:rPr sz="1200" b="0">
                <a:solidFill>
                  <a:srgbClr val="666666"/>
                </a:solidFill>
                <a:latin typeface="Calibri"/>
              </a:rPr>
              <a:t>speed</a:t>
            </a:r>
          </a:p>
          <a:p>
            <a:pPr algn="r">
              <a:lnSpc>
                <a:spcPct val="100000"/>
              </a:lnSpc>
              <a:spcAft>
                <a:spcPts val="100"/>
              </a:spcAft>
              <a:defRPr sz="1200" b="0">
                <a:solidFill>
                  <a:srgbClr val="666666"/>
                </a:solidFill>
                <a:latin typeface="Calibri"/>
              </a:defRPr>
            </a:pPr>
            <a:r>
              <a:rPr sz="12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548640"/>
          </a:xfrm>
          <a:prstGeom prst="rect">
            <a:avLst/>
          </a:prstGeom>
          <a:noFill/>
        </p:spPr>
        <p:txBody>
          <a:bodyPr wrap="square" lIns="0" tIns="0" rIns="0" bIns="0">
            <a:spAutoFit/>
          </a:bodyPr>
          <a:lstStyle/>
          <a:p>
            <a:pPr algn="ctr">
              <a:lnSpc>
                <a:spcPct val="100000"/>
              </a:lnSpc>
              <a:spcAft>
                <a:spcPts val="100"/>
              </a:spcAft>
              <a:defRPr sz="1100" b="1">
                <a:solidFill>
                  <a:srgbClr val="A32A2A"/>
                </a:solidFill>
                <a:latin typeface="Calibri"/>
              </a:defRPr>
            </a:pPr>
            <a:r>
              <a:rPr sz="1100" b="1">
                <a:solidFill>
                  <a:srgbClr val="A32A2A"/>
                </a:solidFill>
                <a:latin typeface="Calibri"/>
              </a:rPr>
              <a:t>DEADZONE</a:t>
            </a:r>
            <a:br/>
            <a:r>
              <a:rPr sz="1100" b="1">
                <a:solidFill>
                  <a:srgbClr val="A32A2A"/>
                </a:solidFill>
                <a:latin typeface="Calibri"/>
              </a:rPr>
              <a:t>answer is 0</a:t>
            </a:r>
          </a:p>
        </p:txBody>
      </p:sp>
      <p:sp>
        <p:nvSpPr>
          <p:cNvPr id="14" name="TextBox 13"/>
          <p:cNvSpPr txBox="1"/>
          <p:nvPr/>
        </p:nvSpPr>
        <p:spPr>
          <a:xfrm>
            <a:off x="2653102" y="1691640"/>
            <a:ext cx="3657600" cy="640080"/>
          </a:xfrm>
          <a:prstGeom prst="rect">
            <a:avLst/>
          </a:prstGeom>
          <a:noFill/>
        </p:spPr>
        <p:txBody>
          <a:bodyPr wrap="square" lIns="0" tIns="0" rIns="0" bIns="0">
            <a:spAutoFit/>
          </a:bodyPr>
          <a:lstStyle/>
          <a:p>
            <a:pPr algn="l">
              <a:lnSpc>
                <a:spcPct val="100000"/>
              </a:lnSpc>
              <a:spcAft>
                <a:spcPts val="100"/>
              </a:spcAft>
              <a:defRPr sz="1300" b="1">
                <a:solidFill>
                  <a:srgbClr val="0E7C86"/>
                </a:solidFill>
                <a:latin typeface="Calibri"/>
              </a:defRPr>
            </a:pPr>
            <a:r>
              <a:rPr sz="1300" b="1">
                <a:solidFill>
                  <a:srgbClr val="0E7C86"/>
                </a:solidFill>
                <a:latin typeface="Calibri"/>
              </a:rPr>
              <a:t>map() stretches what is left</a:t>
            </a:r>
            <a:br/>
            <a:r>
              <a:rPr sz="1300" b="1">
                <a:solidFill>
                  <a:srgbClr val="0E7C86"/>
                </a:solidFill>
                <a:latin typeface="Calibri"/>
              </a:rPr>
              <a:t>across the whole speed range</a:t>
            </a:r>
          </a:p>
        </p:txBody>
      </p:sp>
      <p:sp>
        <p:nvSpPr>
          <p:cNvPr id="15" name="TextBox 14"/>
          <p:cNvSpPr txBox="1"/>
          <p:nvPr/>
        </p:nvSpPr>
        <p:spPr>
          <a:xfrm>
            <a:off x="1921582" y="5221224"/>
            <a:ext cx="1097280" cy="274320"/>
          </a:xfrm>
          <a:prstGeom prst="rect">
            <a:avLst/>
          </a:prstGeom>
          <a:noFill/>
        </p:spPr>
        <p:txBody>
          <a:bodyPr wrap="square" lIns="0" tIns="0" rIns="0" bIns="0">
            <a:spAutoFit/>
          </a:bodyPr>
          <a:lstStyle/>
          <a:p>
            <a:pPr algn="ctr">
              <a:lnSpc>
                <a:spcPct val="100000"/>
              </a:lnSpc>
              <a:spcAft>
                <a:spcPts val="100"/>
              </a:spcAft>
              <a:defRPr sz="1100" b="0">
                <a:solidFill>
                  <a:srgbClr val="A32A2A"/>
                </a:solidFill>
                <a:latin typeface="Consolas"/>
              </a:defRPr>
            </a:pPr>
            <a:r>
              <a:rPr sz="1100" b="0">
                <a:solidFill>
                  <a:srgbClr val="A32A2A"/>
                </a:solidFill>
                <a:latin typeface="Consolas"/>
              </a:rPr>
              <a:t>60</a:t>
            </a:r>
          </a:p>
        </p:txBody>
      </p:sp>
      <p:sp>
        <p:nvSpPr>
          <p:cNvPr id="16" name="TextBox 15"/>
          <p:cNvSpPr txBox="1"/>
          <p:nvPr/>
        </p:nvSpPr>
        <p:spPr>
          <a:xfrm>
            <a:off x="8595360" y="1325880"/>
            <a:ext cx="3291840" cy="274320"/>
          </a:xfrm>
          <a:prstGeom prst="rect">
            <a:avLst/>
          </a:prstGeom>
          <a:noFill/>
        </p:spPr>
        <p:txBody>
          <a:bodyPr wrap="square" lIns="0" tIns="0" rIns="0" bIns="0">
            <a:spAutoFit/>
          </a:bodyPr>
          <a:lstStyle/>
          <a:p>
            <a:pPr algn="l">
              <a:lnSpc>
                <a:spcPct val="100000"/>
              </a:lnSpc>
              <a:spcAft>
                <a:spcPts val="100"/>
              </a:spcAft>
              <a:defRPr sz="1100" b="1">
                <a:solidFill>
                  <a:srgbClr val="0E7C86"/>
                </a:solidFill>
                <a:latin typeface="Consolas"/>
              </a:defRPr>
            </a:pPr>
            <a:r>
              <a:rPr sz="11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100" b="0">
                <a:solidFill>
                  <a:srgbClr val="222222"/>
                </a:solidFill>
                <a:latin typeface="Consolas"/>
              </a:defRPr>
            </a:pPr>
            <a:r>
              <a:rPr sz="1100" b="0">
                <a:solidFill>
                  <a:srgbClr val="222222"/>
                </a:solidFill>
                <a:latin typeface="Consolas"/>
              </a:rPr>
              <a:t>if (abs(v) &lt; DEADZONE)</a:t>
            </a:r>
          </a:p>
          <a:p>
            <a:pPr algn="l">
              <a:lnSpc>
                <a:spcPct val="100000"/>
              </a:lnSpc>
              <a:spcAft>
                <a:spcPts val="0"/>
              </a:spcAft>
              <a:defRPr sz="1100" b="0">
                <a:solidFill>
                  <a:srgbClr val="222222"/>
                </a:solidFill>
                <a:latin typeface="Consolas"/>
              </a:defRPr>
            </a:pPr>
            <a:r>
              <a:rPr sz="1100" b="0">
                <a:solidFill>
                  <a:srgbClr val="222222"/>
                </a:solidFill>
                <a:latin typeface="Consolas"/>
              </a:rPr>
              <a:t>    return 0;</a:t>
            </a:r>
          </a:p>
          <a:p>
            <a:pPr algn="l">
              <a:lnSpc>
                <a:spcPct val="100000"/>
              </a:lnSpc>
              <a:spcAft>
                <a:spcPts val="0"/>
              </a:spcAft>
              <a:defRPr sz="1100" b="0">
                <a:solidFill>
                  <a:srgbClr val="222222"/>
                </a:solidFill>
                <a:latin typeface="Consolas"/>
              </a:defRPr>
            </a:pPr>
          </a:p>
          <a:p>
            <a:pPr algn="l">
              <a:lnSpc>
                <a:spcPct val="100000"/>
              </a:lnSpc>
              <a:spcAft>
                <a:spcPts val="0"/>
              </a:spcAft>
              <a:defRPr sz="1100" b="0">
                <a:solidFill>
                  <a:srgbClr val="222222"/>
                </a:solidFill>
                <a:latin typeface="Consolas"/>
              </a:defRPr>
            </a:pPr>
            <a:r>
              <a:rPr sz="1100" b="0">
                <a:solidFill>
                  <a:srgbClr val="222222"/>
                </a:solidFill>
                <a:latin typeface="Consolas"/>
              </a:rPr>
              <a:t>size = map(abs(v),</a:t>
            </a:r>
          </a:p>
          <a:p>
            <a:pPr algn="l">
              <a:lnSpc>
                <a:spcPct val="100000"/>
              </a:lnSpc>
              <a:spcAft>
                <a:spcPts val="0"/>
              </a:spcAft>
              <a:defRPr sz="1100" b="0">
                <a:solidFill>
                  <a:srgbClr val="222222"/>
                </a:solidFill>
                <a:latin typeface="Consolas"/>
              </a:defRPr>
            </a:pPr>
            <a:r>
              <a:rPr sz="1100" b="0">
                <a:solidFill>
                  <a:srgbClr val="222222"/>
                </a:solidFill>
                <a:latin typeface="Consolas"/>
              </a:rPr>
              <a:t>           DEADZONE, 511,</a:t>
            </a:r>
          </a:p>
          <a:p>
            <a:pPr algn="l">
              <a:lnSpc>
                <a:spcPct val="100000"/>
              </a:lnSpc>
              <a:spcAft>
                <a:spcPts val="0"/>
              </a:spcAft>
              <a:defRPr sz="1100" b="0">
                <a:solidFill>
                  <a:srgbClr val="222222"/>
                </a:solidFill>
                <a:latin typeface="Consolas"/>
              </a:defRPr>
            </a:pPr>
            <a:r>
              <a:rPr sz="1100" b="0">
                <a:solidFill>
                  <a:srgbClr val="222222"/>
                </a:solidFill>
                <a:latin typeface="Consolas"/>
              </a:rPr>
              <a:t>           MOTOR_MIN, maxSpeed);</a:t>
            </a:r>
          </a:p>
          <a:p>
            <a:pPr algn="l">
              <a:lnSpc>
                <a:spcPct val="100000"/>
              </a:lnSpc>
              <a:spcAft>
                <a:spcPts val="0"/>
              </a:spcAft>
              <a:defRPr sz="1100" b="0">
                <a:solidFill>
                  <a:srgbClr val="222222"/>
                </a:solidFill>
                <a:latin typeface="Consolas"/>
              </a:defRPr>
            </a:pPr>
          </a:p>
          <a:p>
            <a:pPr algn="l">
              <a:lnSpc>
                <a:spcPct val="100000"/>
              </a:lnSpc>
              <a:spcAft>
                <a:spcPts val="0"/>
              </a:spcAft>
              <a:defRPr sz="1100" b="0">
                <a:solidFill>
                  <a:srgbClr val="222222"/>
                </a:solidFill>
                <a:latin typeface="Consolas"/>
              </a:defRPr>
            </a:pPr>
            <a:r>
              <a:rPr sz="1100" b="0">
                <a:solidFill>
                  <a:srgbClr val="222222"/>
                </a:solidFill>
                <a:latin typeface="Consolas"/>
              </a:rPr>
              <a:t>return (v &gt; 0) ? size</a:t>
            </a:r>
          </a:p>
          <a:p>
            <a:pPr algn="l">
              <a:lnSpc>
                <a:spcPct val="100000"/>
              </a:lnSpc>
              <a:spcAft>
                <a:spcPts val="0"/>
              </a:spcAft>
              <a:defRPr sz="1100" b="0">
                <a:solidFill>
                  <a:srgbClr val="222222"/>
                </a:solidFill>
                <a:latin typeface="Consolas"/>
              </a:defRPr>
            </a:pPr>
            <a:r>
              <a:rPr sz="1100" b="0">
                <a:solidFill>
                  <a:srgbClr val="222222"/>
                </a:solidFill>
                <a:latin typeface="Consolas"/>
              </a:rPr>
              <a:t>                : -size;</a:t>
            </a:r>
          </a:p>
        </p:txBody>
      </p:sp>
      <p:sp>
        <p:nvSpPr>
          <p:cNvPr id="18" name="TextBox 17"/>
          <p:cNvSpPr txBox="1"/>
          <p:nvPr/>
        </p:nvSpPr>
        <p:spPr>
          <a:xfrm>
            <a:off x="8595360" y="4160520"/>
            <a:ext cx="3291840" cy="102870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alibri"/>
              </a:defRPr>
            </a:pPr>
            <a:r>
              <a:rPr sz="1100" b="0">
                <a:solidFill>
                  <a:srgbClr val="222222"/>
                </a:solidFill>
                <a:latin typeface="Calibri"/>
              </a:rPr>
              <a:t>Why a deadzone at all?</a:t>
            </a:r>
          </a:p>
          <a:p>
            <a:pPr algn="l">
              <a:lnSpc>
                <a:spcPct val="100000"/>
              </a:lnSpc>
              <a:spcAft>
                <a:spcPts val="100"/>
              </a:spcAft>
              <a:defRPr sz="1100" b="0">
                <a:solidFill>
                  <a:srgbClr val="222222"/>
                </a:solidFill>
                <a:latin typeface="Calibri"/>
              </a:defRPr>
            </a:pPr>
            <a:r>
              <a:rPr sz="1100" b="0">
                <a:solidFill>
                  <a:srgbClr val="222222"/>
                </a:solidFill>
                <a:latin typeface="Calibri"/>
              </a:rPr>
              <a:t>A worn stick does not return</a:t>
            </a:r>
          </a:p>
          <a:p>
            <a:pPr algn="l">
              <a:lnSpc>
                <a:spcPct val="100000"/>
              </a:lnSpc>
              <a:spcAft>
                <a:spcPts val="100"/>
              </a:spcAft>
              <a:defRPr sz="1100" b="0">
                <a:solidFill>
                  <a:srgbClr val="222222"/>
                </a:solidFill>
                <a:latin typeface="Calibri"/>
              </a:defRPr>
            </a:pPr>
            <a:r>
              <a:rPr sz="1100" b="0">
                <a:solidFill>
                  <a:srgbClr val="222222"/>
                </a:solidFill>
                <a:latin typeface="Calibri"/>
              </a:rPr>
              <a:t>to exactly zero. Without this</a:t>
            </a:r>
          </a:p>
          <a:p>
            <a:pPr algn="l">
              <a:lnSpc>
                <a:spcPct val="100000"/>
              </a:lnSpc>
              <a:spcAft>
                <a:spcPts val="100"/>
              </a:spcAft>
              <a:defRPr sz="1100" b="0">
                <a:solidFill>
                  <a:srgbClr val="222222"/>
                </a:solidFill>
                <a:latin typeface="Calibri"/>
              </a:defRPr>
            </a:pPr>
            <a:r>
              <a:rPr sz="1100" b="0">
                <a:solidFill>
                  <a:srgbClr val="222222"/>
                </a:solidFill>
                <a:latin typeface="Calibri"/>
              </a:rPr>
              <a:t>the vehicle creeps away on</a:t>
            </a:r>
          </a:p>
          <a:p>
            <a:pPr algn="l">
              <a:lnSpc>
                <a:spcPct val="100000"/>
              </a:lnSpc>
              <a:spcAft>
                <a:spcPts val="100"/>
              </a:spcAft>
              <a:defRPr sz="1100" b="0">
                <a:solidFill>
                  <a:srgbClr val="222222"/>
                </a:solidFill>
                <a:latin typeface="Calibri"/>
              </a:defRPr>
            </a:pPr>
            <a:r>
              <a:rPr sz="1100" b="0">
                <a:solidFill>
                  <a:srgbClr val="222222"/>
                </a:solidFill>
                <a:latin typeface="Calibri"/>
              </a:rPr>
              <a:t>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map(value, fromLow, fromHigh, toLow,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"value sits somewhere between fromLow and fromHigh.</a:t>
            </a:r>
          </a:p>
          <a:p>
            <a:pPr algn="l">
              <a:lnSpc>
                <a:spcPct val="100000"/>
              </a:lnSpc>
              <a:spcAft>
                <a:spcPts val="0"/>
              </a:spcAft>
              <a:defRPr sz="1300">
                <a:latin typeface="Consolas"/>
              </a:defRPr>
            </a:pPr>
            <a:r>
              <a:rPr sz="1300">
                <a:solidFill>
                  <a:srgbClr val="666666"/>
                </a:solidFill>
                <a:latin typeface="Consolas"/>
              </a:rPr>
              <a:t>//  Where does it sit between toLow and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map(0,   0, 511, 0, 255)   -&gt;    0</a:t>
            </a:r>
          </a:p>
          <a:p>
            <a:pPr algn="l">
              <a:lnSpc>
                <a:spcPct val="100000"/>
              </a:lnSpc>
              <a:spcAft>
                <a:spcPts val="0"/>
              </a:spcAft>
              <a:defRPr sz="1300">
                <a:latin typeface="Consolas"/>
              </a:defRPr>
            </a:pPr>
            <a:r>
              <a:rPr sz="1300">
                <a:solidFill>
                  <a:srgbClr val="222222"/>
                </a:solidFill>
                <a:latin typeface="Consolas"/>
              </a:rPr>
              <a:t>map(255, 0, 255, 0, 255)   -&gt;  127</a:t>
            </a:r>
          </a:p>
          <a:p>
            <a:pPr algn="l">
              <a:lnSpc>
                <a:spcPct val="100000"/>
              </a:lnSpc>
              <a:spcAft>
                <a:spcPts val="0"/>
              </a:spcAft>
              <a:defRPr sz="1300">
                <a:latin typeface="Consolas"/>
              </a:defRPr>
            </a:pPr>
            <a:r>
              <a:rPr sz="1300">
                <a:solidFill>
                  <a:srgbClr val="222222"/>
                </a:solidFill>
                <a:latin typeface="Consolas"/>
              </a:rPr>
              <a:t>map(511, 0, 511, 0, 255)   -&gt;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In stickToSpeed the low end is the DEADZONE, not zero,</a:t>
            </a:r>
          </a:p>
          <a:p>
            <a:pPr algn="l">
              <a:lnSpc>
                <a:spcPct val="100000"/>
              </a:lnSpc>
              <a:spcAft>
                <a:spcPts val="0"/>
              </a:spcAft>
              <a:defRPr sz="1300">
                <a:latin typeface="Consolas"/>
              </a:defRPr>
            </a:pPr>
            <a:r>
              <a:rPr sz="1300">
                <a:solidFill>
                  <a:srgbClr val="666666"/>
                </a:solidFill>
                <a:latin typeface="Consolas"/>
              </a:rPr>
              <a:t>// so the leftover travel is stretched across the whole</a:t>
            </a:r>
          </a:p>
          <a:p>
            <a:pPr algn="l">
              <a:lnSpc>
                <a:spcPct val="100000"/>
              </a:lnSpc>
              <a:spcAft>
                <a:spcPts val="0"/>
              </a:spcAft>
              <a:defRPr sz="1300">
                <a:latin typeface="Consolas"/>
              </a:defRPr>
            </a:pPr>
            <a:r>
              <a:rPr sz="1300">
                <a:solidFill>
                  <a:srgbClr val="666666"/>
                </a:solidFill>
                <a:latin typeface="Consolas"/>
              </a:rPr>
              <a:t>// speed range. Without that you could never reach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map() is just proportion. Nothing more.</a:t>
            </a:r>
          </a:p>
          <a:p>
            <a:pPr algn="l">
              <a:lnSpc>
                <a:spcPct val="100000"/>
              </a:lnSpc>
              <a:spcAft>
                <a:spcPts val="1100"/>
              </a:spcAft>
              <a:defRPr sz="1500" b="0">
                <a:solidFill>
                  <a:srgbClr val="222222"/>
                </a:solidFill>
                <a:latin typeface="Calibri"/>
              </a:defRPr>
            </a:pPr>
            <a:r>
              <a:rPr sz="15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1100"/>
              </a:spcAft>
              <a:defRPr sz="1500" b="0">
                <a:solidFill>
                  <a:srgbClr val="222222"/>
                </a:solidFill>
                <a:latin typeface="Calibri"/>
              </a:defRPr>
            </a:pPr>
            <a:r>
              <a:rPr sz="1500" b="0">
                <a:solidFill>
                  <a:srgbClr val="222222"/>
                </a:solidFill>
                <a:latin typeface="Calibri"/>
              </a:rPr>
              <a:t>abs() throws away the sign, so we map the SIZE of the push and put the direction back at the 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Nothing moves - this is print only.</a:t>
            </a:r>
          </a:p>
          <a:p>
            <a:pPr algn="l">
              <a:lnSpc>
                <a:spcPct val="100000"/>
              </a:lnSpc>
              <a:spcAft>
                <a:spcPts val="800"/>
              </a:spcAft>
              <a:defRPr sz="1600" b="0">
                <a:solidFill>
                  <a:srgbClr val="222222"/>
                </a:solidFill>
                <a:latin typeface="Calibri"/>
              </a:defRPr>
            </a:pPr>
            <a:r>
              <a:rPr sz="1600" b="0">
                <a:solidFill>
                  <a:srgbClr val="222222"/>
                </a:solidFill>
                <a:latin typeface="Calibri"/>
              </a:rPr>
              <a:t>2.  Push the stick VERY slowly from centre to full forward. Watch both columns. Where does the speed stop being 0?</a:t>
            </a:r>
          </a:p>
          <a:p>
            <a:pPr algn="l">
              <a:lnSpc>
                <a:spcPct val="100000"/>
              </a:lnSpc>
              <a:spcAft>
                <a:spcPts val="800"/>
              </a:spcAft>
              <a:defRPr sz="1600" b="0">
                <a:solidFill>
                  <a:srgbClr val="222222"/>
                </a:solidFill>
                <a:latin typeface="Calibri"/>
              </a:defRPr>
            </a:pPr>
            <a:r>
              <a:rPr sz="1600" b="0">
                <a:solidFill>
                  <a:srgbClr val="222222"/>
                </a:solidFill>
                <a:latin typeface="Calibri"/>
              </a:rPr>
              <a:t>3.  Set STICK_DEADZONE to 0. Upload. Put the controller down and do not touch it. Does the speed stay at 0?</a:t>
            </a:r>
          </a:p>
          <a:p>
            <a:pPr algn="l">
              <a:lnSpc>
                <a:spcPct val="100000"/>
              </a:lnSpc>
              <a:spcAft>
                <a:spcPts val="800"/>
              </a:spcAft>
              <a:defRPr sz="1600" b="0">
                <a:solidFill>
                  <a:srgbClr val="222222"/>
                </a:solidFill>
                <a:latin typeface="Calibri"/>
              </a:defRPr>
            </a:pPr>
            <a:r>
              <a:rPr sz="1600" b="0">
                <a:solidFill>
                  <a:srgbClr val="222222"/>
                </a:solidFill>
                <a:latin typeface="Calibri"/>
              </a:rPr>
              <a:t>4.  Set it to 408. How much of the stick is now wasted?</a:t>
            </a:r>
          </a:p>
          <a:p>
            <a:pPr algn="l">
              <a:lnSpc>
                <a:spcPct val="100000"/>
              </a:lnSpc>
              <a:spcAft>
                <a:spcPts val="800"/>
              </a:spcAft>
              <a:defRPr sz="1600" b="0">
                <a:solidFill>
                  <a:srgbClr val="222222"/>
                </a:solidFill>
                <a:latin typeface="Calibri"/>
              </a:defRPr>
            </a:pPr>
            <a:r>
              <a:rPr sz="16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Two columns: the raw number from the controller, and the motor speed it turns into.</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With the deadzone at 0, what does the vehicle do when nobody is holding the controller?</a:t>
            </a:r>
          </a:p>
          <a:p>
            <a:pPr algn="l">
              <a:lnSpc>
                <a:spcPct val="100000"/>
              </a:lnSpc>
              <a:spcAft>
                <a:spcPts val="600"/>
              </a:spcAft>
              <a:defRPr sz="1500" b="0">
                <a:solidFill>
                  <a:srgbClr val="222222"/>
                </a:solidFill>
                <a:latin typeface="Calibri"/>
              </a:defRPr>
            </a:pPr>
            <a:r>
              <a:rPr sz="1500" b="0">
                <a:solidFill>
                  <a:srgbClr val="222222"/>
                </a:solidFill>
                <a:latin typeface="Calibri"/>
              </a:rPr>
              <a:t>What does MOTOR_MIN = 60 change, and when would you want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left = forward + turn        right = forward - turn</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Driving gets the full MOTOR_MAX of 255.</a:t>
            </a:r>
          </a:p>
          <a:p>
            <a:pPr algn="l">
              <a:lnSpc>
                <a:spcPct val="100000"/>
              </a:lnSpc>
              <a:spcAft>
                <a:spcPts val="900"/>
              </a:spcAft>
              <a:defRPr sz="1700" b="0">
                <a:solidFill>
                  <a:srgbClr val="222222"/>
                </a:solidFill>
                <a:latin typeface="Calibri"/>
              </a:defRPr>
            </a:pPr>
            <a:r>
              <a:rPr sz="1700" b="0">
                <a:solidFill>
                  <a:srgbClr val="222222"/>
                </a:solidFill>
                <a:latin typeface="Calibri"/>
              </a:rPr>
              <a:t>Steering gets turnMax, which is HALF of that by default.</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void loop() {</a:t>
            </a:r>
          </a:p>
          <a:p>
            <a:pPr algn="l">
              <a:lnSpc>
                <a:spcPct val="100000"/>
              </a:lnSpc>
              <a:spcAft>
                <a:spcPts val="0"/>
              </a:spcAft>
              <a:defRPr sz="1300">
                <a:latin typeface="Consolas"/>
              </a:defRPr>
            </a:pPr>
            <a:r>
              <a:rPr sz="1300" b="1">
                <a:solidFill>
                  <a:srgbClr val="0E7C86"/>
                </a:solidFill>
                <a:latin typeface="Consolas"/>
              </a:rPr>
              <a:t>  if (myController == nullptr || !myController-&gt;isConnected()) {</a:t>
            </a:r>
          </a:p>
          <a:p>
            <a:pPr algn="l">
              <a:lnSpc>
                <a:spcPct val="100000"/>
              </a:lnSpc>
              <a:spcAft>
                <a:spcPts val="0"/>
              </a:spcAft>
              <a:defRPr sz="1300">
                <a:latin typeface="Consolas"/>
              </a:defRPr>
            </a:pPr>
            <a:r>
              <a:rPr sz="1300" b="1">
                <a:solidFill>
                  <a:srgbClr val="0E7C86"/>
                </a:solidFill>
                <a:latin typeface="Consolas"/>
              </a:rPr>
              <a:t>    drive(0, 0);        // never drive without a controller</a:t>
            </a:r>
          </a:p>
          <a:p>
            <a:pPr algn="l">
              <a:lnSpc>
                <a:spcPct val="100000"/>
              </a:lnSpc>
              <a:spcAft>
                <a:spcPts val="0"/>
              </a:spcAft>
              <a:defRPr sz="1300">
                <a:latin typeface="Consolas"/>
              </a:defRPr>
            </a:pPr>
            <a:r>
              <a:rPr sz="1300" b="1">
                <a:solidFill>
                  <a:srgbClr val="0E7C86"/>
                </a:solidFill>
                <a:latin typeface="Consolas"/>
              </a:rPr>
              <a:t>    return;</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leftStickX = myController-&gt;axisX();</a:t>
            </a:r>
          </a:p>
          <a:p>
            <a:pPr algn="l">
              <a:lnSpc>
                <a:spcPct val="100000"/>
              </a:lnSpc>
              <a:spcAft>
                <a:spcPts val="0"/>
              </a:spcAft>
              <a:defRPr sz="1300">
                <a:latin typeface="Consolas"/>
              </a:defRPr>
            </a:pPr>
            <a:r>
              <a:rPr sz="1300">
                <a:solidFill>
                  <a:srgbClr val="222222"/>
                </a:solidFill>
                <a:latin typeface="Consolas"/>
              </a:rPr>
              <a:t>  int leftStickY = myController-&gt;axisY();</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  int forward = stickToSpeed(-leftStickY, MOTOR_MAX);</a:t>
            </a:r>
          </a:p>
          <a:p>
            <a:pPr algn="l">
              <a:lnSpc>
                <a:spcPct val="100000"/>
              </a:lnSpc>
              <a:spcAft>
                <a:spcPts val="0"/>
              </a:spcAft>
              <a:defRPr sz="1300">
                <a:latin typeface="Consolas"/>
              </a:defRPr>
            </a:pPr>
            <a:r>
              <a:rPr sz="1300" b="1">
                <a:solidFill>
                  <a:srgbClr val="0E7C86"/>
                </a:solidFill>
                <a:latin typeface="Consolas"/>
              </a:rPr>
              <a:t>  int turn    = stickToSpeed(leftStickX,  turnMax);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leftSpeed  = constrain(forward + turn, -MOTOR_MAX, MOTOR_MAX);</a:t>
            </a:r>
          </a:p>
          <a:p>
            <a:pPr algn="l">
              <a:lnSpc>
                <a:spcPct val="100000"/>
              </a:lnSpc>
              <a:spcAft>
                <a:spcPts val="0"/>
              </a:spcAft>
              <a:defRPr sz="1300">
                <a:latin typeface="Consolas"/>
              </a:defRPr>
            </a:pPr>
            <a:r>
              <a:rPr sz="1300">
                <a:solidFill>
                  <a:srgbClr val="222222"/>
                </a:solidFill>
                <a:latin typeface="Consolas"/>
              </a:rPr>
              <a:t>  int rightSpeed = constrain(forward - turn, -MOTOR_MAX, MOTOR_MAX);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drive(leftSpeed, rightSpeed);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1100"/>
              </a:spcAft>
              <a:defRPr sz="1500" b="0">
                <a:solidFill>
                  <a:srgbClr val="222222"/>
                </a:solidFill>
                <a:latin typeface="Calibri"/>
              </a:defRPr>
            </a:pPr>
            <a:r>
              <a:rPr sz="1500" b="0">
                <a:solidFill>
                  <a:srgbClr val="222222"/>
                </a:solidFill>
                <a:latin typeface="Calibri"/>
              </a:rPr>
              <a:t>Note the minus sign on leftStickY. Up is negative.</a:t>
            </a:r>
          </a:p>
          <a:p>
            <a:pPr algn="l">
              <a:lnSpc>
                <a:spcPct val="100000"/>
              </a:lnSpc>
              <a:spcAft>
                <a:spcPts val="1100"/>
              </a:spcAft>
              <a:defRPr sz="1500" b="0">
                <a:solidFill>
                  <a:srgbClr val="222222"/>
                </a:solidFill>
                <a:latin typeface="Calibri"/>
              </a:defRPr>
            </a:pPr>
            <a:r>
              <a:rPr sz="1500" b="0">
                <a:solidFill>
                  <a:srgbClr val="222222"/>
                </a:solidFill>
                <a:latin typeface="Calibri"/>
              </a:rPr>
              <a:t>Driving gets MOTOR_MAX; steering gets turnMax.</a:t>
            </a:r>
          </a:p>
          <a:p>
            <a:pPr algn="l">
              <a:lnSpc>
                <a:spcPct val="100000"/>
              </a:lnSpc>
              <a:spcAft>
                <a:spcPts val="1100"/>
              </a:spcAft>
              <a:defRPr sz="1500" b="0">
                <a:solidFill>
                  <a:srgbClr val="222222"/>
                </a:solidFill>
                <a:latin typeface="Calibri"/>
              </a:defRPr>
            </a:pPr>
            <a:r>
              <a:rPr sz="1500" b="0">
                <a:solidFill>
                  <a:srgbClr val="222222"/>
                </a:solidFill>
                <a:latin typeface="Calibri"/>
              </a:rPr>
              <a:t>Everything else you have already seen.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Wheels off the ground. Upload. Check that up is forward and right is right BEFORE you put it down.</a:t>
            </a:r>
          </a:p>
          <a:p>
            <a:pPr algn="l">
              <a:lnSpc>
                <a:spcPct val="100000"/>
              </a:lnSpc>
              <a:spcAft>
                <a:spcPts val="800"/>
              </a:spcAft>
              <a:defRPr sz="1400" b="0">
                <a:solidFill>
                  <a:srgbClr val="222222"/>
                </a:solidFill>
                <a:latin typeface="Calibri"/>
              </a:defRPr>
            </a:pPr>
            <a:r>
              <a:rPr sz="1400" b="0">
                <a:solidFill>
                  <a:srgbClr val="222222"/>
                </a:solidFill>
                <a:latin typeface="Calibri"/>
              </a:rPr>
              <a:t>2.  Now put it on the floor in a clear space and drive.</a:t>
            </a:r>
          </a:p>
          <a:p>
            <a:pPr algn="l">
              <a:lnSpc>
                <a:spcPct val="100000"/>
              </a:lnSpc>
              <a:spcAft>
                <a:spcPts val="800"/>
              </a:spcAft>
              <a:defRPr sz="1400" b="0">
                <a:solidFill>
                  <a:srgbClr val="222222"/>
                </a:solidFill>
                <a:latin typeface="Calibri"/>
              </a:defRPr>
            </a:pPr>
            <a:r>
              <a:rPr sz="1400" b="0">
                <a:solidFill>
                  <a:srgbClr val="222222"/>
                </a:solidFill>
                <a:latin typeface="Calibri"/>
              </a:rPr>
              <a:t>3.  While driving, switch the controller off. What happens?</a:t>
            </a:r>
          </a:p>
          <a:p>
            <a:pPr algn="l">
              <a:lnSpc>
                <a:spcPct val="100000"/>
              </a:lnSpc>
              <a:spcAft>
                <a:spcPts val="800"/>
              </a:spcAft>
              <a:defRPr sz="1400" b="0">
                <a:solidFill>
                  <a:srgbClr val="222222"/>
                </a:solidFill>
                <a:latin typeface="Calibri"/>
              </a:defRPr>
            </a:pPr>
            <a:r>
              <a:rPr sz="1400" b="0">
                <a:solidFill>
                  <a:srgbClr val="222222"/>
                </a:solidFill>
                <a:latin typeface="Calibri"/>
              </a:rPr>
              <a:t>4.  Set turnMax to MOTOR_MAX and drive again. Which is easier?</a:t>
            </a:r>
          </a:p>
          <a:p>
            <a:pPr algn="l">
              <a:lnSpc>
                <a:spcPct val="100000"/>
              </a:lnSpc>
              <a:spcAft>
                <a:spcPts val="800"/>
              </a:spcAft>
              <a:defRPr sz="1400" b="0">
                <a:solidFill>
                  <a:srgbClr val="222222"/>
                </a:solidFill>
                <a:latin typeface="Calibri"/>
              </a:defRPr>
            </a:pPr>
            <a:r>
              <a:rPr sz="1400" b="0">
                <a:solidFill>
                  <a:srgbClr val="222222"/>
                </a:solidFill>
                <a:latin typeface="Calibri"/>
              </a:rPr>
              <a:t>5.  Swap the + and the - in the mixing lines and drive. What is wrong now?</a:t>
            </a:r>
          </a:p>
          <a:p>
            <a:pPr algn="l">
              <a:lnSpc>
                <a:spcPct val="100000"/>
              </a:lnSpc>
              <a:spcAft>
                <a:spcPts val="800"/>
              </a:spcAft>
              <a:defRPr sz="1400" b="0">
                <a:solidFill>
                  <a:srgbClr val="222222"/>
                </a:solidFill>
                <a:latin typeface="Calibri"/>
              </a:defRPr>
            </a:pPr>
            <a:r>
              <a:rPr sz="1400" b="0">
                <a:solidFill>
                  <a:srgbClr val="222222"/>
                </a:solidFill>
                <a:latin typeface="Calibri"/>
              </a:rPr>
              <a:t>6.  Try  right = forward  with no turn term at all. Why is that a worse way to steer?</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vehicle that goes where you point it.</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radio link is not reliable. Batteries go flat, people walk between the pad and the vehicle, controllers get switched off.</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only safe behaviour is to STOP. Not carry on with the last command, and not do something clever.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Three lines at the top of loop() do it:</a:t>
            </a:r>
          </a:p>
          <a:p>
            <a:pPr lvl="1" algn="l">
              <a:lnSpc>
                <a:spcPct val="100000"/>
              </a:lnSpc>
              <a:spcAft>
                <a:spcPts val="600"/>
              </a:spcAft>
              <a:defRPr sz="1500" b="0">
                <a:solidFill>
                  <a:srgbClr val="222222"/>
                </a:solidFill>
                <a:latin typeface="Calibri"/>
              </a:defRPr>
            </a:pPr>
            <a:r>
              <a:rPr sz="1500" b="0">
                <a:solidFill>
                  <a:srgbClr val="222222"/>
                </a:solidFill>
                <a:latin typeface="Calibri"/>
              </a:rPr>
              <a:t>if (!connected) { drive(0, 0); return; }</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Ask yourself, on any system you build: what happens when the operator disappears?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19</a:t>
            </a:r>
          </a:p>
        </p:txBody>
      </p:sp>
      <p:graphicFrame>
        <p:nvGraphicFramePr>
          <p:cNvPr id="6" name="Table 5"/>
          <p:cNvGraphicFramePr>
            <a:graphicFrameLocks noGrp="1"/>
          </p:cNvGraphicFramePr>
          <p:nvPr/>
        </p:nvGraphicFramePr>
        <p:xfrm>
          <a:off x="502920" y="1188720"/>
          <a:ext cx="11185854" cy="1978025"/>
        </p:xfrm>
        <a:graphic>
          <a:graphicData uri="http://schemas.openxmlformats.org/drawingml/2006/table">
            <a:tbl>
              <a:tblPr firstRow="1" bandRow="1">
                <a:tableStyleId>{5C22544A-7EE6-4342-B048-85BDC9FD1C3A}</a:tableStyleId>
              </a:tblPr>
              <a:tblGrid>
                <a:gridCol w="3728618"/>
                <a:gridCol w="3195958"/>
                <a:gridCol w="4261278"/>
              </a:tblGrid>
              <a:tr h="282575">
                <a:tc>
                  <a:txBody>
                    <a:bodyPr/>
                    <a:lstStyle/>
                    <a:p>
                      <a:r>
                        <a:rPr sz="1300" b="1">
                          <a:solidFill>
                            <a:srgbClr val="FFFFFF"/>
                          </a:solidFill>
                          <a:latin typeface="Calibri"/>
                        </a:rPr>
                        <a:t>Symptom</a:t>
                      </a:r>
                    </a:p>
                  </a:txBody>
                  <a:tcPr marL="73152" marT="18288" marB="18288">
                    <a:solidFill>
                      <a:srgbClr val="1F3A5F"/>
                    </a:solidFill>
                  </a:tcPr>
                </a:tc>
                <a:tc>
                  <a:txBody>
                    <a:bodyPr/>
                    <a:lstStyle/>
                    <a:p>
                      <a:r>
                        <a:rPr sz="1300" b="1">
                          <a:solidFill>
                            <a:srgbClr val="FFFFFF"/>
                          </a:solidFill>
                          <a:latin typeface="Calibri"/>
                        </a:rPr>
                        <a:t>Most likely cause</a:t>
                      </a:r>
                    </a:p>
                  </a:txBody>
                  <a:tcPr marL="73152" marT="18288" marB="18288">
                    <a:solidFill>
                      <a:srgbClr val="1F3A5F"/>
                    </a:solidFill>
                  </a:tcPr>
                </a:tc>
                <a:tc>
                  <a:txBody>
                    <a:bodyPr/>
                    <a:lstStyle/>
                    <a:p>
                      <a:r>
                        <a:rPr sz="1300" b="1">
                          <a:solidFill>
                            <a:srgbClr val="FFFFFF"/>
                          </a:solidFill>
                          <a:latin typeface="Calibri"/>
                        </a:rPr>
                        <a:t>What to do</a:t>
                      </a:r>
                    </a:p>
                  </a:txBody>
                  <a:tcPr marL="73152" marT="18288" marB="18288">
                    <a:solidFill>
                      <a:srgbClr val="1F3A5F"/>
                    </a:solidFill>
                  </a:tcPr>
                </a:tc>
              </a:tr>
              <a:tr h="282575">
                <a:tc>
                  <a:txBody>
                    <a:bodyPr/>
                    <a:lstStyle/>
                    <a:p>
                      <a:r>
                        <a:rPr sz="1300">
                          <a:solidFill>
                            <a:srgbClr val="222222"/>
                          </a:solidFill>
                          <a:latin typeface="Calibri"/>
                        </a:rPr>
                        <a:t>Nothing connects at all</a:t>
                      </a:r>
                    </a:p>
                  </a:txBody>
                  <a:tcPr marL="73152" marT="18288" marB="18288">
                    <a:solidFill>
                      <a:srgbClr val="FFFFFF"/>
                    </a:solidFill>
                  </a:tcPr>
                </a:tc>
                <a:tc>
                  <a:txBody>
                    <a:bodyPr/>
                    <a:lstStyle/>
                    <a:p>
                      <a:r>
                        <a:rPr sz="1300">
                          <a:solidFill>
                            <a:srgbClr val="222222"/>
                          </a:solidFill>
                          <a:latin typeface="Calibri"/>
                        </a:rPr>
                        <a:t>Address mismatch</a:t>
                      </a:r>
                    </a:p>
                  </a:txBody>
                  <a:tcPr marL="73152" marT="18288" marB="18288">
                    <a:solidFill>
                      <a:srgbClr val="FFFFFF"/>
                    </a:solidFill>
                  </a:tcPr>
                </a:tc>
                <a:tc>
                  <a:txBody>
                    <a:bodyPr/>
                    <a:lstStyle/>
                    <a:p>
                      <a:r>
                        <a:rPr sz="1300">
                          <a:solidFill>
                            <a:srgbClr val="222222"/>
                          </a:solidFill>
                          <a:latin typeface="Calibri"/>
                        </a:rPr>
                        <a:t>Check the address in the sketch matches the pad</a:t>
                      </a:r>
                    </a:p>
                  </a:txBody>
                  <a:tcPr marL="73152" marT="18288" marB="18288">
                    <a:solidFill>
                      <a:srgbClr val="FFFFFF"/>
                    </a:solidFill>
                  </a:tcPr>
                </a:tc>
              </a:tr>
              <a:tr h="282575">
                <a:tc>
                  <a:txBody>
                    <a:bodyPr/>
                    <a:lstStyle/>
                    <a:p>
                      <a:r>
                        <a:rPr sz="1300">
                          <a:solidFill>
                            <a:srgbClr val="222222"/>
                          </a:solidFill>
                          <a:latin typeface="Calibri"/>
                        </a:rPr>
                        <a:t>Connects, then drops</a:t>
                      </a:r>
                    </a:p>
                  </a:txBody>
                  <a:tcPr marL="73152" marT="18288" marB="18288">
                    <a:solidFill>
                      <a:srgbClr val="EEF3F8"/>
                    </a:solidFill>
                  </a:tcPr>
                </a:tc>
                <a:tc>
                  <a:txBody>
                    <a:bodyPr/>
                    <a:lstStyle/>
                    <a:p>
                      <a:r>
                        <a:rPr sz="1300">
                          <a:solidFill>
                            <a:srgbClr val="222222"/>
                          </a:solidFill>
                          <a:latin typeface="Calibri"/>
                        </a:rPr>
                        <a:t>Flat controller battery</a:t>
                      </a:r>
                    </a:p>
                  </a:txBody>
                  <a:tcPr marL="73152" marT="18288" marB="18288">
                    <a:solidFill>
                      <a:srgbClr val="EEF3F8"/>
                    </a:solidFill>
                  </a:tcPr>
                </a:tc>
                <a:tc>
                  <a:txBody>
                    <a:bodyPr/>
                    <a:lstStyle/>
                    <a:p>
                      <a:r>
                        <a:rPr sz="1300">
                          <a:solidFill>
                            <a:srgbClr val="222222"/>
                          </a:solidFill>
                          <a:latin typeface="Calibri"/>
                        </a:rPr>
                        <a:t>Charge it over USB for a few minutes</a:t>
                      </a:r>
                    </a:p>
                  </a:txBody>
                  <a:tcPr marL="73152" marT="18288" marB="18288">
                    <a:solidFill>
                      <a:srgbClr val="EEF3F8"/>
                    </a:solidFill>
                  </a:tcPr>
                </a:tc>
              </a:tr>
              <a:tr h="282575">
                <a:tc>
                  <a:txBody>
                    <a:bodyPr/>
                    <a:lstStyle/>
                    <a:p>
                      <a:r>
                        <a:rPr sz="1300">
                          <a:solidFill>
                            <a:srgbClr val="222222"/>
                          </a:solidFill>
                          <a:latin typeface="Calibri"/>
                        </a:rPr>
                        <a:t>Somebody else's vehicle moves</a:t>
                      </a:r>
                    </a:p>
                  </a:txBody>
                  <a:tcPr marL="73152" marT="18288" marB="18288">
                    <a:solidFill>
                      <a:srgbClr val="FFFFFF"/>
                    </a:solidFill>
                  </a:tcPr>
                </a:tc>
                <a:tc>
                  <a:txBody>
                    <a:bodyPr/>
                    <a:lstStyle/>
                    <a:p>
                      <a:r>
                        <a:rPr sz="1300">
                          <a:solidFill>
                            <a:srgbClr val="222222"/>
                          </a:solidFill>
                          <a:latin typeface="Calibri"/>
                        </a:rPr>
                        <a:t>Two vehicles on one address</a:t>
                      </a:r>
                    </a:p>
                  </a:txBody>
                  <a:tcPr marL="73152" marT="18288" marB="18288">
                    <a:solidFill>
                      <a:srgbClr val="FFFFFF"/>
                    </a:solidFill>
                  </a:tcPr>
                </a:tc>
                <a:tc>
                  <a:txBody>
                    <a:bodyPr/>
                    <a:lstStyle/>
                    <a:p>
                      <a:r>
                        <a:rPr sz="1300">
                          <a:solidFill>
                            <a:srgbClr val="222222"/>
                          </a:solidFill>
                          <a:latin typeface="Calibri"/>
                        </a:rPr>
                        <a:t>Give every vehicle a different address</a:t>
                      </a:r>
                    </a:p>
                  </a:txBody>
                  <a:tcPr marL="73152" marT="18288" marB="18288">
                    <a:solidFill>
                      <a:srgbClr val="FFFFFF"/>
                    </a:solidFill>
                  </a:tcPr>
                </a:tc>
              </a:tr>
              <a:tr h="282575">
                <a:tc>
                  <a:txBody>
                    <a:bodyPr/>
                    <a:lstStyle/>
                    <a:p>
                      <a:r>
                        <a:rPr sz="1300">
                          <a:solidFill>
                            <a:srgbClr val="222222"/>
                          </a:solidFill>
                          <a:latin typeface="Calibri"/>
                        </a:rPr>
                        <a:t>Wheels spin the wrong way</a:t>
                      </a:r>
                    </a:p>
                  </a:txBody>
                  <a:tcPr marL="73152" marT="18288" marB="18288">
                    <a:solidFill>
                      <a:srgbClr val="EEF3F8"/>
                    </a:solidFill>
                  </a:tcPr>
                </a:tc>
                <a:tc>
                  <a:txBody>
                    <a:bodyPr/>
                    <a:lstStyle/>
                    <a:p>
                      <a:r>
                        <a:rPr sz="1300">
                          <a:solidFill>
                            <a:srgbClr val="222222"/>
                          </a:solidFill>
                          <a:latin typeface="Calibri"/>
                        </a:rPr>
                        <a:t>Motor pins swapped</a:t>
                      </a:r>
                    </a:p>
                  </a:txBody>
                  <a:tcPr marL="73152" marT="18288" marB="18288">
                    <a:solidFill>
                      <a:srgbClr val="EEF3F8"/>
                    </a:solidFill>
                  </a:tcPr>
                </a:tc>
                <a:tc>
                  <a:txBody>
                    <a:bodyPr/>
                    <a:lstStyle/>
                    <a:p>
                      <a:r>
                        <a:rPr sz="1300">
                          <a:solidFill>
                            <a:srgbClr val="222222"/>
                          </a:solidFill>
                          <a:latin typeface="Calibri"/>
                        </a:rPr>
                        <a:t>Swap that motor's two pin numbers in the sketch</a:t>
                      </a:r>
                    </a:p>
                  </a:txBody>
                  <a:tcPr marL="73152" marT="18288" marB="18288">
                    <a:solidFill>
                      <a:srgbClr val="EEF3F8"/>
                    </a:solidFill>
                  </a:tcPr>
                </a:tc>
              </a:tr>
              <a:tr h="282575">
                <a:tc>
                  <a:txBody>
                    <a:bodyPr/>
                    <a:lstStyle/>
                    <a:p>
                      <a:r>
                        <a:rPr sz="1300">
                          <a:solidFill>
                            <a:srgbClr val="222222"/>
                          </a:solidFill>
                          <a:latin typeface="Calibri"/>
                        </a:rPr>
                        <a:t>It creeps with the stick centred</a:t>
                      </a:r>
                    </a:p>
                  </a:txBody>
                  <a:tcPr marL="73152" marT="18288" marB="18288">
                    <a:solidFill>
                      <a:srgbClr val="FFFFFF"/>
                    </a:solidFill>
                  </a:tcPr>
                </a:tc>
                <a:tc>
                  <a:txBody>
                    <a:bodyPr/>
                    <a:lstStyle/>
                    <a:p>
                      <a:r>
                        <a:rPr sz="1300">
                          <a:solidFill>
                            <a:srgbClr val="222222"/>
                          </a:solidFill>
                          <a:latin typeface="Calibri"/>
                        </a:rPr>
                        <a:t>Deadzone too small</a:t>
                      </a:r>
                    </a:p>
                  </a:txBody>
                  <a:tcPr marL="73152" marT="18288" marB="18288">
                    <a:solidFill>
                      <a:srgbClr val="FFFFFF"/>
                    </a:solidFill>
                  </a:tcPr>
                </a:tc>
                <a:tc>
                  <a:txBody>
                    <a:bodyPr/>
                    <a:lstStyle/>
                    <a:p>
                      <a:r>
                        <a:rPr sz="1300">
                          <a:solidFill>
                            <a:srgbClr val="222222"/>
                          </a:solidFill>
                          <a:latin typeface="Calibri"/>
                        </a:rPr>
                        <a:t>Raise STICK_DEADZONE</a:t>
                      </a:r>
                    </a:p>
                  </a:txBody>
                  <a:tcPr marL="73152" marT="18288" marB="18288">
                    <a:solidFill>
                      <a:srgbClr val="FFFFFF"/>
                    </a:solidFill>
                  </a:tcPr>
                </a:tc>
              </a:tr>
              <a:tr h="282575">
                <a:tc>
                  <a:txBody>
                    <a:bodyPr/>
                    <a:lstStyle/>
                    <a:p>
                      <a:r>
                        <a:rPr sz="1300">
                          <a:solidFill>
                            <a:srgbClr val="222222"/>
                          </a:solidFill>
                          <a:latin typeface="Calibri"/>
                        </a:rPr>
                        <a:t>Nothing at all, no serial output</a:t>
                      </a:r>
                    </a:p>
                  </a:txBody>
                  <a:tcPr marL="73152" marT="18288" marB="18288">
                    <a:solidFill>
                      <a:srgbClr val="EEF3F8"/>
                    </a:solidFill>
                  </a:tcPr>
                </a:tc>
                <a:tc>
                  <a:txBody>
                    <a:bodyPr/>
                    <a:lstStyle/>
                    <a:p>
                      <a:r>
                        <a:rPr sz="1300">
                          <a:solidFill>
                            <a:srgbClr val="222222"/>
                          </a:solidFill>
                          <a:latin typeface="Calibri"/>
                        </a:rPr>
                        <a:t>Wrong board selected</a:t>
                      </a:r>
                    </a:p>
                  </a:txBody>
                  <a:tcPr marL="73152" marT="18288" marB="18288">
                    <a:solidFill>
                      <a:srgbClr val="EEF3F8"/>
                    </a:solidFill>
                  </a:tcPr>
                </a:tc>
                <a:tc>
                  <a:txBody>
                    <a:bodyPr/>
                    <a:lstStyle/>
                    <a:p>
                      <a:r>
                        <a:rPr sz="13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What is a Bluetooth address, and why must every vehicle in the room have a different one?</a:t>
            </a:r>
          </a:p>
          <a:p>
            <a:pPr algn="l">
              <a:lnSpc>
                <a:spcPct val="100000"/>
              </a:lnSpc>
              <a:spcAft>
                <a:spcPts val="1400"/>
              </a:spcAft>
              <a:defRPr sz="1700" b="0">
                <a:solidFill>
                  <a:srgbClr val="222222"/>
                </a:solidFill>
                <a:latin typeface="Calibri"/>
              </a:defRPr>
            </a:pPr>
            <a:r>
              <a:rPr sz="1700" b="0">
                <a:solidFill>
                  <a:srgbClr val="222222"/>
                </a:solidFill>
                <a:latin typeface="Calibri"/>
              </a:rPr>
              <a:t>2.  Push the left stick fully forward. Is the number positive or negative? Why does the program put a minus sign in front of it?</a:t>
            </a:r>
          </a:p>
          <a:p>
            <a:pPr algn="l">
              <a:lnSpc>
                <a:spcPct val="100000"/>
              </a:lnSpc>
              <a:spcAft>
                <a:spcPts val="1400"/>
              </a:spcAft>
              <a:defRPr sz="1700" b="0">
                <a:solidFill>
                  <a:srgbClr val="222222"/>
                </a:solidFill>
                <a:latin typeface="Calibri"/>
              </a:defRPr>
            </a:pPr>
            <a:r>
              <a:rPr sz="1700" b="0">
                <a:solidFill>
                  <a:srgbClr val="222222"/>
                </a:solidFill>
                <a:latin typeface="Calibri"/>
              </a:rPr>
              <a:t>3.  What is a deadzone for? What goes wrong if it is 0? What goes wrong if it is far too big?</a:t>
            </a:r>
          </a:p>
          <a:p>
            <a:pPr algn="l">
              <a:lnSpc>
                <a:spcPct val="100000"/>
              </a:lnSpc>
              <a:spcAft>
                <a:spcPts val="1400"/>
              </a:spcAft>
              <a:defRPr sz="1700" b="0">
                <a:solidFill>
                  <a:srgbClr val="222222"/>
                </a:solidFill>
                <a:latin typeface="Calibri"/>
              </a:defRPr>
            </a:pPr>
            <a:r>
              <a:rPr sz="1700" b="0">
                <a:solidFill>
                  <a:srgbClr val="222222"/>
                </a:solidFill>
                <a:latin typeface="Calibri"/>
              </a:rPr>
              <a:t>4.  In your own words, what does map() do?</a:t>
            </a:r>
          </a:p>
          <a:p>
            <a:pPr algn="l">
              <a:lnSpc>
                <a:spcPct val="100000"/>
              </a:lnSpc>
              <a:spcAft>
                <a:spcPts val="1400"/>
              </a:spcAft>
              <a:defRPr sz="1700" b="0">
                <a:solidFill>
                  <a:srgbClr val="222222"/>
                </a:solidFill>
                <a:latin typeface="Calibri"/>
              </a:defRPr>
            </a:pPr>
            <a:r>
              <a:rPr sz="1700" b="0">
                <a:solidFill>
                  <a:srgbClr val="222222"/>
                </a:solidFill>
                <a:latin typeface="Calibri"/>
              </a:rPr>
              <a:t>5.  forward is 180 and turn is 100. What speed does each side get, before and after constrain()?</a:t>
            </a:r>
          </a:p>
          <a:p>
            <a:pPr algn="l">
              <a:lnSpc>
                <a:spcPct val="100000"/>
              </a:lnSpc>
              <a:spcAft>
                <a:spcPts val="1400"/>
              </a:spcAft>
              <a:defRPr sz="1700" b="0">
                <a:solidFill>
                  <a:srgbClr val="222222"/>
                </a:solidFill>
                <a:latin typeface="Calibri"/>
              </a:defRPr>
            </a:pPr>
            <a:r>
              <a:rPr sz="1700" b="0">
                <a:solidFill>
                  <a:srgbClr val="222222"/>
                </a:solidFill>
                <a:latin typeface="Calibri"/>
              </a:rPr>
              <a:t>6.  Why is steering limited to half power by default?</a:t>
            </a:r>
          </a:p>
          <a:p>
            <a:pPr algn="l">
              <a:lnSpc>
                <a:spcPct val="100000"/>
              </a:lnSpc>
              <a:spcAft>
                <a:spcPts val="1400"/>
              </a:spcAft>
              <a:defRPr sz="1700" b="0">
                <a:solidFill>
                  <a:srgbClr val="222222"/>
                </a:solidFill>
                <a:latin typeface="Calibri"/>
              </a:defRPr>
            </a:pPr>
            <a:r>
              <a:rPr sz="17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