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buttons and the face buttons - a Sixaxis reports pressure on all of them. Almost every program reads them as digital anyway, which is why it is easy to get wrong.</a:t>
            </a:r>
          </a:p>
          <a:p>
            <a:r>
              <a:rPr sz="1200">
                <a:latin typeface="Calibri"/>
              </a:rPr>
              <a:t>A hard press on a trigger reads differently from a light one. You can still read any of them as a plain yes or no, and mostly we do, which is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So on this track, the VEHICLE is told which controller address it will accept.</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uni_bt_allowlist_add_addr(myControllerAddress);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 digital reading is true or false, with nothing in between.</a:t>
            </a:r>
          </a:p>
          <a:p>
            <a:pPr algn="l">
              <a:lnSpc>
                <a:spcPct val="100000"/>
              </a:lnSpc>
              <a:spcAft>
                <a:spcPts val="800"/>
              </a:spcAft>
              <a:defRPr sz="2000" b="0">
                <a:solidFill>
                  <a:srgbClr val="222222"/>
                </a:solidFill>
                <a:latin typeface="Calibri"/>
              </a:defRPr>
            </a:pPr>
            <a:r>
              <a:rPr sz="2000" b="0">
                <a:solidFill>
                  <a:srgbClr val="222222"/>
                </a:solidFill>
                <a:latin typeface="Calibri"/>
              </a:rPr>
              <a:t>The D-pad, Select, Start and the PS button, and clicking either stick in.</a:t>
            </a:r>
          </a:p>
          <a:p>
            <a:pPr algn="l">
              <a:lnSpc>
                <a:spcPct val="100000"/>
              </a:lnSpc>
              <a:spcAft>
                <a:spcPts val="800"/>
              </a:spcAft>
              <a:defRPr sz="2000" b="0">
                <a:solidFill>
                  <a:srgbClr val="222222"/>
                </a:solidFill>
                <a:latin typeface="Calibri"/>
              </a:defRPr>
            </a:pPr>
            <a:r>
              <a:rPr sz="2000" b="0">
                <a:solidFill>
                  <a:srgbClr val="222222"/>
                </a:solidFill>
                <a:latin typeface="Calibri"/>
              </a:rPr>
              <a:t>Good for: on/off, mode changes, one-shot actions.</a:t>
            </a:r>
          </a:p>
          <a:p>
            <a:pPr algn="l">
              <a:lnSpc>
                <a:spcPct val="100000"/>
              </a:lnSpc>
              <a:spcAft>
                <a:spcPts val="800"/>
              </a:spcAft>
              <a:defRPr sz="2000" b="0">
                <a:solidFill>
                  <a:srgbClr val="222222"/>
                </a:solidFill>
                <a:latin typeface="Calibri"/>
              </a:defRPr>
            </a:pPr>
            <a:r>
              <a:rPr sz="2000" b="0">
                <a:solidFill>
                  <a:srgbClr val="222222"/>
                </a:solidFill>
                <a:latin typeface="Calibri"/>
              </a:rPr>
              <a:t>On this track:</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analog reading says HOW FAR, not just whether.</a:t>
            </a:r>
          </a:p>
          <a:p>
            <a:pPr algn="l">
              <a:lnSpc>
                <a:spcPct val="100000"/>
              </a:lnSpc>
              <a:spcAft>
                <a:spcPts val="800"/>
              </a:spcAft>
              <a:defRPr sz="2000" b="0">
                <a:solidFill>
                  <a:srgbClr val="222222"/>
                </a:solidFill>
                <a:latin typeface="Calibri"/>
              </a:defRPr>
            </a:pPr>
            <a:r>
              <a:rPr sz="2000" b="0">
                <a:solidFill>
                  <a:srgbClr val="222222"/>
                </a:solidFill>
                <a:latin typeface="Calibri"/>
              </a:rPr>
              <a:t>Both thumbsticks, on two axes each, reading -512 to +511.</a:t>
            </a:r>
          </a:p>
          <a:p>
            <a:pPr algn="l">
              <a:lnSpc>
                <a:spcPct val="100000"/>
              </a:lnSpc>
              <a:spcAft>
                <a:spcPts val="800"/>
              </a:spcAft>
              <a:defRPr sz="2000" b="0">
                <a:solidFill>
                  <a:srgbClr val="222222"/>
                </a:solidFill>
                <a:latin typeface="Calibri"/>
              </a:defRPr>
            </a:pPr>
            <a:r>
              <a:rPr sz="2000" b="0">
                <a:solidFill>
                  <a:srgbClr val="222222"/>
                </a:solidFill>
                <a:latin typeface="Calibri"/>
              </a:rPr>
              <a:t>On a PS3 pad the TRIGGERS are analog too, and so are the shoulder and face buttons.</a:t>
            </a:r>
          </a:p>
          <a:p>
            <a:pPr algn="l">
              <a:lnSpc>
                <a:spcPct val="100000"/>
              </a:lnSpc>
              <a:spcAft>
                <a:spcPts val="800"/>
              </a:spcAft>
              <a:defRPr sz="2000" b="0">
                <a:solidFill>
                  <a:srgbClr val="222222"/>
                </a:solidFill>
                <a:latin typeface="Calibri"/>
              </a:defRPr>
            </a:pPr>
            <a:r>
              <a:rPr sz="2000" b="0">
                <a:solidFill>
                  <a:srgbClr val="222222"/>
                </a:solidFill>
                <a:latin typeface="Calibri"/>
              </a:rPr>
              <a:t>Good for: speed, steering, aiming a servo.</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myController-&gt;axisX()     // left/right</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