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800" b="0">
                <a:solidFill>
                  <a:srgbClr val="222222"/>
                </a:solidFill>
                <a:latin typeface="Calibri"/>
              </a:defRPr>
            </a:pPr>
            <a:r>
              <a:rPr sz="18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Current flows from the terminal at the higher voltage to the one at the lower.</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0 V, B at 3.3 V  -&gt;  current flows B to A</a:t>
            </a:r>
          </a:p>
          <a:p>
            <a:pPr algn="l">
              <a:lnSpc>
                <a:spcPct val="100000"/>
              </a:lnSpc>
              <a:spcAft>
                <a:spcPts val="400"/>
              </a:spcAft>
              <a:defRPr sz="1800" b="0">
                <a:solidFill>
                  <a:srgbClr val="222222"/>
                </a:solidFill>
                <a:latin typeface="Calibri"/>
              </a:defRPr>
            </a:pPr>
            <a:r>
              <a:rPr sz="1800" b="0">
                <a:solidFill>
                  <a:srgbClr val="222222"/>
                </a:solidFill>
                <a:latin typeface="Calibri"/>
              </a:rPr>
              <a:t>The pins do not mean forwards and backwards. They mean "this end is positive" - which is why swapping them fixes a backwards wheel.</a:t>
            </a:r>
          </a:p>
          <a:p>
            <a:pPr algn="l">
              <a:lnSpc>
                <a:spcPct val="100000"/>
              </a:lnSpc>
              <a:spcAft>
                <a:spcPts val="400"/>
              </a:spcAft>
              <a:defRPr sz="1800" b="0">
                <a:solidFill>
                  <a:srgbClr val="222222"/>
                </a:solidFill>
                <a:latin typeface="Calibri"/>
              </a:defRPr>
            </a:pPr>
            <a:r>
              <a:rPr sz="18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digitalWrite(pin, HIGH) puts 3.3 volts on the pin. LOW puts 0 volts on it. There is nothing in between.</a:t>
            </a:r>
          </a:p>
          <a:p>
            <a:pPr algn="l">
              <a:lnSpc>
                <a:spcPct val="100000"/>
              </a:lnSpc>
              <a:spcAft>
                <a:spcPts val="600"/>
              </a:spcAft>
              <a:defRPr sz="2000" b="0">
                <a:solidFill>
                  <a:srgbClr val="222222"/>
                </a:solidFill>
                <a:latin typeface="Calibri"/>
              </a:defRPr>
            </a:pPr>
            <a:r>
              <a:rPr sz="2000" b="0">
                <a:solidFill>
                  <a:srgbClr val="222222"/>
                </a:solidFill>
                <a:latin typeface="Calibri"/>
              </a:rPr>
              <a:t>So how do you get HALF speed?</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000" b="0">
                <a:solidFill>
                  <a:srgbClr val="222222"/>
                </a:solidFill>
                <a:latin typeface="Calibri"/>
              </a:defRPr>
            </a:pPr>
            <a:r>
              <a:rPr sz="2000" b="0">
                <a:solidFill>
                  <a:srgbClr val="222222"/>
                </a:solidFill>
                <a:latin typeface="Calibri"/>
              </a:rPr>
              <a:t>That is PULSE WIDTH MODULATION. The fraction of each cycle that is on is the DUTY CYCLE.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ledcSetup(channel, freq, bits);</a:t>
            </a:r>
          </a:p>
          <a:p>
            <a:pPr algn="l">
              <a:lnSpc>
                <a:spcPct val="100000"/>
              </a:lnSpc>
              <a:spcAft>
                <a:spcPts val="800"/>
              </a:spcAft>
              <a:defRPr sz="2100" b="0">
                <a:solidFill>
                  <a:srgbClr val="222222"/>
                </a:solidFill>
                <a:latin typeface="Calibri"/>
              </a:defRPr>
            </a:pPr>
            <a:r>
              <a:rPr sz="2100" b="0">
                <a:solidFill>
                  <a:srgbClr val="222222"/>
                </a:solidFill>
                <a:latin typeface="Calibri"/>
              </a:rPr>
              <a:t>ledcAttachPin(pin, channel);</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ledcWrite(channel, duty);</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1.  V = 12 volts, I = 15 mA.  R = ?</a:t>
            </a:r>
          </a:p>
          <a:p>
            <a:pPr lvl="1" algn="l">
              <a:lnSpc>
                <a:spcPct val="100000"/>
              </a:lnSpc>
              <a:spcAft>
                <a:spcPts val="900"/>
              </a:spcAft>
              <a:defRPr sz="2200" b="0">
                <a:solidFill>
                  <a:srgbClr val="222222"/>
                </a:solidFill>
                <a:latin typeface="Calibri"/>
              </a:defRPr>
            </a:pPr>
            <a:r>
              <a:rPr sz="22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2.  V = 12 volts, R = 220 ohms.  I = ?</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3.  I = 2 mA, R = 1.5k ohms.  V = ?</a:t>
            </a:r>
          </a:p>
          <a:p>
            <a:pPr lvl="1" algn="l">
              <a:lnSpc>
                <a:spcPct val="100000"/>
              </a:lnSpc>
              <a:spcAft>
                <a:spcPts val="900"/>
              </a:spcAft>
              <a:defRPr sz="2100" b="0">
                <a:solidFill>
                  <a:srgbClr val="222222"/>
                </a:solidFill>
                <a:latin typeface="Calibri"/>
              </a:defRPr>
            </a:pPr>
            <a:r>
              <a:rPr sz="2100" b="0">
                <a:solidFill>
                  <a:srgbClr val="222222"/>
                </a:solidFill>
                <a:latin typeface="Calibri"/>
              </a:rPr>
              <a:t>     (1.5k means 1500 ohms)</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Pathfinder has no steering rack. Nothing on it points the wheels.</a:t>
            </a:r>
          </a:p>
          <a:p>
            <a:pPr algn="l">
              <a:lnSpc>
                <a:spcPct val="100000"/>
              </a:lnSpc>
              <a:spcAft>
                <a:spcPts val="600"/>
              </a:spcAft>
              <a:defRPr sz="1900" b="0">
                <a:solidFill>
                  <a:srgbClr val="222222"/>
                </a:solidFill>
                <a:latin typeface="Calibri"/>
              </a:defRPr>
            </a:pPr>
            <a:r>
              <a:rPr sz="1900" b="0">
                <a:solidFill>
                  <a:srgbClr val="222222"/>
                </a:solidFill>
                <a:latin typeface="Calibri"/>
              </a:rPr>
              <a:t>The two wheels on the LEFT are driven together. The two on the RIGHT are driven together.</a:t>
            </a:r>
          </a:p>
          <a:p>
            <a:pPr algn="l">
              <a:lnSpc>
                <a:spcPct val="100000"/>
              </a:lnSpc>
              <a:spcAft>
                <a:spcPts val="600"/>
              </a:spcAft>
              <a:defRPr sz="1900" b="0">
                <a:solidFill>
                  <a:srgbClr val="222222"/>
                </a:solidFill>
                <a:latin typeface="Calibri"/>
              </a:defRPr>
            </a:pPr>
            <a:r>
              <a:rPr sz="1900" b="0">
                <a:solidFill>
                  <a:srgbClr val="222222"/>
                </a:solidFill>
                <a:latin typeface="Calibri"/>
              </a:rPr>
              <a:t>Both sides the same  -&gt;  a straight line.</a:t>
            </a:r>
          </a:p>
          <a:p>
            <a:pPr algn="l">
              <a:lnSpc>
                <a:spcPct val="100000"/>
              </a:lnSpc>
              <a:spcAft>
                <a:spcPts val="600"/>
              </a:spcAft>
              <a:defRPr sz="1900" b="0">
                <a:solidFill>
                  <a:srgbClr val="222222"/>
                </a:solidFill>
                <a:latin typeface="Calibri"/>
              </a:defRPr>
            </a:pPr>
            <a:r>
              <a:rPr sz="1900" b="0">
                <a:solidFill>
                  <a:srgbClr val="222222"/>
                </a:solidFill>
                <a:latin typeface="Calibri"/>
              </a:rPr>
              <a:t>Left faster than right  -&gt;  it curves to the right.</a:t>
            </a:r>
          </a:p>
          <a:p>
            <a:pPr algn="l">
              <a:lnSpc>
                <a:spcPct val="100000"/>
              </a:lnSpc>
              <a:spcAft>
                <a:spcPts val="600"/>
              </a:spcAft>
              <a:defRPr sz="1900" b="0">
                <a:solidFill>
                  <a:srgbClr val="222222"/>
                </a:solidFill>
                <a:latin typeface="Calibri"/>
              </a:defRPr>
            </a:pPr>
            <a:r>
              <a:rPr sz="1900" b="0">
                <a:solidFill>
                  <a:srgbClr val="222222"/>
                </a:solidFill>
                <a:latin typeface="Calibri"/>
              </a:rPr>
              <a:t>Left forward and right backward  -&gt;  it spins on the spot.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Wheel diameter is 3.0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Circumference = pi x diameter = 3.1416 x 3.0 = 9.42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Distance per wheel turn = 9.42 / 12 = 0.79 feet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Speed = revolutions per second x distance per revolution</a:t>
            </a:r>
          </a:p>
          <a:p>
            <a:pPr algn="l">
              <a:lnSpc>
                <a:spcPct val="100000"/>
              </a:lnSpc>
              <a:spcAft>
                <a:spcPts val="600"/>
              </a:spcAft>
              <a:defRPr sz="2000" b="0">
                <a:solidFill>
                  <a:srgbClr val="222222"/>
                </a:solidFill>
                <a:latin typeface="Calibri"/>
              </a:defRPr>
            </a:pPr>
            <a:r>
              <a:rPr sz="2000" b="0">
                <a:solidFill>
                  <a:srgbClr val="222222"/>
                </a:solidFill>
                <a:latin typeface="Calibri"/>
              </a:rPr>
              <a:t>Distance = speed x time</a:t>
            </a:r>
          </a:p>
          <a:p>
            <a:pPr algn="l">
              <a:lnSpc>
                <a:spcPct val="100000"/>
              </a:lnSpc>
              <a:spcAft>
                <a:spcPts val="600"/>
              </a:spcAft>
              <a:defRPr sz="2000" b="0">
                <a:solidFill>
                  <a:srgbClr val="222222"/>
                </a:solidFill>
                <a:latin typeface="Calibri"/>
              </a:defRPr>
            </a:pPr>
            <a:r>
              <a:rPr sz="2000" b="0">
                <a:solidFill>
                  <a:srgbClr val="222222"/>
                </a:solidFill>
                <a:latin typeface="Calibri"/>
              </a:rPr>
              <a:t>Degrees turned = turn rate x time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IF runs a block only when its test is true, and carries straight on when it is not.</a:t>
            </a:r>
          </a:p>
          <a:p>
            <a:pPr algn="l">
              <a:lnSpc>
                <a:spcPct val="100000"/>
              </a:lnSpc>
              <a:spcAft>
                <a:spcPts val="800"/>
              </a:spcAft>
              <a:defRPr sz="1900" b="0">
                <a:solidFill>
                  <a:srgbClr val="222222"/>
                </a:solidFill>
                <a:latin typeface="Calibri"/>
              </a:defRPr>
            </a:pPr>
            <a:r>
              <a:rPr sz="1900" b="0">
                <a:solidFill>
                  <a:srgbClr val="222222"/>
                </a:solidFill>
                <a:latin typeface="Calibri"/>
              </a:rPr>
              <a:t>Add an ELSE and exactly one of the two blocks runs. Never both, never neither.</a:t>
            </a:r>
          </a:p>
          <a:p>
            <a:pPr algn="l">
              <a:lnSpc>
                <a:spcPct val="100000"/>
              </a:lnSpc>
              <a:spcAft>
                <a:spcPts val="800"/>
              </a:spcAft>
              <a:defRPr sz="1900" b="0">
                <a:solidFill>
                  <a:srgbClr val="222222"/>
                </a:solidFill>
                <a:latin typeface="Calibri"/>
              </a:defRPr>
            </a:pPr>
            <a:r>
              <a:rPr sz="1900" b="0">
                <a:solidFill>
                  <a:srgbClr val="222222"/>
                </a:solidFill>
                <a:latin typeface="Calibri"/>
              </a:rPr>
              <a:t>Chain them with ELSE IF and the FIRST true test wins. The rest are not even looked at, so order matters.</a:t>
            </a:r>
          </a:p>
          <a:p>
            <a:pPr algn="l">
              <a:lnSpc>
                <a:spcPct val="100000"/>
              </a:lnSpc>
              <a:spcAft>
                <a:spcPts val="800"/>
              </a:spcAft>
              <a:defRPr sz="1900" b="0">
                <a:solidFill>
                  <a:srgbClr val="222222"/>
                </a:solidFill>
                <a:latin typeface="Calibri"/>
              </a:defRPr>
            </a:pPr>
            <a:r>
              <a:rPr sz="1900" b="0">
                <a:solidFill>
                  <a:srgbClr val="222222"/>
                </a:solidFill>
                <a:latin typeface="Calibri"/>
              </a:rPr>
              <a:t>A test is anything that comes out true or false: a comparison, a button, a bool.</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Mark a start line and a finish line with tape. Measure the distance.</a:t>
            </a:r>
          </a:p>
          <a:p>
            <a:pPr algn="l">
              <a:lnSpc>
                <a:spcPct val="100000"/>
              </a:lnSpc>
              <a:spcAft>
                <a:spcPts val="600"/>
              </a:spcAft>
              <a:defRPr sz="2000" b="0">
                <a:solidFill>
                  <a:srgbClr val="222222"/>
                </a:solidFill>
                <a:latin typeface="Calibri"/>
              </a:defRPr>
            </a:pPr>
            <a:r>
              <a:rPr sz="2000" b="0">
                <a:solidFill>
                  <a:srgbClr val="222222"/>
                </a:solidFill>
                <a:latin typeface="Calibri"/>
              </a:rPr>
              <a:t>Line up two or three vehicles. Hold the reset button until the start signal, then let go.</a:t>
            </a:r>
          </a:p>
          <a:p>
            <a:pPr algn="l">
              <a:lnSpc>
                <a:spcPct val="100000"/>
              </a:lnSpc>
              <a:spcAft>
                <a:spcPts val="600"/>
              </a:spcAft>
              <a:defRPr sz="2000" b="0">
                <a:solidFill>
                  <a:srgbClr val="222222"/>
                </a:solidFill>
                <a:latin typeface="Calibri"/>
              </a:defRPr>
            </a:pPr>
            <a:r>
              <a:rPr sz="2000" b="0">
                <a:solidFill>
                  <a:srgbClr val="222222"/>
                </a:solidFill>
                <a:latin typeface="Calibri"/>
              </a:rPr>
              <a:t>Time from start to crossing the line. Speed = distance / time.</a:t>
            </a:r>
          </a:p>
          <a:p>
            <a:pPr algn="l">
              <a:lnSpc>
                <a:spcPct val="100000"/>
              </a:lnSpc>
              <a:spcAft>
                <a:spcPts val="600"/>
              </a:spcAft>
              <a:defRPr sz="2000" b="0">
                <a:solidFill>
                  <a:srgbClr val="222222"/>
                </a:solidFill>
                <a:latin typeface="Calibri"/>
              </a:defRPr>
            </a:pPr>
            <a:r>
              <a:rPr sz="2000" b="0">
                <a:solidFill>
                  <a:srgbClr val="222222"/>
                </a:solidFill>
                <a:latin typeface="Calibri"/>
              </a:rPr>
              <a:t>First across the line INSIDE the lane wins. Leaving the lane does not.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If your vehicle pulls to one side, you can add a short turn correction into the program to straighten it.</a:t>
            </a:r>
          </a:p>
          <a:p>
            <a:pPr algn="l">
              <a:lnSpc>
                <a:spcPct val="100000"/>
              </a:lnSpc>
              <a:spcAft>
                <a:spcPts val="600"/>
              </a:spcAft>
              <a:defRPr sz="2000" b="0">
                <a:solidFill>
                  <a:srgbClr val="222222"/>
                </a:solidFill>
                <a:latin typeface="Calibri"/>
              </a:defRPr>
            </a:pPr>
            <a:r>
              <a:rPr sz="20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