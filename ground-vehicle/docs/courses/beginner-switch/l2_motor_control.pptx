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First of three activities. Twenty seconds on this slide.</a:t>
            </a:r>
          </a:p>
          <a:p>
            <a:r>
              <a:rPr sz="1200">
                <a:latin typeface="Calibri"/>
              </a:rPr>
              <a:t>Blocks under every vehicle before anybody uploads.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three. Wheels still off the ground - this one runs all four to full speed.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5086049" cy="45720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086049"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8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8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8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046169" y="1188720"/>
            <a:ext cx="564260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046169" y="1700784"/>
            <a:ext cx="5642606"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47607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47607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900" b="0">
                <a:solidFill>
                  <a:srgbClr val="222222"/>
                </a:solidFill>
                <a:latin typeface="Calibri"/>
              </a:defRPr>
            </a:pPr>
            <a:r>
              <a:rPr sz="19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5720848" y="1188720"/>
            <a:ext cx="59679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5720848" y="1700784"/>
            <a:ext cx="59679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Current flows from the terminal at the higher voltage to the one at the lower.</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3.3 V, B at 0 V  -&gt;  current flows A to B</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0 V, B at 3.3 V  -&gt;  current flows B to A</a:t>
            </a:r>
          </a:p>
          <a:p>
            <a:pPr algn="l">
              <a:lnSpc>
                <a:spcPct val="100000"/>
              </a:lnSpc>
              <a:spcAft>
                <a:spcPts val="800"/>
              </a:spcAft>
              <a:defRPr sz="1900" b="0">
                <a:solidFill>
                  <a:srgbClr val="222222"/>
                </a:solidFill>
                <a:latin typeface="Calibri"/>
              </a:defRPr>
            </a:pPr>
            <a:r>
              <a:rPr sz="1900" b="0">
                <a:solidFill>
                  <a:srgbClr val="222222"/>
                </a:solidFill>
                <a:latin typeface="Calibri"/>
              </a:rPr>
              <a:t>The pins do not mean forwards and backwards. They mean "this end is positive" - which is why swapping them fixes a backwards wheel.</a:t>
            </a:r>
          </a:p>
          <a:p>
            <a:pPr algn="l">
              <a:lnSpc>
                <a:spcPct val="100000"/>
              </a:lnSpc>
              <a:spcAft>
                <a:spcPts val="800"/>
              </a:spcAft>
              <a:defRPr sz="1900" b="0">
                <a:solidFill>
                  <a:srgbClr val="222222"/>
                </a:solidFill>
                <a:latin typeface="Calibri"/>
              </a:defRPr>
            </a:pPr>
            <a:r>
              <a:rPr sz="19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3" cy="2762250"/>
        </p:xfrm>
        <a:graphic>
          <a:graphicData uri="http://schemas.openxmlformats.org/drawingml/2006/table">
            <a:tbl>
              <a:tblPr firstRow="1" bandRow="1">
                <a:tableStyleId>{5C22544A-7EE6-4342-B048-85BDC9FD1C3A}</a:tableStyleId>
              </a:tblPr>
              <a:tblGrid>
                <a:gridCol w="3355756"/>
                <a:gridCol w="1677878"/>
                <a:gridCol w="1677878"/>
                <a:gridCol w="4474341"/>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4486839" cy="457200"/>
          </a:xfrm>
          <a:prstGeom prst="rect">
            <a:avLst/>
          </a:prstGeom>
          <a:noFill/>
        </p:spPr>
        <p:txBody>
          <a:bodyPr wrap="square" lIns="0" tIns="0" rIns="0" bIns="0">
            <a:spAutoFit/>
          </a:bodyPr>
          <a:lstStyle/>
          <a:p>
            <a:pPr algn="l">
              <a:lnSpc>
                <a:spcPct val="100000"/>
              </a:lnSpc>
              <a:spcAft>
                <a:spcPts val="300"/>
              </a:spcAft>
              <a:defRPr sz="2000" b="1">
                <a:solidFill>
                  <a:srgbClr val="0E7C86"/>
                </a:solidFill>
                <a:latin typeface="Calibri"/>
              </a:defRPr>
            </a:pPr>
            <a:r>
              <a:rPr sz="2000" b="1">
                <a:solidFill>
                  <a:srgbClr val="0E7C86"/>
                </a:solidFill>
                <a:latin typeface="Calibri"/>
              </a:rPr>
              <a:t>The two lines you need</a:t>
            </a:r>
          </a:p>
        </p:txBody>
      </p:sp>
      <p:sp>
        <p:nvSpPr>
          <p:cNvPr id="7" name="TextBox 6"/>
          <p:cNvSpPr txBox="1"/>
          <p:nvPr/>
        </p:nvSpPr>
        <p:spPr>
          <a:xfrm>
            <a:off x="502920" y="1700784"/>
            <a:ext cx="4486839" cy="4562856"/>
          </a:xfrm>
          <a:prstGeom prst="rect">
            <a:avLst/>
          </a:prstGeom>
          <a:noFill/>
        </p:spPr>
        <p:txBody>
          <a:bodyPr wrap="square" lIns="0" tIns="0" rIns="0" bIns="0">
            <a:spAutoFit/>
          </a:bodyPr>
          <a:lstStyle/>
          <a:p>
            <a:pPr algn="l">
              <a:lnSpc>
                <a:spcPct val="100000"/>
              </a:lnSpc>
              <a:spcAft>
                <a:spcPts val="800"/>
              </a:spcAft>
              <a:defRPr sz="2300" b="0">
                <a:solidFill>
                  <a:srgbClr val="222222"/>
                </a:solidFill>
                <a:latin typeface="Calibri"/>
              </a:defRPr>
            </a:pPr>
            <a:r>
              <a:rPr sz="2300" b="0">
                <a:solidFill>
                  <a:srgbClr val="222222"/>
                </a:solidFill>
                <a:latin typeface="Calibri"/>
              </a:rPr>
              <a:t>ledcSetup(channel, freq, bits);</a:t>
            </a:r>
          </a:p>
          <a:p>
            <a:pPr algn="l">
              <a:lnSpc>
                <a:spcPct val="100000"/>
              </a:lnSpc>
              <a:spcAft>
                <a:spcPts val="800"/>
              </a:spcAft>
              <a:defRPr sz="2300" b="0">
                <a:solidFill>
                  <a:srgbClr val="222222"/>
                </a:solidFill>
                <a:latin typeface="Calibri"/>
              </a:defRPr>
            </a:pPr>
            <a:r>
              <a:rPr sz="2300" b="0">
                <a:solidFill>
                  <a:srgbClr val="222222"/>
                </a:solidFill>
                <a:latin typeface="Calibri"/>
              </a:rPr>
              <a:t>ledcAttachPin(pin, channel);</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ledcWrite(channel, duty);</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This board package is built on an older ESP32 core, so you work through numbered PWM channels.</a:t>
            </a:r>
          </a:p>
        </p:txBody>
      </p:sp>
      <p:sp>
        <p:nvSpPr>
          <p:cNvPr id="8" name="TextBox 7"/>
          <p:cNvSpPr txBox="1"/>
          <p:nvPr/>
        </p:nvSpPr>
        <p:spPr>
          <a:xfrm>
            <a:off x="5446959" y="1188720"/>
            <a:ext cx="6241816" cy="457200"/>
          </a:xfrm>
          <a:prstGeom prst="rect">
            <a:avLst/>
          </a:prstGeom>
          <a:noFill/>
        </p:spPr>
        <p:txBody>
          <a:bodyPr wrap="square" lIns="0" tIns="0" rIns="0" bIns="0">
            <a:spAutoFit/>
          </a:bodyPr>
          <a:lstStyle/>
          <a:p>
            <a:pPr algn="l">
              <a:lnSpc>
                <a:spcPct val="100000"/>
              </a:lnSpc>
              <a:spcAft>
                <a:spcPts val="300"/>
              </a:spcAft>
              <a:defRPr sz="2000" b="1">
                <a:solidFill>
                  <a:srgbClr val="0E7C86"/>
                </a:solidFill>
                <a:latin typeface="Calibri"/>
              </a:defRPr>
            </a:pPr>
            <a:r>
              <a:rPr sz="2000" b="1">
                <a:solidFill>
                  <a:srgbClr val="0E7C86"/>
                </a:solidFill>
                <a:latin typeface="Calibri"/>
              </a:rPr>
              <a:t>The numbers we use, and why</a:t>
            </a:r>
          </a:p>
        </p:txBody>
      </p:sp>
      <p:sp>
        <p:nvSpPr>
          <p:cNvPr id="9" name="TextBox 8"/>
          <p:cNvSpPr txBox="1"/>
          <p:nvPr/>
        </p:nvSpPr>
        <p:spPr>
          <a:xfrm>
            <a:off x="5446959" y="1700784"/>
            <a:ext cx="6241816" cy="4562856"/>
          </a:xfrm>
          <a:prstGeom prst="rect">
            <a:avLst/>
          </a:prstGeom>
          <a:noFill/>
        </p:spPr>
        <p:txBody>
          <a:bodyPr wrap="square" lIns="0" tIns="0" rIns="0" bIns="0">
            <a:spAutoFit/>
          </a:bodyPr>
          <a:lstStyle/>
          <a:p>
            <a:pPr algn="l">
              <a:lnSpc>
                <a:spcPct val="100000"/>
              </a:lnSpc>
              <a:spcAft>
                <a:spcPts val="800"/>
              </a:spcAft>
              <a:defRPr sz="2300" b="0">
                <a:solidFill>
                  <a:srgbClr val="222222"/>
                </a:solidFill>
                <a:latin typeface="Calibri"/>
              </a:defRPr>
            </a:pPr>
            <a:r>
              <a:rPr sz="23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300" b="0">
                <a:solidFill>
                  <a:srgbClr val="222222"/>
                </a:solidFill>
                <a:latin typeface="Calibri"/>
              </a:defRPr>
            </a:pPr>
            <a:r>
              <a:rPr sz="2300" b="0">
                <a:solidFill>
                  <a:srgbClr val="222222"/>
                </a:solidFill>
                <a:latin typeface="Calibri"/>
              </a:rPr>
              <a:t>Resolution 8 bits. That gives duty values 0 to 255, because 2 to the power 8 is 256.</a:t>
            </a:r>
          </a:p>
          <a:p>
            <a:pPr algn="l">
              <a:lnSpc>
                <a:spcPct val="100000"/>
              </a:lnSpc>
              <a:spcAft>
                <a:spcPts val="800"/>
              </a:spcAft>
              <a:defRPr sz="2300" b="0">
                <a:solidFill>
                  <a:srgbClr val="222222"/>
                </a:solidFill>
                <a:latin typeface="Calibri"/>
              </a:defRPr>
            </a:pPr>
            <a:r>
              <a:rPr sz="2300" b="0">
                <a:solidFill>
                  <a:srgbClr val="222222"/>
                </a:solidFill>
                <a:latin typeface="Calibri"/>
              </a:rPr>
              <a:t>0 is off, 128 is about half power, 255 is flat out.</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One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Duty vs speed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a square</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564933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649338"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IF runs a block only when its test is true, and carries straight on when it is not.</a:t>
            </a:r>
          </a:p>
          <a:p>
            <a:pPr algn="l">
              <a:lnSpc>
                <a:spcPct val="100000"/>
              </a:lnSpc>
              <a:spcAft>
                <a:spcPts val="800"/>
              </a:spcAft>
              <a:defRPr sz="2000" b="0">
                <a:solidFill>
                  <a:srgbClr val="222222"/>
                </a:solidFill>
                <a:latin typeface="Calibri"/>
              </a:defRPr>
            </a:pPr>
            <a:r>
              <a:rPr sz="2000" b="0">
                <a:solidFill>
                  <a:srgbClr val="222222"/>
                </a:solidFill>
                <a:latin typeface="Calibri"/>
              </a:rPr>
              <a:t>Add an ELSE and exactly one of the two blocks runs. Never both, never neither.</a:t>
            </a:r>
          </a:p>
          <a:p>
            <a:pPr algn="l">
              <a:lnSpc>
                <a:spcPct val="100000"/>
              </a:lnSpc>
              <a:spcAft>
                <a:spcPts val="800"/>
              </a:spcAft>
              <a:defRPr sz="2000" b="0">
                <a:solidFill>
                  <a:srgbClr val="222222"/>
                </a:solidFill>
                <a:latin typeface="Calibri"/>
              </a:defRPr>
            </a:pPr>
            <a:r>
              <a:rPr sz="2000" b="0">
                <a:solidFill>
                  <a:srgbClr val="222222"/>
                </a:solidFill>
                <a:latin typeface="Calibri"/>
              </a:rPr>
              <a:t>Chain them with ELSE IF and the FIRST true test wins. The rest are not even looked at, so order matters.</a:t>
            </a:r>
          </a:p>
          <a:p>
            <a:pPr algn="l">
              <a:lnSpc>
                <a:spcPct val="100000"/>
              </a:lnSpc>
              <a:spcAft>
                <a:spcPts val="800"/>
              </a:spcAft>
              <a:defRPr sz="2000" b="0">
                <a:solidFill>
                  <a:srgbClr val="222222"/>
                </a:solidFill>
                <a:latin typeface="Calibri"/>
              </a:defRPr>
            </a:pPr>
            <a:r>
              <a:rPr sz="2000" b="0">
                <a:solidFill>
                  <a:srgbClr val="222222"/>
                </a:solidFill>
                <a:latin typeface="Calibri"/>
              </a:rPr>
              <a:t>A test is anything that comes out true or false: a comparison, a button, a bool.</a:t>
            </a:r>
          </a:p>
        </p:txBody>
      </p:sp>
      <p:sp>
        <p:nvSpPr>
          <p:cNvPr id="8" name="TextBox 7"/>
          <p:cNvSpPr txBox="1"/>
          <p:nvPr/>
        </p:nvSpPr>
        <p:spPr>
          <a:xfrm>
            <a:off x="6609458" y="1188720"/>
            <a:ext cx="507931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609458" y="1700784"/>
            <a:ext cx="507931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This one drives on the floor. Know where your power switch is before you upload.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5427235"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427235"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87355" y="1188720"/>
            <a:ext cx="5301420"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87355" y="1700784"/>
            <a:ext cx="5301420"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