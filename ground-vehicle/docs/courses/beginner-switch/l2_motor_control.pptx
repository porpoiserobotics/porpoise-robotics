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486839"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two lines you need</a:t>
            </a:r>
          </a:p>
        </p:txBody>
      </p:sp>
      <p:sp>
        <p:nvSpPr>
          <p:cNvPr id="7" name="TextBox 6"/>
          <p:cNvSpPr txBox="1"/>
          <p:nvPr/>
        </p:nvSpPr>
        <p:spPr>
          <a:xfrm>
            <a:off x="502920" y="1700784"/>
            <a:ext cx="4486839"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ledcSetup(channel, freq, bits);</a:t>
            </a:r>
          </a:p>
          <a:p>
            <a:pPr algn="l">
              <a:lnSpc>
                <a:spcPct val="100000"/>
              </a:lnSpc>
              <a:spcAft>
                <a:spcPts val="800"/>
              </a:spcAft>
              <a:defRPr sz="2300" b="0">
                <a:solidFill>
                  <a:srgbClr val="222222"/>
                </a:solidFill>
                <a:latin typeface="Calibri"/>
              </a:defRPr>
            </a:pPr>
            <a:r>
              <a:rPr sz="2300" b="0">
                <a:solidFill>
                  <a:srgbClr val="222222"/>
                </a:solidFill>
                <a:latin typeface="Calibri"/>
              </a:rPr>
              <a:t>ledcAttachPin(pin, channel);</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ledcWrite(channel, duty);</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This board package is built on an older ESP32 core, so you work through numbered PWM channels.</a:t>
            </a:r>
          </a:p>
        </p:txBody>
      </p:sp>
      <p:sp>
        <p:nvSpPr>
          <p:cNvPr id="8" name="TextBox 7"/>
          <p:cNvSpPr txBox="1"/>
          <p:nvPr/>
        </p:nvSpPr>
        <p:spPr>
          <a:xfrm>
            <a:off x="5446959" y="1188720"/>
            <a:ext cx="6241816"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numbers we use, and why</a:t>
            </a:r>
          </a:p>
        </p:txBody>
      </p:sp>
      <p:sp>
        <p:nvSpPr>
          <p:cNvPr id="9" name="TextBox 8"/>
          <p:cNvSpPr txBox="1"/>
          <p:nvPr/>
        </p:nvSpPr>
        <p:spPr>
          <a:xfrm>
            <a:off x="5446959" y="1700784"/>
            <a:ext cx="6241816"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300" b="0">
                <a:solidFill>
                  <a:srgbClr val="222222"/>
                </a:solidFill>
                <a:latin typeface="Calibri"/>
              </a:defRPr>
            </a:pPr>
            <a:r>
              <a:rPr sz="2300" b="0">
                <a:solidFill>
                  <a:srgbClr val="222222"/>
                </a:solidFill>
                <a:latin typeface="Calibri"/>
              </a:rPr>
              <a:t>Resolution 8 bits. That gives duty values 0 to 255, because 2 to the power 8 is 256.</a:t>
            </a:r>
          </a:p>
          <a:p>
            <a:pPr algn="l">
              <a:lnSpc>
                <a:spcPct val="100000"/>
              </a:lnSpc>
              <a:spcAft>
                <a:spcPts val="800"/>
              </a:spcAft>
              <a:defRPr sz="2300" b="0">
                <a:solidFill>
                  <a:srgbClr val="222222"/>
                </a:solidFill>
                <a:latin typeface="Calibri"/>
              </a:defRPr>
            </a:pPr>
            <a:r>
              <a:rPr sz="2300" b="0">
                <a:solidFill>
                  <a:srgbClr val="222222"/>
                </a:solidFill>
                <a:latin typeface="Calibri"/>
              </a:rPr>
              <a:t>0 is off, 128 is about half power, 255 is flat out.</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