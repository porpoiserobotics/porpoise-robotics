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maths objectives and nobody minds, because by the end they will have used the maths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neighbour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maths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maths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maths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Give them four minutes, then take answers from the room rather than reading them out.</a:t>
            </a:r>
          </a:p>
          <a:p>
            <a:r>
              <a:rPr sz="1200">
                <a:latin typeface="Calibri"/>
              </a:rPr>
              <a:t>Question 4 is the one worth dwelling on - it connects the maths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behaviour.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32829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1:45</a:t>
                      </a:r>
                    </a:p>
                  </a:txBody>
                  <a:tcPr marL="73152" marT="18288" marB="18288">
                    <a:solidFill>
                      <a:srgbClr val="EEF3F8"/>
                    </a:solidFill>
                  </a:tcPr>
                </a:tc>
                <a:tc>
                  <a:txBody>
                    <a:bodyPr/>
                    <a:lstStyle/>
                    <a:p>
                      <a:r>
                        <a:rPr sz="1400">
                          <a:solidFill>
                            <a:srgbClr val="222222"/>
                          </a:solidFill>
                          <a:latin typeface="Calibri"/>
                        </a:rPr>
                        <a:t>STEM break: Ohm's law, and a circuit on a breadboard</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2:20</a:t>
                      </a:r>
                    </a:p>
                  </a:txBody>
                  <a:tcPr marL="73152" marT="18288" marB="18288">
                    <a:solidFill>
                      <a:srgbClr val="EEF3F8"/>
                    </a:solidFill>
                  </a:tcPr>
                </a:tc>
                <a:tc>
                  <a:txBody>
                    <a:bodyPr/>
                    <a:lstStyle/>
                    <a:p>
                      <a:r>
                        <a:rPr sz="1400">
                          <a:solidFill>
                            <a:srgbClr val="222222"/>
                          </a:solidFill>
                          <a:latin typeface="Calibri"/>
                        </a:rPr>
                        <a:t>Tank drive, mixing, and the maths that predicts the square</a:t>
                      </a:r>
                    </a:p>
                  </a:txBody>
                  <a:tcPr marL="73152" marT="18288" marB="18288">
                    <a:solidFill>
                      <a:srgbClr val="EEF3F8"/>
                    </a:solidFill>
                  </a:tcPr>
                </a:tc>
              </a:tr>
              <a:tr h="298450">
                <a:tc>
                  <a:txBody>
                    <a:bodyPr/>
                    <a:lstStyle/>
                    <a:p>
                      <a:r>
                        <a:rPr sz="1400">
                          <a:solidFill>
                            <a:srgbClr val="222222"/>
                          </a:solidFill>
                          <a:latin typeface="Calibri"/>
                        </a:rPr>
                        <a:t>2:40</a:t>
                      </a:r>
                    </a:p>
                  </a:txBody>
                  <a:tcPr marL="73152" marT="18288" marB="18288">
                    <a:solidFill>
                      <a:srgbClr val="FFFFFF"/>
                    </a:solidFill>
                  </a:tcPr>
                </a:tc>
                <a:tc>
                  <a:txBody>
                    <a:bodyPr/>
                    <a:lstStyle/>
                    <a:p>
                      <a:r>
                        <a:rPr sz="1400">
                          <a:solidFill>
                            <a:srgbClr val="222222"/>
                          </a:solidFill>
                          <a:latin typeface="Calibri"/>
                        </a:rPr>
                        <a:t>Clear the floor. Upload l2c_maneuver_square and tune it</a:t>
                      </a:r>
                    </a:p>
                  </a:txBody>
                  <a:tcPr marL="73152" marT="18288" marB="18288">
                    <a:solidFill>
                      <a:srgbClr val="FFFFFF"/>
                    </a:solidFill>
                  </a:tcPr>
                </a:tc>
              </a:tr>
              <a:tr h="298450">
                <a:tc>
                  <a:txBody>
                    <a:bodyPr/>
                    <a:lstStyle/>
                    <a:p>
                      <a:r>
                        <a:rPr sz="1400">
                          <a:solidFill>
                            <a:srgbClr val="222222"/>
                          </a:solidFill>
                          <a:latin typeface="Calibri"/>
                        </a:rPr>
                        <a:t>2:57</a:t>
                      </a:r>
                    </a:p>
                  </a:txBody>
                  <a:tcPr marL="73152" marT="18288" marB="18288">
                    <a:solidFill>
                      <a:srgbClr val="EEF3F8"/>
                    </a:solidFill>
                  </a:tcPr>
                </a:tc>
                <a:tc>
                  <a:txBody>
                    <a:bodyPr/>
                    <a:lstStyle/>
                    <a:p>
                      <a:r>
                        <a:rPr sz="1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4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4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4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Brushless, with an ESC</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More power for the weight, and far longer life - no brushes to wear out.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Electronic Speed Controller to energise three windings in the right order.</a:t>
            </a:r>
          </a:p>
          <a:p>
            <a:pPr algn="l">
              <a:lnSpc>
                <a:spcPct val="100000"/>
              </a:lnSpc>
              <a:spcAft>
                <a:spcPts val="400"/>
              </a:spcAft>
              <a:defRPr sz="1800" b="0">
                <a:solidFill>
                  <a:srgbClr val="222222"/>
                </a:solidFill>
                <a:latin typeface="Calibri"/>
              </a:defRPr>
            </a:pPr>
            <a:r>
              <a:rPr sz="1800" b="0">
                <a:solidFill>
                  <a:srgbClr val="222222"/>
                </a:solidFill>
                <a:latin typeface="Calibri"/>
              </a:rPr>
              <a:t>The ESC takes a throttle signal, not a direction and a speed.</a:t>
            </a:r>
          </a:p>
          <a:p>
            <a:pPr algn="l">
              <a:lnSpc>
                <a:spcPct val="100000"/>
              </a:lnSpc>
              <a:spcAft>
                <a:spcPts val="400"/>
              </a:spcAft>
              <a:defRPr sz="1800" b="0">
                <a:solidFill>
                  <a:srgbClr val="222222"/>
                </a:solidFill>
                <a:latin typeface="Calibri"/>
              </a:defRPr>
            </a:pPr>
            <a:r>
              <a:rPr sz="1800" b="0">
                <a:solidFill>
                  <a:srgbClr val="222222"/>
                </a:solidFill>
                <a:latin typeface="Calibri"/>
              </a:rPr>
              <a:t>Used on drones, and on our larger vehicles.</a:t>
            </a:r>
          </a:p>
          <a:p>
            <a:pPr algn="l">
              <a:lnSpc>
                <a:spcPct val="100000"/>
              </a:lnSpc>
              <a:spcAft>
                <a:spcPts val="400"/>
              </a:spcAft>
              <a:defRPr sz="1800" b="0">
                <a:solidFill>
                  <a:srgbClr val="222222"/>
                </a:solidFill>
                <a:latin typeface="Calibri"/>
              </a:defRPr>
            </a:pPr>
            <a:r>
              <a:rPr sz="18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400"/>
              </a:spcAft>
              <a:defRPr sz="1800" b="0">
                <a:solidFill>
                  <a:srgbClr val="222222"/>
                </a:solidFill>
                <a:latin typeface="Calibri"/>
              </a:defRPr>
            </a:pPr>
          </a:p>
          <a:p>
            <a:pPr lvl="1" algn="l">
              <a:lnSpc>
                <a:spcPct val="100000"/>
              </a:lnSpc>
              <a:spcAft>
                <a:spcPts val="4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is physically happening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the two pins do about it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ledcSetup(channel, freq, bits);</a:t>
            </a:r>
          </a:p>
          <a:p>
            <a:pPr algn="l">
              <a:lnSpc>
                <a:spcPct val="100000"/>
              </a:lnSpc>
              <a:spcAft>
                <a:spcPts val="400"/>
              </a:spcAft>
              <a:defRPr sz="1800" b="0">
                <a:solidFill>
                  <a:srgbClr val="222222"/>
                </a:solidFill>
                <a:latin typeface="Calibri"/>
              </a:defRPr>
            </a:pPr>
            <a:r>
              <a:rPr sz="1800" b="0">
                <a:solidFill>
                  <a:srgbClr val="222222"/>
                </a:solidFill>
                <a:latin typeface="Calibri"/>
              </a:rPr>
              <a:t>ledcAttachPin(pin, channel);</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ledcWrite(channel, duty);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400"/>
              </a:spcAft>
              <a:defRPr sz="1800" b="0">
                <a:solidFill>
                  <a:srgbClr val="222222"/>
                </a:solidFill>
                <a:latin typeface="Calibri"/>
              </a:defRPr>
            </a:pPr>
            <a:r>
              <a:rPr sz="1800" b="0">
                <a:solidFill>
                  <a:srgbClr val="222222"/>
                </a:solidFill>
                <a:latin typeface="Calibri"/>
              </a:rPr>
              <a:t>Resolution 8 bits. That gives duty values 0 to 255, because 2 to the power 8 is 256.</a:t>
            </a:r>
          </a:p>
          <a:p>
            <a:pPr algn="l">
              <a:lnSpc>
                <a:spcPct val="100000"/>
              </a:lnSpc>
              <a:spcAft>
                <a:spcPts val="400"/>
              </a:spcAft>
              <a:defRPr sz="1800" b="0">
                <a:solidFill>
                  <a:srgbClr val="222222"/>
                </a:solidFill>
                <a:latin typeface="Calibri"/>
              </a:defRPr>
            </a:pPr>
            <a:r>
              <a:rPr sz="1800" b="0">
                <a:solidFill>
                  <a:srgbClr val="222222"/>
                </a:solidFill>
                <a:latin typeface="Calibri"/>
              </a:rPr>
              <a:t>0 is off, 128 is about half power, 255 is flat out.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Only the FRONT LEFT motor is driven, so the vehicle cannot run away while you are still finding out what the numbers do.</a:t>
            </a:r>
          </a:p>
          <a:p>
            <a:pPr algn="l">
              <a:lnSpc>
                <a:spcPct val="100000"/>
              </a:lnSpc>
              <a:spcAft>
                <a:spcPts val="600"/>
              </a:spcAft>
              <a:defRPr sz="1800" b="0">
                <a:solidFill>
                  <a:srgbClr val="222222"/>
                </a:solidFill>
                <a:latin typeface="Calibri"/>
              </a:defRPr>
            </a:pPr>
            <a:r>
              <a:rPr sz="1800" b="0">
                <a:solidFill>
                  <a:srgbClr val="222222"/>
                </a:solidFill>
                <a:latin typeface="Calibri"/>
              </a:rPr>
              <a:t>Direction is which pin you drive.</a:t>
            </a:r>
          </a:p>
          <a:p>
            <a:pPr algn="l">
              <a:lnSpc>
                <a:spcPct val="100000"/>
              </a:lnSpc>
              <a:spcAft>
                <a:spcPts val="600"/>
              </a:spcAft>
              <a:defRPr sz="1800" b="0">
                <a:solidFill>
                  <a:srgbClr val="222222"/>
                </a:solidFill>
                <a:latin typeface="Calibri"/>
              </a:defRPr>
            </a:pPr>
            <a:r>
              <a:rPr sz="1800" b="0">
                <a:solidFill>
                  <a:srgbClr val="222222"/>
                </a:solidFill>
                <a:latin typeface="Calibri"/>
              </a:rPr>
              <a:t>Speed is how hard you drive it.</a:t>
            </a:r>
          </a:p>
          <a:p>
            <a:pPr algn="l">
              <a:lnSpc>
                <a:spcPct val="100000"/>
              </a:lnSpc>
              <a:spcAft>
                <a:spcPts val="600"/>
              </a:spcAft>
              <a:defRPr sz="1800" b="0">
                <a:solidFill>
                  <a:srgbClr val="222222"/>
                </a:solidFill>
                <a:latin typeface="Calibri"/>
              </a:defRPr>
            </a:pPr>
            <a:r>
              <a:rPr sz="18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3.  Change SPEED from 200 to 60. Upload. Does the wheel still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was your minimum turning speed?</a:t>
            </a:r>
          </a:p>
          <a:p>
            <a:pPr algn="l">
              <a:lnSpc>
                <a:spcPct val="100000"/>
              </a:lnSpc>
              <a:spcAft>
                <a:spcPts val="200"/>
              </a:spcAft>
              <a:defRPr sz="1800" b="0">
                <a:solidFill>
                  <a:srgbClr val="222222"/>
                </a:solidFill>
                <a:latin typeface="Calibri"/>
              </a:defRPr>
            </a:pPr>
            <a:r>
              <a:rPr sz="18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a:p>
            <a:pPr algn="l">
              <a:lnSpc>
                <a:spcPct val="100000"/>
              </a:lnSpc>
              <a:spcAft>
                <a:spcPts val="4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4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4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400"/>
              </a:spcAft>
              <a:defRPr sz="1800" b="0">
                <a:solidFill>
                  <a:srgbClr val="222222"/>
                </a:solidFill>
                <a:latin typeface="Calibri"/>
              </a:defRPr>
            </a:pPr>
            <a:r>
              <a:rPr sz="1800" b="0">
                <a:solidFill>
                  <a:srgbClr val="222222"/>
                </a:solidFill>
                <a:latin typeface="Calibri"/>
              </a:rPr>
              <a:t>3.  Note the duty value at which the wheels START to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4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4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met these in Lesson 1 when you sized the resistor for your LED. Here they are properly.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VOLTAGE (V), in volts. The push. How hard the supply is trying to move charge round the circuit.</a:t>
            </a:r>
          </a:p>
          <a:p>
            <a:pPr algn="l">
              <a:lnSpc>
                <a:spcPct val="100000"/>
              </a:lnSpc>
              <a:spcAft>
                <a:spcPts val="900"/>
              </a:spcAft>
              <a:defRPr sz="1800" b="0">
                <a:solidFill>
                  <a:srgbClr val="222222"/>
                </a:solidFill>
                <a:latin typeface="Calibri"/>
              </a:defRPr>
            </a:pPr>
            <a:r>
              <a:rPr sz="1800" b="0">
                <a:solidFill>
                  <a:srgbClr val="222222"/>
                </a:solidFill>
                <a:latin typeface="Calibri"/>
              </a:rPr>
              <a:t>CURRENT (I), in amps. The flow. How much charge is actually moving past a point each second.</a:t>
            </a:r>
          </a:p>
          <a:p>
            <a:pPr algn="l">
              <a:lnSpc>
                <a:spcPct val="100000"/>
              </a:lnSpc>
              <a:spcAft>
                <a:spcPts val="900"/>
              </a:spcAft>
              <a:defRPr sz="1800" b="0">
                <a:solidFill>
                  <a:srgbClr val="222222"/>
                </a:solidFill>
                <a:latin typeface="Calibri"/>
              </a:defRPr>
            </a:pPr>
            <a:r>
              <a:rPr sz="1800" b="0">
                <a:solidFill>
                  <a:srgbClr val="222222"/>
                </a:solidFill>
                <a:latin typeface="Calibri"/>
              </a:rPr>
              <a:t>RESISTANCE (R), in ohms. The opposition. How much the circuit fights the flow.</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V = 12 volts, I = 15 mA.  R = ?</a:t>
            </a:r>
          </a:p>
          <a:p>
            <a:pPr lvl="1" algn="l">
              <a:lnSpc>
                <a:spcPct val="100000"/>
              </a:lnSpc>
              <a:spcAft>
                <a:spcPts val="900"/>
              </a:spcAft>
              <a:defRPr sz="1800" b="0">
                <a:solidFill>
                  <a:srgbClr val="222222"/>
                </a:solidFill>
                <a:latin typeface="Calibri"/>
              </a:defRPr>
            </a:pPr>
            <a:r>
              <a:rPr sz="1800" b="0">
                <a:solidFill>
                  <a:srgbClr val="222222"/>
                </a:solidFill>
                <a:latin typeface="Calibri"/>
              </a:rPr>
              <a:t>     (careful: convert milliamps to amps first)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2.  V = 12 volts, R = 220 ohms.  I =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3.  I = 2 mA, R = 1.5k ohms.  V = ?</a:t>
            </a:r>
          </a:p>
          <a:p>
            <a:pPr lvl="1" algn="l">
              <a:lnSpc>
                <a:spcPct val="100000"/>
              </a:lnSpc>
              <a:spcAft>
                <a:spcPts val="900"/>
              </a:spcAft>
              <a:defRPr sz="1800" b="0">
                <a:solidFill>
                  <a:srgbClr val="222222"/>
                </a:solidFill>
                <a:latin typeface="Calibri"/>
              </a:defRPr>
            </a:pPr>
            <a:r>
              <a:rPr sz="1800" b="0">
                <a:solidFill>
                  <a:srgbClr val="222222"/>
                </a:solidFill>
                <a:latin typeface="Calibri"/>
              </a:rPr>
              <a:t>     (1.5k means 1500 ohms)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4.  Your vehicle's battery is 16 V. A motor stalls and draws 3 amps. What resistance is it presenting?</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SERIES. Your LED circuit from Lesson 1: supply, resistor, LED, back to ground. One loop, one current.</a:t>
            </a:r>
          </a:p>
          <a:p>
            <a:pPr lvl="1" algn="l">
              <a:lnSpc>
                <a:spcPct val="100000"/>
              </a:lnSpc>
              <a:spcAft>
                <a:spcPts val="900"/>
              </a:spcAft>
              <a:defRPr sz="1800" b="0">
                <a:solidFill>
                  <a:srgbClr val="222222"/>
                </a:solidFill>
                <a:latin typeface="Calibri"/>
              </a:defRPr>
            </a:pPr>
            <a:r>
              <a:rPr sz="1800" b="0">
                <a:solidFill>
                  <a:srgbClr val="222222"/>
                </a:solidFill>
                <a:latin typeface="Calibri"/>
              </a:rPr>
              <a:t>Add resistance and the current everywhere drops.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900"/>
              </a:spcAft>
              <a:defRPr sz="1800" b="0">
                <a:solidFill>
                  <a:srgbClr val="222222"/>
                </a:solidFill>
                <a:latin typeface="Calibri"/>
              </a:defRPr>
            </a:pPr>
            <a:r>
              <a:rPr sz="1800" b="0">
                <a:solidFill>
                  <a:srgbClr val="222222"/>
                </a:solidFill>
                <a:latin typeface="Calibri"/>
              </a:rPr>
              <a:t>Four motors at 1.5 A each is 6 A out of the battery.</a:t>
            </a:r>
          </a:p>
          <a:p>
            <a:pPr lvl="1" algn="l">
              <a:lnSpc>
                <a:spcPct val="100000"/>
              </a:lnSpc>
              <a:spcAft>
                <a:spcPts val="900"/>
              </a:spcAft>
              <a:defRPr sz="1800" b="0">
                <a:solidFill>
                  <a:srgbClr val="222222"/>
                </a:solidFill>
                <a:latin typeface="Calibri"/>
              </a:defRPr>
            </a:pPr>
            <a:r>
              <a:rPr sz="1800" b="0">
                <a:solidFill>
                  <a:srgbClr val="222222"/>
                </a:solidFill>
                <a:latin typeface="Calibri"/>
              </a:rPr>
              <a:t>That is why the battery goes flat four times faster with all four driving than with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square is four legs on bearings 0, 90, 180 and 270, which is why you can do it in your head.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Now try a baseball diamond. The batter hits the ball and runs at 45 degrees to first base, then makes three more left turns back to home plate.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in the program changes. It is still drive, turn, drive, turn. What changes is that the bearings are no longer whole quarter turns, so you need sin and cos to work out where it ends up.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Running the bases  -  a maneuver that is not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Set it up in a spreadsheet: one row per leg, with time, speed, bearing, and the running east and north totals. Plot east against north as a scatter chart and you have drawn the path before the vehicle has moved.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run it, and measure how far off the real one finishes.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6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6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6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6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6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a space about three metres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Roughly a square. Roughly.</a:t>
            </a:r>
          </a:p>
          <a:p>
            <a:pPr algn="l">
              <a:lnSpc>
                <a:spcPct val="100000"/>
              </a:lnSpc>
              <a:spcAft>
                <a:spcPts val="200"/>
              </a:spcAft>
              <a:defRPr sz="1800" b="0">
                <a:solidFill>
                  <a:srgbClr val="222222"/>
                </a:solidFill>
                <a:latin typeface="Calibri"/>
              </a:defRPr>
            </a:pPr>
            <a:r>
              <a:rPr sz="18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speed in feet per second?</a:t>
            </a:r>
          </a:p>
          <a:p>
            <a:pPr algn="l">
              <a:lnSpc>
                <a:spcPct val="100000"/>
              </a:lnSpc>
              <a:spcAft>
                <a:spcPts val="200"/>
              </a:spcAft>
              <a:defRPr sz="1800" b="0">
                <a:solidFill>
                  <a:srgbClr val="222222"/>
                </a:solidFill>
                <a:latin typeface="Calibri"/>
              </a:defRPr>
            </a:pPr>
            <a:r>
              <a:rPr sz="1800" b="0">
                <a:solidFill>
                  <a:srgbClr val="222222"/>
                </a:solidFill>
                <a:latin typeface="Calibri"/>
              </a:rPr>
              <a:t>What is its turn rate in degrees per second?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Work out the speed: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DEAD RECKONING is working out where you are from your speed, your heading and the time - with no outside reference at all.</a:t>
            </a:r>
          </a:p>
          <a:p>
            <a:pPr algn="l">
              <a:lnSpc>
                <a:spcPct val="100000"/>
              </a:lnSpc>
              <a:spcAft>
                <a:spcPts val="900"/>
              </a:spcAft>
              <a:defRPr sz="1800" b="0">
                <a:solidFill>
                  <a:srgbClr val="222222"/>
                </a:solidFill>
                <a:latin typeface="Calibri"/>
              </a:defRPr>
            </a:pPr>
            <a:r>
              <a:rPr sz="1800" b="0">
                <a:solidFill>
                  <a:srgbClr val="222222"/>
                </a:solidFill>
                <a:latin typeface="Calibri"/>
              </a:rPr>
              <a:t>Ships and aircraft navigated this way for centuries. Submersibles still fall back on it, because GPS does not work underwater.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It DRIFTS. Every small error accumulates, and nothing ever corrects it. Errors in your square come from:</a:t>
            </a:r>
          </a:p>
          <a:p>
            <a:pPr lvl="1" algn="l">
              <a:lnSpc>
                <a:spcPct val="100000"/>
              </a:lnSpc>
              <a:spcAft>
                <a:spcPts val="900"/>
              </a:spcAft>
              <a:defRPr sz="1800" b="0">
                <a:solidFill>
                  <a:srgbClr val="222222"/>
                </a:solidFill>
                <a:latin typeface="Calibri"/>
              </a:defRPr>
            </a:pPr>
            <a:r>
              <a:rPr sz="1800" b="0">
                <a:solidFill>
                  <a:srgbClr val="222222"/>
                </a:solidFill>
                <a:latin typeface="Calibri"/>
              </a:rPr>
              <a:t>Battery charge - a fresher pack drives further in the same time</a:t>
            </a:r>
          </a:p>
          <a:p>
            <a:pPr lvl="1" algn="l">
              <a:lnSpc>
                <a:spcPct val="100000"/>
              </a:lnSpc>
              <a:spcAft>
                <a:spcPts val="900"/>
              </a:spcAft>
              <a:defRPr sz="1800" b="0">
                <a:solidFill>
                  <a:srgbClr val="222222"/>
                </a:solidFill>
                <a:latin typeface="Calibri"/>
              </a:defRPr>
            </a:pPr>
            <a:r>
              <a:rPr sz="1800" b="0">
                <a:solidFill>
                  <a:srgbClr val="222222"/>
                </a:solidFill>
                <a:latin typeface="Calibri"/>
              </a:rPr>
              <a:t>Floor surface - carpet, tile and concrete all differ</a:t>
            </a:r>
          </a:p>
          <a:p>
            <a:pPr lvl="1" algn="l">
              <a:lnSpc>
                <a:spcPct val="100000"/>
              </a:lnSpc>
              <a:spcAft>
                <a:spcPts val="900"/>
              </a:spcAft>
              <a:defRPr sz="1800" b="0">
                <a:solidFill>
                  <a:srgbClr val="222222"/>
                </a:solidFill>
                <a:latin typeface="Calibri"/>
              </a:defRPr>
            </a:pPr>
            <a:r>
              <a:rPr sz="1800" b="0">
                <a:solidFill>
                  <a:srgbClr val="222222"/>
                </a:solidFill>
                <a:latin typeface="Calibri"/>
              </a:rPr>
              <a:t>Wheel slip during the turns, which skid steering guarantees</a:t>
            </a:r>
          </a:p>
          <a:p>
            <a:pPr lvl="1" algn="l">
              <a:lnSpc>
                <a:spcPct val="100000"/>
              </a:lnSpc>
              <a:spcAft>
                <a:spcPts val="900"/>
              </a:spcAft>
              <a:defRPr sz="1800" b="0">
                <a:solidFill>
                  <a:srgbClr val="222222"/>
                </a:solidFill>
                <a:latin typeface="Calibri"/>
              </a:defRPr>
            </a:pPr>
            <a:r>
              <a:rPr sz="1800" b="0">
                <a:solidFill>
                  <a:srgbClr val="222222"/>
                </a:solidFill>
                <a:latin typeface="Calibri"/>
              </a:rPr>
              <a:t>Motors that are not perfectly matched to each other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227168" cy="3931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Explorer Gen 2 ROV is built from the pieces you just met: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An ESP32, like the one on your desk</a:t>
            </a:r>
          </a:p>
          <a:p>
            <a:pPr algn="l">
              <a:lnSpc>
                <a:spcPct val="100000"/>
              </a:lnSpc>
              <a:spcAft>
                <a:spcPts val="500"/>
              </a:spcAft>
              <a:defRPr sz="1800" b="0">
                <a:solidFill>
                  <a:srgbClr val="222222"/>
                </a:solidFill>
                <a:latin typeface="Calibri"/>
              </a:defRPr>
            </a:pPr>
            <a:r>
              <a:rPr sz="1800" b="0">
                <a:solidFill>
                  <a:srgbClr val="222222"/>
                </a:solidFill>
                <a:latin typeface="Calibri"/>
              </a:rPr>
              <a:t>Brushless motors on ESCs, not brushed on H-bridges - more thrust for the weight</a:t>
            </a:r>
          </a:p>
          <a:p>
            <a:pPr algn="l">
              <a:lnSpc>
                <a:spcPct val="100000"/>
              </a:lnSpc>
              <a:spcAft>
                <a:spcPts val="500"/>
              </a:spcAft>
              <a:defRPr sz="1800" b="0">
                <a:solidFill>
                  <a:srgbClr val="222222"/>
                </a:solidFill>
                <a:latin typeface="Calibri"/>
              </a:defRPr>
            </a:pPr>
            <a:r>
              <a:rPr sz="1800" b="0">
                <a:solidFill>
                  <a:srgbClr val="222222"/>
                </a:solidFill>
                <a:latin typeface="Calibri"/>
              </a:rPr>
              <a:t>A pressure sensor and an IMU on an I2C bus</a:t>
            </a:r>
          </a:p>
          <a:p>
            <a:pPr algn="l">
              <a:lnSpc>
                <a:spcPct val="100000"/>
              </a:lnSpc>
              <a:spcAft>
                <a:spcPts val="500"/>
              </a:spcAft>
              <a:defRPr sz="1800" b="0">
                <a:solidFill>
                  <a:srgbClr val="222222"/>
                </a:solidFill>
                <a:latin typeface="Calibri"/>
              </a:defRPr>
            </a:pPr>
            <a:r>
              <a:rPr sz="1800" b="0">
                <a:solidFill>
                  <a:srgbClr val="222222"/>
                </a:solidFill>
                <a:latin typeface="Calibri"/>
              </a:rPr>
              <a:t>A CAN bus tying it together</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671640"/>
            <a:ext cx="5592927" cy="2326000"/>
          </a:xfrm>
          <a:prstGeom prst="rect">
            <a:avLst/>
          </a:prstGeom>
        </p:spPr>
      </p:pic>
      <p:sp>
        <p:nvSpPr>
          <p:cNvPr id="8" name="TextBox 7"/>
          <p:cNvSpPr txBox="1"/>
          <p:nvPr/>
        </p:nvSpPr>
        <p:spPr>
          <a:xfrm>
            <a:off x="6095848" y="4052504"/>
            <a:ext cx="5592927"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youtube.com/watch?v=HtbCL2NruUY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4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cplusplus.com/doc/tutorial/control/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cplusplus.com/doc/tutorial/functions/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Why does each motor need two pins instead of one?</a:t>
            </a:r>
          </a:p>
          <a:p>
            <a:pPr algn="l">
              <a:lnSpc>
                <a:spcPct val="100000"/>
              </a:lnSpc>
              <a:spcAft>
                <a:spcPts val="1000"/>
              </a:spcAft>
              <a:defRPr sz="1800" b="0">
                <a:solidFill>
                  <a:srgbClr val="222222"/>
                </a:solidFill>
                <a:latin typeface="Calibri"/>
              </a:defRPr>
            </a:pPr>
            <a:r>
              <a:rPr sz="1800" b="0">
                <a:solidFill>
                  <a:srgbClr val="222222"/>
                </a:solidFill>
                <a:latin typeface="Calibri"/>
              </a:rPr>
              <a:t>2.  A pin can only be on or off. Explain in one sentence how the vehicle gets a half speed.</a:t>
            </a:r>
          </a:p>
          <a:p>
            <a:pPr algn="l">
              <a:lnSpc>
                <a:spcPct val="100000"/>
              </a:lnSpc>
              <a:spcAft>
                <a:spcPts val="1000"/>
              </a:spcAft>
              <a:defRPr sz="1800" b="0">
                <a:solidFill>
                  <a:srgbClr val="222222"/>
                </a:solidFill>
                <a:latin typeface="Calibri"/>
              </a:defRPr>
            </a:pPr>
            <a:r>
              <a:rPr sz="1800" b="0">
                <a:solidFill>
                  <a:srgbClr val="222222"/>
                </a:solidFill>
                <a:latin typeface="Calibri"/>
              </a:rPr>
              <a:t>3.  What duty value is 25% of full power at 8-bit resolution?</a:t>
            </a:r>
          </a:p>
          <a:p>
            <a:pPr algn="l">
              <a:lnSpc>
                <a:spcPct val="100000"/>
              </a:lnSpc>
              <a:spcAft>
                <a:spcPts val="1000"/>
              </a:spcAft>
              <a:defRPr sz="1800" b="0">
                <a:solidFill>
                  <a:srgbClr val="222222"/>
                </a:solidFill>
                <a:latin typeface="Calibri"/>
              </a:defRPr>
            </a:pPr>
            <a:r>
              <a:rPr sz="1800" b="0">
                <a:solidFill>
                  <a:srgbClr val="222222"/>
                </a:solidFill>
                <a:latin typeface="Calibri"/>
              </a:rPr>
              <a:t>4.  Why do we switch at 20 kHz rather than 300 Hz?</a:t>
            </a:r>
          </a:p>
          <a:p>
            <a:pPr algn="l">
              <a:lnSpc>
                <a:spcPct val="100000"/>
              </a:lnSpc>
              <a:spcAft>
                <a:spcPts val="1000"/>
              </a:spcAft>
              <a:defRPr sz="1800" b="0">
                <a:solidFill>
                  <a:srgbClr val="222222"/>
                </a:solidFill>
                <a:latin typeface="Calibri"/>
              </a:defRPr>
            </a:pPr>
            <a:r>
              <a:rPr sz="1800" b="0">
                <a:solidFill>
                  <a:srgbClr val="222222"/>
                </a:solidFill>
                <a:latin typeface="Calibri"/>
              </a:rPr>
              <a:t>5.  The left wheels get 200 and the right wheels get -200. What does the vehicle do?</a:t>
            </a:r>
          </a:p>
          <a:p>
            <a:pPr algn="l">
              <a:lnSpc>
                <a:spcPct val="100000"/>
              </a:lnSpc>
              <a:spcAft>
                <a:spcPts val="1000"/>
              </a:spcAft>
              <a:defRPr sz="1800" b="0">
                <a:solidFill>
                  <a:srgbClr val="222222"/>
                </a:solidFill>
                <a:latin typeface="Calibri"/>
              </a:defRPr>
            </a:pPr>
            <a:r>
              <a:rPr sz="1800" b="0">
                <a:solidFill>
                  <a:srgbClr val="222222"/>
                </a:solidFill>
                <a:latin typeface="Calibri"/>
              </a:rPr>
              <a:t>6.  Your wheel is 3 inches across. How far does the vehicle travel in one wheel turn?</a:t>
            </a:r>
          </a:p>
          <a:p>
            <a:pPr algn="l">
              <a:lnSpc>
                <a:spcPct val="100000"/>
              </a:lnSpc>
              <a:spcAft>
                <a:spcPts val="1000"/>
              </a:spcAft>
              <a:defRPr sz="1800" b="0">
                <a:solidFill>
                  <a:srgbClr val="222222"/>
                </a:solidFill>
                <a:latin typeface="Calibri"/>
              </a:defRPr>
            </a:pPr>
            <a:r>
              <a:rPr sz="1800" b="0">
                <a:solidFill>
                  <a:srgbClr val="222222"/>
                </a:solidFill>
                <a:latin typeface="Calibri"/>
              </a:rPr>
              <a:t>7.  Your square comes out as a rectangle. Which number is wrong, and which way should you change it?</a:t>
            </a:r>
          </a:p>
          <a:p>
            <a:pPr algn="l">
              <a:lnSpc>
                <a:spcPct val="100000"/>
              </a:lnSpc>
              <a:spcAft>
                <a:spcPts val="1000"/>
              </a:spcAft>
              <a:defRPr sz="1800" b="0">
                <a:solidFill>
                  <a:srgbClr val="222222"/>
                </a:solidFill>
                <a:latin typeface="Calibri"/>
              </a:defRPr>
            </a:pPr>
            <a:r>
              <a:rPr sz="18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