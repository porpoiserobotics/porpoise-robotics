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boxes across the top: those are the four things the motor can be told to do. The picture underneath is ONE of them actually happening - the first one - drawn by Kevin.</a:t>
            </a:r>
          </a:p>
          <a:p>
            <a:r>
              <a:rPr sz="1200">
                <a:latin typeface="Calibri"/>
              </a:rPr>
              <a:t>Say that before anybody asks why they can only see two switches in the picture. The other two are the ones that are open.</a:t>
            </a:r>
          </a:p>
          <a:p>
            <a:r>
              <a:rPr sz="1200">
                <a:latin typeface="Calibri"/>
              </a:rPr>
              <a:t>Then trace the arrows with a finger on the projected slide, slowly, all the way round: in at + V, along the top, down the left, through the motor, back to GND. Have them do it too.</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Land the KEY POINT and then extend it out loud: hold voltage as push and current as flow, and Ohm's law after the break is the same idea with a resistor in place of the motor.</a:t>
            </a:r>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First of three activities. Twenty seconds on this slide.</a:t>
            </a:r>
          </a:p>
          <a:p>
            <a:r>
              <a:rPr sz="1200">
                <a:latin typeface="Calibri"/>
              </a:rPr>
              <a:t>Blocks under every vehicle before anybody uploads.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3 is the one to talk about: at a lower duty the wheel is being pushed less hard, which is not quite the same as going slower. Keep it at that level.</a:t>
            </a:r>
          </a:p>
          <a:p>
            <a:r>
              <a:rPr sz="1200">
                <a:latin typeface="Calibri"/>
              </a:rPr>
              <a:t>If a group finds a duty so low the wheel will not start at all, tell them what they have found and move on. We are deliberately not chasing that number in this course.</a:t>
            </a:r>
          </a:p>
          <a:p>
            <a:r>
              <a:rPr sz="1200">
                <a:latin typeface="Calibri"/>
              </a:rPr>
              <a:t>Step 5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three. Wheels still off the ground - this one runs all four to full speed.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Kevin's point, and it is right: conditionals turn up more often than loops, so they go first and they get the same space.</a:t>
            </a:r>
          </a:p>
          <a:p>
            <a:r>
              <a:rPr sz="1200">
                <a:latin typeface="Calibri"/>
              </a:rPr>
              <a:t>Do the = versus == trap out loud. One equals sign ASSIGNS, two COMPARE, and if (x = 5) compiles happily and is always true. It will bite somebody this term.</a:t>
            </a:r>
          </a:p>
          <a:p>
            <a:r>
              <a:rPr sz="1200">
                <a:latin typeface="Calibri"/>
              </a:rPr>
              <a:t>The right-hand column is all code they have run or are about to. Point at each one rather than reading it.</a:t>
            </a:r>
          </a:p>
          <a:p>
            <a:r>
              <a:rPr sz="1200">
                <a:latin typeface="Calibri"/>
              </a:rPr>
              <a:t>If somebody asks about switch, say it exists, it is a tidier else-if chain for one variable, and they will see one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shapes, and they cover almost everything they will write this year.</a:t>
            </a:r>
          </a:p>
          <a:p>
            <a:r>
              <a:rPr sz="1200">
                <a:latin typeface="Calibri"/>
              </a:rPr>
              <a:t>The else-if chain is the one worth dwelling on. Ask what happens if you put duty &gt; 60 first: the answer is that nothing is ever fast, because the first true test wins.</a:t>
            </a:r>
          </a:p>
          <a:p>
            <a:r>
              <a:rPr sz="1200">
                <a:latin typeface="Calibri"/>
              </a:rPr>
              <a:t>lightsOn is real - it is the toggle in l5b_button_toggle, which they will write in Lesson 5.</a:t>
            </a:r>
          </a:p>
          <a:p>
            <a:r>
              <a:rPr sz="1200">
                <a:latin typeface="Calibri"/>
              </a:rPr>
              <a:t>End on the braces. Optional for one line, and the source of a famous class of bug when somebody adds a second line later and does not notice.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135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5086049" cy="45720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086049"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Simple, cheap, rugged, and forgiving of students.</a:t>
            </a:r>
          </a:p>
          <a:p>
            <a:pPr algn="l">
              <a:lnSpc>
                <a:spcPct val="100000"/>
              </a:lnSpc>
              <a:spcAft>
                <a:spcPts val="800"/>
              </a:spcAft>
              <a:defRPr sz="1800" b="0">
                <a:solidFill>
                  <a:srgbClr val="222222"/>
                </a:solidFill>
                <a:latin typeface="Calibri"/>
              </a:defRPr>
            </a:pPr>
            <a:r>
              <a:rPr sz="1800" b="0">
                <a:solidFill>
                  <a:srgbClr val="222222"/>
                </a:solidFill>
                <a:latin typeface="Calibri"/>
              </a:rPr>
              <a:t>Direction comes from which way current flows through it.</a:t>
            </a:r>
          </a:p>
          <a:p>
            <a:pPr algn="l">
              <a:lnSpc>
                <a:spcPct val="100000"/>
              </a:lnSpc>
              <a:spcAft>
                <a:spcPts val="800"/>
              </a:spcAft>
              <a:defRPr sz="1800" b="0">
                <a:solidFill>
                  <a:srgbClr val="222222"/>
                </a:solidFill>
                <a:latin typeface="Calibri"/>
              </a:defRPr>
            </a:pPr>
            <a:r>
              <a:rPr sz="1800" b="0">
                <a:solidFill>
                  <a:srgbClr val="222222"/>
                </a:solidFill>
                <a:latin typeface="Calibri"/>
              </a:rPr>
              <a:t>Speed comes from how much power you give it.</a:t>
            </a:r>
          </a:p>
          <a:p>
            <a:pPr algn="l">
              <a:lnSpc>
                <a:spcPct val="100000"/>
              </a:lnSpc>
              <a:spcAft>
                <a:spcPts val="800"/>
              </a:spcAft>
              <a:defRPr sz="1800" b="0">
                <a:solidFill>
                  <a:srgbClr val="222222"/>
                </a:solidFill>
                <a:latin typeface="Calibri"/>
              </a:defRPr>
            </a:pPr>
            <a:r>
              <a:rPr sz="1800" b="0">
                <a:solidFill>
                  <a:srgbClr val="222222"/>
                </a:solidFill>
                <a:latin typeface="Calibri"/>
              </a:rPr>
              <a:t>Needs an H-bridge driver to reverse the current. Ours are TI DRV8871 chips, one per motor.</a:t>
            </a:r>
          </a:p>
          <a:p>
            <a:pPr algn="l">
              <a:lnSpc>
                <a:spcPct val="100000"/>
              </a:lnSpc>
              <a:spcAft>
                <a:spcPts val="800"/>
              </a:spcAft>
              <a:defRPr sz="1800" b="0">
                <a:solidFill>
                  <a:srgbClr val="222222"/>
                </a:solidFill>
                <a:latin typeface="Calibri"/>
              </a:defRPr>
            </a:pPr>
            <a:r>
              <a:rPr sz="1800" b="0">
                <a:solidFill>
                  <a:srgbClr val="222222"/>
                </a:solidFill>
                <a:latin typeface="Calibri"/>
              </a:rPr>
              <a:t>Two signal wires per motor from the ESP32.</a:t>
            </a:r>
          </a:p>
        </p:txBody>
      </p:sp>
      <p:sp>
        <p:nvSpPr>
          <p:cNvPr id="8" name="TextBox 7"/>
          <p:cNvSpPr txBox="1"/>
          <p:nvPr/>
        </p:nvSpPr>
        <p:spPr>
          <a:xfrm>
            <a:off x="6046169" y="1188720"/>
            <a:ext cx="5642606"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046169" y="1700784"/>
            <a:ext cx="5642606"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pic>
        <p:nvPicPr>
          <p:cNvPr id="18" name="Picture 17" descr="h-bridge-forward-current.png"/>
          <p:cNvPicPr>
            <a:picLocks noChangeAspect="1"/>
          </p:cNvPicPr>
          <p:nvPr/>
        </p:nvPicPr>
        <p:blipFill>
          <a:blip r:embed="rId3"/>
          <a:stretch>
            <a:fillRect/>
          </a:stretch>
        </p:blipFill>
        <p:spPr>
          <a:xfrm>
            <a:off x="2944904" y="3474720"/>
            <a:ext cx="6301886" cy="2148840"/>
          </a:xfrm>
          <a:prstGeom prst="rect">
            <a:avLst/>
          </a:prstGeom>
        </p:spPr>
      </p:pic>
      <p:sp>
        <p:nvSpPr>
          <p:cNvPr id="19" name="TextBox 18"/>
          <p:cNvSpPr txBox="1"/>
          <p:nvPr/>
        </p:nvSpPr>
        <p:spPr>
          <a:xfrm>
            <a:off x="502920" y="5687568"/>
            <a:ext cx="11185855"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arrows are the current: in at + V, along the top, down the left, through the motor, back to GND. That is the FORWARD box above. Turn pin B on instead of pin A and it all runs backwards.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476072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4760728"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motor is a coil of wire in a magnetic field. Push current through the coil and its field pushes against the magnets, so the shaft turns.</a:t>
            </a:r>
          </a:p>
          <a:p>
            <a:pPr algn="l">
              <a:lnSpc>
                <a:spcPct val="100000"/>
              </a:lnSpc>
              <a:spcAft>
                <a:spcPts val="800"/>
              </a:spcAft>
              <a:defRPr sz="1900" b="0">
                <a:solidFill>
                  <a:srgbClr val="222222"/>
                </a:solidFill>
                <a:latin typeface="Calibri"/>
              </a:defRPr>
            </a:pPr>
            <a:r>
              <a:rPr sz="1900" b="0">
                <a:solidFill>
                  <a:srgbClr val="222222"/>
                </a:solidFill>
                <a:latin typeface="Calibri"/>
              </a:rPr>
              <a:t>Reverse the current and the coil's field reverses with it. Same magnets, same coil, opposite push, opposite rotation.</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OF ROTATION IS DIRECTION OF CURRENT. Everything the H-bridge does is in service of that one fact.</a:t>
            </a:r>
          </a:p>
        </p:txBody>
      </p:sp>
      <p:sp>
        <p:nvSpPr>
          <p:cNvPr id="8" name="TextBox 7"/>
          <p:cNvSpPr txBox="1"/>
          <p:nvPr/>
        </p:nvSpPr>
        <p:spPr>
          <a:xfrm>
            <a:off x="5720848" y="1188720"/>
            <a:ext cx="59679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5720848" y="1700784"/>
            <a:ext cx="59679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Current flows from the terminal at the higher voltage to the one at the lower.</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3.3 V, B at 0 V  -&gt;  current flows A to B</a:t>
            </a:r>
          </a:p>
          <a:p>
            <a:pPr lvl="1" algn="l">
              <a:lnSpc>
                <a:spcPct val="100000"/>
              </a:lnSpc>
              <a:spcAft>
                <a:spcPts val="800"/>
              </a:spcAft>
              <a:defRPr sz="1900" b="0">
                <a:solidFill>
                  <a:srgbClr val="222222"/>
                </a:solidFill>
                <a:latin typeface="Calibri"/>
              </a:defRPr>
            </a:pPr>
            <a:r>
              <a:rPr sz="1900" b="0">
                <a:solidFill>
                  <a:srgbClr val="222222"/>
                </a:solidFill>
                <a:latin typeface="Calibri"/>
              </a:rPr>
              <a:t>A at 0 V, B at 3.3 V  -&gt;  current flows B to A</a:t>
            </a:r>
          </a:p>
          <a:p>
            <a:pPr algn="l">
              <a:lnSpc>
                <a:spcPct val="100000"/>
              </a:lnSpc>
              <a:spcAft>
                <a:spcPts val="800"/>
              </a:spcAft>
              <a:defRPr sz="1900" b="0">
                <a:solidFill>
                  <a:srgbClr val="222222"/>
                </a:solidFill>
                <a:latin typeface="Calibri"/>
              </a:defRPr>
            </a:pPr>
            <a:r>
              <a:rPr sz="1900" b="0">
                <a:solidFill>
                  <a:srgbClr val="222222"/>
                </a:solidFill>
                <a:latin typeface="Calibri"/>
              </a:rPr>
              <a:t>The pins do not mean forwards and backwards. They mean "this end is positive" - which is why swapping them fixes a backwards wheel.</a:t>
            </a:r>
          </a:p>
          <a:p>
            <a:pPr algn="l">
              <a:lnSpc>
                <a:spcPct val="100000"/>
              </a:lnSpc>
              <a:spcAft>
                <a:spcPts val="800"/>
              </a:spcAft>
              <a:defRPr sz="1900" b="0">
                <a:solidFill>
                  <a:srgbClr val="222222"/>
                </a:solidFill>
                <a:latin typeface="Calibri"/>
              </a:defRPr>
            </a:pPr>
            <a:r>
              <a:rPr sz="1900" b="0">
                <a:solidFill>
                  <a:srgbClr val="222222"/>
                </a:solidFill>
                <a:latin typeface="Calibri"/>
              </a:rPr>
              <a:t>How MUCH current flows sets how hard it pushes, which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Voltage is the push, current is the flow, and the motor turns because of the 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3" cy="2762250"/>
        </p:xfrm>
        <a:graphic>
          <a:graphicData uri="http://schemas.openxmlformats.org/drawingml/2006/table">
            <a:tbl>
              <a:tblPr firstRow="1" bandRow="1">
                <a:tableStyleId>{5C22544A-7EE6-4342-B048-85BDC9FD1C3A}</a:tableStyleId>
              </a:tblPr>
              <a:tblGrid>
                <a:gridCol w="3355756"/>
                <a:gridCol w="1677878"/>
                <a:gridCol w="1677878"/>
                <a:gridCol w="4474341"/>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digitalWrite(pin, HIGH) puts 3.3 volts on the pin. LOW puts 0 volts on it. There is nothing in between.</a:t>
            </a:r>
          </a:p>
          <a:p>
            <a:pPr algn="l">
              <a:lnSpc>
                <a:spcPct val="100000"/>
              </a:lnSpc>
              <a:spcAft>
                <a:spcPts val="600"/>
              </a:spcAft>
              <a:defRPr sz="2200" b="0">
                <a:solidFill>
                  <a:srgbClr val="222222"/>
                </a:solidFill>
                <a:latin typeface="Calibri"/>
              </a:defRPr>
            </a:pPr>
            <a:r>
              <a:rPr sz="2200" b="0">
                <a:solidFill>
                  <a:srgbClr val="222222"/>
                </a:solidFill>
                <a:latin typeface="Calibri"/>
              </a:rPr>
              <a:t>So how do you get HALF speed?</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200" b="0">
                <a:solidFill>
                  <a:srgbClr val="222222"/>
                </a:solidFill>
                <a:latin typeface="Calibri"/>
              </a:defRPr>
            </a:pPr>
            <a:r>
              <a:rPr sz="2200" b="0">
                <a:solidFill>
                  <a:srgbClr val="222222"/>
                </a:solidFill>
                <a:latin typeface="Calibri"/>
              </a:rPr>
              <a:t>That is PULSE WIDTH MODULATION. The fraction of each cycle that is on is the DUTY CYCLE.</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4486839"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two lines you need</a:t>
            </a:r>
          </a:p>
        </p:txBody>
      </p:sp>
      <p:sp>
        <p:nvSpPr>
          <p:cNvPr id="7" name="TextBox 6"/>
          <p:cNvSpPr txBox="1"/>
          <p:nvPr/>
        </p:nvSpPr>
        <p:spPr>
          <a:xfrm>
            <a:off x="502920" y="1700784"/>
            <a:ext cx="4486839"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ledcSetup(channel, freq, bits);</a:t>
            </a:r>
          </a:p>
          <a:p>
            <a:pPr algn="l">
              <a:lnSpc>
                <a:spcPct val="100000"/>
              </a:lnSpc>
              <a:spcAft>
                <a:spcPts val="800"/>
              </a:spcAft>
              <a:defRPr sz="2300" b="0">
                <a:solidFill>
                  <a:srgbClr val="222222"/>
                </a:solidFill>
                <a:latin typeface="Calibri"/>
              </a:defRPr>
            </a:pPr>
            <a:r>
              <a:rPr sz="2300" b="0">
                <a:solidFill>
                  <a:srgbClr val="222222"/>
                </a:solidFill>
                <a:latin typeface="Calibri"/>
              </a:rPr>
              <a:t>ledcAttachPin(pin, channel);</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ledcWrite(channel, duty);</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This board package is built on an older ESP32 core, so you work through numbered PWM channels.</a:t>
            </a:r>
          </a:p>
        </p:txBody>
      </p:sp>
      <p:sp>
        <p:nvSpPr>
          <p:cNvPr id="8" name="TextBox 7"/>
          <p:cNvSpPr txBox="1"/>
          <p:nvPr/>
        </p:nvSpPr>
        <p:spPr>
          <a:xfrm>
            <a:off x="5446959" y="1188720"/>
            <a:ext cx="6241816" cy="457200"/>
          </a:xfrm>
          <a:prstGeom prst="rect">
            <a:avLst/>
          </a:prstGeom>
          <a:noFill/>
        </p:spPr>
        <p:txBody>
          <a:bodyPr wrap="square" lIns="0" tIns="0" rIns="0" bIns="0">
            <a:spAutoFit/>
          </a:bodyPr>
          <a:lstStyle/>
          <a:p>
            <a:pPr algn="l">
              <a:lnSpc>
                <a:spcPct val="100000"/>
              </a:lnSpc>
              <a:spcAft>
                <a:spcPts val="300"/>
              </a:spcAft>
              <a:defRPr sz="2000" b="1">
                <a:solidFill>
                  <a:srgbClr val="0E7C86"/>
                </a:solidFill>
                <a:latin typeface="Calibri"/>
              </a:defRPr>
            </a:pPr>
            <a:r>
              <a:rPr sz="2000" b="1">
                <a:solidFill>
                  <a:srgbClr val="0E7C86"/>
                </a:solidFill>
                <a:latin typeface="Calibri"/>
              </a:rPr>
              <a:t>The numbers we use, and why</a:t>
            </a:r>
          </a:p>
        </p:txBody>
      </p:sp>
      <p:sp>
        <p:nvSpPr>
          <p:cNvPr id="9" name="TextBox 8"/>
          <p:cNvSpPr txBox="1"/>
          <p:nvPr/>
        </p:nvSpPr>
        <p:spPr>
          <a:xfrm>
            <a:off x="5446959" y="1700784"/>
            <a:ext cx="6241816" cy="4562856"/>
          </a:xfrm>
          <a:prstGeom prst="rect">
            <a:avLst/>
          </a:prstGeom>
          <a:noFill/>
        </p:spPr>
        <p:txBody>
          <a:bodyPr wrap="square" lIns="0" tIns="0" rIns="0" bIns="0">
            <a:spAutoFit/>
          </a:bodyPr>
          <a:lstStyle/>
          <a:p>
            <a:pPr algn="l">
              <a:lnSpc>
                <a:spcPct val="100000"/>
              </a:lnSpc>
              <a:spcAft>
                <a:spcPts val="800"/>
              </a:spcAft>
              <a:defRPr sz="2300" b="0">
                <a:solidFill>
                  <a:srgbClr val="222222"/>
                </a:solidFill>
                <a:latin typeface="Calibri"/>
              </a:defRPr>
            </a:pPr>
            <a:r>
              <a:rPr sz="23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300" b="0">
                <a:solidFill>
                  <a:srgbClr val="222222"/>
                </a:solidFill>
                <a:latin typeface="Calibri"/>
              </a:defRPr>
            </a:pPr>
            <a:r>
              <a:rPr sz="2300" b="0">
                <a:solidFill>
                  <a:srgbClr val="222222"/>
                </a:solidFill>
                <a:latin typeface="Calibri"/>
              </a:rPr>
              <a:t>Resolution 8 bits. That gives duty values 0 to 255, because 2 to the power 8 is 256.</a:t>
            </a:r>
          </a:p>
          <a:p>
            <a:pPr algn="l">
              <a:lnSpc>
                <a:spcPct val="100000"/>
              </a:lnSpc>
              <a:spcAft>
                <a:spcPts val="800"/>
              </a:spcAft>
              <a:defRPr sz="2300" b="0">
                <a:solidFill>
                  <a:srgbClr val="222222"/>
                </a:solidFill>
                <a:latin typeface="Calibri"/>
              </a:defRPr>
            </a:pPr>
            <a:r>
              <a:rPr sz="2300" b="0">
                <a:solidFill>
                  <a:srgbClr val="222222"/>
                </a:solidFill>
                <a:latin typeface="Calibri"/>
              </a:rPr>
              <a:t>0 is off, 128 is about half power, 255 is flat out.</a:t>
            </a:r>
          </a:p>
          <a:p>
            <a:pPr algn="l">
              <a:lnSpc>
                <a:spcPct val="100000"/>
              </a:lnSpc>
              <a:spcAft>
                <a:spcPts val="800"/>
              </a:spcAft>
              <a:defRPr sz="1150" b="0">
                <a:solidFill>
                  <a:srgbClr val="222222"/>
                </a:solidFill>
                <a:latin typeface="Calibri"/>
              </a:defRPr>
            </a:pPr>
          </a:p>
          <a:p>
            <a:pPr algn="l">
              <a:lnSpc>
                <a:spcPct val="100000"/>
              </a:lnSpc>
              <a:spcAft>
                <a:spcPts val="800"/>
              </a:spcAft>
              <a:defRPr sz="2300" b="0">
                <a:solidFill>
                  <a:srgbClr val="222222"/>
                </a:solidFill>
                <a:latin typeface="Calibri"/>
              </a:defRPr>
            </a:pPr>
            <a:r>
              <a:rPr sz="2300" b="0">
                <a:solidFill>
                  <a:srgbClr val="222222"/>
                </a:solidFill>
                <a:latin typeface="Calibri"/>
              </a:rPr>
              <a:t>The advanced program uses 10 bits, 0 to 1023, for finer control at low speed.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One motor</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vs speed</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Vehicle on a block. Check all four wheels spin free.</a:t>
            </a:r>
          </a:p>
          <a:p>
            <a:pPr algn="l">
              <a:lnSpc>
                <a:spcPct val="100000"/>
              </a:lnSpc>
              <a:spcAft>
                <a:spcPts val="800"/>
              </a:spcAft>
              <a:defRPr sz="1900" b="0">
                <a:solidFill>
                  <a:srgbClr val="222222"/>
                </a:solidFill>
                <a:latin typeface="Calibri"/>
              </a:defRPr>
            </a:pPr>
            <a:r>
              <a:rPr sz="1900" b="0">
                <a:solidFill>
                  <a:srgbClr val="222222"/>
                </a:solidFill>
                <a:latin typeface="Calibri"/>
              </a:rPr>
              <a:t>2.  Upload. Watch the front left wheel and the Serial Monitor.</a:t>
            </a:r>
          </a:p>
          <a:p>
            <a:pPr algn="l">
              <a:lnSpc>
                <a:spcPct val="100000"/>
              </a:lnSpc>
              <a:spcAft>
                <a:spcPts val="800"/>
              </a:spcAft>
              <a:defRPr sz="1900" b="0">
                <a:solidFill>
                  <a:srgbClr val="222222"/>
                </a:solidFill>
                <a:latin typeface="Calibri"/>
              </a:defRPr>
            </a:pPr>
            <a:r>
              <a:rPr sz="1900" b="0">
                <a:solidFill>
                  <a:srgbClr val="222222"/>
                </a:solidFill>
                <a:latin typeface="Calibri"/>
              </a:rPr>
              <a:t>3.  Change SPEED from 200 to 60. Does the wheel still turn?</a:t>
            </a:r>
          </a:p>
          <a:p>
            <a:pPr algn="l">
              <a:lnSpc>
                <a:spcPct val="100000"/>
              </a:lnSpc>
              <a:spcAft>
                <a:spcPts val="800"/>
              </a:spcAft>
              <a:defRPr sz="1900" b="0">
                <a:solidFill>
                  <a:srgbClr val="222222"/>
                </a:solidFill>
                <a:latin typeface="Calibri"/>
              </a:defRPr>
            </a:pPr>
            <a:r>
              <a:rPr sz="1900" b="0">
                <a:solidFill>
                  <a:srgbClr val="222222"/>
                </a:solidFill>
                <a:latin typeface="Calibri"/>
              </a:rPr>
              <a:t>4.  Swap MOTOR_PIN_A and MOTOR_PIN_B. What changed?</a:t>
            </a:r>
          </a:p>
          <a:p>
            <a:pPr algn="l">
              <a:lnSpc>
                <a:spcPct val="100000"/>
              </a:lnSpc>
              <a:spcAft>
                <a:spcPts val="800"/>
              </a:spcAft>
              <a:defRPr sz="1900" b="0">
                <a:solidFill>
                  <a:srgbClr val="222222"/>
                </a:solidFill>
                <a:latin typeface="Calibri"/>
              </a:defRPr>
            </a:pPr>
            <a:r>
              <a:rPr sz="1900" b="0">
                <a:solidFill>
                  <a:srgbClr val="222222"/>
                </a:solidFill>
                <a:latin typeface="Calibri"/>
              </a:rPr>
              <a:t>5.  Change the pins to 22 and 23. Which wheel moves?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696452"/>
          </a:xfrm>
          <a:prstGeom prst="rect">
            <a:avLst/>
          </a:prstGeom>
          <a:noFill/>
        </p:spPr>
        <p:txBody>
          <a:bodyPr wrap="square" lIns="0" tIns="0" rIns="0" bIns="0">
            <a:spAutoFit/>
          </a:bodyPr>
          <a:lstStyle/>
          <a:p>
            <a:pPr algn="l">
              <a:lnSpc>
                <a:spcPct val="100000"/>
              </a:lnSpc>
              <a:spcAft>
                <a:spcPts val="300"/>
              </a:spcAft>
              <a:defRPr sz="1800" b="0">
                <a:solidFill>
                  <a:srgbClr val="222222"/>
                </a:solidFill>
                <a:latin typeface="Calibri"/>
              </a:defRPr>
            </a:pPr>
            <a:r>
              <a:rPr sz="1800" b="0">
                <a:solidFill>
                  <a:srgbClr val="222222"/>
                </a:solidFill>
                <a:latin typeface="Calibri"/>
              </a:rPr>
              <a:t>Front left wheel: forward, stop, reverse, stop, repeating.</a:t>
            </a:r>
          </a:p>
        </p:txBody>
      </p:sp>
      <p:sp>
        <p:nvSpPr>
          <p:cNvPr id="10" name="TextBox 9"/>
          <p:cNvSpPr txBox="1"/>
          <p:nvPr/>
        </p:nvSpPr>
        <p:spPr>
          <a:xfrm>
            <a:off x="7163537" y="307389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476228"/>
            <a:ext cx="4525238" cy="1699275"/>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At 60, is the wheel turning as fast as it did at 200, or is it turning with less force?</a:t>
            </a:r>
          </a:p>
          <a:p>
            <a:pPr algn="l">
              <a:lnSpc>
                <a:spcPct val="100000"/>
              </a:lnSpc>
              <a:spcAft>
                <a:spcPts val="300"/>
              </a:spcAft>
              <a:defRPr sz="1900" b="0">
                <a:solidFill>
                  <a:srgbClr val="222222"/>
                </a:solidFill>
                <a:latin typeface="Calibri"/>
              </a:defRPr>
            </a:pPr>
            <a:r>
              <a:rPr sz="1900" b="0">
                <a:solidFill>
                  <a:srgbClr val="222222"/>
                </a:solidFill>
                <a:latin typeface="Calibri"/>
              </a:rPr>
              <a:t>Swapping the two pins reversed it. Why does that work?</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Nothing on this slide should touch the floor.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Duty vs speed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vs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88912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7163537" y="326656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668896"/>
            <a:ext cx="4525238" cy="1506607"/>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Is the speed proportional to the duty all the way down? Where does it stop being a straight line?</a:t>
            </a:r>
          </a:p>
          <a:p>
            <a:pPr algn="l">
              <a:lnSpc>
                <a:spcPct val="100000"/>
              </a:lnSpc>
              <a:spcAft>
                <a:spcPts val="200"/>
              </a:spcAft>
              <a:defRPr sz="1800" b="0">
                <a:solidFill>
                  <a:srgbClr val="222222"/>
                </a:solidFill>
                <a:latin typeface="Calibri"/>
              </a:defRPr>
            </a:pPr>
            <a:r>
              <a:rPr sz="18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Wheels off the ground. This one reaches full speed.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9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300" b="0">
                <a:solidFill>
                  <a:srgbClr val="222222"/>
                </a:solidFill>
                <a:latin typeface="Calibri"/>
              </a:defRPr>
            </a:pPr>
            <a:r>
              <a:rPr sz="23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1150" b="0">
                <a:solidFill>
                  <a:srgbClr val="222222"/>
                </a:solidFill>
                <a:latin typeface="Calibri"/>
              </a:defRPr>
            </a:pPr>
          </a:p>
          <a:p>
            <a:pPr algn="l">
              <a:lnSpc>
                <a:spcPct val="100000"/>
              </a:lnSpc>
              <a:spcAft>
                <a:spcPts val="900"/>
              </a:spcAft>
              <a:defRPr sz="2300" b="0">
                <a:solidFill>
                  <a:srgbClr val="222222"/>
                </a:solidFill>
                <a:latin typeface="Calibri"/>
              </a:defRPr>
            </a:pPr>
            <a:r>
              <a:rPr sz="2300" b="0">
                <a:solidFill>
                  <a:srgbClr val="222222"/>
                </a:solidFill>
                <a:latin typeface="Calibri"/>
              </a:rPr>
              <a:t>1.  V = 12 volts, I = 15 mA.  R = ?</a:t>
            </a:r>
          </a:p>
          <a:p>
            <a:pPr lvl="1" algn="l">
              <a:lnSpc>
                <a:spcPct val="100000"/>
              </a:lnSpc>
              <a:spcAft>
                <a:spcPts val="900"/>
              </a:spcAft>
              <a:defRPr sz="2300" b="0">
                <a:solidFill>
                  <a:srgbClr val="222222"/>
                </a:solidFill>
                <a:latin typeface="Calibri"/>
              </a:defRPr>
            </a:pPr>
            <a:r>
              <a:rPr sz="23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2.  V = 12 volts, R = 220 ohms.  I = ?</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3.  I = 2 mA, R = 1.5k ohms.  V = ?</a:t>
            </a:r>
          </a:p>
          <a:p>
            <a:pPr lvl="1" algn="l">
              <a:lnSpc>
                <a:spcPct val="100000"/>
              </a:lnSpc>
              <a:spcAft>
                <a:spcPts val="900"/>
              </a:spcAft>
              <a:defRPr sz="2200" b="0">
                <a:solidFill>
                  <a:srgbClr val="222222"/>
                </a:solidFill>
                <a:latin typeface="Calibri"/>
              </a:defRPr>
            </a:pPr>
            <a:r>
              <a:rPr sz="2200" b="0">
                <a:solidFill>
                  <a:srgbClr val="222222"/>
                </a:solidFill>
                <a:latin typeface="Calibri"/>
              </a:rPr>
              <a:t>     (1.5k means 1500 ohms)</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9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198364"/>
            <a:ext cx="11185855" cy="1065276"/>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SERIES. Your LED circuit from Lesson 1: supply, resistor, LED, back to ground. One loop, one current.</a:t>
            </a:r>
          </a:p>
          <a:p>
            <a:pPr lvl="1" algn="l">
              <a:lnSpc>
                <a:spcPct val="100000"/>
              </a:lnSpc>
              <a:spcAft>
                <a:spcPts val="600"/>
              </a:spcAft>
              <a:defRPr sz="2000" b="0">
                <a:solidFill>
                  <a:srgbClr val="222222"/>
                </a:solidFill>
                <a:latin typeface="Calibri"/>
              </a:defRPr>
            </a:pPr>
            <a:r>
              <a:rPr sz="2000" b="0">
                <a:solidFill>
                  <a:srgbClr val="222222"/>
                </a:solidFill>
                <a:latin typeface="Calibri"/>
              </a:rPr>
              <a:t>Add resistance and the current everywhere drops.</a:t>
            </a:r>
          </a:p>
          <a:p>
            <a:pPr algn="l">
              <a:lnSpc>
                <a:spcPct val="100000"/>
              </a:lnSpc>
              <a:spcAft>
                <a:spcPts val="600"/>
              </a:spcAft>
              <a:defRPr sz="2000" b="0">
                <a:solidFill>
                  <a:srgbClr val="222222"/>
                </a:solidFill>
                <a:latin typeface="Calibri"/>
              </a:defRPr>
            </a:pPr>
            <a:r>
              <a:rPr sz="2000" b="0">
                <a:solidFill>
                  <a:srgbClr val="222222"/>
                </a:solidFill>
                <a:latin typeface="Calibri"/>
              </a:rPr>
              <a:t>PARALLEL. The four motors. Each hangs across the same supply, so each gets the full battery voltage and the currents add up.</a:t>
            </a:r>
          </a:p>
          <a:p>
            <a:pPr lvl="1" algn="l">
              <a:lnSpc>
                <a:spcPct val="100000"/>
              </a:lnSpc>
              <a:spcAft>
                <a:spcPts val="600"/>
              </a:spcAft>
              <a:defRPr sz="2000" b="0">
                <a:solidFill>
                  <a:srgbClr val="222222"/>
                </a:solidFill>
                <a:latin typeface="Calibri"/>
              </a:defRPr>
            </a:pPr>
            <a:r>
              <a:rPr sz="2000" b="0">
                <a:solidFill>
                  <a:srgbClr val="222222"/>
                </a:solidFill>
                <a:latin typeface="Calibri"/>
              </a:rPr>
              <a:t>Four motors at 1.5 A each is 6 A out of the battery.</a:t>
            </a:r>
          </a:p>
          <a:p>
            <a:pPr lvl="1" algn="l">
              <a:lnSpc>
                <a:spcPct val="100000"/>
              </a:lnSpc>
              <a:spcAft>
                <a:spcPts val="600"/>
              </a:spcAft>
              <a:defRPr sz="2000" b="0">
                <a:solidFill>
                  <a:srgbClr val="222222"/>
                </a:solidFill>
                <a:latin typeface="Calibri"/>
              </a:defRPr>
            </a:pPr>
            <a:r>
              <a:rPr sz="2000" b="0">
                <a:solidFill>
                  <a:srgbClr val="222222"/>
                </a:solidFill>
                <a:latin typeface="Calibri"/>
              </a:rPr>
              <a:t>Which is why it goes flat four times faster on four motors than on one.</a:t>
            </a:r>
          </a:p>
          <a:p>
            <a:pPr algn="l">
              <a:lnSpc>
                <a:spcPct val="100000"/>
              </a:lnSpc>
              <a:spcAft>
                <a:spcPts val="600"/>
              </a:spcAft>
              <a:defRPr sz="2000" b="0">
                <a:solidFill>
                  <a:srgbClr val="222222"/>
                </a:solidFill>
                <a:latin typeface="Calibri"/>
              </a:defRPr>
            </a:pPr>
            <a:r>
              <a:rPr sz="2000" b="0">
                <a:solidFill>
                  <a:srgbClr val="222222"/>
                </a:solidFill>
                <a:latin typeface="Calibri"/>
              </a:rPr>
              <a:t>The 32 LEDs are in parallel too, each drawing its own current from the same 5 V rail. That is why the Lesson 4 power budget adds up the way it does.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vs speed</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Ohm's law and circuits</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a square</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The Pathfinder has no steering rack. Nothing on it points the wheels.</a:t>
            </a:r>
          </a:p>
          <a:p>
            <a:pPr algn="l">
              <a:lnSpc>
                <a:spcPct val="100000"/>
              </a:lnSpc>
              <a:spcAft>
                <a:spcPts val="600"/>
              </a:spcAft>
              <a:defRPr sz="2000" b="0">
                <a:solidFill>
                  <a:srgbClr val="222222"/>
                </a:solidFill>
                <a:latin typeface="Calibri"/>
              </a:defRPr>
            </a:pPr>
            <a:r>
              <a:rPr sz="2000" b="0">
                <a:solidFill>
                  <a:srgbClr val="222222"/>
                </a:solidFill>
                <a:latin typeface="Calibri"/>
              </a:rPr>
              <a:t>The two wheels on the LEFT are driven together. The two on the RIGHT are driven together.</a:t>
            </a:r>
          </a:p>
          <a:p>
            <a:pPr algn="l">
              <a:lnSpc>
                <a:spcPct val="100000"/>
              </a:lnSpc>
              <a:spcAft>
                <a:spcPts val="600"/>
              </a:spcAft>
              <a:defRPr sz="2000" b="0">
                <a:solidFill>
                  <a:srgbClr val="222222"/>
                </a:solidFill>
                <a:latin typeface="Calibri"/>
              </a:defRPr>
            </a:pPr>
            <a:r>
              <a:rPr sz="2000" b="0">
                <a:solidFill>
                  <a:srgbClr val="222222"/>
                </a:solidFill>
                <a:latin typeface="Calibri"/>
              </a:rPr>
              <a:t>Both sides the same  -&gt;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Left faster than right  -&gt;  it curves to the right.</a:t>
            </a:r>
          </a:p>
          <a:p>
            <a:pPr algn="l">
              <a:lnSpc>
                <a:spcPct val="100000"/>
              </a:lnSpc>
              <a:spcAft>
                <a:spcPts val="600"/>
              </a:spcAft>
              <a:defRPr sz="2000" b="0">
                <a:solidFill>
                  <a:srgbClr val="222222"/>
                </a:solidFill>
                <a:latin typeface="Calibri"/>
              </a:defRPr>
            </a:pPr>
            <a:r>
              <a:rPr sz="2000" b="0">
                <a:solidFill>
                  <a:srgbClr val="222222"/>
                </a:solidFill>
                <a:latin typeface="Calibri"/>
              </a:rPr>
              <a:t>Left forward and right backward  -&gt;  it spins on the spot.</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Wheel diameter is 3.0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Circumference = pi x diameter = 3.1416 x 3.0 = 9.42 inches</a:t>
            </a:r>
          </a:p>
          <a:p>
            <a:pPr lvl="1" algn="l">
              <a:lnSpc>
                <a:spcPct val="100000"/>
              </a:lnSpc>
              <a:spcAft>
                <a:spcPts val="600"/>
              </a:spcAft>
              <a:defRPr sz="2100" b="0">
                <a:solidFill>
                  <a:srgbClr val="222222"/>
                </a:solidFill>
                <a:latin typeface="Calibri"/>
              </a:defRPr>
            </a:pPr>
            <a:r>
              <a:rPr sz="2100" b="0">
                <a:solidFill>
                  <a:srgbClr val="222222"/>
                </a:solidFill>
                <a:latin typeface="Calibri"/>
              </a:rPr>
              <a:t>Distance per wheel turn = 9.42 / 12 = 0.79 feet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Speed = revolutions per second x distance per revolution</a:t>
            </a:r>
          </a:p>
          <a:p>
            <a:pPr algn="l">
              <a:lnSpc>
                <a:spcPct val="100000"/>
              </a:lnSpc>
              <a:spcAft>
                <a:spcPts val="600"/>
              </a:spcAft>
              <a:defRPr sz="2100" b="0">
                <a:solidFill>
                  <a:srgbClr val="222222"/>
                </a:solidFill>
                <a:latin typeface="Calibri"/>
              </a:defRPr>
            </a:pPr>
            <a:r>
              <a:rPr sz="2100" b="0">
                <a:solidFill>
                  <a:srgbClr val="222222"/>
                </a:solidFill>
                <a:latin typeface="Calibri"/>
              </a:rPr>
              <a:t>Distance = speed x time</a:t>
            </a:r>
          </a:p>
          <a:p>
            <a:pPr algn="l">
              <a:lnSpc>
                <a:spcPct val="100000"/>
              </a:lnSpc>
              <a:spcAft>
                <a:spcPts val="600"/>
              </a:spcAft>
              <a:defRPr sz="2100" b="0">
                <a:solidFill>
                  <a:srgbClr val="222222"/>
                </a:solidFill>
                <a:latin typeface="Calibri"/>
              </a:defRPr>
            </a:pPr>
            <a:r>
              <a:rPr sz="2100" b="0">
                <a:solidFill>
                  <a:srgbClr val="222222"/>
                </a:solidFill>
                <a:latin typeface="Calibri"/>
              </a:rPr>
              <a:t>Degrees turned = turn rate x time</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4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093466"/>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9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1217168"/>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a:p>
            <a:pPr algn="l">
              <a:lnSpc>
                <a:spcPct val="100000"/>
              </a:lnSpc>
              <a:spcAft>
                <a:spcPts val="0"/>
              </a:spcAft>
              <a:defRPr sz="1800" b="0">
                <a:solidFill>
                  <a:srgbClr val="666666"/>
                </a:solidFill>
                <a:latin typeface="Calibri"/>
              </a:defRPr>
            </a:pPr>
            <a:r>
              <a:rPr sz="1800" b="0">
                <a:solidFill>
                  <a:srgbClr val="666666"/>
                </a:solidFill>
                <a:latin typeface="Calibri"/>
              </a:rPr>
              <a:t>In Excel:  =SIN(RADIANS(45))  or  =SIN(45*(3.14/180))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A square is four legs on bearings 0, 90, 180 and 270, which is why you can do it in your head.</a:t>
            </a:r>
          </a:p>
          <a:p>
            <a:pPr algn="l">
              <a:lnSpc>
                <a:spcPct val="100000"/>
              </a:lnSpc>
              <a:spcAft>
                <a:spcPts val="600"/>
              </a:spcAft>
              <a:defRPr sz="1900" b="0">
                <a:solidFill>
                  <a:srgbClr val="222222"/>
                </a:solidFill>
                <a:latin typeface="Calibri"/>
              </a:defRPr>
            </a:pPr>
            <a:r>
              <a:rPr sz="1900" b="0">
                <a:solidFill>
                  <a:srgbClr val="222222"/>
                </a:solidFill>
                <a:latin typeface="Calibri"/>
              </a:rPr>
              <a:t>Now try a baseball diamond: run at 45 degrees to first base, then three more left turns back to home plate.</a:t>
            </a:r>
          </a:p>
          <a:p>
            <a:pPr algn="l">
              <a:lnSpc>
                <a:spcPct val="100000"/>
              </a:lnSpc>
              <a:spcAft>
                <a:spcPts val="600"/>
              </a:spcAft>
              <a:defRPr sz="1900" b="0">
                <a:solidFill>
                  <a:srgbClr val="222222"/>
                </a:solidFill>
                <a:latin typeface="Calibri"/>
              </a:defRPr>
            </a:pPr>
            <a:r>
              <a:rPr sz="1900" b="0">
                <a:solidFill>
                  <a:srgbClr val="222222"/>
                </a:solidFill>
                <a:latin typeface="Calibri"/>
              </a:rPr>
              <a:t>Nothing in the program changes - it is still drive, turn, drive, turn. The bearings are no longer whole quarter turns, so you need sin and cos to work out where it ends up.</a:t>
            </a:r>
          </a:p>
          <a:p>
            <a:pPr algn="l">
              <a:lnSpc>
                <a:spcPct val="100000"/>
              </a:lnSpc>
              <a:spcAft>
                <a:spcPts val="600"/>
              </a:spcAft>
              <a:defRPr sz="1900" b="0">
                <a:solidFill>
                  <a:srgbClr val="222222"/>
                </a:solidFill>
                <a:latin typeface="Calibri"/>
              </a:defRPr>
            </a:pPr>
            <a:r>
              <a:rPr sz="1900" b="0">
                <a:solidFill>
                  <a:srgbClr val="222222"/>
                </a:solidFill>
                <a:latin typeface="Calibri"/>
              </a:rPr>
              <a:t>Set it up in a spreadsheet: one row per leg, with time, speed, bearing, and the running east and north totals. Plot east against north and you have drawn the path before the vehicle has moved.</a:t>
            </a:r>
          </a:p>
          <a:p>
            <a:pPr algn="l">
              <a:lnSpc>
                <a:spcPct val="100000"/>
              </a:lnSpc>
              <a:spcAft>
                <a:spcPts val="600"/>
              </a:spcAft>
              <a:defRPr sz="1900" b="0">
                <a:solidFill>
                  <a:srgbClr val="222222"/>
                </a:solidFill>
                <a:latin typeface="Calibri"/>
              </a:defRPr>
            </a:pPr>
            <a:r>
              <a:rPr sz="1900" b="0">
                <a:solidFill>
                  <a:srgbClr val="222222"/>
                </a:solidFill>
                <a:latin typeface="Calibri"/>
              </a:rPr>
              <a:t>Then run it, and measure how far off the real one finishes.</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Deciding what to do: if, else if, else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5649338"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shape of it</a:t>
            </a:r>
          </a:p>
        </p:txBody>
      </p:sp>
      <p:sp>
        <p:nvSpPr>
          <p:cNvPr id="7" name="TextBox 6"/>
          <p:cNvSpPr txBox="1"/>
          <p:nvPr/>
        </p:nvSpPr>
        <p:spPr>
          <a:xfrm>
            <a:off x="502920" y="1700784"/>
            <a:ext cx="5649338"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An IF runs a block only when its test is true, and carries straight on when it is not.</a:t>
            </a:r>
          </a:p>
          <a:p>
            <a:pPr algn="l">
              <a:lnSpc>
                <a:spcPct val="100000"/>
              </a:lnSpc>
              <a:spcAft>
                <a:spcPts val="800"/>
              </a:spcAft>
              <a:defRPr sz="2000" b="0">
                <a:solidFill>
                  <a:srgbClr val="222222"/>
                </a:solidFill>
                <a:latin typeface="Calibri"/>
              </a:defRPr>
            </a:pPr>
            <a:r>
              <a:rPr sz="2000" b="0">
                <a:solidFill>
                  <a:srgbClr val="222222"/>
                </a:solidFill>
                <a:latin typeface="Calibri"/>
              </a:rPr>
              <a:t>Add an ELSE and exactly one of the two blocks runs. Never both, never neither.</a:t>
            </a:r>
          </a:p>
          <a:p>
            <a:pPr algn="l">
              <a:lnSpc>
                <a:spcPct val="100000"/>
              </a:lnSpc>
              <a:spcAft>
                <a:spcPts val="800"/>
              </a:spcAft>
              <a:defRPr sz="2000" b="0">
                <a:solidFill>
                  <a:srgbClr val="222222"/>
                </a:solidFill>
                <a:latin typeface="Calibri"/>
              </a:defRPr>
            </a:pPr>
            <a:r>
              <a:rPr sz="2000" b="0">
                <a:solidFill>
                  <a:srgbClr val="222222"/>
                </a:solidFill>
                <a:latin typeface="Calibri"/>
              </a:rPr>
              <a:t>Chain them with ELSE IF and the FIRST true test wins. The rest are not even looked at, so order matters.</a:t>
            </a:r>
          </a:p>
          <a:p>
            <a:pPr algn="l">
              <a:lnSpc>
                <a:spcPct val="100000"/>
              </a:lnSpc>
              <a:spcAft>
                <a:spcPts val="800"/>
              </a:spcAft>
              <a:defRPr sz="2000" b="0">
                <a:solidFill>
                  <a:srgbClr val="222222"/>
                </a:solidFill>
                <a:latin typeface="Calibri"/>
              </a:defRPr>
            </a:pPr>
            <a:r>
              <a:rPr sz="2000" b="0">
                <a:solidFill>
                  <a:srgbClr val="222222"/>
                </a:solidFill>
                <a:latin typeface="Calibri"/>
              </a:rPr>
              <a:t>A test is anything that comes out true or false: a comparison, a button, a bool.</a:t>
            </a:r>
          </a:p>
        </p:txBody>
      </p:sp>
      <p:sp>
        <p:nvSpPr>
          <p:cNvPr id="8" name="TextBox 7"/>
          <p:cNvSpPr txBox="1"/>
          <p:nvPr/>
        </p:nvSpPr>
        <p:spPr>
          <a:xfrm>
            <a:off x="6609458" y="1188720"/>
            <a:ext cx="507931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Where you have already met one</a:t>
            </a:r>
          </a:p>
        </p:txBody>
      </p:sp>
      <p:sp>
        <p:nvSpPr>
          <p:cNvPr id="9" name="TextBox 8"/>
          <p:cNvSpPr txBox="1"/>
          <p:nvPr/>
        </p:nvSpPr>
        <p:spPr>
          <a:xfrm>
            <a:off x="6609458" y="1700784"/>
            <a:ext cx="507931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Is the stick inside the deadzone? Then the speed is zero.</a:t>
            </a:r>
          </a:p>
          <a:p>
            <a:pPr algn="l">
              <a:lnSpc>
                <a:spcPct val="100000"/>
              </a:lnSpc>
              <a:spcAft>
                <a:spcPts val="800"/>
              </a:spcAft>
              <a:defRPr sz="2000" b="0">
                <a:solidFill>
                  <a:srgbClr val="222222"/>
                </a:solidFill>
                <a:latin typeface="Calibri"/>
              </a:defRPr>
            </a:pPr>
            <a:r>
              <a:rPr sz="2000" b="0">
                <a:solidFill>
                  <a:srgbClr val="222222"/>
                </a:solidFill>
                <a:latin typeface="Calibri"/>
              </a:rPr>
              <a:t>Is the controller connected? If not, stop the motors.</a:t>
            </a:r>
          </a:p>
          <a:p>
            <a:pPr algn="l">
              <a:lnSpc>
                <a:spcPct val="100000"/>
              </a:lnSpc>
              <a:spcAft>
                <a:spcPts val="800"/>
              </a:spcAft>
              <a:defRPr sz="2000" b="0">
                <a:solidFill>
                  <a:srgbClr val="222222"/>
                </a:solidFill>
                <a:latin typeface="Calibri"/>
              </a:defRPr>
            </a:pPr>
            <a:r>
              <a:rPr sz="2000" b="0">
                <a:solidFill>
                  <a:srgbClr val="222222"/>
                </a:solidFill>
                <a:latin typeface="Calibri"/>
              </a:rPr>
              <a:t>Are the lights on? Then turn them off, otherwise turn them on.</a:t>
            </a:r>
          </a:p>
          <a:p>
            <a:pPr algn="l">
              <a:lnSpc>
                <a:spcPct val="100000"/>
              </a:lnSpc>
              <a:spcAft>
                <a:spcPts val="800"/>
              </a:spcAft>
              <a:defRPr sz="2000" b="0">
                <a:solidFill>
                  <a:srgbClr val="222222"/>
                </a:solidFill>
                <a:latin typeface="Calibri"/>
              </a:defRPr>
            </a:pPr>
            <a:r>
              <a:rPr sz="2000" b="0">
                <a:solidFill>
                  <a:srgbClr val="222222"/>
                </a:solidFill>
                <a:latin typeface="Calibri"/>
              </a:rPr>
              <a:t>Every one of those is a question with a yes and a no, and that is all an if is.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You will write far more of these than loops. Almost everything a robot does is a decision about a number it just read.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else if, else  -  the three shapes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conditional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666666"/>
                </a:solidFill>
                <a:latin typeface="Consolas"/>
              </a:rPr>
              <a:t>// if  -  do it only when the test is true</a:t>
            </a:r>
          </a:p>
          <a:p>
            <a:pPr algn="l">
              <a:lnSpc>
                <a:spcPct val="100000"/>
              </a:lnSpc>
              <a:spcAft>
                <a:spcPts val="0"/>
              </a:spcAft>
              <a:defRPr sz="1450">
                <a:latin typeface="Consolas"/>
              </a:defRPr>
            </a:pPr>
            <a:r>
              <a:rPr sz="1450" b="1">
                <a:solidFill>
                  <a:srgbClr val="0E7C86"/>
                </a:solidFill>
                <a:latin typeface="Consolas"/>
              </a:rPr>
              <a:t>if (speed &gt; MOTOR_MAX) {</a:t>
            </a:r>
          </a:p>
          <a:p>
            <a:pPr algn="l">
              <a:lnSpc>
                <a:spcPct val="100000"/>
              </a:lnSpc>
              <a:spcAft>
                <a:spcPts val="0"/>
              </a:spcAft>
              <a:defRPr sz="1450">
                <a:latin typeface="Consolas"/>
              </a:defRPr>
            </a:pPr>
            <a:r>
              <a:rPr sz="1450">
                <a:solidFill>
                  <a:srgbClr val="222222"/>
                </a:solidFill>
                <a:latin typeface="Consolas"/>
              </a:rPr>
              <a:t>  speed = MOTOR_MAX;</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if / else  -  one or the other, never both</a:t>
            </a:r>
          </a:p>
          <a:p>
            <a:pPr algn="l">
              <a:lnSpc>
                <a:spcPct val="100000"/>
              </a:lnSpc>
              <a:spcAft>
                <a:spcPts val="0"/>
              </a:spcAft>
              <a:defRPr sz="1450">
                <a:latin typeface="Consolas"/>
              </a:defRPr>
            </a:pPr>
            <a:r>
              <a:rPr sz="1450" b="1">
                <a:solidFill>
                  <a:srgbClr val="0E7C86"/>
                </a:solidFill>
                <a:latin typeface="Consolas"/>
              </a:rPr>
              <a:t>if (lightsOn) {</a:t>
            </a:r>
          </a:p>
          <a:p>
            <a:pPr algn="l">
              <a:lnSpc>
                <a:spcPct val="100000"/>
              </a:lnSpc>
              <a:spcAft>
                <a:spcPts val="0"/>
              </a:spcAft>
              <a:defRPr sz="1450">
                <a:latin typeface="Consolas"/>
              </a:defRPr>
            </a:pPr>
            <a:r>
              <a:rPr sz="1450">
                <a:solidFill>
                  <a:srgbClr val="222222"/>
                </a:solidFill>
                <a:latin typeface="Consolas"/>
              </a:rPr>
              <a:t>  headlightsOn();</a:t>
            </a:r>
          </a:p>
          <a:p>
            <a:pPr algn="l">
              <a:lnSpc>
                <a:spcPct val="100000"/>
              </a:lnSpc>
              <a:spcAft>
                <a:spcPts val="0"/>
              </a:spcAft>
              <a:defRPr sz="1450">
                <a:latin typeface="Consolas"/>
              </a:defRPr>
            </a:pPr>
            <a:r>
              <a:rPr sz="1450">
                <a:solidFill>
                  <a:srgbClr val="222222"/>
                </a:solidFill>
                <a:latin typeface="Consolas"/>
              </a:rPr>
              <a:t>} else {</a:t>
            </a:r>
          </a:p>
          <a:p>
            <a:pPr algn="l">
              <a:lnSpc>
                <a:spcPct val="100000"/>
              </a:lnSpc>
              <a:spcAft>
                <a:spcPts val="0"/>
              </a:spcAft>
              <a:defRPr sz="1450">
                <a:latin typeface="Consolas"/>
              </a:defRPr>
            </a:pPr>
            <a:r>
              <a:rPr sz="1450">
                <a:solidFill>
                  <a:srgbClr val="222222"/>
                </a:solidFill>
                <a:latin typeface="Consolas"/>
              </a:rPr>
              <a:t>  allLightsOff();</a:t>
            </a:r>
          </a:p>
          <a:p>
            <a:pPr algn="l">
              <a:lnSpc>
                <a:spcPct val="100000"/>
              </a:lnSpc>
              <a:spcAft>
                <a:spcPts val="0"/>
              </a:spcAft>
              <a:defRPr sz="1450">
                <a:latin typeface="Consolas"/>
              </a:defRPr>
            </a:pPr>
            <a:r>
              <a:rPr sz="1450">
                <a:solidFill>
                  <a:srgbClr val="222222"/>
                </a:solidFill>
                <a:latin typeface="Consolas"/>
              </a:rPr>
              <a:t>}</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a:solidFill>
                  <a:srgbClr val="666666"/>
                </a:solidFill>
                <a:latin typeface="Consolas"/>
              </a:rPr>
              <a:t>// else if  -  a chain. The FIRST true one wins.</a:t>
            </a:r>
          </a:p>
          <a:p>
            <a:pPr algn="l">
              <a:lnSpc>
                <a:spcPct val="100000"/>
              </a:lnSpc>
              <a:spcAft>
                <a:spcPts val="0"/>
              </a:spcAft>
              <a:defRPr sz="1450">
                <a:latin typeface="Consolas"/>
              </a:defRPr>
            </a:pPr>
            <a:r>
              <a:rPr sz="1450" b="1">
                <a:solidFill>
                  <a:srgbClr val="0E7C86"/>
                </a:solidFill>
                <a:latin typeface="Consolas"/>
              </a:rPr>
              <a:t>if (duty &gt; 200) {</a:t>
            </a:r>
          </a:p>
          <a:p>
            <a:pPr algn="l">
              <a:lnSpc>
                <a:spcPct val="100000"/>
              </a:lnSpc>
              <a:spcAft>
                <a:spcPts val="0"/>
              </a:spcAft>
              <a:defRPr sz="1450">
                <a:latin typeface="Consolas"/>
              </a:defRPr>
            </a:pPr>
            <a:r>
              <a:rPr sz="1450">
                <a:solidFill>
                  <a:srgbClr val="222222"/>
                </a:solidFill>
                <a:latin typeface="Consolas"/>
              </a:rPr>
              <a:t>  Serial.println("fast");</a:t>
            </a:r>
          </a:p>
          <a:p>
            <a:pPr algn="l">
              <a:lnSpc>
                <a:spcPct val="100000"/>
              </a:lnSpc>
              <a:spcAft>
                <a:spcPts val="0"/>
              </a:spcAft>
              <a:defRPr sz="1450">
                <a:latin typeface="Consolas"/>
              </a:defRPr>
            </a:pPr>
            <a:r>
              <a:rPr sz="1450" b="1">
                <a:solidFill>
                  <a:srgbClr val="0E7C86"/>
                </a:solidFill>
                <a:latin typeface="Consolas"/>
              </a:rPr>
              <a:t>} else if (duty &gt; 60) {</a:t>
            </a:r>
          </a:p>
          <a:p>
            <a:pPr algn="l">
              <a:lnSpc>
                <a:spcPct val="100000"/>
              </a:lnSpc>
              <a:spcAft>
                <a:spcPts val="0"/>
              </a:spcAft>
              <a:defRPr sz="1450">
                <a:latin typeface="Consolas"/>
              </a:defRPr>
            </a:pPr>
            <a:r>
              <a:rPr sz="1450">
                <a:solidFill>
                  <a:srgbClr val="222222"/>
                </a:solidFill>
                <a:latin typeface="Consolas"/>
              </a:rPr>
              <a:t>  Serial.println("moving");</a:t>
            </a:r>
          </a:p>
          <a:p>
            <a:pPr algn="l">
              <a:lnSpc>
                <a:spcPct val="100000"/>
              </a:lnSpc>
              <a:spcAft>
                <a:spcPts val="0"/>
              </a:spcAft>
              <a:defRPr sz="1450">
                <a:latin typeface="Consolas"/>
              </a:defRPr>
            </a:pPr>
            <a:r>
              <a:rPr sz="1450" b="1">
                <a:solidFill>
                  <a:srgbClr val="0E7C86"/>
                </a:solidFill>
                <a:latin typeface="Consolas"/>
              </a:rPr>
              <a:t>} else {</a:t>
            </a:r>
          </a:p>
          <a:p>
            <a:pPr algn="l">
              <a:lnSpc>
                <a:spcPct val="100000"/>
              </a:lnSpc>
              <a:spcAft>
                <a:spcPts val="0"/>
              </a:spcAft>
              <a:defRPr sz="1450">
                <a:latin typeface="Consolas"/>
              </a:defRPr>
            </a:pPr>
            <a:r>
              <a:rPr sz="1450">
                <a:solidFill>
                  <a:srgbClr val="222222"/>
                </a:solidFill>
                <a:latin typeface="Consolas"/>
              </a:rPr>
              <a:t>  Serial.println("stopped");</a:t>
            </a:r>
          </a:p>
          <a:p>
            <a:pPr algn="l">
              <a:lnSpc>
                <a:spcPct val="100000"/>
              </a:lnSpc>
              <a:spcAft>
                <a:spcPts val="0"/>
              </a:spcAft>
              <a:defRPr sz="1450">
                <a:latin typeface="Consolas"/>
              </a:defRPr>
            </a:pPr>
            <a:r>
              <a:rPr sz="14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 compares. = assigns. if (x = 5) compiles, and is always true. This one catches everybody once.</a:t>
            </a:r>
          </a:p>
          <a:p>
            <a:pPr algn="l">
              <a:lnSpc>
                <a:spcPct val="100000"/>
              </a:lnSpc>
              <a:spcAft>
                <a:spcPts val="700"/>
              </a:spcAft>
              <a:defRPr sz="1800" b="0">
                <a:solidFill>
                  <a:srgbClr val="222222"/>
                </a:solidFill>
                <a:latin typeface="Calibri"/>
              </a:defRPr>
            </a:pPr>
            <a:r>
              <a:rPr sz="1800" b="0">
                <a:solidFill>
                  <a:srgbClr val="222222"/>
                </a:solidFill>
                <a:latin typeface="Calibri"/>
              </a:rPr>
              <a:t>An if on its own can run zero times or one time. An if / else always runs exactly one of the two.</a:t>
            </a:r>
          </a:p>
          <a:p>
            <a:pPr algn="l">
              <a:lnSpc>
                <a:spcPct val="100000"/>
              </a:lnSpc>
              <a:spcAft>
                <a:spcPts val="700"/>
              </a:spcAft>
              <a:defRPr sz="1800" b="0">
                <a:solidFill>
                  <a:srgbClr val="222222"/>
                </a:solidFill>
                <a:latin typeface="Calibri"/>
              </a:defRPr>
            </a:pPr>
            <a:r>
              <a:rPr sz="1800" b="0">
                <a:solidFill>
                  <a:srgbClr val="222222"/>
                </a:solidFill>
                <a:latin typeface="Calibri"/>
              </a:rPr>
              <a:t>In a chain, put the NARROWEST test first. Swap the last two here and nothing is ever "fast".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The braces are optional for a single line. Use them anyway - the bug they prevent is a nasty 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been using for loops all lesson. There are two more.</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9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Clear three meters square. Bags and feet out.</a:t>
            </a:r>
          </a:p>
          <a:p>
            <a:pPr algn="l">
              <a:lnSpc>
                <a:spcPct val="100000"/>
              </a:lnSpc>
              <a:spcAft>
                <a:spcPts val="400"/>
              </a:spcAft>
              <a:defRPr sz="1800" b="0">
                <a:solidFill>
                  <a:srgbClr val="222222"/>
                </a:solidFill>
                <a:latin typeface="Calibri"/>
              </a:defRPr>
            </a:pPr>
            <a:r>
              <a:rPr sz="1800" b="0">
                <a:solidFill>
                  <a:srgbClr val="222222"/>
                </a:solidFill>
                <a:latin typeface="Calibri"/>
              </a:rPr>
              <a:t>2.  Mark the starting point with tape.</a:t>
            </a:r>
          </a:p>
          <a:p>
            <a:pPr algn="l">
              <a:lnSpc>
                <a:spcPct val="100000"/>
              </a:lnSpc>
              <a:spcAft>
                <a:spcPts val="4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400"/>
              </a:spcAft>
              <a:defRPr sz="1800" b="0">
                <a:solidFill>
                  <a:srgbClr val="222222"/>
                </a:solidFill>
                <a:latin typeface="Calibri"/>
              </a:defRPr>
            </a:pPr>
            <a:r>
              <a:rPr sz="1800" b="0">
                <a:solidFill>
                  <a:srgbClr val="222222"/>
                </a:solidFill>
                <a:latin typeface="Calibri"/>
              </a:rPr>
              <a:t>4.  MEASURE one side of the square it actually drove.</a:t>
            </a:r>
          </a:p>
          <a:p>
            <a:pPr algn="l">
              <a:lnSpc>
                <a:spcPct val="100000"/>
              </a:lnSpc>
              <a:spcAft>
                <a:spcPts val="400"/>
              </a:spcAft>
              <a:defRPr sz="1800" b="0">
                <a:solidFill>
                  <a:srgbClr val="222222"/>
                </a:solidFill>
                <a:latin typeface="Calibri"/>
              </a:defRPr>
            </a:pPr>
            <a:r>
              <a:rPr sz="1800" b="0">
                <a:solidFill>
                  <a:srgbClr val="222222"/>
                </a:solidFill>
                <a:latin typeface="Calibri"/>
              </a:rPr>
              <a:t>5.  Speed = side length / (FORWARD_MS / 1000)</a:t>
            </a:r>
          </a:p>
          <a:p>
            <a:pPr algn="l">
              <a:lnSpc>
                <a:spcPct val="100000"/>
              </a:lnSpc>
              <a:spcAft>
                <a:spcPts val="400"/>
              </a:spcAft>
              <a:defRPr sz="1800" b="0">
                <a:solidFill>
                  <a:srgbClr val="222222"/>
                </a:solidFill>
                <a:latin typeface="Calibri"/>
              </a:defRPr>
            </a:pPr>
            <a:r>
              <a:rPr sz="1800" b="0">
                <a:solidFill>
                  <a:srgbClr val="222222"/>
                </a:solidFill>
                <a:latin typeface="Calibri"/>
              </a:rPr>
              <a:t>6.  The corners will not be 90 degrees. Adjust TURN_MS by 25 ms at a time until it comes back to its tape.</a:t>
            </a:r>
          </a:p>
          <a:p>
            <a:pPr algn="l">
              <a:lnSpc>
                <a:spcPct val="100000"/>
              </a:lnSpc>
              <a:spcAft>
                <a:spcPts val="400"/>
              </a:spcAft>
              <a:defRPr sz="1800" b="0">
                <a:solidFill>
                  <a:srgbClr val="222222"/>
                </a:solidFill>
                <a:latin typeface="Calibri"/>
              </a:defRPr>
            </a:pPr>
            <a:r>
              <a:rPr sz="1800" b="0">
                <a:solidFill>
                  <a:srgbClr val="222222"/>
                </a:solidFill>
                <a:latin typeface="Calibri"/>
              </a:rPr>
              <a:t>7.  Change FORWARD_MS and PREDICT the new square before you run it. How close were you?</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49849"/>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Roughly a square. Roughly.</a:t>
            </a:r>
          </a:p>
          <a:p>
            <a:pPr algn="l">
              <a:lnSpc>
                <a:spcPct val="100000"/>
              </a:lnSpc>
              <a:spcAft>
                <a:spcPts val="300"/>
              </a:spcAft>
              <a:defRPr sz="1900" b="0">
                <a:solidFill>
                  <a:srgbClr val="222222"/>
                </a:solidFill>
                <a:latin typeface="Calibri"/>
              </a:defRPr>
            </a:pPr>
            <a:r>
              <a:rPr sz="1900" b="0">
                <a:solidFill>
                  <a:srgbClr val="222222"/>
                </a:solidFill>
                <a:latin typeface="Calibri"/>
              </a:rPr>
              <a:t>It will not close on the first attempt. That is the point, not a failure.</a:t>
            </a:r>
          </a:p>
        </p:txBody>
      </p:sp>
      <p:sp>
        <p:nvSpPr>
          <p:cNvPr id="10" name="TextBox 9"/>
          <p:cNvSpPr txBox="1"/>
          <p:nvPr/>
        </p:nvSpPr>
        <p:spPr>
          <a:xfrm>
            <a:off x="7163537" y="34272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829625"/>
            <a:ext cx="4525238" cy="134587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is your vehicle's speed in feet per second?</a:t>
            </a:r>
          </a:p>
          <a:p>
            <a:pPr algn="l">
              <a:lnSpc>
                <a:spcPct val="100000"/>
              </a:lnSpc>
              <a:spcAft>
                <a:spcPts val="300"/>
              </a:spcAft>
              <a:defRPr sz="1900" b="0">
                <a:solidFill>
                  <a:srgbClr val="222222"/>
                </a:solidFill>
                <a:latin typeface="Calibri"/>
              </a:defRPr>
            </a:pPr>
            <a:r>
              <a:rPr sz="19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800">
                <a:solidFill>
                  <a:srgbClr val="222222"/>
                </a:solidFill>
                <a:latin typeface="Calibri"/>
              </a:rPr>
              <a:t>This one drives on the floor. Know where your power switch is before you upload.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DEAD RECKONING is working out where you are from your speed, your heading and the time, with no outside reference at all. Ships and aircraft navigated this way for centuries, and submersibles still do, because GPS does not work underwater.</a:t>
            </a:r>
          </a:p>
          <a:p>
            <a:pPr algn="l">
              <a:lnSpc>
                <a:spcPct val="100000"/>
              </a:lnSpc>
              <a:spcAft>
                <a:spcPts val="600"/>
              </a:spcAft>
              <a:defRPr sz="2000" b="0">
                <a:solidFill>
                  <a:srgbClr val="222222"/>
                </a:solidFill>
                <a:latin typeface="Calibri"/>
              </a:defRPr>
            </a:pPr>
            <a:r>
              <a:rPr sz="2000" b="0">
                <a:solidFill>
                  <a:srgbClr val="222222"/>
                </a:solidFill>
                <a:latin typeface="Calibri"/>
              </a:rPr>
              <a:t>It DRIFTS. Every small error accumulates and nothing ever corrects it. Yours came from:</a:t>
            </a:r>
          </a:p>
          <a:p>
            <a:pPr lvl="1" algn="l">
              <a:lnSpc>
                <a:spcPct val="100000"/>
              </a:lnSpc>
              <a:spcAft>
                <a:spcPts val="600"/>
              </a:spcAft>
              <a:defRPr sz="2000" b="0">
                <a:solidFill>
                  <a:srgbClr val="222222"/>
                </a:solidFill>
                <a:latin typeface="Calibri"/>
              </a:defRPr>
            </a:pPr>
            <a:r>
              <a:rPr sz="2000" b="0">
                <a:solidFill>
                  <a:srgbClr val="222222"/>
                </a:solidFill>
                <a:latin typeface="Calibri"/>
              </a:rPr>
              <a:t>Battery charge - a fresher pack drives further</a:t>
            </a:r>
          </a:p>
          <a:p>
            <a:pPr lvl="1" algn="l">
              <a:lnSpc>
                <a:spcPct val="100000"/>
              </a:lnSpc>
              <a:spcAft>
                <a:spcPts val="600"/>
              </a:spcAft>
              <a:defRPr sz="2000" b="0">
                <a:solidFill>
                  <a:srgbClr val="222222"/>
                </a:solidFill>
                <a:latin typeface="Calibri"/>
              </a:defRPr>
            </a:pPr>
            <a:r>
              <a:rPr sz="2000" b="0">
                <a:solidFill>
                  <a:srgbClr val="222222"/>
                </a:solidFill>
                <a:latin typeface="Calibri"/>
              </a:rPr>
              <a:t>Floor surface - carpet, tile and concrete all differ</a:t>
            </a:r>
          </a:p>
          <a:p>
            <a:pPr lvl="1" algn="l">
              <a:lnSpc>
                <a:spcPct val="100000"/>
              </a:lnSpc>
              <a:spcAft>
                <a:spcPts val="600"/>
              </a:spcAft>
              <a:defRPr sz="2000" b="0">
                <a:solidFill>
                  <a:srgbClr val="222222"/>
                </a:solidFill>
                <a:latin typeface="Calibri"/>
              </a:defRPr>
            </a:pPr>
            <a:r>
              <a:rPr sz="2000" b="0">
                <a:solidFill>
                  <a:srgbClr val="222222"/>
                </a:solidFill>
                <a:latin typeface="Calibri"/>
              </a:rPr>
              <a:t>Wheel slip in the turns, which skid steering guarantees</a:t>
            </a:r>
          </a:p>
          <a:p>
            <a:pPr lvl="1" algn="l">
              <a:lnSpc>
                <a:spcPct val="100000"/>
              </a:lnSpc>
              <a:spcAft>
                <a:spcPts val="600"/>
              </a:spcAft>
              <a:defRPr sz="2000" b="0">
                <a:solidFill>
                  <a:srgbClr val="222222"/>
                </a:solidFill>
                <a:latin typeface="Calibri"/>
              </a:defRPr>
            </a:pPr>
            <a:r>
              <a:rPr sz="2000" b="0">
                <a:solidFill>
                  <a:srgbClr val="222222"/>
                </a:solidFill>
                <a:latin typeface="Calibri"/>
              </a:rPr>
              <a:t>Motors not perfectly matched to each other</a:t>
            </a:r>
          </a:p>
          <a:p>
            <a:pPr algn="l">
              <a:lnSpc>
                <a:spcPct val="100000"/>
              </a:lnSpc>
              <a:spcAft>
                <a:spcPts val="600"/>
              </a:spcAft>
              <a:defRPr sz="2000" b="0">
                <a:solidFill>
                  <a:srgbClr val="222222"/>
                </a:solidFill>
                <a:latin typeface="Calibri"/>
              </a:defRPr>
            </a:pPr>
            <a:r>
              <a:rPr sz="2000" b="0">
                <a:solidFill>
                  <a:srgbClr val="222222"/>
                </a:solidFill>
                <a:latin typeface="Calibri"/>
              </a:rPr>
              <a:t>The fix is a SENSOR that tells you something true about the outside world. That is where the course goes next.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8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Mark a start line and a finish line with tape. Measure the distance.</a:t>
            </a:r>
          </a:p>
          <a:p>
            <a:pPr algn="l">
              <a:lnSpc>
                <a:spcPct val="100000"/>
              </a:lnSpc>
              <a:spcAft>
                <a:spcPts val="600"/>
              </a:spcAft>
              <a:defRPr sz="2100" b="0">
                <a:solidFill>
                  <a:srgbClr val="222222"/>
                </a:solidFill>
                <a:latin typeface="Calibri"/>
              </a:defRPr>
            </a:pPr>
            <a:r>
              <a:rPr sz="2100" b="0">
                <a:solidFill>
                  <a:srgbClr val="222222"/>
                </a:solidFill>
                <a:latin typeface="Calibri"/>
              </a:rPr>
              <a:t>Line up two or three vehicles. Hold the reset button until the start signal, then let go.</a:t>
            </a:r>
          </a:p>
          <a:p>
            <a:pPr algn="l">
              <a:lnSpc>
                <a:spcPct val="100000"/>
              </a:lnSpc>
              <a:spcAft>
                <a:spcPts val="600"/>
              </a:spcAft>
              <a:defRPr sz="2100" b="0">
                <a:solidFill>
                  <a:srgbClr val="222222"/>
                </a:solidFill>
                <a:latin typeface="Calibri"/>
              </a:defRPr>
            </a:pPr>
            <a:r>
              <a:rPr sz="2100" b="0">
                <a:solidFill>
                  <a:srgbClr val="222222"/>
                </a:solidFill>
                <a:latin typeface="Calibri"/>
              </a:rPr>
              <a:t>Time from start to crossing the line. Speed = distance / time.</a:t>
            </a:r>
          </a:p>
          <a:p>
            <a:pPr algn="l">
              <a:lnSpc>
                <a:spcPct val="100000"/>
              </a:lnSpc>
              <a:spcAft>
                <a:spcPts val="600"/>
              </a:spcAft>
              <a:defRPr sz="2100" b="0">
                <a:solidFill>
                  <a:srgbClr val="222222"/>
                </a:solidFill>
                <a:latin typeface="Calibri"/>
              </a:defRPr>
            </a:pPr>
            <a:r>
              <a:rPr sz="2100" b="0">
                <a:solidFill>
                  <a:srgbClr val="222222"/>
                </a:solidFill>
                <a:latin typeface="Calibri"/>
              </a:rPr>
              <a:t>First across the line INSIDE the lane wins. Leaving the lane does not.</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100" b="0">
                <a:solidFill>
                  <a:srgbClr val="222222"/>
                </a:solidFill>
                <a:latin typeface="Calibri"/>
              </a:defRPr>
            </a:pPr>
            <a:r>
              <a:rPr sz="2100" b="0">
                <a:solidFill>
                  <a:srgbClr val="222222"/>
                </a:solidFill>
                <a:latin typeface="Calibri"/>
              </a:rPr>
              <a:t>If your vehicle pulls to one side, you can add a short turn correction into the program to straighten it.</a:t>
            </a:r>
          </a:p>
          <a:p>
            <a:pPr algn="l">
              <a:lnSpc>
                <a:spcPct val="100000"/>
              </a:lnSpc>
              <a:spcAft>
                <a:spcPts val="600"/>
              </a:spcAft>
              <a:defRPr sz="2100" b="0">
                <a:solidFill>
                  <a:srgbClr val="222222"/>
                </a:solidFill>
                <a:latin typeface="Calibri"/>
              </a:defRPr>
            </a:pPr>
            <a:r>
              <a:rPr sz="21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TextBox 5"/>
          <p:cNvSpPr txBox="1"/>
          <p:nvPr/>
        </p:nvSpPr>
        <p:spPr>
          <a:xfrm>
            <a:off x="502920" y="1188720"/>
            <a:ext cx="5427235"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427235"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87355" y="1188720"/>
            <a:ext cx="5301420"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87355" y="1700784"/>
            <a:ext cx="5301420"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If statements in C</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cplusplus.com/doc/tutorial/control/</a:t>
            </a:r>
          </a:p>
          <a:p>
            <a:pPr algn="l">
              <a:lnSpc>
                <a:spcPct val="100000"/>
              </a:lnSpc>
              <a:spcAft>
                <a:spcPts val="800"/>
              </a:spcAft>
              <a:defRPr sz="1900" b="0">
                <a:solidFill>
                  <a:srgbClr val="222222"/>
                </a:solidFill>
                <a:latin typeface="Calibri"/>
              </a:defRPr>
            </a:pPr>
            <a:r>
              <a:rPr sz="1900" b="0">
                <a:solidFill>
                  <a:srgbClr val="222222"/>
                </a:solidFill>
                <a:latin typeface="Calibri"/>
              </a:rPr>
              <a:t>Loops in C, worked through properly</a:t>
            </a:r>
          </a:p>
          <a:p>
            <a:pPr lvl="1" algn="l">
              <a:lnSpc>
                <a:spcPct val="100000"/>
              </a:lnSpc>
              <a:spcAft>
                <a:spcPts val="800"/>
              </a:spcAft>
              <a:defRPr sz="1900" b="0">
                <a:solidFill>
                  <a:srgbClr val="222222"/>
                </a:solidFill>
                <a:latin typeface="Calibri"/>
              </a:defRPr>
            </a:pPr>
            <a:r>
              <a:rPr sz="1900" b="0">
                <a:solidFill>
                  <a:srgbClr val="222222"/>
                </a:solidFill>
                <a:latin typeface="Calibri"/>
              </a:rPr>
              <a:t>geeksforgeeks.org/c/c-loops/</a:t>
            </a:r>
          </a:p>
          <a:p>
            <a:pPr algn="l">
              <a:lnSpc>
                <a:spcPct val="100000"/>
              </a:lnSpc>
              <a:spcAft>
                <a:spcPts val="800"/>
              </a:spcAft>
              <a:defRPr sz="1900" b="0">
                <a:solidFill>
                  <a:srgbClr val="222222"/>
                </a:solidFill>
                <a:latin typeface="Calibri"/>
              </a:defRPr>
            </a:pPr>
            <a:r>
              <a:rPr sz="1900" b="0">
                <a:solidFill>
                  <a:srgbClr val="222222"/>
                </a:solidFill>
                <a:latin typeface="Calibri"/>
              </a:rPr>
              <a:t>Functions</a:t>
            </a:r>
          </a:p>
          <a:p>
            <a:pPr lvl="1" algn="l">
              <a:lnSpc>
                <a:spcPct val="100000"/>
              </a:lnSpc>
              <a:spcAft>
                <a:spcPts val="800"/>
              </a:spcAft>
              <a:defRPr sz="1900" b="0">
                <a:solidFill>
                  <a:srgbClr val="222222"/>
                </a:solidFill>
                <a:latin typeface="Calibri"/>
              </a:defRPr>
            </a:pPr>
            <a:r>
              <a:rPr sz="1900" b="0">
                <a:solidFill>
                  <a:srgbClr val="222222"/>
                </a:solidFill>
                <a:latin typeface="Calibri"/>
              </a:rPr>
              <a:t>cplusplus.com/doc/tutorial/functions/</a:t>
            </a:r>
          </a:p>
          <a:p>
            <a:pPr algn="l">
              <a:lnSpc>
                <a:spcPct val="100000"/>
              </a:lnSpc>
              <a:spcAft>
                <a:spcPts val="800"/>
              </a:spcAft>
              <a:defRPr sz="1900" b="0">
                <a:solidFill>
                  <a:srgbClr val="222222"/>
                </a:solidFill>
                <a:latin typeface="Calibri"/>
              </a:defRPr>
            </a:pPr>
            <a:r>
              <a:rPr sz="1900" b="0">
                <a:solidFill>
                  <a:srgbClr val="222222"/>
                </a:solidFill>
                <a:latin typeface="Calibri"/>
              </a:rPr>
              <a:t>All of this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8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