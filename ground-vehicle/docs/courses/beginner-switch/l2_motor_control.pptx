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4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4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4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Brushless, with an ESC</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More power for the weight, and far longer life - no brushes to wear out.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Electronic Speed Controller to energise three windings in the right order.</a:t>
            </a:r>
          </a:p>
          <a:p>
            <a:pPr algn="l">
              <a:lnSpc>
                <a:spcPct val="100000"/>
              </a:lnSpc>
              <a:spcAft>
                <a:spcPts val="400"/>
              </a:spcAft>
              <a:defRPr sz="1800" b="0">
                <a:solidFill>
                  <a:srgbClr val="222222"/>
                </a:solidFill>
                <a:latin typeface="Calibri"/>
              </a:defRPr>
            </a:pPr>
            <a:r>
              <a:rPr sz="1800" b="0">
                <a:solidFill>
                  <a:srgbClr val="222222"/>
                </a:solidFill>
                <a:latin typeface="Calibri"/>
              </a:rPr>
              <a:t>The ESC takes a throttle signal, not a direction and a speed.</a:t>
            </a:r>
          </a:p>
          <a:p>
            <a:pPr algn="l">
              <a:lnSpc>
                <a:spcPct val="100000"/>
              </a:lnSpc>
              <a:spcAft>
                <a:spcPts val="400"/>
              </a:spcAft>
              <a:defRPr sz="1800" b="0">
                <a:solidFill>
                  <a:srgbClr val="222222"/>
                </a:solidFill>
                <a:latin typeface="Calibri"/>
              </a:defRPr>
            </a:pPr>
            <a:r>
              <a:rPr sz="1800" b="0">
                <a:solidFill>
                  <a:srgbClr val="222222"/>
                </a:solidFill>
                <a:latin typeface="Calibri"/>
              </a:rPr>
              <a:t>Used on drones, and on our larger vehicles.</a:t>
            </a:r>
          </a:p>
          <a:p>
            <a:pPr algn="l">
              <a:lnSpc>
                <a:spcPct val="100000"/>
              </a:lnSpc>
              <a:spcAft>
                <a:spcPts val="400"/>
              </a:spcAft>
              <a:defRPr sz="1800" b="0">
                <a:solidFill>
                  <a:srgbClr val="222222"/>
                </a:solidFill>
                <a:latin typeface="Calibri"/>
              </a:defRPr>
            </a:pPr>
            <a:r>
              <a:rPr sz="18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435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688336"/>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941064"/>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5303519"/>
            <a:ext cx="7498079"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ledcSetup(channel, freq, bits);</a:t>
            </a:r>
          </a:p>
          <a:p>
            <a:pPr algn="l">
              <a:lnSpc>
                <a:spcPct val="100000"/>
              </a:lnSpc>
              <a:spcAft>
                <a:spcPts val="400"/>
              </a:spcAft>
              <a:defRPr sz="1800" b="0">
                <a:solidFill>
                  <a:srgbClr val="222222"/>
                </a:solidFill>
                <a:latin typeface="Calibri"/>
              </a:defRPr>
            </a:pPr>
            <a:r>
              <a:rPr sz="1800" b="0">
                <a:solidFill>
                  <a:srgbClr val="222222"/>
                </a:solidFill>
                <a:latin typeface="Calibri"/>
              </a:rPr>
              <a:t>ledcAttachPin(pin, channel);</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ledcWrite(channel, duty);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400"/>
              </a:spcAft>
              <a:defRPr sz="1800" b="0">
                <a:solidFill>
                  <a:srgbClr val="222222"/>
                </a:solidFill>
                <a:latin typeface="Calibri"/>
              </a:defRPr>
            </a:pPr>
            <a:r>
              <a:rPr sz="1800" b="0">
                <a:solidFill>
                  <a:srgbClr val="222222"/>
                </a:solidFill>
                <a:latin typeface="Calibri"/>
              </a:rPr>
              <a:t>Resolution 8 bits. That gives duty values 0 to 255, because 2 to the power 8 is 256.</a:t>
            </a:r>
          </a:p>
          <a:p>
            <a:pPr algn="l">
              <a:lnSpc>
                <a:spcPct val="100000"/>
              </a:lnSpc>
              <a:spcAft>
                <a:spcPts val="400"/>
              </a:spcAft>
              <a:defRPr sz="1800" b="0">
                <a:solidFill>
                  <a:srgbClr val="222222"/>
                </a:solidFill>
                <a:latin typeface="Calibri"/>
              </a:defRPr>
            </a:pPr>
            <a:r>
              <a:rPr sz="1800" b="0">
                <a:solidFill>
                  <a:srgbClr val="222222"/>
                </a:solidFill>
                <a:latin typeface="Calibri"/>
              </a:rPr>
              <a:t>0 is off, 128 is about half power, 255 is flat out.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Only the FRONT LEFT motor is driven, so the vehicle cannot run away while you are still finding out what the numbers do.</a:t>
            </a:r>
          </a:p>
          <a:p>
            <a:pPr algn="l">
              <a:lnSpc>
                <a:spcPct val="100000"/>
              </a:lnSpc>
              <a:spcAft>
                <a:spcPts val="600"/>
              </a:spcAft>
              <a:defRPr sz="1800" b="0">
                <a:solidFill>
                  <a:srgbClr val="222222"/>
                </a:solidFill>
                <a:latin typeface="Calibri"/>
              </a:defRPr>
            </a:pPr>
            <a:r>
              <a:rPr sz="1800" b="0">
                <a:solidFill>
                  <a:srgbClr val="222222"/>
                </a:solidFill>
                <a:latin typeface="Calibri"/>
              </a:rPr>
              <a:t>Direction is which pin you drive.</a:t>
            </a:r>
          </a:p>
          <a:p>
            <a:pPr algn="l">
              <a:lnSpc>
                <a:spcPct val="100000"/>
              </a:lnSpc>
              <a:spcAft>
                <a:spcPts val="600"/>
              </a:spcAft>
              <a:defRPr sz="1800" b="0">
                <a:solidFill>
                  <a:srgbClr val="222222"/>
                </a:solidFill>
                <a:latin typeface="Calibri"/>
              </a:defRPr>
            </a:pPr>
            <a:r>
              <a:rPr sz="1800" b="0">
                <a:solidFill>
                  <a:srgbClr val="222222"/>
                </a:solidFill>
                <a:latin typeface="Calibri"/>
              </a:rPr>
              <a:t>Speed is how hard you drive it.</a:t>
            </a:r>
          </a:p>
          <a:p>
            <a:pPr algn="l">
              <a:lnSpc>
                <a:spcPct val="100000"/>
              </a:lnSpc>
              <a:spcAft>
                <a:spcPts val="600"/>
              </a:spcAft>
              <a:defRPr sz="1800" b="0">
                <a:solidFill>
                  <a:srgbClr val="222222"/>
                </a:solidFill>
                <a:latin typeface="Calibri"/>
              </a:defRPr>
            </a:pPr>
            <a:r>
              <a:rPr sz="18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3.  Change SPEED from 200 to 60. Upload. Does the wheel still turn?</a:t>
            </a:r>
          </a:p>
          <a:p>
            <a:pPr algn="l">
              <a:lnSpc>
                <a:spcPct val="100000"/>
              </a:lnSpc>
              <a:spcAft>
                <a:spcPts val="4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was your minimum turning speed?</a:t>
            </a:r>
          </a:p>
          <a:p>
            <a:pPr algn="l">
              <a:lnSpc>
                <a:spcPct val="100000"/>
              </a:lnSpc>
              <a:spcAft>
                <a:spcPts val="200"/>
              </a:spcAft>
              <a:defRPr sz="1800" b="0">
                <a:solidFill>
                  <a:srgbClr val="222222"/>
                </a:solidFill>
                <a:latin typeface="Calibri"/>
              </a:defRPr>
            </a:pPr>
            <a:r>
              <a:rPr sz="1800" b="0">
                <a:solidFill>
                  <a:srgbClr val="222222"/>
                </a:solidFill>
                <a:latin typeface="Calibri"/>
              </a:rPr>
              <a:t>Compare with another group. Are they the same? Why not?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4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4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4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4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400"/>
              </a:spcAft>
              <a:defRPr sz="1800" b="0">
                <a:solidFill>
                  <a:srgbClr val="222222"/>
                </a:solidFill>
                <a:latin typeface="Calibri"/>
              </a:defRPr>
            </a:pPr>
            <a:r>
              <a:rPr sz="1800" b="0">
                <a:solidFill>
                  <a:srgbClr val="222222"/>
                </a:solidFill>
                <a:latin typeface="Calibri"/>
              </a:rPr>
              <a:t>5.  Change PWM_FREQ from 20000 to 300 and upload. LISTEN.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p>
        </p:txBody>
      </p:sp>
      <p:sp>
        <p:nvSpPr>
          <p:cNvPr id="11" name="TextBox 10"/>
          <p:cNvSpPr txBox="1"/>
          <p:nvPr/>
        </p:nvSpPr>
        <p:spPr>
          <a:xfrm>
            <a:off x="411480" y="5212080"/>
            <a:ext cx="128016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 / finish</a:t>
            </a:r>
          </a:p>
        </p:txBody>
      </p:sp>
      <p:sp>
        <p:nvSpPr>
          <p:cNvPr id="12" name="TextBox 11"/>
          <p:cNvSpPr txBox="1"/>
          <p:nvPr/>
        </p:nvSpPr>
        <p:spPr>
          <a:xfrm>
            <a:off x="1280160" y="455371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3" name="TextBox 12"/>
          <p:cNvSpPr txBox="1"/>
          <p:nvPr/>
        </p:nvSpPr>
        <p:spPr>
          <a:xfrm>
            <a:off x="1280160" y="153619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4" name="TextBox 13"/>
          <p:cNvSpPr txBox="1"/>
          <p:nvPr/>
        </p:nvSpPr>
        <p:spPr>
          <a:xfrm>
            <a:off x="4297680" y="153619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5" name="TextBox 14"/>
          <p:cNvSpPr txBox="1"/>
          <p:nvPr/>
        </p:nvSpPr>
        <p:spPr>
          <a:xfrm>
            <a:off x="4297680" y="455371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6" name="TextBox 15"/>
          <p:cNvSpPr txBox="1"/>
          <p:nvPr/>
        </p:nvSpPr>
        <p:spPr>
          <a:xfrm>
            <a:off x="1783080" y="34290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1F3A5F"/>
                </a:solidFill>
                <a:latin typeface="Calibri"/>
              </a:defRPr>
            </a:pPr>
            <a:r>
              <a:rPr sz="1800" b="0">
                <a:solidFill>
                  <a:srgbClr val="1F3A5F"/>
                </a:solidFill>
                <a:latin typeface="Calibri"/>
              </a:rPr>
              <a:t>forward</a:t>
            </a:r>
            <a:br/>
            <a:r>
              <a:rPr sz="1800" b="0">
                <a:solidFill>
                  <a:srgbClr val="1F3A5F"/>
                </a:solidFill>
                <a:latin typeface="Calibri"/>
              </a:rPr>
              <a:t>FORWARD_MS</a:t>
            </a:r>
          </a:p>
        </p:txBody>
      </p:sp>
      <p:sp>
        <p:nvSpPr>
          <p:cNvPr id="17" name="TextBox 16"/>
          <p:cNvSpPr txBox="1"/>
          <p:nvPr/>
        </p:nvSpPr>
        <p:spPr>
          <a:xfrm>
            <a:off x="6263640" y="1325880"/>
            <a:ext cx="5120640"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381609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Then: drive it, measure the side, divide by the</a:t>
            </a:r>
          </a:p>
          <a:p>
            <a:pPr algn="l">
              <a:lnSpc>
                <a:spcPct val="100000"/>
              </a:lnSpc>
              <a:spcAft>
                <a:spcPts val="0"/>
              </a:spcAft>
              <a:defRPr sz="1800" b="0">
                <a:solidFill>
                  <a:srgbClr val="222222"/>
                </a:solidFill>
                <a:latin typeface="Calibri"/>
              </a:defRPr>
            </a:pPr>
            <a:r>
              <a:rPr sz="1800" b="0">
                <a:solidFill>
                  <a:srgbClr val="222222"/>
                </a:solidFill>
                <a:latin typeface="Calibri"/>
              </a:rPr>
              <a:t>time, and you have feet per second for YOUR</a:t>
            </a:r>
          </a:p>
          <a:p>
            <a:pPr algn="l">
              <a:lnSpc>
                <a:spcPct val="100000"/>
              </a:lnSpc>
              <a:spcAft>
                <a:spcPts val="0"/>
              </a:spcAft>
              <a:defRPr sz="1800" b="0">
                <a:solidFill>
                  <a:srgbClr val="222222"/>
                </a:solidFill>
                <a:latin typeface="Calibri"/>
              </a:defRPr>
            </a:pPr>
            <a:r>
              <a:rPr sz="18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6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6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6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6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6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Work out the speed:  side length / (FORWARD_MS / 1000)</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Roughly a square. Roughly.</a:t>
            </a:r>
          </a:p>
          <a:p>
            <a:pPr algn="l">
              <a:lnSpc>
                <a:spcPct val="100000"/>
              </a:lnSpc>
              <a:spcAft>
                <a:spcPts val="200"/>
              </a:spcAft>
              <a:defRPr sz="1800" b="0">
                <a:solidFill>
                  <a:srgbClr val="222222"/>
                </a:solidFill>
                <a:latin typeface="Calibri"/>
              </a:defRPr>
            </a:pPr>
            <a:r>
              <a:rPr sz="18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speed in feet per second?</a:t>
            </a:r>
          </a:p>
          <a:p>
            <a:pPr algn="l">
              <a:lnSpc>
                <a:spcPct val="100000"/>
              </a:lnSpc>
              <a:spcAft>
                <a:spcPts val="200"/>
              </a:spcAft>
              <a:defRPr sz="1800" b="0">
                <a:solidFill>
                  <a:srgbClr val="222222"/>
                </a:solidFill>
                <a:latin typeface="Calibri"/>
              </a:defRPr>
            </a:pPr>
            <a:r>
              <a:rPr sz="1800" b="0">
                <a:solidFill>
                  <a:srgbClr val="222222"/>
                </a:solidFill>
                <a:latin typeface="Calibri"/>
              </a:rPr>
              <a:t>What is its turn rate in degrees per second?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DEAD RECKONING is working out where you are from your speed, your heading and the time - with no outside reference at all.</a:t>
            </a:r>
          </a:p>
          <a:p>
            <a:pPr algn="l">
              <a:lnSpc>
                <a:spcPct val="100000"/>
              </a:lnSpc>
              <a:spcAft>
                <a:spcPts val="900"/>
              </a:spcAft>
              <a:defRPr sz="1800" b="0">
                <a:solidFill>
                  <a:srgbClr val="222222"/>
                </a:solidFill>
                <a:latin typeface="Calibri"/>
              </a:defRPr>
            </a:pPr>
            <a:r>
              <a:rPr sz="1800" b="0">
                <a:solidFill>
                  <a:srgbClr val="222222"/>
                </a:solidFill>
                <a:latin typeface="Calibri"/>
              </a:rPr>
              <a:t>Ships and aircraft navigated this way for centuries. Submersibles still fall back on it, because GPS does not work underwater.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DRIFTS. Every small error accumulates, and nothing ever corrects it. Errors in your square come from:</a:t>
            </a:r>
          </a:p>
          <a:p>
            <a:pPr lvl="1" algn="l">
              <a:lnSpc>
                <a:spcPct val="100000"/>
              </a:lnSpc>
              <a:spcAft>
                <a:spcPts val="900"/>
              </a:spcAft>
              <a:defRPr sz="1800" b="0">
                <a:solidFill>
                  <a:srgbClr val="222222"/>
                </a:solidFill>
                <a:latin typeface="Calibri"/>
              </a:defRPr>
            </a:pPr>
            <a:r>
              <a:rPr sz="1800" b="0">
                <a:solidFill>
                  <a:srgbClr val="222222"/>
                </a:solidFill>
                <a:latin typeface="Calibri"/>
              </a:rPr>
              <a:t>Battery charge - a fresher pack drives further in the same time</a:t>
            </a:r>
          </a:p>
          <a:p>
            <a:pPr lvl="1" algn="l">
              <a:lnSpc>
                <a:spcPct val="100000"/>
              </a:lnSpc>
              <a:spcAft>
                <a:spcPts val="900"/>
              </a:spcAft>
              <a:defRPr sz="1800" b="0">
                <a:solidFill>
                  <a:srgbClr val="222222"/>
                </a:solidFill>
                <a:latin typeface="Calibri"/>
              </a:defRPr>
            </a:pPr>
            <a:r>
              <a:rPr sz="1800" b="0">
                <a:solidFill>
                  <a:srgbClr val="222222"/>
                </a:solidFill>
                <a:latin typeface="Calibri"/>
              </a:rPr>
              <a:t>Floor surface - carpet, tile and concrete all differ</a:t>
            </a:r>
          </a:p>
          <a:p>
            <a:pPr lvl="1" algn="l">
              <a:lnSpc>
                <a:spcPct val="100000"/>
              </a:lnSpc>
              <a:spcAft>
                <a:spcPts val="900"/>
              </a:spcAft>
              <a:defRPr sz="1800" b="0">
                <a:solidFill>
                  <a:srgbClr val="222222"/>
                </a:solidFill>
                <a:latin typeface="Calibri"/>
              </a:defRPr>
            </a:pPr>
            <a:r>
              <a:rPr sz="1800" b="0">
                <a:solidFill>
                  <a:srgbClr val="222222"/>
                </a:solidFill>
                <a:latin typeface="Calibri"/>
              </a:rPr>
              <a:t>Wheel slip during the turns, which skid steering guarantees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Motors that are not perfectly matched to each other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youtube.com/watch?v=UPTU6nYSaMo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4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cplusplus.com/doc/tutorial/control/</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cplusplus.com/doc/tutorial/functions/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Why does each motor need two pins instead of one?</a:t>
            </a:r>
          </a:p>
          <a:p>
            <a:pPr algn="l">
              <a:lnSpc>
                <a:spcPct val="100000"/>
              </a:lnSpc>
              <a:spcAft>
                <a:spcPts val="1000"/>
              </a:spcAft>
              <a:defRPr sz="1800" b="0">
                <a:solidFill>
                  <a:srgbClr val="222222"/>
                </a:solidFill>
                <a:latin typeface="Calibri"/>
              </a:defRPr>
            </a:pPr>
            <a:r>
              <a:rPr sz="1800" b="0">
                <a:solidFill>
                  <a:srgbClr val="222222"/>
                </a:solidFill>
                <a:latin typeface="Calibri"/>
              </a:rPr>
              <a:t>2.  A pin can only be on or off. Explain in one sentence how the vehicle gets a half speed.</a:t>
            </a:r>
          </a:p>
          <a:p>
            <a:pPr algn="l">
              <a:lnSpc>
                <a:spcPct val="100000"/>
              </a:lnSpc>
              <a:spcAft>
                <a:spcPts val="1000"/>
              </a:spcAft>
              <a:defRPr sz="1800" b="0">
                <a:solidFill>
                  <a:srgbClr val="222222"/>
                </a:solidFill>
                <a:latin typeface="Calibri"/>
              </a:defRPr>
            </a:pPr>
            <a:r>
              <a:rPr sz="1800" b="0">
                <a:solidFill>
                  <a:srgbClr val="222222"/>
                </a:solidFill>
                <a:latin typeface="Calibri"/>
              </a:rPr>
              <a:t>3.  What duty value is 25% of full power at 8-bit resolution?</a:t>
            </a:r>
          </a:p>
          <a:p>
            <a:pPr algn="l">
              <a:lnSpc>
                <a:spcPct val="100000"/>
              </a:lnSpc>
              <a:spcAft>
                <a:spcPts val="1000"/>
              </a:spcAft>
              <a:defRPr sz="1800" b="0">
                <a:solidFill>
                  <a:srgbClr val="222222"/>
                </a:solidFill>
                <a:latin typeface="Calibri"/>
              </a:defRPr>
            </a:pPr>
            <a:r>
              <a:rPr sz="1800" b="0">
                <a:solidFill>
                  <a:srgbClr val="222222"/>
                </a:solidFill>
                <a:latin typeface="Calibri"/>
              </a:rPr>
              <a:t>4.  Why do we switch at 20 kHz rather than 300 Hz?</a:t>
            </a:r>
          </a:p>
          <a:p>
            <a:pPr algn="l">
              <a:lnSpc>
                <a:spcPct val="100000"/>
              </a:lnSpc>
              <a:spcAft>
                <a:spcPts val="1000"/>
              </a:spcAft>
              <a:defRPr sz="1800" b="0">
                <a:solidFill>
                  <a:srgbClr val="222222"/>
                </a:solidFill>
                <a:latin typeface="Calibri"/>
              </a:defRPr>
            </a:pPr>
            <a:r>
              <a:rPr sz="1800" b="0">
                <a:solidFill>
                  <a:srgbClr val="222222"/>
                </a:solidFill>
                <a:latin typeface="Calibri"/>
              </a:rPr>
              <a:t>5.  The left wheels get 200 and the right wheels get -200. What does the vehicle do?</a:t>
            </a:r>
          </a:p>
          <a:p>
            <a:pPr algn="l">
              <a:lnSpc>
                <a:spcPct val="100000"/>
              </a:lnSpc>
              <a:spcAft>
                <a:spcPts val="1000"/>
              </a:spcAft>
              <a:defRPr sz="1800" b="0">
                <a:solidFill>
                  <a:srgbClr val="222222"/>
                </a:solidFill>
                <a:latin typeface="Calibri"/>
              </a:defRPr>
            </a:pPr>
            <a:r>
              <a:rPr sz="1800" b="0">
                <a:solidFill>
                  <a:srgbClr val="222222"/>
                </a:solidFill>
                <a:latin typeface="Calibri"/>
              </a:rPr>
              <a:t>6.  Your wheel is 3 inches across. How far does the vehicle travel in one wheel turn?</a:t>
            </a:r>
          </a:p>
          <a:p>
            <a:pPr algn="l">
              <a:lnSpc>
                <a:spcPct val="100000"/>
              </a:lnSpc>
              <a:spcAft>
                <a:spcPts val="1000"/>
              </a:spcAft>
              <a:defRPr sz="1800" b="0">
                <a:solidFill>
                  <a:srgbClr val="222222"/>
                </a:solidFill>
                <a:latin typeface="Calibri"/>
              </a:defRPr>
            </a:pPr>
            <a:r>
              <a:rPr sz="1800" b="0">
                <a:solidFill>
                  <a:srgbClr val="222222"/>
                </a:solidFill>
                <a:latin typeface="Calibri"/>
              </a:rPr>
              <a:t>7.  Your square comes out as a rectangle. Which number is wrong, and which way should you change it?</a:t>
            </a:r>
          </a:p>
          <a:p>
            <a:pPr algn="l">
              <a:lnSpc>
                <a:spcPct val="100000"/>
              </a:lnSpc>
              <a:spcAft>
                <a:spcPts val="1000"/>
              </a:spcAft>
              <a:defRPr sz="1800" b="0">
                <a:solidFill>
                  <a:srgbClr val="222222"/>
                </a:solidFill>
                <a:latin typeface="Calibri"/>
              </a:defRPr>
            </a:pPr>
            <a:r>
              <a:rPr sz="18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