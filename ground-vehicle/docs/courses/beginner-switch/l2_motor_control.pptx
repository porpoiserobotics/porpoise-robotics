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maths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Worth thirty seconds of enthusiasm. Several students each year come for the rover and stay for the ROV.</a:t>
            </a:r>
          </a:p>
          <a:p>
            <a:r>
              <a:rPr sz="1200">
                <a:latin typeface="Calibri"/>
              </a:rPr>
              <a:t>The honest pitch: a mistake on a rover bumps a wall. A mistake on a submersible floods an electronics bay.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371600"/>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32829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1:45</a:t>
                      </a:r>
                    </a:p>
                  </a:txBody>
                  <a:tcPr marL="73152" marT="18288" marB="18288">
                    <a:solidFill>
                      <a:srgbClr val="EEF3F8"/>
                    </a:solidFill>
                  </a:tcPr>
                </a:tc>
                <a:tc>
                  <a:txBody>
                    <a:bodyPr/>
                    <a:lstStyle/>
                    <a:p>
                      <a:r>
                        <a:rPr sz="1400">
                          <a:solidFill>
                            <a:srgbClr val="222222"/>
                          </a:solidFill>
                          <a:latin typeface="Calibri"/>
                        </a:rPr>
                        <a:t>STEM break: Ohm's law, and a circuit on a breadboard</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2:20</a:t>
                      </a:r>
                    </a:p>
                  </a:txBody>
                  <a:tcPr marL="73152" marT="18288" marB="18288">
                    <a:solidFill>
                      <a:srgbClr val="EEF3F8"/>
                    </a:solidFill>
                  </a:tcPr>
                </a:tc>
                <a:tc>
                  <a:txBody>
                    <a:bodyPr/>
                    <a:lstStyle/>
                    <a:p>
                      <a:r>
                        <a:rPr sz="1400">
                          <a:solidFill>
                            <a:srgbClr val="222222"/>
                          </a:solidFill>
                          <a:latin typeface="Calibri"/>
                        </a:rPr>
                        <a:t>Tank drive, mixing, and the maths that predicts the square</a:t>
                      </a:r>
                    </a:p>
                  </a:txBody>
                  <a:tcPr marL="73152" marT="18288" marB="18288">
                    <a:solidFill>
                      <a:srgbClr val="EEF3F8"/>
                    </a:solidFill>
                  </a:tcPr>
                </a:tc>
              </a:tr>
              <a:tr h="298450">
                <a:tc>
                  <a:txBody>
                    <a:bodyPr/>
                    <a:lstStyle/>
                    <a:p>
                      <a:r>
                        <a:rPr sz="1400">
                          <a:solidFill>
                            <a:srgbClr val="222222"/>
                          </a:solidFill>
                          <a:latin typeface="Calibri"/>
                        </a:rPr>
                        <a:t>2:40</a:t>
                      </a:r>
                    </a:p>
                  </a:txBody>
                  <a:tcPr marL="73152" marT="18288" marB="18288">
                    <a:solidFill>
                      <a:srgbClr val="FFFFFF"/>
                    </a:solidFill>
                  </a:tcPr>
                </a:tc>
                <a:tc>
                  <a:txBody>
                    <a:bodyPr/>
                    <a:lstStyle/>
                    <a:p>
                      <a:r>
                        <a:rPr sz="1400">
                          <a:solidFill>
                            <a:srgbClr val="222222"/>
                          </a:solidFill>
                          <a:latin typeface="Calibri"/>
                        </a:rPr>
                        <a:t>Clear the floor. Upload l2c_maneuver_square and tune it</a:t>
                      </a:r>
                    </a:p>
                  </a:txBody>
                  <a:tcPr marL="73152" marT="18288" marB="18288">
                    <a:solidFill>
                      <a:srgbClr val="FFFFFF"/>
                    </a:solidFill>
                  </a:tcPr>
                </a:tc>
              </a:tr>
              <a:tr h="298450">
                <a:tc>
                  <a:txBody>
                    <a:bodyPr/>
                    <a:lstStyle/>
                    <a:p>
                      <a:r>
                        <a:rPr sz="1400">
                          <a:solidFill>
                            <a:srgbClr val="222222"/>
                          </a:solidFill>
                          <a:latin typeface="Calibri"/>
                        </a:rPr>
                        <a:t>2:57</a:t>
                      </a:r>
                    </a:p>
                  </a:txBody>
                  <a:tcPr marL="73152" marT="18288" marB="18288">
                    <a:solidFill>
                      <a:srgbClr val="EEF3F8"/>
                    </a:solidFill>
                  </a:tcPr>
                </a:tc>
                <a:tc>
                  <a:txBody>
                    <a:bodyPr/>
                    <a:lstStyle/>
                    <a:p>
                      <a:r>
                        <a:rPr sz="1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4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4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4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Brushless, with an ESC</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More power for the weight, and far longer life - no brushes to wear out.</a:t>
            </a:r>
          </a:p>
          <a:p>
            <a:pPr algn="l">
              <a:lnSpc>
                <a:spcPct val="100000"/>
              </a:lnSpc>
              <a:spcAft>
                <a:spcPts val="400"/>
              </a:spcAft>
              <a:defRPr sz="1800" b="0">
                <a:solidFill>
                  <a:srgbClr val="222222"/>
                </a:solidFill>
                <a:latin typeface="Calibri"/>
              </a:defRPr>
            </a:pPr>
            <a:r>
              <a:rPr sz="1800" b="0">
                <a:solidFill>
                  <a:srgbClr val="222222"/>
                </a:solidFill>
                <a:latin typeface="Calibri"/>
              </a:rPr>
              <a:t>Needs an Electronic Speed Controller to energise three windings in the right order.</a:t>
            </a:r>
          </a:p>
          <a:p>
            <a:pPr algn="l">
              <a:lnSpc>
                <a:spcPct val="100000"/>
              </a:lnSpc>
              <a:spcAft>
                <a:spcPts val="400"/>
              </a:spcAft>
              <a:defRPr sz="1800" b="0">
                <a:solidFill>
                  <a:srgbClr val="222222"/>
                </a:solidFill>
                <a:latin typeface="Calibri"/>
              </a:defRPr>
            </a:pPr>
            <a:r>
              <a:rPr sz="1800" b="0">
                <a:solidFill>
                  <a:srgbClr val="222222"/>
                </a:solidFill>
                <a:latin typeface="Calibri"/>
              </a:rPr>
              <a:t>The ESC takes a throttle signal, not a direction and a speed.</a:t>
            </a:r>
          </a:p>
          <a:p>
            <a:pPr algn="l">
              <a:lnSpc>
                <a:spcPct val="100000"/>
              </a:lnSpc>
              <a:spcAft>
                <a:spcPts val="400"/>
              </a:spcAft>
              <a:defRPr sz="1800" b="0">
                <a:solidFill>
                  <a:srgbClr val="222222"/>
                </a:solidFill>
                <a:latin typeface="Calibri"/>
              </a:defRPr>
            </a:pPr>
            <a:r>
              <a:rPr sz="1800" b="0">
                <a:solidFill>
                  <a:srgbClr val="222222"/>
                </a:solidFill>
                <a:latin typeface="Calibri"/>
              </a:rPr>
              <a:t>Used on drones, and on our larger vehicles.</a:t>
            </a:r>
          </a:p>
          <a:p>
            <a:pPr algn="l">
              <a:lnSpc>
                <a:spcPct val="100000"/>
              </a:lnSpc>
              <a:spcAft>
                <a:spcPts val="400"/>
              </a:spcAft>
              <a:defRPr sz="1800" b="0">
                <a:solidFill>
                  <a:srgbClr val="222222"/>
                </a:solidFill>
                <a:latin typeface="Calibri"/>
              </a:defRPr>
            </a:pPr>
            <a:r>
              <a:rPr sz="18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is physically happening</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motor is a coil of wire sitting in a magnetic field. Push current through the coil and the field around the coil pushes against the magnets, and the shaft turns.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Reverse the direction of the current and the coil's field reverses with it. Same magnets, same coil, opposite push - so the shaft turns the other way.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the two pins do about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The motor has two terminals. Current flows from the one at the higher voltage to the one at the lower.</a:t>
            </a:r>
          </a:p>
          <a:p>
            <a:pPr algn="l">
              <a:lnSpc>
                <a:spcPct val="100000"/>
              </a:lnSpc>
              <a:spcAft>
                <a:spcPts val="400"/>
              </a:spcAft>
              <a:defRPr sz="1800" b="0">
                <a:solidFill>
                  <a:srgbClr val="222222"/>
                </a:solidFill>
                <a:latin typeface="Calibri"/>
              </a:defRPr>
            </a:pPr>
          </a:p>
          <a:p>
            <a:pPr lvl="1" algn="l">
              <a:lnSpc>
                <a:spcPct val="100000"/>
              </a:lnSpc>
              <a:spcAft>
                <a:spcPts val="4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0 V, B at 3.3 V  -&gt;  current flows B to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is physically happening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That is the whole trick. 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What the two pins do about it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So the pins do not mean "forwards" and "backwards". They mean "this end is positive". Which way the wheel then turns depends on which way round the motor was wired - which is why swapping the two pin numbers in the program fixes a wheel that runs backwards.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How MUCH current flows sets how hard it pushes, and that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 Hold that and the next slide - Ohm's law - is the same idea with a resistor instead of a motor.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435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92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344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688336"/>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145536"/>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596896"/>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941064"/>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398264"/>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849624"/>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5303519"/>
            <a:ext cx="7498079"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second, so this whole picture happens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ledcSetup(channel, freq, bits);</a:t>
            </a:r>
          </a:p>
          <a:p>
            <a:pPr algn="l">
              <a:lnSpc>
                <a:spcPct val="100000"/>
              </a:lnSpc>
              <a:spcAft>
                <a:spcPts val="400"/>
              </a:spcAft>
              <a:defRPr sz="1800" b="0">
                <a:solidFill>
                  <a:srgbClr val="222222"/>
                </a:solidFill>
                <a:latin typeface="Calibri"/>
              </a:defRPr>
            </a:pPr>
            <a:r>
              <a:rPr sz="1800" b="0">
                <a:solidFill>
                  <a:srgbClr val="222222"/>
                </a:solidFill>
                <a:latin typeface="Calibri"/>
              </a:rPr>
              <a:t>ledcAttachPin(pin, channel);</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ledcWrite(channel, duty);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400"/>
              </a:spcAft>
              <a:defRPr sz="1800" b="0">
                <a:solidFill>
                  <a:srgbClr val="222222"/>
                </a:solidFill>
                <a:latin typeface="Calibri"/>
              </a:defRPr>
            </a:pPr>
            <a:r>
              <a:rPr sz="1800" b="0">
                <a:solidFill>
                  <a:srgbClr val="222222"/>
                </a:solidFill>
                <a:latin typeface="Calibri"/>
              </a:rPr>
              <a:t>Resolution 8 bits. That gives duty values 0 to 255, because 2 to the power 8 is 256.</a:t>
            </a:r>
          </a:p>
          <a:p>
            <a:pPr algn="l">
              <a:lnSpc>
                <a:spcPct val="100000"/>
              </a:lnSpc>
              <a:spcAft>
                <a:spcPts val="400"/>
              </a:spcAft>
              <a:defRPr sz="1800" b="0">
                <a:solidFill>
                  <a:srgbClr val="222222"/>
                </a:solidFill>
                <a:latin typeface="Calibri"/>
              </a:defRPr>
            </a:pPr>
            <a:r>
              <a:rPr sz="1800" b="0">
                <a:solidFill>
                  <a:srgbClr val="222222"/>
                </a:solidFill>
                <a:latin typeface="Calibri"/>
              </a:rPr>
              <a:t>0 is off, 128 is about half power, 255 is flat out.</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advanced program uses 10 bits, 0 to 1023, for finer control at low speed.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Only the FRONT LEFT motor is driven, so the vehicle cannot run away while you are still finding out what the numbers do.</a:t>
            </a:r>
          </a:p>
          <a:p>
            <a:pPr algn="l">
              <a:lnSpc>
                <a:spcPct val="100000"/>
              </a:lnSpc>
              <a:spcAft>
                <a:spcPts val="600"/>
              </a:spcAft>
              <a:defRPr sz="1800" b="0">
                <a:solidFill>
                  <a:srgbClr val="222222"/>
                </a:solidFill>
                <a:latin typeface="Calibri"/>
              </a:defRPr>
            </a:pPr>
            <a:r>
              <a:rPr sz="1800" b="0">
                <a:solidFill>
                  <a:srgbClr val="222222"/>
                </a:solidFill>
                <a:latin typeface="Calibri"/>
              </a:rPr>
              <a:t>Direction is which pin you drive.</a:t>
            </a:r>
          </a:p>
          <a:p>
            <a:pPr algn="l">
              <a:lnSpc>
                <a:spcPct val="100000"/>
              </a:lnSpc>
              <a:spcAft>
                <a:spcPts val="600"/>
              </a:spcAft>
              <a:defRPr sz="1800" b="0">
                <a:solidFill>
                  <a:srgbClr val="222222"/>
                </a:solidFill>
                <a:latin typeface="Calibri"/>
              </a:defRPr>
            </a:pPr>
            <a:r>
              <a:rPr sz="1800" b="0">
                <a:solidFill>
                  <a:srgbClr val="222222"/>
                </a:solidFill>
                <a:latin typeface="Calibri"/>
              </a:rPr>
              <a:t>Speed is how hard you drive it.</a:t>
            </a:r>
          </a:p>
          <a:p>
            <a:pPr algn="l">
              <a:lnSpc>
                <a:spcPct val="100000"/>
              </a:lnSpc>
              <a:spcAft>
                <a:spcPts val="600"/>
              </a:spcAft>
              <a:defRPr sz="1800" b="0">
                <a:solidFill>
                  <a:srgbClr val="222222"/>
                </a:solidFill>
                <a:latin typeface="Calibri"/>
              </a:defRPr>
            </a:pPr>
            <a:r>
              <a:rPr sz="1800" b="0">
                <a:solidFill>
                  <a:srgbClr val="222222"/>
                </a:solidFill>
                <a:latin typeface="Calibri"/>
              </a:rPr>
              <a:t>Both off is a coast. Both ON would be a hard brake - the advanced course uses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against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3.  Change SPEED from 200 to 60. Upload. Does the wheel still turn?</a:t>
            </a:r>
          </a:p>
          <a:p>
            <a:pPr algn="l">
              <a:lnSpc>
                <a:spcPct val="100000"/>
              </a:lnSpc>
              <a:spcAft>
                <a:spcPts val="4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was your minimum turning speed?</a:t>
            </a:r>
          </a:p>
          <a:p>
            <a:pPr algn="l">
              <a:lnSpc>
                <a:spcPct val="100000"/>
              </a:lnSpc>
              <a:spcAft>
                <a:spcPts val="200"/>
              </a:spcAft>
              <a:defRPr sz="1800" b="0">
                <a:solidFill>
                  <a:srgbClr val="222222"/>
                </a:solidFill>
                <a:latin typeface="Calibri"/>
              </a:defRPr>
            </a:pPr>
            <a:r>
              <a:rPr sz="1800" b="0">
                <a:solidFill>
                  <a:srgbClr val="222222"/>
                </a:solidFill>
                <a:latin typeface="Calibri"/>
              </a:rPr>
              <a:t>Compare with another group. Are they the same? Why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4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9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will meet the deadzone next lesson.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4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4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4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400"/>
              </a:spcAft>
              <a:defRPr sz="1800" b="0">
                <a:solidFill>
                  <a:srgbClr val="222222"/>
                </a:solidFill>
                <a:latin typeface="Calibri"/>
              </a:defRPr>
            </a:pPr>
            <a:r>
              <a:rPr sz="1800" b="0">
                <a:solidFill>
                  <a:srgbClr val="222222"/>
                </a:solidFill>
                <a:latin typeface="Calibri"/>
              </a:rPr>
              <a:t>5.  Change PWM_FREQ from 20000 to 300 and upload. LISTEN.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met these in Lesson 1 when you sized the resistor for your LED. Here they are properly.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VOLTAGE (V), in volts. The push. How hard the supply is trying to move charge round the circuit.</a:t>
            </a:r>
          </a:p>
          <a:p>
            <a:pPr algn="l">
              <a:lnSpc>
                <a:spcPct val="100000"/>
              </a:lnSpc>
              <a:spcAft>
                <a:spcPts val="900"/>
              </a:spcAft>
              <a:defRPr sz="1800" b="0">
                <a:solidFill>
                  <a:srgbClr val="222222"/>
                </a:solidFill>
                <a:latin typeface="Calibri"/>
              </a:defRPr>
            </a:pPr>
            <a:r>
              <a:rPr sz="1800" b="0">
                <a:solidFill>
                  <a:srgbClr val="222222"/>
                </a:solidFill>
                <a:latin typeface="Calibri"/>
              </a:rPr>
              <a:t>CURRENT (I), in amps. The flow. How much charge is actually moving past a point each second.</a:t>
            </a:r>
          </a:p>
          <a:p>
            <a:pPr algn="l">
              <a:lnSpc>
                <a:spcPct val="100000"/>
              </a:lnSpc>
              <a:spcAft>
                <a:spcPts val="900"/>
              </a:spcAft>
              <a:defRPr sz="1800" b="0">
                <a:solidFill>
                  <a:srgbClr val="222222"/>
                </a:solidFill>
                <a:latin typeface="Calibri"/>
              </a:defRPr>
            </a:pPr>
            <a:r>
              <a:rPr sz="1800" b="0">
                <a:solidFill>
                  <a:srgbClr val="222222"/>
                </a:solidFill>
                <a:latin typeface="Calibri"/>
              </a:rPr>
              <a:t>RESISTANCE (R), in ohms. The opposition. How much the circuit fights the flow.</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Practise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V = 12 volts, I = 15 mA.  R = ?</a:t>
            </a:r>
          </a:p>
          <a:p>
            <a:pPr lvl="1" algn="l">
              <a:lnSpc>
                <a:spcPct val="100000"/>
              </a:lnSpc>
              <a:spcAft>
                <a:spcPts val="900"/>
              </a:spcAft>
              <a:defRPr sz="1800" b="0">
                <a:solidFill>
                  <a:srgbClr val="222222"/>
                </a:solidFill>
                <a:latin typeface="Calibri"/>
              </a:defRPr>
            </a:pPr>
            <a:r>
              <a:rPr sz="1800" b="0">
                <a:solidFill>
                  <a:srgbClr val="222222"/>
                </a:solidFill>
                <a:latin typeface="Calibri"/>
              </a:rPr>
              <a:t>     (careful: convert milliamps to amps first)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2.  V = 12 volts, R = 220 ohms.  I =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Practise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3.  I = 2 mA, R = 1.5k ohms.  V = ?</a:t>
            </a:r>
          </a:p>
          <a:p>
            <a:pPr lvl="1" algn="l">
              <a:lnSpc>
                <a:spcPct val="100000"/>
              </a:lnSpc>
              <a:spcAft>
                <a:spcPts val="900"/>
              </a:spcAft>
              <a:defRPr sz="1800" b="0">
                <a:solidFill>
                  <a:srgbClr val="222222"/>
                </a:solidFill>
                <a:latin typeface="Calibri"/>
              </a:defRPr>
            </a:pPr>
            <a:r>
              <a:rPr sz="1800" b="0">
                <a:solidFill>
                  <a:srgbClr val="222222"/>
                </a:solidFill>
                <a:latin typeface="Calibri"/>
              </a:rPr>
              <a:t>     (1.5k means 1500 ohms)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4.  Your vehicle's battery is 16 V. A motor stalls and draws 3 amps. What resistance is it presenting?</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SERIES. Your LED circuit from Lesson 1: supply, resistor, LED, back to ground. One loop, one current.</a:t>
            </a:r>
          </a:p>
          <a:p>
            <a:pPr lvl="1" algn="l">
              <a:lnSpc>
                <a:spcPct val="100000"/>
              </a:lnSpc>
              <a:spcAft>
                <a:spcPts val="900"/>
              </a:spcAft>
              <a:defRPr sz="1800" b="0">
                <a:solidFill>
                  <a:srgbClr val="222222"/>
                </a:solidFill>
                <a:latin typeface="Calibri"/>
              </a:defRPr>
            </a:pPr>
            <a:r>
              <a:rPr sz="1800" b="0">
                <a:solidFill>
                  <a:srgbClr val="222222"/>
                </a:solidFill>
                <a:latin typeface="Calibri"/>
              </a:rPr>
              <a:t>Add resistance and the current everywhere drops.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PARALLEL. The four motors. Each one hangs across the same supply, so each gets the full battery voltage, and the currents add up.</a:t>
            </a:r>
          </a:p>
          <a:p>
            <a:pPr lvl="1" algn="l">
              <a:lnSpc>
                <a:spcPct val="100000"/>
              </a:lnSpc>
              <a:spcAft>
                <a:spcPts val="900"/>
              </a:spcAft>
              <a:defRPr sz="1800" b="0">
                <a:solidFill>
                  <a:srgbClr val="222222"/>
                </a:solidFill>
                <a:latin typeface="Calibri"/>
              </a:defRPr>
            </a:pPr>
            <a:r>
              <a:rPr sz="1800" b="0">
                <a:solidFill>
                  <a:srgbClr val="222222"/>
                </a:solidFill>
                <a:latin typeface="Calibri"/>
              </a:rPr>
              <a:t>Four motors at 1.5 A each is 6 A out of the battery.</a:t>
            </a:r>
          </a:p>
          <a:p>
            <a:pPr lvl="1" algn="l">
              <a:lnSpc>
                <a:spcPct val="100000"/>
              </a:lnSpc>
              <a:spcAft>
                <a:spcPts val="900"/>
              </a:spcAft>
              <a:defRPr sz="1800" b="0">
                <a:solidFill>
                  <a:srgbClr val="222222"/>
                </a:solidFill>
                <a:latin typeface="Calibri"/>
              </a:defRPr>
            </a:pPr>
            <a:r>
              <a:rPr sz="1800" b="0">
                <a:solidFill>
                  <a:srgbClr val="222222"/>
                </a:solidFill>
                <a:latin typeface="Calibri"/>
              </a:rPr>
              <a:t>That is why the battery goes flat four times faster with all four driving than with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32 LEDs are in parallel too. Each pixel draws its own current from the same 5 V rail, which is exactly why the power budget in Lesson 4 adds up the way it does.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cxnSp>
        <p:nvCxnSpPr>
          <p:cNvPr id="6" name="Connector 5"/>
          <p:cNvCxnSpPr/>
          <p:nvPr/>
        </p:nvCxnSpPr>
        <p:spPr>
          <a:xfrm flipV="1">
            <a:off x="1874520" y="224028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224028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224028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89204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338328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55448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338328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521208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77316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212140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212140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77316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137160" y="5166360"/>
            <a:ext cx="155448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137160" y="5550408"/>
            <a:ext cx="155448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137160" y="5897880"/>
            <a:ext cx="1554480" cy="646684"/>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45920"/>
            <a:ext cx="5120640" cy="105156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880360"/>
            <a:ext cx="5120640" cy="381609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it, measure one side, divide by the time, and</a:t>
            </a:r>
          </a:p>
          <a:p>
            <a:pPr algn="l">
              <a:lnSpc>
                <a:spcPct val="100000"/>
              </a:lnSpc>
              <a:spcAft>
                <a:spcPts val="0"/>
              </a:spcAft>
              <a:defRPr sz="1800" b="0">
                <a:solidFill>
                  <a:srgbClr val="222222"/>
                </a:solidFill>
                <a:latin typeface="Calibri"/>
              </a:defRPr>
            </a:pPr>
            <a:r>
              <a:rPr sz="1800" b="0">
                <a:solidFill>
                  <a:srgbClr val="222222"/>
                </a:solidFill>
                <a:latin typeface="Calibri"/>
              </a:rPr>
              <a:t>you have feet per second for YOUR vehicle on THIS</a:t>
            </a:r>
          </a:p>
          <a:p>
            <a:pPr algn="l">
              <a:lnSpc>
                <a:spcPct val="100000"/>
              </a:lnSpc>
              <a:spcAft>
                <a:spcPts val="0"/>
              </a:spcAft>
              <a:defRPr sz="1800" b="0">
                <a:solidFill>
                  <a:srgbClr val="222222"/>
                </a:solidFill>
                <a:latin typeface="Calibri"/>
              </a:defRPr>
            </a:pPr>
            <a:r>
              <a:rPr sz="1800" b="0">
                <a:solidFill>
                  <a:srgbClr val="222222"/>
                </a:solidFill>
                <a:latin typeface="Calibri"/>
              </a:rPr>
              <a:t>floor with THIS battery charge.</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1638300"/>
        </p:xfrm>
        <a:graphic>
          <a:graphicData uri="http://schemas.openxmlformats.org/drawingml/2006/table">
            <a:tbl>
              <a:tblPr firstRow="1" bandRow="1">
                <a:tableStyleId>{5C22544A-7EE6-4342-B048-85BDC9FD1C3A}</a:tableStyleId>
              </a:tblPr>
              <a:tblGrid>
                <a:gridCol w="1423654"/>
                <a:gridCol w="2643929"/>
                <a:gridCol w="7118271"/>
              </a:tblGrid>
              <a:tr h="409575">
                <a:tc>
                  <a:txBody>
                    <a:bodyPr/>
                    <a:lstStyle/>
                    <a:p>
                      <a:r>
                        <a:rPr sz="1400" b="1">
                          <a:solidFill>
                            <a:srgbClr val="FFFFFF"/>
                          </a:solidFill>
                          <a:latin typeface="Calibri"/>
                        </a:rPr>
                        <a:t>Loop</a:t>
                      </a:r>
                    </a:p>
                  </a:txBody>
                  <a:tcPr marL="73152" marT="18288" marB="18288">
                    <a:solidFill>
                      <a:srgbClr val="1F3A5F"/>
                    </a:solidFill>
                  </a:tcPr>
                </a:tc>
                <a:tc>
                  <a:txBody>
                    <a:bodyPr/>
                    <a:lstStyle/>
                    <a:p>
                      <a:r>
                        <a:rPr sz="1400" b="1">
                          <a:solidFill>
                            <a:srgbClr val="FFFFFF"/>
                          </a:solidFill>
                          <a:latin typeface="Calibri"/>
                        </a:rPr>
                        <a:t>When the test happens</a:t>
                      </a:r>
                    </a:p>
                  </a:txBody>
                  <a:tcPr marL="73152" marT="18288" marB="18288">
                    <a:solidFill>
                      <a:srgbClr val="1F3A5F"/>
                    </a:solidFill>
                  </a:tcPr>
                </a:tc>
                <a:tc>
                  <a:txBody>
                    <a:bodyPr/>
                    <a:lstStyle/>
                    <a:p>
                      <a:r>
                        <a:rPr sz="1400" b="1">
                          <a:solidFill>
                            <a:srgbClr val="FFFFFF"/>
                          </a:solidFill>
                          <a:latin typeface="Calibri"/>
                        </a:rPr>
                        <a:t>Use it when</a:t>
                      </a:r>
                    </a:p>
                  </a:txBody>
                  <a:tcPr marL="73152" marT="18288" marB="18288">
                    <a:solidFill>
                      <a:srgbClr val="1F3A5F"/>
                    </a:solidFill>
                  </a:tcPr>
                </a:tc>
              </a:tr>
              <a:tr h="409575">
                <a:tc>
                  <a:txBody>
                    <a:bodyPr/>
                    <a:lstStyle/>
                    <a:p>
                      <a:r>
                        <a:rPr sz="1400">
                          <a:solidFill>
                            <a:srgbClr val="222222"/>
                          </a:solidFill>
                          <a:latin typeface="Calibri"/>
                        </a:rPr>
                        <a:t>for</a:t>
                      </a:r>
                    </a:p>
                  </a:txBody>
                  <a:tcPr marL="73152" marT="18288" marB="18288">
                    <a:solidFill>
                      <a:srgbClr val="FFFFFF"/>
                    </a:solidFill>
                  </a:tcPr>
                </a:tc>
                <a:tc>
                  <a:txBody>
                    <a:bodyPr/>
                    <a:lstStyle/>
                    <a:p>
                      <a:r>
                        <a:rPr sz="1400">
                          <a:solidFill>
                            <a:srgbClr val="222222"/>
                          </a:solidFill>
                          <a:latin typeface="Calibri"/>
                        </a:rPr>
                        <a:t>Before each pass</a:t>
                      </a:r>
                    </a:p>
                  </a:txBody>
                  <a:tcPr marL="73152" marT="18288" marB="18288">
                    <a:solidFill>
                      <a:srgbClr val="FFFFFF"/>
                    </a:solidFill>
                  </a:tcPr>
                </a:tc>
                <a:tc>
                  <a:txBody>
                    <a:bodyPr/>
                    <a:lstStyle/>
                    <a:p>
                      <a:r>
                        <a:rPr sz="1400">
                          <a:solidFill>
                            <a:srgbClr val="222222"/>
                          </a:solidFill>
                          <a:latin typeface="Calibri"/>
                        </a:rPr>
                        <a:t>You know how many times. Stepping through the 32 LEDs, or four sides of a square.</a:t>
                      </a:r>
                    </a:p>
                  </a:txBody>
                  <a:tcPr marL="73152" marT="18288" marB="18288">
                    <a:solidFill>
                      <a:srgbClr val="FFFFFF"/>
                    </a:solidFill>
                  </a:tcPr>
                </a:tc>
              </a:tr>
              <a:tr h="409575">
                <a:tc>
                  <a:txBody>
                    <a:bodyPr/>
                    <a:lstStyle/>
                    <a:p>
                      <a:r>
                        <a:rPr sz="1400">
                          <a:solidFill>
                            <a:srgbClr val="222222"/>
                          </a:solidFill>
                          <a:latin typeface="Calibri"/>
                        </a:rPr>
                        <a:t>while</a:t>
                      </a:r>
                    </a:p>
                  </a:txBody>
                  <a:tcPr marL="73152" marT="18288" marB="18288">
                    <a:solidFill>
                      <a:srgbClr val="EEF3F8"/>
                    </a:solidFill>
                  </a:tcPr>
                </a:tc>
                <a:tc>
                  <a:txBody>
                    <a:bodyPr/>
                    <a:lstStyle/>
                    <a:p>
                      <a:r>
                        <a:rPr sz="1400">
                          <a:solidFill>
                            <a:srgbClr val="222222"/>
                          </a:solidFill>
                          <a:latin typeface="Calibri"/>
                        </a:rPr>
                        <a:t>Before each pass</a:t>
                      </a:r>
                    </a:p>
                  </a:txBody>
                  <a:tcPr marL="73152" marT="18288" marB="18288">
                    <a:solidFill>
                      <a:srgbClr val="EEF3F8"/>
                    </a:solidFill>
                  </a:tcPr>
                </a:tc>
                <a:tc>
                  <a:txBody>
                    <a:bodyPr/>
                    <a:lstStyle/>
                    <a:p>
                      <a:r>
                        <a:rPr sz="1400">
                          <a:solidFill>
                            <a:srgbClr val="222222"/>
                          </a:solidFill>
                          <a:latin typeface="Calibri"/>
                        </a:rPr>
                        <a:t>You do not know how many times. It depends on a condition, and it might not run at all.</a:t>
                      </a:r>
                    </a:p>
                  </a:txBody>
                  <a:tcPr marL="73152" marT="18288" marB="18288">
                    <a:solidFill>
                      <a:srgbClr val="EEF3F8"/>
                    </a:solidFill>
                  </a:tcPr>
                </a:tc>
              </a:tr>
              <a:tr h="409575">
                <a:tc>
                  <a:txBody>
                    <a:bodyPr/>
                    <a:lstStyle/>
                    <a:p>
                      <a:r>
                        <a:rPr sz="1400">
                          <a:solidFill>
                            <a:srgbClr val="222222"/>
                          </a:solidFill>
                          <a:latin typeface="Calibri"/>
                        </a:rPr>
                        <a:t>do-while</a:t>
                      </a:r>
                    </a:p>
                  </a:txBody>
                  <a:tcPr marL="73152" marT="18288" marB="18288">
                    <a:solidFill>
                      <a:srgbClr val="FFFFFF"/>
                    </a:solidFill>
                  </a:tcPr>
                </a:tc>
                <a:tc>
                  <a:txBody>
                    <a:bodyPr/>
                    <a:lstStyle/>
                    <a:p>
                      <a:r>
                        <a:rPr sz="1400">
                          <a:solidFill>
                            <a:srgbClr val="222222"/>
                          </a:solidFill>
                          <a:latin typeface="Calibri"/>
                        </a:rPr>
                        <a:t>After each pass</a:t>
                      </a:r>
                    </a:p>
                  </a:txBody>
                  <a:tcPr marL="73152" marT="18288" marB="18288">
                    <a:solidFill>
                      <a:srgbClr val="FFFFFF"/>
                    </a:solidFill>
                  </a:tcPr>
                </a:tc>
                <a:tc>
                  <a:txBody>
                    <a:bodyPr/>
                    <a:lstStyle/>
                    <a:p>
                      <a:r>
                        <a:rPr sz="1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for  -  a known number of passes</a:t>
            </a:r>
          </a:p>
          <a:p>
            <a:pPr algn="l">
              <a:lnSpc>
                <a:spcPct val="100000"/>
              </a:lnSpc>
              <a:spcAft>
                <a:spcPts val="0"/>
              </a:spcAft>
              <a:defRPr sz="1300">
                <a:latin typeface="Consolas"/>
              </a:defRPr>
            </a:pPr>
            <a:r>
              <a:rPr sz="1300" b="1">
                <a:solidFill>
                  <a:srgbClr val="0E7C86"/>
                </a:solidFill>
                <a:latin typeface="Consolas"/>
              </a:rPr>
              <a:t>for (int i = 0; i &lt; 32; i++) {</a:t>
            </a:r>
          </a:p>
          <a:p>
            <a:pPr algn="l">
              <a:lnSpc>
                <a:spcPct val="100000"/>
              </a:lnSpc>
              <a:spcAft>
                <a:spcPts val="0"/>
              </a:spcAft>
              <a:defRPr sz="1300">
                <a:latin typeface="Consolas"/>
              </a:defRPr>
            </a:pPr>
            <a:r>
              <a:rPr sz="1300">
                <a:solidFill>
                  <a:srgbClr val="222222"/>
                </a:solidFill>
                <a:latin typeface="Consolas"/>
              </a:rPr>
              <a:t>  strip.setPixelColor(i, colour);</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while  -  keep going until something changes</a:t>
            </a:r>
          </a:p>
          <a:p>
            <a:pPr algn="l">
              <a:lnSpc>
                <a:spcPct val="100000"/>
              </a:lnSpc>
              <a:spcAft>
                <a:spcPts val="0"/>
              </a:spcAft>
              <a:defRPr sz="1300">
                <a:latin typeface="Consolas"/>
              </a:defRPr>
            </a:pPr>
            <a:r>
              <a:rPr sz="1300" b="1">
                <a:solidFill>
                  <a:srgbClr val="0E7C86"/>
                </a:solidFill>
                <a:latin typeface="Consolas"/>
              </a:rPr>
              <a:t>while (!Ps3.isConnected()) {</a:t>
            </a:r>
          </a:p>
          <a:p>
            <a:pPr algn="l">
              <a:lnSpc>
                <a:spcPct val="100000"/>
              </a:lnSpc>
              <a:spcAft>
                <a:spcPts val="0"/>
              </a:spcAft>
              <a:defRPr sz="1300">
                <a:latin typeface="Consolas"/>
              </a:defRPr>
            </a:pPr>
            <a:r>
              <a:rPr sz="1300">
                <a:solidFill>
                  <a:srgbClr val="222222"/>
                </a:solidFill>
                <a:latin typeface="Consolas"/>
              </a:rPr>
              <a:t>  showWaitingLights();        // may never run at all</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do-while  -  always at least one pass</a:t>
            </a:r>
          </a:p>
          <a:p>
            <a:pPr algn="l">
              <a:lnSpc>
                <a:spcPct val="100000"/>
              </a:lnSpc>
              <a:spcAft>
                <a:spcPts val="0"/>
              </a:spcAft>
              <a:defRPr sz="1300">
                <a:latin typeface="Consolas"/>
              </a:defRPr>
            </a:pPr>
            <a:r>
              <a:rPr sz="1300" b="1">
                <a:solidFill>
                  <a:srgbClr val="0E7C86"/>
                </a:solidFill>
                <a:latin typeface="Consolas"/>
              </a:rPr>
              <a:t>do {</a:t>
            </a:r>
          </a:p>
          <a:p>
            <a:pPr algn="l">
              <a:lnSpc>
                <a:spcPct val="100000"/>
              </a:lnSpc>
              <a:spcAft>
                <a:spcPts val="0"/>
              </a:spcAft>
              <a:defRPr sz="1300">
                <a:latin typeface="Consolas"/>
              </a:defRPr>
            </a:pPr>
            <a:r>
              <a:rPr sz="1300">
                <a:solidFill>
                  <a:srgbClr val="222222"/>
                </a:solidFill>
                <a:latin typeface="Consolas"/>
              </a:rPr>
              <a:t>  reading = analogRead(PIN);  // take a reading FIRST,</a:t>
            </a:r>
          </a:p>
          <a:p>
            <a:pPr algn="l">
              <a:lnSpc>
                <a:spcPct val="100000"/>
              </a:lnSpc>
              <a:spcAft>
                <a:spcPts val="0"/>
              </a:spcAft>
              <a:defRPr sz="1300">
                <a:latin typeface="Consolas"/>
              </a:defRPr>
            </a:pPr>
            <a:r>
              <a:rPr sz="13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6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6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6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6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6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a space about three metres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Work out the speed:  side length / (FORWARD_MS / 1000)</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Roughly a square. Roughly.</a:t>
            </a:r>
          </a:p>
          <a:p>
            <a:pPr algn="l">
              <a:lnSpc>
                <a:spcPct val="100000"/>
              </a:lnSpc>
              <a:spcAft>
                <a:spcPts val="200"/>
              </a:spcAft>
              <a:defRPr sz="1800" b="0">
                <a:solidFill>
                  <a:srgbClr val="222222"/>
                </a:solidFill>
                <a:latin typeface="Calibri"/>
              </a:defRPr>
            </a:pPr>
            <a:r>
              <a:rPr sz="18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your vehicle's speed in feet per second?</a:t>
            </a:r>
          </a:p>
          <a:p>
            <a:pPr algn="l">
              <a:lnSpc>
                <a:spcPct val="100000"/>
              </a:lnSpc>
              <a:spcAft>
                <a:spcPts val="200"/>
              </a:spcAft>
              <a:defRPr sz="1800" b="0">
                <a:solidFill>
                  <a:srgbClr val="222222"/>
                </a:solidFill>
                <a:latin typeface="Calibri"/>
              </a:defRPr>
            </a:pPr>
            <a:r>
              <a:rPr sz="1800" b="0">
                <a:solidFill>
                  <a:srgbClr val="222222"/>
                </a:solidFill>
                <a:latin typeface="Calibri"/>
              </a:rPr>
              <a:t>What is its turn rate in degrees per second?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DEAD RECKONING is working out where you are from your speed, your heading and the time - with no outside reference at all.</a:t>
            </a:r>
          </a:p>
          <a:p>
            <a:pPr algn="l">
              <a:lnSpc>
                <a:spcPct val="100000"/>
              </a:lnSpc>
              <a:spcAft>
                <a:spcPts val="900"/>
              </a:spcAft>
              <a:defRPr sz="1800" b="0">
                <a:solidFill>
                  <a:srgbClr val="222222"/>
                </a:solidFill>
                <a:latin typeface="Calibri"/>
              </a:defRPr>
            </a:pPr>
            <a:r>
              <a:rPr sz="1800" b="0">
                <a:solidFill>
                  <a:srgbClr val="222222"/>
                </a:solidFill>
                <a:latin typeface="Calibri"/>
              </a:rPr>
              <a:t>Ships and aircraft navigated this way for centuries. Submersibles still fall back on it, because GPS does not work underwater.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DRIFTS. Every small error accumulates, and nothing ever corrects it. Errors in your square come from:</a:t>
            </a:r>
          </a:p>
          <a:p>
            <a:pPr lvl="1" algn="l">
              <a:lnSpc>
                <a:spcPct val="100000"/>
              </a:lnSpc>
              <a:spcAft>
                <a:spcPts val="900"/>
              </a:spcAft>
              <a:defRPr sz="1800" b="0">
                <a:solidFill>
                  <a:srgbClr val="222222"/>
                </a:solidFill>
                <a:latin typeface="Calibri"/>
              </a:defRPr>
            </a:pPr>
            <a:r>
              <a:rPr sz="1800" b="0">
                <a:solidFill>
                  <a:srgbClr val="222222"/>
                </a:solidFill>
                <a:latin typeface="Calibri"/>
              </a:rPr>
              <a:t>Battery charge - a fresher pack drives further in the same time</a:t>
            </a:r>
          </a:p>
          <a:p>
            <a:pPr lvl="1" algn="l">
              <a:lnSpc>
                <a:spcPct val="100000"/>
              </a:lnSpc>
              <a:spcAft>
                <a:spcPts val="900"/>
              </a:spcAft>
              <a:defRPr sz="1800" b="0">
                <a:solidFill>
                  <a:srgbClr val="222222"/>
                </a:solidFill>
                <a:latin typeface="Calibri"/>
              </a:defRPr>
            </a:pPr>
            <a:r>
              <a:rPr sz="1800" b="0">
                <a:solidFill>
                  <a:srgbClr val="222222"/>
                </a:solidFill>
                <a:latin typeface="Calibri"/>
              </a:rPr>
              <a:t>Floor surface - carpet, tile and concrete all differ</a:t>
            </a:r>
          </a:p>
          <a:p>
            <a:pPr lvl="1" algn="l">
              <a:lnSpc>
                <a:spcPct val="100000"/>
              </a:lnSpc>
              <a:spcAft>
                <a:spcPts val="900"/>
              </a:spcAft>
              <a:defRPr sz="1800" b="0">
                <a:solidFill>
                  <a:srgbClr val="222222"/>
                </a:solidFill>
                <a:latin typeface="Calibri"/>
              </a:defRPr>
            </a:pPr>
            <a:r>
              <a:rPr sz="1800" b="0">
                <a:solidFill>
                  <a:srgbClr val="222222"/>
                </a:solidFill>
                <a:latin typeface="Calibri"/>
              </a:rPr>
              <a:t>Wheel slip during the turns, which skid steering guarantees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Motors that are not perfectly matched to each other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ideas, underwater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5227168" cy="3931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Explorer Gen 2 ROV is built from the pieces you just met: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An ESP32, like the one on your desk</a:t>
            </a:r>
          </a:p>
          <a:p>
            <a:pPr algn="l">
              <a:lnSpc>
                <a:spcPct val="100000"/>
              </a:lnSpc>
              <a:spcAft>
                <a:spcPts val="500"/>
              </a:spcAft>
              <a:defRPr sz="1800" b="0">
                <a:solidFill>
                  <a:srgbClr val="222222"/>
                </a:solidFill>
                <a:latin typeface="Calibri"/>
              </a:defRPr>
            </a:pPr>
            <a:r>
              <a:rPr sz="1800" b="0">
                <a:solidFill>
                  <a:srgbClr val="222222"/>
                </a:solidFill>
                <a:latin typeface="Calibri"/>
              </a:rPr>
              <a:t>Brushless motors on ESCs, not brushed on H-bridges - more thrust for the weight</a:t>
            </a:r>
          </a:p>
          <a:p>
            <a:pPr algn="l">
              <a:lnSpc>
                <a:spcPct val="100000"/>
              </a:lnSpc>
              <a:spcAft>
                <a:spcPts val="500"/>
              </a:spcAft>
              <a:defRPr sz="1800" b="0">
                <a:solidFill>
                  <a:srgbClr val="222222"/>
                </a:solidFill>
                <a:latin typeface="Calibri"/>
              </a:defRPr>
            </a:pPr>
            <a:r>
              <a:rPr sz="1800" b="0">
                <a:solidFill>
                  <a:srgbClr val="222222"/>
                </a:solidFill>
                <a:latin typeface="Calibri"/>
              </a:rPr>
              <a:t>A pressure sensor and an IMU on an I2C bus</a:t>
            </a:r>
          </a:p>
          <a:p>
            <a:pPr algn="l">
              <a:lnSpc>
                <a:spcPct val="100000"/>
              </a:lnSpc>
              <a:spcAft>
                <a:spcPts val="500"/>
              </a:spcAft>
              <a:defRPr sz="1800" b="0">
                <a:solidFill>
                  <a:srgbClr val="222222"/>
                </a:solidFill>
                <a:latin typeface="Calibri"/>
              </a:defRPr>
            </a:pPr>
            <a:r>
              <a:rPr sz="1800" b="0">
                <a:solidFill>
                  <a:srgbClr val="222222"/>
                </a:solidFill>
                <a:latin typeface="Calibri"/>
              </a:rPr>
              <a:t>A CAN bus tying it together</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Different vehicle, same engineering.</a:t>
            </a:r>
          </a:p>
        </p:txBody>
      </p:sp>
      <p:pic>
        <p:nvPicPr>
          <p:cNvPr id="7" name="Picture 6" descr="rov-can-bus.jpg"/>
          <p:cNvPicPr>
            <a:picLocks noChangeAspect="1"/>
          </p:cNvPicPr>
          <p:nvPr/>
        </p:nvPicPr>
        <p:blipFill>
          <a:blip r:embed="rId2"/>
          <a:stretch>
            <a:fillRect/>
          </a:stretch>
        </p:blipFill>
        <p:spPr>
          <a:xfrm>
            <a:off x="6095848" y="1188720"/>
            <a:ext cx="5592927" cy="2326000"/>
          </a:xfrm>
          <a:prstGeom prst="rect">
            <a:avLst/>
          </a:prstGeom>
        </p:spPr>
      </p:pic>
      <p:sp>
        <p:nvSpPr>
          <p:cNvPr id="8" name="TextBox 7"/>
          <p:cNvSpPr txBox="1"/>
          <p:nvPr/>
        </p:nvSpPr>
        <p:spPr>
          <a:xfrm>
            <a:off x="6095848" y="3587872"/>
            <a:ext cx="5592927" cy="868680"/>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Explorer Gen 2 ROV: ESP32, ESC, sensors, CAN bus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this looks interesting, there is a whole ROV course. The ground vehicle is the easiest place to learn the ideas; the submersible is where they get hard.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youtube.com/watch?v=UPTU6nYSaMo</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4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cplusplus.com/doc/tutorial/control/</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400"/>
              </a:spcAft>
              <a:defRPr sz="1800" b="0">
                <a:solidFill>
                  <a:srgbClr val="222222"/>
                </a:solidFill>
                <a:latin typeface="Calibri"/>
              </a:defRPr>
            </a:pPr>
            <a:r>
              <a:rPr sz="1800" b="0">
                <a:solidFill>
                  <a:srgbClr val="222222"/>
                </a:solidFill>
                <a:latin typeface="Calibri"/>
              </a:rPr>
              <a:t>cplusplus.com/doc/tutorial/functions/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Watch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4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Read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Why does each motor need two pins instead of one?</a:t>
            </a:r>
          </a:p>
          <a:p>
            <a:pPr algn="l">
              <a:lnSpc>
                <a:spcPct val="100000"/>
              </a:lnSpc>
              <a:spcAft>
                <a:spcPts val="1000"/>
              </a:spcAft>
              <a:defRPr sz="1800" b="0">
                <a:solidFill>
                  <a:srgbClr val="222222"/>
                </a:solidFill>
                <a:latin typeface="Calibri"/>
              </a:defRPr>
            </a:pPr>
            <a:r>
              <a:rPr sz="1800" b="0">
                <a:solidFill>
                  <a:srgbClr val="222222"/>
                </a:solidFill>
                <a:latin typeface="Calibri"/>
              </a:rPr>
              <a:t>2.  A pin can only be on or off. Explain in one sentence how the vehicle gets a half speed.</a:t>
            </a:r>
          </a:p>
          <a:p>
            <a:pPr algn="l">
              <a:lnSpc>
                <a:spcPct val="100000"/>
              </a:lnSpc>
              <a:spcAft>
                <a:spcPts val="1000"/>
              </a:spcAft>
              <a:defRPr sz="1800" b="0">
                <a:solidFill>
                  <a:srgbClr val="222222"/>
                </a:solidFill>
                <a:latin typeface="Calibri"/>
              </a:defRPr>
            </a:pPr>
            <a:r>
              <a:rPr sz="1800" b="0">
                <a:solidFill>
                  <a:srgbClr val="222222"/>
                </a:solidFill>
                <a:latin typeface="Calibri"/>
              </a:rPr>
              <a:t>3.  What duty value is 25% of full power at 8-bit resolution?</a:t>
            </a:r>
          </a:p>
          <a:p>
            <a:pPr algn="l">
              <a:lnSpc>
                <a:spcPct val="100000"/>
              </a:lnSpc>
              <a:spcAft>
                <a:spcPts val="1000"/>
              </a:spcAft>
              <a:defRPr sz="1800" b="0">
                <a:solidFill>
                  <a:srgbClr val="222222"/>
                </a:solidFill>
                <a:latin typeface="Calibri"/>
              </a:defRPr>
            </a:pPr>
            <a:r>
              <a:rPr sz="1800" b="0">
                <a:solidFill>
                  <a:srgbClr val="222222"/>
                </a:solidFill>
                <a:latin typeface="Calibri"/>
              </a:rPr>
              <a:t>4.  Why do we switch at 20 kHz rather than 300 Hz?</a:t>
            </a:r>
          </a:p>
          <a:p>
            <a:pPr algn="l">
              <a:lnSpc>
                <a:spcPct val="100000"/>
              </a:lnSpc>
              <a:spcAft>
                <a:spcPts val="1000"/>
              </a:spcAft>
              <a:defRPr sz="1800" b="0">
                <a:solidFill>
                  <a:srgbClr val="222222"/>
                </a:solidFill>
                <a:latin typeface="Calibri"/>
              </a:defRPr>
            </a:pPr>
            <a:r>
              <a:rPr sz="1800" b="0">
                <a:solidFill>
                  <a:srgbClr val="222222"/>
                </a:solidFill>
                <a:latin typeface="Calibri"/>
              </a:rPr>
              <a:t>5.  The left wheels get 200 and the right wheels get -200. What does the vehicle do?</a:t>
            </a:r>
          </a:p>
          <a:p>
            <a:pPr algn="l">
              <a:lnSpc>
                <a:spcPct val="100000"/>
              </a:lnSpc>
              <a:spcAft>
                <a:spcPts val="1000"/>
              </a:spcAft>
              <a:defRPr sz="1800" b="0">
                <a:solidFill>
                  <a:srgbClr val="222222"/>
                </a:solidFill>
                <a:latin typeface="Calibri"/>
              </a:defRPr>
            </a:pPr>
            <a:r>
              <a:rPr sz="1800" b="0">
                <a:solidFill>
                  <a:srgbClr val="222222"/>
                </a:solidFill>
                <a:latin typeface="Calibri"/>
              </a:rPr>
              <a:t>6.  Your wheel is 3 inches across. How far does the vehicle travel in one wheel turn?</a:t>
            </a:r>
          </a:p>
          <a:p>
            <a:pPr algn="l">
              <a:lnSpc>
                <a:spcPct val="100000"/>
              </a:lnSpc>
              <a:spcAft>
                <a:spcPts val="1000"/>
              </a:spcAft>
              <a:defRPr sz="1800" b="0">
                <a:solidFill>
                  <a:srgbClr val="222222"/>
                </a:solidFill>
                <a:latin typeface="Calibri"/>
              </a:defRPr>
            </a:pPr>
            <a:r>
              <a:rPr sz="1800" b="0">
                <a:solidFill>
                  <a:srgbClr val="222222"/>
                </a:solidFill>
                <a:latin typeface="Calibri"/>
              </a:rPr>
              <a:t>7.  Your square comes out as a rectangle. Which number is wrong, and which way should you change it?</a:t>
            </a:r>
          </a:p>
          <a:p>
            <a:pPr algn="l">
              <a:lnSpc>
                <a:spcPct val="100000"/>
              </a:lnSpc>
              <a:spcAft>
                <a:spcPts val="1000"/>
              </a:spcAft>
              <a:defRPr sz="1800" b="0">
                <a:solidFill>
                  <a:srgbClr val="222222"/>
                </a:solidFill>
                <a:latin typeface="Calibri"/>
              </a:defRPr>
            </a:pPr>
            <a:r>
              <a:rPr sz="18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