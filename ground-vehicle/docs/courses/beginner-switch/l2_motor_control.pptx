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8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digitalWrite(pin, HIGH) puts 3.3 volts on the pin. LOW puts 0 volts on it. There is nothing in between.</a:t>
            </a:r>
          </a:p>
          <a:p>
            <a:pPr algn="l">
              <a:lnSpc>
                <a:spcPct val="100000"/>
              </a:lnSpc>
              <a:spcAft>
                <a:spcPts val="600"/>
              </a:spcAft>
              <a:defRPr sz="2000" b="0">
                <a:solidFill>
                  <a:srgbClr val="222222"/>
                </a:solidFill>
                <a:latin typeface="Calibri"/>
              </a:defRPr>
            </a:pPr>
            <a:r>
              <a:rPr sz="2000" b="0">
                <a:solidFill>
                  <a:srgbClr val="222222"/>
                </a:solidFill>
                <a:latin typeface="Calibri"/>
              </a:rPr>
              <a:t>So how do you get HALF speed?</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000" b="0">
                <a:solidFill>
                  <a:srgbClr val="222222"/>
                </a:solidFill>
                <a:latin typeface="Calibri"/>
              </a:defRPr>
            </a:pPr>
            <a:r>
              <a:rPr sz="2000" b="0">
                <a:solidFill>
                  <a:srgbClr val="222222"/>
                </a:solidFill>
                <a:latin typeface="Calibri"/>
              </a:rPr>
              <a:t>That is PULSE WIDTH MODULATION. The fraction of each cycle that is on is the DUTY CYCLE.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ledcSetup(channel, freq, bits);</a:t>
            </a:r>
          </a:p>
          <a:p>
            <a:pPr algn="l">
              <a:lnSpc>
                <a:spcPct val="100000"/>
              </a:lnSpc>
              <a:spcAft>
                <a:spcPts val="800"/>
              </a:spcAft>
              <a:defRPr sz="2100" b="0">
                <a:solidFill>
                  <a:srgbClr val="222222"/>
                </a:solidFill>
                <a:latin typeface="Calibri"/>
              </a:defRPr>
            </a:pPr>
            <a:r>
              <a:rPr sz="2100" b="0">
                <a:solidFill>
                  <a:srgbClr val="222222"/>
                </a:solidFill>
                <a:latin typeface="Calibri"/>
              </a:rPr>
              <a:t>ledcAttachPin(pin, channel);</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ledcWrite(channel, duty);</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8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3.  Change SPEED from 200 to 60. Upload. Does the wheel still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was your minimum turning speed?</a:t>
            </a:r>
          </a:p>
          <a:p>
            <a:pPr algn="l">
              <a:lnSpc>
                <a:spcPct val="100000"/>
              </a:lnSpc>
              <a:spcAft>
                <a:spcPts val="300"/>
              </a:spcAft>
              <a:defRPr sz="2600" b="0">
                <a:solidFill>
                  <a:srgbClr val="222222"/>
                </a:solidFill>
                <a:latin typeface="Calibri"/>
              </a:defRPr>
            </a:pPr>
            <a:r>
              <a:rPr sz="26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8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6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6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Is the speed proportional to the duty all the way down? Where does it stop being a straight line?</a:t>
            </a:r>
          </a:p>
          <a:p>
            <a:pPr algn="l">
              <a:lnSpc>
                <a:spcPct val="100000"/>
              </a:lnSpc>
              <a:spcAft>
                <a:spcPts val="300"/>
              </a:spcAft>
              <a:defRPr sz="2000" b="0">
                <a:solidFill>
                  <a:srgbClr val="222222"/>
                </a:solidFill>
                <a:latin typeface="Calibri"/>
              </a:defRPr>
            </a:pPr>
            <a:r>
              <a:rPr sz="2000" b="0">
                <a:solidFill>
                  <a:srgbClr val="222222"/>
                </a:solidFill>
                <a:latin typeface="Calibri"/>
              </a:rPr>
              <a:t>What is the 300 Hz whine, and where does it go at 20 kHz?</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1.  V = 12 volts, I = 15 mA.  R = ?</a:t>
            </a:r>
          </a:p>
          <a:p>
            <a:pPr lvl="1" algn="l">
              <a:lnSpc>
                <a:spcPct val="100000"/>
              </a:lnSpc>
              <a:spcAft>
                <a:spcPts val="900"/>
              </a:spcAft>
              <a:defRPr sz="2200" b="0">
                <a:solidFill>
                  <a:srgbClr val="222222"/>
                </a:solidFill>
                <a:latin typeface="Calibri"/>
              </a:defRPr>
            </a:pPr>
            <a:r>
              <a:rPr sz="22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2.  V = 12 volts, R = 220 ohms.  I = ?</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3.  I = 2 mA, R = 1.5k ohms.  V = ?</a:t>
            </a:r>
          </a:p>
          <a:p>
            <a:pPr lvl="1" algn="l">
              <a:lnSpc>
                <a:spcPct val="100000"/>
              </a:lnSpc>
              <a:spcAft>
                <a:spcPts val="900"/>
              </a:spcAft>
              <a:defRPr sz="2100" b="0">
                <a:solidFill>
                  <a:srgbClr val="222222"/>
                </a:solidFill>
                <a:latin typeface="Calibri"/>
              </a:defRPr>
            </a:pPr>
            <a:r>
              <a:rPr sz="2100" b="0">
                <a:solidFill>
                  <a:srgbClr val="222222"/>
                </a:solidFill>
                <a:latin typeface="Calibri"/>
              </a:rPr>
              <a:t>     (1.5k means 1500 ohms)</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SERIES. Your LED circuit from Lesson 1: supply, resistor, LED, back to ground. One loop, one current.</a:t>
            </a:r>
          </a:p>
          <a:p>
            <a:pPr lvl="1" algn="l">
              <a:lnSpc>
                <a:spcPct val="100000"/>
              </a:lnSpc>
              <a:spcAft>
                <a:spcPts val="600"/>
              </a:spcAft>
              <a:defRPr sz="2700" b="0">
                <a:solidFill>
                  <a:srgbClr val="222222"/>
                </a:solidFill>
                <a:latin typeface="Calibri"/>
              </a:defRPr>
            </a:pPr>
            <a:r>
              <a:rPr sz="2700" b="0">
                <a:solidFill>
                  <a:srgbClr val="222222"/>
                </a:solidFill>
                <a:latin typeface="Calibri"/>
              </a:rPr>
              <a:t>Add resistance and the current everywhere drops.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600"/>
              </a:spcAft>
              <a:defRPr sz="2700" b="0">
                <a:solidFill>
                  <a:srgbClr val="222222"/>
                </a:solidFill>
                <a:latin typeface="Calibri"/>
              </a:defRPr>
            </a:pPr>
            <a:r>
              <a:rPr sz="2700" b="0">
                <a:solidFill>
                  <a:srgbClr val="222222"/>
                </a:solidFill>
                <a:latin typeface="Calibri"/>
              </a:rPr>
              <a:t>Four motors at 1.5 A each is 6 A out of the battery.</a:t>
            </a:r>
          </a:p>
          <a:p>
            <a:pPr lvl="1" algn="l">
              <a:lnSpc>
                <a:spcPct val="100000"/>
              </a:lnSpc>
              <a:spcAft>
                <a:spcPts val="600"/>
              </a:spcAft>
              <a:defRPr sz="2700" b="0">
                <a:solidFill>
                  <a:srgbClr val="222222"/>
                </a:solidFill>
                <a:latin typeface="Calibri"/>
              </a:defRPr>
            </a:pPr>
            <a:r>
              <a:rPr sz="2700" b="0">
                <a:solidFill>
                  <a:srgbClr val="222222"/>
                </a:solidFill>
                <a:latin typeface="Calibri"/>
              </a:rPr>
              <a:t>That is why the battery goes flat four times faster with all four driving than with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Pathfinder has no steering rack. Nothing on it points the wheels.</a:t>
            </a:r>
          </a:p>
          <a:p>
            <a:pPr algn="l">
              <a:lnSpc>
                <a:spcPct val="100000"/>
              </a:lnSpc>
              <a:spcAft>
                <a:spcPts val="600"/>
              </a:spcAft>
              <a:defRPr sz="1900" b="0">
                <a:solidFill>
                  <a:srgbClr val="222222"/>
                </a:solidFill>
                <a:latin typeface="Calibri"/>
              </a:defRPr>
            </a:pPr>
            <a:r>
              <a:rPr sz="1900" b="0">
                <a:solidFill>
                  <a:srgbClr val="222222"/>
                </a:solidFill>
                <a:latin typeface="Calibri"/>
              </a:rPr>
              <a:t>The two wheels on the LEFT are driven together. The two on the RIGHT are driven together.</a:t>
            </a:r>
          </a:p>
          <a:p>
            <a:pPr algn="l">
              <a:lnSpc>
                <a:spcPct val="100000"/>
              </a:lnSpc>
              <a:spcAft>
                <a:spcPts val="600"/>
              </a:spcAft>
              <a:defRPr sz="1900" b="0">
                <a:solidFill>
                  <a:srgbClr val="222222"/>
                </a:solidFill>
                <a:latin typeface="Calibri"/>
              </a:defRPr>
            </a:pPr>
            <a:r>
              <a:rPr sz="1900" b="0">
                <a:solidFill>
                  <a:srgbClr val="222222"/>
                </a:solidFill>
                <a:latin typeface="Calibri"/>
              </a:rPr>
              <a:t>Both sides the same  -&gt;  a straight line.</a:t>
            </a:r>
          </a:p>
          <a:p>
            <a:pPr algn="l">
              <a:lnSpc>
                <a:spcPct val="100000"/>
              </a:lnSpc>
              <a:spcAft>
                <a:spcPts val="600"/>
              </a:spcAft>
              <a:defRPr sz="1900" b="0">
                <a:solidFill>
                  <a:srgbClr val="222222"/>
                </a:solidFill>
                <a:latin typeface="Calibri"/>
              </a:defRPr>
            </a:pPr>
            <a:r>
              <a:rPr sz="1900" b="0">
                <a:solidFill>
                  <a:srgbClr val="222222"/>
                </a:solidFill>
                <a:latin typeface="Calibri"/>
              </a:rPr>
              <a:t>Left faster than right  -&gt;  it curves to the right.</a:t>
            </a:r>
          </a:p>
          <a:p>
            <a:pPr algn="l">
              <a:lnSpc>
                <a:spcPct val="100000"/>
              </a:lnSpc>
              <a:spcAft>
                <a:spcPts val="600"/>
              </a:spcAft>
              <a:defRPr sz="1900" b="0">
                <a:solidFill>
                  <a:srgbClr val="222222"/>
                </a:solidFill>
                <a:latin typeface="Calibri"/>
              </a:defRPr>
            </a:pPr>
            <a:r>
              <a:rPr sz="1900" b="0">
                <a:solidFill>
                  <a:srgbClr val="222222"/>
                </a:solidFill>
                <a:latin typeface="Calibri"/>
              </a:rPr>
              <a:t>Left forward and right backward  -&gt;  it spins on the spot.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Wheel diameter is 3.0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Circumference = pi x diameter = 3.1416 x 3.0 = 9.42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Distance per wheel turn = 9.42 / 12 = 0.79 feet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Speed = revolutions per second x distance per revolution</a:t>
            </a:r>
          </a:p>
          <a:p>
            <a:pPr algn="l">
              <a:lnSpc>
                <a:spcPct val="100000"/>
              </a:lnSpc>
              <a:spcAft>
                <a:spcPts val="600"/>
              </a:spcAft>
              <a:defRPr sz="2000" b="0">
                <a:solidFill>
                  <a:srgbClr val="222222"/>
                </a:solidFill>
                <a:latin typeface="Calibri"/>
              </a:defRPr>
            </a:pPr>
            <a:r>
              <a:rPr sz="2000" b="0">
                <a:solidFill>
                  <a:srgbClr val="222222"/>
                </a:solidFill>
                <a:latin typeface="Calibri"/>
              </a:rPr>
              <a:t>Distance = speed x time</a:t>
            </a:r>
          </a:p>
          <a:p>
            <a:pPr algn="l">
              <a:lnSpc>
                <a:spcPct val="100000"/>
              </a:lnSpc>
              <a:spcAft>
                <a:spcPts val="600"/>
              </a:spcAft>
              <a:defRPr sz="2000" b="0">
                <a:solidFill>
                  <a:srgbClr val="222222"/>
                </a:solidFill>
                <a:latin typeface="Calibri"/>
              </a:defRPr>
            </a:pPr>
            <a:r>
              <a:rPr sz="2000" b="0">
                <a:solidFill>
                  <a:srgbClr val="222222"/>
                </a:solidFill>
                <a:latin typeface="Calibri"/>
              </a:rPr>
              <a:t>Degrees turned = turn rate x time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A square is four legs on bearings 0, 90, 180 and 270, which is why you can do it in your head.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Now try a baseball diamond. The batter hits the ball and runs at 45 degrees to first base, then makes three more left turns back to home plate.</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Nothing in the program changes. It is still drive, turn, drive, turn. What changes is that the bearings are no longer whole quarter turns, so you need sin and cos to work out where it ends 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Running the bases  -  a maneuver that is not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Set it up in a spreadsheet: one row per leg, with time, speed, bearing, and the running east and north totals. Plot east against north as a scatter chart and you have drawn the path before the vehicle has moved.</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Then run it, and measure how far off the real one finishes.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Clear a space about three meters square. Bags and feet out.</a:t>
            </a:r>
          </a:p>
          <a:p>
            <a:pPr algn="l">
              <a:lnSpc>
                <a:spcPct val="100000"/>
              </a:lnSpc>
              <a:spcAft>
                <a:spcPts val="8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8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800"/>
              </a:spcAft>
              <a:defRPr sz="1800" b="0">
                <a:solidFill>
                  <a:srgbClr val="222222"/>
                </a:solidFill>
                <a:latin typeface="Calibri"/>
              </a:defRPr>
            </a:pPr>
            <a:r>
              <a:rPr sz="1800" b="0">
                <a:solidFill>
                  <a:srgbClr val="222222"/>
                </a:solidFill>
                <a:latin typeface="Calibri"/>
              </a:rPr>
              <a:t>4.  MEASURE one side of the square it actually drove.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Roughly a square. Roughly.</a:t>
            </a:r>
          </a:p>
          <a:p>
            <a:pPr algn="l">
              <a:lnSpc>
                <a:spcPct val="100000"/>
              </a:lnSpc>
              <a:spcAft>
                <a:spcPts val="300"/>
              </a:spcAft>
              <a:defRPr sz="2500" b="0">
                <a:solidFill>
                  <a:srgbClr val="222222"/>
                </a:solidFill>
                <a:latin typeface="Calibri"/>
              </a:defRPr>
            </a:pPr>
            <a:r>
              <a:rPr sz="2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your vehicle's speed in feet per second?</a:t>
            </a:r>
          </a:p>
          <a:p>
            <a:pPr algn="l">
              <a:lnSpc>
                <a:spcPct val="100000"/>
              </a:lnSpc>
              <a:spcAft>
                <a:spcPts val="300"/>
              </a:spcAft>
              <a:defRPr sz="2600" b="0">
                <a:solidFill>
                  <a:srgbClr val="222222"/>
                </a:solidFill>
                <a:latin typeface="Calibri"/>
              </a:defRPr>
            </a:pPr>
            <a:r>
              <a:rPr sz="2600" b="0">
                <a:solidFill>
                  <a:srgbClr val="222222"/>
                </a:solidFill>
                <a:latin typeface="Calibri"/>
              </a:rPr>
              <a:t>What is its turn rate in degrees per second?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5.  Work out the speed:  side length / (FORWARD_MS / 1000)</a:t>
            </a:r>
          </a:p>
          <a:p>
            <a:pPr algn="l">
              <a:lnSpc>
                <a:spcPct val="100000"/>
              </a:lnSpc>
              <a:spcAft>
                <a:spcPts val="8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2500" b="0">
                <a:solidFill>
                  <a:srgbClr val="222222"/>
                </a:solidFill>
                <a:latin typeface="Calibri"/>
              </a:defRPr>
            </a:pPr>
            <a:r>
              <a:rPr sz="2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It DRIFTS. Every small error accumulates, and nothing ever corrects it. Errors in your square come from:</a:t>
            </a:r>
          </a:p>
          <a:p>
            <a:pPr lvl="1" algn="l">
              <a:lnSpc>
                <a:spcPct val="100000"/>
              </a:lnSpc>
              <a:spcAft>
                <a:spcPts val="600"/>
              </a:spcAft>
              <a:defRPr sz="2500" b="0">
                <a:solidFill>
                  <a:srgbClr val="222222"/>
                </a:solidFill>
                <a:latin typeface="Calibri"/>
              </a:defRPr>
            </a:pPr>
            <a:r>
              <a:rPr sz="2500" b="0">
                <a:solidFill>
                  <a:srgbClr val="222222"/>
                </a:solidFill>
                <a:latin typeface="Calibri"/>
              </a:rPr>
              <a:t>Battery charge - a fresher pack drives further in the same time</a:t>
            </a:r>
          </a:p>
          <a:p>
            <a:pPr lvl="1" algn="l">
              <a:lnSpc>
                <a:spcPct val="100000"/>
              </a:lnSpc>
              <a:spcAft>
                <a:spcPts val="600"/>
              </a:spcAft>
              <a:defRPr sz="2500" b="0">
                <a:solidFill>
                  <a:srgbClr val="222222"/>
                </a:solidFill>
                <a:latin typeface="Calibri"/>
              </a:defRPr>
            </a:pPr>
            <a:r>
              <a:rPr sz="2500" b="0">
                <a:solidFill>
                  <a:srgbClr val="222222"/>
                </a:solidFill>
                <a:latin typeface="Calibri"/>
              </a:rPr>
              <a:t>Floor surface - carpet, tile and concrete all differ</a:t>
            </a:r>
          </a:p>
          <a:p>
            <a:pPr lvl="1" algn="l">
              <a:lnSpc>
                <a:spcPct val="100000"/>
              </a:lnSpc>
              <a:spcAft>
                <a:spcPts val="600"/>
              </a:spcAft>
              <a:defRPr sz="2500" b="0">
                <a:solidFill>
                  <a:srgbClr val="222222"/>
                </a:solidFill>
                <a:latin typeface="Calibri"/>
              </a:defRPr>
            </a:pPr>
            <a:r>
              <a:rPr sz="2500" b="0">
                <a:solidFill>
                  <a:srgbClr val="222222"/>
                </a:solidFill>
                <a:latin typeface="Calibri"/>
              </a:rPr>
              <a:t>Wheel slip during the turns, which skid steering guarantees</a:t>
            </a:r>
          </a:p>
          <a:p>
            <a:pPr lvl="1" algn="l">
              <a:lnSpc>
                <a:spcPct val="100000"/>
              </a:lnSpc>
              <a:spcAft>
                <a:spcPts val="600"/>
              </a:spcAft>
              <a:defRPr sz="2500" b="0">
                <a:solidFill>
                  <a:srgbClr val="222222"/>
                </a:solidFill>
                <a:latin typeface="Calibri"/>
              </a:defRPr>
            </a:pPr>
            <a:r>
              <a:rPr sz="2500" b="0">
                <a:solidFill>
                  <a:srgbClr val="222222"/>
                </a:solidFill>
                <a:latin typeface="Calibri"/>
              </a:rPr>
              <a:t>Motors that are not perfectly matched to each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5227168"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Explorer Gen 2 ROV is built from the pieces you just met: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An ESP32, like the one on your desk</a:t>
            </a:r>
          </a:p>
          <a:p>
            <a:pPr algn="l">
              <a:lnSpc>
                <a:spcPct val="100000"/>
              </a:lnSpc>
              <a:spcAft>
                <a:spcPts val="600"/>
              </a:spcAft>
              <a:defRPr sz="1900" b="0">
                <a:solidFill>
                  <a:srgbClr val="222222"/>
                </a:solidFill>
                <a:latin typeface="Calibri"/>
              </a:defRPr>
            </a:pPr>
            <a:r>
              <a:rPr sz="1900" b="0">
                <a:solidFill>
                  <a:srgbClr val="222222"/>
                </a:solidFill>
                <a:latin typeface="Calibri"/>
              </a:rPr>
              <a:t>Brushless motors on ESCs, not brushed on H-bridges - more thrust for the weight</a:t>
            </a:r>
          </a:p>
          <a:p>
            <a:pPr algn="l">
              <a:lnSpc>
                <a:spcPct val="100000"/>
              </a:lnSpc>
              <a:spcAft>
                <a:spcPts val="600"/>
              </a:spcAft>
              <a:defRPr sz="1900" b="0">
                <a:solidFill>
                  <a:srgbClr val="222222"/>
                </a:solidFill>
                <a:latin typeface="Calibri"/>
              </a:defRPr>
            </a:pPr>
            <a:r>
              <a:rPr sz="1900" b="0">
                <a:solidFill>
                  <a:srgbClr val="222222"/>
                </a:solidFill>
                <a:latin typeface="Calibri"/>
              </a:rPr>
              <a:t>A pressure sensor and an IMU on an I2C bus</a:t>
            </a:r>
          </a:p>
          <a:p>
            <a:pPr algn="l">
              <a:lnSpc>
                <a:spcPct val="100000"/>
              </a:lnSpc>
              <a:spcAft>
                <a:spcPts val="600"/>
              </a:spcAft>
              <a:defRPr sz="1900" b="0">
                <a:solidFill>
                  <a:srgbClr val="222222"/>
                </a:solidFill>
                <a:latin typeface="Calibri"/>
              </a:defRPr>
            </a:pPr>
            <a:r>
              <a:rPr sz="1900" b="0">
                <a:solidFill>
                  <a:srgbClr val="222222"/>
                </a:solidFill>
                <a:latin typeface="Calibri"/>
              </a:rPr>
              <a:t>A CAN bus tying it together</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671640"/>
            <a:ext cx="5592927" cy="2326000"/>
          </a:xfrm>
          <a:prstGeom prst="rect">
            <a:avLst/>
          </a:prstGeom>
        </p:spPr>
      </p:pic>
      <p:sp>
        <p:nvSpPr>
          <p:cNvPr id="8" name="TextBox 7"/>
          <p:cNvSpPr txBox="1"/>
          <p:nvPr/>
        </p:nvSpPr>
        <p:spPr>
          <a:xfrm>
            <a:off x="6095848" y="4052504"/>
            <a:ext cx="5592927"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Mark a start line and a finish line with tape. Measure the distance.</a:t>
            </a:r>
          </a:p>
          <a:p>
            <a:pPr algn="l">
              <a:lnSpc>
                <a:spcPct val="100000"/>
              </a:lnSpc>
              <a:spcAft>
                <a:spcPts val="600"/>
              </a:spcAft>
              <a:defRPr sz="2000" b="0">
                <a:solidFill>
                  <a:srgbClr val="222222"/>
                </a:solidFill>
                <a:latin typeface="Calibri"/>
              </a:defRPr>
            </a:pPr>
            <a:r>
              <a:rPr sz="2000" b="0">
                <a:solidFill>
                  <a:srgbClr val="222222"/>
                </a:solidFill>
                <a:latin typeface="Calibri"/>
              </a:rPr>
              <a:t>Line up two or three vehicles. Hold the reset button until the start signal, then let go.</a:t>
            </a:r>
          </a:p>
          <a:p>
            <a:pPr algn="l">
              <a:lnSpc>
                <a:spcPct val="100000"/>
              </a:lnSpc>
              <a:spcAft>
                <a:spcPts val="600"/>
              </a:spcAft>
              <a:defRPr sz="2000" b="0">
                <a:solidFill>
                  <a:srgbClr val="222222"/>
                </a:solidFill>
                <a:latin typeface="Calibri"/>
              </a:defRPr>
            </a:pPr>
            <a:r>
              <a:rPr sz="2000" b="0">
                <a:solidFill>
                  <a:srgbClr val="222222"/>
                </a:solidFill>
                <a:latin typeface="Calibri"/>
              </a:rPr>
              <a:t>Time from start to crossing the line. Speed = distance / time.</a:t>
            </a:r>
          </a:p>
          <a:p>
            <a:pPr algn="l">
              <a:lnSpc>
                <a:spcPct val="100000"/>
              </a:lnSpc>
              <a:spcAft>
                <a:spcPts val="600"/>
              </a:spcAft>
              <a:defRPr sz="2000" b="0">
                <a:solidFill>
                  <a:srgbClr val="222222"/>
                </a:solidFill>
                <a:latin typeface="Calibri"/>
              </a:defRPr>
            </a:pPr>
            <a:r>
              <a:rPr sz="2000" b="0">
                <a:solidFill>
                  <a:srgbClr val="222222"/>
                </a:solidFill>
                <a:latin typeface="Calibri"/>
              </a:rPr>
              <a:t>First across the line INSIDE the lane wins. Leaving the lane does not.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If your vehicle pulls to one side, you can add a short turn correction into the program to straighten it.</a:t>
            </a:r>
          </a:p>
          <a:p>
            <a:pPr algn="l">
              <a:lnSpc>
                <a:spcPct val="100000"/>
              </a:lnSpc>
              <a:spcAft>
                <a:spcPts val="600"/>
              </a:spcAft>
              <a:defRPr sz="2000" b="0">
                <a:solidFill>
                  <a:srgbClr val="222222"/>
                </a:solidFill>
                <a:latin typeface="Calibri"/>
              </a:defRPr>
            </a:pPr>
            <a:r>
              <a:rPr sz="20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8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cplusplus.com/doc/tutorial/control/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cplusplus.com/doc/tutorial/functions/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