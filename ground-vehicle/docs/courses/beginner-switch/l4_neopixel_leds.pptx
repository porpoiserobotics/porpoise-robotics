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pixel is three tiny LEDs behind one lens. Hold a vehicle close enough that somebody in the front row can see them.</a:t>
            </a:r>
          </a:p>
          <a:p>
            <a:r>
              <a:rPr sz="1200">
                <a:latin typeface="Calibri"/>
              </a:rPr>
              <a:t>Three numbers, 0 to 255 each, is 16.7 million colors. Worth doing the multiplication on the board.</a:t>
            </a:r>
          </a:p>
          <a:p>
            <a:r>
              <a:rPr sz="1200">
                <a:latin typeface="Calibri"/>
              </a:rPr>
              <a:t>Warn them now: 255, 255, 255 is every LED at full, and it is both blinding and expensive in current. The power budget slide follows for a reason.</a:t>
            </a:r>
          </a:p>
          <a:p>
            <a:r>
              <a:rPr sz="1200">
                <a:latin typeface="Calibri"/>
              </a:rPr>
              <a:t>If time allows, get them to predict a color before they type it, then check. Predicting is what makes it stick.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5 lighting every other LED is a nice cheap surprise. Step 6 gets them to replace their own loop with strip.fill().</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400" b="0">
                <a:solidFill>
                  <a:srgbClr val="222222"/>
                </a:solidFill>
                <a:latin typeface="Calibri"/>
              </a:defRPr>
            </a:pPr>
            <a:r>
              <a:rPr sz="2400" b="0">
                <a:solidFill>
                  <a:srgbClr val="222222"/>
                </a:solidFill>
                <a:latin typeface="Calibri"/>
              </a:rPr>
              <a:t>You know how a controller reaches the vehicle, and why every vehicle needs its own address.</a:t>
            </a:r>
          </a:p>
          <a:p>
            <a:pPr algn="l">
              <a:lnSpc>
                <a:spcPct val="100000"/>
              </a:lnSpc>
              <a:spcAft>
                <a:spcPts val="600"/>
              </a:spcAft>
              <a:defRPr sz="2400" b="0">
                <a:solidFill>
                  <a:srgbClr val="222222"/>
                </a:solidFill>
                <a:latin typeface="Calibri"/>
              </a:defRPr>
            </a:pPr>
            <a:r>
              <a:rPr sz="2400" b="0">
                <a:solidFill>
                  <a:srgbClr val="222222"/>
                </a:solidFill>
                <a:latin typeface="Calibri"/>
              </a:rPr>
              <a:t>You know what a deadzone is and why it exists.</a:t>
            </a:r>
          </a:p>
          <a:p>
            <a:pPr algn="l">
              <a:lnSpc>
                <a:spcPct val="100000"/>
              </a:lnSpc>
              <a:spcAft>
                <a:spcPts val="600"/>
              </a:spcAft>
              <a:defRPr sz="2400" b="0">
                <a:solidFill>
                  <a:srgbClr val="222222"/>
                </a:solidFill>
                <a:latin typeface="Calibri"/>
              </a:defRPr>
            </a:pPr>
            <a:r>
              <a:rPr sz="2400" b="0">
                <a:solidFill>
                  <a:srgbClr val="222222"/>
                </a:solidFill>
                <a:latin typeface="Calibri"/>
              </a:rPr>
              <a:t>You can turn a stick reading into a motor speed, and mix forward with turn.</a:t>
            </a:r>
          </a:p>
          <a:p>
            <a:pPr algn="l">
              <a:lnSpc>
                <a:spcPct val="100000"/>
              </a:lnSpc>
              <a:spcAft>
                <a:spcPts val="600"/>
              </a:spcAft>
              <a:defRPr sz="2400" b="0">
                <a:solidFill>
                  <a:srgbClr val="222222"/>
                </a:solidFill>
                <a:latin typeface="Calibri"/>
              </a:defRPr>
            </a:pPr>
            <a:r>
              <a:rPr sz="2400" b="0">
                <a:solidFill>
                  <a:srgbClr val="222222"/>
                </a:solidFill>
                <a:latin typeface="Calibri"/>
              </a:rPr>
              <a:t>You can drive.</a:t>
            </a:r>
          </a:p>
          <a:p>
            <a:pPr algn="l">
              <a:lnSpc>
                <a:spcPct val="100000"/>
              </a:lnSpc>
              <a:spcAft>
                <a:spcPts val="600"/>
              </a:spcAft>
              <a:defRPr sz="2400" b="0">
                <a:solidFill>
                  <a:srgbClr val="222222"/>
                </a:solidFill>
                <a:latin typeface="Calibri"/>
              </a:defRPr>
            </a:pPr>
          </a:p>
          <a:p>
            <a:pPr algn="l">
              <a:lnSpc>
                <a:spcPct val="100000"/>
              </a:lnSpc>
              <a:spcAft>
                <a:spcPts val="600"/>
              </a:spcAft>
              <a:defRPr sz="2400" b="0">
                <a:solidFill>
                  <a:srgbClr val="222222"/>
                </a:solidFill>
                <a:latin typeface="Calibri"/>
              </a:defRPr>
            </a:pPr>
            <a:r>
              <a:rPr sz="24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An ordinary LED has two legs. It is on or off, and if you want ten of them you need ten pins.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Send a stream of color messages into the first pixel. It keeps the FIRST message for itself and passes the rest out of its data-out pin to the next one, which does the same.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one wire drives the whole chain. Our vehicle has 32 of them on GPIO 5 - and they are numbered in the order the data flows, which is why the numbering does what it does.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038344"/>
            <a:ext cx="54864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where all three overlap you get white</a:t>
            </a:r>
          </a:p>
        </p:txBody>
      </p:sp>
      <p:sp>
        <p:nvSpPr>
          <p:cNvPr id="10" name="TextBox 9"/>
          <p:cNvSpPr txBox="1"/>
          <p:nvPr/>
        </p:nvSpPr>
        <p:spPr>
          <a:xfrm>
            <a:off x="6537960" y="1234440"/>
            <a:ext cx="5577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strip.Color(red, green, blue)</a:t>
            </a:r>
          </a:p>
        </p:txBody>
      </p:sp>
      <p:sp>
        <p:nvSpPr>
          <p:cNvPr id="11" name="TextBox 10"/>
          <p:cNvSpPr txBox="1"/>
          <p:nvPr/>
        </p:nvSpPr>
        <p:spPr>
          <a:xfrm>
            <a:off x="6537960" y="1600200"/>
            <a:ext cx="557784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(255,   0,   0)</a:t>
            </a:r>
          </a:p>
        </p:txBody>
      </p:sp>
      <p:sp>
        <p:nvSpPr>
          <p:cNvPr id="14" name="TextBox 13"/>
          <p:cNvSpPr txBox="1"/>
          <p:nvPr/>
        </p:nvSpPr>
        <p:spPr>
          <a:xfrm>
            <a:off x="9098280" y="2167128"/>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255,   0)</a:t>
            </a:r>
          </a:p>
        </p:txBody>
      </p:sp>
      <p:sp>
        <p:nvSpPr>
          <p:cNvPr id="17" name="TextBox 16"/>
          <p:cNvSpPr txBox="1"/>
          <p:nvPr/>
        </p:nvSpPr>
        <p:spPr>
          <a:xfrm>
            <a:off x="9098280" y="2642616"/>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0, 255)</a:t>
            </a:r>
          </a:p>
        </p:txBody>
      </p:sp>
      <p:sp>
        <p:nvSpPr>
          <p:cNvPr id="20" name="TextBox 19"/>
          <p:cNvSpPr txBox="1"/>
          <p:nvPr/>
        </p:nvSpPr>
        <p:spPr>
          <a:xfrm>
            <a:off x="9098280" y="3118104"/>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(255, 255,   0)</a:t>
            </a:r>
          </a:p>
        </p:txBody>
      </p:sp>
      <p:sp>
        <p:nvSpPr>
          <p:cNvPr id="23" name="TextBox 22"/>
          <p:cNvSpPr txBox="1"/>
          <p:nvPr/>
        </p:nvSpPr>
        <p:spPr>
          <a:xfrm>
            <a:off x="9098280" y="3593592"/>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(255, 100,   0)</a:t>
            </a:r>
          </a:p>
        </p:txBody>
      </p:sp>
      <p:sp>
        <p:nvSpPr>
          <p:cNvPr id="26" name="TextBox 25"/>
          <p:cNvSpPr txBox="1"/>
          <p:nvPr/>
        </p:nvSpPr>
        <p:spPr>
          <a:xfrm>
            <a:off x="9098280" y="4069080"/>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(255, 255, 255)</a:t>
            </a:r>
          </a:p>
        </p:txBody>
      </p:sp>
      <p:sp>
        <p:nvSpPr>
          <p:cNvPr id="29" name="TextBox 28"/>
          <p:cNvSpPr txBox="1"/>
          <p:nvPr/>
        </p:nvSpPr>
        <p:spPr>
          <a:xfrm>
            <a:off x="9098280" y="4544568"/>
            <a:ext cx="301752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There are two ways to make an LED dimmer, and they are not interchangeable.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800"/>
              </a:spcAft>
              <a:defRPr sz="1800" b="0">
                <a:solidFill>
                  <a:srgbClr val="222222"/>
                </a:solidFill>
                <a:latin typeface="Calibri"/>
              </a:defRPr>
            </a:pPr>
            <a:r>
              <a:rPr sz="1800" b="0">
                <a:solidFill>
                  <a:srgbClr val="222222"/>
                </a:solidFill>
                <a:latin typeface="Calibri"/>
              </a:rPr>
              <a:t>Your brain compares them: red minus green, and blue minus red plus green. That comparison is called OPPONENCY.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 of wavelengths.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This is why three LEDs can fake every color you can see. They are not producing yellow light - they are producing red and green light in the ratio that makes your cones report yellow.</a:t>
            </a:r>
          </a:p>
          <a:p>
            <a:pPr algn="l">
              <a:lnSpc>
                <a:spcPct val="100000"/>
              </a:lnSpc>
              <a:spcAft>
                <a:spcPts val="8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Each of the three LEDs inside a pixel draws about 20 mA at full brightness.</a:t>
            </a:r>
          </a:p>
          <a:p>
            <a:pPr lvl="1" algn="l">
              <a:lnSpc>
                <a:spcPct val="100000"/>
              </a:lnSpc>
              <a:spcAft>
                <a:spcPts val="900"/>
              </a:spcAft>
              <a:defRPr sz="3000" b="0">
                <a:solidFill>
                  <a:srgbClr val="222222"/>
                </a:solidFill>
                <a:latin typeface="Calibri"/>
              </a:defRPr>
            </a:pPr>
            <a:r>
              <a:rPr sz="3000" b="0">
                <a:solidFill>
                  <a:srgbClr val="222222"/>
                </a:solidFill>
                <a:latin typeface="Calibri"/>
              </a:rPr>
              <a:t>One pixel showing full white:  3 x 20 = 60 mA</a:t>
            </a:r>
          </a:p>
          <a:p>
            <a:pPr lvl="1" algn="l">
              <a:lnSpc>
                <a:spcPct val="100000"/>
              </a:lnSpc>
              <a:spcAft>
                <a:spcPts val="900"/>
              </a:spcAft>
              <a:defRPr sz="3000" b="0">
                <a:solidFill>
                  <a:srgbClr val="222222"/>
                </a:solidFill>
                <a:latin typeface="Calibri"/>
              </a:defRPr>
            </a:pPr>
            <a:r>
              <a:rPr sz="3000" b="0">
                <a:solidFill>
                  <a:srgbClr val="222222"/>
                </a:solidFill>
                <a:latin typeface="Calibri"/>
              </a:rPr>
              <a:t>32 pixels of full white:  32 x 60 = 1920 mA, nearly 2 amps</a:t>
            </a:r>
          </a:p>
          <a:p>
            <a:pPr lvl="1" algn="l">
              <a:lnSpc>
                <a:spcPct val="100000"/>
              </a:lnSpc>
              <a:spcAft>
                <a:spcPts val="900"/>
              </a:spcAft>
              <a:defRPr sz="3000" b="0">
                <a:solidFill>
                  <a:srgbClr val="222222"/>
                </a:solidFill>
                <a:latin typeface="Calibri"/>
              </a:defRPr>
            </a:pPr>
            <a:r>
              <a:rPr sz="3000" b="0">
                <a:solidFill>
                  <a:srgbClr val="222222"/>
                </a:solidFill>
                <a:latin typeface="Calibri"/>
              </a:rPr>
              <a:t>At 5 volts:  1920 mA x 5 V = 9600 mW = 9.6 watts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That is a lot of power through a small board, and it makes real heat. Two things keep it sane:</a:t>
            </a:r>
          </a:p>
          <a:p>
            <a:pPr lvl="1" algn="l">
              <a:lnSpc>
                <a:spcPct val="100000"/>
              </a:lnSpc>
              <a:spcAft>
                <a:spcPts val="900"/>
              </a:spcAft>
              <a:defRPr sz="3000" b="0">
                <a:solidFill>
                  <a:srgbClr val="222222"/>
                </a:solidFill>
                <a:latin typeface="Calibri"/>
              </a:defRPr>
            </a:pPr>
            <a:r>
              <a:rPr sz="3000" b="0">
                <a:solidFill>
                  <a:srgbClr val="222222"/>
                </a:solidFill>
                <a:latin typeface="Calibri"/>
              </a:rPr>
              <a:t>setBrightness() scales EVERY pixel before it is sent. At 60 out of 255 you draw roughly a quarter of the worst case.</a:t>
            </a:r>
          </a:p>
          <a:p>
            <a:pPr lvl="1" algn="l">
              <a:lnSpc>
                <a:spcPct val="100000"/>
              </a:lnSpc>
              <a:spcAft>
                <a:spcPts val="900"/>
              </a:spcAft>
              <a:defRPr sz="3000" b="0">
                <a:solidFill>
                  <a:srgbClr val="222222"/>
                </a:solidFill>
                <a:latin typeface="Calibri"/>
              </a:defRPr>
            </a:pPr>
            <a:r>
              <a:rPr sz="3000" b="0">
                <a:solidFill>
                  <a:srgbClr val="222222"/>
                </a:solidFill>
                <a:latin typeface="Calibri"/>
              </a:rPr>
              <a:t>Colored light is cheaper than white. Pure red only lights one of the three, so it costs about a third of what white costs.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That is why the vehicle programs run at about 120 rather than 255, and why full white across all 32 is used for a moment and not held.</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Watch both the vehicle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2.  Note the estimated current for each color. Which is cheapest? Which is most expensive? Why?</a:t>
            </a:r>
          </a:p>
          <a:p>
            <a:pPr algn="l">
              <a:lnSpc>
                <a:spcPct val="100000"/>
              </a:lnSpc>
              <a:spcAft>
                <a:spcPts val="800"/>
              </a:spcAft>
              <a:defRPr sz="1900" b="0">
                <a:solidFill>
                  <a:srgbClr val="222222"/>
                </a:solidFill>
                <a:latin typeface="Calibri"/>
              </a:defRPr>
            </a:pPr>
            <a:r>
              <a:rPr sz="1900" b="0">
                <a:solidFill>
                  <a:srgbClr val="222222"/>
                </a:solidFill>
                <a:latin typeface="Calibri"/>
              </a:rPr>
              <a:t>3.  Change BRIGHTNESS to 255 and upload. After a minute of white, put your hand near the LED bars - carefully.</a:t>
            </a:r>
          </a:p>
          <a:p>
            <a:pPr algn="l">
              <a:lnSpc>
                <a:spcPct val="100000"/>
              </a:lnSpc>
              <a:spcAft>
                <a:spcPts val="800"/>
              </a:spcAft>
              <a:defRPr sz="1900" b="0">
                <a:solidFill>
                  <a:srgbClr val="222222"/>
                </a:solidFill>
                <a:latin typeface="Calibri"/>
              </a:defRPr>
            </a:pPr>
            <a:r>
              <a:rPr sz="1900" b="0">
                <a:solidFill>
                  <a:srgbClr val="222222"/>
                </a:solidFill>
                <a:latin typeface="Calibri"/>
              </a:rPr>
              <a:t>4.  Put it back to 60.</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for loop to  i = i + 2. What happens, and why?</a:t>
            </a:r>
          </a:p>
          <a:p>
            <a:pPr algn="l">
              <a:lnSpc>
                <a:spcPct val="100000"/>
              </a:lnSpc>
              <a:spcAft>
                <a:spcPts val="800"/>
              </a:spcAft>
              <a:defRPr sz="1900" b="0">
                <a:solidFill>
                  <a:srgbClr val="222222"/>
                </a:solidFill>
                <a:latin typeface="Calibri"/>
              </a:defRPr>
            </a:pPr>
            <a:r>
              <a:rPr sz="1900" b="0">
                <a:solidFill>
                  <a:srgbClr val="222222"/>
                </a:solidFill>
                <a:latin typeface="Calibri"/>
              </a:rPr>
              <a:t>6.  Look up strip.fill(). Can you replace the loop with one line?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666666"/>
                </a:solidFill>
                <a:latin typeface="Consolas"/>
              </a:rPr>
              <a:t>// The long way. Nobody writes this.</a:t>
            </a:r>
          </a:p>
          <a:p>
            <a:pPr algn="l">
              <a:lnSpc>
                <a:spcPct val="100000"/>
              </a:lnSpc>
              <a:spcAft>
                <a:spcPts val="0"/>
              </a:spcAft>
              <a:defRPr sz="1800">
                <a:latin typeface="Consolas"/>
              </a:defRPr>
            </a:pPr>
            <a:r>
              <a:rPr sz="1800">
                <a:solidFill>
                  <a:srgbClr val="222222"/>
                </a:solidFill>
                <a:latin typeface="Consolas"/>
              </a:rPr>
              <a:t>strip.setPixelColor(0, white);</a:t>
            </a:r>
          </a:p>
          <a:p>
            <a:pPr algn="l">
              <a:lnSpc>
                <a:spcPct val="100000"/>
              </a:lnSpc>
              <a:spcAft>
                <a:spcPts val="0"/>
              </a:spcAft>
              <a:defRPr sz="1800">
                <a:latin typeface="Consolas"/>
              </a:defRPr>
            </a:pPr>
            <a:r>
              <a:rPr sz="1800">
                <a:solidFill>
                  <a:srgbClr val="222222"/>
                </a:solidFill>
                <a:latin typeface="Consolas"/>
              </a:rPr>
              <a:t>strip.setPixelColor(1, white);</a:t>
            </a:r>
          </a:p>
          <a:p>
            <a:pPr algn="l">
              <a:lnSpc>
                <a:spcPct val="100000"/>
              </a:lnSpc>
              <a:spcAft>
                <a:spcPts val="0"/>
              </a:spcAft>
              <a:defRPr sz="1800">
                <a:latin typeface="Consolas"/>
              </a:defRPr>
            </a:pPr>
            <a:r>
              <a:rPr sz="1800">
                <a:solidFill>
                  <a:srgbClr val="222222"/>
                </a:solidFill>
                <a:latin typeface="Consolas"/>
              </a:rPr>
              <a:t>strip.setPixelColor(2, white);      // ...and 29 more</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666666"/>
                </a:solidFill>
                <a:latin typeface="Consolas"/>
              </a:rPr>
              <a:t>// The for loop. Same thing.</a:t>
            </a:r>
          </a:p>
          <a:p>
            <a:pPr algn="l">
              <a:lnSpc>
                <a:spcPct val="100000"/>
              </a:lnSpc>
              <a:spcAft>
                <a:spcPts val="0"/>
              </a:spcAft>
              <a:defRPr sz="1800">
                <a:latin typeface="Consolas"/>
              </a:defRPr>
            </a:pPr>
            <a:r>
              <a:rPr sz="1800" b="1">
                <a:solidFill>
                  <a:srgbClr val="0E7C86"/>
                </a:solidFill>
                <a:latin typeface="Consolas"/>
              </a:rPr>
              <a:t>for (int i = 0; i &lt; 32; i++) {</a:t>
            </a:r>
          </a:p>
          <a:p>
            <a:pPr algn="l">
              <a:lnSpc>
                <a:spcPct val="100000"/>
              </a:lnSpc>
              <a:spcAft>
                <a:spcPts val="0"/>
              </a:spcAft>
              <a:defRPr sz="1800">
                <a:latin typeface="Consolas"/>
              </a:defRPr>
            </a:pPr>
            <a:r>
              <a:rPr sz="1800" b="1">
                <a:solidFill>
                  <a:srgbClr val="0E7C86"/>
                </a:solidFill>
                <a:latin typeface="Consolas"/>
              </a:rPr>
              <a:t>  strip.setPixelColor(i, white);</a:t>
            </a:r>
          </a:p>
          <a:p>
            <a:pPr algn="l">
              <a:lnSpc>
                <a:spcPct val="100000"/>
              </a:lnSpc>
              <a:spcAft>
                <a:spcPts val="0"/>
              </a:spcAft>
              <a:defRPr sz="1800">
                <a:latin typeface="Consolas"/>
              </a:defRPr>
            </a:pPr>
            <a:r>
              <a:rPr sz="1800" b="1">
                <a:solidFill>
                  <a:srgbClr val="0E7C86"/>
                </a:solidFill>
                <a:latin typeface="Consolas"/>
              </a:rPr>
              <a:t>}</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666666"/>
                </a:solidFill>
                <a:latin typeface="Consolas"/>
              </a:rPr>
              <a:t>// Just the front:</a:t>
            </a:r>
          </a:p>
          <a:p>
            <a:pPr algn="l">
              <a:lnSpc>
                <a:spcPct val="100000"/>
              </a:lnSpc>
              <a:spcAft>
                <a:spcPts val="0"/>
              </a:spcAft>
              <a:defRPr sz="1800">
                <a:latin typeface="Consolas"/>
              </a:defRPr>
            </a:pPr>
            <a:r>
              <a:rPr sz="1800">
                <a:solidFill>
                  <a:srgbClr val="222222"/>
                </a:solidFill>
                <a:latin typeface="Consolas"/>
              </a:rPr>
              <a:t>for (int i = FRONT_FIRST; i &lt;= FRONT_LAST; i++) {</a:t>
            </a:r>
          </a:p>
          <a:p>
            <a:pPr algn="l">
              <a:lnSpc>
                <a:spcPct val="100000"/>
              </a:lnSpc>
              <a:spcAft>
                <a:spcPts val="0"/>
              </a:spcAft>
              <a:defRPr sz="1800">
                <a:latin typeface="Consolas"/>
              </a:defRPr>
            </a:pPr>
            <a:r>
              <a:rPr sz="1800">
                <a:solidFill>
                  <a:srgbClr val="222222"/>
                </a:solidFill>
                <a:latin typeface="Consolas"/>
              </a:rPr>
              <a:t>  strip.setPixelColor(i, headlight);</a:t>
            </a:r>
          </a:p>
          <a:p>
            <a:pPr algn="l">
              <a:lnSpc>
                <a:spcPct val="100000"/>
              </a:lnSpc>
              <a:spcAft>
                <a:spcPts val="0"/>
              </a:spcAft>
              <a:defRPr sz="1800">
                <a:latin typeface="Consolas"/>
              </a:defRPr>
            </a:pPr>
            <a:r>
              <a:rPr sz="18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int i = 0     start here</a:t>
            </a:r>
          </a:p>
          <a:p>
            <a:pPr algn="l">
              <a:lnSpc>
                <a:spcPct val="100000"/>
              </a:lnSpc>
              <a:spcAft>
                <a:spcPts val="700"/>
              </a:spcAft>
              <a:defRPr sz="1900" b="0">
                <a:solidFill>
                  <a:srgbClr val="222222"/>
                </a:solidFill>
                <a:latin typeface="Calibri"/>
              </a:defRPr>
            </a:pPr>
            <a:r>
              <a:rPr sz="1900" b="0">
                <a:solidFill>
                  <a:srgbClr val="222222"/>
                </a:solidFill>
                <a:latin typeface="Calibri"/>
              </a:rPr>
              <a:t>i &lt; 32        keep going while this is true</a:t>
            </a:r>
          </a:p>
          <a:p>
            <a:pPr algn="l">
              <a:lnSpc>
                <a:spcPct val="100000"/>
              </a:lnSpc>
              <a:spcAft>
                <a:spcPts val="700"/>
              </a:spcAft>
              <a:defRPr sz="1900" b="0">
                <a:solidFill>
                  <a:srgbClr val="222222"/>
                </a:solidFill>
                <a:latin typeface="Calibri"/>
              </a:defRPr>
            </a:pPr>
            <a:r>
              <a:rPr sz="1900" b="0">
                <a:solidFill>
                  <a:srgbClr val="222222"/>
                </a:solidFill>
                <a:latin typeface="Calibri"/>
              </a:rPr>
              <a:t>i++           add one each time round</a:t>
            </a:r>
          </a:p>
          <a:p>
            <a:pPr algn="l">
              <a:lnSpc>
                <a:spcPct val="100000"/>
              </a:lnSpc>
              <a:spcAft>
                <a:spcPts val="700"/>
              </a:spcAft>
              <a:defRPr sz="1900" b="0">
                <a:solidFill>
                  <a:srgbClr val="222222"/>
                </a:solidFill>
                <a:latin typeface="Calibri"/>
              </a:defRPr>
            </a:pPr>
          </a:p>
          <a:p>
            <a:pPr algn="l">
              <a:lnSpc>
                <a:spcPct val="100000"/>
              </a:lnSpc>
              <a:spcAft>
                <a:spcPts val="700"/>
              </a:spcAft>
              <a:defRPr sz="1900" b="0">
                <a:solidFill>
                  <a:srgbClr val="222222"/>
                </a:solidFill>
                <a:latin typeface="Calibri"/>
              </a:defRPr>
            </a:pPr>
            <a:r>
              <a:rPr sz="1900" b="0">
                <a:solidFill>
                  <a:srgbClr val="222222"/>
                </a:solidFill>
                <a:latin typeface="Calibri"/>
              </a:rPr>
              <a:t>Watch the difference between  &lt;  and  &lt;=. With FRONT_LAST = 15, you want &lt;= or you will miss LED 15.</a:t>
            </a:r>
          </a:p>
          <a:p>
            <a:pPr algn="l">
              <a:lnSpc>
                <a:spcPct val="100000"/>
              </a:lnSpc>
              <a:spcAft>
                <a:spcPts val="700"/>
              </a:spcAft>
              <a:defRPr sz="1900" b="0">
                <a:solidFill>
                  <a:srgbClr val="222222"/>
                </a:solidFill>
                <a:latin typeface="Calibri"/>
              </a:defRPr>
            </a:pPr>
            <a:r>
              <a:rPr sz="19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colorWipe fills the strip one LED at a time, in order, so the color appears to sweep along it.</a:t>
            </a:r>
          </a:p>
          <a:p>
            <a:pPr lvl="1" algn="l">
              <a:lnSpc>
                <a:spcPct val="100000"/>
              </a:lnSpc>
              <a:spcAft>
                <a:spcPts val="800"/>
              </a:spcAft>
              <a:defRPr sz="1800" b="0">
                <a:solidFill>
                  <a:srgbClr val="222222"/>
                </a:solidFill>
                <a:latin typeface="Calibri"/>
              </a:defRPr>
            </a:pPr>
            <a:r>
              <a:rPr sz="1800" b="0">
                <a:solidFill>
                  <a:srgbClr val="222222"/>
                </a:solidFill>
                <a:latin typeface="Calibri"/>
              </a:rPr>
              <a:t>One loop, one delay per LED.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rainbow uses HUE instead of red, green and blue - one number that goes all the way round the color wheel, 0 to 65535.</a:t>
            </a:r>
          </a:p>
          <a:p>
            <a:pPr lvl="1" algn="l">
              <a:lnSpc>
                <a:spcPct val="100000"/>
              </a:lnSpc>
              <a:spcAft>
                <a:spcPts val="800"/>
              </a:spcAft>
              <a:defRPr sz="1800" b="0">
                <a:solidFill>
                  <a:srgbClr val="222222"/>
                </a:solidFill>
                <a:latin typeface="Calibri"/>
              </a:defRPr>
            </a:pPr>
            <a:r>
              <a:rPr sz="1800" b="0">
                <a:solidFill>
                  <a:srgbClr val="222222"/>
                </a:solidFill>
                <a:latin typeface="Calibri"/>
              </a:rPr>
              <a:t>Each LED gets a hue slightly further round, which spreads a rainbow along the strip. Then the start point creeps forward so it appears to 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theaterChase lights every third LED and shuffles the pattern along by one each frame, so the lights appear to chase each other.</a:t>
            </a:r>
          </a:p>
          <a:p>
            <a:pPr lvl="1" algn="l">
              <a:lnSpc>
                <a:spcPct val="100000"/>
              </a:lnSpc>
              <a:spcAft>
                <a:spcPts val="800"/>
              </a:spcAft>
              <a:defRPr sz="1800" b="0">
                <a:solidFill>
                  <a:srgbClr val="222222"/>
                </a:solidFill>
                <a:latin typeface="Calibri"/>
              </a:defRPr>
            </a:pPr>
            <a:r>
              <a:rPr sz="18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800"/>
              </a:spcAft>
              <a:defRPr sz="1800" b="0">
                <a:solidFill>
                  <a:srgbClr val="222222"/>
                </a:solidFill>
                <a:latin typeface="Calibri"/>
              </a:defRPr>
            </a:pPr>
            <a:r>
              <a:rPr sz="18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Twenty minutes. Working in your group, invent a lighting pattern for your vehicle and write it as a function.</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Some starting points:</a:t>
            </a:r>
          </a:p>
          <a:p>
            <a:pPr lvl="1" algn="l">
              <a:lnSpc>
                <a:spcPct val="100000"/>
              </a:lnSpc>
              <a:spcAft>
                <a:spcPts val="600"/>
              </a:spcAft>
              <a:defRPr sz="1900" b="0">
                <a:solidFill>
                  <a:srgbClr val="222222"/>
                </a:solidFill>
                <a:latin typeface="Calibri"/>
              </a:defRPr>
            </a:pPr>
            <a:r>
              <a:rPr sz="1900" b="0">
                <a:solidFill>
                  <a:srgbClr val="222222"/>
                </a:solidFill>
                <a:latin typeface="Calibri"/>
              </a:rPr>
              <a:t>Police lights - left side red, right side blue, alternating</a:t>
            </a:r>
          </a:p>
          <a:p>
            <a:pPr lvl="1" algn="l">
              <a:lnSpc>
                <a:spcPct val="100000"/>
              </a:lnSpc>
              <a:spcAft>
                <a:spcPts val="600"/>
              </a:spcAft>
              <a:defRPr sz="1900" b="0">
                <a:solidFill>
                  <a:srgbClr val="222222"/>
                </a:solidFill>
                <a:latin typeface="Calibri"/>
              </a:defRPr>
            </a:pPr>
            <a:r>
              <a:rPr sz="1900" b="0">
                <a:solidFill>
                  <a:srgbClr val="222222"/>
                </a:solidFill>
                <a:latin typeface="Calibri"/>
              </a:rPr>
              <a:t>A countdown - all 32 red, then fewer and fewer, then green</a:t>
            </a:r>
          </a:p>
          <a:p>
            <a:pPr lvl="1" algn="l">
              <a:lnSpc>
                <a:spcPct val="100000"/>
              </a:lnSpc>
              <a:spcAft>
                <a:spcPts val="600"/>
              </a:spcAft>
              <a:defRPr sz="1900" b="0">
                <a:solidFill>
                  <a:srgbClr val="222222"/>
                </a:solidFill>
                <a:latin typeface="Calibri"/>
              </a:defRPr>
            </a:pPr>
            <a:r>
              <a:rPr sz="1900" b="0">
                <a:solidFill>
                  <a:srgbClr val="222222"/>
                </a:solidFill>
                <a:latin typeface="Calibri"/>
              </a:rPr>
              <a:t>A battery gauge - green through amber to red across the front bar</a:t>
            </a:r>
          </a:p>
          <a:p>
            <a:pPr lvl="1" algn="l">
              <a:lnSpc>
                <a:spcPct val="100000"/>
              </a:lnSpc>
              <a:spcAft>
                <a:spcPts val="600"/>
              </a:spcAft>
              <a:defRPr sz="1900" b="0">
                <a:solidFill>
                  <a:srgbClr val="222222"/>
                </a:solidFill>
                <a:latin typeface="Calibri"/>
              </a:defRPr>
            </a:pPr>
            <a:r>
              <a:rPr sz="1900" b="0">
                <a:solidFill>
                  <a:srgbClr val="222222"/>
                </a:solidFill>
                <a:latin typeface="Calibri"/>
              </a:rPr>
              <a:t>Breathing - all 32 fading smoothly up and down</a:t>
            </a:r>
          </a:p>
          <a:p>
            <a:pPr lvl="1" algn="l">
              <a:lnSpc>
                <a:spcPct val="100000"/>
              </a:lnSpc>
              <a:spcAft>
                <a:spcPts val="600"/>
              </a:spcAft>
              <a:defRPr sz="1900" b="0">
                <a:solidFill>
                  <a:srgbClr val="222222"/>
                </a:solidFill>
                <a:latin typeface="Calibri"/>
              </a:defRPr>
            </a:pPr>
            <a:r>
              <a:rPr sz="1900" b="0">
                <a:solidFill>
                  <a:srgbClr val="222222"/>
                </a:solidFill>
                <a:latin typeface="Calibri"/>
              </a:rPr>
              <a:t>A collision warning that flashes faster as something gets closer</a:t>
            </a:r>
          </a:p>
          <a:p>
            <a:pPr lvl="1" algn="l">
              <a:lnSpc>
                <a:spcPct val="100000"/>
              </a:lnSpc>
              <a:spcAft>
                <a:spcPts val="600"/>
              </a:spcAft>
              <a:defRPr sz="1900" b="0">
                <a:solidFill>
                  <a:srgbClr val="222222"/>
                </a:solidFill>
                <a:latin typeface="Calibri"/>
              </a:defRPr>
            </a:pPr>
            <a:r>
              <a:rPr sz="1900" b="0">
                <a:solidFill>
                  <a:srgbClr val="222222"/>
                </a:solidFill>
                <a:latin typeface="Calibri"/>
              </a:rPr>
              <a:t>A stoplight - the front bar red, then amber, then green, on a timer, with the rear bar showing the same thing</a:t>
            </a:r>
          </a:p>
          <a:p>
            <a:pPr lvl="1" algn="l">
              <a:lnSpc>
                <a:spcPct val="100000"/>
              </a:lnSpc>
              <a:spcAft>
                <a:spcPts val="600"/>
              </a:spcAft>
              <a:defRPr sz="1900" b="0">
                <a:solidFill>
                  <a:srgbClr val="222222"/>
                </a:solidFill>
                <a:latin typeface="Calibri"/>
              </a:defRPr>
            </a:pPr>
            <a:r>
              <a:rPr sz="1900" b="0">
                <a:solidFill>
                  <a:srgbClr val="222222"/>
                </a:solidFill>
                <a:latin typeface="Calibri"/>
              </a:rPr>
              <a:t>D-pad quadrants - press up, right, down or left and light only that quarter of the vehicle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Rules: it must be a function you call from loop(), and it must use at least one for loop.</a:t>
            </a:r>
          </a:p>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Then show the class. Best one gets used in the race next lesson.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