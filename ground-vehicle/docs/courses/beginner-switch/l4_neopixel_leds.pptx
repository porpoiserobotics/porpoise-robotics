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900" b="0">
                <a:solidFill>
                  <a:srgbClr val="222222"/>
                </a:solidFill>
                <a:latin typeface="Calibri"/>
              </a:defRPr>
            </a:pPr>
            <a:r>
              <a:rPr sz="1900" b="0">
                <a:solidFill>
                  <a:srgbClr val="222222"/>
                </a:solidFill>
                <a:latin typeface="Calibri"/>
              </a:rPr>
              <a:t>Red      625 - 740 nm</a:t>
            </a:r>
          </a:p>
          <a:p>
            <a:pPr lvl="1" algn="l">
              <a:lnSpc>
                <a:spcPct val="100000"/>
              </a:lnSpc>
              <a:spcAft>
                <a:spcPts val="800"/>
              </a:spcAft>
              <a:defRPr sz="1900" b="0">
                <a:solidFill>
                  <a:srgbClr val="222222"/>
                </a:solidFill>
                <a:latin typeface="Calibri"/>
              </a:defRPr>
            </a:pPr>
            <a:r>
              <a:rPr sz="1900" b="0">
                <a:solidFill>
                  <a:srgbClr val="222222"/>
                </a:solidFill>
                <a:latin typeface="Calibri"/>
              </a:rPr>
              <a:t>Yellow   565 - 590 nm</a:t>
            </a:r>
          </a:p>
          <a:p>
            <a:pPr lvl="1" algn="l">
              <a:lnSpc>
                <a:spcPct val="100000"/>
              </a:lnSpc>
              <a:spcAft>
                <a:spcPts val="800"/>
              </a:spcAft>
              <a:defRPr sz="1900" b="0">
                <a:solidFill>
                  <a:srgbClr val="222222"/>
                </a:solidFill>
                <a:latin typeface="Calibri"/>
              </a:defRPr>
            </a:pPr>
            <a:r>
              <a:rPr sz="1900" b="0">
                <a:solidFill>
                  <a:srgbClr val="222222"/>
                </a:solidFill>
                <a:latin typeface="Calibri"/>
              </a:rPr>
              <a:t>Green    500 - 565 nm</a:t>
            </a:r>
          </a:p>
          <a:p>
            <a:pPr lvl="1" algn="l">
              <a:lnSpc>
                <a:spcPct val="100000"/>
              </a:lnSpc>
              <a:spcAft>
                <a:spcPts val="800"/>
              </a:spcAft>
              <a:defRPr sz="1900" b="0">
                <a:solidFill>
                  <a:srgbClr val="222222"/>
                </a:solidFill>
                <a:latin typeface="Calibri"/>
              </a:defRPr>
            </a:pPr>
            <a:r>
              <a:rPr sz="1900" b="0">
                <a:solidFill>
                  <a:srgbClr val="222222"/>
                </a:solidFill>
                <a:latin typeface="Calibri"/>
              </a:rPr>
              <a:t>Blue     440 - 485 nm</a:t>
            </a:r>
          </a:p>
          <a:p>
            <a:pPr lvl="1" algn="l">
              <a:lnSpc>
                <a:spcPct val="100000"/>
              </a:lnSpc>
              <a:spcAft>
                <a:spcPts val="800"/>
              </a:spcAft>
              <a:defRPr sz="1900" b="0">
                <a:solidFill>
                  <a:srgbClr val="222222"/>
                </a:solidFill>
                <a:latin typeface="Calibri"/>
              </a:defRPr>
            </a:pPr>
            <a:r>
              <a:rPr sz="1900" b="0">
                <a:solidFill>
                  <a:srgbClr val="222222"/>
                </a:solidFill>
                <a:latin typeface="Calibri"/>
              </a:rPr>
              <a:t>Violet   380 - 440 nm</a:t>
            </a:r>
          </a:p>
          <a:p>
            <a:pPr algn="l">
              <a:lnSpc>
                <a:spcPct val="100000"/>
              </a:lnSpc>
              <a:spcAft>
                <a:spcPts val="800"/>
              </a:spcAft>
              <a:defRPr sz="1900" b="0">
                <a:solidFill>
                  <a:srgbClr val="222222"/>
                </a:solidFill>
                <a:latin typeface="Calibri"/>
              </a:defRPr>
            </a:pPr>
            <a:r>
              <a:rPr sz="19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900" b="0">
                <a:solidFill>
                  <a:srgbClr val="222222"/>
                </a:solidFill>
                <a:latin typeface="Calibri"/>
              </a:defRPr>
            </a:pPr>
            <a:r>
              <a:rPr sz="1900" b="0">
                <a:solidFill>
                  <a:srgbClr val="222222"/>
                </a:solidFill>
                <a:latin typeface="Calibri"/>
              </a:rPr>
              <a:t>Your brain compares them, which is called OPPONENCY.</a:t>
            </a:r>
          </a:p>
          <a:p>
            <a:pPr algn="l">
              <a:lnSpc>
                <a:spcPct val="100000"/>
              </a:lnSpc>
              <a:spcAft>
                <a:spcPts val="800"/>
              </a:spcAft>
              <a:defRPr sz="1900" b="0">
                <a:solidFill>
                  <a:srgbClr val="222222"/>
                </a:solidFill>
                <a:latin typeface="Calibri"/>
              </a:defRPr>
            </a:pPr>
            <a:r>
              <a:rPr sz="19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900" b="0">
                <a:solidFill>
                  <a:srgbClr val="222222"/>
                </a:solidFill>
                <a:latin typeface="Calibri"/>
              </a:defRPr>
            </a:pPr>
            <a:r>
              <a:rPr sz="19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