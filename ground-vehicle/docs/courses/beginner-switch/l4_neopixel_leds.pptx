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colour, power budgets, and making 32 lights do what you tell them.</a:t>
            </a:r>
          </a:p>
        </p:txBody>
      </p:sp>
      <p:sp>
        <p:nvSpPr>
          <p:cNvPr id="7" name="TextBox 6"/>
          <p:cNvSpPr txBox="1"/>
          <p:nvPr/>
        </p:nvSpPr>
        <p:spPr>
          <a:xfrm>
            <a:off x="502920" y="4224528"/>
            <a:ext cx="6492240" cy="1371600"/>
          </a:xfrm>
          <a:prstGeom prst="rect">
            <a:avLst/>
          </a:prstGeom>
          <a:noFill/>
        </p:spPr>
        <p:txBody>
          <a:bodyPr wrap="square" lIns="0" tIns="0" rIns="0" bIns="0">
            <a:spAutoFit/>
          </a:bodyPr>
          <a:lstStyle/>
          <a:p>
            <a:pPr algn="l">
              <a:lnSpc>
                <a:spcPct val="100000"/>
              </a:lnSpc>
              <a:spcAft>
                <a:spcPts val="200"/>
              </a:spcAft>
              <a:defRPr sz="1300" b="0">
                <a:solidFill>
                  <a:srgbClr val="666666"/>
                </a:solidFill>
                <a:latin typeface="Calibri"/>
              </a:defRPr>
            </a:pPr>
            <a:r>
              <a:rPr sz="1300" b="0">
                <a:solidFill>
                  <a:srgbClr val="666666"/>
                </a:solidFill>
                <a:latin typeface="Calibri"/>
              </a:rPr>
              <a:t>Porpoise Robotics  -  porpoiserobotics.org</a:t>
            </a:r>
          </a:p>
          <a:p>
            <a:pPr algn="l">
              <a:lnSpc>
                <a:spcPct val="100000"/>
              </a:lnSpc>
              <a:spcAft>
                <a:spcPts val="200"/>
              </a:spcAft>
              <a:defRPr sz="1300" b="0">
                <a:solidFill>
                  <a:srgbClr val="666666"/>
                </a:solidFill>
                <a:latin typeface="Calibri"/>
              </a:defRPr>
            </a:pPr>
            <a:r>
              <a:rPr sz="1300" b="0">
                <a:solidFill>
                  <a:srgbClr val="666666"/>
                </a:solidFill>
                <a:latin typeface="Calibri"/>
              </a:rPr>
              <a:t>Kevin P. Bowen, President  -  kbowen6@icloud.com</a:t>
            </a:r>
          </a:p>
          <a:p>
            <a:pPr algn="l">
              <a:lnSpc>
                <a:spcPct val="100000"/>
              </a:lnSpc>
              <a:spcAft>
                <a:spcPts val="200"/>
              </a:spcAft>
              <a:defRPr sz="1300" b="0">
                <a:solidFill>
                  <a:srgbClr val="666666"/>
                </a:solidFill>
                <a:latin typeface="Calibri"/>
              </a:defRPr>
            </a:pPr>
          </a:p>
          <a:p>
            <a:pPr algn="l">
              <a:lnSpc>
                <a:spcPct val="100000"/>
              </a:lnSpc>
              <a:spcAft>
                <a:spcPts val="200"/>
              </a:spcAft>
              <a:defRPr sz="1300" b="0">
                <a:solidFill>
                  <a:srgbClr val="666666"/>
                </a:solidFill>
                <a:latin typeface="Calibri"/>
              </a:defRPr>
            </a:pPr>
            <a:r>
              <a:rPr sz="13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1371600"/>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week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know how a controller reaches the vehicle, and why every vehicle needs its own address.</a:t>
            </a:r>
          </a:p>
          <a:p>
            <a:pPr algn="l">
              <a:lnSpc>
                <a:spcPct val="100000"/>
              </a:lnSpc>
              <a:spcAft>
                <a:spcPts val="900"/>
              </a:spcAft>
              <a:defRPr sz="1800" b="0">
                <a:solidFill>
                  <a:srgbClr val="222222"/>
                </a:solidFill>
                <a:latin typeface="Calibri"/>
              </a:defRPr>
            </a:pPr>
            <a:r>
              <a:rPr sz="1800" b="0">
                <a:solidFill>
                  <a:srgbClr val="222222"/>
                </a:solidFill>
                <a:latin typeface="Calibri"/>
              </a:rPr>
              <a:t>You know what a deadzone is and why it exists.</a:t>
            </a:r>
          </a:p>
          <a:p>
            <a:pPr algn="l">
              <a:lnSpc>
                <a:spcPct val="100000"/>
              </a:lnSpc>
              <a:spcAft>
                <a:spcPts val="900"/>
              </a:spcAft>
              <a:defRPr sz="1800" b="0">
                <a:solidFill>
                  <a:srgbClr val="222222"/>
                </a:solidFill>
                <a:latin typeface="Calibri"/>
              </a:defRPr>
            </a:pPr>
            <a:r>
              <a:rPr sz="1800" b="0">
                <a:solidFill>
                  <a:srgbClr val="222222"/>
                </a:solidFill>
                <a:latin typeface="Calibri"/>
              </a:rPr>
              <a:t>You can turn a stick reading into a motor speed, and mix forward with turn.</a:t>
            </a:r>
          </a:p>
          <a:p>
            <a:pPr algn="l">
              <a:lnSpc>
                <a:spcPct val="100000"/>
              </a:lnSpc>
              <a:spcAft>
                <a:spcPts val="900"/>
              </a:spcAft>
              <a:defRPr sz="1800" b="0">
                <a:solidFill>
                  <a:srgbClr val="222222"/>
                </a:solidFill>
                <a:latin typeface="Calibri"/>
              </a:defRPr>
            </a:pPr>
            <a:r>
              <a:rPr sz="1800" b="0">
                <a:solidFill>
                  <a:srgbClr val="222222"/>
                </a:solidFill>
                <a:latin typeface="Calibri"/>
              </a:rPr>
              <a:t>You can drive.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Next week everything comes together and we race.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268605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What an addressable LED is</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Colour: RGB, wavelength, and how your eye works</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The power budget. Upload l4a_all_one_colour</a:t>
                      </a:r>
                    </a:p>
                  </a:txBody>
                  <a:tcPr marL="73152" marT="18288" marB="18288">
                    <a:solidFill>
                      <a:srgbClr val="FFFFFF"/>
                    </a:solidFill>
                  </a:tcPr>
                </a:tc>
              </a:tr>
              <a:tr h="298450">
                <a:tc>
                  <a:txBody>
                    <a:bodyPr/>
                    <a:lstStyle/>
                    <a:p>
                      <a:r>
                        <a:rPr sz="1400">
                          <a:solidFill>
                            <a:srgbClr val="222222"/>
                          </a:solidFill>
                          <a:latin typeface="Calibri"/>
                        </a:rPr>
                        <a:t>1:20</a:t>
                      </a:r>
                    </a:p>
                  </a:txBody>
                  <a:tcPr marL="73152" marT="18288" marB="18288">
                    <a:solidFill>
                      <a:srgbClr val="EEF3F8"/>
                    </a:solidFill>
                  </a:tcPr>
                </a:tc>
                <a:tc>
                  <a:txBody>
                    <a:bodyPr/>
                    <a:lstStyle/>
                    <a:p>
                      <a:r>
                        <a:rPr sz="1400">
                          <a:solidFill>
                            <a:srgbClr val="222222"/>
                          </a:solidFill>
                          <a:latin typeface="Calibri"/>
                        </a:rPr>
                        <a:t>Break</a:t>
                      </a:r>
                    </a:p>
                  </a:txBody>
                  <a:tcPr marL="73152" marT="18288" marB="18288">
                    <a:solidFill>
                      <a:srgbClr val="EEF3F8"/>
                    </a:solidFill>
                  </a:tcPr>
                </a:tc>
              </a:tr>
              <a:tr h="298450">
                <a:tc>
                  <a:txBody>
                    <a:bodyPr/>
                    <a:lstStyle/>
                    <a:p>
                      <a:r>
                        <a:rPr sz="1400">
                          <a:solidFill>
                            <a:srgbClr val="222222"/>
                          </a:solidFill>
                          <a:latin typeface="Calibri"/>
                        </a:rPr>
                        <a:t>1:30</a:t>
                      </a:r>
                    </a:p>
                  </a:txBody>
                  <a:tcPr marL="73152" marT="18288" marB="18288">
                    <a:solidFill>
                      <a:srgbClr val="FFFFFF"/>
                    </a:solidFill>
                  </a:tcPr>
                </a:tc>
                <a:tc>
                  <a:txBody>
                    <a:bodyPr/>
                    <a:lstStyle/>
                    <a:p>
                      <a:r>
                        <a:rPr sz="1400">
                          <a:solidFill>
                            <a:srgbClr val="222222"/>
                          </a:solidFill>
                          <a:latin typeface="Calibri"/>
                        </a:rPr>
                        <a:t>Mapping the loop. Upload l4b_led_map</a:t>
                      </a:r>
                    </a:p>
                  </a:txBody>
                  <a:tcPr marL="73152" marT="18288" marB="18288">
                    <a:solidFill>
                      <a:srgbClr val="FFFFFF"/>
                    </a:solidFill>
                  </a:tcPr>
                </a:tc>
              </a:tr>
              <a:tr h="298450">
                <a:tc>
                  <a:txBody>
                    <a:bodyPr/>
                    <a:lstStyle/>
                    <a:p>
                      <a:r>
                        <a:rPr sz="1400">
                          <a:solidFill>
                            <a:srgbClr val="222222"/>
                          </a:solidFill>
                          <a:latin typeface="Calibri"/>
                        </a:rPr>
                        <a:t>2:00</a:t>
                      </a:r>
                    </a:p>
                  </a:txBody>
                  <a:tcPr marL="73152" marT="18288" marB="18288">
                    <a:solidFill>
                      <a:srgbClr val="EEF3F8"/>
                    </a:solidFill>
                  </a:tcPr>
                </a:tc>
                <a:tc>
                  <a:txBody>
                    <a:bodyPr/>
                    <a:lstStyle/>
                    <a:p>
                      <a:r>
                        <a:rPr sz="1400">
                          <a:solidFill>
                            <a:srgbClr val="222222"/>
                          </a:solidFill>
                          <a:latin typeface="Calibri"/>
                        </a:rPr>
                        <a:t>for loops, and four patterns. Upload l4c_patterns</a:t>
                      </a:r>
                    </a:p>
                  </a:txBody>
                  <a:tcPr marL="73152" marT="18288" marB="18288">
                    <a:solidFill>
                      <a:srgbClr val="EEF3F8"/>
                    </a:solidFill>
                  </a:tcPr>
                </a:tc>
              </a:tr>
              <a:tr h="298450">
                <a:tc>
                  <a:txBody>
                    <a:bodyPr/>
                    <a:lstStyle/>
                    <a:p>
                      <a:r>
                        <a:rPr sz="1400">
                          <a:solidFill>
                            <a:srgbClr val="222222"/>
                          </a:solidFill>
                          <a:latin typeface="Calibri"/>
                        </a:rPr>
                        <a:t>2:35</a:t>
                      </a:r>
                    </a:p>
                  </a:txBody>
                  <a:tcPr marL="73152" marT="18288" marB="18288">
                    <a:solidFill>
                      <a:srgbClr val="FFFFFF"/>
                    </a:solidFill>
                  </a:tcPr>
                </a:tc>
                <a:tc>
                  <a:txBody>
                    <a:bodyPr/>
                    <a:lstStyle/>
                    <a:p>
                      <a:r>
                        <a:rPr sz="1400">
                          <a:solidFill>
                            <a:srgbClr val="222222"/>
                          </a:solidFill>
                          <a:latin typeface="Calibri"/>
                        </a:rPr>
                        <a:t>Design a pattern of your own</a:t>
                      </a:r>
                    </a:p>
                  </a:txBody>
                  <a:tcPr marL="73152" marT="18288" marB="18288">
                    <a:solidFill>
                      <a:srgbClr val="FFFFFF"/>
                    </a:solidFill>
                  </a:tcPr>
                </a:tc>
              </a:tr>
              <a:tr h="298450">
                <a:tc>
                  <a:txBody>
                    <a:bodyPr/>
                    <a:lstStyle/>
                    <a:p>
                      <a:r>
                        <a:rPr sz="1400">
                          <a:solidFill>
                            <a:srgbClr val="222222"/>
                          </a:solidFill>
                          <a:latin typeface="Calibri"/>
                        </a:rPr>
                        <a:t>2:55</a:t>
                      </a:r>
                    </a:p>
                  </a:txBody>
                  <a:tcPr marL="73152" marT="18288" marB="18288">
                    <a:solidFill>
                      <a:srgbClr val="EEF3F8"/>
                    </a:solidFill>
                  </a:tcPr>
                </a:tc>
                <a:tc>
                  <a:txBody>
                    <a:bodyPr/>
                    <a:lstStyle/>
                    <a:p>
                      <a:r>
                        <a:rPr sz="1400">
                          <a:solidFill>
                            <a:srgbClr val="222222"/>
                          </a:solidFill>
                          <a:latin typeface="Calibri"/>
                        </a:rPr>
                        <a:t>Recap</a:t>
                      </a:r>
                    </a:p>
                  </a:txBody>
                  <a:tcPr marL="73152" marT="18288" marB="18288">
                    <a:solidFill>
                      <a:srgbClr val="EEF3F8"/>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wire, 32 addressable devices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600" b="0">
                <a:solidFill>
                  <a:srgbClr val="222222"/>
                </a:solidFill>
                <a:latin typeface="Calibri"/>
              </a:defRPr>
            </a:pPr>
            <a:r>
              <a:rPr sz="1600" b="0">
                <a:solidFill>
                  <a:srgbClr val="222222"/>
                </a:solidFill>
                <a:latin typeface="Calibri"/>
              </a:rPr>
              <a:t>An ordinary LED has two legs. It is on or off, and if you want ten of them you need ten pins.</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A NeoPixel - the part is a WS2812B - has four connections: 5 volts, ground, DATA IN and DATA OUT. Inside it there is a tiny controller chip and three LEDs: one red, one green, one blue.</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Send a stream of colour messages into the first pixel. It keeps the FIRST message for itself and passes the rest out of its data-out pin to the next one, which does the same.</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So one wire drives the whole chain. Our vehicle has 32 of them on GPIO 5 - and they are numbered in the order the data flows, which is why the numbering does what it does.</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In theory a chain can be any length. In practice the whole chain has to be refreshed every frame, so about 350 pixels is the limit before the refresh rate drops below 40 Hz.</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4</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2825750"/>
        </p:xfrm>
        <a:graphic>
          <a:graphicData uri="http://schemas.openxmlformats.org/drawingml/2006/table">
            <a:tbl>
              <a:tblPr firstRow="1" bandRow="1">
                <a:tableStyleId>{5C22544A-7EE6-4342-B048-85BDC9FD1C3A}</a:tableStyleId>
              </a:tblPr>
              <a:tblGrid>
                <a:gridCol w="3457446"/>
                <a:gridCol w="7728408"/>
              </a:tblGrid>
              <a:tr h="282575">
                <a:tc>
                  <a:txBody>
                    <a:bodyPr/>
                    <a:lstStyle/>
                    <a:p>
                      <a:r>
                        <a:rPr sz="1300" b="1">
                          <a:solidFill>
                            <a:srgbClr val="FFFFFF"/>
                          </a:solidFill>
                          <a:latin typeface="Calibri"/>
                        </a:rPr>
                        <a:t>Call</a:t>
                      </a:r>
                    </a:p>
                  </a:txBody>
                  <a:tcPr marL="73152" marT="18288" marB="18288">
                    <a:solidFill>
                      <a:srgbClr val="1F3A5F"/>
                    </a:solidFill>
                  </a:tcPr>
                </a:tc>
                <a:tc>
                  <a:txBody>
                    <a:bodyPr/>
                    <a:lstStyle/>
                    <a:p>
                      <a:r>
                        <a:rPr sz="1300" b="1">
                          <a:solidFill>
                            <a:srgbClr val="FFFFFF"/>
                          </a:solidFill>
                          <a:latin typeface="Calibri"/>
                        </a:rPr>
                        <a:t>What it does</a:t>
                      </a:r>
                    </a:p>
                  </a:txBody>
                  <a:tcPr marL="73152" marT="18288" marB="18288">
                    <a:solidFill>
                      <a:srgbClr val="1F3A5F"/>
                    </a:solidFill>
                  </a:tcPr>
                </a:tc>
              </a:tr>
              <a:tr h="282575">
                <a:tc>
                  <a:txBody>
                    <a:bodyPr/>
                    <a:lstStyle/>
                    <a:p>
                      <a:r>
                        <a:rPr sz="1300">
                          <a:solidFill>
                            <a:srgbClr val="222222"/>
                          </a:solidFill>
                          <a:latin typeface="Consolas"/>
                        </a:rPr>
                        <a:t>strip.begin()</a:t>
                      </a:r>
                    </a:p>
                  </a:txBody>
                  <a:tcPr marL="73152" marT="18288" marB="18288">
                    <a:solidFill>
                      <a:srgbClr val="FFFFFF"/>
                    </a:solidFill>
                  </a:tcPr>
                </a:tc>
                <a:tc>
                  <a:txBody>
                    <a:bodyPr/>
                    <a:lstStyle/>
                    <a:p>
                      <a:r>
                        <a:rPr sz="1300">
                          <a:solidFill>
                            <a:srgbClr val="222222"/>
                          </a:solidFill>
                          <a:latin typeface="Calibri"/>
                        </a:rPr>
                        <a:t>Wakes the strip up. Once, in setup(). Always required.</a:t>
                      </a:r>
                    </a:p>
                  </a:txBody>
                  <a:tcPr marL="73152" marT="18288" marB="18288">
                    <a:solidFill>
                      <a:srgbClr val="FFFFFF"/>
                    </a:solidFill>
                  </a:tcPr>
                </a:tc>
              </a:tr>
              <a:tr h="282575">
                <a:tc>
                  <a:txBody>
                    <a:bodyPr/>
                    <a:lstStyle/>
                    <a:p>
                      <a:r>
                        <a:rPr sz="1300">
                          <a:solidFill>
                            <a:srgbClr val="222222"/>
                          </a:solidFill>
                          <a:latin typeface="Consolas"/>
                        </a:rPr>
                        <a:t>strip.setBrightness(n)</a:t>
                      </a:r>
                    </a:p>
                  </a:txBody>
                  <a:tcPr marL="73152" marT="18288" marB="18288">
                    <a:solidFill>
                      <a:srgbClr val="EEF3F8"/>
                    </a:solidFill>
                  </a:tcPr>
                </a:tc>
                <a:tc>
                  <a:txBody>
                    <a:bodyPr/>
                    <a:lstStyle/>
                    <a:p>
                      <a:r>
                        <a:rPr sz="1300">
                          <a:solidFill>
                            <a:srgbClr val="222222"/>
                          </a:solidFill>
                          <a:latin typeface="Calibri"/>
                        </a:rPr>
                        <a:t>Master scale, 0 to 255, applied to every pixel</a:t>
                      </a:r>
                    </a:p>
                  </a:txBody>
                  <a:tcPr marL="73152" marT="18288" marB="18288">
                    <a:solidFill>
                      <a:srgbClr val="EEF3F8"/>
                    </a:solidFill>
                  </a:tcPr>
                </a:tc>
              </a:tr>
              <a:tr h="282575">
                <a:tc>
                  <a:txBody>
                    <a:bodyPr/>
                    <a:lstStyle/>
                    <a:p>
                      <a:r>
                        <a:rPr sz="1300">
                          <a:solidFill>
                            <a:srgbClr val="222222"/>
                          </a:solidFill>
                          <a:latin typeface="Consolas"/>
                        </a:rPr>
                        <a:t>strip.Color(r, g, b)</a:t>
                      </a:r>
                    </a:p>
                  </a:txBody>
                  <a:tcPr marL="73152" marT="18288" marB="18288">
                    <a:solidFill>
                      <a:srgbClr val="FFFFFF"/>
                    </a:solidFill>
                  </a:tcPr>
                </a:tc>
                <a:tc>
                  <a:txBody>
                    <a:bodyPr/>
                    <a:lstStyle/>
                    <a:p>
                      <a:r>
                        <a:rPr sz="1300">
                          <a:solidFill>
                            <a:srgbClr val="222222"/>
                          </a:solidFill>
                          <a:latin typeface="Calibri"/>
                        </a:rPr>
                        <a:t>Packs three 0-255 numbers into one colour value</a:t>
                      </a:r>
                    </a:p>
                  </a:txBody>
                  <a:tcPr marL="73152" marT="18288" marB="18288">
                    <a:solidFill>
                      <a:srgbClr val="FFFFFF"/>
                    </a:solidFill>
                  </a:tcPr>
                </a:tc>
              </a:tr>
              <a:tr h="282575">
                <a:tc>
                  <a:txBody>
                    <a:bodyPr/>
                    <a:lstStyle/>
                    <a:p>
                      <a:r>
                        <a:rPr sz="1300">
                          <a:solidFill>
                            <a:srgbClr val="222222"/>
                          </a:solidFill>
                          <a:latin typeface="Consolas"/>
                        </a:rPr>
                        <a:t>strip.setPixelColor(i, c)</a:t>
                      </a:r>
                    </a:p>
                  </a:txBody>
                  <a:tcPr marL="73152" marT="18288" marB="18288">
                    <a:solidFill>
                      <a:srgbClr val="EEF3F8"/>
                    </a:solidFill>
                  </a:tcPr>
                </a:tc>
                <a:tc>
                  <a:txBody>
                    <a:bodyPr/>
                    <a:lstStyle/>
                    <a:p>
                      <a:r>
                        <a:rPr sz="1300">
                          <a:solidFill>
                            <a:srgbClr val="222222"/>
                          </a:solidFill>
                          <a:latin typeface="Calibri"/>
                        </a:rPr>
                        <a:t>Sets pixel i - IN MEMORY ONLY</a:t>
                      </a:r>
                    </a:p>
                  </a:txBody>
                  <a:tcPr marL="73152" marT="18288" marB="18288">
                    <a:solidFill>
                      <a:srgbClr val="EEF3F8"/>
                    </a:solidFill>
                  </a:tcPr>
                </a:tc>
              </a:tr>
              <a:tr h="282575">
                <a:tc>
                  <a:txBody>
                    <a:bodyPr/>
                    <a:lstStyle/>
                    <a:p>
                      <a:r>
                        <a:rPr sz="1300">
                          <a:solidFill>
                            <a:srgbClr val="222222"/>
                          </a:solidFill>
                          <a:latin typeface="Consolas"/>
                        </a:rPr>
                        <a:t>strip.fill(c)</a:t>
                      </a:r>
                    </a:p>
                  </a:txBody>
                  <a:tcPr marL="73152" marT="18288" marB="18288">
                    <a:solidFill>
                      <a:srgbClr val="FFFFFF"/>
                    </a:solidFill>
                  </a:tcPr>
                </a:tc>
                <a:tc>
                  <a:txBody>
                    <a:bodyPr/>
                    <a:lstStyle/>
                    <a:p>
                      <a:r>
                        <a:rPr sz="1300">
                          <a:solidFill>
                            <a:srgbClr val="222222"/>
                          </a:solidFill>
                          <a:latin typeface="Calibri"/>
                        </a:rPr>
                        <a:t>Sets every pixel to the same colour, in memory</a:t>
                      </a:r>
                    </a:p>
                  </a:txBody>
                  <a:tcPr marL="73152" marT="18288" marB="18288">
                    <a:solidFill>
                      <a:srgbClr val="FFFFFF"/>
                    </a:solidFill>
                  </a:tcPr>
                </a:tc>
              </a:tr>
              <a:tr h="282575">
                <a:tc>
                  <a:txBody>
                    <a:bodyPr/>
                    <a:lstStyle/>
                    <a:p>
                      <a:r>
                        <a:rPr sz="1300">
                          <a:solidFill>
                            <a:srgbClr val="222222"/>
                          </a:solidFill>
                          <a:latin typeface="Consolas"/>
                        </a:rPr>
                        <a:t>strip.clear()</a:t>
                      </a:r>
                    </a:p>
                  </a:txBody>
                  <a:tcPr marL="73152" marT="18288" marB="18288">
                    <a:solidFill>
                      <a:srgbClr val="EEF3F8"/>
                    </a:solidFill>
                  </a:tcPr>
                </a:tc>
                <a:tc>
                  <a:txBody>
                    <a:bodyPr/>
                    <a:lstStyle/>
                    <a:p>
                      <a:r>
                        <a:rPr sz="1300">
                          <a:solidFill>
                            <a:srgbClr val="222222"/>
                          </a:solidFill>
                          <a:latin typeface="Calibri"/>
                        </a:rPr>
                        <a:t>Sets every pixel to off, in memory</a:t>
                      </a:r>
                    </a:p>
                  </a:txBody>
                  <a:tcPr marL="73152" marT="18288" marB="18288">
                    <a:solidFill>
                      <a:srgbClr val="EEF3F8"/>
                    </a:solidFill>
                  </a:tcPr>
                </a:tc>
              </a:tr>
              <a:tr h="282575">
                <a:tc>
                  <a:txBody>
                    <a:bodyPr/>
                    <a:lstStyle/>
                    <a:p>
                      <a:r>
                        <a:rPr sz="1300">
                          <a:solidFill>
                            <a:srgbClr val="222222"/>
                          </a:solidFill>
                          <a:latin typeface="Consolas"/>
                        </a:rPr>
                        <a:t>strip.show()</a:t>
                      </a:r>
                    </a:p>
                  </a:txBody>
                  <a:tcPr marL="73152" marT="18288" marB="18288">
                    <a:solidFill>
                      <a:srgbClr val="FFFFFF"/>
                    </a:solidFill>
                  </a:tcPr>
                </a:tc>
                <a:tc>
                  <a:txBody>
                    <a:bodyPr/>
                    <a:lstStyle/>
                    <a:p>
                      <a:r>
                        <a:rPr sz="1300">
                          <a:solidFill>
                            <a:srgbClr val="222222"/>
                          </a:solidFill>
                          <a:latin typeface="Calibri"/>
                        </a:rPr>
                        <a:t>Sends the memory to the hardware. Nothing happens without it.</a:t>
                      </a:r>
                    </a:p>
                  </a:txBody>
                  <a:tcPr marL="73152" marT="18288" marB="18288">
                    <a:solidFill>
                      <a:srgbClr val="FFFFFF"/>
                    </a:solidFill>
                  </a:tcPr>
                </a:tc>
              </a:tr>
              <a:tr h="282575">
                <a:tc>
                  <a:txBody>
                    <a:bodyPr/>
                    <a:lstStyle/>
                    <a:p>
                      <a:r>
                        <a:rPr sz="1300">
                          <a:solidFill>
                            <a:srgbClr val="222222"/>
                          </a:solidFill>
                          <a:latin typeface="Consolas"/>
                        </a:rPr>
                        <a:t>strip.numPixels()</a:t>
                      </a:r>
                    </a:p>
                  </a:txBody>
                  <a:tcPr marL="73152" marT="18288" marB="18288">
                    <a:solidFill>
                      <a:srgbClr val="EEF3F8"/>
                    </a:solidFill>
                  </a:tcPr>
                </a:tc>
                <a:tc>
                  <a:txBody>
                    <a:bodyPr/>
                    <a:lstStyle/>
                    <a:p>
                      <a:r>
                        <a:rPr sz="1300">
                          <a:solidFill>
                            <a:srgbClr val="222222"/>
                          </a:solidFill>
                          <a:latin typeface="Calibri"/>
                        </a:rPr>
                        <a:t>How many there are - 32 here</a:t>
                      </a:r>
                    </a:p>
                  </a:txBody>
                  <a:tcPr marL="73152" marT="18288" marB="18288">
                    <a:solidFill>
                      <a:srgbClr val="EEF3F8"/>
                    </a:solidFill>
                  </a:tcPr>
                </a:tc>
              </a:tr>
              <a:tr h="282575">
                <a:tc>
                  <a:txBody>
                    <a:bodyPr/>
                    <a:lstStyle/>
                    <a:p>
                      <a:r>
                        <a:rPr sz="1300">
                          <a:solidFill>
                            <a:srgbClr val="222222"/>
                          </a:solidFill>
                          <a:latin typeface="Consolas"/>
                        </a:rPr>
                        <a:t>strip.gamma32(c)</a:t>
                      </a:r>
                    </a:p>
                  </a:txBody>
                  <a:tcPr marL="73152" marT="18288" marB="18288">
                    <a:solidFill>
                      <a:srgbClr val="FFFFFF"/>
                    </a:solidFill>
                  </a:tcPr>
                </a:tc>
                <a:tc>
                  <a:txBody>
                    <a:bodyPr/>
                    <a:lstStyle/>
                    <a:p>
                      <a:r>
                        <a:rPr sz="1300">
                          <a:solidFill>
                            <a:srgbClr val="222222"/>
                          </a:solidFill>
                          <a:latin typeface="Calibri"/>
                        </a:rPr>
                        <a:t>Corrects a colour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Six of those nine only touch memory. Exactly one of them, show(), changes what you can see.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colour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5</a:t>
            </a:r>
          </a:p>
        </p:txBody>
      </p:sp>
      <p:sp>
        <p:nvSpPr>
          <p:cNvPr id="6" name="Oval 5"/>
          <p:cNvSpPr/>
          <p:nvPr/>
        </p:nvSpPr>
        <p:spPr>
          <a:xfrm>
            <a:off x="1874520" y="1188720"/>
            <a:ext cx="2743200" cy="2743200"/>
          </a:xfrm>
          <a:prstGeom prst="ellipse">
            <a:avLst/>
          </a:prstGeom>
          <a:solidFill>
            <a:srgbClr val="E82C2C"/>
          </a:solidFill>
          <a:ln w="19050">
            <a:solidFill>
              <a:srgbClr val="E82C2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7" name="Oval 6"/>
          <p:cNvSpPr/>
          <p:nvPr/>
        </p:nvSpPr>
        <p:spPr>
          <a:xfrm>
            <a:off x="1097280" y="2514600"/>
            <a:ext cx="2743200" cy="2743200"/>
          </a:xfrm>
          <a:prstGeom prst="ellipse">
            <a:avLst/>
          </a:prstGeom>
          <a:solidFill>
            <a:srgbClr val="2CB44A"/>
          </a:solidFill>
          <a:ln w="19050">
            <a:solidFill>
              <a:srgbClr val="2CB4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8" name="Oval 7"/>
          <p:cNvSpPr/>
          <p:nvPr/>
        </p:nvSpPr>
        <p:spPr>
          <a:xfrm>
            <a:off x="2651760" y="2514600"/>
            <a:ext cx="2743200" cy="2743200"/>
          </a:xfrm>
          <a:prstGeom prst="ellipse">
            <a:avLst/>
          </a:prstGeom>
          <a:solidFill>
            <a:srgbClr val="2C5AE8"/>
          </a:solidFill>
          <a:ln w="19050">
            <a:solidFill>
              <a:srgbClr val="2C5A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9" name="TextBox 8"/>
          <p:cNvSpPr txBox="1"/>
          <p:nvPr/>
        </p:nvSpPr>
        <p:spPr>
          <a:xfrm>
            <a:off x="502920" y="5623560"/>
            <a:ext cx="5486400" cy="274320"/>
          </a:xfrm>
          <a:prstGeom prst="rect">
            <a:avLst/>
          </a:prstGeom>
          <a:noFill/>
        </p:spPr>
        <p:txBody>
          <a:bodyPr wrap="square" lIns="0" tIns="0" rIns="0" bIns="0">
            <a:spAutoFit/>
          </a:bodyPr>
          <a:lstStyle/>
          <a:p>
            <a:pPr algn="ctr">
              <a:lnSpc>
                <a:spcPct val="100000"/>
              </a:lnSpc>
              <a:spcAft>
                <a:spcPts val="100"/>
              </a:spcAft>
              <a:defRPr sz="1100" b="0">
                <a:solidFill>
                  <a:srgbClr val="666666"/>
                </a:solidFill>
                <a:latin typeface="Calibri"/>
              </a:defRPr>
            </a:pPr>
            <a:r>
              <a:rPr sz="1100" b="0">
                <a:solidFill>
                  <a:srgbClr val="666666"/>
                </a:solidFill>
                <a:latin typeface="Calibri"/>
              </a:rPr>
              <a:t>where all three overlap you get white</a:t>
            </a:r>
          </a:p>
        </p:txBody>
      </p:sp>
      <p:sp>
        <p:nvSpPr>
          <p:cNvPr id="10" name="TextBox 9"/>
          <p:cNvSpPr txBox="1"/>
          <p:nvPr/>
        </p:nvSpPr>
        <p:spPr>
          <a:xfrm>
            <a:off x="6537960" y="1234440"/>
            <a:ext cx="5577840" cy="291465"/>
          </a:xfrm>
          <a:prstGeom prst="rect">
            <a:avLst/>
          </a:prstGeom>
          <a:noFill/>
        </p:spPr>
        <p:txBody>
          <a:bodyPr wrap="square" lIns="0" tIns="0" rIns="0" bIns="0">
            <a:spAutoFit/>
          </a:bodyPr>
          <a:lstStyle/>
          <a:p>
            <a:pPr algn="l">
              <a:lnSpc>
                <a:spcPct val="100000"/>
              </a:lnSpc>
              <a:spcAft>
                <a:spcPts val="100"/>
              </a:spcAft>
              <a:defRPr sz="1300" b="1">
                <a:solidFill>
                  <a:srgbClr val="0E7C86"/>
                </a:solidFill>
                <a:latin typeface="Consolas"/>
              </a:defRPr>
            </a:pPr>
            <a:r>
              <a:rPr sz="1300" b="1">
                <a:solidFill>
                  <a:srgbClr val="0E7C86"/>
                </a:solidFill>
                <a:latin typeface="Consolas"/>
              </a:rPr>
              <a:t>strip.Color(red, green, blue)</a:t>
            </a:r>
          </a:p>
        </p:txBody>
      </p:sp>
      <p:sp>
        <p:nvSpPr>
          <p:cNvPr id="11" name="TextBox 10"/>
          <p:cNvSpPr txBox="1"/>
          <p:nvPr/>
        </p:nvSpPr>
        <p:spPr>
          <a:xfrm>
            <a:off x="6537960" y="1600200"/>
            <a:ext cx="557784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alibri"/>
              </a:defRPr>
            </a:pPr>
            <a:r>
              <a:rPr sz="1100" b="0">
                <a:solidFill>
                  <a:srgbClr val="222222"/>
                </a:solidFill>
                <a:latin typeface="Calibri"/>
              </a:rPr>
              <a:t>Each number is 0 to 255 - how hard that one LED is driven.</a:t>
            </a:r>
          </a:p>
        </p:txBody>
      </p:sp>
      <p:sp>
        <p:nvSpPr>
          <p:cNvPr id="12" name="Rectangle 11"/>
          <p:cNvSpPr/>
          <p:nvPr/>
        </p:nvSpPr>
        <p:spPr>
          <a:xfrm>
            <a:off x="6537960" y="2148840"/>
            <a:ext cx="502920" cy="310896"/>
          </a:xfrm>
          <a:prstGeom prst="rect">
            <a:avLst/>
          </a:prstGeom>
          <a:solidFill>
            <a:srgbClr val="E82C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3" name="TextBox 12"/>
          <p:cNvSpPr txBox="1"/>
          <p:nvPr/>
        </p:nvSpPr>
        <p:spPr>
          <a:xfrm>
            <a:off x="7223760" y="2167128"/>
            <a:ext cx="173736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onsolas"/>
              </a:defRPr>
            </a:pPr>
            <a:r>
              <a:rPr sz="1100" b="0">
                <a:solidFill>
                  <a:srgbClr val="222222"/>
                </a:solidFill>
                <a:latin typeface="Consolas"/>
              </a:rPr>
              <a:t>(255,   0,   0)</a:t>
            </a:r>
          </a:p>
        </p:txBody>
      </p:sp>
      <p:sp>
        <p:nvSpPr>
          <p:cNvPr id="14" name="TextBox 13"/>
          <p:cNvSpPr txBox="1"/>
          <p:nvPr/>
        </p:nvSpPr>
        <p:spPr>
          <a:xfrm>
            <a:off x="9098280" y="2167128"/>
            <a:ext cx="3017520" cy="274320"/>
          </a:xfrm>
          <a:prstGeom prst="rect">
            <a:avLst/>
          </a:prstGeom>
          <a:noFill/>
        </p:spPr>
        <p:txBody>
          <a:bodyPr wrap="square" lIns="0" tIns="0" rIns="0" bIns="0">
            <a:spAutoFit/>
          </a:bodyPr>
          <a:lstStyle/>
          <a:p>
            <a:pPr algn="l">
              <a:lnSpc>
                <a:spcPct val="100000"/>
              </a:lnSpc>
              <a:spcAft>
                <a:spcPts val="100"/>
              </a:spcAft>
              <a:defRPr sz="1100" b="0">
                <a:solidFill>
                  <a:srgbClr val="666666"/>
                </a:solidFill>
                <a:latin typeface="Calibri"/>
              </a:defRPr>
            </a:pPr>
            <a:r>
              <a:rPr sz="1100" b="0">
                <a:solidFill>
                  <a:srgbClr val="666666"/>
                </a:solidFill>
                <a:latin typeface="Calibri"/>
              </a:rPr>
              <a:t>red</a:t>
            </a:r>
          </a:p>
        </p:txBody>
      </p:sp>
      <p:sp>
        <p:nvSpPr>
          <p:cNvPr id="15" name="Rectangle 14"/>
          <p:cNvSpPr/>
          <p:nvPr/>
        </p:nvSpPr>
        <p:spPr>
          <a:xfrm>
            <a:off x="6537960" y="2624328"/>
            <a:ext cx="502920" cy="310896"/>
          </a:xfrm>
          <a:prstGeom prst="rect">
            <a:avLst/>
          </a:prstGeom>
          <a:solidFill>
            <a:srgbClr val="2CB44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6" name="TextBox 15"/>
          <p:cNvSpPr txBox="1"/>
          <p:nvPr/>
        </p:nvSpPr>
        <p:spPr>
          <a:xfrm>
            <a:off x="7223760" y="2642616"/>
            <a:ext cx="173736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onsolas"/>
              </a:defRPr>
            </a:pPr>
            <a:r>
              <a:rPr sz="1100" b="0">
                <a:solidFill>
                  <a:srgbClr val="222222"/>
                </a:solidFill>
                <a:latin typeface="Consolas"/>
              </a:rPr>
              <a:t>(  0, 255,   0)</a:t>
            </a:r>
          </a:p>
        </p:txBody>
      </p:sp>
      <p:sp>
        <p:nvSpPr>
          <p:cNvPr id="17" name="TextBox 16"/>
          <p:cNvSpPr txBox="1"/>
          <p:nvPr/>
        </p:nvSpPr>
        <p:spPr>
          <a:xfrm>
            <a:off x="9098280" y="2642616"/>
            <a:ext cx="3017520" cy="274320"/>
          </a:xfrm>
          <a:prstGeom prst="rect">
            <a:avLst/>
          </a:prstGeom>
          <a:noFill/>
        </p:spPr>
        <p:txBody>
          <a:bodyPr wrap="square" lIns="0" tIns="0" rIns="0" bIns="0">
            <a:spAutoFit/>
          </a:bodyPr>
          <a:lstStyle/>
          <a:p>
            <a:pPr algn="l">
              <a:lnSpc>
                <a:spcPct val="100000"/>
              </a:lnSpc>
              <a:spcAft>
                <a:spcPts val="100"/>
              </a:spcAft>
              <a:defRPr sz="1100" b="0">
                <a:solidFill>
                  <a:srgbClr val="666666"/>
                </a:solidFill>
                <a:latin typeface="Calibri"/>
              </a:defRPr>
            </a:pPr>
            <a:r>
              <a:rPr sz="1100" b="0">
                <a:solidFill>
                  <a:srgbClr val="666666"/>
                </a:solidFill>
                <a:latin typeface="Calibri"/>
              </a:rPr>
              <a:t>green</a:t>
            </a:r>
          </a:p>
        </p:txBody>
      </p:sp>
      <p:sp>
        <p:nvSpPr>
          <p:cNvPr id="18" name="Rectangle 17"/>
          <p:cNvSpPr/>
          <p:nvPr/>
        </p:nvSpPr>
        <p:spPr>
          <a:xfrm>
            <a:off x="6537960" y="3099816"/>
            <a:ext cx="502920" cy="310896"/>
          </a:xfrm>
          <a:prstGeom prst="rect">
            <a:avLst/>
          </a:prstGeom>
          <a:solidFill>
            <a:srgbClr val="2C5AE8"/>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9" name="TextBox 18"/>
          <p:cNvSpPr txBox="1"/>
          <p:nvPr/>
        </p:nvSpPr>
        <p:spPr>
          <a:xfrm>
            <a:off x="7223760" y="3118104"/>
            <a:ext cx="173736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onsolas"/>
              </a:defRPr>
            </a:pPr>
            <a:r>
              <a:rPr sz="1100" b="0">
                <a:solidFill>
                  <a:srgbClr val="222222"/>
                </a:solidFill>
                <a:latin typeface="Consolas"/>
              </a:rPr>
              <a:t>(  0,   0, 255)</a:t>
            </a:r>
          </a:p>
        </p:txBody>
      </p:sp>
      <p:sp>
        <p:nvSpPr>
          <p:cNvPr id="20" name="TextBox 19"/>
          <p:cNvSpPr txBox="1"/>
          <p:nvPr/>
        </p:nvSpPr>
        <p:spPr>
          <a:xfrm>
            <a:off x="9098280" y="3118104"/>
            <a:ext cx="3017520" cy="274320"/>
          </a:xfrm>
          <a:prstGeom prst="rect">
            <a:avLst/>
          </a:prstGeom>
          <a:noFill/>
        </p:spPr>
        <p:txBody>
          <a:bodyPr wrap="square" lIns="0" tIns="0" rIns="0" bIns="0">
            <a:spAutoFit/>
          </a:bodyPr>
          <a:lstStyle/>
          <a:p>
            <a:pPr algn="l">
              <a:lnSpc>
                <a:spcPct val="100000"/>
              </a:lnSpc>
              <a:spcAft>
                <a:spcPts val="100"/>
              </a:spcAft>
              <a:defRPr sz="1100" b="0">
                <a:solidFill>
                  <a:srgbClr val="666666"/>
                </a:solidFill>
                <a:latin typeface="Calibri"/>
              </a:defRPr>
            </a:pPr>
            <a:r>
              <a:rPr sz="1100" b="0">
                <a:solidFill>
                  <a:srgbClr val="666666"/>
                </a:solidFill>
                <a:latin typeface="Calibri"/>
              </a:rPr>
              <a:t>blue</a:t>
            </a:r>
          </a:p>
        </p:txBody>
      </p:sp>
      <p:sp>
        <p:nvSpPr>
          <p:cNvPr id="21" name="Rectangle 20"/>
          <p:cNvSpPr/>
          <p:nvPr/>
        </p:nvSpPr>
        <p:spPr>
          <a:xfrm>
            <a:off x="6537960" y="3575304"/>
            <a:ext cx="502920" cy="310896"/>
          </a:xfrm>
          <a:prstGeom prst="rect">
            <a:avLst/>
          </a:prstGeom>
          <a:solidFill>
            <a:srgbClr val="E8C8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2" name="TextBox 21"/>
          <p:cNvSpPr txBox="1"/>
          <p:nvPr/>
        </p:nvSpPr>
        <p:spPr>
          <a:xfrm>
            <a:off x="7223760" y="3593592"/>
            <a:ext cx="173736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onsolas"/>
              </a:defRPr>
            </a:pPr>
            <a:r>
              <a:rPr sz="1100" b="0">
                <a:solidFill>
                  <a:srgbClr val="222222"/>
                </a:solidFill>
                <a:latin typeface="Consolas"/>
              </a:rPr>
              <a:t>(255, 255,   0)</a:t>
            </a:r>
          </a:p>
        </p:txBody>
      </p:sp>
      <p:sp>
        <p:nvSpPr>
          <p:cNvPr id="23" name="TextBox 22"/>
          <p:cNvSpPr txBox="1"/>
          <p:nvPr/>
        </p:nvSpPr>
        <p:spPr>
          <a:xfrm>
            <a:off x="9098280" y="3593592"/>
            <a:ext cx="3017520" cy="274320"/>
          </a:xfrm>
          <a:prstGeom prst="rect">
            <a:avLst/>
          </a:prstGeom>
          <a:noFill/>
        </p:spPr>
        <p:txBody>
          <a:bodyPr wrap="square" lIns="0" tIns="0" rIns="0" bIns="0">
            <a:spAutoFit/>
          </a:bodyPr>
          <a:lstStyle/>
          <a:p>
            <a:pPr algn="l">
              <a:lnSpc>
                <a:spcPct val="100000"/>
              </a:lnSpc>
              <a:spcAft>
                <a:spcPts val="100"/>
              </a:spcAft>
              <a:defRPr sz="1100" b="0">
                <a:solidFill>
                  <a:srgbClr val="666666"/>
                </a:solidFill>
                <a:latin typeface="Calibri"/>
              </a:defRPr>
            </a:pPr>
            <a:r>
              <a:rPr sz="1100" b="0">
                <a:solidFill>
                  <a:srgbClr val="666666"/>
                </a:solidFill>
                <a:latin typeface="Calibri"/>
              </a:rPr>
              <a:t>yellow</a:t>
            </a:r>
          </a:p>
        </p:txBody>
      </p:sp>
      <p:sp>
        <p:nvSpPr>
          <p:cNvPr id="24" name="Rectangle 23"/>
          <p:cNvSpPr/>
          <p:nvPr/>
        </p:nvSpPr>
        <p:spPr>
          <a:xfrm>
            <a:off x="6537960" y="4050792"/>
            <a:ext cx="502920" cy="310896"/>
          </a:xfrm>
          <a:prstGeom prst="rect">
            <a:avLst/>
          </a:prstGeom>
          <a:solidFill>
            <a:srgbClr val="E88A1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5" name="TextBox 24"/>
          <p:cNvSpPr txBox="1"/>
          <p:nvPr/>
        </p:nvSpPr>
        <p:spPr>
          <a:xfrm>
            <a:off x="7223760" y="4069080"/>
            <a:ext cx="173736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onsolas"/>
              </a:defRPr>
            </a:pPr>
            <a:r>
              <a:rPr sz="1100" b="0">
                <a:solidFill>
                  <a:srgbClr val="222222"/>
                </a:solidFill>
                <a:latin typeface="Consolas"/>
              </a:rPr>
              <a:t>(255, 100,   0)</a:t>
            </a:r>
          </a:p>
        </p:txBody>
      </p:sp>
      <p:sp>
        <p:nvSpPr>
          <p:cNvPr id="26" name="TextBox 25"/>
          <p:cNvSpPr txBox="1"/>
          <p:nvPr/>
        </p:nvSpPr>
        <p:spPr>
          <a:xfrm>
            <a:off x="9098280" y="4069080"/>
            <a:ext cx="3017520" cy="274320"/>
          </a:xfrm>
          <a:prstGeom prst="rect">
            <a:avLst/>
          </a:prstGeom>
          <a:noFill/>
        </p:spPr>
        <p:txBody>
          <a:bodyPr wrap="square" lIns="0" tIns="0" rIns="0" bIns="0">
            <a:spAutoFit/>
          </a:bodyPr>
          <a:lstStyle/>
          <a:p>
            <a:pPr algn="l">
              <a:lnSpc>
                <a:spcPct val="100000"/>
              </a:lnSpc>
              <a:spcAft>
                <a:spcPts val="100"/>
              </a:spcAft>
              <a:defRPr sz="1100" b="0">
                <a:solidFill>
                  <a:srgbClr val="666666"/>
                </a:solidFill>
                <a:latin typeface="Calibri"/>
              </a:defRPr>
            </a:pPr>
            <a:r>
              <a:rPr sz="1100" b="0">
                <a:solidFill>
                  <a:srgbClr val="666666"/>
                </a:solidFill>
                <a:latin typeface="Calibri"/>
              </a:rPr>
              <a:t>amber - the turn signals</a:t>
            </a:r>
          </a:p>
        </p:txBody>
      </p:sp>
      <p:sp>
        <p:nvSpPr>
          <p:cNvPr id="27" name="Rectangle 26"/>
          <p:cNvSpPr/>
          <p:nvPr/>
        </p:nvSpPr>
        <p:spPr>
          <a:xfrm>
            <a:off x="6537960" y="4526280"/>
            <a:ext cx="502920" cy="310896"/>
          </a:xfrm>
          <a:prstGeom prst="rect">
            <a:avLst/>
          </a:prstGeom>
          <a:solidFill>
            <a:srgbClr val="DDDDDD"/>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8" name="TextBox 27"/>
          <p:cNvSpPr txBox="1"/>
          <p:nvPr/>
        </p:nvSpPr>
        <p:spPr>
          <a:xfrm>
            <a:off x="7223760" y="4544568"/>
            <a:ext cx="173736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onsolas"/>
              </a:defRPr>
            </a:pPr>
            <a:r>
              <a:rPr sz="1100" b="0">
                <a:solidFill>
                  <a:srgbClr val="222222"/>
                </a:solidFill>
                <a:latin typeface="Consolas"/>
              </a:rPr>
              <a:t>(255, 255, 255)</a:t>
            </a:r>
          </a:p>
        </p:txBody>
      </p:sp>
      <p:sp>
        <p:nvSpPr>
          <p:cNvPr id="29" name="TextBox 28"/>
          <p:cNvSpPr txBox="1"/>
          <p:nvPr/>
        </p:nvSpPr>
        <p:spPr>
          <a:xfrm>
            <a:off x="9098280" y="4544568"/>
            <a:ext cx="3017520" cy="274320"/>
          </a:xfrm>
          <a:prstGeom prst="rect">
            <a:avLst/>
          </a:prstGeom>
          <a:noFill/>
        </p:spPr>
        <p:txBody>
          <a:bodyPr wrap="square" lIns="0" tIns="0" rIns="0" bIns="0">
            <a:spAutoFit/>
          </a:bodyPr>
          <a:lstStyle/>
          <a:p>
            <a:pPr algn="l">
              <a:lnSpc>
                <a:spcPct val="100000"/>
              </a:lnSpc>
              <a:spcAft>
                <a:spcPts val="100"/>
              </a:spcAft>
              <a:defRPr sz="1100" b="0">
                <a:solidFill>
                  <a:srgbClr val="666666"/>
                </a:solidFill>
                <a:latin typeface="Calibri"/>
              </a:defRPr>
            </a:pPr>
            <a:r>
              <a:rPr sz="1100" b="0">
                <a:solidFill>
                  <a:srgbClr val="666666"/>
                </a:solidFill>
                <a:latin typeface="Calibri"/>
              </a:rPr>
              <a:t>white - and three times the current</a:t>
            </a:r>
          </a:p>
        </p:txBody>
      </p:sp>
      <p:sp>
        <p:nvSpPr>
          <p:cNvPr id="30" name="Rounded Rectangle 2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Each of the three LEDs draws about 20 mA. White costs three times what red costs, and 32 pixels of white is nearly 2 amps.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colour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There are two ways to make an LED dimmer, and they are not interchangeable.</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strip.Color(60, 0, 0) sets the RED channel to a quarter. The green and blue channels are untouched. This changes the COLOUR you asked for.</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strip.setBrightness(60) scales EVERY channel of EVERY pixel on the way out. It changes how bright the whole strip is without changing any of the colours you set.</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Two things worth knowing about setBrightness:</a:t>
            </a:r>
          </a:p>
          <a:p>
            <a:pPr lvl="1" algn="l">
              <a:lnSpc>
                <a:spcPct val="100000"/>
              </a:lnSpc>
              <a:spcAft>
                <a:spcPts val="600"/>
              </a:spcAft>
              <a:defRPr sz="1500" b="0">
                <a:solidFill>
                  <a:srgbClr val="222222"/>
                </a:solidFill>
                <a:latin typeface="Calibri"/>
              </a:defRPr>
            </a:pPr>
            <a:r>
              <a:rPr sz="1500" b="0">
                <a:solidFill>
                  <a:srgbClr val="222222"/>
                </a:solidFill>
                <a:latin typeface="Calibri"/>
              </a:rPr>
              <a:t>It is applied when show() is called, so changing it does nothing until the next show().</a:t>
            </a:r>
          </a:p>
          <a:p>
            <a:pPr lvl="1" algn="l">
              <a:lnSpc>
                <a:spcPct val="100000"/>
              </a:lnSpc>
              <a:spcAft>
                <a:spcPts val="600"/>
              </a:spcAft>
              <a:defRPr sz="1500" b="0">
                <a:solidFill>
                  <a:srgbClr val="222222"/>
                </a:solidFill>
                <a:latin typeface="Calibri"/>
              </a:defRPr>
            </a:pPr>
            <a:r>
              <a:rPr sz="1500" b="0">
                <a:solidFill>
                  <a:srgbClr val="222222"/>
                </a:solidFill>
                <a:latin typeface="Calibri"/>
              </a:rPr>
              <a:t>It is LOSSY. Set a pixel to 4, scale by 60/255, and it rounds to 0. Very dim colours disappear rather than getting dimmer, which is why a fade can end abruptly.</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Rule of thumb: use setBrightness once, in setup(), to fix the overall level for the room and the power budget. Use the colour values for everything else.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colour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7</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The physics</a:t>
            </a:r>
          </a:p>
        </p:txBody>
      </p:sp>
      <p:sp>
        <p:nvSpPr>
          <p:cNvPr id="7" name="TextBox 6"/>
          <p:cNvSpPr txBox="1"/>
          <p:nvPr/>
        </p:nvSpPr>
        <p:spPr>
          <a:xfrm>
            <a:off x="502920" y="1645920"/>
            <a:ext cx="5364327" cy="3474720"/>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Visible light runs from about 380 nanometres, which you see as violet, to about 750, which you see as deep red.</a:t>
            </a:r>
          </a:p>
          <a:p>
            <a:pPr lvl="1" algn="l">
              <a:lnSpc>
                <a:spcPct val="100000"/>
              </a:lnSpc>
              <a:spcAft>
                <a:spcPts val="800"/>
              </a:spcAft>
              <a:defRPr sz="1600" b="0">
                <a:solidFill>
                  <a:srgbClr val="222222"/>
                </a:solidFill>
                <a:latin typeface="Calibri"/>
              </a:defRPr>
            </a:pPr>
            <a:r>
              <a:rPr sz="1600" b="0">
                <a:solidFill>
                  <a:srgbClr val="222222"/>
                </a:solidFill>
                <a:latin typeface="Calibri"/>
              </a:rPr>
              <a:t>Red      625 - 740 nm</a:t>
            </a:r>
          </a:p>
          <a:p>
            <a:pPr lvl="1" algn="l">
              <a:lnSpc>
                <a:spcPct val="100000"/>
              </a:lnSpc>
              <a:spcAft>
                <a:spcPts val="800"/>
              </a:spcAft>
              <a:defRPr sz="1600" b="0">
                <a:solidFill>
                  <a:srgbClr val="222222"/>
                </a:solidFill>
                <a:latin typeface="Calibri"/>
              </a:defRPr>
            </a:pPr>
            <a:r>
              <a:rPr sz="1600" b="0">
                <a:solidFill>
                  <a:srgbClr val="222222"/>
                </a:solidFill>
                <a:latin typeface="Calibri"/>
              </a:rPr>
              <a:t>Yellow   565 - 590 nm</a:t>
            </a:r>
          </a:p>
          <a:p>
            <a:pPr lvl="1" algn="l">
              <a:lnSpc>
                <a:spcPct val="100000"/>
              </a:lnSpc>
              <a:spcAft>
                <a:spcPts val="800"/>
              </a:spcAft>
              <a:defRPr sz="1600" b="0">
                <a:solidFill>
                  <a:srgbClr val="222222"/>
                </a:solidFill>
                <a:latin typeface="Calibri"/>
              </a:defRPr>
            </a:pPr>
            <a:r>
              <a:rPr sz="1600" b="0">
                <a:solidFill>
                  <a:srgbClr val="222222"/>
                </a:solidFill>
                <a:latin typeface="Calibri"/>
              </a:rPr>
              <a:t>Green    500 - 565 nm</a:t>
            </a:r>
          </a:p>
          <a:p>
            <a:pPr lvl="1" algn="l">
              <a:lnSpc>
                <a:spcPct val="100000"/>
              </a:lnSpc>
              <a:spcAft>
                <a:spcPts val="800"/>
              </a:spcAft>
              <a:defRPr sz="1600" b="0">
                <a:solidFill>
                  <a:srgbClr val="222222"/>
                </a:solidFill>
                <a:latin typeface="Calibri"/>
              </a:defRPr>
            </a:pPr>
            <a:r>
              <a:rPr sz="1600" b="0">
                <a:solidFill>
                  <a:srgbClr val="222222"/>
                </a:solidFill>
                <a:latin typeface="Calibri"/>
              </a:rPr>
              <a:t>Blue     440 - 485 nm</a:t>
            </a:r>
          </a:p>
          <a:p>
            <a:pPr lvl="1" algn="l">
              <a:lnSpc>
                <a:spcPct val="100000"/>
              </a:lnSpc>
              <a:spcAft>
                <a:spcPts val="800"/>
              </a:spcAft>
              <a:defRPr sz="1600" b="0">
                <a:solidFill>
                  <a:srgbClr val="222222"/>
                </a:solidFill>
                <a:latin typeface="Calibri"/>
              </a:defRPr>
            </a:pPr>
            <a:r>
              <a:rPr sz="1600" b="0">
                <a:solidFill>
                  <a:srgbClr val="222222"/>
                </a:solidFill>
                <a:latin typeface="Calibri"/>
              </a:rPr>
              <a:t>Violet   380 - 440 nm</a:t>
            </a:r>
          </a:p>
          <a:p>
            <a:pPr algn="l">
              <a:lnSpc>
                <a:spcPct val="100000"/>
              </a:lnSpc>
              <a:spcAft>
                <a:spcPts val="800"/>
              </a:spcAft>
              <a:defRPr sz="1600" b="0">
                <a:solidFill>
                  <a:srgbClr val="222222"/>
                </a:solidFill>
                <a:latin typeface="Calibri"/>
              </a:defRPr>
            </a:pPr>
          </a:p>
          <a:p>
            <a:pPr algn="l">
              <a:lnSpc>
                <a:spcPct val="100000"/>
              </a:lnSpc>
              <a:spcAft>
                <a:spcPts val="800"/>
              </a:spcAft>
              <a:defRPr sz="1600" b="0">
                <a:solidFill>
                  <a:srgbClr val="222222"/>
                </a:solidFill>
                <a:latin typeface="Calibri"/>
              </a:defRPr>
            </a:pPr>
            <a:r>
              <a:rPr sz="1600" b="0">
                <a:solidFill>
                  <a:srgbClr val="222222"/>
                </a:solidFill>
                <a:latin typeface="Calibri"/>
              </a:rPr>
              <a:t>A single LED emits one narrow band of wavelengths.</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The biology</a:t>
            </a:r>
          </a:p>
        </p:txBody>
      </p:sp>
      <p:sp>
        <p:nvSpPr>
          <p:cNvPr id="9" name="TextBox 8"/>
          <p:cNvSpPr txBox="1"/>
          <p:nvPr/>
        </p:nvSpPr>
        <p:spPr>
          <a:xfrm>
            <a:off x="6324447" y="1645920"/>
            <a:ext cx="5364327" cy="3474720"/>
          </a:xfrm>
          <a:prstGeom prst="rect">
            <a:avLst/>
          </a:prstGeom>
          <a:noFill/>
        </p:spPr>
        <p:txBody>
          <a:bodyPr wrap="square" lIns="0" tIns="0" rIns="0" bIns="0">
            <a:spAutoFit/>
          </a:bodyPr>
          <a:lstStyle/>
          <a:p>
            <a:pPr algn="l">
              <a:lnSpc>
                <a:spcPct val="100000"/>
              </a:lnSpc>
              <a:spcAft>
                <a:spcPts val="800"/>
              </a:spcAft>
              <a:defRPr sz="1500" b="0">
                <a:solidFill>
                  <a:srgbClr val="222222"/>
                </a:solidFill>
                <a:latin typeface="Calibri"/>
              </a:defRPr>
            </a:pPr>
            <a:r>
              <a:rPr sz="1500" b="0">
                <a:solidFill>
                  <a:srgbClr val="222222"/>
                </a:solidFill>
                <a:latin typeface="Calibri"/>
              </a:rPr>
              <a:t>Your retina has three kinds of cone cell, each most sensitive to a different wavelength. They are called long, medium and short - or, more usefully, red, green and blue.</a:t>
            </a:r>
          </a:p>
          <a:p>
            <a:pPr algn="l">
              <a:lnSpc>
                <a:spcPct val="100000"/>
              </a:lnSpc>
              <a:spcAft>
                <a:spcPts val="800"/>
              </a:spcAft>
              <a:defRPr sz="1500" b="0">
                <a:solidFill>
                  <a:srgbClr val="222222"/>
                </a:solidFill>
                <a:latin typeface="Calibri"/>
              </a:defRPr>
            </a:pPr>
            <a:r>
              <a:rPr sz="1500" b="0">
                <a:solidFill>
                  <a:srgbClr val="222222"/>
                </a:solidFill>
                <a:latin typeface="Calibri"/>
              </a:rPr>
              <a:t>Your brain compares them: red minus green, and blue minus red plus green. That comparison is called OPPONENCY.</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This is why three LEDs can fake every colour you can see. They are not producing yellow light - they are producing red and green light in the ratio that makes your cones report yellow.</a:t>
            </a:r>
          </a:p>
          <a:p>
            <a:pPr algn="l">
              <a:lnSpc>
                <a:spcPct val="100000"/>
              </a:lnSpc>
              <a:spcAft>
                <a:spcPts val="800"/>
              </a:spcAft>
              <a:defRPr sz="1500" b="0">
                <a:solidFill>
                  <a:srgbClr val="222222"/>
                </a:solidFill>
                <a:latin typeface="Calibri"/>
              </a:defRPr>
            </a:pPr>
            <a:r>
              <a:rPr sz="1500" b="0">
                <a:solidFill>
                  <a:srgbClr val="222222"/>
                </a:solidFill>
                <a:latin typeface="Calibri"/>
              </a:rPr>
              <a:t>Dogs have two cone types. Some birds have four.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Ohm's law, applied to something you can see</a:t>
            </a:r>
          </a:p>
        </p:txBody>
      </p:sp>
      <p:sp>
        <p:nvSpPr>
          <p:cNvPr id="7" name="TextBox 6"/>
          <p:cNvSpPr txBox="1"/>
          <p:nvPr/>
        </p:nvSpPr>
        <p:spPr>
          <a:xfrm>
            <a:off x="502920" y="1755648"/>
            <a:ext cx="11185855" cy="3456432"/>
          </a:xfrm>
          <a:prstGeom prst="rect">
            <a:avLst/>
          </a:prstGeom>
          <a:noFill/>
        </p:spPr>
        <p:txBody>
          <a:bodyPr wrap="square" lIns="0" tIns="0" rIns="0" bIns="0">
            <a:spAutoFit/>
          </a:bodyPr>
          <a:lstStyle/>
          <a:p>
            <a:pPr algn="l">
              <a:lnSpc>
                <a:spcPct val="100000"/>
              </a:lnSpc>
              <a:spcAft>
                <a:spcPts val="600"/>
              </a:spcAft>
              <a:defRPr sz="1400" b="0">
                <a:solidFill>
                  <a:srgbClr val="222222"/>
                </a:solidFill>
                <a:latin typeface="Calibri"/>
              </a:defRPr>
            </a:pPr>
            <a:r>
              <a:rPr sz="1400" b="0">
                <a:solidFill>
                  <a:srgbClr val="222222"/>
                </a:solidFill>
                <a:latin typeface="Calibri"/>
              </a:rPr>
              <a:t>Each of the three LEDs inside a pixel draws about 20 mA at full brightness.</a:t>
            </a:r>
          </a:p>
          <a:p>
            <a:pPr lvl="1" algn="l">
              <a:lnSpc>
                <a:spcPct val="100000"/>
              </a:lnSpc>
              <a:spcAft>
                <a:spcPts val="600"/>
              </a:spcAft>
              <a:defRPr sz="1400" b="0">
                <a:solidFill>
                  <a:srgbClr val="222222"/>
                </a:solidFill>
                <a:latin typeface="Calibri"/>
              </a:defRPr>
            </a:pPr>
            <a:r>
              <a:rPr sz="1400" b="0">
                <a:solidFill>
                  <a:srgbClr val="222222"/>
                </a:solidFill>
                <a:latin typeface="Calibri"/>
              </a:rPr>
              <a:t>One pixel showing full white:  3 x 20 = 60 mA</a:t>
            </a:r>
          </a:p>
          <a:p>
            <a:pPr lvl="1" algn="l">
              <a:lnSpc>
                <a:spcPct val="100000"/>
              </a:lnSpc>
              <a:spcAft>
                <a:spcPts val="600"/>
              </a:spcAft>
              <a:defRPr sz="1400" b="0">
                <a:solidFill>
                  <a:srgbClr val="222222"/>
                </a:solidFill>
                <a:latin typeface="Calibri"/>
              </a:defRPr>
            </a:pPr>
            <a:r>
              <a:rPr sz="1400" b="0">
                <a:solidFill>
                  <a:srgbClr val="222222"/>
                </a:solidFill>
                <a:latin typeface="Calibri"/>
              </a:rPr>
              <a:t>32 pixels of full white:  32 x 60 = 1920 mA, nearly 2 amps</a:t>
            </a:r>
          </a:p>
          <a:p>
            <a:pPr lvl="1" algn="l">
              <a:lnSpc>
                <a:spcPct val="100000"/>
              </a:lnSpc>
              <a:spcAft>
                <a:spcPts val="600"/>
              </a:spcAft>
              <a:defRPr sz="1400" b="0">
                <a:solidFill>
                  <a:srgbClr val="222222"/>
                </a:solidFill>
                <a:latin typeface="Calibri"/>
              </a:defRPr>
            </a:pPr>
            <a:r>
              <a:rPr sz="1400" b="0">
                <a:solidFill>
                  <a:srgbClr val="222222"/>
                </a:solidFill>
                <a:latin typeface="Calibri"/>
              </a:rPr>
              <a:t>At 5 volts:  1920 mA x 5 V = 9600 mW = 9.6 watts</a:t>
            </a:r>
          </a:p>
          <a:p>
            <a:pPr algn="l">
              <a:lnSpc>
                <a:spcPct val="100000"/>
              </a:lnSpc>
              <a:spcAft>
                <a:spcPts val="600"/>
              </a:spcAft>
              <a:defRPr sz="1400" b="0">
                <a:solidFill>
                  <a:srgbClr val="222222"/>
                </a:solidFill>
                <a:latin typeface="Calibri"/>
              </a:defRPr>
            </a:pPr>
          </a:p>
          <a:p>
            <a:pPr algn="l">
              <a:lnSpc>
                <a:spcPct val="100000"/>
              </a:lnSpc>
              <a:spcAft>
                <a:spcPts val="600"/>
              </a:spcAft>
              <a:defRPr sz="1400" b="0">
                <a:solidFill>
                  <a:srgbClr val="222222"/>
                </a:solidFill>
                <a:latin typeface="Calibri"/>
              </a:defRPr>
            </a:pPr>
            <a:r>
              <a:rPr sz="1400" b="0">
                <a:solidFill>
                  <a:srgbClr val="222222"/>
                </a:solidFill>
                <a:latin typeface="Calibri"/>
              </a:rPr>
              <a:t>That is a lot of power through a small board, and it makes real heat. Two things keep it sane:</a:t>
            </a:r>
          </a:p>
          <a:p>
            <a:pPr lvl="1" algn="l">
              <a:lnSpc>
                <a:spcPct val="100000"/>
              </a:lnSpc>
              <a:spcAft>
                <a:spcPts val="600"/>
              </a:spcAft>
              <a:defRPr sz="1400" b="0">
                <a:solidFill>
                  <a:srgbClr val="222222"/>
                </a:solidFill>
                <a:latin typeface="Calibri"/>
              </a:defRPr>
            </a:pPr>
            <a:r>
              <a:rPr sz="1400" b="0">
                <a:solidFill>
                  <a:srgbClr val="222222"/>
                </a:solidFill>
                <a:latin typeface="Calibri"/>
              </a:rPr>
              <a:t>setBrightness() scales EVERY pixel before it is sent. At 60 out of 255 you draw roughly a quarter of the worst case.</a:t>
            </a:r>
          </a:p>
          <a:p>
            <a:pPr lvl="1" algn="l">
              <a:lnSpc>
                <a:spcPct val="100000"/>
              </a:lnSpc>
              <a:spcAft>
                <a:spcPts val="600"/>
              </a:spcAft>
              <a:defRPr sz="1400" b="0">
                <a:solidFill>
                  <a:srgbClr val="222222"/>
                </a:solidFill>
                <a:latin typeface="Calibri"/>
              </a:defRPr>
            </a:pPr>
            <a:r>
              <a:rPr sz="1400" b="0">
                <a:solidFill>
                  <a:srgbClr val="222222"/>
                </a:solidFill>
                <a:latin typeface="Calibri"/>
              </a:rPr>
              <a:t>Coloured light is cheaper than white. Pure red only lights one of the three, so it costs about a third of what white costs.</a:t>
            </a:r>
          </a:p>
          <a:p>
            <a:pPr algn="l">
              <a:lnSpc>
                <a:spcPct val="100000"/>
              </a:lnSpc>
              <a:spcAft>
                <a:spcPts val="600"/>
              </a:spcAft>
              <a:defRPr sz="1400" b="0">
                <a:solidFill>
                  <a:srgbClr val="222222"/>
                </a:solidFill>
                <a:latin typeface="Calibri"/>
              </a:defRPr>
            </a:pPr>
          </a:p>
          <a:p>
            <a:pPr algn="l">
              <a:lnSpc>
                <a:spcPct val="100000"/>
              </a:lnSpc>
              <a:spcAft>
                <a:spcPts val="600"/>
              </a:spcAft>
              <a:defRPr sz="1400" b="0">
                <a:solidFill>
                  <a:srgbClr val="222222"/>
                </a:solidFill>
                <a:latin typeface="Calibri"/>
              </a:defRPr>
            </a:pPr>
            <a:r>
              <a:rPr sz="1400" b="0">
                <a:solidFill>
                  <a:srgbClr val="222222"/>
                </a:solidFill>
                <a:latin typeface="Calibri"/>
              </a:rPr>
              <a:t>That is why the vehicle programs run at about 120 rather than 255, and why full white across all 32 is used for a moment and not held.</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9</a:t>
            </a:r>
          </a:p>
        </p:txBody>
      </p:sp>
      <p:sp>
        <p:nvSpPr>
          <p:cNvPr id="6" name="TextBox 5"/>
          <p:cNvSpPr txBox="1"/>
          <p:nvPr/>
        </p:nvSpPr>
        <p:spPr>
          <a:xfrm>
            <a:off x="1143000" y="1124712"/>
            <a:ext cx="2743200" cy="274320"/>
          </a:xfrm>
          <a:prstGeom prst="rect">
            <a:avLst/>
          </a:prstGeom>
          <a:noFill/>
        </p:spPr>
        <p:txBody>
          <a:bodyPr wrap="square" lIns="0" tIns="0" rIns="0" bIns="0">
            <a:spAutoFit/>
          </a:bodyPr>
          <a:lstStyle/>
          <a:p>
            <a:pPr algn="ctr">
              <a:lnSpc>
                <a:spcPct val="100000"/>
              </a:lnSpc>
              <a:spcAft>
                <a:spcPts val="100"/>
              </a:spcAft>
              <a:defRPr sz="1100" b="1">
                <a:solidFill>
                  <a:srgbClr val="0E7C86"/>
                </a:solidFill>
                <a:latin typeface="Calibri"/>
              </a:defRPr>
            </a:pPr>
            <a:r>
              <a:rPr sz="11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2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45770"/>
          </a:xfrm>
          <a:prstGeom prst="rect">
            <a:avLst/>
          </a:prstGeom>
          <a:noFill/>
        </p:spPr>
        <p:txBody>
          <a:bodyPr wrap="square" lIns="0" tIns="0" rIns="0" bIns="0">
            <a:spAutoFit/>
          </a:bodyPr>
          <a:lstStyle/>
          <a:p>
            <a:pPr algn="ctr">
              <a:lnSpc>
                <a:spcPct val="100000"/>
              </a:lnSpc>
              <a:spcAft>
                <a:spcPts val="100"/>
              </a:spcAft>
              <a:defRPr sz="2300" b="1">
                <a:solidFill>
                  <a:srgbClr val="1F3A5F"/>
                </a:solidFill>
                <a:latin typeface="Calibri"/>
              </a:defRPr>
            </a:pPr>
            <a:r>
              <a:rPr sz="2300" b="1">
                <a:solidFill>
                  <a:srgbClr val="1F3A5F"/>
                </a:solidFill>
                <a:latin typeface="Calibri"/>
              </a:rPr>
              <a:t>V</a:t>
            </a:r>
          </a:p>
        </p:txBody>
      </p:sp>
      <p:sp>
        <p:nvSpPr>
          <p:cNvPr id="10" name="TextBox 9"/>
          <p:cNvSpPr txBox="1"/>
          <p:nvPr/>
        </p:nvSpPr>
        <p:spPr>
          <a:xfrm>
            <a:off x="1463040" y="2909620"/>
            <a:ext cx="822960" cy="377190"/>
          </a:xfrm>
          <a:prstGeom prst="rect">
            <a:avLst/>
          </a:prstGeom>
          <a:noFill/>
        </p:spPr>
        <p:txBody>
          <a:bodyPr wrap="square" lIns="0" tIns="0" rIns="0" bIns="0">
            <a:spAutoFit/>
          </a:bodyPr>
          <a:lstStyle/>
          <a:p>
            <a:pPr algn="ctr">
              <a:lnSpc>
                <a:spcPct val="100000"/>
              </a:lnSpc>
              <a:spcAft>
                <a:spcPts val="100"/>
              </a:spcAft>
              <a:defRPr sz="1800" b="1">
                <a:solidFill>
                  <a:srgbClr val="1F3A5F"/>
                </a:solidFill>
                <a:latin typeface="Calibri"/>
              </a:defRPr>
            </a:pPr>
            <a:r>
              <a:rPr sz="1800" b="1">
                <a:solidFill>
                  <a:srgbClr val="1F3A5F"/>
                </a:solidFill>
                <a:latin typeface="Calibri"/>
              </a:rPr>
              <a:t>I</a:t>
            </a:r>
          </a:p>
        </p:txBody>
      </p:sp>
      <p:sp>
        <p:nvSpPr>
          <p:cNvPr id="11" name="TextBox 10"/>
          <p:cNvSpPr txBox="1"/>
          <p:nvPr/>
        </p:nvSpPr>
        <p:spPr>
          <a:xfrm>
            <a:off x="2743200" y="2909620"/>
            <a:ext cx="822960" cy="377190"/>
          </a:xfrm>
          <a:prstGeom prst="rect">
            <a:avLst/>
          </a:prstGeom>
          <a:noFill/>
        </p:spPr>
        <p:txBody>
          <a:bodyPr wrap="square" lIns="0" tIns="0" rIns="0" bIns="0">
            <a:spAutoFit/>
          </a:bodyPr>
          <a:lstStyle/>
          <a:p>
            <a:pPr algn="ctr">
              <a:lnSpc>
                <a:spcPct val="100000"/>
              </a:lnSpc>
              <a:spcAft>
                <a:spcPts val="100"/>
              </a:spcAft>
              <a:defRPr sz="1800" b="1">
                <a:solidFill>
                  <a:srgbClr val="1F3A5F"/>
                </a:solidFill>
                <a:latin typeface="Calibri"/>
              </a:defRPr>
            </a:pPr>
            <a:r>
              <a:rPr sz="18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274320"/>
          </a:xfrm>
          <a:prstGeom prst="rect">
            <a:avLst/>
          </a:prstGeom>
          <a:noFill/>
        </p:spPr>
        <p:txBody>
          <a:bodyPr wrap="square" lIns="0" tIns="0" rIns="0" bIns="0">
            <a:spAutoFit/>
          </a:bodyPr>
          <a:lstStyle/>
          <a:p>
            <a:pPr algn="ctr">
              <a:lnSpc>
                <a:spcPct val="100000"/>
              </a:lnSpc>
              <a:spcAft>
                <a:spcPts val="100"/>
              </a:spcAft>
              <a:defRPr sz="1100" b="0">
                <a:solidFill>
                  <a:srgbClr val="666666"/>
                </a:solidFill>
                <a:latin typeface="Calibri"/>
              </a:defRPr>
            </a:pPr>
            <a:r>
              <a:rPr sz="1100" b="0">
                <a:solidFill>
                  <a:srgbClr val="666666"/>
                </a:solidFill>
                <a:latin typeface="Calibri"/>
              </a:rPr>
              <a:t>V  volts     I  amps     R  ohms</a:t>
            </a:r>
          </a:p>
        </p:txBody>
      </p:sp>
      <p:sp>
        <p:nvSpPr>
          <p:cNvPr id="14" name="TextBox 13"/>
          <p:cNvSpPr txBox="1"/>
          <p:nvPr/>
        </p:nvSpPr>
        <p:spPr>
          <a:xfrm>
            <a:off x="6812280" y="1124712"/>
            <a:ext cx="2743200" cy="274320"/>
          </a:xfrm>
          <a:prstGeom prst="rect">
            <a:avLst/>
          </a:prstGeom>
          <a:noFill/>
        </p:spPr>
        <p:txBody>
          <a:bodyPr wrap="square" lIns="0" tIns="0" rIns="0" bIns="0">
            <a:spAutoFit/>
          </a:bodyPr>
          <a:lstStyle/>
          <a:p>
            <a:pPr algn="ctr">
              <a:lnSpc>
                <a:spcPct val="100000"/>
              </a:lnSpc>
              <a:spcAft>
                <a:spcPts val="100"/>
              </a:spcAft>
              <a:defRPr sz="1100" b="1">
                <a:solidFill>
                  <a:srgbClr val="B46A0F"/>
                </a:solidFill>
                <a:latin typeface="Calibri"/>
              </a:defRPr>
            </a:pPr>
            <a:r>
              <a:rPr sz="11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2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45770"/>
          </a:xfrm>
          <a:prstGeom prst="rect">
            <a:avLst/>
          </a:prstGeom>
          <a:noFill/>
        </p:spPr>
        <p:txBody>
          <a:bodyPr wrap="square" lIns="0" tIns="0" rIns="0" bIns="0">
            <a:spAutoFit/>
          </a:bodyPr>
          <a:lstStyle/>
          <a:p>
            <a:pPr algn="ctr">
              <a:lnSpc>
                <a:spcPct val="100000"/>
              </a:lnSpc>
              <a:spcAft>
                <a:spcPts val="100"/>
              </a:spcAft>
              <a:defRPr sz="2300" b="1">
                <a:solidFill>
                  <a:srgbClr val="1F3A5F"/>
                </a:solidFill>
                <a:latin typeface="Calibri"/>
              </a:defRPr>
            </a:pPr>
            <a:r>
              <a:rPr sz="2300" b="1">
                <a:solidFill>
                  <a:srgbClr val="1F3A5F"/>
                </a:solidFill>
                <a:latin typeface="Calibri"/>
              </a:rPr>
              <a:t>P</a:t>
            </a:r>
          </a:p>
        </p:txBody>
      </p:sp>
      <p:sp>
        <p:nvSpPr>
          <p:cNvPr id="18" name="TextBox 17"/>
          <p:cNvSpPr txBox="1"/>
          <p:nvPr/>
        </p:nvSpPr>
        <p:spPr>
          <a:xfrm>
            <a:off x="7132320" y="2909620"/>
            <a:ext cx="822960" cy="377190"/>
          </a:xfrm>
          <a:prstGeom prst="rect">
            <a:avLst/>
          </a:prstGeom>
          <a:noFill/>
        </p:spPr>
        <p:txBody>
          <a:bodyPr wrap="square" lIns="0" tIns="0" rIns="0" bIns="0">
            <a:spAutoFit/>
          </a:bodyPr>
          <a:lstStyle/>
          <a:p>
            <a:pPr algn="ctr">
              <a:lnSpc>
                <a:spcPct val="100000"/>
              </a:lnSpc>
              <a:spcAft>
                <a:spcPts val="100"/>
              </a:spcAft>
              <a:defRPr sz="1800" b="1">
                <a:solidFill>
                  <a:srgbClr val="1F3A5F"/>
                </a:solidFill>
                <a:latin typeface="Calibri"/>
              </a:defRPr>
            </a:pPr>
            <a:r>
              <a:rPr sz="1800" b="1">
                <a:solidFill>
                  <a:srgbClr val="1F3A5F"/>
                </a:solidFill>
                <a:latin typeface="Calibri"/>
              </a:rPr>
              <a:t>I</a:t>
            </a:r>
          </a:p>
        </p:txBody>
      </p:sp>
      <p:sp>
        <p:nvSpPr>
          <p:cNvPr id="19" name="TextBox 18"/>
          <p:cNvSpPr txBox="1"/>
          <p:nvPr/>
        </p:nvSpPr>
        <p:spPr>
          <a:xfrm>
            <a:off x="8412480" y="2909620"/>
            <a:ext cx="822960" cy="377190"/>
          </a:xfrm>
          <a:prstGeom prst="rect">
            <a:avLst/>
          </a:prstGeom>
          <a:noFill/>
        </p:spPr>
        <p:txBody>
          <a:bodyPr wrap="square" lIns="0" tIns="0" rIns="0" bIns="0">
            <a:spAutoFit/>
          </a:bodyPr>
          <a:lstStyle/>
          <a:p>
            <a:pPr algn="ctr">
              <a:lnSpc>
                <a:spcPct val="100000"/>
              </a:lnSpc>
              <a:spcAft>
                <a:spcPts val="100"/>
              </a:spcAft>
              <a:defRPr sz="1800" b="1">
                <a:solidFill>
                  <a:srgbClr val="1F3A5F"/>
                </a:solidFill>
                <a:latin typeface="Calibri"/>
              </a:defRPr>
            </a:pPr>
            <a:r>
              <a:rPr sz="18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274320"/>
          </a:xfrm>
          <a:prstGeom prst="rect">
            <a:avLst/>
          </a:prstGeom>
          <a:noFill/>
        </p:spPr>
        <p:txBody>
          <a:bodyPr wrap="square" lIns="0" tIns="0" rIns="0" bIns="0">
            <a:spAutoFit/>
          </a:bodyPr>
          <a:lstStyle/>
          <a:p>
            <a:pPr algn="ctr">
              <a:lnSpc>
                <a:spcPct val="100000"/>
              </a:lnSpc>
              <a:spcAft>
                <a:spcPts val="100"/>
              </a:spcAft>
              <a:defRPr sz="1100" b="0">
                <a:solidFill>
                  <a:srgbClr val="666666"/>
                </a:solidFill>
                <a:latin typeface="Calibri"/>
              </a:defRPr>
            </a:pPr>
            <a:r>
              <a:rPr sz="11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alibri"/>
              </a:defRPr>
            </a:pPr>
            <a:r>
              <a:rPr sz="1300" b="0">
                <a:solidFill>
                  <a:srgbClr val="222222"/>
                </a:solidFill>
                <a:latin typeface="Calibri"/>
              </a:rPr>
              <a:t>ONE NEOPIXEL</a:t>
            </a:r>
          </a:p>
          <a:p>
            <a:pPr algn="ctr">
              <a:lnSpc>
                <a:spcPct val="100000"/>
              </a:lnSpc>
              <a:spcAft>
                <a:spcPts val="0"/>
              </a:spcAft>
              <a:defRPr sz="1300" b="0">
                <a:solidFill>
                  <a:srgbClr val="222222"/>
                </a:solidFill>
                <a:latin typeface="Calibri"/>
              </a:defRPr>
            </a:pPr>
            <a:r>
              <a:rPr sz="1300" b="0">
                <a:solidFill>
                  <a:srgbClr val="222222"/>
                </a:solidFill>
                <a:latin typeface="Calibri"/>
              </a:rPr>
              <a:t>at full white</a:t>
            </a:r>
          </a:p>
          <a:p>
            <a:pPr algn="ctr">
              <a:lnSpc>
                <a:spcPct val="100000"/>
              </a:lnSpc>
              <a:spcAft>
                <a:spcPts val="0"/>
              </a:spcAft>
              <a:defRPr sz="1300" b="0">
                <a:solidFill>
                  <a:srgbClr val="222222"/>
                </a:solidFill>
                <a:latin typeface="Calibri"/>
              </a:defRPr>
            </a:pPr>
          </a:p>
          <a:p>
            <a:pPr algn="ctr">
              <a:lnSpc>
                <a:spcPct val="100000"/>
              </a:lnSpc>
              <a:spcAft>
                <a:spcPts val="0"/>
              </a:spcAft>
              <a:defRPr sz="1300" b="0">
                <a:solidFill>
                  <a:srgbClr val="222222"/>
                </a:solidFill>
                <a:latin typeface="Calibri"/>
              </a:defRPr>
            </a:pPr>
            <a:r>
              <a:rPr sz="1300" b="0">
                <a:solidFill>
                  <a:srgbClr val="222222"/>
                </a:solidFill>
                <a:latin typeface="Calibri"/>
              </a:rPr>
              <a:t>3 LEDs x 20 mA</a:t>
            </a:r>
          </a:p>
          <a:p>
            <a:pPr algn="ctr">
              <a:lnSpc>
                <a:spcPct val="100000"/>
              </a:lnSpc>
              <a:spcAft>
                <a:spcPts val="0"/>
              </a:spcAft>
              <a:defRPr sz="1300" b="0">
                <a:solidFill>
                  <a:srgbClr val="222222"/>
                </a:solidFill>
                <a:latin typeface="Calibri"/>
              </a:defRPr>
            </a:pPr>
            <a:r>
              <a:rPr sz="1300" b="0">
                <a:solidFill>
                  <a:srgbClr val="222222"/>
                </a:solidFill>
                <a:latin typeface="Calibri"/>
              </a:rPr>
              <a:t>= 60 mA</a:t>
            </a:r>
          </a:p>
          <a:p>
            <a:pPr algn="ctr">
              <a:lnSpc>
                <a:spcPct val="100000"/>
              </a:lnSpc>
              <a:spcAft>
                <a:spcPts val="0"/>
              </a:spcAft>
              <a:defRPr sz="1300" b="0">
                <a:solidFill>
                  <a:srgbClr val="222222"/>
                </a:solidFill>
                <a:latin typeface="Calibri"/>
              </a:defRPr>
            </a:pPr>
          </a:p>
          <a:p>
            <a:pPr algn="ctr">
              <a:lnSpc>
                <a:spcPct val="100000"/>
              </a:lnSpc>
              <a:spcAft>
                <a:spcPts val="0"/>
              </a:spcAft>
              <a:defRPr sz="1300" b="0">
                <a:solidFill>
                  <a:srgbClr val="222222"/>
                </a:solidFill>
                <a:latin typeface="Calibri"/>
              </a:defRPr>
            </a:pPr>
            <a:r>
              <a:rPr sz="1300" b="0">
                <a:solidFill>
                  <a:srgbClr val="222222"/>
                </a:solidFill>
                <a:latin typeface="Calibri"/>
              </a:rPr>
              <a:t>P = I x V</a:t>
            </a:r>
          </a:p>
          <a:p>
            <a:pPr algn="ctr">
              <a:lnSpc>
                <a:spcPct val="100000"/>
              </a:lnSpc>
              <a:spcAft>
                <a:spcPts val="0"/>
              </a:spcAft>
              <a:defRPr sz="1300" b="0">
                <a:solidFill>
                  <a:srgbClr val="222222"/>
                </a:solidFill>
                <a:latin typeface="Calibri"/>
              </a:defRPr>
            </a:pPr>
            <a:r>
              <a:rPr sz="1300" b="0">
                <a:solidFill>
                  <a:srgbClr val="222222"/>
                </a:solidFill>
                <a:latin typeface="Calibri"/>
              </a:rPr>
              <a:t>= 0.06 x 5</a:t>
            </a:r>
          </a:p>
          <a:p>
            <a:pPr algn="ctr">
              <a:lnSpc>
                <a:spcPct val="100000"/>
              </a:lnSpc>
              <a:spcAft>
                <a:spcPts val="0"/>
              </a:spcAft>
              <a:defRPr sz="1300" b="0">
                <a:solidFill>
                  <a:srgbClr val="222222"/>
                </a:solidFill>
                <a:latin typeface="Calibri"/>
              </a:defRPr>
            </a:pPr>
            <a:r>
              <a:rPr sz="1300" b="0">
                <a:solidFill>
                  <a:srgbClr val="222222"/>
                </a:solidFill>
                <a:latin typeface="Calibri"/>
              </a:rPr>
              <a:t>= 0.3 W</a:t>
            </a:r>
          </a:p>
          <a:p>
            <a:pPr algn="ctr">
              <a:lnSpc>
                <a:spcPct val="100000"/>
              </a:lnSpc>
              <a:spcAft>
                <a:spcPts val="0"/>
              </a:spcAft>
              <a:defRPr sz="1300" b="0">
                <a:solidFill>
                  <a:srgbClr val="222222"/>
                </a:solidFill>
                <a:latin typeface="Calibri"/>
              </a:defRPr>
            </a:pPr>
          </a:p>
          <a:p>
            <a:pPr algn="ctr">
              <a:lnSpc>
                <a:spcPct val="100000"/>
              </a:lnSpc>
              <a:spcAft>
                <a:spcPts val="0"/>
              </a:spcAft>
              <a:defRPr sz="1300" b="0">
                <a:solidFill>
                  <a:srgbClr val="222222"/>
                </a:solidFill>
                <a:latin typeface="Calibri"/>
              </a:defRPr>
            </a:pPr>
            <a:r>
              <a:rPr sz="1300" b="0">
                <a:solidFill>
                  <a:srgbClr val="222222"/>
                </a:solidFill>
                <a:latin typeface="Calibri"/>
              </a:rPr>
              <a:t>x 32 pixels</a:t>
            </a:r>
          </a:p>
          <a:p>
            <a:pPr algn="ctr">
              <a:lnSpc>
                <a:spcPct val="100000"/>
              </a:lnSpc>
              <a:spcAft>
                <a:spcPts val="0"/>
              </a:spcAft>
              <a:defRPr sz="1300" b="0">
                <a:solidFill>
                  <a:srgbClr val="222222"/>
                </a:solidFill>
                <a:latin typeface="Calibri"/>
              </a:defRPr>
            </a:pPr>
            <a:r>
              <a:rPr sz="1300" b="0">
                <a:solidFill>
                  <a:srgbClr val="222222"/>
                </a:solidFill>
                <a:latin typeface="Calibri"/>
              </a:rPr>
              <a:t>= 1.92 A</a:t>
            </a:r>
          </a:p>
          <a:p>
            <a:pPr algn="ctr">
              <a:lnSpc>
                <a:spcPct val="100000"/>
              </a:lnSpc>
              <a:spcAft>
                <a:spcPts val="0"/>
              </a:spcAft>
              <a:defRPr sz="1300" b="0">
                <a:solidFill>
                  <a:srgbClr val="222222"/>
                </a:solidFill>
                <a:latin typeface="Calibri"/>
              </a:defRPr>
            </a:pPr>
            <a:r>
              <a:rPr sz="13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colour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l4a_all_one_colour</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Upload it. Watch both the vehicle and the Serial Monitor.</a:t>
            </a:r>
          </a:p>
          <a:p>
            <a:pPr algn="l">
              <a:lnSpc>
                <a:spcPct val="100000"/>
              </a:lnSpc>
              <a:spcAft>
                <a:spcPts val="800"/>
              </a:spcAft>
              <a:defRPr sz="1600" b="0">
                <a:solidFill>
                  <a:srgbClr val="222222"/>
                </a:solidFill>
                <a:latin typeface="Calibri"/>
              </a:defRPr>
            </a:pPr>
            <a:r>
              <a:rPr sz="1600" b="0">
                <a:solidFill>
                  <a:srgbClr val="222222"/>
                </a:solidFill>
                <a:latin typeface="Calibri"/>
              </a:rPr>
              <a:t>2.  Note the estimated current for each colour. Which is cheapest? Which is most expensive? Why?</a:t>
            </a:r>
          </a:p>
          <a:p>
            <a:pPr algn="l">
              <a:lnSpc>
                <a:spcPct val="100000"/>
              </a:lnSpc>
              <a:spcAft>
                <a:spcPts val="800"/>
              </a:spcAft>
              <a:defRPr sz="1600" b="0">
                <a:solidFill>
                  <a:srgbClr val="222222"/>
                </a:solidFill>
                <a:latin typeface="Calibri"/>
              </a:defRPr>
            </a:pPr>
            <a:r>
              <a:rPr sz="1600" b="0">
                <a:solidFill>
                  <a:srgbClr val="222222"/>
                </a:solidFill>
                <a:latin typeface="Calibri"/>
              </a:rPr>
              <a:t>3.  Change BRIGHTNESS to 255 and upload. After a minute of white, put your hand near the LED bars - carefully.</a:t>
            </a:r>
          </a:p>
          <a:p>
            <a:pPr algn="l">
              <a:lnSpc>
                <a:spcPct val="100000"/>
              </a:lnSpc>
              <a:spcAft>
                <a:spcPts val="800"/>
              </a:spcAft>
              <a:defRPr sz="1600" b="0">
                <a:solidFill>
                  <a:srgbClr val="222222"/>
                </a:solidFill>
                <a:latin typeface="Calibri"/>
              </a:defRPr>
            </a:pPr>
            <a:r>
              <a:rPr sz="1600" b="0">
                <a:solidFill>
                  <a:srgbClr val="222222"/>
                </a:solidFill>
                <a:latin typeface="Calibri"/>
              </a:rPr>
              <a:t>4.  Put it back to 60.</a:t>
            </a:r>
          </a:p>
          <a:p>
            <a:pPr algn="l">
              <a:lnSpc>
                <a:spcPct val="100000"/>
              </a:lnSpc>
              <a:spcAft>
                <a:spcPts val="800"/>
              </a:spcAft>
              <a:defRPr sz="1600" b="0">
                <a:solidFill>
                  <a:srgbClr val="222222"/>
                </a:solidFill>
                <a:latin typeface="Calibri"/>
              </a:defRPr>
            </a:pPr>
            <a:r>
              <a:rPr sz="1600" b="0">
                <a:solidFill>
                  <a:srgbClr val="222222"/>
                </a:solidFill>
                <a:latin typeface="Calibri"/>
              </a:rPr>
              <a:t>5.  Change the for loop to  i = i + 2. What happens, and why?</a:t>
            </a:r>
          </a:p>
          <a:p>
            <a:pPr algn="l">
              <a:lnSpc>
                <a:spcPct val="100000"/>
              </a:lnSpc>
              <a:spcAft>
                <a:spcPts val="800"/>
              </a:spcAft>
              <a:defRPr sz="1600" b="0">
                <a:solidFill>
                  <a:srgbClr val="222222"/>
                </a:solidFill>
                <a:latin typeface="Calibri"/>
              </a:defRPr>
            </a:pPr>
            <a:r>
              <a:rPr sz="1600" b="0">
                <a:solidFill>
                  <a:srgbClr val="222222"/>
                </a:solidFill>
                <a:latin typeface="Calibri"/>
              </a:rPr>
              <a:t>6.  Look up strip.fill(). Can you replace the loop with one line?</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All 32 LEDs cycling through seven colours and off, with the estimated current printed for each.</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Yellow costs about twice what red costs. Why?</a:t>
            </a:r>
          </a:p>
          <a:p>
            <a:pPr algn="l">
              <a:lnSpc>
                <a:spcPct val="100000"/>
              </a:lnSpc>
              <a:spcAft>
                <a:spcPts val="600"/>
              </a:spcAft>
              <a:defRPr sz="1500" b="0">
                <a:solidFill>
                  <a:srgbClr val="222222"/>
                </a:solidFill>
                <a:latin typeface="Calibri"/>
              </a:defRPr>
            </a:pPr>
            <a:r>
              <a:rPr sz="1500" b="0">
                <a:solidFill>
                  <a:srgbClr val="222222"/>
                </a:solidFill>
                <a:latin typeface="Calibri"/>
              </a:rPr>
              <a:t>At brightness 60, what is the worst-case current?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11</a:t>
            </a:r>
          </a:p>
        </p:txBody>
      </p:sp>
      <p:sp>
        <p:nvSpPr>
          <p:cNvPr id="6" name="TextBox 5"/>
          <p:cNvSpPr txBox="1"/>
          <p:nvPr/>
        </p:nvSpPr>
        <p:spPr>
          <a:xfrm>
            <a:off x="1325880" y="1508760"/>
            <a:ext cx="9692640" cy="274320"/>
          </a:xfrm>
          <a:prstGeom prst="rect">
            <a:avLst/>
          </a:prstGeom>
          <a:noFill/>
        </p:spPr>
        <p:txBody>
          <a:bodyPr wrap="square" lIns="0" tIns="0" rIns="0" bIns="0">
            <a:spAutoFit/>
          </a:bodyPr>
          <a:lstStyle/>
          <a:p>
            <a:pPr algn="ctr">
              <a:lnSpc>
                <a:spcPct val="100000"/>
              </a:lnSpc>
              <a:spcAft>
                <a:spcPts val="100"/>
              </a:spcAft>
              <a:defRPr sz="1100" b="1">
                <a:solidFill>
                  <a:srgbClr val="1F3A5F"/>
                </a:solidFill>
                <a:latin typeface="Calibri"/>
              </a:defRPr>
            </a:pPr>
            <a:r>
              <a:rPr sz="1100" b="1">
                <a:solidFill>
                  <a:srgbClr val="1F3A5F"/>
                </a:solidFill>
                <a:latin typeface="Calibri"/>
              </a:rPr>
              <a:t>FRONT   -   data goes in at LED 0</a:t>
            </a:r>
          </a:p>
        </p:txBody>
      </p:sp>
      <p:sp>
        <p:nvSpPr>
          <p:cNvPr id="7" name="TextBox 6"/>
          <p:cNvSpPr txBox="1"/>
          <p:nvPr/>
        </p:nvSpPr>
        <p:spPr>
          <a:xfrm>
            <a:off x="1325880" y="4270248"/>
            <a:ext cx="9692640" cy="274320"/>
          </a:xfrm>
          <a:prstGeom prst="rect">
            <a:avLst/>
          </a:prstGeom>
          <a:noFill/>
        </p:spPr>
        <p:txBody>
          <a:bodyPr wrap="square" lIns="0" tIns="0" rIns="0" bIns="0">
            <a:spAutoFit/>
          </a:bodyPr>
          <a:lstStyle/>
          <a:p>
            <a:pPr algn="ctr">
              <a:lnSpc>
                <a:spcPct val="100000"/>
              </a:lnSpc>
              <a:spcAft>
                <a:spcPts val="100"/>
              </a:spcAft>
              <a:defRPr sz="1100" b="1">
                <a:solidFill>
                  <a:srgbClr val="1F3A5F"/>
                </a:solidFill>
                <a:latin typeface="Calibri"/>
              </a:defRPr>
            </a:pPr>
            <a:r>
              <a:rPr sz="11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31</a:t>
            </a:r>
          </a:p>
        </p:txBody>
      </p:sp>
      <p:sp>
        <p:nvSpPr>
          <p:cNvPr id="40" name="TextBox 39"/>
          <p:cNvSpPr txBox="1"/>
          <p:nvPr/>
        </p:nvSpPr>
        <p:spPr>
          <a:xfrm>
            <a:off x="457200" y="2651760"/>
            <a:ext cx="822960" cy="445770"/>
          </a:xfrm>
          <a:prstGeom prst="rect">
            <a:avLst/>
          </a:prstGeom>
          <a:noFill/>
        </p:spPr>
        <p:txBody>
          <a:bodyPr wrap="square" lIns="0" tIns="0" rIns="0" bIns="0">
            <a:spAutoFit/>
          </a:bodyPr>
          <a:lstStyle/>
          <a:p>
            <a:pPr algn="ctr">
              <a:lnSpc>
                <a:spcPct val="100000"/>
              </a:lnSpc>
              <a:spcAft>
                <a:spcPts val="100"/>
              </a:spcAft>
              <a:defRPr sz="1100" b="1">
                <a:solidFill>
                  <a:srgbClr val="B46A0F"/>
                </a:solidFill>
                <a:latin typeface="Calibri"/>
              </a:defRPr>
            </a:pPr>
            <a:r>
              <a:rPr sz="1100" b="1">
                <a:solidFill>
                  <a:srgbClr val="B46A0F"/>
                </a:solidFill>
                <a:latin typeface="Calibri"/>
              </a:rPr>
              <a:t>LEFT</a:t>
            </a:r>
          </a:p>
          <a:p>
            <a:pPr algn="ctr">
              <a:lnSpc>
                <a:spcPct val="100000"/>
              </a:lnSpc>
              <a:spcAft>
                <a:spcPts val="100"/>
              </a:spcAft>
              <a:defRPr sz="1100" b="1">
                <a:solidFill>
                  <a:srgbClr val="B46A0F"/>
                </a:solidFill>
                <a:latin typeface="Calibri"/>
              </a:defRPr>
            </a:pPr>
            <a:r>
              <a:rPr sz="1100" b="1">
                <a:solidFill>
                  <a:srgbClr val="B46A0F"/>
                </a:solidFill>
                <a:latin typeface="Calibri"/>
              </a:rPr>
              <a:t>side</a:t>
            </a:r>
          </a:p>
        </p:txBody>
      </p:sp>
      <p:sp>
        <p:nvSpPr>
          <p:cNvPr id="41" name="TextBox 40"/>
          <p:cNvSpPr txBox="1"/>
          <p:nvPr/>
        </p:nvSpPr>
        <p:spPr>
          <a:xfrm>
            <a:off x="11073384" y="2651760"/>
            <a:ext cx="914400" cy="445770"/>
          </a:xfrm>
          <a:prstGeom prst="rect">
            <a:avLst/>
          </a:prstGeom>
          <a:noFill/>
        </p:spPr>
        <p:txBody>
          <a:bodyPr wrap="square" lIns="0" tIns="0" rIns="0" bIns="0">
            <a:spAutoFit/>
          </a:bodyPr>
          <a:lstStyle/>
          <a:p>
            <a:pPr algn="ctr">
              <a:lnSpc>
                <a:spcPct val="100000"/>
              </a:lnSpc>
              <a:spcAft>
                <a:spcPts val="100"/>
              </a:spcAft>
              <a:defRPr sz="1100" b="1">
                <a:solidFill>
                  <a:srgbClr val="0E7C86"/>
                </a:solidFill>
                <a:latin typeface="Calibri"/>
              </a:defRPr>
            </a:pPr>
            <a:r>
              <a:rPr sz="1100" b="1">
                <a:solidFill>
                  <a:srgbClr val="0E7C86"/>
                </a:solidFill>
                <a:latin typeface="Calibri"/>
              </a:rPr>
              <a:t>RIGHT</a:t>
            </a:r>
          </a:p>
          <a:p>
            <a:pPr algn="ctr">
              <a:lnSpc>
                <a:spcPct val="100000"/>
              </a:lnSpc>
              <a:spcAft>
                <a:spcPts val="100"/>
              </a:spcAft>
              <a:defRPr sz="1100" b="1">
                <a:solidFill>
                  <a:srgbClr val="0E7C86"/>
                </a:solidFill>
                <a:latin typeface="Calibri"/>
              </a:defRPr>
            </a:pPr>
            <a:r>
              <a:rPr sz="11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274320"/>
          </a:xfrm>
          <a:prstGeom prst="rect">
            <a:avLst/>
          </a:prstGeom>
          <a:noFill/>
        </p:spPr>
        <p:txBody>
          <a:bodyPr wrap="square" lIns="0" tIns="0" rIns="0" bIns="0">
            <a:spAutoFit/>
          </a:bodyPr>
          <a:lstStyle/>
          <a:p>
            <a:pPr algn="ctr">
              <a:lnSpc>
                <a:spcPct val="100000"/>
              </a:lnSpc>
              <a:spcAft>
                <a:spcPts val="100"/>
              </a:spcAft>
              <a:defRPr sz="1100" b="1">
                <a:solidFill>
                  <a:srgbClr val="0E7C86"/>
                </a:solidFill>
                <a:latin typeface="Calibri"/>
              </a:defRPr>
            </a:pPr>
            <a:r>
              <a:rPr sz="11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274320"/>
          </a:xfrm>
          <a:prstGeom prst="rect">
            <a:avLst/>
          </a:prstGeom>
          <a:noFill/>
        </p:spPr>
        <p:txBody>
          <a:bodyPr wrap="square" lIns="0" tIns="0" rIns="0" bIns="0">
            <a:spAutoFit/>
          </a:bodyPr>
          <a:lstStyle/>
          <a:p>
            <a:pPr algn="ctr">
              <a:lnSpc>
                <a:spcPct val="100000"/>
              </a:lnSpc>
              <a:spcAft>
                <a:spcPts val="100"/>
              </a:spcAft>
              <a:defRPr sz="1100" b="0">
                <a:solidFill>
                  <a:srgbClr val="666666"/>
                </a:solidFill>
                <a:latin typeface="Consolas"/>
              </a:defRPr>
            </a:pPr>
            <a:r>
              <a:rPr sz="11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LEFT is 0-7 and 24-31.  RIGHT is 8-15 and 16-23.  The strip is one loop, so each side is in two pieces.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Sit the vehicle in front of you where you can see all four bars.</a:t>
            </a:r>
          </a:p>
          <a:p>
            <a:pPr algn="l">
              <a:lnSpc>
                <a:spcPct val="100000"/>
              </a:lnSpc>
              <a:spcAft>
                <a:spcPts val="800"/>
              </a:spcAft>
              <a:defRPr sz="1600" b="0">
                <a:solidFill>
                  <a:srgbClr val="222222"/>
                </a:solidFill>
                <a:latin typeface="Calibri"/>
              </a:defRPr>
            </a:pPr>
            <a:r>
              <a:rPr sz="1600" b="0">
                <a:solidFill>
                  <a:srgbClr val="222222"/>
                </a:solidFill>
                <a:latin typeface="Calibri"/>
              </a:rPr>
              <a:t>2.  Upload it. Follow the walking dot with your finger.</a:t>
            </a:r>
          </a:p>
          <a:p>
            <a:pPr algn="l">
              <a:lnSpc>
                <a:spcPct val="100000"/>
              </a:lnSpc>
              <a:spcAft>
                <a:spcPts val="800"/>
              </a:spcAft>
              <a:defRPr sz="1600" b="0">
                <a:solidFill>
                  <a:srgbClr val="222222"/>
                </a:solidFill>
                <a:latin typeface="Calibri"/>
              </a:defRPr>
            </a:pPr>
            <a:r>
              <a:rPr sz="1600" b="0">
                <a:solidFill>
                  <a:srgbClr val="222222"/>
                </a:solidFill>
                <a:latin typeface="Calibri"/>
              </a:rPr>
              <a:t>3.  Write the numbers onto a sketch of the vehicle. Keep it.</a:t>
            </a:r>
          </a:p>
          <a:p>
            <a:pPr algn="l">
              <a:lnSpc>
                <a:spcPct val="100000"/>
              </a:lnSpc>
              <a:spcAft>
                <a:spcPts val="800"/>
              </a:spcAft>
              <a:defRPr sz="1600" b="0">
                <a:solidFill>
                  <a:srgbClr val="222222"/>
                </a:solidFill>
                <a:latin typeface="Calibri"/>
              </a:defRPr>
            </a:pPr>
            <a:r>
              <a:rPr sz="1600" b="0">
                <a:solidFill>
                  <a:srgbClr val="222222"/>
                </a:solidFill>
                <a:latin typeface="Calibri"/>
              </a:rPr>
              <a:t>4.  During the four-sides section, check that LEFT really is 0-7 and 24-31.</a:t>
            </a:r>
          </a:p>
          <a:p>
            <a:pPr algn="l">
              <a:lnSpc>
                <a:spcPct val="100000"/>
              </a:lnSpc>
              <a:spcAft>
                <a:spcPts val="800"/>
              </a:spcAft>
              <a:defRPr sz="1600" b="0">
                <a:solidFill>
                  <a:srgbClr val="222222"/>
                </a:solidFill>
                <a:latin typeface="Calibri"/>
              </a:defRPr>
            </a:pPr>
            <a:r>
              <a:rPr sz="1600" b="0">
                <a:solidFill>
                  <a:srgbClr val="222222"/>
                </a:solidFill>
                <a:latin typeface="Calibri"/>
              </a:rPr>
              <a:t>5.  During the mirror section, check that the two lit LEDs really are opposite each other.</a:t>
            </a:r>
          </a:p>
          <a:p>
            <a:pPr algn="l">
              <a:lnSpc>
                <a:spcPct val="100000"/>
              </a:lnSpc>
              <a:spcAft>
                <a:spcPts val="800"/>
              </a:spcAft>
              <a:defRPr sz="1600" b="0">
                <a:solidFill>
                  <a:srgbClr val="222222"/>
                </a:solidFill>
                <a:latin typeface="Calibri"/>
              </a:defRPr>
            </a:pPr>
            <a:r>
              <a:rPr sz="1600" b="0">
                <a:solidFill>
                  <a:srgbClr val="222222"/>
                </a:solidFill>
                <a:latin typeface="Calibri"/>
              </a:rPr>
              <a:t>6.  Change showSide so that FRONT lights only the middle four LEDs. Which numbers are those?</a:t>
            </a:r>
          </a:p>
          <a:p>
            <a:pPr algn="l">
              <a:lnSpc>
                <a:spcPct val="100000"/>
              </a:lnSpc>
              <a:spcAft>
                <a:spcPts val="800"/>
              </a:spcAft>
              <a:defRPr sz="1600" b="0">
                <a:solidFill>
                  <a:srgbClr val="222222"/>
                </a:solidFill>
                <a:latin typeface="Calibri"/>
              </a:defRPr>
            </a:pPr>
            <a:r>
              <a:rPr sz="1600" b="0">
                <a:solidFill>
                  <a:srgbClr val="222222"/>
                </a:solidFill>
                <a:latin typeface="Calibri"/>
              </a:rPr>
              <a:t>7.  Add a section that lights the four CORNERS.</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Which LED is directly behind number 3?</a:t>
            </a:r>
          </a:p>
          <a:p>
            <a:pPr algn="l">
              <a:lnSpc>
                <a:spcPct val="100000"/>
              </a:lnSpc>
              <a:spcAft>
                <a:spcPts val="600"/>
              </a:spcAft>
              <a:defRPr sz="1500" b="0">
                <a:solidFill>
                  <a:srgbClr val="222222"/>
                </a:solidFill>
                <a:latin typeface="Calibri"/>
              </a:defRPr>
            </a:pPr>
            <a:r>
              <a:rPr sz="1500" b="0">
                <a:solidFill>
                  <a:srgbClr val="222222"/>
                </a:solidFill>
                <a:latin typeface="Calibri"/>
              </a:rPr>
              <a:t>You want to light the whole right side. Which two ranges?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13</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the pattern you will use all day</a:t>
            </a:r>
          </a:p>
        </p:txBody>
      </p:sp>
      <p:sp>
        <p:nvSpPr>
          <p:cNvPr id="7" name="Rounded Rectangle 6"/>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666666"/>
                </a:solidFill>
                <a:latin typeface="Consolas"/>
              </a:rPr>
              <a:t>// The long way. Nobody writes this.</a:t>
            </a:r>
          </a:p>
          <a:p>
            <a:pPr algn="l">
              <a:lnSpc>
                <a:spcPct val="100000"/>
              </a:lnSpc>
              <a:spcAft>
                <a:spcPts val="0"/>
              </a:spcAft>
              <a:defRPr sz="1400">
                <a:latin typeface="Consolas"/>
              </a:defRPr>
            </a:pPr>
            <a:r>
              <a:rPr sz="1400">
                <a:solidFill>
                  <a:srgbClr val="222222"/>
                </a:solidFill>
                <a:latin typeface="Consolas"/>
              </a:rPr>
              <a:t>strip.setPixelColor(0, white);</a:t>
            </a:r>
          </a:p>
          <a:p>
            <a:pPr algn="l">
              <a:lnSpc>
                <a:spcPct val="100000"/>
              </a:lnSpc>
              <a:spcAft>
                <a:spcPts val="0"/>
              </a:spcAft>
              <a:defRPr sz="1400">
                <a:latin typeface="Consolas"/>
              </a:defRPr>
            </a:pPr>
            <a:r>
              <a:rPr sz="1400">
                <a:solidFill>
                  <a:srgbClr val="222222"/>
                </a:solidFill>
                <a:latin typeface="Consolas"/>
              </a:rPr>
              <a:t>strip.setPixelColor(1, white);</a:t>
            </a:r>
          </a:p>
          <a:p>
            <a:pPr algn="l">
              <a:lnSpc>
                <a:spcPct val="100000"/>
              </a:lnSpc>
              <a:spcAft>
                <a:spcPts val="0"/>
              </a:spcAft>
              <a:defRPr sz="1400">
                <a:latin typeface="Consolas"/>
              </a:defRPr>
            </a:pPr>
            <a:r>
              <a:rPr sz="1400">
                <a:solidFill>
                  <a:srgbClr val="222222"/>
                </a:solidFill>
                <a:latin typeface="Consolas"/>
              </a:rPr>
              <a:t>strip.setPixelColor(2, white);      // ...and 29 more</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The for loop. Same thing.</a:t>
            </a:r>
          </a:p>
          <a:p>
            <a:pPr algn="l">
              <a:lnSpc>
                <a:spcPct val="100000"/>
              </a:lnSpc>
              <a:spcAft>
                <a:spcPts val="0"/>
              </a:spcAft>
              <a:defRPr sz="1400">
                <a:latin typeface="Consolas"/>
              </a:defRPr>
            </a:pPr>
            <a:r>
              <a:rPr sz="1400" b="1">
                <a:solidFill>
                  <a:srgbClr val="0E7C86"/>
                </a:solidFill>
                <a:latin typeface="Consolas"/>
              </a:rPr>
              <a:t>for (int i = 0; i &lt; 32; i++) {</a:t>
            </a:r>
          </a:p>
          <a:p>
            <a:pPr algn="l">
              <a:lnSpc>
                <a:spcPct val="100000"/>
              </a:lnSpc>
              <a:spcAft>
                <a:spcPts val="0"/>
              </a:spcAft>
              <a:defRPr sz="1400">
                <a:latin typeface="Consolas"/>
              </a:defRPr>
            </a:pPr>
            <a:r>
              <a:rPr sz="1400" b="1">
                <a:solidFill>
                  <a:srgbClr val="0E7C86"/>
                </a:solidFill>
                <a:latin typeface="Consolas"/>
              </a:rPr>
              <a:t>  strip.setPixelColor(i, white);</a:t>
            </a:r>
          </a:p>
          <a:p>
            <a:pPr algn="l">
              <a:lnSpc>
                <a:spcPct val="100000"/>
              </a:lnSpc>
              <a:spcAft>
                <a:spcPts val="0"/>
              </a:spcAft>
              <a:defRPr sz="1400">
                <a:latin typeface="Consolas"/>
              </a:defRPr>
            </a:pPr>
            <a:r>
              <a:rPr sz="1400" b="1">
                <a:solidFill>
                  <a:srgbClr val="0E7C86"/>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Just the front:</a:t>
            </a:r>
          </a:p>
          <a:p>
            <a:pPr algn="l">
              <a:lnSpc>
                <a:spcPct val="100000"/>
              </a:lnSpc>
              <a:spcAft>
                <a:spcPts val="0"/>
              </a:spcAft>
              <a:defRPr sz="1400">
                <a:latin typeface="Consolas"/>
              </a:defRPr>
            </a:pPr>
            <a:r>
              <a:rPr sz="1400">
                <a:solidFill>
                  <a:srgbClr val="222222"/>
                </a:solidFill>
                <a:latin typeface="Consolas"/>
              </a:rPr>
              <a:t>for (int i = FRONT_FIRST; i &lt;= FRONT_LAST; i++) {</a:t>
            </a:r>
          </a:p>
          <a:p>
            <a:pPr algn="l">
              <a:lnSpc>
                <a:spcPct val="100000"/>
              </a:lnSpc>
              <a:spcAft>
                <a:spcPts val="0"/>
              </a:spcAft>
              <a:defRPr sz="1400">
                <a:latin typeface="Consolas"/>
              </a:defRPr>
            </a:pPr>
            <a:r>
              <a:rPr sz="1400">
                <a:solidFill>
                  <a:srgbClr val="222222"/>
                </a:solidFill>
                <a:latin typeface="Consolas"/>
              </a:rPr>
              <a:t>  strip.setPixelColor(i, headlight);</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int i = 0     start here</a:t>
            </a:r>
          </a:p>
          <a:p>
            <a:pPr algn="l">
              <a:lnSpc>
                <a:spcPct val="100000"/>
              </a:lnSpc>
              <a:spcAft>
                <a:spcPts val="1100"/>
              </a:spcAft>
              <a:defRPr sz="1500" b="0">
                <a:solidFill>
                  <a:srgbClr val="222222"/>
                </a:solidFill>
                <a:latin typeface="Calibri"/>
              </a:defRPr>
            </a:pPr>
            <a:r>
              <a:rPr sz="1500" b="0">
                <a:solidFill>
                  <a:srgbClr val="222222"/>
                </a:solidFill>
                <a:latin typeface="Calibri"/>
              </a:rPr>
              <a:t>i &lt; 32        keep going while this is true</a:t>
            </a:r>
          </a:p>
          <a:p>
            <a:pPr algn="l">
              <a:lnSpc>
                <a:spcPct val="100000"/>
              </a:lnSpc>
              <a:spcAft>
                <a:spcPts val="1100"/>
              </a:spcAft>
              <a:defRPr sz="1500" b="0">
                <a:solidFill>
                  <a:srgbClr val="222222"/>
                </a:solidFill>
                <a:latin typeface="Calibri"/>
              </a:defRPr>
            </a:pPr>
            <a:r>
              <a:rPr sz="1500" b="0">
                <a:solidFill>
                  <a:srgbClr val="222222"/>
                </a:solidFill>
                <a:latin typeface="Calibri"/>
              </a:rPr>
              <a:t>i++           add one each time round</a:t>
            </a:r>
          </a:p>
          <a:p>
            <a:pPr algn="l">
              <a:lnSpc>
                <a:spcPct val="100000"/>
              </a:lnSpc>
              <a:spcAft>
                <a:spcPts val="1100"/>
              </a:spcAft>
              <a:defRPr sz="1500" b="0">
                <a:solidFill>
                  <a:srgbClr val="222222"/>
                </a:solidFill>
                <a:latin typeface="Calibri"/>
              </a:defRPr>
            </a:pPr>
          </a:p>
          <a:p>
            <a:pPr algn="l">
              <a:lnSpc>
                <a:spcPct val="100000"/>
              </a:lnSpc>
              <a:spcAft>
                <a:spcPts val="1100"/>
              </a:spcAft>
              <a:defRPr sz="1500" b="0">
                <a:solidFill>
                  <a:srgbClr val="222222"/>
                </a:solidFill>
                <a:latin typeface="Calibri"/>
              </a:defRPr>
            </a:pPr>
            <a:r>
              <a:rPr sz="1500" b="0">
                <a:solidFill>
                  <a:srgbClr val="222222"/>
                </a:solidFill>
                <a:latin typeface="Calibri"/>
              </a:rPr>
              <a:t>Watch the difference between  &lt;  and  &lt;=. With FRONT_LAST = 15, you want &lt;= or you will miss LED 15.</a:t>
            </a:r>
          </a:p>
          <a:p>
            <a:pPr algn="l">
              <a:lnSpc>
                <a:spcPct val="100000"/>
              </a:lnSpc>
              <a:spcAft>
                <a:spcPts val="1100"/>
              </a:spcAft>
              <a:defRPr sz="1500" b="0">
                <a:solidFill>
                  <a:srgbClr val="222222"/>
                </a:solidFill>
                <a:latin typeface="Calibri"/>
              </a:defRPr>
            </a:pPr>
            <a:r>
              <a:rPr sz="1500" b="0">
                <a:solidFill>
                  <a:srgbClr val="222222"/>
                </a:solidFill>
                <a:latin typeface="Calibri"/>
              </a:rPr>
              <a:t>Off-by-one errors are the most common bug in the whole of programming, and this is where you meet them.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14</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colorWipe  and  theaterChase</a:t>
            </a:r>
          </a:p>
        </p:txBody>
      </p:sp>
      <p:sp>
        <p:nvSpPr>
          <p:cNvPr id="7" name="TextBox 6"/>
          <p:cNvSpPr txBox="1"/>
          <p:nvPr/>
        </p:nvSpPr>
        <p:spPr>
          <a:xfrm>
            <a:off x="502920" y="1645920"/>
            <a:ext cx="5364327" cy="3474720"/>
          </a:xfrm>
          <a:prstGeom prst="rect">
            <a:avLst/>
          </a:prstGeom>
          <a:noFill/>
        </p:spPr>
        <p:txBody>
          <a:bodyPr wrap="square" lIns="0" tIns="0" rIns="0" bIns="0">
            <a:spAutoFit/>
          </a:bodyPr>
          <a:lstStyle/>
          <a:p>
            <a:pPr algn="l">
              <a:lnSpc>
                <a:spcPct val="100000"/>
              </a:lnSpc>
              <a:spcAft>
                <a:spcPts val="800"/>
              </a:spcAft>
              <a:defRPr sz="1400" b="0">
                <a:solidFill>
                  <a:srgbClr val="222222"/>
                </a:solidFill>
                <a:latin typeface="Calibri"/>
              </a:defRPr>
            </a:pPr>
            <a:r>
              <a:rPr sz="1400" b="0">
                <a:solidFill>
                  <a:srgbClr val="222222"/>
                </a:solidFill>
                <a:latin typeface="Calibri"/>
              </a:rPr>
              <a:t>colorWipe fills the strip one LED at a time, in order, so the colour appears to sweep along it.</a:t>
            </a:r>
          </a:p>
          <a:p>
            <a:pPr lvl="1" algn="l">
              <a:lnSpc>
                <a:spcPct val="100000"/>
              </a:lnSpc>
              <a:spcAft>
                <a:spcPts val="800"/>
              </a:spcAft>
              <a:defRPr sz="1400" b="0">
                <a:solidFill>
                  <a:srgbClr val="222222"/>
                </a:solidFill>
                <a:latin typeface="Calibri"/>
              </a:defRPr>
            </a:pPr>
            <a:r>
              <a:rPr sz="1400" b="0">
                <a:solidFill>
                  <a:srgbClr val="222222"/>
                </a:solidFill>
                <a:latin typeface="Calibri"/>
              </a:rPr>
              <a:t>One loop, one delay per LED.</a:t>
            </a:r>
          </a:p>
          <a:p>
            <a:pPr algn="l">
              <a:lnSpc>
                <a:spcPct val="100000"/>
              </a:lnSpc>
              <a:spcAft>
                <a:spcPts val="800"/>
              </a:spcAft>
              <a:defRPr sz="1400" b="0">
                <a:solidFill>
                  <a:srgbClr val="222222"/>
                </a:solidFill>
                <a:latin typeface="Calibri"/>
              </a:defRPr>
            </a:pPr>
          </a:p>
          <a:p>
            <a:pPr algn="l">
              <a:lnSpc>
                <a:spcPct val="100000"/>
              </a:lnSpc>
              <a:spcAft>
                <a:spcPts val="800"/>
              </a:spcAft>
              <a:defRPr sz="1400" b="0">
                <a:solidFill>
                  <a:srgbClr val="222222"/>
                </a:solidFill>
                <a:latin typeface="Calibri"/>
              </a:defRPr>
            </a:pPr>
            <a:r>
              <a:rPr sz="1400" b="0">
                <a:solidFill>
                  <a:srgbClr val="222222"/>
                </a:solidFill>
                <a:latin typeface="Calibri"/>
              </a:rPr>
              <a:t>theaterChase lights every third LED and shuffles the pattern along by one each frame, so the lights appear to chase each other.</a:t>
            </a:r>
          </a:p>
          <a:p>
            <a:pPr lvl="1" algn="l">
              <a:lnSpc>
                <a:spcPct val="100000"/>
              </a:lnSpc>
              <a:spcAft>
                <a:spcPts val="800"/>
              </a:spcAft>
              <a:defRPr sz="1400" b="0">
                <a:solidFill>
                  <a:srgbClr val="222222"/>
                </a:solidFill>
                <a:latin typeface="Calibri"/>
              </a:defRPr>
            </a:pPr>
            <a:r>
              <a:rPr sz="1400" b="0">
                <a:solidFill>
                  <a:srgbClr val="222222"/>
                </a:solidFill>
                <a:latin typeface="Calibri"/>
              </a:rPr>
              <a:t>Three loops nested inside each other: how many times to repeat, which of the three positions is lit, and stepping along the strip in threes.</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rainbow  and  scanner</a:t>
            </a:r>
          </a:p>
        </p:txBody>
      </p:sp>
      <p:sp>
        <p:nvSpPr>
          <p:cNvPr id="9" name="TextBox 8"/>
          <p:cNvSpPr txBox="1"/>
          <p:nvPr/>
        </p:nvSpPr>
        <p:spPr>
          <a:xfrm>
            <a:off x="6324447" y="1645920"/>
            <a:ext cx="5364327" cy="3474720"/>
          </a:xfrm>
          <a:prstGeom prst="rect">
            <a:avLst/>
          </a:prstGeom>
          <a:noFill/>
        </p:spPr>
        <p:txBody>
          <a:bodyPr wrap="square" lIns="0" tIns="0" rIns="0" bIns="0">
            <a:spAutoFit/>
          </a:bodyPr>
          <a:lstStyle/>
          <a:p>
            <a:pPr algn="l">
              <a:lnSpc>
                <a:spcPct val="100000"/>
              </a:lnSpc>
              <a:spcAft>
                <a:spcPts val="800"/>
              </a:spcAft>
              <a:defRPr sz="1400" b="0">
                <a:solidFill>
                  <a:srgbClr val="222222"/>
                </a:solidFill>
                <a:latin typeface="Calibri"/>
              </a:defRPr>
            </a:pPr>
            <a:r>
              <a:rPr sz="1400" b="0">
                <a:solidFill>
                  <a:srgbClr val="222222"/>
                </a:solidFill>
                <a:latin typeface="Calibri"/>
              </a:rPr>
              <a:t>rainbow uses HUE instead of red, green and blue - one number that goes all the way round the colour wheel, 0 to 65535.</a:t>
            </a:r>
          </a:p>
          <a:p>
            <a:pPr lvl="1" algn="l">
              <a:lnSpc>
                <a:spcPct val="100000"/>
              </a:lnSpc>
              <a:spcAft>
                <a:spcPts val="800"/>
              </a:spcAft>
              <a:defRPr sz="1400" b="0">
                <a:solidFill>
                  <a:srgbClr val="222222"/>
                </a:solidFill>
                <a:latin typeface="Calibri"/>
              </a:defRPr>
            </a:pPr>
            <a:r>
              <a:rPr sz="1400" b="0">
                <a:solidFill>
                  <a:srgbClr val="222222"/>
                </a:solidFill>
                <a:latin typeface="Calibri"/>
              </a:rPr>
              <a:t>Each LED gets a hue slightly further round, which spreads a rainbow along the strip. Then the start point creeps forward so it appears to flow.</a:t>
            </a:r>
          </a:p>
          <a:p>
            <a:pPr algn="l">
              <a:lnSpc>
                <a:spcPct val="100000"/>
              </a:lnSpc>
              <a:spcAft>
                <a:spcPts val="800"/>
              </a:spcAft>
              <a:defRPr sz="1400" b="0">
                <a:solidFill>
                  <a:srgbClr val="222222"/>
                </a:solidFill>
                <a:latin typeface="Calibri"/>
              </a:defRPr>
            </a:pPr>
          </a:p>
          <a:p>
            <a:pPr algn="l">
              <a:lnSpc>
                <a:spcPct val="100000"/>
              </a:lnSpc>
              <a:spcAft>
                <a:spcPts val="800"/>
              </a:spcAft>
              <a:defRPr sz="1400" b="0">
                <a:solidFill>
                  <a:srgbClr val="222222"/>
                </a:solidFill>
                <a:latin typeface="Calibri"/>
              </a:defRPr>
            </a:pPr>
            <a:r>
              <a:rPr sz="1400" b="0">
                <a:solidFill>
                  <a:srgbClr val="222222"/>
                </a:solidFill>
                <a:latin typeface="Calibri"/>
              </a:rPr>
              <a:t>scanner is the KITT effect. One bright dot with a fading tail, and the matching rear LED at 31 - p so front and rear stay lined up.</a:t>
            </a:r>
          </a:p>
          <a:p>
            <a:pPr lvl="1" algn="l">
              <a:lnSpc>
                <a:spcPct val="100000"/>
              </a:lnSpc>
              <a:spcAft>
                <a:spcPts val="800"/>
              </a:spcAft>
              <a:defRPr sz="1400" b="0">
                <a:solidFill>
                  <a:srgbClr val="222222"/>
                </a:solidFill>
                <a:latin typeface="Calibri"/>
              </a:defRPr>
            </a:pPr>
            <a:r>
              <a:rPr sz="1400" b="0">
                <a:solidFill>
                  <a:srgbClr val="222222"/>
                </a:solidFill>
                <a:latin typeface="Calibri"/>
              </a:rPr>
              <a:t>The tail uses  &gt;&gt; tail  to halve the brightness each step: 255, 127, 63, 31.</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Upload it and watch all four run.</a:t>
            </a:r>
          </a:p>
          <a:p>
            <a:pPr algn="l">
              <a:lnSpc>
                <a:spcPct val="100000"/>
              </a:lnSpc>
              <a:spcAft>
                <a:spcPts val="800"/>
              </a:spcAft>
              <a:defRPr sz="1600" b="0">
                <a:solidFill>
                  <a:srgbClr val="222222"/>
                </a:solidFill>
                <a:latin typeface="Calibri"/>
              </a:defRPr>
            </a:pPr>
            <a:r>
              <a:rPr sz="1600" b="0">
                <a:solidFill>
                  <a:srgbClr val="222222"/>
                </a:solidFill>
                <a:latin typeface="Calibri"/>
              </a:rPr>
              <a:t>2.  In colorWipe, change the wait from 30 to 5, then to 150.</a:t>
            </a:r>
          </a:p>
          <a:p>
            <a:pPr algn="l">
              <a:lnSpc>
                <a:spcPct val="100000"/>
              </a:lnSpc>
              <a:spcAft>
                <a:spcPts val="800"/>
              </a:spcAft>
              <a:defRPr sz="1600" b="0">
                <a:solidFill>
                  <a:srgbClr val="222222"/>
                </a:solidFill>
                <a:latin typeface="Calibri"/>
              </a:defRPr>
            </a:pPr>
            <a:r>
              <a:rPr sz="1600" b="0">
                <a:solidFill>
                  <a:srgbClr val="222222"/>
                </a:solidFill>
                <a:latin typeface="Calibri"/>
              </a:rPr>
              <a:t>3.  In theaterChase, change BOTH 3s to 4s. What changes?</a:t>
            </a:r>
          </a:p>
          <a:p>
            <a:pPr algn="l">
              <a:lnSpc>
                <a:spcPct val="100000"/>
              </a:lnSpc>
              <a:spcAft>
                <a:spcPts val="800"/>
              </a:spcAft>
              <a:defRPr sz="1600" b="0">
                <a:solidFill>
                  <a:srgbClr val="222222"/>
                </a:solidFill>
                <a:latin typeface="Calibri"/>
              </a:defRPr>
            </a:pPr>
            <a:r>
              <a:rPr sz="1600" b="0">
                <a:solidFill>
                  <a:srgbClr val="222222"/>
                </a:solidFill>
                <a:latin typeface="Calibri"/>
              </a:rPr>
              <a:t>4.  Change SCANNER_TAIL from 3 to 0, then to 8.</a:t>
            </a:r>
          </a:p>
          <a:p>
            <a:pPr algn="l">
              <a:lnSpc>
                <a:spcPct val="100000"/>
              </a:lnSpc>
              <a:spcAft>
                <a:spcPts val="800"/>
              </a:spcAft>
              <a:defRPr sz="1600" b="0">
                <a:solidFill>
                  <a:srgbClr val="222222"/>
                </a:solidFill>
                <a:latin typeface="Calibri"/>
              </a:defRPr>
            </a:pPr>
            <a:r>
              <a:rPr sz="1600" b="0">
                <a:solidFill>
                  <a:srgbClr val="222222"/>
                </a:solidFill>
                <a:latin typeface="Calibri"/>
              </a:rPr>
              <a:t>5.  Change the scanner colour to blue. You now have a Cylon instead of KITT.</a:t>
            </a:r>
          </a:p>
          <a:p>
            <a:pPr algn="l">
              <a:lnSpc>
                <a:spcPct val="100000"/>
              </a:lnSpc>
              <a:spcAft>
                <a:spcPts val="800"/>
              </a:spcAft>
              <a:defRPr sz="1600" b="0">
                <a:solidFill>
                  <a:srgbClr val="222222"/>
                </a:solidFill>
                <a:latin typeface="Calibri"/>
              </a:defRPr>
            </a:pPr>
            <a:r>
              <a:rPr sz="1600" b="0">
                <a:solidFill>
                  <a:srgbClr val="222222"/>
                </a:solidFill>
                <a:latin typeface="Calibri"/>
              </a:rPr>
              <a:t>6.  Copy colorWipe, rename it, and make it run BACKWARDS. Call it from loop().</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Colour wipe, theatre chase, a flowing rainbow, then the scanner sweeping front and rear together.</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In theaterChase, why does the inner loop step in threes?</a:t>
            </a:r>
          </a:p>
          <a:p>
            <a:pPr algn="l">
              <a:lnSpc>
                <a:spcPct val="100000"/>
              </a:lnSpc>
              <a:spcAft>
                <a:spcPts val="600"/>
              </a:spcAft>
              <a:defRPr sz="1500" b="0">
                <a:solidFill>
                  <a:srgbClr val="222222"/>
                </a:solidFill>
                <a:latin typeface="Calibri"/>
              </a:defRPr>
            </a:pPr>
            <a:r>
              <a:rPr sz="1500" b="0">
                <a:solidFill>
                  <a:srgbClr val="222222"/>
                </a:solidFill>
                <a:latin typeface="Calibri"/>
              </a:rPr>
              <a:t>What does &gt;&gt; 1 do to a number? Why does that dim an LED?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600" b="0">
                <a:solidFill>
                  <a:srgbClr val="222222"/>
                </a:solidFill>
                <a:latin typeface="Calibri"/>
              </a:defRPr>
            </a:pPr>
            <a:r>
              <a:rPr sz="1600" b="0">
                <a:solidFill>
                  <a:srgbClr val="222222"/>
                </a:solidFill>
                <a:latin typeface="Calibri"/>
              </a:rPr>
              <a:t>Twenty minutes. Working in your group, invent a lighting pattern for your vehicle and write it as a function.</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Some starting points:</a:t>
            </a:r>
          </a:p>
          <a:p>
            <a:pPr lvl="1" algn="l">
              <a:lnSpc>
                <a:spcPct val="100000"/>
              </a:lnSpc>
              <a:spcAft>
                <a:spcPts val="900"/>
              </a:spcAft>
              <a:defRPr sz="1600" b="0">
                <a:solidFill>
                  <a:srgbClr val="222222"/>
                </a:solidFill>
                <a:latin typeface="Calibri"/>
              </a:defRPr>
            </a:pPr>
            <a:r>
              <a:rPr sz="1600" b="0">
                <a:solidFill>
                  <a:srgbClr val="222222"/>
                </a:solidFill>
                <a:latin typeface="Calibri"/>
              </a:rPr>
              <a:t>Police lights - left side red, right side blue, alternating</a:t>
            </a:r>
          </a:p>
          <a:p>
            <a:pPr lvl="1" algn="l">
              <a:lnSpc>
                <a:spcPct val="100000"/>
              </a:lnSpc>
              <a:spcAft>
                <a:spcPts val="900"/>
              </a:spcAft>
              <a:defRPr sz="1600" b="0">
                <a:solidFill>
                  <a:srgbClr val="222222"/>
                </a:solidFill>
                <a:latin typeface="Calibri"/>
              </a:defRPr>
            </a:pPr>
            <a:r>
              <a:rPr sz="1600" b="0">
                <a:solidFill>
                  <a:srgbClr val="222222"/>
                </a:solidFill>
                <a:latin typeface="Calibri"/>
              </a:rPr>
              <a:t>A countdown - all 32 red, then fewer and fewer, then green</a:t>
            </a:r>
          </a:p>
          <a:p>
            <a:pPr lvl="1" algn="l">
              <a:lnSpc>
                <a:spcPct val="100000"/>
              </a:lnSpc>
              <a:spcAft>
                <a:spcPts val="900"/>
              </a:spcAft>
              <a:defRPr sz="1600" b="0">
                <a:solidFill>
                  <a:srgbClr val="222222"/>
                </a:solidFill>
                <a:latin typeface="Calibri"/>
              </a:defRPr>
            </a:pPr>
            <a:r>
              <a:rPr sz="1600" b="0">
                <a:solidFill>
                  <a:srgbClr val="222222"/>
                </a:solidFill>
                <a:latin typeface="Calibri"/>
              </a:rPr>
              <a:t>A battery gauge - green through amber to red across the front bar</a:t>
            </a:r>
          </a:p>
          <a:p>
            <a:pPr lvl="1" algn="l">
              <a:lnSpc>
                <a:spcPct val="100000"/>
              </a:lnSpc>
              <a:spcAft>
                <a:spcPts val="900"/>
              </a:spcAft>
              <a:defRPr sz="1600" b="0">
                <a:solidFill>
                  <a:srgbClr val="222222"/>
                </a:solidFill>
                <a:latin typeface="Calibri"/>
              </a:defRPr>
            </a:pPr>
            <a:r>
              <a:rPr sz="1600" b="0">
                <a:solidFill>
                  <a:srgbClr val="222222"/>
                </a:solidFill>
                <a:latin typeface="Calibri"/>
              </a:rPr>
              <a:t>Breathing - all 32 fading smoothly up and down</a:t>
            </a:r>
          </a:p>
          <a:p>
            <a:pPr lvl="1" algn="l">
              <a:lnSpc>
                <a:spcPct val="100000"/>
              </a:lnSpc>
              <a:spcAft>
                <a:spcPts val="900"/>
              </a:spcAft>
              <a:defRPr sz="1600" b="0">
                <a:solidFill>
                  <a:srgbClr val="222222"/>
                </a:solidFill>
                <a:latin typeface="Calibri"/>
              </a:defRPr>
            </a:pPr>
            <a:r>
              <a:rPr sz="1600" b="0">
                <a:solidFill>
                  <a:srgbClr val="222222"/>
                </a:solidFill>
                <a:latin typeface="Calibri"/>
              </a:rPr>
              <a:t>A collision warning that flashes faster as something gets closer</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Rules: it must be a function you call from loop(), and it must use at least one for loop.</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Then show the class. Best one gets used in the race next week.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17</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2133600"/>
        </p:xfrm>
        <a:graphic>
          <a:graphicData uri="http://schemas.openxmlformats.org/drawingml/2006/table">
            <a:tbl>
              <a:tblPr firstRow="1" bandRow="1">
                <a:tableStyleId>{5C22544A-7EE6-4342-B048-85BDC9FD1C3A}</a:tableStyleId>
              </a:tblPr>
              <a:tblGrid>
                <a:gridCol w="3457446"/>
                <a:gridCol w="3254066"/>
                <a:gridCol w="4474342"/>
              </a:tblGrid>
              <a:tr h="266700">
                <a:tc>
                  <a:txBody>
                    <a:bodyPr/>
                    <a:lstStyle/>
                    <a:p>
                      <a:r>
                        <a:rPr sz="1200" b="1">
                          <a:solidFill>
                            <a:srgbClr val="FFFFFF"/>
                          </a:solidFill>
                          <a:latin typeface="Calibri"/>
                        </a:rPr>
                        <a:t>Symptom</a:t>
                      </a:r>
                    </a:p>
                  </a:txBody>
                  <a:tcPr marL="73152" marT="18288" marB="18288">
                    <a:solidFill>
                      <a:srgbClr val="1F3A5F"/>
                    </a:solidFill>
                  </a:tcPr>
                </a:tc>
                <a:tc>
                  <a:txBody>
                    <a:bodyPr/>
                    <a:lstStyle/>
                    <a:p>
                      <a:r>
                        <a:rPr sz="1200" b="1">
                          <a:solidFill>
                            <a:srgbClr val="FFFFFF"/>
                          </a:solidFill>
                          <a:latin typeface="Calibri"/>
                        </a:rPr>
                        <a:t>Most likely cause</a:t>
                      </a:r>
                    </a:p>
                  </a:txBody>
                  <a:tcPr marL="73152" marT="18288" marB="18288">
                    <a:solidFill>
                      <a:srgbClr val="1F3A5F"/>
                    </a:solidFill>
                  </a:tcPr>
                </a:tc>
                <a:tc>
                  <a:txBody>
                    <a:bodyPr/>
                    <a:lstStyle/>
                    <a:p>
                      <a:r>
                        <a:rPr sz="1200" b="1">
                          <a:solidFill>
                            <a:srgbClr val="FFFFFF"/>
                          </a:solidFill>
                          <a:latin typeface="Calibri"/>
                        </a:rPr>
                        <a:t>What to do</a:t>
                      </a:r>
                    </a:p>
                  </a:txBody>
                  <a:tcPr marL="73152" marT="18288" marB="18288">
                    <a:solidFill>
                      <a:srgbClr val="1F3A5F"/>
                    </a:solidFill>
                  </a:tcPr>
                </a:tc>
              </a:tr>
              <a:tr h="266700">
                <a:tc>
                  <a:txBody>
                    <a:bodyPr/>
                    <a:lstStyle/>
                    <a:p>
                      <a:r>
                        <a:rPr sz="1200">
                          <a:solidFill>
                            <a:srgbClr val="222222"/>
                          </a:solidFill>
                          <a:latin typeface="Calibri"/>
                        </a:rPr>
                        <a:t>Nothing lights at all</a:t>
                      </a:r>
                    </a:p>
                  </a:txBody>
                  <a:tcPr marL="73152" marT="18288" marB="18288">
                    <a:solidFill>
                      <a:srgbClr val="FFFFFF"/>
                    </a:solidFill>
                  </a:tcPr>
                </a:tc>
                <a:tc>
                  <a:txBody>
                    <a:bodyPr/>
                    <a:lstStyle/>
                    <a:p>
                      <a:r>
                        <a:rPr sz="1200">
                          <a:solidFill>
                            <a:srgbClr val="222222"/>
                          </a:solidFill>
                          <a:latin typeface="Calibri"/>
                        </a:rPr>
                        <a:t>No show() call</a:t>
                      </a:r>
                    </a:p>
                  </a:txBody>
                  <a:tcPr marL="73152" marT="18288" marB="18288">
                    <a:solidFill>
                      <a:srgbClr val="FFFFFF"/>
                    </a:solidFill>
                  </a:tcPr>
                </a:tc>
                <a:tc>
                  <a:txBody>
                    <a:bodyPr/>
                    <a:lstStyle/>
                    <a:p>
                      <a:r>
                        <a:rPr sz="1200">
                          <a:solidFill>
                            <a:srgbClr val="222222"/>
                          </a:solidFill>
                          <a:latin typeface="Calibri"/>
                        </a:rPr>
                        <a:t>Add strip.show() after the setPixelColor calls</a:t>
                      </a:r>
                    </a:p>
                  </a:txBody>
                  <a:tcPr marL="73152" marT="18288" marB="18288">
                    <a:solidFill>
                      <a:srgbClr val="FFFFFF"/>
                    </a:solidFill>
                  </a:tcPr>
                </a:tc>
              </a:tr>
              <a:tr h="266700">
                <a:tc>
                  <a:txBody>
                    <a:bodyPr/>
                    <a:lstStyle/>
                    <a:p>
                      <a:r>
                        <a:rPr sz="1200">
                          <a:solidFill>
                            <a:srgbClr val="222222"/>
                          </a:solidFill>
                          <a:latin typeface="Calibri"/>
                        </a:rPr>
                        <a:t>Only the first few light</a:t>
                      </a:r>
                    </a:p>
                  </a:txBody>
                  <a:tcPr marL="73152" marT="18288" marB="18288">
                    <a:solidFill>
                      <a:srgbClr val="EEF3F8"/>
                    </a:solidFill>
                  </a:tcPr>
                </a:tc>
                <a:tc>
                  <a:txBody>
                    <a:bodyPr/>
                    <a:lstStyle/>
                    <a:p>
                      <a:r>
                        <a:rPr sz="1200">
                          <a:solidFill>
                            <a:srgbClr val="222222"/>
                          </a:solidFill>
                          <a:latin typeface="Calibri"/>
                        </a:rPr>
                        <a:t>LED_COUNT too small</a:t>
                      </a:r>
                    </a:p>
                  </a:txBody>
                  <a:tcPr marL="73152" marT="18288" marB="18288">
                    <a:solidFill>
                      <a:srgbClr val="EEF3F8"/>
                    </a:solidFill>
                  </a:tcPr>
                </a:tc>
                <a:tc>
                  <a:txBody>
                    <a:bodyPr/>
                    <a:lstStyle/>
                    <a:p>
                      <a:r>
                        <a:rPr sz="1200">
                          <a:solidFill>
                            <a:srgbClr val="222222"/>
                          </a:solidFill>
                          <a:latin typeface="Calibri"/>
                        </a:rPr>
                        <a:t>It must be 32, not 12 or 16</a:t>
                      </a:r>
                    </a:p>
                  </a:txBody>
                  <a:tcPr marL="73152" marT="18288" marB="18288">
                    <a:solidFill>
                      <a:srgbClr val="EEF3F8"/>
                    </a:solidFill>
                  </a:tcPr>
                </a:tc>
              </a:tr>
              <a:tr h="266700">
                <a:tc>
                  <a:txBody>
                    <a:bodyPr/>
                    <a:lstStyle/>
                    <a:p>
                      <a:r>
                        <a:rPr sz="1200">
                          <a:solidFill>
                            <a:srgbClr val="222222"/>
                          </a:solidFill>
                          <a:latin typeface="Calibri"/>
                        </a:rPr>
                        <a:t>Colours are wrong - red shows green</a:t>
                      </a:r>
                    </a:p>
                  </a:txBody>
                  <a:tcPr marL="73152" marT="18288" marB="18288">
                    <a:solidFill>
                      <a:srgbClr val="FFFFFF"/>
                    </a:solidFill>
                  </a:tcPr>
                </a:tc>
                <a:tc>
                  <a:txBody>
                    <a:bodyPr/>
                    <a:lstStyle/>
                    <a:p>
                      <a:r>
                        <a:rPr sz="1200">
                          <a:solidFill>
                            <a:srgbClr val="222222"/>
                          </a:solidFill>
                          <a:latin typeface="Calibri"/>
                        </a:rPr>
                        <a:t>Wrong colour order</a:t>
                      </a:r>
                    </a:p>
                  </a:txBody>
                  <a:tcPr marL="73152" marT="18288" marB="18288">
                    <a:solidFill>
                      <a:srgbClr val="FFFFFF"/>
                    </a:solidFill>
                  </a:tcPr>
                </a:tc>
                <a:tc>
                  <a:txBody>
                    <a:bodyPr/>
                    <a:lstStyle/>
                    <a:p>
                      <a:r>
                        <a:rPr sz="1200">
                          <a:solidFill>
                            <a:srgbClr val="222222"/>
                          </a:solidFill>
                          <a:latin typeface="Calibri"/>
                        </a:rPr>
                        <a:t>Check NEO_GRB in the constructor</a:t>
                      </a:r>
                    </a:p>
                  </a:txBody>
                  <a:tcPr marL="73152" marT="18288" marB="18288">
                    <a:solidFill>
                      <a:srgbClr val="FFFFFF"/>
                    </a:solidFill>
                  </a:tcPr>
                </a:tc>
              </a:tr>
              <a:tr h="266700">
                <a:tc>
                  <a:txBody>
                    <a:bodyPr/>
                    <a:lstStyle/>
                    <a:p>
                      <a:r>
                        <a:rPr sz="1200">
                          <a:solidFill>
                            <a:srgbClr val="222222"/>
                          </a:solidFill>
                          <a:latin typeface="Calibri"/>
                        </a:rPr>
                        <a:t>The last few flicker</a:t>
                      </a:r>
                    </a:p>
                  </a:txBody>
                  <a:tcPr marL="73152" marT="18288" marB="18288">
                    <a:solidFill>
                      <a:srgbClr val="EEF3F8"/>
                    </a:solidFill>
                  </a:tcPr>
                </a:tc>
                <a:tc>
                  <a:txBody>
                    <a:bodyPr/>
                    <a:lstStyle/>
                    <a:p>
                      <a:r>
                        <a:rPr sz="1200">
                          <a:solidFill>
                            <a:srgbClr val="222222"/>
                          </a:solidFill>
                          <a:latin typeface="Calibri"/>
                        </a:rPr>
                        <a:t>Not enough power, or a long data run</a:t>
                      </a:r>
                    </a:p>
                  </a:txBody>
                  <a:tcPr marL="73152" marT="18288" marB="18288">
                    <a:solidFill>
                      <a:srgbClr val="EEF3F8"/>
                    </a:solidFill>
                  </a:tcPr>
                </a:tc>
                <a:tc>
                  <a:txBody>
                    <a:bodyPr/>
                    <a:lstStyle/>
                    <a:p>
                      <a:r>
                        <a:rPr sz="1200">
                          <a:solidFill>
                            <a:srgbClr val="222222"/>
                          </a:solidFill>
                          <a:latin typeface="Calibri"/>
                        </a:rPr>
                        <a:t>Lower the brightness and try again</a:t>
                      </a:r>
                    </a:p>
                  </a:txBody>
                  <a:tcPr marL="73152" marT="18288" marB="18288">
                    <a:solidFill>
                      <a:srgbClr val="EEF3F8"/>
                    </a:solidFill>
                  </a:tcPr>
                </a:tc>
              </a:tr>
              <a:tr h="266700">
                <a:tc>
                  <a:txBody>
                    <a:bodyPr/>
                    <a:lstStyle/>
                    <a:p>
                      <a:r>
                        <a:rPr sz="1200">
                          <a:solidFill>
                            <a:srgbClr val="222222"/>
                          </a:solidFill>
                          <a:latin typeface="Calibri"/>
                        </a:rPr>
                        <a:t>A pattern leaves a trail behind it</a:t>
                      </a:r>
                    </a:p>
                  </a:txBody>
                  <a:tcPr marL="73152" marT="18288" marB="18288">
                    <a:solidFill>
                      <a:srgbClr val="FFFFFF"/>
                    </a:solidFill>
                  </a:tcPr>
                </a:tc>
                <a:tc>
                  <a:txBody>
                    <a:bodyPr/>
                    <a:lstStyle/>
                    <a:p>
                      <a:r>
                        <a:rPr sz="1200">
                          <a:solidFill>
                            <a:srgbClr val="222222"/>
                          </a:solidFill>
                          <a:latin typeface="Calibri"/>
                        </a:rPr>
                        <a:t>The strip was not cleared</a:t>
                      </a:r>
                    </a:p>
                  </a:txBody>
                  <a:tcPr marL="73152" marT="18288" marB="18288">
                    <a:solidFill>
                      <a:srgbClr val="FFFFFF"/>
                    </a:solidFill>
                  </a:tcPr>
                </a:tc>
                <a:tc>
                  <a:txBody>
                    <a:bodyPr/>
                    <a:lstStyle/>
                    <a:p>
                      <a:r>
                        <a:rPr sz="1200">
                          <a:solidFill>
                            <a:srgbClr val="222222"/>
                          </a:solidFill>
                          <a:latin typeface="Calibri"/>
                        </a:rPr>
                        <a:t>strip.clear() at the start of each frame</a:t>
                      </a:r>
                    </a:p>
                  </a:txBody>
                  <a:tcPr marL="73152" marT="18288" marB="18288">
                    <a:solidFill>
                      <a:srgbClr val="FFFFFF"/>
                    </a:solidFill>
                  </a:tcPr>
                </a:tc>
              </a:tr>
              <a:tr h="266700">
                <a:tc>
                  <a:txBody>
                    <a:bodyPr/>
                    <a:lstStyle/>
                    <a:p>
                      <a:r>
                        <a:rPr sz="1200">
                          <a:solidFill>
                            <a:srgbClr val="222222"/>
                          </a:solidFill>
                          <a:latin typeface="Calibri"/>
                        </a:rPr>
                        <a:t>Lights work, vehicle stutters</a:t>
                      </a:r>
                    </a:p>
                  </a:txBody>
                  <a:tcPr marL="73152" marT="18288" marB="18288">
                    <a:solidFill>
                      <a:srgbClr val="EEF3F8"/>
                    </a:solidFill>
                  </a:tcPr>
                </a:tc>
                <a:tc>
                  <a:txBody>
                    <a:bodyPr/>
                    <a:lstStyle/>
                    <a:p>
                      <a:r>
                        <a:rPr sz="1200">
                          <a:solidFill>
                            <a:srgbClr val="222222"/>
                          </a:solidFill>
                          <a:latin typeface="Calibri"/>
                        </a:rPr>
                        <a:t>delay() inside an animation</a:t>
                      </a:r>
                    </a:p>
                  </a:txBody>
                  <a:tcPr marL="73152" marT="18288" marB="18288">
                    <a:solidFill>
                      <a:srgbClr val="EEF3F8"/>
                    </a:solidFill>
                  </a:tcPr>
                </a:tc>
                <a:tc>
                  <a:txBody>
                    <a:bodyPr/>
                    <a:lstStyle/>
                    <a:p>
                      <a:r>
                        <a:rPr sz="1200">
                          <a:solidFill>
                            <a:srgbClr val="222222"/>
                          </a:solidFill>
                          <a:latin typeface="Calibri"/>
                        </a:rPr>
                        <a:t>Lesson 5 - use millis() instead</a:t>
                      </a:r>
                    </a:p>
                  </a:txBody>
                  <a:tcPr marL="73152" marT="18288" marB="18288">
                    <a:solidFill>
                      <a:srgbClr val="EEF3F8"/>
                    </a:solidFill>
                  </a:tcPr>
                </a:tc>
              </a:tr>
              <a:tr h="266700">
                <a:tc>
                  <a:txBody>
                    <a:bodyPr/>
                    <a:lstStyle/>
                    <a:p>
                      <a:r>
                        <a:rPr sz="1200">
                          <a:solidFill>
                            <a:srgbClr val="222222"/>
                          </a:solidFill>
                          <a:latin typeface="Calibri"/>
                        </a:rPr>
                        <a:t>One LED stays dark forever</a:t>
                      </a:r>
                    </a:p>
                  </a:txBody>
                  <a:tcPr marL="73152" marT="18288" marB="18288">
                    <a:solidFill>
                      <a:srgbClr val="FFFFFF"/>
                    </a:solidFill>
                  </a:tcPr>
                </a:tc>
                <a:tc>
                  <a:txBody>
                    <a:bodyPr/>
                    <a:lstStyle/>
                    <a:p>
                      <a:r>
                        <a:rPr sz="1200">
                          <a:solidFill>
                            <a:srgbClr val="222222"/>
                          </a:solidFill>
                          <a:latin typeface="Calibri"/>
                        </a:rPr>
                        <a:t>That pixel or its solder joint has failed</a:t>
                      </a:r>
                    </a:p>
                  </a:txBody>
                  <a:tcPr marL="73152" marT="18288" marB="18288">
                    <a:solidFill>
                      <a:srgbClr val="FFFFFF"/>
                    </a:solidFill>
                  </a:tcPr>
                </a:tc>
                <a:tc>
                  <a:txBody>
                    <a:bodyPr/>
                    <a:lstStyle/>
                    <a:p>
                      <a:r>
                        <a:rPr sz="12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18</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week: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400"/>
              </a:spcAft>
              <a:defRPr sz="1700" b="0">
                <a:solidFill>
                  <a:srgbClr val="222222"/>
                </a:solidFill>
                <a:latin typeface="Calibri"/>
              </a:defRPr>
            </a:pPr>
            <a:r>
              <a:rPr sz="1700" b="0">
                <a:solidFill>
                  <a:srgbClr val="222222"/>
                </a:solidFill>
                <a:latin typeface="Calibri"/>
              </a:rPr>
              <a:t>1.  How can 32 LEDs be controlled independently over one wire?</a:t>
            </a:r>
          </a:p>
          <a:p>
            <a:pPr algn="l">
              <a:lnSpc>
                <a:spcPct val="100000"/>
              </a:lnSpc>
              <a:spcAft>
                <a:spcPts val="1400"/>
              </a:spcAft>
              <a:defRPr sz="1700" b="0">
                <a:solidFill>
                  <a:srgbClr val="222222"/>
                </a:solidFill>
                <a:latin typeface="Calibri"/>
              </a:defRPr>
            </a:pPr>
            <a:r>
              <a:rPr sz="1700" b="0">
                <a:solidFill>
                  <a:srgbClr val="222222"/>
                </a:solidFill>
                <a:latin typeface="Calibri"/>
              </a:rPr>
              <a:t>2.  What are the four connections on a NeoPixel?</a:t>
            </a:r>
          </a:p>
          <a:p>
            <a:pPr algn="l">
              <a:lnSpc>
                <a:spcPct val="100000"/>
              </a:lnSpc>
              <a:spcAft>
                <a:spcPts val="1400"/>
              </a:spcAft>
              <a:defRPr sz="1700" b="0">
                <a:solidFill>
                  <a:srgbClr val="222222"/>
                </a:solidFill>
                <a:latin typeface="Calibri"/>
              </a:defRPr>
            </a:pPr>
            <a:r>
              <a:rPr sz="1700" b="0">
                <a:solidFill>
                  <a:srgbClr val="222222"/>
                </a:solidFill>
                <a:latin typeface="Calibri"/>
              </a:rPr>
              <a:t>3.  You call setPixelColor for LEDs 0 to 15 but nothing lights up. What did you forget?</a:t>
            </a:r>
          </a:p>
          <a:p>
            <a:pPr algn="l">
              <a:lnSpc>
                <a:spcPct val="100000"/>
              </a:lnSpc>
              <a:spcAft>
                <a:spcPts val="1400"/>
              </a:spcAft>
              <a:defRPr sz="1700" b="0">
                <a:solidFill>
                  <a:srgbClr val="222222"/>
                </a:solidFill>
                <a:latin typeface="Calibri"/>
              </a:defRPr>
            </a:pPr>
            <a:r>
              <a:rPr sz="1700" b="0">
                <a:solidFill>
                  <a:srgbClr val="222222"/>
                </a:solidFill>
                <a:latin typeface="Calibri"/>
              </a:rPr>
              <a:t>4.  What colour is strip.Color(255, 255, 0)? Why?</a:t>
            </a:r>
          </a:p>
          <a:p>
            <a:pPr algn="l">
              <a:lnSpc>
                <a:spcPct val="100000"/>
              </a:lnSpc>
              <a:spcAft>
                <a:spcPts val="1400"/>
              </a:spcAft>
              <a:defRPr sz="1700" b="0">
                <a:solidFill>
                  <a:srgbClr val="222222"/>
                </a:solidFill>
                <a:latin typeface="Calibri"/>
              </a:defRPr>
            </a:pPr>
            <a:r>
              <a:rPr sz="1700" b="0">
                <a:solidFill>
                  <a:srgbClr val="222222"/>
                </a:solidFill>
                <a:latin typeface="Calibri"/>
              </a:rPr>
              <a:t>5.  32 pixels of full white draw about how much current?</a:t>
            </a:r>
          </a:p>
          <a:p>
            <a:pPr algn="l">
              <a:lnSpc>
                <a:spcPct val="100000"/>
              </a:lnSpc>
              <a:spcAft>
                <a:spcPts val="1400"/>
              </a:spcAft>
              <a:defRPr sz="1700" b="0">
                <a:solidFill>
                  <a:srgbClr val="222222"/>
                </a:solidFill>
                <a:latin typeface="Calibri"/>
              </a:defRPr>
            </a:pPr>
            <a:r>
              <a:rPr sz="1700" b="0">
                <a:solidFill>
                  <a:srgbClr val="222222"/>
                </a:solidFill>
                <a:latin typeface="Calibri"/>
              </a:rPr>
              <a:t>6.  Which LEDs are on the LEFT side of the vehicle?</a:t>
            </a:r>
          </a:p>
          <a:p>
            <a:pPr algn="l">
              <a:lnSpc>
                <a:spcPct val="100000"/>
              </a:lnSpc>
              <a:spcAft>
                <a:spcPts val="1400"/>
              </a:spcAft>
              <a:defRPr sz="1700" b="0">
                <a:solidFill>
                  <a:srgbClr val="222222"/>
                </a:solidFill>
                <a:latin typeface="Calibri"/>
              </a:defRPr>
            </a:pPr>
            <a:r>
              <a:rPr sz="1700" b="0">
                <a:solidFill>
                  <a:srgbClr val="222222"/>
                </a:solidFill>
                <a:latin typeface="Calibri"/>
              </a:rPr>
              <a:t>7.  Which LED is directly opposite front LED 6?</a:t>
            </a:r>
          </a:p>
          <a:p>
            <a:pPr algn="l">
              <a:lnSpc>
                <a:spcPct val="100000"/>
              </a:lnSpc>
              <a:spcAft>
                <a:spcPts val="1400"/>
              </a:spcAft>
              <a:defRPr sz="1700" b="0">
                <a:solidFill>
                  <a:srgbClr val="222222"/>
                </a:solidFill>
                <a:latin typeface="Calibri"/>
              </a:defRPr>
            </a:pPr>
            <a:r>
              <a:rPr sz="17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