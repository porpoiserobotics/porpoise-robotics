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1371600"/>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week everything comes together and we 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Design a pattern of your own</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Recap</a:t>
                      </a:r>
                    </a:p>
                  </a:txBody>
                  <a:tcPr marL="73152" marT="18288" marB="18288">
                    <a:solidFill>
                      <a:srgbClr val="EEF3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An ordinary LED has two legs. It is on or off, and if you want ten of them you need ten pins.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where all three overlap you get white</a:t>
            </a:r>
          </a:p>
        </p:txBody>
      </p:sp>
      <p:sp>
        <p:nvSpPr>
          <p:cNvPr id="10" name="TextBox 9"/>
          <p:cNvSpPr txBox="1"/>
          <p:nvPr/>
        </p:nvSpPr>
        <p:spPr>
          <a:xfrm>
            <a:off x="6537960" y="1234440"/>
            <a:ext cx="5577840" cy="291465"/>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onsolas"/>
              </a:defRPr>
            </a:pPr>
            <a:r>
              <a:rPr sz="1300" b="1">
                <a:solidFill>
                  <a:srgbClr val="0E7C86"/>
                </a:solidFill>
                <a:latin typeface="Consolas"/>
              </a:rPr>
              <a:t>strip.Color(red, green, blue)</a:t>
            </a:r>
          </a:p>
        </p:txBody>
      </p:sp>
      <p:sp>
        <p:nvSpPr>
          <p:cNvPr id="11" name="TextBox 10"/>
          <p:cNvSpPr txBox="1"/>
          <p:nvPr/>
        </p:nvSpPr>
        <p:spPr>
          <a:xfrm>
            <a:off x="6537960" y="1600200"/>
            <a:ext cx="557784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(255,   0,   0)</a:t>
            </a:r>
          </a:p>
        </p:txBody>
      </p:sp>
      <p:sp>
        <p:nvSpPr>
          <p:cNvPr id="14" name="TextBox 13"/>
          <p:cNvSpPr txBox="1"/>
          <p:nvPr/>
        </p:nvSpPr>
        <p:spPr>
          <a:xfrm>
            <a:off x="9098280" y="216712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255,   0)</a:t>
            </a:r>
          </a:p>
        </p:txBody>
      </p:sp>
      <p:sp>
        <p:nvSpPr>
          <p:cNvPr id="17" name="TextBox 16"/>
          <p:cNvSpPr txBox="1"/>
          <p:nvPr/>
        </p:nvSpPr>
        <p:spPr>
          <a:xfrm>
            <a:off x="9098280" y="2642616"/>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0, 255)</a:t>
            </a:r>
          </a:p>
        </p:txBody>
      </p:sp>
      <p:sp>
        <p:nvSpPr>
          <p:cNvPr id="20" name="TextBox 19"/>
          <p:cNvSpPr txBox="1"/>
          <p:nvPr/>
        </p:nvSpPr>
        <p:spPr>
          <a:xfrm>
            <a:off x="9098280" y="3118104"/>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(255, 255,   0)</a:t>
            </a:r>
          </a:p>
        </p:txBody>
      </p:sp>
      <p:sp>
        <p:nvSpPr>
          <p:cNvPr id="23" name="TextBox 22"/>
          <p:cNvSpPr txBox="1"/>
          <p:nvPr/>
        </p:nvSpPr>
        <p:spPr>
          <a:xfrm>
            <a:off x="9098280" y="3593592"/>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(255, 100,   0)</a:t>
            </a:r>
          </a:p>
        </p:txBody>
      </p:sp>
      <p:sp>
        <p:nvSpPr>
          <p:cNvPr id="26" name="TextBox 25"/>
          <p:cNvSpPr txBox="1"/>
          <p:nvPr/>
        </p:nvSpPr>
        <p:spPr>
          <a:xfrm>
            <a:off x="9098280" y="4069080"/>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(255, 255, 255)</a:t>
            </a:r>
          </a:p>
        </p:txBody>
      </p:sp>
      <p:sp>
        <p:nvSpPr>
          <p:cNvPr id="29" name="TextBox 28"/>
          <p:cNvSpPr txBox="1"/>
          <p:nvPr/>
        </p:nvSpPr>
        <p:spPr>
          <a:xfrm>
            <a:off x="9098280" y="454456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There are two ways to make an LED dimmer, and they are not interchangeable.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Two things worth knowing about setBrightness:</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applied when show() is called, so changing it does nothing until the next show().</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physics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Visible light runs from about 380 nanometres, which you see as violet, to about 750, which you see as deep red.</a:t>
            </a:r>
          </a:p>
          <a:p>
            <a:pPr lvl="1" algn="l">
              <a:lnSpc>
                <a:spcPct val="100000"/>
              </a:lnSpc>
              <a:spcAft>
                <a:spcPts val="800"/>
              </a:spcAft>
              <a:defRPr sz="1600" b="0">
                <a:solidFill>
                  <a:srgbClr val="222222"/>
                </a:solidFill>
                <a:latin typeface="Calibri"/>
              </a:defRPr>
            </a:pPr>
            <a:r>
              <a:rPr sz="1600" b="0">
                <a:solidFill>
                  <a:srgbClr val="222222"/>
                </a:solidFill>
                <a:latin typeface="Calibri"/>
              </a:rPr>
              <a:t>Red      625 - 740 nm</a:t>
            </a:r>
          </a:p>
          <a:p>
            <a:pPr lvl="1" algn="l">
              <a:lnSpc>
                <a:spcPct val="100000"/>
              </a:lnSpc>
              <a:spcAft>
                <a:spcPts val="800"/>
              </a:spcAft>
              <a:defRPr sz="1600" b="0">
                <a:solidFill>
                  <a:srgbClr val="222222"/>
                </a:solidFill>
                <a:latin typeface="Calibri"/>
              </a:defRPr>
            </a:pPr>
            <a:r>
              <a:rPr sz="1600" b="0">
                <a:solidFill>
                  <a:srgbClr val="222222"/>
                </a:solidFill>
                <a:latin typeface="Calibri"/>
              </a:rPr>
              <a:t>Yellow   565 - 590 nm</a:t>
            </a:r>
          </a:p>
          <a:p>
            <a:pPr lvl="1" algn="l">
              <a:lnSpc>
                <a:spcPct val="100000"/>
              </a:lnSpc>
              <a:spcAft>
                <a:spcPts val="800"/>
              </a:spcAft>
              <a:defRPr sz="1600" b="0">
                <a:solidFill>
                  <a:srgbClr val="222222"/>
                </a:solidFill>
                <a:latin typeface="Calibri"/>
              </a:defRPr>
            </a:pPr>
            <a:r>
              <a:rPr sz="1600" b="0">
                <a:solidFill>
                  <a:srgbClr val="222222"/>
                </a:solidFill>
                <a:latin typeface="Calibri"/>
              </a:rPr>
              <a:t>Green    500 - 565 nm</a:t>
            </a:r>
          </a:p>
          <a:p>
            <a:pPr lvl="1" algn="l">
              <a:lnSpc>
                <a:spcPct val="100000"/>
              </a:lnSpc>
              <a:spcAft>
                <a:spcPts val="800"/>
              </a:spcAft>
              <a:defRPr sz="1600" b="0">
                <a:solidFill>
                  <a:srgbClr val="222222"/>
                </a:solidFill>
                <a:latin typeface="Calibri"/>
              </a:defRPr>
            </a:pPr>
            <a:r>
              <a:rPr sz="1600" b="0">
                <a:solidFill>
                  <a:srgbClr val="222222"/>
                </a:solidFill>
                <a:latin typeface="Calibri"/>
              </a:rPr>
              <a:t>Blue     440 - 485 nm</a:t>
            </a:r>
          </a:p>
          <a:p>
            <a:pPr lvl="1" algn="l">
              <a:lnSpc>
                <a:spcPct val="100000"/>
              </a:lnSpc>
              <a:spcAft>
                <a:spcPts val="800"/>
              </a:spcAft>
              <a:defRPr sz="1600" b="0">
                <a:solidFill>
                  <a:srgbClr val="222222"/>
                </a:solidFill>
                <a:latin typeface="Calibri"/>
              </a:defRPr>
            </a:pPr>
            <a:r>
              <a:rPr sz="1600" b="0">
                <a:solidFill>
                  <a:srgbClr val="222222"/>
                </a:solidFill>
                <a:latin typeface="Calibri"/>
              </a:rPr>
              <a:t>Violet   380 - 440 nm</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A single LED emits one narrow band of wavelengths.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biology</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500" b="0">
                <a:solidFill>
                  <a:srgbClr val="222222"/>
                </a:solidFill>
                <a:latin typeface="Calibri"/>
              </a:defRPr>
            </a:pPr>
            <a:r>
              <a:rPr sz="1500" b="0">
                <a:solidFill>
                  <a:srgbClr val="222222"/>
                </a:solidFill>
                <a:latin typeface="Calibri"/>
              </a:rPr>
              <a:t>Your brain compares them: red minus green, and blue minus red plus green. That comparison is called OPPONENCY.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800"/>
              </a:spcAft>
              <a:defRPr sz="1500" b="0">
                <a:solidFill>
                  <a:srgbClr val="222222"/>
                </a:solidFill>
                <a:latin typeface="Calibri"/>
              </a:defRPr>
            </a:pPr>
            <a:r>
              <a:rPr sz="15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Each of the three LEDs inside a pixel draws about 20 mA at full brightness.</a:t>
            </a:r>
          </a:p>
          <a:p>
            <a:pPr lvl="1" algn="l">
              <a:lnSpc>
                <a:spcPct val="100000"/>
              </a:lnSpc>
              <a:spcAft>
                <a:spcPts val="600"/>
              </a:spcAft>
              <a:defRPr sz="1400" b="0">
                <a:solidFill>
                  <a:srgbClr val="222222"/>
                </a:solidFill>
                <a:latin typeface="Calibri"/>
              </a:defRPr>
            </a:pPr>
            <a:r>
              <a:rPr sz="1400" b="0">
                <a:solidFill>
                  <a:srgbClr val="222222"/>
                </a:solidFill>
                <a:latin typeface="Calibri"/>
              </a:rPr>
              <a:t>One pixel showing full white:  3 x 20 = 60 mA</a:t>
            </a:r>
          </a:p>
          <a:p>
            <a:pPr lvl="1" algn="l">
              <a:lnSpc>
                <a:spcPct val="100000"/>
              </a:lnSpc>
              <a:spcAft>
                <a:spcPts val="600"/>
              </a:spcAft>
              <a:defRPr sz="1400" b="0">
                <a:solidFill>
                  <a:srgbClr val="222222"/>
                </a:solidFill>
                <a:latin typeface="Calibri"/>
              </a:defRPr>
            </a:pPr>
            <a:r>
              <a:rPr sz="1400" b="0">
                <a:solidFill>
                  <a:srgbClr val="222222"/>
                </a:solidFill>
                <a:latin typeface="Calibri"/>
              </a:rPr>
              <a:t>32 pixels of full white:  32 x 60 = 1920 mA, nearly 2 amps</a:t>
            </a:r>
          </a:p>
          <a:p>
            <a:pPr lvl="1" algn="l">
              <a:lnSpc>
                <a:spcPct val="100000"/>
              </a:lnSpc>
              <a:spcAft>
                <a:spcPts val="600"/>
              </a:spcAft>
              <a:defRPr sz="1400" b="0">
                <a:solidFill>
                  <a:srgbClr val="222222"/>
                </a:solidFill>
                <a:latin typeface="Calibri"/>
              </a:defRPr>
            </a:pPr>
            <a:r>
              <a:rPr sz="1400" b="0">
                <a:solidFill>
                  <a:srgbClr val="222222"/>
                </a:solidFill>
                <a:latin typeface="Calibri"/>
              </a:rPr>
              <a:t>At 5 volts:  1920 mA x 5 V = 9600 mW = 9.6 watts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a lot of power through a small board, and it makes real heat. Two things keep it sane:</a:t>
            </a:r>
          </a:p>
          <a:p>
            <a:pPr lvl="1" algn="l">
              <a:lnSpc>
                <a:spcPct val="100000"/>
              </a:lnSpc>
              <a:spcAft>
                <a:spcPts val="600"/>
              </a:spcAft>
              <a:defRPr sz="1400" b="0">
                <a:solidFill>
                  <a:srgbClr val="222222"/>
                </a:solidFill>
                <a:latin typeface="Calibri"/>
              </a:defRPr>
            </a:pPr>
            <a:r>
              <a:rPr sz="1400" b="0">
                <a:solidFill>
                  <a:srgbClr val="222222"/>
                </a:solidFill>
                <a:latin typeface="Calibri"/>
              </a:rPr>
              <a:t>setBrightness() scales EVERY pixel before it is sent. At 60 out of 255 you draw roughly a quarter of the worst case.</a:t>
            </a:r>
          </a:p>
          <a:p>
            <a:pPr lvl="1" algn="l">
              <a:lnSpc>
                <a:spcPct val="100000"/>
              </a:lnSpc>
              <a:spcAft>
                <a:spcPts val="600"/>
              </a:spcAft>
              <a:defRPr sz="1400" b="0">
                <a:solidFill>
                  <a:srgbClr val="222222"/>
                </a:solidFill>
                <a:latin typeface="Calibri"/>
              </a:defRPr>
            </a:pPr>
            <a:r>
              <a:rPr sz="1400" b="0">
                <a:solidFill>
                  <a:srgbClr val="222222"/>
                </a:solidFill>
                <a:latin typeface="Calibri"/>
              </a:rPr>
              <a:t>Coloured light is cheaper than white. Pure red only lights one of the three, so it costs about a third of what white costs.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why the vehicle programs run at about 120 rather than 255, and why full white across all 32 is used for a moment and not held.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114300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V</a:t>
            </a:r>
          </a:p>
        </p:txBody>
      </p:sp>
      <p:sp>
        <p:nvSpPr>
          <p:cNvPr id="10" name="TextBox 9"/>
          <p:cNvSpPr txBox="1"/>
          <p:nvPr/>
        </p:nvSpPr>
        <p:spPr>
          <a:xfrm>
            <a:off x="146304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1" name="TextBox 10"/>
          <p:cNvSpPr txBox="1"/>
          <p:nvPr/>
        </p:nvSpPr>
        <p:spPr>
          <a:xfrm>
            <a:off x="274320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V  volts     I  amps     R  ohms</a:t>
            </a:r>
          </a:p>
        </p:txBody>
      </p:sp>
      <p:sp>
        <p:nvSpPr>
          <p:cNvPr id="14" name="TextBox 13"/>
          <p:cNvSpPr txBox="1"/>
          <p:nvPr/>
        </p:nvSpPr>
        <p:spPr>
          <a:xfrm>
            <a:off x="681228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P</a:t>
            </a:r>
          </a:p>
        </p:txBody>
      </p:sp>
      <p:sp>
        <p:nvSpPr>
          <p:cNvPr id="18" name="TextBox 17"/>
          <p:cNvSpPr txBox="1"/>
          <p:nvPr/>
        </p:nvSpPr>
        <p:spPr>
          <a:xfrm>
            <a:off x="713232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9" name="TextBox 18"/>
          <p:cNvSpPr txBox="1"/>
          <p:nvPr/>
        </p:nvSpPr>
        <p:spPr>
          <a:xfrm>
            <a:off x="841248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alibri"/>
              </a:defRPr>
            </a:pPr>
            <a:r>
              <a:rPr sz="1300" b="0">
                <a:solidFill>
                  <a:srgbClr val="222222"/>
                </a:solidFill>
                <a:latin typeface="Calibri"/>
              </a:rPr>
              <a:t>ONE NEOPIXEL</a:t>
            </a:r>
          </a:p>
          <a:p>
            <a:pPr algn="ctr">
              <a:lnSpc>
                <a:spcPct val="100000"/>
              </a:lnSpc>
              <a:spcAft>
                <a:spcPts val="0"/>
              </a:spcAft>
              <a:defRPr sz="1300" b="0">
                <a:solidFill>
                  <a:srgbClr val="222222"/>
                </a:solidFill>
                <a:latin typeface="Calibri"/>
              </a:defRPr>
            </a:pPr>
            <a:r>
              <a:rPr sz="1300" b="0">
                <a:solidFill>
                  <a:srgbClr val="222222"/>
                </a:solidFill>
                <a:latin typeface="Calibri"/>
              </a:rPr>
              <a:t>at full white</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3 LEDs x 20 mA</a:t>
            </a:r>
          </a:p>
          <a:p>
            <a:pPr algn="ctr">
              <a:lnSpc>
                <a:spcPct val="100000"/>
              </a:lnSpc>
              <a:spcAft>
                <a:spcPts val="0"/>
              </a:spcAft>
              <a:defRPr sz="1300" b="0">
                <a:solidFill>
                  <a:srgbClr val="222222"/>
                </a:solidFill>
                <a:latin typeface="Calibri"/>
              </a:defRPr>
            </a:pPr>
            <a:r>
              <a:rPr sz="1300" b="0">
                <a:solidFill>
                  <a:srgbClr val="222222"/>
                </a:solidFill>
                <a:latin typeface="Calibri"/>
              </a:rPr>
              <a:t>= 60 mA</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P = I x V</a:t>
            </a:r>
          </a:p>
          <a:p>
            <a:pPr algn="ctr">
              <a:lnSpc>
                <a:spcPct val="100000"/>
              </a:lnSpc>
              <a:spcAft>
                <a:spcPts val="0"/>
              </a:spcAft>
              <a:defRPr sz="1300" b="0">
                <a:solidFill>
                  <a:srgbClr val="222222"/>
                </a:solidFill>
                <a:latin typeface="Calibri"/>
              </a:defRPr>
            </a:pPr>
            <a:r>
              <a:rPr sz="1300" b="0">
                <a:solidFill>
                  <a:srgbClr val="222222"/>
                </a:solidFill>
                <a:latin typeface="Calibri"/>
              </a:rPr>
              <a:t>= 0.06 x 5</a:t>
            </a:r>
          </a:p>
          <a:p>
            <a:pPr algn="ctr">
              <a:lnSpc>
                <a:spcPct val="100000"/>
              </a:lnSpc>
              <a:spcAft>
                <a:spcPts val="0"/>
              </a:spcAft>
              <a:defRPr sz="1300" b="0">
                <a:solidFill>
                  <a:srgbClr val="222222"/>
                </a:solidFill>
                <a:latin typeface="Calibri"/>
              </a:defRPr>
            </a:pPr>
            <a:r>
              <a:rPr sz="1300" b="0">
                <a:solidFill>
                  <a:srgbClr val="222222"/>
                </a:solidFill>
                <a:latin typeface="Calibri"/>
              </a:rPr>
              <a:t>= 0.3 W</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x 32 pixels</a:t>
            </a:r>
          </a:p>
          <a:p>
            <a:pPr algn="ctr">
              <a:lnSpc>
                <a:spcPct val="100000"/>
              </a:lnSpc>
              <a:spcAft>
                <a:spcPts val="0"/>
              </a:spcAft>
              <a:defRPr sz="1300" b="0">
                <a:solidFill>
                  <a:srgbClr val="222222"/>
                </a:solidFill>
                <a:latin typeface="Calibri"/>
              </a:defRPr>
            </a:pPr>
            <a:r>
              <a:rPr sz="1300" b="0">
                <a:solidFill>
                  <a:srgbClr val="222222"/>
                </a:solidFill>
                <a:latin typeface="Calibri"/>
              </a:rPr>
              <a:t>= 1.92 A</a:t>
            </a:r>
          </a:p>
          <a:p>
            <a:pPr algn="ctr">
              <a:lnSpc>
                <a:spcPct val="100000"/>
              </a:lnSpc>
              <a:spcAft>
                <a:spcPts val="0"/>
              </a:spcAft>
              <a:defRPr sz="1300" b="0">
                <a:solidFill>
                  <a:srgbClr val="222222"/>
                </a:solidFill>
                <a:latin typeface="Calibri"/>
              </a:defRPr>
            </a:pPr>
            <a:r>
              <a:rPr sz="13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Watch both the vehicle and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Note the estimated current for each colour. Which is cheapest? Which is most expensive? Why?</a:t>
            </a:r>
          </a:p>
          <a:p>
            <a:pPr algn="l">
              <a:lnSpc>
                <a:spcPct val="100000"/>
              </a:lnSpc>
              <a:spcAft>
                <a:spcPts val="800"/>
              </a:spcAft>
              <a:defRPr sz="1600" b="0">
                <a:solidFill>
                  <a:srgbClr val="222222"/>
                </a:solidFill>
                <a:latin typeface="Calibri"/>
              </a:defRPr>
            </a:pPr>
            <a:r>
              <a:rPr sz="1600" b="0">
                <a:solidFill>
                  <a:srgbClr val="222222"/>
                </a:solidFill>
                <a:latin typeface="Calibri"/>
              </a:rPr>
              <a:t>3.  Change BRIGHTNESS to 255 and upload. After a minute of white, put your hand near the LED bars - carefully.</a:t>
            </a:r>
          </a:p>
          <a:p>
            <a:pPr algn="l">
              <a:lnSpc>
                <a:spcPct val="100000"/>
              </a:lnSpc>
              <a:spcAft>
                <a:spcPts val="800"/>
              </a:spcAft>
              <a:defRPr sz="1600" b="0">
                <a:solidFill>
                  <a:srgbClr val="222222"/>
                </a:solidFill>
                <a:latin typeface="Calibri"/>
              </a:defRPr>
            </a:pPr>
            <a:r>
              <a:rPr sz="1600" b="0">
                <a:solidFill>
                  <a:srgbClr val="222222"/>
                </a:solidFill>
                <a:latin typeface="Calibri"/>
              </a:rPr>
              <a:t>4.  Put it back to 60.</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for loop to  i = i + 2. What happens, and why?</a:t>
            </a:r>
          </a:p>
          <a:p>
            <a:pPr algn="l">
              <a:lnSpc>
                <a:spcPct val="100000"/>
              </a:lnSpc>
              <a:spcAft>
                <a:spcPts val="800"/>
              </a:spcAft>
              <a:defRPr sz="1600" b="0">
                <a:solidFill>
                  <a:srgbClr val="222222"/>
                </a:solidFill>
                <a:latin typeface="Calibri"/>
              </a:defRPr>
            </a:pPr>
            <a:r>
              <a:rPr sz="1600" b="0">
                <a:solidFill>
                  <a:srgbClr val="222222"/>
                </a:solidFill>
                <a:latin typeface="Calibri"/>
              </a:rPr>
              <a:t>6.  Look up strip.fill(). Can you replace the loop with one line?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Yellow costs about twice what red costs. Why?</a:t>
            </a:r>
          </a:p>
          <a:p>
            <a:pPr algn="l">
              <a:lnSpc>
                <a:spcPct val="100000"/>
              </a:lnSpc>
              <a:spcAft>
                <a:spcPts val="600"/>
              </a:spcAft>
              <a:defRPr sz="1500" b="0">
                <a:solidFill>
                  <a:srgbClr val="222222"/>
                </a:solidFill>
                <a:latin typeface="Calibri"/>
              </a:defRPr>
            </a:pPr>
            <a:r>
              <a:rPr sz="1500" b="0">
                <a:solidFill>
                  <a:srgbClr val="222222"/>
                </a:solidFill>
                <a:latin typeface="Calibri"/>
              </a:rPr>
              <a:t>At brightness 60, what is the worst-case current?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1325880" y="150876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FRONT   -   data goes in at LED 0</a:t>
            </a:r>
          </a:p>
        </p:txBody>
      </p:sp>
      <p:sp>
        <p:nvSpPr>
          <p:cNvPr id="7" name="TextBox 6"/>
          <p:cNvSpPr txBox="1"/>
          <p:nvPr/>
        </p:nvSpPr>
        <p:spPr>
          <a:xfrm>
            <a:off x="1325880" y="4270248"/>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31</a:t>
            </a:r>
          </a:p>
        </p:txBody>
      </p:sp>
      <p:sp>
        <p:nvSpPr>
          <p:cNvPr id="40" name="TextBox 39"/>
          <p:cNvSpPr txBox="1"/>
          <p:nvPr/>
        </p:nvSpPr>
        <p:spPr>
          <a:xfrm>
            <a:off x="457200" y="2651760"/>
            <a:ext cx="822960" cy="44577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LEFT</a:t>
            </a:r>
          </a:p>
          <a:p>
            <a:pPr algn="ctr">
              <a:lnSpc>
                <a:spcPct val="100000"/>
              </a:lnSpc>
              <a:spcAft>
                <a:spcPts val="100"/>
              </a:spcAft>
              <a:defRPr sz="1100" b="1">
                <a:solidFill>
                  <a:srgbClr val="B46A0F"/>
                </a:solidFill>
                <a:latin typeface="Calibri"/>
              </a:defRPr>
            </a:pPr>
            <a:r>
              <a:rPr sz="1100" b="1">
                <a:solidFill>
                  <a:srgbClr val="B46A0F"/>
                </a:solidFill>
                <a:latin typeface="Calibri"/>
              </a:rPr>
              <a:t>side</a:t>
            </a:r>
          </a:p>
        </p:txBody>
      </p:sp>
      <p:sp>
        <p:nvSpPr>
          <p:cNvPr id="41" name="TextBox 40"/>
          <p:cNvSpPr txBox="1"/>
          <p:nvPr/>
        </p:nvSpPr>
        <p:spPr>
          <a:xfrm>
            <a:off x="11073384" y="2651760"/>
            <a:ext cx="914400" cy="44577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RIGHT</a:t>
            </a:r>
          </a:p>
          <a:p>
            <a:pPr algn="ctr">
              <a:lnSpc>
                <a:spcPct val="100000"/>
              </a:lnSpc>
              <a:spcAft>
                <a:spcPts val="100"/>
              </a:spcAft>
              <a:defRPr sz="1100" b="1">
                <a:solidFill>
                  <a:srgbClr val="0E7C86"/>
                </a:solidFill>
                <a:latin typeface="Calibri"/>
              </a:defRPr>
            </a:pPr>
            <a:r>
              <a:rPr sz="11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onsolas"/>
              </a:defRPr>
            </a:pPr>
            <a:r>
              <a:rPr sz="11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Sit the vehicle in front of you where you can see all four bars.</a:t>
            </a:r>
          </a:p>
          <a:p>
            <a:pPr algn="l">
              <a:lnSpc>
                <a:spcPct val="100000"/>
              </a:lnSpc>
              <a:spcAft>
                <a:spcPts val="800"/>
              </a:spcAft>
              <a:defRPr sz="1600" b="0">
                <a:solidFill>
                  <a:srgbClr val="222222"/>
                </a:solidFill>
                <a:latin typeface="Calibri"/>
              </a:defRPr>
            </a:pPr>
            <a:r>
              <a:rPr sz="1600" b="0">
                <a:solidFill>
                  <a:srgbClr val="222222"/>
                </a:solidFill>
                <a:latin typeface="Calibri"/>
              </a:rPr>
              <a:t>2.  Upload it. Follow the walking dot with your finger.</a:t>
            </a:r>
          </a:p>
          <a:p>
            <a:pPr algn="l">
              <a:lnSpc>
                <a:spcPct val="100000"/>
              </a:lnSpc>
              <a:spcAft>
                <a:spcPts val="800"/>
              </a:spcAft>
              <a:defRPr sz="1600" b="0">
                <a:solidFill>
                  <a:srgbClr val="222222"/>
                </a:solidFill>
                <a:latin typeface="Calibri"/>
              </a:defRPr>
            </a:pPr>
            <a:r>
              <a:rPr sz="1600" b="0">
                <a:solidFill>
                  <a:srgbClr val="222222"/>
                </a:solidFill>
                <a:latin typeface="Calibri"/>
              </a:rPr>
              <a:t>3.  Write the numbers onto a sketch of the vehicle. Keep it.</a:t>
            </a:r>
          </a:p>
          <a:p>
            <a:pPr algn="l">
              <a:lnSpc>
                <a:spcPct val="100000"/>
              </a:lnSpc>
              <a:spcAft>
                <a:spcPts val="800"/>
              </a:spcAft>
              <a:defRPr sz="1600" b="0">
                <a:solidFill>
                  <a:srgbClr val="222222"/>
                </a:solidFill>
                <a:latin typeface="Calibri"/>
              </a:defRPr>
            </a:pPr>
            <a:r>
              <a:rPr sz="1600" b="0">
                <a:solidFill>
                  <a:srgbClr val="222222"/>
                </a:solidFill>
                <a:latin typeface="Calibri"/>
              </a:rPr>
              <a:t>4.  During the four-sides section, check that LEFT really is 0-7 and 24-31.</a:t>
            </a:r>
          </a:p>
          <a:p>
            <a:pPr algn="l">
              <a:lnSpc>
                <a:spcPct val="100000"/>
              </a:lnSpc>
              <a:spcAft>
                <a:spcPts val="800"/>
              </a:spcAft>
              <a:defRPr sz="1600" b="0">
                <a:solidFill>
                  <a:srgbClr val="222222"/>
                </a:solidFill>
                <a:latin typeface="Calibri"/>
              </a:defRPr>
            </a:pPr>
            <a:r>
              <a:rPr sz="1600" b="0">
                <a:solidFill>
                  <a:srgbClr val="222222"/>
                </a:solidFill>
                <a:latin typeface="Calibri"/>
              </a:rPr>
              <a:t>5.  During the mirror section, check that the two lit LEDs really are opposite each other.</a:t>
            </a:r>
          </a:p>
          <a:p>
            <a:pPr algn="l">
              <a:lnSpc>
                <a:spcPct val="100000"/>
              </a:lnSpc>
              <a:spcAft>
                <a:spcPts val="800"/>
              </a:spcAft>
              <a:defRPr sz="1600" b="0">
                <a:solidFill>
                  <a:srgbClr val="222222"/>
                </a:solidFill>
                <a:latin typeface="Calibri"/>
              </a:defRPr>
            </a:pPr>
            <a:r>
              <a:rPr sz="1600" b="0">
                <a:solidFill>
                  <a:srgbClr val="222222"/>
                </a:solidFill>
                <a:latin typeface="Calibri"/>
              </a:rPr>
              <a:t>6.  Change showSide so that FRONT lights only the middle four LEDs. Which numbers are those?</a:t>
            </a:r>
          </a:p>
          <a:p>
            <a:pPr algn="l">
              <a:lnSpc>
                <a:spcPct val="100000"/>
              </a:lnSpc>
              <a:spcAft>
                <a:spcPts val="800"/>
              </a:spcAft>
              <a:defRPr sz="1600" b="0">
                <a:solidFill>
                  <a:srgbClr val="222222"/>
                </a:solidFill>
                <a:latin typeface="Calibri"/>
              </a:defRPr>
            </a:pPr>
            <a:r>
              <a:rPr sz="1600" b="0">
                <a:solidFill>
                  <a:srgbClr val="222222"/>
                </a:solidFill>
                <a:latin typeface="Calibri"/>
              </a:rPr>
              <a:t>7.  Add a section that lights the four CORNERS.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LED is directly behind number 3?</a:t>
            </a:r>
          </a:p>
          <a:p>
            <a:pPr algn="l">
              <a:lnSpc>
                <a:spcPct val="100000"/>
              </a:lnSpc>
              <a:spcAft>
                <a:spcPts val="600"/>
              </a:spcAft>
              <a:defRPr sz="1500" b="0">
                <a:solidFill>
                  <a:srgbClr val="222222"/>
                </a:solidFill>
                <a:latin typeface="Calibri"/>
              </a:defRPr>
            </a:pPr>
            <a:r>
              <a:rPr sz="1500" b="0">
                <a:solidFill>
                  <a:srgbClr val="222222"/>
                </a:solidFill>
                <a:latin typeface="Calibri"/>
              </a:rPr>
              <a:t>You want to light the whole right side. Which two ranges?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int i = 0     start here</a:t>
            </a:r>
          </a:p>
          <a:p>
            <a:pPr algn="l">
              <a:lnSpc>
                <a:spcPct val="100000"/>
              </a:lnSpc>
              <a:spcAft>
                <a:spcPts val="1100"/>
              </a:spcAft>
              <a:defRPr sz="1500" b="0">
                <a:solidFill>
                  <a:srgbClr val="222222"/>
                </a:solidFill>
                <a:latin typeface="Calibri"/>
              </a:defRPr>
            </a:pPr>
            <a:r>
              <a:rPr sz="1500" b="0">
                <a:solidFill>
                  <a:srgbClr val="222222"/>
                </a:solidFill>
                <a:latin typeface="Calibri"/>
              </a:rPr>
              <a:t>i &lt; 32        keep going while this is true</a:t>
            </a:r>
          </a:p>
          <a:p>
            <a:pPr algn="l">
              <a:lnSpc>
                <a:spcPct val="100000"/>
              </a:lnSpc>
              <a:spcAft>
                <a:spcPts val="1100"/>
              </a:spcAft>
              <a:defRPr sz="1500" b="0">
                <a:solidFill>
                  <a:srgbClr val="222222"/>
                </a:solidFill>
                <a:latin typeface="Calibri"/>
              </a:defRPr>
            </a:pPr>
            <a:r>
              <a:rPr sz="1500" b="0">
                <a:solidFill>
                  <a:srgbClr val="222222"/>
                </a:solidFill>
                <a:latin typeface="Calibri"/>
              </a:rPr>
              <a:t>i++           add one each time round</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Watch the difference between  &lt;  and  &lt;=. With FRONT_LAST = 15, you want &lt;= or you will miss LED 15.</a:t>
            </a:r>
          </a:p>
          <a:p>
            <a:pPr algn="l">
              <a:lnSpc>
                <a:spcPct val="100000"/>
              </a:lnSpc>
              <a:spcAft>
                <a:spcPts val="1100"/>
              </a:spcAft>
              <a:defRPr sz="1500" b="0">
                <a:solidFill>
                  <a:srgbClr val="222222"/>
                </a:solidFill>
                <a:latin typeface="Calibri"/>
              </a:defRPr>
            </a:pPr>
            <a:r>
              <a:rPr sz="15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colorWipe  and  theaterChase</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colorWipe fills the strip one LED at a time, in order, so the colour appears to sweep along it.</a:t>
            </a:r>
          </a:p>
          <a:p>
            <a:pPr lvl="1" algn="l">
              <a:lnSpc>
                <a:spcPct val="100000"/>
              </a:lnSpc>
              <a:spcAft>
                <a:spcPts val="800"/>
              </a:spcAft>
              <a:defRPr sz="1400" b="0">
                <a:solidFill>
                  <a:srgbClr val="222222"/>
                </a:solidFill>
                <a:latin typeface="Calibri"/>
              </a:defRPr>
            </a:pPr>
            <a:r>
              <a:rPr sz="1400" b="0">
                <a:solidFill>
                  <a:srgbClr val="222222"/>
                </a:solidFill>
                <a:latin typeface="Calibri"/>
              </a:rPr>
              <a:t>One loop, one delay per LED.</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400" b="0">
                <a:solidFill>
                  <a:srgbClr val="222222"/>
                </a:solidFill>
                <a:latin typeface="Calibri"/>
              </a:defRPr>
            </a:pPr>
            <a:r>
              <a:rPr sz="14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rainbow  and  scanner</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rainbow uses HUE instead of red, green and blue - one number that goes all the way round the colour wheel, 0 to 65535.</a:t>
            </a:r>
          </a:p>
          <a:p>
            <a:pPr lvl="1" algn="l">
              <a:lnSpc>
                <a:spcPct val="100000"/>
              </a:lnSpc>
              <a:spcAft>
                <a:spcPts val="800"/>
              </a:spcAft>
              <a:defRPr sz="1400" b="0">
                <a:solidFill>
                  <a:srgbClr val="222222"/>
                </a:solidFill>
                <a:latin typeface="Calibri"/>
              </a:defRPr>
            </a:pPr>
            <a:r>
              <a:rPr sz="1400" b="0">
                <a:solidFill>
                  <a:srgbClr val="222222"/>
                </a:solidFill>
                <a:latin typeface="Calibri"/>
              </a:rPr>
              <a:t>Each LED gets a hue slightly further round, which spreads a rainbow along the strip. Then the start point creeps forward so it appears to flow.</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400" b="0">
                <a:solidFill>
                  <a:srgbClr val="222222"/>
                </a:solidFill>
                <a:latin typeface="Calibri"/>
              </a:defRPr>
            </a:pPr>
            <a:r>
              <a:rPr sz="14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watch all four run.</a:t>
            </a:r>
          </a:p>
          <a:p>
            <a:pPr algn="l">
              <a:lnSpc>
                <a:spcPct val="100000"/>
              </a:lnSpc>
              <a:spcAft>
                <a:spcPts val="800"/>
              </a:spcAft>
              <a:defRPr sz="1600" b="0">
                <a:solidFill>
                  <a:srgbClr val="222222"/>
                </a:solidFill>
                <a:latin typeface="Calibri"/>
              </a:defRPr>
            </a:pPr>
            <a:r>
              <a:rPr sz="1600" b="0">
                <a:solidFill>
                  <a:srgbClr val="222222"/>
                </a:solidFill>
                <a:latin typeface="Calibri"/>
              </a:rPr>
              <a:t>2.  In colorWipe, change the wait from 30 to 5, then to 150.</a:t>
            </a:r>
          </a:p>
          <a:p>
            <a:pPr algn="l">
              <a:lnSpc>
                <a:spcPct val="100000"/>
              </a:lnSpc>
              <a:spcAft>
                <a:spcPts val="800"/>
              </a:spcAft>
              <a:defRPr sz="1600" b="0">
                <a:solidFill>
                  <a:srgbClr val="222222"/>
                </a:solidFill>
                <a:latin typeface="Calibri"/>
              </a:defRPr>
            </a:pPr>
            <a:r>
              <a:rPr sz="1600" b="0">
                <a:solidFill>
                  <a:srgbClr val="222222"/>
                </a:solidFill>
                <a:latin typeface="Calibri"/>
              </a:rPr>
              <a:t>3.  In theaterChase, change BOTH 3s to 4s. What changes?</a:t>
            </a:r>
          </a:p>
          <a:p>
            <a:pPr algn="l">
              <a:lnSpc>
                <a:spcPct val="100000"/>
              </a:lnSpc>
              <a:spcAft>
                <a:spcPts val="800"/>
              </a:spcAft>
              <a:defRPr sz="1600" b="0">
                <a:solidFill>
                  <a:srgbClr val="222222"/>
                </a:solidFill>
                <a:latin typeface="Calibri"/>
              </a:defRPr>
            </a:pPr>
            <a:r>
              <a:rPr sz="1600" b="0">
                <a:solidFill>
                  <a:srgbClr val="222222"/>
                </a:solidFill>
                <a:latin typeface="Calibri"/>
              </a:rPr>
              <a:t>4.  Change SCANNER_TAIL from 3 to 0, then to 8.</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scanner colour to blue. You now have a Cylon instead of KITT.</a:t>
            </a:r>
          </a:p>
          <a:p>
            <a:pPr algn="l">
              <a:lnSpc>
                <a:spcPct val="100000"/>
              </a:lnSpc>
              <a:spcAft>
                <a:spcPts val="800"/>
              </a:spcAft>
              <a:defRPr sz="1600" b="0">
                <a:solidFill>
                  <a:srgbClr val="222222"/>
                </a:solidFill>
                <a:latin typeface="Calibri"/>
              </a:defRPr>
            </a:pPr>
            <a:r>
              <a:rPr sz="16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In theaterChase, why does the inner loop step in threes?</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&gt;&gt; 1 do to a number? Why does that dim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Some starting points:</a:t>
            </a:r>
          </a:p>
          <a:p>
            <a:pPr lvl="1" algn="l">
              <a:lnSpc>
                <a:spcPct val="100000"/>
              </a:lnSpc>
              <a:spcAft>
                <a:spcPts val="900"/>
              </a:spcAft>
              <a:defRPr sz="1600" b="0">
                <a:solidFill>
                  <a:srgbClr val="222222"/>
                </a:solidFill>
                <a:latin typeface="Calibri"/>
              </a:defRPr>
            </a:pPr>
            <a:r>
              <a:rPr sz="1600" b="0">
                <a:solidFill>
                  <a:srgbClr val="222222"/>
                </a:solidFill>
                <a:latin typeface="Calibri"/>
              </a:rPr>
              <a:t>Police lights - left side red, right side blue, alternating</a:t>
            </a:r>
          </a:p>
          <a:p>
            <a:pPr lvl="1" algn="l">
              <a:lnSpc>
                <a:spcPct val="100000"/>
              </a:lnSpc>
              <a:spcAft>
                <a:spcPts val="900"/>
              </a:spcAft>
              <a:defRPr sz="1600" b="0">
                <a:solidFill>
                  <a:srgbClr val="222222"/>
                </a:solidFill>
                <a:latin typeface="Calibri"/>
              </a:defRPr>
            </a:pPr>
            <a:r>
              <a:rPr sz="1600" b="0">
                <a:solidFill>
                  <a:srgbClr val="222222"/>
                </a:solidFill>
                <a:latin typeface="Calibri"/>
              </a:rPr>
              <a:t>A countdown - all 32 red, then fewer and fewer, then green</a:t>
            </a:r>
          </a:p>
          <a:p>
            <a:pPr lvl="1" algn="l">
              <a:lnSpc>
                <a:spcPct val="100000"/>
              </a:lnSpc>
              <a:spcAft>
                <a:spcPts val="900"/>
              </a:spcAft>
              <a:defRPr sz="1600" b="0">
                <a:solidFill>
                  <a:srgbClr val="222222"/>
                </a:solidFill>
                <a:latin typeface="Calibri"/>
              </a:defRPr>
            </a:pPr>
            <a:r>
              <a:rPr sz="1600" b="0">
                <a:solidFill>
                  <a:srgbClr val="222222"/>
                </a:solidFill>
                <a:latin typeface="Calibri"/>
              </a:rPr>
              <a:t>A battery gauge - green through amber to red across the front bar</a:t>
            </a:r>
          </a:p>
          <a:p>
            <a:pPr lvl="1" algn="l">
              <a:lnSpc>
                <a:spcPct val="100000"/>
              </a:lnSpc>
              <a:spcAft>
                <a:spcPts val="900"/>
              </a:spcAft>
              <a:defRPr sz="1600" b="0">
                <a:solidFill>
                  <a:srgbClr val="222222"/>
                </a:solidFill>
                <a:latin typeface="Calibri"/>
              </a:defRPr>
            </a:pPr>
            <a:r>
              <a:rPr sz="1600" b="0">
                <a:solidFill>
                  <a:srgbClr val="222222"/>
                </a:solidFill>
                <a:latin typeface="Calibri"/>
              </a:rPr>
              <a:t>Breathing - all 32 fading smoothly up and down</a:t>
            </a:r>
          </a:p>
          <a:p>
            <a:pPr lvl="1" algn="l">
              <a:lnSpc>
                <a:spcPct val="100000"/>
              </a:lnSpc>
              <a:spcAft>
                <a:spcPts val="900"/>
              </a:spcAft>
              <a:defRPr sz="1600" b="0">
                <a:solidFill>
                  <a:srgbClr val="222222"/>
                </a:solidFill>
                <a:latin typeface="Calibri"/>
              </a:defRPr>
            </a:pPr>
            <a:r>
              <a:rPr sz="1600" b="0">
                <a:solidFill>
                  <a:srgbClr val="222222"/>
                </a:solidFill>
                <a:latin typeface="Calibri"/>
              </a:rPr>
              <a:t>A collision warning that flashes faster as something gets closer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Rules: it must be a function you call from loop(), and it must use at least one for loop.</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Then show the class. Best one gets used in the race next week.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How can 32 LEDs be controlled independently over one wire?</a:t>
            </a:r>
          </a:p>
          <a:p>
            <a:pPr algn="l">
              <a:lnSpc>
                <a:spcPct val="100000"/>
              </a:lnSpc>
              <a:spcAft>
                <a:spcPts val="1400"/>
              </a:spcAft>
              <a:defRPr sz="1700" b="0">
                <a:solidFill>
                  <a:srgbClr val="222222"/>
                </a:solidFill>
                <a:latin typeface="Calibri"/>
              </a:defRPr>
            </a:pPr>
            <a:r>
              <a:rPr sz="1700" b="0">
                <a:solidFill>
                  <a:srgbClr val="222222"/>
                </a:solidFill>
                <a:latin typeface="Calibri"/>
              </a:rPr>
              <a:t>2.  What are the four connections on a NeoPixel?</a:t>
            </a:r>
          </a:p>
          <a:p>
            <a:pPr algn="l">
              <a:lnSpc>
                <a:spcPct val="100000"/>
              </a:lnSpc>
              <a:spcAft>
                <a:spcPts val="1400"/>
              </a:spcAft>
              <a:defRPr sz="1700" b="0">
                <a:solidFill>
                  <a:srgbClr val="222222"/>
                </a:solidFill>
                <a:latin typeface="Calibri"/>
              </a:defRPr>
            </a:pPr>
            <a:r>
              <a:rPr sz="1700" b="0">
                <a:solidFill>
                  <a:srgbClr val="222222"/>
                </a:solidFill>
                <a:latin typeface="Calibri"/>
              </a:rPr>
              <a:t>3.  You call setPixelColor for LEDs 0 to 15 but nothing lights up. What did you forget?</a:t>
            </a:r>
          </a:p>
          <a:p>
            <a:pPr algn="l">
              <a:lnSpc>
                <a:spcPct val="100000"/>
              </a:lnSpc>
              <a:spcAft>
                <a:spcPts val="1400"/>
              </a:spcAft>
              <a:defRPr sz="1700" b="0">
                <a:solidFill>
                  <a:srgbClr val="222222"/>
                </a:solidFill>
                <a:latin typeface="Calibri"/>
              </a:defRPr>
            </a:pPr>
            <a:r>
              <a:rPr sz="1700" b="0">
                <a:solidFill>
                  <a:srgbClr val="222222"/>
                </a:solidFill>
                <a:latin typeface="Calibri"/>
              </a:rPr>
              <a:t>4.  What colour is strip.Color(255, 255, 0)? Why?</a:t>
            </a:r>
          </a:p>
          <a:p>
            <a:pPr algn="l">
              <a:lnSpc>
                <a:spcPct val="100000"/>
              </a:lnSpc>
              <a:spcAft>
                <a:spcPts val="1400"/>
              </a:spcAft>
              <a:defRPr sz="1700" b="0">
                <a:solidFill>
                  <a:srgbClr val="222222"/>
                </a:solidFill>
                <a:latin typeface="Calibri"/>
              </a:defRPr>
            </a:pPr>
            <a:r>
              <a:rPr sz="1700" b="0">
                <a:solidFill>
                  <a:srgbClr val="222222"/>
                </a:solidFill>
                <a:latin typeface="Calibri"/>
              </a:rPr>
              <a:t>5.  32 pixels of full white draw about how much current?</a:t>
            </a:r>
          </a:p>
          <a:p>
            <a:pPr algn="l">
              <a:lnSpc>
                <a:spcPct val="100000"/>
              </a:lnSpc>
              <a:spcAft>
                <a:spcPts val="1400"/>
              </a:spcAft>
              <a:defRPr sz="1700" b="0">
                <a:solidFill>
                  <a:srgbClr val="222222"/>
                </a:solidFill>
                <a:latin typeface="Calibri"/>
              </a:defRPr>
            </a:pPr>
            <a:r>
              <a:rPr sz="1700" b="0">
                <a:solidFill>
                  <a:srgbClr val="222222"/>
                </a:solidFill>
                <a:latin typeface="Calibri"/>
              </a:rPr>
              <a:t>6.  Which LEDs are on the LEFT side of the vehicle?</a:t>
            </a:r>
          </a:p>
          <a:p>
            <a:pPr algn="l">
              <a:lnSpc>
                <a:spcPct val="100000"/>
              </a:lnSpc>
              <a:spcAft>
                <a:spcPts val="1400"/>
              </a:spcAft>
              <a:defRPr sz="1700" b="0">
                <a:solidFill>
                  <a:srgbClr val="222222"/>
                </a:solidFill>
                <a:latin typeface="Calibri"/>
              </a:defRPr>
            </a:pPr>
            <a:r>
              <a:rPr sz="1700" b="0">
                <a:solidFill>
                  <a:srgbClr val="222222"/>
                </a:solidFill>
                <a:latin typeface="Calibri"/>
              </a:rPr>
              <a:t>7.  Which LED is directly opposite front LED 6?</a:t>
            </a:r>
          </a:p>
          <a:p>
            <a:pPr algn="l">
              <a:lnSpc>
                <a:spcPct val="100000"/>
              </a:lnSpc>
              <a:spcAft>
                <a:spcPts val="1400"/>
              </a:spcAft>
              <a:defRPr sz="1700" b="0">
                <a:solidFill>
                  <a:srgbClr val="222222"/>
                </a:solidFill>
                <a:latin typeface="Calibri"/>
              </a:defRPr>
            </a:pPr>
            <a:r>
              <a:rPr sz="17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