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1371600"/>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week everything comes together and we race.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Design a pattern of your own</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Recap</a:t>
                      </a:r>
                    </a:p>
                  </a:txBody>
                  <a:tcPr marL="73152" marT="18288" marB="18288">
                    <a:solidFill>
                      <a:srgbClr val="EEF3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623560"/>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colours you set.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colours disappear rather than getting dimmer, which is why a fade can end abruptly.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setBrightness is not the same as a smaller colour value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Visible light runs from about 380 nanometres, which you see as violet, to about 750, which you see as deep red.</a:t>
            </a:r>
          </a:p>
          <a:p>
            <a:pPr lvl="1" algn="l">
              <a:lnSpc>
                <a:spcPct val="100000"/>
              </a:lnSpc>
              <a:spcAft>
                <a:spcPts val="4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4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4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4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4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4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4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Each of the three LEDs inside a pixel draws about 20 mA at full 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One pixel showing full white:  3 x 20 = 60 mA</a:t>
            </a:r>
          </a:p>
          <a:p>
            <a:pPr lvl="1" algn="l">
              <a:lnSpc>
                <a:spcPct val="100000"/>
              </a:lnSpc>
              <a:spcAft>
                <a:spcPts val="900"/>
              </a:spcAft>
              <a:defRPr sz="1800" b="0">
                <a:solidFill>
                  <a:srgbClr val="222222"/>
                </a:solidFill>
                <a:latin typeface="Calibri"/>
              </a:defRPr>
            </a:pPr>
            <a:r>
              <a:rPr sz="1800" b="0">
                <a:solidFill>
                  <a:srgbClr val="222222"/>
                </a:solidFill>
                <a:latin typeface="Calibri"/>
              </a:rPr>
              <a:t>32 pixels of full white:  32 x 60 = 1920 mA, nearly 2 amps</a:t>
            </a:r>
          </a:p>
          <a:p>
            <a:pPr lvl="1" algn="l">
              <a:lnSpc>
                <a:spcPct val="100000"/>
              </a:lnSpc>
              <a:spcAft>
                <a:spcPts val="900"/>
              </a:spcAft>
              <a:defRPr sz="1800" b="0">
                <a:solidFill>
                  <a:srgbClr val="222222"/>
                </a:solidFill>
                <a:latin typeface="Calibri"/>
              </a:defRPr>
            </a:pPr>
            <a:r>
              <a:rPr sz="1800" b="0">
                <a:solidFill>
                  <a:srgbClr val="222222"/>
                </a:solidFill>
                <a:latin typeface="Calibri"/>
              </a:rPr>
              <a:t>At 5 volts:  1920 mA x 5 V = 9600 mW = 9.6 watts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a lot of power through a small board, and it makes real heat. Two things keep it sane:</a:t>
            </a:r>
          </a:p>
          <a:p>
            <a:pPr lvl="1" algn="l">
              <a:lnSpc>
                <a:spcPct val="100000"/>
              </a:lnSpc>
              <a:spcAft>
                <a:spcPts val="900"/>
              </a:spcAft>
              <a:defRPr sz="1800" b="0">
                <a:solidFill>
                  <a:srgbClr val="222222"/>
                </a:solidFill>
                <a:latin typeface="Calibri"/>
              </a:defRPr>
            </a:pPr>
            <a:r>
              <a:rPr sz="1800" b="0">
                <a:solidFill>
                  <a:srgbClr val="222222"/>
                </a:solidFill>
                <a:latin typeface="Calibri"/>
              </a:rPr>
              <a:t>setBrightness() scales EVERY pixel before it is sent. At 60 out of 255 you draw roughly a quarter of the worst case.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Coloured light is cheaper than white. Pure red only lights one of the three, so it costs about a third of what white costs.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Note the estimated current for each colour. Which is cheapest? Which is most expensive? Why?</a:t>
            </a:r>
          </a:p>
          <a:p>
            <a:pPr algn="l">
              <a:lnSpc>
                <a:spcPct val="100000"/>
              </a:lnSpc>
              <a:spcAft>
                <a:spcPts val="4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4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4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Yellow costs about twice what red costs. Why?</a:t>
            </a:r>
          </a:p>
          <a:p>
            <a:pPr algn="l">
              <a:lnSpc>
                <a:spcPct val="100000"/>
              </a:lnSpc>
              <a:spcAft>
                <a:spcPts val="200"/>
              </a:spcAft>
              <a:defRPr sz="1800" b="0">
                <a:solidFill>
                  <a:srgbClr val="222222"/>
                </a:solidFill>
                <a:latin typeface="Calibri"/>
              </a:defRPr>
            </a:pPr>
            <a:r>
              <a:rPr sz="1800" b="0">
                <a:solidFill>
                  <a:srgbClr val="222222"/>
                </a:solidFill>
                <a:latin typeface="Calibri"/>
              </a:rPr>
              <a:t>At brightness 60, what is the worst-case current?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LED is directly behind number 3?</a:t>
            </a:r>
          </a:p>
          <a:p>
            <a:pPr algn="l">
              <a:lnSpc>
                <a:spcPct val="100000"/>
              </a:lnSpc>
              <a:spcAft>
                <a:spcPts val="200"/>
              </a:spcAft>
              <a:defRPr sz="1800" b="0">
                <a:solidFill>
                  <a:srgbClr val="222222"/>
                </a:solidFill>
                <a:latin typeface="Calibri"/>
              </a:defRPr>
            </a:pPr>
            <a:r>
              <a:rPr sz="1800" b="0">
                <a:solidFill>
                  <a:srgbClr val="222222"/>
                </a:solidFill>
                <a:latin typeface="Calibri"/>
              </a:rPr>
              <a:t>You want to light the whole right side. Which two ranges?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6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6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Watch the difference between  &lt;  and  &lt;=. With FRONT_LAST = 15, you want &lt;= or you will miss LED 15.</a:t>
            </a:r>
          </a:p>
          <a:p>
            <a:pPr algn="l">
              <a:lnSpc>
                <a:spcPct val="100000"/>
              </a:lnSpc>
              <a:spcAft>
                <a:spcPts val="600"/>
              </a:spcAft>
              <a:defRPr sz="1800" b="0">
                <a:solidFill>
                  <a:srgbClr val="222222"/>
                </a:solidFill>
                <a:latin typeface="Calibri"/>
              </a:defRPr>
            </a:pPr>
            <a:r>
              <a:rPr sz="18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colorWipe fills the strip one LED at a time, in order, so the colour appears to sweep along it.</a:t>
            </a:r>
          </a:p>
          <a:p>
            <a:pPr lvl="1" algn="l">
              <a:lnSpc>
                <a:spcPct val="100000"/>
              </a:lnSpc>
              <a:spcAft>
                <a:spcPts val="400"/>
              </a:spcAft>
              <a:defRPr sz="1800" b="0">
                <a:solidFill>
                  <a:srgbClr val="222222"/>
                </a:solidFill>
                <a:latin typeface="Calibri"/>
              </a:defRPr>
            </a:pPr>
            <a:r>
              <a:rPr sz="1800" b="0">
                <a:solidFill>
                  <a:srgbClr val="222222"/>
                </a:solidFill>
                <a:latin typeface="Calibri"/>
              </a:rPr>
              <a:t>One loop, one delay per LED.</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colour wheel, 0 to 65535.</a:t>
            </a:r>
          </a:p>
          <a:p>
            <a:pPr lvl="1" algn="l">
              <a:lnSpc>
                <a:spcPct val="100000"/>
              </a:lnSpc>
              <a:spcAft>
                <a:spcPts val="4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4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watch all four run.</a:t>
            </a:r>
          </a:p>
          <a:p>
            <a:pPr algn="l">
              <a:lnSpc>
                <a:spcPct val="100000"/>
              </a:lnSpc>
              <a:spcAft>
                <a:spcPts val="400"/>
              </a:spcAft>
              <a:defRPr sz="1800" b="0">
                <a:solidFill>
                  <a:srgbClr val="222222"/>
                </a:solidFill>
                <a:latin typeface="Calibri"/>
              </a:defRPr>
            </a:pPr>
            <a:r>
              <a:rPr sz="1800" b="0">
                <a:solidFill>
                  <a:srgbClr val="222222"/>
                </a:solidFill>
                <a:latin typeface="Calibri"/>
              </a:rPr>
              <a:t>2.  In colorWipe, change the wait from 30 to 5, then to 150.</a:t>
            </a:r>
          </a:p>
          <a:p>
            <a:pPr algn="l">
              <a:lnSpc>
                <a:spcPct val="100000"/>
              </a:lnSpc>
              <a:spcAft>
                <a:spcPts val="400"/>
              </a:spcAft>
              <a:defRPr sz="1800" b="0">
                <a:solidFill>
                  <a:srgbClr val="222222"/>
                </a:solidFill>
                <a:latin typeface="Calibri"/>
              </a:defRPr>
            </a:pPr>
            <a:r>
              <a:rPr sz="1800" b="0">
                <a:solidFill>
                  <a:srgbClr val="222222"/>
                </a:solidFill>
                <a:latin typeface="Calibri"/>
              </a:rPr>
              <a:t>3.  In theaterChase, change BOTH 3s to 4s. What changes?</a:t>
            </a:r>
          </a:p>
          <a:p>
            <a:pPr algn="l">
              <a:lnSpc>
                <a:spcPct val="100000"/>
              </a:lnSpc>
              <a:spcAft>
                <a:spcPts val="400"/>
              </a:spcAft>
              <a:defRPr sz="1800" b="0">
                <a:solidFill>
                  <a:srgbClr val="222222"/>
                </a:solidFill>
                <a:latin typeface="Calibri"/>
              </a:defRPr>
            </a:pPr>
            <a:r>
              <a:rPr sz="1800" b="0">
                <a:solidFill>
                  <a:srgbClr val="222222"/>
                </a:solidFill>
                <a:latin typeface="Calibri"/>
              </a:rPr>
              <a:t>4.  Change SCANNER_TAIL from 3 to 0, then to 8.</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scanner colour to blue. You now have a Cylon instead of KITT.</a:t>
            </a:r>
          </a:p>
          <a:p>
            <a:pPr algn="l">
              <a:lnSpc>
                <a:spcPct val="100000"/>
              </a:lnSpc>
              <a:spcAft>
                <a:spcPts val="400"/>
              </a:spcAft>
              <a:defRPr sz="1800" b="0">
                <a:solidFill>
                  <a:srgbClr val="222222"/>
                </a:solidFill>
                <a:latin typeface="Calibri"/>
              </a:defRPr>
            </a:pPr>
            <a:r>
              <a:rPr sz="18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In theaterChase, why does the inner loop step in threes?</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&gt;&gt; 1 do to a number? Why does that dim an LED?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Some starting points:</a:t>
            </a:r>
          </a:p>
          <a:p>
            <a:pPr lvl="1" algn="l">
              <a:lnSpc>
                <a:spcPct val="100000"/>
              </a:lnSpc>
              <a:spcAft>
                <a:spcPts val="900"/>
              </a:spcAft>
              <a:defRPr sz="1800" b="0">
                <a:solidFill>
                  <a:srgbClr val="222222"/>
                </a:solidFill>
                <a:latin typeface="Calibri"/>
              </a:defRPr>
            </a:pPr>
            <a:r>
              <a:rPr sz="1800" b="0">
                <a:solidFill>
                  <a:srgbClr val="222222"/>
                </a:solidFill>
                <a:latin typeface="Calibri"/>
              </a:rPr>
              <a:t>Police lights - left side red, right side blue, alternating</a:t>
            </a:r>
          </a:p>
          <a:p>
            <a:pPr lvl="1" algn="l">
              <a:lnSpc>
                <a:spcPct val="100000"/>
              </a:lnSpc>
              <a:spcAft>
                <a:spcPts val="900"/>
              </a:spcAft>
              <a:defRPr sz="1800" b="0">
                <a:solidFill>
                  <a:srgbClr val="222222"/>
                </a:solidFill>
                <a:latin typeface="Calibri"/>
              </a:defRPr>
            </a:pPr>
            <a:r>
              <a:rPr sz="1800" b="0">
                <a:solidFill>
                  <a:srgbClr val="222222"/>
                </a:solidFill>
                <a:latin typeface="Calibri"/>
              </a:rPr>
              <a:t>A countdown - all 32 red, then fewer and fewer, then green</a:t>
            </a:r>
          </a:p>
          <a:p>
            <a:pPr lvl="1" algn="l">
              <a:lnSpc>
                <a:spcPct val="100000"/>
              </a:lnSpc>
              <a:spcAft>
                <a:spcPts val="900"/>
              </a:spcAft>
              <a:defRPr sz="1800" b="0">
                <a:solidFill>
                  <a:srgbClr val="222222"/>
                </a:solidFill>
                <a:latin typeface="Calibri"/>
              </a:defRPr>
            </a:pPr>
            <a:r>
              <a:rPr sz="1800" b="0">
                <a:solidFill>
                  <a:srgbClr val="222222"/>
                </a:solidFill>
                <a:latin typeface="Calibri"/>
              </a:rPr>
              <a:t>A battery gauge - green through amber to red across the front bar</a:t>
            </a:r>
          </a:p>
          <a:p>
            <a:pPr lvl="1" algn="l">
              <a:lnSpc>
                <a:spcPct val="100000"/>
              </a:lnSpc>
              <a:spcAft>
                <a:spcPts val="900"/>
              </a:spcAft>
              <a:defRPr sz="1800" b="0">
                <a:solidFill>
                  <a:srgbClr val="222222"/>
                </a:solidFill>
                <a:latin typeface="Calibri"/>
              </a:defRPr>
            </a:pPr>
            <a:r>
              <a:rPr sz="1800" b="0">
                <a:solidFill>
                  <a:srgbClr val="222222"/>
                </a:solidFill>
                <a:latin typeface="Calibri"/>
              </a:rPr>
              <a:t>Breathing - all 32 fading smoothly up and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A collision warning that flashes faster as something gets closer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Rules: it must be a function you call from loop(), and it must use at least one for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Then show the class. Best one gets used in the race next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How can 32 LEDs be controlled independently over one wire?</a:t>
            </a:r>
          </a:p>
          <a:p>
            <a:pPr algn="l">
              <a:lnSpc>
                <a:spcPct val="100000"/>
              </a:lnSpc>
              <a:spcAft>
                <a:spcPts val="1000"/>
              </a:spcAft>
              <a:defRPr sz="1800" b="0">
                <a:solidFill>
                  <a:srgbClr val="222222"/>
                </a:solidFill>
                <a:latin typeface="Calibri"/>
              </a:defRPr>
            </a:pPr>
            <a:r>
              <a:rPr sz="1800" b="0">
                <a:solidFill>
                  <a:srgbClr val="222222"/>
                </a:solidFill>
                <a:latin typeface="Calibri"/>
              </a:rPr>
              <a:t>2.  What are the four connections on a NeoPixel?</a:t>
            </a:r>
          </a:p>
          <a:p>
            <a:pPr algn="l">
              <a:lnSpc>
                <a:spcPct val="100000"/>
              </a:lnSpc>
              <a:spcAft>
                <a:spcPts val="1000"/>
              </a:spcAft>
              <a:defRPr sz="1800" b="0">
                <a:solidFill>
                  <a:srgbClr val="222222"/>
                </a:solidFill>
                <a:latin typeface="Calibri"/>
              </a:defRPr>
            </a:pPr>
            <a:r>
              <a:rPr sz="1800" b="0">
                <a:solidFill>
                  <a:srgbClr val="222222"/>
                </a:solidFill>
                <a:latin typeface="Calibri"/>
              </a:rPr>
              <a:t>3.  You call setPixelColor for LEDs 0 to 15 but nothing lights up. What did you forget?</a:t>
            </a:r>
          </a:p>
          <a:p>
            <a:pPr algn="l">
              <a:lnSpc>
                <a:spcPct val="100000"/>
              </a:lnSpc>
              <a:spcAft>
                <a:spcPts val="1000"/>
              </a:spcAft>
              <a:defRPr sz="1800" b="0">
                <a:solidFill>
                  <a:srgbClr val="222222"/>
                </a:solidFill>
                <a:latin typeface="Calibri"/>
              </a:defRPr>
            </a:pPr>
            <a:r>
              <a:rPr sz="1800" b="0">
                <a:solidFill>
                  <a:srgbClr val="222222"/>
                </a:solidFill>
                <a:latin typeface="Calibri"/>
              </a:rPr>
              <a:t>4.  What colour is strip.Color(255, 255, 0)? Why?</a:t>
            </a:r>
          </a:p>
          <a:p>
            <a:pPr algn="l">
              <a:lnSpc>
                <a:spcPct val="100000"/>
              </a:lnSpc>
              <a:spcAft>
                <a:spcPts val="1000"/>
              </a:spcAft>
              <a:defRPr sz="1800" b="0">
                <a:solidFill>
                  <a:srgbClr val="222222"/>
                </a:solidFill>
                <a:latin typeface="Calibri"/>
              </a:defRPr>
            </a:pPr>
            <a:r>
              <a:rPr sz="1800" b="0">
                <a:solidFill>
                  <a:srgbClr val="222222"/>
                </a:solidFill>
                <a:latin typeface="Calibri"/>
              </a:rPr>
              <a:t>5.  32 pixels of full white draw about how much current?</a:t>
            </a:r>
          </a:p>
          <a:p>
            <a:pPr algn="l">
              <a:lnSpc>
                <a:spcPct val="100000"/>
              </a:lnSpc>
              <a:spcAft>
                <a:spcPts val="1000"/>
              </a:spcAft>
              <a:defRPr sz="1800" b="0">
                <a:solidFill>
                  <a:srgbClr val="222222"/>
                </a:solidFill>
                <a:latin typeface="Calibri"/>
              </a:defRPr>
            </a:pPr>
            <a:r>
              <a:rPr sz="1800" b="0">
                <a:solidFill>
                  <a:srgbClr val="222222"/>
                </a:solidFill>
                <a:latin typeface="Calibri"/>
              </a:rPr>
              <a:t>6.  Which LEDs are on the LEFT side of the vehicle?</a:t>
            </a:r>
          </a:p>
          <a:p>
            <a:pPr algn="l">
              <a:lnSpc>
                <a:spcPct val="100000"/>
              </a:lnSpc>
              <a:spcAft>
                <a:spcPts val="1000"/>
              </a:spcAft>
              <a:defRPr sz="1800" b="0">
                <a:solidFill>
                  <a:srgbClr val="222222"/>
                </a:solidFill>
                <a:latin typeface="Calibri"/>
              </a:defRPr>
            </a:pPr>
            <a:r>
              <a:rPr sz="1800" b="0">
                <a:solidFill>
                  <a:srgbClr val="222222"/>
                </a:solidFill>
                <a:latin typeface="Calibri"/>
              </a:rPr>
              <a:t>7.  Which LED is directly opposite front LED 6?</a:t>
            </a:r>
          </a:p>
          <a:p>
            <a:pPr algn="l">
              <a:lnSpc>
                <a:spcPct val="100000"/>
              </a:lnSpc>
              <a:spcAft>
                <a:spcPts val="1000"/>
              </a:spcAft>
              <a:defRPr sz="1800" b="0">
                <a:solidFill>
                  <a:srgbClr val="222222"/>
                </a:solidFill>
                <a:latin typeface="Calibri"/>
              </a:defRPr>
            </a:pPr>
            <a:r>
              <a:rPr sz="18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