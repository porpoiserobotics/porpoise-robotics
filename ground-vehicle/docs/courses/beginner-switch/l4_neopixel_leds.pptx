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a:p>
            <a:r>
              <a:rPr sz="1200">
                <a:latin typeface="Calibri"/>
              </a:rPr>
              <a:t>The photograph is a stick of eight rather than a single pixel, and the back is worth pointing at: DI at one end, DO at the other, and 5 V and ground shared down the whole strip. That is the chain, in one picture.</a:t>
            </a:r>
          </a:p>
          <a:p>
            <a:r>
              <a:rPr sz="1200">
                <a:latin typeface="Calibri"/>
              </a:rPr>
              <a:t>The next slide is the same thing as a drawing, which is where the wiring becomes obvious. Do not explain the chain twice - say it here and prove it there.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this on the board before you show the slide. Three wires in at the left, three wires out at the right, and eight identical parts in between.</a:t>
            </a:r>
          </a:p>
          <a:p>
            <a:r>
              <a:rPr sz="1200">
                <a:latin typeface="Calibri"/>
              </a:rPr>
              <a:t>Ask which of the three wires is different from the other two, and why. Power and ground go to every pixel the same way; the data wire does not.</a:t>
            </a:r>
          </a:p>
          <a:p>
            <a:r>
              <a:rPr sz="1200">
                <a:latin typeface="Calibri"/>
              </a:rPr>
              <a:t>Then walk a message along it with your finger: the first pixel keeps the first color and passes the rest out of DATA OUT, which is the next pixel's DATA IN.</a:t>
            </a:r>
          </a:p>
          <a:p>
            <a:r>
              <a:rPr sz="1200">
                <a:latin typeface="Calibri"/>
              </a:rPr>
              <a:t>That is the whole reason one pin can drive thirty-two lights, and the reason the numbering runs in data order rather than in whatever order looks tidy from outside.</a:t>
            </a:r>
          </a:p>
          <a:p>
            <a:r>
              <a:rPr sz="1200">
                <a:latin typeface="Calibri"/>
              </a:rPr>
              <a:t>Worth saying out loud: unplug the data lead going into pixel 4 and pixels 4 to 31 all go dark, while 0 to 3 carry on. Power and ground are a rail; data is a chain.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a:p>
            <a:r>
              <a:rPr sz="1200">
                <a:latin typeface="Calibri"/>
              </a:rPr>
              <a:t>Do not read the table on the next slide out. Put it up, give them a minute, and ask for the two that surprise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the starting points, not the answer. Say that first, or somebody will copy the table and never change a number.</a:t>
            </a:r>
          </a:p>
          <a:p>
            <a:r>
              <a:rPr sz="1200">
                <a:latin typeface="Calibri"/>
              </a:rPr>
              <a:t>Orange is the interesting row. Ask why it is not (255, 128, 0) - it can be, and 100 just looks better on these LEDs. Color is judged by eye, not calculated.</a:t>
            </a:r>
          </a:p>
          <a:p>
            <a:r>
              <a:rPr sz="1200">
                <a:latin typeface="Calibri"/>
              </a:rPr>
              <a:t>Purple and magenta are worth a moment. Neither is a wavelength; they only exist as mixtures, which is the point of the wavelength slide before this one.</a:t>
            </a:r>
          </a:p>
          <a:p>
            <a:r>
              <a:rPr sz="1200">
                <a:latin typeface="Calibri"/>
              </a:rPr>
              <a:t>The Channels lit column is the bridge to the power budget two slides on. White costs three times what red costs, and that is an ampere question, not an aesthetic one.</a:t>
            </a:r>
          </a:p>
          <a:p>
            <a:r>
              <a:rPr sz="1200">
                <a:latin typeface="Calibri"/>
              </a:rPr>
              <a:t>Warm white is the practical one for headlights. Straight white looks blue-ish next to daylight.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pic>
        <p:nvPicPr>
          <p:cNvPr id="7" name="Picture 6" descr="ws2812b-stick-8.jpg"/>
          <p:cNvPicPr>
            <a:picLocks noChangeAspect="1"/>
          </p:cNvPicPr>
          <p:nvPr/>
        </p:nvPicPr>
        <p:blipFill>
          <a:blip r:embed="rId2"/>
          <a:stretch>
            <a:fillRect/>
          </a:stretch>
        </p:blipFill>
        <p:spPr>
          <a:xfrm>
            <a:off x="8130587" y="1188720"/>
            <a:ext cx="3313185" cy="3291840"/>
          </a:xfrm>
          <a:prstGeom prst="rect">
            <a:avLst/>
          </a:prstGeom>
        </p:spPr>
      </p:pic>
      <p:sp>
        <p:nvSpPr>
          <p:cNvPr id="8" name="TextBox 7"/>
          <p:cNvSpPr txBox="1"/>
          <p:nvPr/>
        </p:nvSpPr>
        <p:spPr>
          <a:xfrm>
            <a:off x="8130587" y="4535424"/>
            <a:ext cx="331318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Eight WS2812Bs, front and back: 5 V, ground, DI, DO</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wire, thirty-two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pic>
        <p:nvPicPr>
          <p:cNvPr id="6" name="Picture 5" descr="neopixel-chain-eight.png"/>
          <p:cNvPicPr>
            <a:picLocks noChangeAspect="1"/>
          </p:cNvPicPr>
          <p:nvPr/>
        </p:nvPicPr>
        <p:blipFill>
          <a:blip r:embed="rId3"/>
          <a:stretch>
            <a:fillRect/>
          </a:stretch>
        </p:blipFill>
        <p:spPr>
          <a:xfrm>
            <a:off x="502920" y="1963089"/>
            <a:ext cx="11185855" cy="1651661"/>
          </a:xfrm>
          <a:prstGeom prst="rect">
            <a:avLst/>
          </a:prstGeom>
        </p:spPr>
      </p:pic>
      <p:sp>
        <p:nvSpPr>
          <p:cNvPr id="7" name="TextBox 6"/>
          <p:cNvSpPr txBox="1"/>
          <p:nvPr/>
        </p:nvSpPr>
        <p:spPr>
          <a:xfrm>
            <a:off x="502920" y="3840480"/>
            <a:ext cx="11185855"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box is one NeoPixel: a controller chip and three LEDs, one red, one green and one blue. Eight are drawn here; your vehicle has 32.</a:t>
            </a:r>
          </a:p>
        </p:txBody>
      </p:sp>
      <p:sp>
        <p:nvSpPr>
          <p:cNvPr id="8" name="Rounded Rectangle 7"/>
          <p:cNvSpPr/>
          <p:nvPr/>
        </p:nvSpPr>
        <p:spPr>
          <a:xfrm>
            <a:off x="502920" y="4919472"/>
            <a:ext cx="11185855" cy="1344168"/>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Power and ground are RAILS - every pixel taps the same two wires. Data is a CHAIN - each pixel keeps the first message and passes the rest out to the next one. That is why one pin drives the whole strip, and why a break in the data line puts out every pixel after it and none before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Six of those nine only touch memory. Exactly one of them, show(), changes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pic>
        <p:nvPicPr>
          <p:cNvPr id="6" name="Picture 5" descr="rgb-additive-mixing.png"/>
          <p:cNvPicPr>
            <a:picLocks noChangeAspect="1"/>
          </p:cNvPicPr>
          <p:nvPr/>
        </p:nvPicPr>
        <p:blipFill>
          <a:blip r:embed="rId2"/>
          <a:stretch>
            <a:fillRect/>
          </a:stretch>
        </p:blipFill>
        <p:spPr>
          <a:xfrm>
            <a:off x="3924147" y="1188720"/>
            <a:ext cx="434340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colors, and what to write for each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200"/>
              </a:spcAft>
              <a:defRPr sz="1200" b="0">
                <a:solidFill>
                  <a:srgbClr val="222222"/>
                </a:solidFill>
                <a:latin typeface="Calibri"/>
              </a:defRPr>
            </a:pPr>
            <a:r>
              <a:rPr sz="1200" b="0">
                <a:solidFill>
                  <a:srgbClr val="222222"/>
                </a:solidFill>
                <a:latin typeface="Calibri"/>
              </a:rPr>
              <a:t>Start from these, then change one number at a time and watch what it does. Nothing here is a magic value - every one is three numbers between 0 and 255.</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3050687"/>
                <a:gridCol w="5592927"/>
                <a:gridCol w="2542239"/>
              </a:tblGrid>
              <a:tr h="258762">
                <a:tc>
                  <a:txBody>
                    <a:bodyPr/>
                    <a:lstStyle/>
                    <a:p>
                      <a:r>
                        <a:rPr sz="1150" b="1">
                          <a:solidFill>
                            <a:srgbClr val="FFFFFF"/>
                          </a:solidFill>
                          <a:latin typeface="Calibri"/>
                        </a:rPr>
                        <a:t>Color</a:t>
                      </a:r>
                    </a:p>
                  </a:txBody>
                  <a:tcPr marL="73152" marT="18288" marB="18288">
                    <a:solidFill>
                      <a:srgbClr val="1F3A5F"/>
                    </a:solidFill>
                  </a:tcPr>
                </a:tc>
                <a:tc>
                  <a:txBody>
                    <a:bodyPr/>
                    <a:lstStyle/>
                    <a:p>
                      <a:r>
                        <a:rPr sz="1150" b="1">
                          <a:solidFill>
                            <a:srgbClr val="FFFFFF"/>
                          </a:solidFill>
                          <a:latin typeface="Calibri"/>
                        </a:rPr>
                        <a:t>The call</a:t>
                      </a:r>
                    </a:p>
                  </a:txBody>
                  <a:tcPr marL="73152" marT="18288" marB="18288">
                    <a:solidFill>
                      <a:srgbClr val="1F3A5F"/>
                    </a:solidFill>
                  </a:tcPr>
                </a:tc>
                <a:tc>
                  <a:txBody>
                    <a:bodyPr/>
                    <a:lstStyle/>
                    <a:p>
                      <a:r>
                        <a:rPr sz="1150" b="1">
                          <a:solidFill>
                            <a:srgbClr val="FFFFFF"/>
                          </a:solidFill>
                          <a:latin typeface="Calibri"/>
                        </a:rPr>
                        <a:t>Channels lit</a:t>
                      </a:r>
                    </a:p>
                  </a:txBody>
                  <a:tcPr marL="73152" marT="18288" marB="18288">
                    <a:solidFill>
                      <a:srgbClr val="1F3A5F"/>
                    </a:solidFill>
                  </a:tcPr>
                </a:tc>
              </a:tr>
              <a:tr h="258762">
                <a:tc>
                  <a:txBody>
                    <a:bodyPr/>
                    <a:lstStyle/>
                    <a:p>
                      <a:r>
                        <a:rPr sz="1150">
                          <a:solidFill>
                            <a:srgbClr val="222222"/>
                          </a:solidFill>
                          <a:latin typeface="Calibri"/>
                        </a:rPr>
                        <a:t>Red</a:t>
                      </a:r>
                    </a:p>
                  </a:txBody>
                  <a:tcPr marL="73152" marT="18288" marB="18288">
                    <a:solidFill>
                      <a:srgbClr val="FFFFFF"/>
                    </a:solidFill>
                  </a:tcPr>
                </a:tc>
                <a:tc>
                  <a:txBody>
                    <a:bodyPr/>
                    <a:lstStyle/>
                    <a:p>
                      <a:r>
                        <a:rPr sz="1150">
                          <a:solidFill>
                            <a:srgbClr val="222222"/>
                          </a:solidFill>
                          <a:latin typeface="Calibri"/>
                        </a:rPr>
                        <a:t>strip.Color(255, 0, 0)</a:t>
                      </a:r>
                    </a:p>
                  </a:txBody>
                  <a:tcPr marL="73152" marT="18288" marB="18288">
                    <a:solidFill>
                      <a:srgbClr val="FFFFFF"/>
                    </a:solidFill>
                  </a:tcPr>
                </a:tc>
                <a:tc>
                  <a:txBody>
                    <a:bodyPr/>
                    <a:lstStyle/>
                    <a:p>
                      <a:r>
                        <a:rPr sz="1150">
                          <a:solidFill>
                            <a:srgbClr val="222222"/>
                          </a:solidFill>
                          <a:latin typeface="Calibri"/>
                        </a:rPr>
                        <a:t>1</a:t>
                      </a:r>
                    </a:p>
                  </a:txBody>
                  <a:tcPr marL="73152" marT="18288" marB="18288">
                    <a:solidFill>
                      <a:srgbClr val="FFFFFF"/>
                    </a:solidFill>
                  </a:tcPr>
                </a:tc>
              </a:tr>
              <a:tr h="258762">
                <a:tc>
                  <a:txBody>
                    <a:bodyPr/>
                    <a:lstStyle/>
                    <a:p>
                      <a:r>
                        <a:rPr sz="1150">
                          <a:solidFill>
                            <a:srgbClr val="222222"/>
                          </a:solidFill>
                          <a:latin typeface="Calibri"/>
                        </a:rPr>
                        <a:t>Green</a:t>
                      </a:r>
                    </a:p>
                  </a:txBody>
                  <a:tcPr marL="73152" marT="18288" marB="18288">
                    <a:solidFill>
                      <a:srgbClr val="EEF3F8"/>
                    </a:solidFill>
                  </a:tcPr>
                </a:tc>
                <a:tc>
                  <a:txBody>
                    <a:bodyPr/>
                    <a:lstStyle/>
                    <a:p>
                      <a:r>
                        <a:rPr sz="1150">
                          <a:solidFill>
                            <a:srgbClr val="222222"/>
                          </a:solidFill>
                          <a:latin typeface="Calibri"/>
                        </a:rPr>
                        <a:t>strip.Color(0, 255, 0)</a:t>
                      </a:r>
                    </a:p>
                  </a:txBody>
                  <a:tcPr marL="73152" marT="18288" marB="18288">
                    <a:solidFill>
                      <a:srgbClr val="EEF3F8"/>
                    </a:solidFill>
                  </a:tcPr>
                </a:tc>
                <a:tc>
                  <a:txBody>
                    <a:bodyPr/>
                    <a:lstStyle/>
                    <a:p>
                      <a:r>
                        <a:rPr sz="1150">
                          <a:solidFill>
                            <a:srgbClr val="222222"/>
                          </a:solidFill>
                          <a:latin typeface="Calibri"/>
                        </a:rPr>
                        <a:t>1</a:t>
                      </a:r>
                    </a:p>
                  </a:txBody>
                  <a:tcPr marL="73152" marT="18288" marB="18288">
                    <a:solidFill>
                      <a:srgbClr val="EEF3F8"/>
                    </a:solidFill>
                  </a:tcPr>
                </a:tc>
              </a:tr>
              <a:tr h="258762">
                <a:tc>
                  <a:txBody>
                    <a:bodyPr/>
                    <a:lstStyle/>
                    <a:p>
                      <a:r>
                        <a:rPr sz="1150">
                          <a:solidFill>
                            <a:srgbClr val="222222"/>
                          </a:solidFill>
                          <a:latin typeface="Calibri"/>
                        </a:rPr>
                        <a:t>Blue</a:t>
                      </a:r>
                    </a:p>
                  </a:txBody>
                  <a:tcPr marL="73152" marT="18288" marB="18288">
                    <a:solidFill>
                      <a:srgbClr val="FFFFFF"/>
                    </a:solidFill>
                  </a:tcPr>
                </a:tc>
                <a:tc>
                  <a:txBody>
                    <a:bodyPr/>
                    <a:lstStyle/>
                    <a:p>
                      <a:r>
                        <a:rPr sz="1150">
                          <a:solidFill>
                            <a:srgbClr val="222222"/>
                          </a:solidFill>
                          <a:latin typeface="Calibri"/>
                        </a:rPr>
                        <a:t>strip.Color(0, 0, 255)</a:t>
                      </a:r>
                    </a:p>
                  </a:txBody>
                  <a:tcPr marL="73152" marT="18288" marB="18288">
                    <a:solidFill>
                      <a:srgbClr val="FFFFFF"/>
                    </a:solidFill>
                  </a:tcPr>
                </a:tc>
                <a:tc>
                  <a:txBody>
                    <a:bodyPr/>
                    <a:lstStyle/>
                    <a:p>
                      <a:r>
                        <a:rPr sz="1150">
                          <a:solidFill>
                            <a:srgbClr val="222222"/>
                          </a:solidFill>
                          <a:latin typeface="Calibri"/>
                        </a:rPr>
                        <a:t>1</a:t>
                      </a:r>
                    </a:p>
                  </a:txBody>
                  <a:tcPr marL="73152" marT="18288" marB="18288">
                    <a:solidFill>
                      <a:srgbClr val="FFFFFF"/>
                    </a:solidFill>
                  </a:tcPr>
                </a:tc>
              </a:tr>
              <a:tr h="258762">
                <a:tc>
                  <a:txBody>
                    <a:bodyPr/>
                    <a:lstStyle/>
                    <a:p>
                      <a:r>
                        <a:rPr sz="1150">
                          <a:solidFill>
                            <a:srgbClr val="222222"/>
                          </a:solidFill>
                          <a:latin typeface="Calibri"/>
                        </a:rPr>
                        <a:t>Yellow</a:t>
                      </a:r>
                    </a:p>
                  </a:txBody>
                  <a:tcPr marL="73152" marT="18288" marB="18288">
                    <a:solidFill>
                      <a:srgbClr val="EEF3F8"/>
                    </a:solidFill>
                  </a:tcPr>
                </a:tc>
                <a:tc>
                  <a:txBody>
                    <a:bodyPr/>
                    <a:lstStyle/>
                    <a:p>
                      <a:r>
                        <a:rPr sz="1150">
                          <a:solidFill>
                            <a:srgbClr val="222222"/>
                          </a:solidFill>
                          <a:latin typeface="Calibri"/>
                        </a:rPr>
                        <a:t>strip.Color(255, 255, 0)</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Cyan</a:t>
                      </a:r>
                    </a:p>
                  </a:txBody>
                  <a:tcPr marL="73152" marT="18288" marB="18288">
                    <a:solidFill>
                      <a:srgbClr val="FFFFFF"/>
                    </a:solidFill>
                  </a:tcPr>
                </a:tc>
                <a:tc>
                  <a:txBody>
                    <a:bodyPr/>
                    <a:lstStyle/>
                    <a:p>
                      <a:r>
                        <a:rPr sz="1150">
                          <a:solidFill>
                            <a:srgbClr val="222222"/>
                          </a:solidFill>
                          <a:latin typeface="Calibri"/>
                        </a:rPr>
                        <a:t>strip.Color(0, 255, 255)</a:t>
                      </a:r>
                    </a:p>
                  </a:txBody>
                  <a:tcPr marL="73152" marT="18288" marB="18288">
                    <a:solidFill>
                      <a:srgbClr val="FFFFFF"/>
                    </a:solidFill>
                  </a:tcPr>
                </a:tc>
                <a:tc>
                  <a:txBody>
                    <a:bodyPr/>
                    <a:lstStyle/>
                    <a:p>
                      <a:r>
                        <a:rPr sz="1150">
                          <a:solidFill>
                            <a:srgbClr val="222222"/>
                          </a:solidFill>
                          <a:latin typeface="Calibri"/>
                        </a:rPr>
                        <a:t>2</a:t>
                      </a:r>
                    </a:p>
                  </a:txBody>
                  <a:tcPr marL="73152" marT="18288" marB="18288">
                    <a:solidFill>
                      <a:srgbClr val="FFFFFF"/>
                    </a:solidFill>
                  </a:tcPr>
                </a:tc>
              </a:tr>
              <a:tr h="258762">
                <a:tc>
                  <a:txBody>
                    <a:bodyPr/>
                    <a:lstStyle/>
                    <a:p>
                      <a:r>
                        <a:rPr sz="1150">
                          <a:solidFill>
                            <a:srgbClr val="222222"/>
                          </a:solidFill>
                          <a:latin typeface="Calibri"/>
                        </a:rPr>
                        <a:t>Magenta</a:t>
                      </a:r>
                    </a:p>
                  </a:txBody>
                  <a:tcPr marL="73152" marT="18288" marB="18288">
                    <a:solidFill>
                      <a:srgbClr val="EEF3F8"/>
                    </a:solidFill>
                  </a:tcPr>
                </a:tc>
                <a:tc>
                  <a:txBody>
                    <a:bodyPr/>
                    <a:lstStyle/>
                    <a:p>
                      <a:r>
                        <a:rPr sz="1150">
                          <a:solidFill>
                            <a:srgbClr val="222222"/>
                          </a:solidFill>
                          <a:latin typeface="Calibri"/>
                        </a:rPr>
                        <a:t>strip.Color(255, 0, 255)</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Orange</a:t>
                      </a:r>
                    </a:p>
                  </a:txBody>
                  <a:tcPr marL="73152" marT="18288" marB="18288">
                    <a:solidFill>
                      <a:srgbClr val="FFFFFF"/>
                    </a:solidFill>
                  </a:tcPr>
                </a:tc>
                <a:tc>
                  <a:txBody>
                    <a:bodyPr/>
                    <a:lstStyle/>
                    <a:p>
                      <a:r>
                        <a:rPr sz="1150">
                          <a:solidFill>
                            <a:srgbClr val="222222"/>
                          </a:solidFill>
                          <a:latin typeface="Calibri"/>
                        </a:rPr>
                        <a:t>strip.Color(255, 100, 0)</a:t>
                      </a:r>
                    </a:p>
                  </a:txBody>
                  <a:tcPr marL="73152" marT="18288" marB="18288">
                    <a:solidFill>
                      <a:srgbClr val="FFFFFF"/>
                    </a:solidFill>
                  </a:tcPr>
                </a:tc>
                <a:tc>
                  <a:txBody>
                    <a:bodyPr/>
                    <a:lstStyle/>
                    <a:p>
                      <a:r>
                        <a:rPr sz="1150">
                          <a:solidFill>
                            <a:srgbClr val="222222"/>
                          </a:solidFill>
                          <a:latin typeface="Calibri"/>
                        </a:rPr>
                        <a:t>2</a:t>
                      </a:r>
                    </a:p>
                  </a:txBody>
                  <a:tcPr marL="73152" marT="18288" marB="18288">
                    <a:solidFill>
                      <a:srgbClr val="FFFFFF"/>
                    </a:solidFill>
                  </a:tcPr>
                </a:tc>
              </a:tr>
              <a:tr h="258762">
                <a:tc>
                  <a:txBody>
                    <a:bodyPr/>
                    <a:lstStyle/>
                    <a:p>
                      <a:r>
                        <a:rPr sz="1150">
                          <a:solidFill>
                            <a:srgbClr val="222222"/>
                          </a:solidFill>
                          <a:latin typeface="Calibri"/>
                        </a:rPr>
                        <a:t>Purple</a:t>
                      </a:r>
                    </a:p>
                  </a:txBody>
                  <a:tcPr marL="73152" marT="18288" marB="18288">
                    <a:solidFill>
                      <a:srgbClr val="EEF3F8"/>
                    </a:solidFill>
                  </a:tcPr>
                </a:tc>
                <a:tc>
                  <a:txBody>
                    <a:bodyPr/>
                    <a:lstStyle/>
                    <a:p>
                      <a:r>
                        <a:rPr sz="1150">
                          <a:solidFill>
                            <a:srgbClr val="222222"/>
                          </a:solidFill>
                          <a:latin typeface="Calibri"/>
                        </a:rPr>
                        <a:t>strip.Color(128, 0, 255)</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Pink</a:t>
                      </a:r>
                    </a:p>
                  </a:txBody>
                  <a:tcPr marL="73152" marT="18288" marB="18288">
                    <a:solidFill>
                      <a:srgbClr val="FFFFFF"/>
                    </a:solidFill>
                  </a:tcPr>
                </a:tc>
                <a:tc>
                  <a:txBody>
                    <a:bodyPr/>
                    <a:lstStyle/>
                    <a:p>
                      <a:r>
                        <a:rPr sz="1150">
                          <a:solidFill>
                            <a:srgbClr val="222222"/>
                          </a:solidFill>
                          <a:latin typeface="Calibri"/>
                        </a:rPr>
                        <a:t>strip.Color(255, 100, 100)</a:t>
                      </a:r>
                    </a:p>
                  </a:txBody>
                  <a:tcPr marL="73152" marT="18288" marB="18288">
                    <a:solidFill>
                      <a:srgbClr val="FFFFFF"/>
                    </a:solidFill>
                  </a:tcPr>
                </a:tc>
                <a:tc>
                  <a:txBody>
                    <a:bodyPr/>
                    <a:lstStyle/>
                    <a:p>
                      <a:r>
                        <a:rPr sz="1150">
                          <a:solidFill>
                            <a:srgbClr val="222222"/>
                          </a:solidFill>
                          <a:latin typeface="Calibri"/>
                        </a:rPr>
                        <a:t>3</a:t>
                      </a:r>
                    </a:p>
                  </a:txBody>
                  <a:tcPr marL="73152" marT="18288" marB="18288">
                    <a:solidFill>
                      <a:srgbClr val="FFFFFF"/>
                    </a:solidFill>
                  </a:tcPr>
                </a:tc>
              </a:tr>
              <a:tr h="258762">
                <a:tc>
                  <a:txBody>
                    <a:bodyPr/>
                    <a:lstStyle/>
                    <a:p>
                      <a:r>
                        <a:rPr sz="1150">
                          <a:solidFill>
                            <a:srgbClr val="222222"/>
                          </a:solidFill>
                          <a:latin typeface="Calibri"/>
                        </a:rPr>
                        <a:t>White</a:t>
                      </a:r>
                    </a:p>
                  </a:txBody>
                  <a:tcPr marL="73152" marT="18288" marB="18288">
                    <a:solidFill>
                      <a:srgbClr val="EEF3F8"/>
                    </a:solidFill>
                  </a:tcPr>
                </a:tc>
                <a:tc>
                  <a:txBody>
                    <a:bodyPr/>
                    <a:lstStyle/>
                    <a:p>
                      <a:r>
                        <a:rPr sz="1150">
                          <a:solidFill>
                            <a:srgbClr val="222222"/>
                          </a:solidFill>
                          <a:latin typeface="Calibri"/>
                        </a:rPr>
                        <a:t>strip.Color(255, 255, 255)</a:t>
                      </a:r>
                    </a:p>
                  </a:txBody>
                  <a:tcPr marL="73152" marT="18288" marB="18288">
                    <a:solidFill>
                      <a:srgbClr val="EEF3F8"/>
                    </a:solidFill>
                  </a:tcPr>
                </a:tc>
                <a:tc>
                  <a:txBody>
                    <a:bodyPr/>
                    <a:lstStyle/>
                    <a:p>
                      <a:r>
                        <a:rPr sz="1150">
                          <a:solidFill>
                            <a:srgbClr val="222222"/>
                          </a:solidFill>
                          <a:latin typeface="Calibri"/>
                        </a:rPr>
                        <a:t>3</a:t>
                      </a:r>
                    </a:p>
                  </a:txBody>
                  <a:tcPr marL="73152" marT="18288" marB="18288">
                    <a:solidFill>
                      <a:srgbClr val="EEF3F8"/>
                    </a:solidFill>
                  </a:tcPr>
                </a:tc>
              </a:tr>
              <a:tr h="258762">
                <a:tc>
                  <a:txBody>
                    <a:bodyPr/>
                    <a:lstStyle/>
                    <a:p>
                      <a:r>
                        <a:rPr sz="1150">
                          <a:solidFill>
                            <a:srgbClr val="222222"/>
                          </a:solidFill>
                          <a:latin typeface="Calibri"/>
                        </a:rPr>
                        <a:t>Warm white</a:t>
                      </a:r>
                    </a:p>
                  </a:txBody>
                  <a:tcPr marL="73152" marT="18288" marB="18288">
                    <a:solidFill>
                      <a:srgbClr val="FFFFFF"/>
                    </a:solidFill>
                  </a:tcPr>
                </a:tc>
                <a:tc>
                  <a:txBody>
                    <a:bodyPr/>
                    <a:lstStyle/>
                    <a:p>
                      <a:r>
                        <a:rPr sz="1150">
                          <a:solidFill>
                            <a:srgbClr val="222222"/>
                          </a:solidFill>
                          <a:latin typeface="Calibri"/>
                        </a:rPr>
                        <a:t>strip.Color(255, 160, 80)</a:t>
                      </a:r>
                    </a:p>
                  </a:txBody>
                  <a:tcPr marL="73152" marT="18288" marB="18288">
                    <a:solidFill>
                      <a:srgbClr val="FFFFFF"/>
                    </a:solidFill>
                  </a:tcPr>
                </a:tc>
                <a:tc>
                  <a:txBody>
                    <a:bodyPr/>
                    <a:lstStyle/>
                    <a:p>
                      <a:r>
                        <a:rPr sz="1150">
                          <a:solidFill>
                            <a:srgbClr val="222222"/>
                          </a:solidFill>
                          <a:latin typeface="Calibri"/>
                        </a:rPr>
                        <a:t>3</a:t>
                      </a:r>
                    </a:p>
                  </a:txBody>
                  <a:tcPr marL="73152" marT="18288" marB="18288">
                    <a:solidFill>
                      <a:srgbClr val="FFFFFF"/>
                    </a:solidFill>
                  </a:tcPr>
                </a:tc>
              </a:tr>
              <a:tr h="258768">
                <a:tc>
                  <a:txBody>
                    <a:bodyPr/>
                    <a:lstStyle/>
                    <a:p>
                      <a:r>
                        <a:rPr sz="1150">
                          <a:solidFill>
                            <a:srgbClr val="222222"/>
                          </a:solidFill>
                          <a:latin typeface="Calibri"/>
                        </a:rPr>
                        <a:t>Off</a:t>
                      </a:r>
                    </a:p>
                  </a:txBody>
                  <a:tcPr marL="73152" marT="18288" marB="18288">
                    <a:solidFill>
                      <a:srgbClr val="EEF3F8"/>
                    </a:solidFill>
                  </a:tcPr>
                </a:tc>
                <a:tc>
                  <a:txBody>
                    <a:bodyPr/>
                    <a:lstStyle/>
                    <a:p>
                      <a:r>
                        <a:rPr sz="1150">
                          <a:solidFill>
                            <a:srgbClr val="222222"/>
                          </a:solidFill>
                          <a:latin typeface="Calibri"/>
                        </a:rPr>
                        <a:t>strip.Color(0, 0, 0)</a:t>
                      </a:r>
                    </a:p>
                  </a:txBody>
                  <a:tcPr marL="73152" marT="18288" marB="18288">
                    <a:solidFill>
                      <a:srgbClr val="EEF3F8"/>
                    </a:solidFill>
                  </a:tcPr>
                </a:tc>
                <a:tc>
                  <a:txBody>
                    <a:bodyPr/>
                    <a:lstStyle/>
                    <a:p>
                      <a:r>
                        <a:rPr sz="1150">
                          <a:solidFill>
                            <a:srgbClr val="222222"/>
                          </a:solidFill>
                          <a:latin typeface="Calibri"/>
                        </a:rPr>
                        <a:t>0</a:t>
                      </a:r>
                    </a:p>
                  </a:txBody>
                  <a:tcPr marL="73152" marT="18288" marB="18288">
                    <a:solidFill>
                      <a:srgbClr val="EEF3F8"/>
                    </a:solidFill>
                  </a:tcPr>
                </a:tc>
              </a:tr>
            </a:tbl>
          </a:graphicData>
        </a:graphic>
      </p:graphicFrame>
      <p:sp>
        <p:nvSpPr>
          <p:cNvPr id="8" name="Rounded Rectangle 7"/>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third column is the power budget in disguise. Orange costs twice what red does, and white costs three times - which is why a strip set to white is the one that browns out a battery.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8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LEFT is 0-7 and 24-31.  RIGHT is 8-15 and 16-23.  The strip is one loop, so each side is in two pieces.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