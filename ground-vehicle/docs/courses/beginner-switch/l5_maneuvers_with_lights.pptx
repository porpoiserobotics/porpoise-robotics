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Point at the headers on a real board before you say anything else. Kevin caught this in the 2026-09-08 review: the slide used to put them on the top plate, and a student hunting for them up there will not find them.</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Section 2 is the confidence builder. They will recognise STICK_DEADZONE, MOTOR_MAX and the LED count as numbers they have already changed with their own hands.</a:t>
            </a:r>
          </a:p>
          <a:p>
            <a:r>
              <a:rPr sz="1200">
                <a:latin typeface="Calibri"/>
              </a:rPr>
              <a:t>Section 6 is the assessment. Walk round and ask groups to point at the failsafe. Anybody who can find it has understood Lesson 3.</a:t>
            </a:r>
          </a:p>
          <a:p>
            <a:r>
              <a:rPr sz="1200">
                <a:latin typeface="Calibri"/>
              </a:rPr>
              <a:t>Collect answers out loud before moving on, one section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sections,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waypoint list and the servos are the two that need nothing bought. Point that out - it is the difference between an idea and a plan.</a:t>
            </a:r>
          </a:p>
          <a:p>
            <a:r>
              <a:rPr sz="1200">
                <a:latin typeface="Calibri"/>
              </a:rPr>
              <a:t>FOR YOU, NOT FOR THEM: all five of these are written out in full in src/projects/, one folder each, for both tracks. Each one is l5c_drive_with_lights plus the one thing, so you can put the two files side by side and the difference IS the project. Kevin asked for these in the 2026-09-08 review, and the reason was blunt: an instructor who cannot help a stuck student is not acceptable.</a:t>
            </a:r>
          </a:p>
          <a:p>
            <a:r>
              <a:rPr sz="1200">
                <a:latin typeface="Calibri"/>
              </a:rPr>
              <a:t>Do not hand them out. Read the one a student has picked before the session they start it in, and the questions they get stuck on will be the ones you have already met. The header of each file has a section called THE IDEA, which is the part worth understanding rather than the feature.</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const unsigned long INTERVAL = 1000;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b="1">
                <a:solidFill>
                  <a:srgbClr val="0E7C86"/>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a:solidFill>
                  <a:srgbClr val="222222"/>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There are four servo headers on the MAIN CONTROL BOARD, under the top plate, and the full program drives them from the RIGHT stick. What you bolt on goes on the top plate; its leads come down to the board through the cutout.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three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75% of MOTOR_MAX - 191 of 255 -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300" b="1">
                <a:solidFill>
                  <a:srgbClr val="1F3A5F"/>
                </a:solidFill>
                <a:latin typeface="Calibri"/>
              </a:defRPr>
            </a:pPr>
            <a:r>
              <a:rPr sz="2300" b="1">
                <a:solidFill>
                  <a:srgbClr val="1F3A5F"/>
                </a:solidFill>
                <a:latin typeface="Calibri"/>
              </a:rPr>
              <a:t>Putting it all together  -  read pathfinder_nintendoswitch in six sections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sections,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3" cy="2835275"/>
        </p:xfrm>
        <a:graphic>
          <a:graphicData uri="http://schemas.openxmlformats.org/drawingml/2006/table">
            <a:tbl>
              <a:tblPr firstRow="1" bandRow="1">
                <a:tableStyleId>{5C22544A-7EE6-4342-B048-85BDC9FD1C3A}</a:tableStyleId>
              </a:tblPr>
              <a:tblGrid>
                <a:gridCol w="1118585"/>
                <a:gridCol w="4576031"/>
                <a:gridCol w="5491237"/>
              </a:tblGrid>
              <a:tr h="405039">
                <a:tc>
                  <a:txBody>
                    <a:bodyPr/>
                    <a:lstStyle/>
                    <a:p>
                      <a:r>
                        <a:rPr sz="1450" b="1">
                          <a:solidFill>
                            <a:srgbClr val="FFFFFF"/>
                          </a:solidFill>
                          <a:latin typeface="Calibri"/>
                        </a:rPr>
                        <a:t>Section</a:t>
                      </a:r>
                    </a:p>
                  </a:txBody>
                  <a:tcPr marL="73152" marT="18288" marB="18288">
                    <a:solidFill>
                      <a:srgbClr val="1F3A5F"/>
                    </a:solidFill>
                  </a:tcPr>
                </a:tc>
                <a:tc>
                  <a:txBody>
                    <a:bodyPr/>
                    <a:lstStyle/>
                    <a:p>
                      <a:r>
                        <a:rPr sz="1450" b="1">
                          <a:solidFill>
                            <a:srgbClr val="FFFFFF"/>
                          </a:solidFill>
                          <a:latin typeface="Calibri"/>
                        </a:rPr>
                        <a:t>What you are reading</a:t>
                      </a:r>
                    </a:p>
                  </a:txBody>
                  <a:tcPr marL="73152" marT="18288" marB="18288">
                    <a:solidFill>
                      <a:srgbClr val="1F3A5F"/>
                    </a:solidFill>
                  </a:tcPr>
                </a:tc>
                <a:tc>
                  <a:txBody>
                    <a:bodyPr/>
                    <a:lstStyle/>
                    <a:p>
                      <a:r>
                        <a:rPr sz="1450" b="1">
                          <a:solidFill>
                            <a:srgbClr val="FFFFFF"/>
                          </a:solidFill>
                          <a:latin typeface="Calibri"/>
                        </a:rPr>
                        <a:t>Ask yourself</a:t>
                      </a:r>
                    </a:p>
                  </a:txBody>
                  <a:tcPr marL="73152" marT="18288" marB="18288">
                    <a:solidFill>
                      <a:srgbClr val="1F3A5F"/>
                    </a:solidFill>
                  </a:tcPr>
                </a:tc>
              </a:tr>
              <a:tr h="405039">
                <a:tc>
                  <a:txBody>
                    <a:bodyPr/>
                    <a:lstStyle/>
                    <a:p>
                      <a:r>
                        <a:rPr sz="1450">
                          <a:solidFill>
                            <a:srgbClr val="222222"/>
                          </a:solidFill>
                          <a:latin typeface="Calibri"/>
                        </a:rPr>
                        <a:t>1</a:t>
                      </a:r>
                    </a:p>
                  </a:txBody>
                  <a:tcPr marL="73152" marT="18288" marB="18288">
                    <a:solidFill>
                      <a:srgbClr val="FFFFFF"/>
                    </a:solidFill>
                  </a:tcPr>
                </a:tc>
                <a:tc>
                  <a:txBody>
                    <a:bodyPr/>
                    <a:lstStyle/>
                    <a:p>
                      <a:r>
                        <a:rPr sz="1450">
                          <a:solidFill>
                            <a:srgbClr val="222222"/>
                          </a:solidFill>
                          <a:latin typeface="Calibri"/>
                        </a:rPr>
                        <a:t>The header comment and the #includes</a:t>
                      </a:r>
                    </a:p>
                  </a:txBody>
                  <a:tcPr marL="73152" marT="18288" marB="18288">
                    <a:solidFill>
                      <a:srgbClr val="FFFFFF"/>
                    </a:solidFill>
                  </a:tcPr>
                </a:tc>
                <a:tc>
                  <a:txBody>
                    <a:bodyPr/>
                    <a:lstStyle/>
                    <a:p>
                      <a:r>
                        <a:rPr sz="1450">
                          <a:solidFill>
                            <a:srgbClr val="222222"/>
                          </a:solidFill>
                          <a:latin typeface="Calibri"/>
                        </a:rPr>
                        <a:t>What does each library bring in, and which lesson met it?</a:t>
                      </a:r>
                    </a:p>
                  </a:txBody>
                  <a:tcPr marL="73152" marT="18288" marB="18288">
                    <a:solidFill>
                      <a:srgbClr val="FFFFFF"/>
                    </a:solidFill>
                  </a:tcPr>
                </a:tc>
              </a:tr>
              <a:tr h="405039">
                <a:tc>
                  <a:txBody>
                    <a:bodyPr/>
                    <a:lstStyle/>
                    <a:p>
                      <a:r>
                        <a:rPr sz="1450">
                          <a:solidFill>
                            <a:srgbClr val="222222"/>
                          </a:solidFill>
                          <a:latin typeface="Calibri"/>
                        </a:rPr>
                        <a:t>2</a:t>
                      </a:r>
                    </a:p>
                  </a:txBody>
                  <a:tcPr marL="73152" marT="18288" marB="18288">
                    <a:solidFill>
                      <a:srgbClr val="EEF3F8"/>
                    </a:solidFill>
                  </a:tcPr>
                </a:tc>
                <a:tc>
                  <a:txBody>
                    <a:bodyPr/>
                    <a:lstStyle/>
                    <a:p>
                      <a:r>
                        <a:rPr sz="1450">
                          <a:solidFill>
                            <a:srgbClr val="222222"/>
                          </a:solidFill>
                          <a:latin typeface="Calibri"/>
                        </a:rPr>
                        <a:t>The SETTINGS block</a:t>
                      </a:r>
                    </a:p>
                  </a:txBody>
                  <a:tcPr marL="73152" marT="18288" marB="18288">
                    <a:solidFill>
                      <a:srgbClr val="EEF3F8"/>
                    </a:solidFill>
                  </a:tcPr>
                </a:tc>
                <a:tc>
                  <a:txBody>
                    <a:bodyPr/>
                    <a:lstStyle/>
                    <a:p>
                      <a:r>
                        <a:rPr sz="1450">
                          <a:solidFill>
                            <a:srgbClr val="222222"/>
                          </a:solidFill>
                          <a:latin typeface="Calibri"/>
                        </a:rPr>
                        <a:t>Which numbers here did you change in an earlier lesson?</a:t>
                      </a:r>
                    </a:p>
                  </a:txBody>
                  <a:tcPr marL="73152" marT="18288" marB="18288">
                    <a:solidFill>
                      <a:srgbClr val="EEF3F8"/>
                    </a:solidFill>
                  </a:tcPr>
                </a:tc>
              </a:tr>
              <a:tr h="405039">
                <a:tc>
                  <a:txBody>
                    <a:bodyPr/>
                    <a:lstStyle/>
                    <a:p>
                      <a:r>
                        <a:rPr sz="1450">
                          <a:solidFill>
                            <a:srgbClr val="222222"/>
                          </a:solidFill>
                          <a:latin typeface="Calibri"/>
                        </a:rPr>
                        <a:t>3</a:t>
                      </a:r>
                    </a:p>
                  </a:txBody>
                  <a:tcPr marL="73152" marT="18288" marB="18288">
                    <a:solidFill>
                      <a:srgbClr val="FFFFFF"/>
                    </a:solidFill>
                  </a:tcPr>
                </a:tc>
                <a:tc>
                  <a:txBody>
                    <a:bodyPr/>
                    <a:lstStyle/>
                    <a:p>
                      <a:r>
                        <a:rPr sz="1450">
                          <a:solidFill>
                            <a:srgbClr val="222222"/>
                          </a:solidFill>
                          <a:latin typeface="Calibri"/>
                        </a:rPr>
                        <a:t>The state variables and the LightPattern enum</a:t>
                      </a:r>
                    </a:p>
                  </a:txBody>
                  <a:tcPr marL="73152" marT="18288" marB="18288">
                    <a:solidFill>
                      <a:srgbClr val="FFFFFF"/>
                    </a:solidFill>
                  </a:tcPr>
                </a:tc>
                <a:tc>
                  <a:txBody>
                    <a:bodyPr/>
                    <a:lstStyle/>
                    <a:p>
                      <a:r>
                        <a:rPr sz="1450">
                          <a:solidFill>
                            <a:srgbClr val="222222"/>
                          </a:solidFill>
                          <a:latin typeface="Calibri"/>
                        </a:rPr>
                        <a:t>Which of these survive between passes of loop(), and why?</a:t>
                      </a:r>
                    </a:p>
                  </a:txBody>
                  <a:tcPr marL="73152" marT="18288" marB="18288">
                    <a:solidFill>
                      <a:srgbClr val="FFFFFF"/>
                    </a:solidFill>
                  </a:tcPr>
                </a:tc>
              </a:tr>
              <a:tr h="405039">
                <a:tc>
                  <a:txBody>
                    <a:bodyPr/>
                    <a:lstStyle/>
                    <a:p>
                      <a:r>
                        <a:rPr sz="1450">
                          <a:solidFill>
                            <a:srgbClr val="222222"/>
                          </a:solidFill>
                          <a:latin typeface="Calibri"/>
                        </a:rPr>
                        <a:t>4</a:t>
                      </a:r>
                    </a:p>
                  </a:txBody>
                  <a:tcPr marL="73152" marT="18288" marB="18288">
                    <a:solidFill>
                      <a:srgbClr val="EEF3F8"/>
                    </a:solidFill>
                  </a:tcPr>
                </a:tc>
                <a:tc>
                  <a:txBody>
                    <a:bodyPr/>
                    <a:lstStyle/>
                    <a:p>
                      <a:r>
                        <a:rPr sz="1450">
                          <a:solidFill>
                            <a:srgbClr val="222222"/>
                          </a:solidFill>
                          <a:latin typeface="Calibri"/>
                        </a:rPr>
                        <a:t>stickToSpeed(), drive() and setMotor()</a:t>
                      </a:r>
                    </a:p>
                  </a:txBody>
                  <a:tcPr marL="73152" marT="18288" marB="18288">
                    <a:solidFill>
                      <a:srgbClr val="EEF3F8"/>
                    </a:solidFill>
                  </a:tcPr>
                </a:tc>
                <a:tc>
                  <a:txBody>
                    <a:bodyPr/>
                    <a:lstStyle/>
                    <a:p>
                      <a:r>
                        <a:rPr sz="1450">
                          <a:solidFill>
                            <a:srgbClr val="222222"/>
                          </a:solidFill>
                          <a:latin typeface="Calibri"/>
                        </a:rPr>
                        <a:t>Where does the deadzone go, and where does map() stretch what is left?</a:t>
                      </a:r>
                    </a:p>
                  </a:txBody>
                  <a:tcPr marL="73152" marT="18288" marB="18288">
                    <a:solidFill>
                      <a:srgbClr val="EEF3F8"/>
                    </a:solidFill>
                  </a:tcPr>
                </a:tc>
              </a:tr>
              <a:tr h="405039">
                <a:tc>
                  <a:txBody>
                    <a:bodyPr/>
                    <a:lstStyle/>
                    <a:p>
                      <a:r>
                        <a:rPr sz="1450">
                          <a:solidFill>
                            <a:srgbClr val="222222"/>
                          </a:solidFill>
                          <a:latin typeface="Calibri"/>
                        </a:rPr>
                        <a:t>5</a:t>
                      </a:r>
                    </a:p>
                  </a:txBody>
                  <a:tcPr marL="73152" marT="18288" marB="18288">
                    <a:solidFill>
                      <a:srgbClr val="FFFFFF"/>
                    </a:solidFill>
                  </a:tcPr>
                </a:tc>
                <a:tc>
                  <a:txBody>
                    <a:bodyPr/>
                    <a:lstStyle/>
                    <a:p>
                      <a:r>
                        <a:rPr sz="1450">
                          <a:solidFill>
                            <a:srgbClr val="222222"/>
                          </a:solidFill>
                          <a:latin typeface="Calibri"/>
                        </a:rPr>
                        <a:t>setup()</a:t>
                      </a:r>
                    </a:p>
                  </a:txBody>
                  <a:tcPr marL="73152" marT="18288" marB="18288">
                    <a:solidFill>
                      <a:srgbClr val="FFFFFF"/>
                    </a:solidFill>
                  </a:tcPr>
                </a:tc>
                <a:tc>
                  <a:txBody>
                    <a:bodyPr/>
                    <a:lstStyle/>
                    <a:p>
                      <a:r>
                        <a:rPr sz="1450">
                          <a:solidFill>
                            <a:srgbClr val="222222"/>
                          </a:solidFill>
                          <a:latin typeface="Calibri"/>
                        </a:rPr>
                        <a:t>Why are the motors set up before the LEDs, and the radio last?</a:t>
                      </a:r>
                    </a:p>
                  </a:txBody>
                  <a:tcPr marL="73152" marT="18288" marB="18288">
                    <a:solidFill>
                      <a:srgbClr val="FFFFFF"/>
                    </a:solidFill>
                  </a:tcPr>
                </a:tc>
              </a:tr>
              <a:tr h="405041">
                <a:tc>
                  <a:txBody>
                    <a:bodyPr/>
                    <a:lstStyle/>
                    <a:p>
                      <a:r>
                        <a:rPr sz="1450">
                          <a:solidFill>
                            <a:srgbClr val="222222"/>
                          </a:solidFill>
                          <a:latin typeface="Calibri"/>
                        </a:rPr>
                        <a:t>6</a:t>
                      </a:r>
                    </a:p>
                  </a:txBody>
                  <a:tcPr marL="73152" marT="18288" marB="18288">
                    <a:solidFill>
                      <a:srgbClr val="EEF3F8"/>
                    </a:solidFill>
                  </a:tcPr>
                </a:tc>
                <a:tc>
                  <a:txBody>
                    <a:bodyPr/>
                    <a:lstStyle/>
                    <a:p>
                      <a:r>
                        <a:rPr sz="1450">
                          <a:solidFill>
                            <a:srgbClr val="222222"/>
                          </a:solidFill>
                          <a:latin typeface="Calibri"/>
                        </a:rPr>
                        <a:t>loop(), top to bottom</a:t>
                      </a:r>
                    </a:p>
                  </a:txBody>
                  <a:tcPr marL="73152" marT="18288" marB="18288">
                    <a:solidFill>
                      <a:srgbClr val="EEF3F8"/>
                    </a:solidFill>
                  </a:tcPr>
                </a:tc>
                <a:tc>
                  <a:txBody>
                    <a:bodyPr/>
                    <a:lstStyle/>
                    <a:p>
                      <a:r>
                        <a:rPr sz="145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881628"/>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Each is a real addition to the program you now understand. Pick one and build it.</a:t>
            </a:r>
          </a:p>
          <a:p>
            <a:pPr algn="l">
              <a:lnSpc>
                <a:spcPct val="100000"/>
              </a:lnSpc>
              <a:spcAft>
                <a:spcPts val="600"/>
              </a:spcAft>
              <a:defRPr sz="1900" b="0">
                <a:solidFill>
                  <a:srgbClr val="222222"/>
                </a:solidFill>
                <a:latin typeface="Calibri"/>
              </a:defRPr>
            </a:pPr>
            <a:r>
              <a:rPr sz="19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1900" b="0">
                <a:solidFill>
                  <a:srgbClr val="222222"/>
                </a:solidFill>
                <a:latin typeface="Calibri"/>
              </a:defRPr>
            </a:pPr>
            <a:r>
              <a:rPr sz="19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1900" b="0">
                <a:solidFill>
                  <a:srgbClr val="222222"/>
                </a:solidFill>
                <a:latin typeface="Calibri"/>
              </a:defRPr>
            </a:pPr>
            <a:r>
              <a:rPr sz="1900" b="0">
                <a:solidFill>
                  <a:srgbClr val="222222"/>
                </a:solidFill>
                <a:latin typeface="Calibri"/>
              </a:rPr>
              <a:t>AUTOMATIC LIGHTS.  Reversing beeps, hazard lights, or headlights that come on only when the vehicle is moving.</a:t>
            </a:r>
          </a:p>
          <a:p>
            <a:pPr algn="l">
              <a:lnSpc>
                <a:spcPct val="100000"/>
              </a:lnSpc>
              <a:spcAft>
                <a:spcPts val="600"/>
              </a:spcAft>
              <a:defRPr sz="1900" b="0">
                <a:solidFill>
                  <a:srgbClr val="222222"/>
                </a:solidFill>
                <a:latin typeface="Calibri"/>
              </a:defRPr>
            </a:pPr>
            <a:r>
              <a:rPr sz="19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1900" b="0">
                <a:solidFill>
                  <a:srgbClr val="222222"/>
                </a:solidFill>
                <a:latin typeface="Calibri"/>
              </a:defRPr>
            </a:pPr>
            <a:r>
              <a:rPr sz="1900" b="0">
                <a:solidFill>
                  <a:srgbClr val="222222"/>
                </a:solidFill>
                <a:latin typeface="Calibri"/>
              </a:rPr>
              <a:t>SERVO PAN AND TILT.  Two servos and a bracket, aimed with the right stick. The headers are already on the board.</a:t>
            </a:r>
          </a:p>
        </p:txBody>
      </p:sp>
      <p:sp>
        <p:nvSpPr>
          <p:cNvPr id="7" name="Rounded Rectangle 6"/>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Two of them need nothing bought at all: the list of moves needs no new parts, and the servo headers are already on the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 on the board below it</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