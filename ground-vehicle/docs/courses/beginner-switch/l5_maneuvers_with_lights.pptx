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Charged batteries and a cleared floor. Today has the most driving of any lesson in the course.</a:t>
            </a:r>
          </a:p>
          <a:p>
            <a:r>
              <a:rPr sz="1200">
                <a:latin typeface="Calibri"/>
              </a:rPr>
              <a:t>Tell them at the start that by the end they will be running the same program that leaves the factory on a finished vehicle. It changes how they read it.</a:t>
            </a:r>
          </a:p>
          <a:p>
            <a:r>
              <a:rPr sz="1200">
                <a:latin typeface="Calibri"/>
              </a:rPr>
              <a:t>If you are racing at the end, tape the course out before the class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two - write the millis() pattern from memory - is a genuine test. Come back to it in the quiz.</a:t>
            </a:r>
          </a:p>
          <a:p>
            <a:r>
              <a:rPr sz="1200">
                <a:latin typeface="Calibri"/>
              </a:rPr>
              <a:t>The last objective ties the whole term together: they calculated a speed in Lesson 2, and today they find out whether they were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minutes. Point at each lesson and get one sentence from the room rather than reading it yourself.</a:t>
            </a:r>
          </a:p>
          <a:p>
            <a:r>
              <a:rPr sz="1200">
                <a:latin typeface="Calibri"/>
              </a:rPr>
              <a:t>The note is the promise for today. Say it and then deliver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racing is at 2:35, and it will overrun if you let it - protect the last five minutes for where the course goes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distinction on the lead line is the whole lesson: delay() does not wait, it stops.</a:t>
            </a:r>
          </a:p>
          <a:p>
            <a:r>
              <a:rPr sz="1200">
                <a:latin typeface="Calibri"/>
              </a:rPr>
              <a:t>Give the concrete numbers: a turn signal every 300 ms, a scanner every 40 ms, the motors as fast as possible. Ask them to write those as delays and watch it fall apart.</a:t>
            </a:r>
          </a:p>
          <a:p>
            <a:r>
              <a:rPr sz="1200">
                <a:latin typeface="Calibri"/>
              </a:rPr>
              <a:t>The old System Test story is worth telling. A real program, a real freeze, and a real reason it was replaced.</a:t>
            </a:r>
          </a:p>
          <a:p>
            <a:r>
              <a:rPr sz="1200">
                <a:latin typeface="Calibri"/>
              </a:rPr>
              <a:t>This is the difference between something that works on the bench and something that works on a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that explains the whole of Lesson 5. Do not rush it.</a:t>
            </a:r>
          </a:p>
          <a:p>
            <a:r>
              <a:rPr sz="1200">
                <a:latin typeface="Calibri"/>
              </a:rPr>
              <a:t>Two jobs at different rates cannot both be done with delay(). Draw the two timelines on the board and let them see the collision.</a:t>
            </a:r>
          </a:p>
          <a:p>
            <a:r>
              <a:rPr sz="1200">
                <a:latin typeface="Calibri"/>
              </a:rPr>
              <a:t>millis() is not a timer you start. It is a clock that has been running since power-up, and all you ever do is subtract.</a:t>
            </a:r>
          </a:p>
          <a:p>
            <a:r>
              <a:rPr sz="1200">
                <a:latin typeface="Calibri"/>
              </a:rPr>
              <a:t>Subtracting rather than comparing is what survives the wrap at 49 days. Mention it, do not dwell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lines. Get them to copy it into a notebook, because they will write it from memory in the quiz.</a:t>
            </a:r>
          </a:p>
          <a:p>
            <a:r>
              <a:rPr sz="1200">
                <a:latin typeface="Calibri"/>
              </a:rPr>
              <a:t>millis() is not a timer you start - it has been running since power-up, and all you ever do is subtract.</a:t>
            </a:r>
          </a:p>
          <a:p>
            <a:r>
              <a:rPr sz="1200">
                <a:latin typeface="Calibri"/>
              </a:rPr>
              <a:t>Each job needs its OWN lastRun variable. That is the bit people get wrong when they first try it.</a:t>
            </a:r>
          </a:p>
          <a:p>
            <a:r>
              <a:rPr sz="1200">
                <a:latin typeface="Calibri"/>
              </a:rPr>
              <a:t>unsigned long matters: an int overflows in under an hour. Subtracting rather than comparing is also what survives the wrap at 49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loop counter is the star of this activity. Get the number written down before step 3, or the comparison means nothing.</a:t>
            </a:r>
          </a:p>
          <a:p>
            <a:r>
              <a:rPr sz="1200">
                <a:latin typeface="Calibri"/>
              </a:rPr>
              <a:t>Step 4 is the demonstration: one delay, and a counter in the tens of thousands falls to 1.</a:t>
            </a:r>
          </a:p>
          <a:p>
            <a:r>
              <a:rPr sz="1200">
                <a:latin typeface="Calibri"/>
              </a:rPr>
              <a:t>Step 6 - a third light on its own timer without touching the other two - is the proof they have understood the pattern.</a:t>
            </a:r>
          </a:p>
          <a:p>
            <a:r>
              <a:rPr sz="1200">
                <a:latin typeface="Calibri"/>
              </a:rPr>
              <a:t>Nothing moves in this one, so no blocks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 out loud: loop() runs tens of thousands of times a second, a finger holds a button for about a tenth of a second.</a:t>
            </a:r>
          </a:p>
          <a:p>
            <a:r>
              <a:rPr sz="1200">
                <a:latin typeface="Calibri"/>
              </a:rPr>
              <a:t>So one press is thousands of trips round the loop, and the naive version flips the lights thousands of times. Whether they end up on or off is luck.</a:t>
            </a:r>
          </a:p>
          <a:p>
            <a:r>
              <a:rPr sz="1200">
                <a:latin typeface="Calibri"/>
              </a:rPr>
              <a:t>The level is not the event. That sentence is worth writing on the board.</a:t>
            </a:r>
          </a:p>
          <a:p>
            <a:r>
              <a:rPr sz="1200">
                <a:latin typeface="Calibri"/>
              </a:rPr>
              <a:t>To find an edge you must remember what it was doing last time. That is the whole of justPressed().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sketch ships with a deliberately broken button next to a correct one. That is on purpose - do not let anybody fix it.</a:t>
            </a:r>
          </a:p>
          <a:p>
            <a:r>
              <a:rPr sz="1200">
                <a:latin typeface="Calibri"/>
              </a:rPr>
              <a:t>Step 4 is the moment: one press, hundreds of reported changes.</a:t>
            </a:r>
          </a:p>
          <a:p>
            <a:r>
              <a:rPr sz="1200">
                <a:latin typeface="Calibri"/>
              </a:rPr>
              <a:t>The broken version sometimes appears to work because an odd number of flips lands on the answer you wanted. Pure luck.</a:t>
            </a:r>
          </a:p>
          <a:p>
            <a:r>
              <a:rPr sz="1200">
                <a:latin typeface="Calibri"/>
              </a:rPr>
              <a:t>The &amp; in bool &amp;wasDown is a reference, so the function can update the caller's variable. Worth two minutes - it is their first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State is the word for it. A variable that survives from one pass to the next is what makes a program feel like it has a mind.</a:t>
            </a:r>
          </a:p>
          <a:p>
            <a:r>
              <a:rPr sz="1200">
                <a:latin typeface="Calibri"/>
              </a:rPr>
              <a:t>Read the six down. Ask which ones a driver can change and which the program works out for itself.</a:t>
            </a:r>
          </a:p>
          <a:p>
            <a:r>
              <a:rPr sz="1200">
                <a:latin typeface="Calibri"/>
              </a:rPr>
              <a:t>lightsChanged is the odd one out and gets its own slide next. Flag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the arithmetic: about a millisecond to push 32 LEDs out, tens of thousands of loops a second. Redrawing every pass wastes almost everything.</a:t>
            </a:r>
          </a:p>
          <a:p>
            <a:r>
              <a:rPr sz="1200">
                <a:latin typeface="Calibri"/>
              </a:rPr>
              <a:t>The dirty flag idea is worth naming properly, because it turns up in graphics engines, spreadsheets and web browsers.</a:t>
            </a:r>
          </a:p>
          <a:p>
            <a:r>
              <a:rPr sz="1200">
                <a:latin typeface="Calibri"/>
              </a:rPr>
              <a:t>Anywhere redrawing is expensive, something is keeping track of what actually changed. That is a genuinely transferable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lights are not on a button. They follow what the vehicle is already doing, which is how a real car works.</a:t>
            </a:r>
          </a:p>
          <a:p>
            <a:r>
              <a:rPr sz="1200">
                <a:latin typeface="Calibri"/>
              </a:rPr>
              <a:t>Introduce enum properly. A named list of the states something can be in, which the compiler can check and a human can read.</a:t>
            </a:r>
          </a:p>
          <a:p>
            <a:r>
              <a:rPr sz="1200">
                <a:latin typeface="Calibri"/>
              </a:rPr>
              <a:t>The else-if chain means exactly one pattern wins, and driving forward beats turning. Ask whether they agree with that priority.</a:t>
            </a:r>
          </a:p>
          <a:p>
            <a:r>
              <a:rPr sz="1200">
                <a:latin typeface="Calibri"/>
              </a:rPr>
              <a:t>The last two lines are the dirty flag again - only set it if something actually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Three of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first, every time. Then the floor.</a:t>
            </a:r>
          </a:p>
          <a:p>
            <a:r>
              <a:rPr sz="1200">
                <a:latin typeface="Calibri"/>
              </a:rPr>
              <a:t>Step 2 is the payoff for the whole term. Let them drive for a few minutes before you push them on to step 5.</a:t>
            </a:r>
          </a:p>
          <a:p>
            <a:r>
              <a:rPr sz="1200">
                <a:latin typeface="Calibri"/>
              </a:rPr>
              <a:t>Step 5 - blinking turn signals - is the exercise that proves they can use millis(). Anybody who reaches for delay() will feel the vehicle stutter immediately, which is the best possible feedback.</a:t>
            </a:r>
          </a:p>
          <a:p>
            <a:r>
              <a:rPr sz="1200">
                <a:latin typeface="Calibri"/>
              </a:rPr>
              <a:t>The amber only appears on one side because the pattern picks a side from the sign of the turn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Forty-five minutes on the real program. Have it open on the projector.</a:t>
            </a:r>
          </a:p>
          <a:p>
            <a:r>
              <a:rPr sz="1200">
                <a:latin typeface="Calibri"/>
              </a:rPr>
              <a:t>Frame it honestly: they already wrote most of this. Today is about the last few pieces and about reading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Go down the right-hand column and let them realise how much of it they recognise. That is the point of the table.</a:t>
            </a:r>
          </a:p>
          <a:p>
            <a:r>
              <a:rPr sz="1200">
                <a:latin typeface="Calibri"/>
              </a:rPr>
              <a:t>Only four rows say New today. Everything else is theirs already.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Have the pan and tilt unit on the desk if you have one. It is much more convincing in the hand.</a:t>
            </a:r>
          </a:p>
          <a:p>
            <a:r>
              <a:rPr sz="1200">
                <a:latin typeface="Calibri"/>
              </a:rPr>
              <a:t>The one-direction-per-servo scheme surprises people. Draw the stick on the board and mark which servo owns which push.</a:t>
            </a:r>
          </a:p>
          <a:p>
            <a:r>
              <a:rPr sz="1200">
                <a:latin typeface="Calibri"/>
              </a:rPr>
              <a:t>The continuous-rotation warning is the practical one. Somebody will buy the wrong kind and wonder why it never stops.</a:t>
            </a:r>
          </a:p>
          <a:p>
            <a:r>
              <a:rPr sz="1200">
                <a:latin typeface="Calibri"/>
              </a:rPr>
              <a:t>This is where the range finder goes in the projects list a few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scanner is the same idea as Lesson 4 with delay() taken out. Ask them what had to change - the answer is a lastMove variable and a millis() test.</a:t>
            </a:r>
          </a:p>
          <a:p>
            <a:r>
              <a:rPr sz="1200">
                <a:latin typeface="Calibri"/>
              </a:rPr>
              <a:t>Sharp steering is a design choice they can now evaluate rather than just accept. Ask which mode they would want by default.</a:t>
            </a:r>
          </a:p>
          <a:p>
            <a:r>
              <a:rPr sz="1200">
                <a:latin typeface="Calibri"/>
              </a:rPr>
              <a:t>The startup light show is the one place delay() is still fine, because nothing else needs to happen yet. Say why explicitly, or it looks like an inconsistency.</a:t>
            </a:r>
          </a:p>
          <a:p>
            <a:r>
              <a:rPr sz="1200">
                <a:latin typeface="Calibri"/>
              </a:rPr>
              <a:t>The SETTINGS block at the top of the file is where everything tunable lives. Show it on the projector.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the full ten minutes and stay quiet for most of it.</a:t>
            </a:r>
          </a:p>
          <a:p>
            <a:r>
              <a:rPr sz="1200">
                <a:latin typeface="Calibri"/>
              </a:rPr>
              <a:t>The order matters. Vocabulary first, then the skeleton, then the detail - the same habit the advanced course opens with.</a:t>
            </a:r>
          </a:p>
          <a:p>
            <a:r>
              <a:rPr sz="1200">
                <a:latin typeface="Calibri"/>
              </a:rPr>
              <a:t>Pass 2 is the confidence builder. They will recognise STICK_DEADZONE, MOTOR_MAX and the LED count as numbers they have already changed with their own hands.</a:t>
            </a:r>
          </a:p>
          <a:p>
            <a:r>
              <a:rPr sz="1200">
                <a:latin typeface="Calibri"/>
              </a:rPr>
              <a:t>Pass 6 is the assessment. Walk round and ask groups to point at the failsafe. Anybody who can find it has understood Lesson 3.</a:t>
            </a:r>
          </a:p>
          <a:p>
            <a:r>
              <a:rPr sz="1200">
                <a:latin typeface="Calibri"/>
              </a:rPr>
              <a:t>Collect answers out loud before moving on, one pass per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straight after the six passes, as a conversation.</a:t>
            </a:r>
          </a:p>
          <a:p>
            <a:r>
              <a:rPr sz="1200">
                <a:latin typeface="Calibri"/>
              </a:rPr>
              <a:t>Answers: the NeoPixel protocol is fussy enough to be worth a library, whereas a motor is two pins and a duty value - ledcWrite is already in the core.</a:t>
            </a:r>
          </a:p>
          <a:p>
            <a:r>
              <a:rPr sz="1200">
                <a:latin typeface="Calibri"/>
              </a:rPr>
              <a:t>The four arguments are how many pixels, which pin, the color order these parts want, and the speed they are clocked at.</a:t>
            </a:r>
          </a:p>
          <a:p>
            <a:r>
              <a:rPr sz="1200">
                <a:latin typeface="Calibri"/>
              </a:rPr>
              <a:t>The deadzone stops a stick that never quite centers from driving the vehicle. At 0 it creeps across the room on its own.</a:t>
            </a:r>
          </a:p>
          <a:p>
            <a:r>
              <a:rPr sz="1200">
                <a:latin typeface="Calibri"/>
              </a:rPr>
              <a:t>An enum because the compiler can check it and a person can read it. LIGHTS_REVERSE says what it means; 3 does not.</a:t>
            </a:r>
          </a:p>
          <a:p>
            <a:r>
              <a:rPr sz="1200">
                <a:latin typeface="Calibri"/>
              </a:rPr>
              <a:t>Four motors, and the two on a side always get the same number - that IS tank steering.</a:t>
            </a:r>
          </a:p>
          <a:p>
            <a:r>
              <a:rPr sz="1200">
                <a:latin typeface="Calibri"/>
              </a:rPr>
              <a:t>The failsafe calls drive(0, 0) and then return, which skips the whole of the rest of loop() and starts it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Last one, and it is the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2 is not optional. Read it before uploading it - that is the habit the whole course has been building.</a:t>
            </a:r>
          </a:p>
          <a:p>
            <a:r>
              <a:rPr sz="1200">
                <a:latin typeface="Calibri"/>
              </a:rPr>
              <a:t>Step 6 is the assessment: three things they have not seen, and what they do. Collect the answers, they are a good measure of the term.</a:t>
            </a:r>
          </a:p>
          <a:p>
            <a:r>
              <a:rPr sz="1200">
                <a:latin typeface="Calibri"/>
              </a:rPr>
              <a:t>The green blink means it is waiting for a controller. They saw showWaitingLights() in the code.</a:t>
            </a:r>
          </a:p>
          <a:p>
            <a:r>
              <a:rPr sz="1200">
                <a:latin typeface="Calibri"/>
              </a:rPr>
              <a:t>Give this the full thirty minutes and circulate. This is the last time they get help before the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Calibrate before racing. If you let them race first you will never get them back to the measurement.</a:t>
            </a:r>
          </a:p>
          <a:p>
            <a:r>
              <a:rPr sz="1200">
                <a:latin typeface="Calibri"/>
              </a:rPr>
              <a:t>The comparison with their Lesson 2 calculation is the whole point. Ask each group how close they were before you start the racing.</a:t>
            </a:r>
          </a:p>
          <a:p>
            <a:r>
              <a:rPr sz="1200">
                <a:latin typeface="Calibri"/>
              </a:rPr>
              <a:t>Braking by reversing is the detail that decides the drag race. Half power for a short time is usually right.</a:t>
            </a:r>
          </a:p>
          <a:p>
            <a:r>
              <a:rPr sz="1200">
                <a:latin typeface="Calibri"/>
              </a:rPr>
              <a:t>Keeping it straight is harder than going fast, because only one command runs at a time. Let them discover that.</a:t>
            </a:r>
          </a:p>
          <a:p>
            <a:r>
              <a:rPr sz="1200">
                <a:latin typeface="Calibri"/>
              </a:rPr>
              <a:t>For the course race, two seconds per cone touched keeps it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These are real projects, not filler. Each one is a genuine addition to the program they now understand.</a:t>
            </a:r>
          </a:p>
          <a:p>
            <a:r>
              <a:rPr sz="1200">
                <a:latin typeface="Calibri"/>
              </a:rPr>
              <a:t>The range finder and the servos are the two the kit already has parts for. Point that out - it is the difference between an idea and a plan.</a:t>
            </a:r>
          </a:p>
          <a:p>
            <a:r>
              <a:rPr sz="1200">
                <a:latin typeface="Calibri"/>
              </a:rPr>
              <a:t>If anybody is staying on after the course, get them to pick one today while the enthusiasm is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Show these AFTER the projects list, not before. The point is that the list is not hypothetical.</a:t>
            </a:r>
          </a:p>
          <a:p>
            <a:r>
              <a:rPr sz="1200">
                <a:latin typeface="Calibri"/>
              </a:rPr>
              <a:t>The arm is servo outputs, which they met earlier today. The range finder is one new sensor and a threshold.</a:t>
            </a:r>
          </a:p>
          <a:p>
            <a:r>
              <a:rPr sz="1200">
                <a:latin typeface="Calibri"/>
              </a:rPr>
              <a:t>Neither needed a different vehicle. That is the message.</a:t>
            </a:r>
          </a:p>
          <a:p>
            <a:r>
              <a:rPr sz="1200">
                <a:latin typeface="Calibri"/>
              </a:rPr>
              <a:t>If either is in the room, get it out and let people handle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Left column is where robotics goes. Right column is the advanced course, which is the same vehicle taken apart properly.</a:t>
            </a:r>
          </a:p>
          <a:p>
            <a:r>
              <a:rPr sz="1200">
                <a:latin typeface="Calibri"/>
              </a:rPr>
              <a:t>Everything they learned this term transfers directly. Say so - the advanced course opens by dismantling this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These are real quotes from a real panel. Say who the people are, briefly, so the names mean something.</a:t>
            </a:r>
          </a:p>
          <a:p>
            <a:r>
              <a:rPr sz="1200">
                <a:latin typeface="Calibri"/>
              </a:rPr>
              <a:t>The paragraph that matters is the last one: reading someone else's code, changing one thing at a time, measuring instead of guessing, and locating a fault. Those four habits are the job.</a:t>
            </a:r>
          </a:p>
          <a:p>
            <a:r>
              <a:rPr sz="1200">
                <a:latin typeface="Calibri"/>
              </a:rPr>
              <a:t>Finish on the line about the vehicle being the excuse. It is true, and it is the right note to end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it as a conversation, and take your time - this is the last thing they do.</a:t>
            </a:r>
          </a:p>
          <a:p>
            <a:r>
              <a:rPr sz="1200">
                <a:latin typeface="Calibri"/>
              </a:rPr>
              <a:t>Answers, in order: delay stops everything, so two different rates cannot both be served; the four-line pattern should be written out and checked; unsigned long because an int overflows in under an hour.</a:t>
            </a:r>
          </a:p>
          <a:p>
            <a:r>
              <a:rPr sz="1200">
                <a:latin typeface="Calibri"/>
              </a:rPr>
              <a:t>Edge detection catches the moment a button goes down; without it one press registers thousands of times. A dirty flag saves redrawing the strip when nothing changed.</a:t>
            </a:r>
          </a:p>
          <a:p>
            <a:r>
              <a:rPr sz="1200">
                <a:latin typeface="Calibri"/>
              </a:rPr>
              <a:t>A servo centers on a 1.5 ms pulse, sent every 20 ms.</a:t>
            </a:r>
          </a:p>
          <a:p>
            <a:r>
              <a:rPr sz="1200">
                <a:latin typeface="Calibri"/>
              </a:rPr>
              <a:t>For question 8: mechanically, one motor weaker or a wheel dragging; in software, a small turn correction added to the straight-line command.</a:t>
            </a:r>
          </a:p>
          <a:p>
            <a:r>
              <a:rPr sz="1200">
                <a:latin typeface="Calibri"/>
              </a:rPr>
              <a:t>Thank them properly, and mean the last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pathfinder_nintendoswitch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why delay() breaks a program that has to do two things at once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Write the millis() pattern from memory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Detect the edge of a button press, and say what happens without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Explain what a dirty flag saves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Drive the vehicle with its full lighting behavior running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Calibrate your vehicle's speed and race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 that predicts where the vehicle ends up.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Lesson 4  -  addressable LEDs, color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57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tour of the full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2:57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61288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A32A2A"/>
                </a:solidFill>
                <a:latin typeface="Calibri"/>
              </a:defRPr>
            </a:pPr>
            <a:r>
              <a:rPr sz="1800" b="1">
                <a:solidFill>
                  <a:srgbClr val="A32A2A"/>
                </a:solidFill>
                <a:latin typeface="Calibri"/>
              </a:rPr>
              <a:t>with delay()  -  one job, and nothing else runs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A32A2A"/>
                </a:solidFill>
                <a:latin typeface="Calibri"/>
              </a:defRPr>
            </a:pPr>
            <a:r>
              <a:rPr sz="18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63239"/>
            <a:ext cx="6400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with millis()  -  many jobs, none of them waiting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5701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68503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575303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92277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B46A0F"/>
                </a:solidFill>
                <a:latin typeface="Calibri"/>
              </a:defRPr>
            </a:pPr>
            <a:r>
              <a:rPr sz="18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405079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941063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428853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1F3A5F"/>
                </a:solidFill>
                <a:latin typeface="Calibri"/>
              </a:defRPr>
            </a:pPr>
            <a:r>
              <a:rPr sz="18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41655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4306823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654295"/>
            <a:ext cx="1600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782311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672583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5093207"/>
            <a:ext cx="85039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0E7C86"/>
                </a:solidFill>
                <a:latin typeface="Calibri"/>
              </a:defRPr>
            </a:pPr>
            <a:r>
              <a:rPr sz="18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2000">
                <a:latin typeface="Consolas"/>
              </a:defRPr>
            </a:pPr>
            <a:r>
              <a:rPr sz="20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Edge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161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538728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941064"/>
            <a:ext cx="4525238" cy="23225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if (myController-&gt;x()) lightsOn = !lightsOn;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Press the LEFT face button (marked Y on most Switch pads)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Now press the TOP face button (marked X on most Switch pads)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9038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281270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683606"/>
            <a:ext cx="4525238" cy="15800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900">
                <a:latin typeface="Consolas"/>
              </a:defRPr>
            </a:pPr>
            <a:r>
              <a:rPr sz="19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full program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Press the LEFT face button (marked Y on most Switch pads) to toggle the lights.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002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38026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782599"/>
            <a:ext cx="4525238" cy="1392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pathfinder_nintendoswitch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4418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401637"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01637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01642"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5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the servo outputs are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345753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There are four servo headers on the top plate, and the full program drives them from the RIGHT stick.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Each servo owns one direction of the stick, so one stick aims four independent things and each sits centerd when the stick is not pushed its way.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pan and tilt mount is the obvious first use: two servos, one for left and right and one for up and down, with a camera or a range finder on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Watch out for which kind you have. A standard servo takes a position, plus or minus 180 degrees. A CONTINUOUS ROTATION servo reads the same pulse as a SPEED and will just keep turning.</a:t>
            </a:r>
          </a:p>
        </p:txBody>
      </p:sp>
      <p:pic>
        <p:nvPicPr>
          <p:cNvPr id="7" name="Picture 6" descr="vehicle-with-pan-ti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433" y="1431082"/>
            <a:ext cx="4474342" cy="33557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14433" y="4841702"/>
            <a:ext cx="447434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servos, driven from opposite sides of the vehicle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Toggled with the TOP face button (marked X on most Switch pads).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turnMax is normally MOTOR_MAX / 2, which makes the vehicle easy to aim. clicking the left stick in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100"/>
              </a:spcAft>
              <a:defRPr sz="2400" b="1">
                <a:solidFill>
                  <a:srgbClr val="1F3A5F"/>
                </a:solidFill>
                <a:latin typeface="Calibri"/>
              </a:defRPr>
            </a:pPr>
            <a:r>
              <a:rPr sz="2400" b="1">
                <a:solidFill>
                  <a:srgbClr val="1F3A5F"/>
                </a:solidFill>
                <a:latin typeface="Calibri"/>
              </a:rPr>
              <a:t>Putting it all together  -  read pathfinder_nintendoswitch in six passes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Six passes, ten minutes, in your groups. Do not start at line one and read to the end - it is the slowest way in.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914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516"/>
                <a:gridCol w="4677721"/>
                <a:gridCol w="5694617"/>
              </a:tblGrid>
              <a:tr h="41637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you are reading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Ask yourself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header comment and the #includes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What does each library bring in, and which lesson met it?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SETTINGS block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numbers here did you change in an earlier lesson?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The state variables and the LightPattern enum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Which of these survive between passes of loop(), and why?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stickToSpeed(), drive() and setMotor()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Where does the deadzone go, and where does map() stretch what is left?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1637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setup()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Why are the motors set up before the LEDs, and the radio last?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1638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loop(), top to bottom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222"/>
                          </a:solidFill>
                          <a:latin typeface="Calibri"/>
                        </a:rPr>
                        <a:t>Find the failsafe, the button edges, the mixing, and the one place the lights are drawn.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same order you would use on any program you did not write: what it depends on, what it can be tuned to do, what it remembers, then how it works.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Six things to be able to explain before you upload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666666"/>
                </a:solidFill>
                <a:latin typeface="Calibri"/>
              </a:defRPr>
            </a:pPr>
            <a:r>
              <a:rPr sz="1500" b="0">
                <a:solidFill>
                  <a:srgbClr val="666666"/>
                </a:solidFill>
                <a:latin typeface="Calibri"/>
              </a:rPr>
              <a:t>You have written or read every one of these in an earlier lesson. This is the point where they are all in one file.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1.  Why does the program #include a NeoPixel library but not a motor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2.  strip(LED_COUNT, LED_PIN, NEO_GRB + NEO_KHZ800) - what is each of those four things telling the library?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3.  What is STICK_DEADZONE for, and what would the vehicle do if it were 0?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4.  enum LightPattern lists five values. Why an enum rather than the numbers 1 to 5?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5.  drive() calls setMotor() four times. Why four, and why do two of them get the same number?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6.  Find the four lines that stop the motors when the controller drops. What happens to the rest of loop() when they run?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Why delay() has to 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Two speeds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Edge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Lights from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8644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pathfinder_nintendoswitch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pathfinder_nintendoswitch.ino.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Paste your MY_CONTROLLER line into the top.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347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724896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127232"/>
            <a:ext cx="4525238" cy="10482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600" b="1">
                <a:solidFill>
                  <a:srgbClr val="1F3A5F"/>
                </a:solidFill>
                <a:latin typeface="Calibri"/>
              </a:defRPr>
            </a:pPr>
            <a:r>
              <a:rPr sz="2600" b="1">
                <a:solidFill>
                  <a:srgbClr val="1F3A5F"/>
                </a:solidFill>
                <a:latin typeface="Calibri"/>
              </a:rPr>
              <a:t>Take it further  -  projects that fit on this vehicle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of those, already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of these are the same vehicle you have been driving, with something bolted to the top plate and a few hundred lines added to the program.</a:t>
            </a:r>
          </a:p>
        </p:txBody>
      </p:sp>
      <p:pic>
        <p:nvPicPr>
          <p:cNvPr id="7" name="Picture 6" descr="vehicle-with-a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robot-arm-6do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650" y="1810512"/>
            <a:ext cx="3654201" cy="36758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gripper arm on the top plate, driven from the servo headers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same idea taken further: six joints, six servos, one program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saved to EEPROM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Straight on from here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advanced program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755648"/>
            <a:ext cx="5364327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What you have actually practiced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Nintendo Switch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6.  A servo is centerd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