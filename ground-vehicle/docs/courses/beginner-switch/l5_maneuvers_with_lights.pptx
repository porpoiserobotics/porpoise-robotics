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Point at the headers on a real board before you say anything else. Kevin caught this in the 2026-09-08 review: the slide used to put them on the top plate, and a student hunting for them up there will not find them.</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Section 2 is the confidence builder. They will recognise STICK_DEADZONE, MOTOR_MAX and the LED count as numbers they have already changed with their own hands.</a:t>
            </a:r>
          </a:p>
          <a:p>
            <a:r>
              <a:rPr sz="1200">
                <a:latin typeface="Calibri"/>
              </a:rPr>
              <a:t>Section 6 is the assessment. Walk round and ask groups to point at the failsafe. Anybody who can find it has understood Lesson 3.</a:t>
            </a:r>
          </a:p>
          <a:p>
            <a:r>
              <a:rPr sz="1200">
                <a:latin typeface="Calibri"/>
              </a:rPr>
              <a:t>Collect answers out loud before moving on, one section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sections,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pathfinder_nintendoswitch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turn-signal-righ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const unsigned long INTERVAL = 1000;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b="1">
                <a:solidFill>
                  <a:srgbClr val="0E7C86"/>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a:solidFill>
                  <a:srgbClr val="222222"/>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(myController-&gt;x())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a:t>
            </a:r>
          </a:p>
          <a:p>
            <a:pPr algn="l">
              <a:lnSpc>
                <a:spcPct val="100000"/>
              </a:lnSpc>
              <a:spcAft>
                <a:spcPts val="800"/>
              </a:spcAft>
              <a:defRPr sz="2000" b="0">
                <a:solidFill>
                  <a:srgbClr val="222222"/>
                </a:solidFill>
                <a:latin typeface="Calibri"/>
              </a:defRPr>
            </a:pPr>
            <a:r>
              <a:rPr sz="2000" b="0">
                <a:solidFill>
                  <a:srgbClr val="222222"/>
                </a:solidFill>
                <a:latin typeface="Calibri"/>
              </a:rPr>
              <a:t>2.  Press the LEFT face button (marked Y on most Switch pads) a few times. One press, one change, every time.</a:t>
            </a:r>
          </a:p>
          <a:p>
            <a:pPr algn="l">
              <a:lnSpc>
                <a:spcPct val="100000"/>
              </a:lnSpc>
              <a:spcAft>
                <a:spcPts val="800"/>
              </a:spcAft>
              <a:defRPr sz="2000" b="0">
                <a:solidFill>
                  <a:srgbClr val="222222"/>
                </a:solidFill>
                <a:latin typeface="Calibri"/>
              </a:defRPr>
            </a:pPr>
            <a:r>
              <a:rPr sz="2000" b="0">
                <a:solidFill>
                  <a:srgbClr val="222222"/>
                </a:solidFill>
                <a:latin typeface="Calibri"/>
              </a:rPr>
              <a:t>3.  Now press the TOP face button (marked X on most Switch pads) ONCE and read the Serial Monitor.</a:t>
            </a:r>
          </a:p>
          <a:p>
            <a:pPr algn="l">
              <a:lnSpc>
                <a:spcPct val="100000"/>
              </a:lnSpc>
              <a:spcAft>
                <a:spcPts val="800"/>
              </a:spcAft>
              <a:defRPr sz="2000" b="0">
                <a:solidFill>
                  <a:srgbClr val="222222"/>
                </a:solidFill>
                <a:latin typeface="Calibri"/>
              </a:defRPr>
            </a:pPr>
            <a:r>
              <a:rPr sz="2000" b="0">
                <a:solidFill>
                  <a:srgbClr val="222222"/>
                </a:solidFill>
                <a:latin typeface="Calibri"/>
              </a:rPr>
              <a:t>4.  How many times did one press register?</a:t>
            </a:r>
          </a:p>
          <a:p>
            <a:pPr algn="l">
              <a:lnSpc>
                <a:spcPct val="100000"/>
              </a:lnSpc>
              <a:spcAft>
                <a:spcPts val="800"/>
              </a:spcAft>
              <a:defRPr sz="2000" b="0">
                <a:solidFill>
                  <a:srgbClr val="222222"/>
                </a:solidFill>
                <a:latin typeface="Calibri"/>
              </a:defRPr>
            </a:pPr>
            <a:r>
              <a:rPr sz="2000" b="0">
                <a:solidFill>
                  <a:srgbClr val="222222"/>
                </a:solidFill>
                <a:latin typeface="Calibri"/>
              </a:rPr>
              <a:t>5.  Hold the good button down for five seconds. Does anything extra happen? Should it?</a:t>
            </a:r>
          </a:p>
          <a:p>
            <a:pPr algn="l">
              <a:lnSpc>
                <a:spcPct val="100000"/>
              </a:lnSpc>
              <a:spcAft>
                <a:spcPts val="800"/>
              </a:spcAft>
              <a:defRPr sz="2000" b="0">
                <a:solidFill>
                  <a:srgbClr val="222222"/>
                </a:solidFill>
                <a:latin typeface="Calibri"/>
              </a:defRPr>
            </a:pPr>
            <a:r>
              <a:rPr sz="20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4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400"/>
              </a:spcAft>
              <a:defRPr sz="1800" b="0">
                <a:solidFill>
                  <a:srgbClr val="222222"/>
                </a:solidFill>
                <a:latin typeface="Calibri"/>
              </a:defRPr>
            </a:pPr>
            <a:r>
              <a:rPr sz="1800" b="0">
                <a:solidFill>
                  <a:srgbClr val="222222"/>
                </a:solidFill>
                <a:latin typeface="Calibri"/>
              </a:rPr>
              <a:t>3.  Press the LEFT face button (marked Y on most Switch pads) to toggle the lights.</a:t>
            </a:r>
          </a:p>
          <a:p>
            <a:pPr algn="l">
              <a:lnSpc>
                <a:spcPct val="100000"/>
              </a:lnSpc>
              <a:spcAft>
                <a:spcPts val="4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4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pathfinder_nintendoswitch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centered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There are four servo headers on the MAIN CONTROL BOARD, under the top plate, and the full program drives them from the RIGHT stick. What you bolt on goes on the top plate; its leads come down to the board through the cutout.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Each servo owns one direction of the stick, so one stick aims four independent things and each sits centered when the stick is not pushed its way.</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three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the TOP face button (marked X on most Switch pads).</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75% of MOTOR_MAX - 191 of 255 - which makes it easy to aim. clicking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300" b="1">
                <a:solidFill>
                  <a:srgbClr val="1F3A5F"/>
                </a:solidFill>
                <a:latin typeface="Calibri"/>
              </a:defRPr>
            </a:pPr>
            <a:r>
              <a:rPr sz="2300" b="1">
                <a:solidFill>
                  <a:srgbClr val="1F3A5F"/>
                </a:solidFill>
                <a:latin typeface="Calibri"/>
              </a:rPr>
              <a:t>Putting it all together  -  read pathfinder_nintendoswitch in six sections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sections,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3" cy="2835275"/>
        </p:xfrm>
        <a:graphic>
          <a:graphicData uri="http://schemas.openxmlformats.org/drawingml/2006/table">
            <a:tbl>
              <a:tblPr firstRow="1" bandRow="1">
                <a:tableStyleId>{5C22544A-7EE6-4342-B048-85BDC9FD1C3A}</a:tableStyleId>
              </a:tblPr>
              <a:tblGrid>
                <a:gridCol w="1118585"/>
                <a:gridCol w="4576031"/>
                <a:gridCol w="5491237"/>
              </a:tblGrid>
              <a:tr h="405039">
                <a:tc>
                  <a:txBody>
                    <a:bodyPr/>
                    <a:lstStyle/>
                    <a:p>
                      <a:r>
                        <a:rPr sz="1450" b="1">
                          <a:solidFill>
                            <a:srgbClr val="FFFFFF"/>
                          </a:solidFill>
                          <a:latin typeface="Calibri"/>
                        </a:rPr>
                        <a:t>Section</a:t>
                      </a:r>
                    </a:p>
                  </a:txBody>
                  <a:tcPr marL="73152" marT="18288" marB="18288">
                    <a:solidFill>
                      <a:srgbClr val="1F3A5F"/>
                    </a:solidFill>
                  </a:tcPr>
                </a:tc>
                <a:tc>
                  <a:txBody>
                    <a:bodyPr/>
                    <a:lstStyle/>
                    <a:p>
                      <a:r>
                        <a:rPr sz="1450" b="1">
                          <a:solidFill>
                            <a:srgbClr val="FFFFFF"/>
                          </a:solidFill>
                          <a:latin typeface="Calibri"/>
                        </a:rPr>
                        <a:t>What you are reading</a:t>
                      </a:r>
                    </a:p>
                  </a:txBody>
                  <a:tcPr marL="73152" marT="18288" marB="18288">
                    <a:solidFill>
                      <a:srgbClr val="1F3A5F"/>
                    </a:solidFill>
                  </a:tcPr>
                </a:tc>
                <a:tc>
                  <a:txBody>
                    <a:bodyPr/>
                    <a:lstStyle/>
                    <a:p>
                      <a:r>
                        <a:rPr sz="1450" b="1">
                          <a:solidFill>
                            <a:srgbClr val="FFFFFF"/>
                          </a:solidFill>
                          <a:latin typeface="Calibri"/>
                        </a:rPr>
                        <a:t>Ask yourself</a:t>
                      </a:r>
                    </a:p>
                  </a:txBody>
                  <a:tcPr marL="73152" marT="18288" marB="18288">
                    <a:solidFill>
                      <a:srgbClr val="1F3A5F"/>
                    </a:solidFill>
                  </a:tcPr>
                </a:tc>
              </a:tr>
              <a:tr h="405039">
                <a:tc>
                  <a:txBody>
                    <a:bodyPr/>
                    <a:lstStyle/>
                    <a:p>
                      <a:r>
                        <a:rPr sz="1450">
                          <a:solidFill>
                            <a:srgbClr val="222222"/>
                          </a:solidFill>
                          <a:latin typeface="Calibri"/>
                        </a:rPr>
                        <a:t>1</a:t>
                      </a:r>
                    </a:p>
                  </a:txBody>
                  <a:tcPr marL="73152" marT="18288" marB="18288">
                    <a:solidFill>
                      <a:srgbClr val="FFFFFF"/>
                    </a:solidFill>
                  </a:tcPr>
                </a:tc>
                <a:tc>
                  <a:txBody>
                    <a:bodyPr/>
                    <a:lstStyle/>
                    <a:p>
                      <a:r>
                        <a:rPr sz="1450">
                          <a:solidFill>
                            <a:srgbClr val="222222"/>
                          </a:solidFill>
                          <a:latin typeface="Calibri"/>
                        </a:rPr>
                        <a:t>The header comment and the #includes</a:t>
                      </a:r>
                    </a:p>
                  </a:txBody>
                  <a:tcPr marL="73152" marT="18288" marB="18288">
                    <a:solidFill>
                      <a:srgbClr val="FFFFFF"/>
                    </a:solidFill>
                  </a:tcPr>
                </a:tc>
                <a:tc>
                  <a:txBody>
                    <a:bodyPr/>
                    <a:lstStyle/>
                    <a:p>
                      <a:r>
                        <a:rPr sz="1450">
                          <a:solidFill>
                            <a:srgbClr val="222222"/>
                          </a:solidFill>
                          <a:latin typeface="Calibri"/>
                        </a:rPr>
                        <a:t>What does each library bring in, and which lesson met it?</a:t>
                      </a:r>
                    </a:p>
                  </a:txBody>
                  <a:tcPr marL="73152" marT="18288" marB="18288">
                    <a:solidFill>
                      <a:srgbClr val="FFFFFF"/>
                    </a:solidFill>
                  </a:tcPr>
                </a:tc>
              </a:tr>
              <a:tr h="405039">
                <a:tc>
                  <a:txBody>
                    <a:bodyPr/>
                    <a:lstStyle/>
                    <a:p>
                      <a:r>
                        <a:rPr sz="1450">
                          <a:solidFill>
                            <a:srgbClr val="222222"/>
                          </a:solidFill>
                          <a:latin typeface="Calibri"/>
                        </a:rPr>
                        <a:t>2</a:t>
                      </a:r>
                    </a:p>
                  </a:txBody>
                  <a:tcPr marL="73152" marT="18288" marB="18288">
                    <a:solidFill>
                      <a:srgbClr val="EEF3F8"/>
                    </a:solidFill>
                  </a:tcPr>
                </a:tc>
                <a:tc>
                  <a:txBody>
                    <a:bodyPr/>
                    <a:lstStyle/>
                    <a:p>
                      <a:r>
                        <a:rPr sz="1450">
                          <a:solidFill>
                            <a:srgbClr val="222222"/>
                          </a:solidFill>
                          <a:latin typeface="Calibri"/>
                        </a:rPr>
                        <a:t>The SETTINGS block</a:t>
                      </a:r>
                    </a:p>
                  </a:txBody>
                  <a:tcPr marL="73152" marT="18288" marB="18288">
                    <a:solidFill>
                      <a:srgbClr val="EEF3F8"/>
                    </a:solidFill>
                  </a:tcPr>
                </a:tc>
                <a:tc>
                  <a:txBody>
                    <a:bodyPr/>
                    <a:lstStyle/>
                    <a:p>
                      <a:r>
                        <a:rPr sz="1450">
                          <a:solidFill>
                            <a:srgbClr val="222222"/>
                          </a:solidFill>
                          <a:latin typeface="Calibri"/>
                        </a:rPr>
                        <a:t>Which numbers here did you change in an earlier lesson?</a:t>
                      </a:r>
                    </a:p>
                  </a:txBody>
                  <a:tcPr marL="73152" marT="18288" marB="18288">
                    <a:solidFill>
                      <a:srgbClr val="EEF3F8"/>
                    </a:solidFill>
                  </a:tcPr>
                </a:tc>
              </a:tr>
              <a:tr h="405039">
                <a:tc>
                  <a:txBody>
                    <a:bodyPr/>
                    <a:lstStyle/>
                    <a:p>
                      <a:r>
                        <a:rPr sz="1450">
                          <a:solidFill>
                            <a:srgbClr val="222222"/>
                          </a:solidFill>
                          <a:latin typeface="Calibri"/>
                        </a:rPr>
                        <a:t>3</a:t>
                      </a:r>
                    </a:p>
                  </a:txBody>
                  <a:tcPr marL="73152" marT="18288" marB="18288">
                    <a:solidFill>
                      <a:srgbClr val="FFFFFF"/>
                    </a:solidFill>
                  </a:tcPr>
                </a:tc>
                <a:tc>
                  <a:txBody>
                    <a:bodyPr/>
                    <a:lstStyle/>
                    <a:p>
                      <a:r>
                        <a:rPr sz="1450">
                          <a:solidFill>
                            <a:srgbClr val="222222"/>
                          </a:solidFill>
                          <a:latin typeface="Calibri"/>
                        </a:rPr>
                        <a:t>The state variables and the LightPattern enum</a:t>
                      </a:r>
                    </a:p>
                  </a:txBody>
                  <a:tcPr marL="73152" marT="18288" marB="18288">
                    <a:solidFill>
                      <a:srgbClr val="FFFFFF"/>
                    </a:solidFill>
                  </a:tcPr>
                </a:tc>
                <a:tc>
                  <a:txBody>
                    <a:bodyPr/>
                    <a:lstStyle/>
                    <a:p>
                      <a:r>
                        <a:rPr sz="1450">
                          <a:solidFill>
                            <a:srgbClr val="222222"/>
                          </a:solidFill>
                          <a:latin typeface="Calibri"/>
                        </a:rPr>
                        <a:t>Which of these survive between passes of loop(), and why?</a:t>
                      </a:r>
                    </a:p>
                  </a:txBody>
                  <a:tcPr marL="73152" marT="18288" marB="18288">
                    <a:solidFill>
                      <a:srgbClr val="FFFFFF"/>
                    </a:solidFill>
                  </a:tcPr>
                </a:tc>
              </a:tr>
              <a:tr h="405039">
                <a:tc>
                  <a:txBody>
                    <a:bodyPr/>
                    <a:lstStyle/>
                    <a:p>
                      <a:r>
                        <a:rPr sz="1450">
                          <a:solidFill>
                            <a:srgbClr val="222222"/>
                          </a:solidFill>
                          <a:latin typeface="Calibri"/>
                        </a:rPr>
                        <a:t>4</a:t>
                      </a:r>
                    </a:p>
                  </a:txBody>
                  <a:tcPr marL="73152" marT="18288" marB="18288">
                    <a:solidFill>
                      <a:srgbClr val="EEF3F8"/>
                    </a:solidFill>
                  </a:tcPr>
                </a:tc>
                <a:tc>
                  <a:txBody>
                    <a:bodyPr/>
                    <a:lstStyle/>
                    <a:p>
                      <a:r>
                        <a:rPr sz="1450">
                          <a:solidFill>
                            <a:srgbClr val="222222"/>
                          </a:solidFill>
                          <a:latin typeface="Calibri"/>
                        </a:rPr>
                        <a:t>stickToSpeed(), drive() and setMotor()</a:t>
                      </a:r>
                    </a:p>
                  </a:txBody>
                  <a:tcPr marL="73152" marT="18288" marB="18288">
                    <a:solidFill>
                      <a:srgbClr val="EEF3F8"/>
                    </a:solidFill>
                  </a:tcPr>
                </a:tc>
                <a:tc>
                  <a:txBody>
                    <a:bodyPr/>
                    <a:lstStyle/>
                    <a:p>
                      <a:r>
                        <a:rPr sz="1450">
                          <a:solidFill>
                            <a:srgbClr val="222222"/>
                          </a:solidFill>
                          <a:latin typeface="Calibri"/>
                        </a:rPr>
                        <a:t>Where does the deadzone go, and where does map() stretch what is left?</a:t>
                      </a:r>
                    </a:p>
                  </a:txBody>
                  <a:tcPr marL="73152" marT="18288" marB="18288">
                    <a:solidFill>
                      <a:srgbClr val="EEF3F8"/>
                    </a:solidFill>
                  </a:tcPr>
                </a:tc>
              </a:tr>
              <a:tr h="405039">
                <a:tc>
                  <a:txBody>
                    <a:bodyPr/>
                    <a:lstStyle/>
                    <a:p>
                      <a:r>
                        <a:rPr sz="1450">
                          <a:solidFill>
                            <a:srgbClr val="222222"/>
                          </a:solidFill>
                          <a:latin typeface="Calibri"/>
                        </a:rPr>
                        <a:t>5</a:t>
                      </a:r>
                    </a:p>
                  </a:txBody>
                  <a:tcPr marL="73152" marT="18288" marB="18288">
                    <a:solidFill>
                      <a:srgbClr val="FFFFFF"/>
                    </a:solidFill>
                  </a:tcPr>
                </a:tc>
                <a:tc>
                  <a:txBody>
                    <a:bodyPr/>
                    <a:lstStyle/>
                    <a:p>
                      <a:r>
                        <a:rPr sz="1450">
                          <a:solidFill>
                            <a:srgbClr val="222222"/>
                          </a:solidFill>
                          <a:latin typeface="Calibri"/>
                        </a:rPr>
                        <a:t>setup()</a:t>
                      </a:r>
                    </a:p>
                  </a:txBody>
                  <a:tcPr marL="73152" marT="18288" marB="18288">
                    <a:solidFill>
                      <a:srgbClr val="FFFFFF"/>
                    </a:solidFill>
                  </a:tcPr>
                </a:tc>
                <a:tc>
                  <a:txBody>
                    <a:bodyPr/>
                    <a:lstStyle/>
                    <a:p>
                      <a:r>
                        <a:rPr sz="1450">
                          <a:solidFill>
                            <a:srgbClr val="222222"/>
                          </a:solidFill>
                          <a:latin typeface="Calibri"/>
                        </a:rPr>
                        <a:t>Why are the motors set up before the LEDs, and the radio last?</a:t>
                      </a:r>
                    </a:p>
                  </a:txBody>
                  <a:tcPr marL="73152" marT="18288" marB="18288">
                    <a:solidFill>
                      <a:srgbClr val="FFFFFF"/>
                    </a:solidFill>
                  </a:tcPr>
                </a:tc>
              </a:tr>
              <a:tr h="405041">
                <a:tc>
                  <a:txBody>
                    <a:bodyPr/>
                    <a:lstStyle/>
                    <a:p>
                      <a:r>
                        <a:rPr sz="1450">
                          <a:solidFill>
                            <a:srgbClr val="222222"/>
                          </a:solidFill>
                          <a:latin typeface="Calibri"/>
                        </a:rPr>
                        <a:t>6</a:t>
                      </a:r>
                    </a:p>
                  </a:txBody>
                  <a:tcPr marL="73152" marT="18288" marB="18288">
                    <a:solidFill>
                      <a:srgbClr val="EEF3F8"/>
                    </a:solidFill>
                  </a:tcPr>
                </a:tc>
                <a:tc>
                  <a:txBody>
                    <a:bodyPr/>
                    <a:lstStyle/>
                    <a:p>
                      <a:r>
                        <a:rPr sz="1450">
                          <a:solidFill>
                            <a:srgbClr val="222222"/>
                          </a:solidFill>
                          <a:latin typeface="Calibri"/>
                        </a:rPr>
                        <a:t>loop(), top to bottom</a:t>
                      </a:r>
                    </a:p>
                  </a:txBody>
                  <a:tcPr marL="73152" marT="18288" marB="18288">
                    <a:solidFill>
                      <a:srgbClr val="EEF3F8"/>
                    </a:solidFill>
                  </a:tcPr>
                </a:tc>
                <a:tc>
                  <a:txBody>
                    <a:bodyPr/>
                    <a:lstStyle/>
                    <a:p>
                      <a:r>
                        <a:rPr sz="145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pathfinder_nintendoswitch</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pathfinder_nintendoswitch.ino.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Paste your MY_CONTROLLER line into the top.</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 on the board below it</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centered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