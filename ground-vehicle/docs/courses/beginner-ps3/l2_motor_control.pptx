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371600"/>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slide 22. Then we clear the floor and do it properly.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Tank drive, and mixing forward with turn</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The maths: circumference, speed, distance, turn rate</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Clear the floor. Upload l2c_maneuver_square and tune it</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Sources of error, and what dead reckoning cannot do</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Brushed DC, with an H-bridge  (the Pathfinder)</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Simple, cheap, rugged, and forgiving of students.</a:t>
            </a:r>
          </a:p>
          <a:p>
            <a:pPr algn="l">
              <a:lnSpc>
                <a:spcPct val="100000"/>
              </a:lnSpc>
              <a:spcAft>
                <a:spcPts val="800"/>
              </a:spcAft>
              <a:defRPr sz="1600" b="0">
                <a:solidFill>
                  <a:srgbClr val="222222"/>
                </a:solidFill>
                <a:latin typeface="Calibri"/>
              </a:defRPr>
            </a:pPr>
            <a:r>
              <a:rPr sz="1600" b="0">
                <a:solidFill>
                  <a:srgbClr val="222222"/>
                </a:solidFill>
                <a:latin typeface="Calibri"/>
              </a:rPr>
              <a:t>Direction comes from which way current flows through it.</a:t>
            </a:r>
          </a:p>
          <a:p>
            <a:pPr algn="l">
              <a:lnSpc>
                <a:spcPct val="100000"/>
              </a:lnSpc>
              <a:spcAft>
                <a:spcPts val="800"/>
              </a:spcAft>
              <a:defRPr sz="1600" b="0">
                <a:solidFill>
                  <a:srgbClr val="222222"/>
                </a:solidFill>
                <a:latin typeface="Calibri"/>
              </a:defRPr>
            </a:pPr>
            <a:r>
              <a:rPr sz="1600" b="0">
                <a:solidFill>
                  <a:srgbClr val="222222"/>
                </a:solidFill>
                <a:latin typeface="Calibri"/>
              </a:rPr>
              <a:t>Speed comes from how much power you give it.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H-bridge driver to reverse the current. Ours are TI DRV8871 chips, one per motor.</a:t>
            </a:r>
          </a:p>
          <a:p>
            <a:pPr algn="l">
              <a:lnSpc>
                <a:spcPct val="100000"/>
              </a:lnSpc>
              <a:spcAft>
                <a:spcPts val="800"/>
              </a:spcAft>
              <a:defRPr sz="1600" b="0">
                <a:solidFill>
                  <a:srgbClr val="222222"/>
                </a:solidFill>
                <a:latin typeface="Calibri"/>
              </a:defRPr>
            </a:pPr>
            <a:r>
              <a:rPr sz="1600" b="0">
                <a:solidFill>
                  <a:srgbClr val="222222"/>
                </a:solidFill>
                <a:latin typeface="Calibri"/>
              </a:rPr>
              <a:t>Two signal wires per motor from the ESP32.</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Brushless, with an ESC</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More power for the weight, and far longer life - no brushes to wear out.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Electronic Speed Controller to energise three windings in the right order.</a:t>
            </a:r>
          </a:p>
          <a:p>
            <a:pPr algn="l">
              <a:lnSpc>
                <a:spcPct val="100000"/>
              </a:lnSpc>
              <a:spcAft>
                <a:spcPts val="800"/>
              </a:spcAft>
              <a:defRPr sz="1600" b="0">
                <a:solidFill>
                  <a:srgbClr val="222222"/>
                </a:solidFill>
                <a:latin typeface="Calibri"/>
              </a:defRPr>
            </a:pPr>
            <a:r>
              <a:rPr sz="1600" b="0">
                <a:solidFill>
                  <a:srgbClr val="222222"/>
                </a:solidFill>
                <a:latin typeface="Calibri"/>
              </a:rPr>
              <a:t>The ESC takes a throttle signal, not a direction and a speed.</a:t>
            </a:r>
          </a:p>
          <a:p>
            <a:pPr algn="l">
              <a:lnSpc>
                <a:spcPct val="100000"/>
              </a:lnSpc>
              <a:spcAft>
                <a:spcPts val="800"/>
              </a:spcAft>
              <a:defRPr sz="1600" b="0">
                <a:solidFill>
                  <a:srgbClr val="222222"/>
                </a:solidFill>
                <a:latin typeface="Calibri"/>
              </a:defRPr>
            </a:pPr>
            <a:r>
              <a:rPr sz="1600" b="0">
                <a:solidFill>
                  <a:srgbClr val="222222"/>
                </a:solidFill>
                <a:latin typeface="Calibri"/>
              </a:rPr>
              <a:t>Used on drones, and on our larger vehicles.</a:t>
            </a:r>
          </a:p>
          <a:p>
            <a:pPr algn="l">
              <a:lnSpc>
                <a:spcPct val="100000"/>
              </a:lnSpc>
              <a:spcAft>
                <a:spcPts val="800"/>
              </a:spcAft>
              <a:defRPr sz="1600" b="0">
                <a:solidFill>
                  <a:srgbClr val="222222"/>
                </a:solidFill>
                <a:latin typeface="Calibri"/>
              </a:defRPr>
            </a:pPr>
            <a:r>
              <a:rPr sz="16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floating,</a:t>
            </a:r>
          </a:p>
          <a:p>
            <a:pPr algn="ctr">
              <a:lnSpc>
                <a:spcPct val="100000"/>
              </a:lnSpc>
              <a:spcAft>
                <a:spcPts val="100"/>
              </a:spcAft>
              <a:defRPr sz="1100" b="0">
                <a:solidFill>
                  <a:srgbClr val="222222"/>
                </a:solidFill>
                <a:latin typeface="Calibri"/>
              </a:defRPr>
            </a:pPr>
            <a:r>
              <a:rPr sz="11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shorted,</a:t>
            </a:r>
          </a:p>
          <a:p>
            <a:pPr algn="ctr">
              <a:lnSpc>
                <a:spcPct val="100000"/>
              </a:lnSpc>
              <a:spcAft>
                <a:spcPts val="100"/>
              </a:spcAft>
              <a:defRPr sz="1100" b="0">
                <a:solidFill>
                  <a:srgbClr val="222222"/>
                </a:solidFill>
                <a:latin typeface="Calibri"/>
              </a:defRPr>
            </a:pPr>
            <a:r>
              <a:rPr sz="11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222222"/>
                </a:solidFill>
                <a:latin typeface="Calibri"/>
              </a:defRPr>
            </a:pPr>
            <a:r>
              <a:rPr sz="1300" b="1">
                <a:solidFill>
                  <a:srgbClr val="222222"/>
                </a:solidFill>
                <a:latin typeface="Calibri"/>
              </a:rPr>
              <a:t>MOTOR</a:t>
            </a:r>
          </a:p>
        </p:txBody>
      </p:sp>
      <p:sp>
        <p:nvSpPr>
          <p:cNvPr id="25" name="TextBox 24"/>
          <p:cNvSpPr txBox="1"/>
          <p:nvPr/>
        </p:nvSpPr>
        <p:spPr>
          <a:xfrm>
            <a:off x="2651760" y="4069080"/>
            <a:ext cx="914400" cy="640080"/>
          </a:xfrm>
          <a:prstGeom prst="rect">
            <a:avLst/>
          </a:prstGeom>
          <a:noFill/>
        </p:spPr>
        <p:txBody>
          <a:bodyPr wrap="square" lIns="0" tIns="0" rIns="0" bIns="0">
            <a:spAutoFit/>
          </a:bodyPr>
          <a:lstStyle/>
          <a:p>
            <a:pPr algn="r">
              <a:lnSpc>
                <a:spcPct val="100000"/>
              </a:lnSpc>
              <a:spcAft>
                <a:spcPts val="100"/>
              </a:spcAft>
              <a:defRPr sz="1200" b="1">
                <a:solidFill>
                  <a:srgbClr val="0E7C86"/>
                </a:solidFill>
                <a:latin typeface="Calibri"/>
              </a:defRPr>
            </a:pPr>
            <a:r>
              <a:rPr sz="1200" b="1">
                <a:solidFill>
                  <a:srgbClr val="0E7C86"/>
                </a:solidFill>
                <a:latin typeface="Calibri"/>
              </a:rPr>
              <a:t>IN1</a:t>
            </a:r>
            <a:br/>
            <a:r>
              <a:rPr sz="1200" b="1">
                <a:solidFill>
                  <a:srgbClr val="0E7C86"/>
                </a:solidFill>
                <a:latin typeface="Calibri"/>
              </a:rPr>
              <a:t>(pin A)</a:t>
            </a:r>
          </a:p>
        </p:txBody>
      </p:sp>
      <p:sp>
        <p:nvSpPr>
          <p:cNvPr id="26" name="TextBox 25"/>
          <p:cNvSpPr txBox="1"/>
          <p:nvPr/>
        </p:nvSpPr>
        <p:spPr>
          <a:xfrm>
            <a:off x="9555480" y="4069080"/>
            <a:ext cx="1005840" cy="640080"/>
          </a:xfrm>
          <a:prstGeom prst="rect">
            <a:avLst/>
          </a:prstGeom>
          <a:noFill/>
        </p:spPr>
        <p:txBody>
          <a:bodyPr wrap="square" lIns="0" tIns="0" rIns="0" bIns="0">
            <a:spAutoFit/>
          </a:bodyPr>
          <a:lstStyle/>
          <a:p>
            <a:pPr algn="l">
              <a:lnSpc>
                <a:spcPct val="100000"/>
              </a:lnSpc>
              <a:spcAft>
                <a:spcPts val="100"/>
              </a:spcAft>
              <a:defRPr sz="1200" b="1">
                <a:solidFill>
                  <a:srgbClr val="0E7C86"/>
                </a:solidFill>
                <a:latin typeface="Calibri"/>
              </a:defRPr>
            </a:pPr>
            <a:r>
              <a:rPr sz="1200" b="1">
                <a:solidFill>
                  <a:srgbClr val="0E7C86"/>
                </a:solidFill>
                <a:latin typeface="Calibri"/>
              </a:rPr>
              <a:t>IN2</a:t>
            </a:r>
            <a:br/>
            <a:r>
              <a:rPr sz="1200" b="1">
                <a:solidFill>
                  <a:srgbClr val="0E7C86"/>
                </a:solidFill>
                <a:latin typeface="Calibri"/>
              </a:rPr>
              <a:t>(pin B)</a:t>
            </a:r>
          </a:p>
        </p:txBody>
      </p:sp>
      <p:sp>
        <p:nvSpPr>
          <p:cNvPr id="27" name="TextBox 26"/>
          <p:cNvSpPr txBox="1"/>
          <p:nvPr/>
        </p:nvSpPr>
        <p:spPr>
          <a:xfrm>
            <a:off x="5989320" y="3328416"/>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 V</a:t>
            </a:r>
          </a:p>
        </p:txBody>
      </p:sp>
      <p:sp>
        <p:nvSpPr>
          <p:cNvPr id="28" name="TextBox 27"/>
          <p:cNvSpPr txBox="1"/>
          <p:nvPr/>
        </p:nvSpPr>
        <p:spPr>
          <a:xfrm>
            <a:off x="5989320" y="5449824"/>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GND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435608"/>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quarter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64)</a:t>
            </a:r>
          </a:p>
        </p:txBody>
      </p:sp>
      <p:sp>
        <p:nvSpPr>
          <p:cNvPr id="25" name="TextBox 24"/>
          <p:cNvSpPr txBox="1"/>
          <p:nvPr/>
        </p:nvSpPr>
        <p:spPr>
          <a:xfrm>
            <a:off x="502920" y="2688336"/>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half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128)</a:t>
            </a:r>
          </a:p>
        </p:txBody>
      </p:sp>
      <p:sp>
        <p:nvSpPr>
          <p:cNvPr id="44" name="TextBox 43"/>
          <p:cNvSpPr txBox="1"/>
          <p:nvPr/>
        </p:nvSpPr>
        <p:spPr>
          <a:xfrm>
            <a:off x="502920" y="3941064"/>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full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255)</a:t>
            </a:r>
          </a:p>
        </p:txBody>
      </p:sp>
      <p:sp>
        <p:nvSpPr>
          <p:cNvPr id="55" name="TextBox 54"/>
          <p:cNvSpPr txBox="1"/>
          <p:nvPr/>
        </p:nvSpPr>
        <p:spPr>
          <a:xfrm>
            <a:off x="1920240" y="5303519"/>
            <a:ext cx="7498079"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two lines you need</a:t>
            </a:r>
          </a:p>
        </p:txBody>
      </p:sp>
      <p:sp>
        <p:nvSpPr>
          <p:cNvPr id="7" name="TextBox 6"/>
          <p:cNvSpPr txBox="1"/>
          <p:nvPr/>
        </p:nvSpPr>
        <p:spPr>
          <a:xfrm>
            <a:off x="502920"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ledcAttach(pin, freq, bits);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ledcWrite(pin, duty);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board package lets you talk straight to the pin.</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numbers we use, and why</a:t>
            </a:r>
          </a:p>
        </p:txBody>
      </p:sp>
      <p:sp>
        <p:nvSpPr>
          <p:cNvPr id="9" name="TextBox 8"/>
          <p:cNvSpPr txBox="1"/>
          <p:nvPr/>
        </p:nvSpPr>
        <p:spPr>
          <a:xfrm>
            <a:off x="6324447"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1500" b="0">
                <a:solidFill>
                  <a:srgbClr val="222222"/>
                </a:solidFill>
                <a:latin typeface="Calibri"/>
              </a:defRPr>
            </a:pPr>
            <a:r>
              <a:rPr sz="1500" b="0">
                <a:solidFill>
                  <a:srgbClr val="222222"/>
                </a:solidFill>
                <a:latin typeface="Calibri"/>
              </a:rPr>
              <a:t>Resolution 8 bits. That gives duty values 0 to 255, because 2 to the power 8 is 256.</a:t>
            </a:r>
          </a:p>
          <a:p>
            <a:pPr algn="l">
              <a:lnSpc>
                <a:spcPct val="100000"/>
              </a:lnSpc>
              <a:spcAft>
                <a:spcPts val="800"/>
              </a:spcAft>
              <a:defRPr sz="1500" b="0">
                <a:solidFill>
                  <a:srgbClr val="222222"/>
                </a:solidFill>
                <a:latin typeface="Calibri"/>
              </a:defRPr>
            </a:pPr>
            <a:r>
              <a:rPr sz="1500" b="0">
                <a:solidFill>
                  <a:srgbClr val="222222"/>
                </a:solidFill>
                <a:latin typeface="Calibri"/>
              </a:rPr>
              <a:t>0 is off, 128 is about half power, 255 is flat out.</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The advanced program uses 10 bits, 0 to 1023, for finer control at low speed.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Only the FRONT LEFT motor is driven, so the vehicle cannot run away while you are still finding out what the numbers do.</a:t>
            </a:r>
          </a:p>
          <a:p>
            <a:pPr algn="l">
              <a:lnSpc>
                <a:spcPct val="100000"/>
              </a:lnSpc>
              <a:spcAft>
                <a:spcPts val="1100"/>
              </a:spcAft>
              <a:defRPr sz="1500" b="0">
                <a:solidFill>
                  <a:srgbClr val="222222"/>
                </a:solidFill>
                <a:latin typeface="Calibri"/>
              </a:defRPr>
            </a:pPr>
            <a:r>
              <a:rPr sz="1500" b="0">
                <a:solidFill>
                  <a:srgbClr val="222222"/>
                </a:solidFill>
                <a:latin typeface="Calibri"/>
              </a:rPr>
              <a:t>Direction is which pin you drive.</a:t>
            </a:r>
          </a:p>
          <a:p>
            <a:pPr algn="l">
              <a:lnSpc>
                <a:spcPct val="100000"/>
              </a:lnSpc>
              <a:spcAft>
                <a:spcPts val="1100"/>
              </a:spcAft>
              <a:defRPr sz="1500" b="0">
                <a:solidFill>
                  <a:srgbClr val="222222"/>
                </a:solidFill>
                <a:latin typeface="Calibri"/>
              </a:defRPr>
            </a:pPr>
            <a:r>
              <a:rPr sz="1500" b="0">
                <a:solidFill>
                  <a:srgbClr val="222222"/>
                </a:solidFill>
                <a:latin typeface="Calibri"/>
              </a:rPr>
              <a:t>Speed is how hard you drive it.</a:t>
            </a:r>
          </a:p>
          <a:p>
            <a:pPr algn="l">
              <a:lnSpc>
                <a:spcPct val="100000"/>
              </a:lnSpc>
              <a:spcAft>
                <a:spcPts val="1100"/>
              </a:spcAft>
              <a:defRPr sz="1500" b="0">
                <a:solidFill>
                  <a:srgbClr val="222222"/>
                </a:solidFill>
                <a:latin typeface="Calibri"/>
              </a:defRPr>
            </a:pPr>
            <a:r>
              <a:rPr sz="1500" b="0">
                <a:solidFill>
                  <a:srgbClr val="222222"/>
                </a:solidFill>
                <a:latin typeface="Calibri"/>
              </a:rPr>
              <a:t>Both off is a coast. Both ON would be a hard brake - the advanced course uses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Put the vehicle on a block. Check all four wheels spin free.</a:t>
            </a:r>
          </a:p>
          <a:p>
            <a:pPr algn="l">
              <a:lnSpc>
                <a:spcPct val="100000"/>
              </a:lnSpc>
              <a:spcAft>
                <a:spcPts val="800"/>
              </a:spcAft>
              <a:defRPr sz="1400" b="0">
                <a:solidFill>
                  <a:srgbClr val="222222"/>
                </a:solidFill>
                <a:latin typeface="Calibri"/>
              </a:defRPr>
            </a:pPr>
            <a:r>
              <a:rPr sz="1400" b="0">
                <a:solidFill>
                  <a:srgbClr val="222222"/>
                </a:solidFill>
                <a:latin typeface="Calibri"/>
              </a:rPr>
              <a:t>2.  Upload it. Watch the front left wheel and the Serial Monitor.</a:t>
            </a:r>
          </a:p>
          <a:p>
            <a:pPr algn="l">
              <a:lnSpc>
                <a:spcPct val="100000"/>
              </a:lnSpc>
              <a:spcAft>
                <a:spcPts val="800"/>
              </a:spcAft>
              <a:defRPr sz="1400" b="0">
                <a:solidFill>
                  <a:srgbClr val="222222"/>
                </a:solidFill>
                <a:latin typeface="Calibri"/>
              </a:defRPr>
            </a:pPr>
            <a:r>
              <a:rPr sz="1400" b="0">
                <a:solidFill>
                  <a:srgbClr val="222222"/>
                </a:solidFill>
                <a:latin typeface="Calibri"/>
              </a:rPr>
              <a:t>3.  Change SPEED from 200 to 60. Upload. Does the wheel still turn?</a:t>
            </a:r>
          </a:p>
          <a:p>
            <a:pPr algn="l">
              <a:lnSpc>
                <a:spcPct val="100000"/>
              </a:lnSpc>
              <a:spcAft>
                <a:spcPts val="800"/>
              </a:spcAft>
              <a:defRPr sz="1400" b="0">
                <a:solidFill>
                  <a:srgbClr val="222222"/>
                </a:solidFill>
                <a:latin typeface="Calibri"/>
              </a:defRPr>
            </a:pPr>
            <a:r>
              <a:rPr sz="14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400" b="0">
                <a:solidFill>
                  <a:srgbClr val="222222"/>
                </a:solidFill>
                <a:latin typeface="Calibri"/>
              </a:defRPr>
            </a:pPr>
            <a:r>
              <a:rPr sz="1400" b="0">
                <a:solidFill>
                  <a:srgbClr val="222222"/>
                </a:solidFill>
                <a:latin typeface="Calibri"/>
              </a:rPr>
              <a:t>5.  Swap MOTOR_PIN_A and MOTOR_PIN_B. Upload. What changed?</a:t>
            </a:r>
          </a:p>
          <a:p>
            <a:pPr algn="l">
              <a:lnSpc>
                <a:spcPct val="100000"/>
              </a:lnSpc>
              <a:spcAft>
                <a:spcPts val="800"/>
              </a:spcAft>
              <a:defRPr sz="1400" b="0">
                <a:solidFill>
                  <a:srgbClr val="222222"/>
                </a:solidFill>
                <a:latin typeface="Calibri"/>
              </a:defRPr>
            </a:pPr>
            <a:r>
              <a:rPr sz="1400" b="0">
                <a:solidFill>
                  <a:srgbClr val="222222"/>
                </a:solidFill>
                <a:latin typeface="Calibri"/>
              </a:rPr>
              <a:t>6.  Change the pins to 22 and 23. Which wheel moves now?</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Front left wheel: forward, stop, reverse, stop, repeating.</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was your minimum turning speed?</a:t>
            </a:r>
          </a:p>
          <a:p>
            <a:pPr algn="l">
              <a:lnSpc>
                <a:spcPct val="100000"/>
              </a:lnSpc>
              <a:spcAft>
                <a:spcPts val="600"/>
              </a:spcAft>
              <a:defRPr sz="1500" b="0">
                <a:solidFill>
                  <a:srgbClr val="222222"/>
                </a:solidFill>
                <a:latin typeface="Calibri"/>
              </a:defRPr>
            </a:pPr>
            <a:r>
              <a:rPr sz="1500" b="0">
                <a:solidFill>
                  <a:srgbClr val="222222"/>
                </a:solidFill>
                <a:latin typeface="Calibri"/>
              </a:rPr>
              <a:t>Compare with another group. Are they the same? Why not?</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700" b="0">
                <a:solidFill>
                  <a:srgbClr val="222222"/>
                </a:solidFill>
                <a:latin typeface="Calibri"/>
              </a:defRPr>
            </a:pPr>
            <a:r>
              <a:rPr sz="17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700" b="0">
                <a:solidFill>
                  <a:srgbClr val="222222"/>
                </a:solidFill>
                <a:latin typeface="Calibri"/>
              </a:defRPr>
            </a:pPr>
            <a:r>
              <a:rPr sz="17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You will meet the deadzone next week.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Wheels still off the ground. Upload it.</a:t>
            </a:r>
          </a:p>
          <a:p>
            <a:pPr algn="l">
              <a:lnSpc>
                <a:spcPct val="100000"/>
              </a:lnSpc>
              <a:spcAft>
                <a:spcPts val="800"/>
              </a:spcAft>
              <a:defRPr sz="1600" b="0">
                <a:solidFill>
                  <a:srgbClr val="222222"/>
                </a:solidFill>
                <a:latin typeface="Calibri"/>
              </a:defRPr>
            </a:pPr>
            <a:r>
              <a:rPr sz="1600" b="0">
                <a:solidFill>
                  <a:srgbClr val="222222"/>
                </a:solidFill>
                <a:latin typeface="Calibri"/>
              </a:rPr>
              <a:t>2.  Watch the wheels and read the Serial Monitor at the same time.</a:t>
            </a:r>
          </a:p>
          <a:p>
            <a:pPr algn="l">
              <a:lnSpc>
                <a:spcPct val="100000"/>
              </a:lnSpc>
              <a:spcAft>
                <a:spcPts val="800"/>
              </a:spcAft>
              <a:defRPr sz="1600" b="0">
                <a:solidFill>
                  <a:srgbClr val="222222"/>
                </a:solidFill>
                <a:latin typeface="Calibri"/>
              </a:defRPr>
            </a:pPr>
            <a:r>
              <a:rPr sz="1600" b="0">
                <a:solidFill>
                  <a:srgbClr val="222222"/>
                </a:solidFill>
                <a:latin typeface="Calibri"/>
              </a:rPr>
              <a:t>3.  Note the duty value at which the wheels START to turn.</a:t>
            </a:r>
          </a:p>
          <a:p>
            <a:pPr algn="l">
              <a:lnSpc>
                <a:spcPct val="100000"/>
              </a:lnSpc>
              <a:spcAft>
                <a:spcPts val="800"/>
              </a:spcAft>
              <a:defRPr sz="1600" b="0">
                <a:solidFill>
                  <a:srgbClr val="222222"/>
                </a:solidFill>
                <a:latin typeface="Calibri"/>
              </a:defRPr>
            </a:pPr>
            <a:r>
              <a:rPr sz="1600" b="0">
                <a:solidFill>
                  <a:srgbClr val="222222"/>
                </a:solidFill>
                <a:latin typeface="Calibri"/>
              </a:rPr>
              <a:t>4.  Note the value at which the sound stops changing.</a:t>
            </a:r>
          </a:p>
          <a:p>
            <a:pPr algn="l">
              <a:lnSpc>
                <a:spcPct val="100000"/>
              </a:lnSpc>
              <a:spcAft>
                <a:spcPts val="800"/>
              </a:spcAft>
              <a:defRPr sz="1600" b="0">
                <a:solidFill>
                  <a:srgbClr val="222222"/>
                </a:solidFill>
                <a:latin typeface="Calibri"/>
              </a:defRPr>
            </a:pPr>
            <a:r>
              <a:rPr sz="1600" b="0">
                <a:solidFill>
                  <a:srgbClr val="222222"/>
                </a:solidFill>
                <a:latin typeface="Calibri"/>
              </a:rPr>
              <a:t>5.  Change PWM_FREQ from 20000 to 300 and upload. LISTEN.</a:t>
            </a:r>
          </a:p>
          <a:p>
            <a:pPr algn="l">
              <a:lnSpc>
                <a:spcPct val="100000"/>
              </a:lnSpc>
              <a:spcAft>
                <a:spcPts val="800"/>
              </a:spcAft>
              <a:defRPr sz="1600" b="0">
                <a:solidFill>
                  <a:srgbClr val="222222"/>
                </a:solidFill>
                <a:latin typeface="Calibri"/>
              </a:defRPr>
            </a:pPr>
            <a:r>
              <a:rPr sz="1600" b="0">
                <a:solidFill>
                  <a:srgbClr val="222222"/>
                </a:solidFill>
                <a:latin typeface="Calibri"/>
              </a:rPr>
              <a:t>6.  Put it back to 20000.</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Is the speed proportional to the duty all the way down? Where does it stop being a straight line?</a:t>
            </a:r>
          </a:p>
          <a:p>
            <a:pPr algn="l">
              <a:lnSpc>
                <a:spcPct val="100000"/>
              </a:lnSpc>
              <a:spcAft>
                <a:spcPts val="600"/>
              </a:spcAft>
              <a:defRPr sz="1500" b="0">
                <a:solidFill>
                  <a:srgbClr val="222222"/>
                </a:solidFill>
                <a:latin typeface="Calibri"/>
              </a:defRPr>
            </a:pPr>
            <a:r>
              <a:rPr sz="15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377190"/>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200</a:t>
            </a:r>
          </a:p>
          <a:p>
            <a:pPr algn="ctr">
              <a:lnSpc>
                <a:spcPct val="100000"/>
              </a:lnSpc>
              <a:spcAft>
                <a:spcPts val="0"/>
              </a:spcAft>
              <a:defRPr sz="1300" b="0">
                <a:solidFill>
                  <a:srgbClr val="222222"/>
                </a:solidFill>
                <a:latin typeface="Consolas"/>
              </a:defRPr>
            </a:pPr>
            <a:r>
              <a:rPr sz="1300" b="0">
                <a:solidFill>
                  <a:srgbClr val="222222"/>
                </a:solidFill>
                <a:latin typeface="Consolas"/>
              </a:rPr>
              <a:t>right 200</a:t>
            </a:r>
          </a:p>
        </p:txBody>
      </p:sp>
      <p:sp>
        <p:nvSpPr>
          <p:cNvPr id="11" name="TextBox 10"/>
          <p:cNvSpPr txBox="1"/>
          <p:nvPr/>
        </p:nvSpPr>
        <p:spPr>
          <a:xfrm>
            <a:off x="502920"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260 -&gt; 255</a:t>
            </a:r>
          </a:p>
          <a:p>
            <a:pPr algn="ctr">
              <a:lnSpc>
                <a:spcPct val="100000"/>
              </a:lnSpc>
              <a:spcAft>
                <a:spcPts val="0"/>
              </a:spcAft>
              <a:defRPr sz="1300" b="0">
                <a:solidFill>
                  <a:srgbClr val="222222"/>
                </a:solidFill>
                <a:latin typeface="Consolas"/>
              </a:defRPr>
            </a:pPr>
            <a:r>
              <a:rPr sz="1300" b="0">
                <a:solidFill>
                  <a:srgbClr val="222222"/>
                </a:solidFill>
                <a:latin typeface="Consolas"/>
              </a:rPr>
              <a:t>right 140</a:t>
            </a:r>
          </a:p>
        </p:txBody>
      </p:sp>
      <p:sp>
        <p:nvSpPr>
          <p:cNvPr id="16" name="TextBox 15"/>
          <p:cNvSpPr txBox="1"/>
          <p:nvPr/>
        </p:nvSpPr>
        <p:spPr>
          <a:xfrm>
            <a:off x="3364992"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curves right</a:t>
            </a:r>
          </a:p>
          <a:p>
            <a:pPr algn="ctr">
              <a:lnSpc>
                <a:spcPct val="100000"/>
              </a:lnSpc>
              <a:spcAft>
                <a:spcPts val="100"/>
              </a:spcAft>
              <a:defRPr sz="1300" b="0">
                <a:solidFill>
                  <a:srgbClr val="222222"/>
                </a:solidFill>
                <a:latin typeface="Calibri"/>
              </a:defRPr>
            </a:pPr>
            <a:r>
              <a:rPr sz="13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127</a:t>
            </a:r>
          </a:p>
          <a:p>
            <a:pPr algn="ctr">
              <a:lnSpc>
                <a:spcPct val="100000"/>
              </a:lnSpc>
              <a:spcAft>
                <a:spcPts val="0"/>
              </a:spcAft>
              <a:defRPr sz="1300" b="0">
                <a:solidFill>
                  <a:srgbClr val="222222"/>
                </a:solidFill>
                <a:latin typeface="Consolas"/>
              </a:defRPr>
            </a:pPr>
            <a:r>
              <a:rPr sz="1300" b="0">
                <a:solidFill>
                  <a:srgbClr val="222222"/>
                </a:solidFill>
                <a:latin typeface="Consolas"/>
              </a:rPr>
              <a:t>right -127</a:t>
            </a:r>
          </a:p>
        </p:txBody>
      </p:sp>
      <p:sp>
        <p:nvSpPr>
          <p:cNvPr id="21" name="TextBox 20"/>
          <p:cNvSpPr txBox="1"/>
          <p:nvPr/>
        </p:nvSpPr>
        <p:spPr>
          <a:xfrm>
            <a:off x="6227064"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0</a:t>
            </a:r>
          </a:p>
          <a:p>
            <a:pPr algn="ctr">
              <a:lnSpc>
                <a:spcPct val="100000"/>
              </a:lnSpc>
              <a:spcAft>
                <a:spcPts val="0"/>
              </a:spcAft>
              <a:defRPr sz="1300" b="0">
                <a:solidFill>
                  <a:srgbClr val="222222"/>
                </a:solidFill>
                <a:latin typeface="Consolas"/>
              </a:defRPr>
            </a:pPr>
            <a:r>
              <a:rPr sz="1300" b="0">
                <a:solidFill>
                  <a:srgbClr val="222222"/>
                </a:solidFill>
                <a:latin typeface="Consolas"/>
              </a:rPr>
              <a:t>right 0</a:t>
            </a:r>
          </a:p>
        </p:txBody>
      </p:sp>
      <p:sp>
        <p:nvSpPr>
          <p:cNvPr id="26" name="TextBox 25"/>
          <p:cNvSpPr txBox="1"/>
          <p:nvPr/>
        </p:nvSpPr>
        <p:spPr>
          <a:xfrm>
            <a:off x="9089136"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cxnSp>
        <p:nvCxnSpPr>
          <p:cNvPr id="6" name="Connector 5"/>
          <p:cNvCxnSpPr/>
          <p:nvPr/>
        </p:nvCxnSpPr>
        <p:spPr>
          <a:xfrm flipV="1">
            <a:off x="178308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783080" y="210312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80060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783080" y="512064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27048" y="4992624"/>
            <a:ext cx="512064" cy="256032"/>
          </a:xfrm>
          <a:prstGeom prst="ellipse">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11" name="TextBox 10"/>
          <p:cNvSpPr txBox="1"/>
          <p:nvPr/>
        </p:nvSpPr>
        <p:spPr>
          <a:xfrm>
            <a:off x="411480" y="5212080"/>
            <a:ext cx="1280160" cy="274320"/>
          </a:xfrm>
          <a:prstGeom prst="rect">
            <a:avLst/>
          </a:prstGeom>
          <a:noFill/>
        </p:spPr>
        <p:txBody>
          <a:bodyPr wrap="square" lIns="0" tIns="0" rIns="0" bIns="0">
            <a:spAutoFit/>
          </a:bodyPr>
          <a:lstStyle/>
          <a:p>
            <a:pPr algn="r">
              <a:lnSpc>
                <a:spcPct val="100000"/>
              </a:lnSpc>
              <a:spcAft>
                <a:spcPts val="100"/>
              </a:spcAft>
              <a:defRPr sz="1100" b="1">
                <a:solidFill>
                  <a:srgbClr val="0E7C86"/>
                </a:solidFill>
                <a:latin typeface="Calibri"/>
              </a:defRPr>
            </a:pPr>
            <a:r>
              <a:rPr sz="1100" b="1">
                <a:solidFill>
                  <a:srgbClr val="0E7C86"/>
                </a:solidFill>
                <a:latin typeface="Calibri"/>
              </a:rPr>
              <a:t>start / finish</a:t>
            </a:r>
          </a:p>
        </p:txBody>
      </p:sp>
      <p:sp>
        <p:nvSpPr>
          <p:cNvPr id="12" name="TextBox 11"/>
          <p:cNvSpPr txBox="1"/>
          <p:nvPr/>
        </p:nvSpPr>
        <p:spPr>
          <a:xfrm>
            <a:off x="128016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3" name="TextBox 12"/>
          <p:cNvSpPr txBox="1"/>
          <p:nvPr/>
        </p:nvSpPr>
        <p:spPr>
          <a:xfrm>
            <a:off x="128016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4" name="TextBox 13"/>
          <p:cNvSpPr txBox="1"/>
          <p:nvPr/>
        </p:nvSpPr>
        <p:spPr>
          <a:xfrm>
            <a:off x="429768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5" name="TextBox 14"/>
          <p:cNvSpPr txBox="1"/>
          <p:nvPr/>
        </p:nvSpPr>
        <p:spPr>
          <a:xfrm>
            <a:off x="429768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6" name="TextBox 15"/>
          <p:cNvSpPr txBox="1"/>
          <p:nvPr/>
        </p:nvSpPr>
        <p:spPr>
          <a:xfrm>
            <a:off x="1783080" y="342900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1F3A5F"/>
                </a:solidFill>
                <a:latin typeface="Calibri"/>
              </a:defRPr>
            </a:pPr>
            <a:r>
              <a:rPr sz="1200" b="0">
                <a:solidFill>
                  <a:srgbClr val="1F3A5F"/>
                </a:solidFill>
                <a:latin typeface="Calibri"/>
              </a:rPr>
              <a:t>forward</a:t>
            </a:r>
            <a:br/>
            <a:r>
              <a:rPr sz="1200" b="0">
                <a:solidFill>
                  <a:srgbClr val="1F3A5F"/>
                </a:solidFill>
                <a:latin typeface="Calibri"/>
              </a:rPr>
              <a:t>FORWARD_MS</a:t>
            </a:r>
          </a:p>
        </p:txBody>
      </p:sp>
      <p:sp>
        <p:nvSpPr>
          <p:cNvPr id="17" name="TextBox 16"/>
          <p:cNvSpPr txBox="1"/>
          <p:nvPr/>
        </p:nvSpPr>
        <p:spPr>
          <a:xfrm>
            <a:off x="6263640" y="1325880"/>
            <a:ext cx="5120640" cy="308610"/>
          </a:xfrm>
          <a:prstGeom prst="rect">
            <a:avLst/>
          </a:prstGeom>
          <a:noFill/>
        </p:spPr>
        <p:txBody>
          <a:bodyPr wrap="square" lIns="0" tIns="0" rIns="0" bIns="0">
            <a:spAutoFit/>
          </a:bodyPr>
          <a:lstStyle/>
          <a:p>
            <a:pPr algn="l">
              <a:lnSpc>
                <a:spcPct val="100000"/>
              </a:lnSpc>
              <a:spcAft>
                <a:spcPts val="100"/>
              </a:spcAft>
              <a:defRPr sz="1400" b="1">
                <a:solidFill>
                  <a:srgbClr val="0E7C86"/>
                </a:solidFill>
                <a:latin typeface="Calibri"/>
              </a:defRPr>
            </a:pPr>
            <a:r>
              <a:rPr sz="1400" b="1">
                <a:solidFill>
                  <a:srgbClr val="0E7C86"/>
                </a:solidFill>
                <a:latin typeface="Calibri"/>
              </a:rPr>
              <a:t>The two equations</a:t>
            </a:r>
          </a:p>
        </p:txBody>
      </p:sp>
      <p:sp>
        <p:nvSpPr>
          <p:cNvPr id="18" name="Rectangle 17"/>
          <p:cNvSpPr/>
          <p:nvPr/>
        </p:nvSpPr>
        <p:spPr>
          <a:xfrm>
            <a:off x="6263640" y="1737360"/>
            <a:ext cx="5120640"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19" name="TextBox 18"/>
          <p:cNvSpPr txBox="1"/>
          <p:nvPr/>
        </p:nvSpPr>
        <p:spPr>
          <a:xfrm>
            <a:off x="6263640" y="2880360"/>
            <a:ext cx="5120640" cy="2005965"/>
          </a:xfrm>
          <a:prstGeom prst="rect">
            <a:avLst/>
          </a:prstGeom>
          <a:noFill/>
        </p:spPr>
        <p:txBody>
          <a:bodyPr wrap="square" lIns="0" tIns="0" rIns="0" bIns="0">
            <a:spAutoFit/>
          </a:bodyPr>
          <a:lstStyle/>
          <a:p>
            <a:pPr algn="l">
              <a:lnSpc>
                <a:spcPct val="100000"/>
              </a:lnSpc>
              <a:spcAft>
                <a:spcPts val="100"/>
              </a:spcAft>
              <a:defRPr sz="1300" b="0">
                <a:solidFill>
                  <a:srgbClr val="222222"/>
                </a:solidFill>
                <a:latin typeface="Calibri"/>
              </a:defRPr>
            </a:pPr>
            <a:r>
              <a:rPr sz="1300" b="0">
                <a:solidFill>
                  <a:srgbClr val="222222"/>
                </a:solidFill>
                <a:latin typeface="Calibri"/>
              </a:rPr>
              <a:t>You know the time - you wrote it in the delay().</a:t>
            </a:r>
          </a:p>
          <a:p>
            <a:pPr algn="l">
              <a:lnSpc>
                <a:spcPct val="100000"/>
              </a:lnSpc>
              <a:spcAft>
                <a:spcPts val="100"/>
              </a:spcAft>
              <a:defRPr sz="1300" b="0">
                <a:solidFill>
                  <a:srgbClr val="222222"/>
                </a:solidFill>
                <a:latin typeface="Calibri"/>
              </a:defRPr>
            </a:pPr>
            <a:r>
              <a:rPr sz="1300" b="0">
                <a:solidFill>
                  <a:srgbClr val="222222"/>
                </a:solidFill>
                <a:latin typeface="Calibri"/>
              </a:rPr>
              <a:t>You have to MEASURE the speed and the turn rate.</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wheel circumference = pi x 3.0 in = 9.42 in</a:t>
            </a:r>
          </a:p>
          <a:p>
            <a:pPr algn="l">
              <a:lnSpc>
                <a:spcPct val="100000"/>
              </a:lnSpc>
              <a:spcAft>
                <a:spcPts val="100"/>
              </a:spcAft>
              <a:defRPr sz="1300" b="0">
                <a:solidFill>
                  <a:srgbClr val="222222"/>
                </a:solidFill>
                <a:latin typeface="Calibri"/>
              </a:defRPr>
            </a:pPr>
            <a:r>
              <a:rPr sz="1300" b="0">
                <a:solidFill>
                  <a:srgbClr val="222222"/>
                </a:solidFill>
                <a:latin typeface="Calibri"/>
              </a:rPr>
              <a:t>one wheel turn = 9.42 / 12 = 0.79 ft</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Then: drive it, measure the side, divide by the</a:t>
            </a:r>
          </a:p>
          <a:p>
            <a:pPr algn="l">
              <a:lnSpc>
                <a:spcPct val="100000"/>
              </a:lnSpc>
              <a:spcAft>
                <a:spcPts val="100"/>
              </a:spcAft>
              <a:defRPr sz="1300" b="0">
                <a:solidFill>
                  <a:srgbClr val="222222"/>
                </a:solidFill>
                <a:latin typeface="Calibri"/>
              </a:defRPr>
            </a:pPr>
            <a:r>
              <a:rPr sz="1300" b="0">
                <a:solidFill>
                  <a:srgbClr val="222222"/>
                </a:solidFill>
                <a:latin typeface="Calibri"/>
              </a:rPr>
              <a:t>time, and you have feet per second for YOUR</a:t>
            </a:r>
          </a:p>
          <a:p>
            <a:pPr algn="l">
              <a:lnSpc>
                <a:spcPct val="100000"/>
              </a:lnSpc>
              <a:spcAft>
                <a:spcPts val="100"/>
              </a:spcAft>
              <a:defRPr sz="1300" b="0">
                <a:solidFill>
                  <a:srgbClr val="222222"/>
                </a:solidFill>
                <a:latin typeface="Calibri"/>
              </a:defRPr>
            </a:pPr>
            <a:r>
              <a:rPr sz="1300" b="0">
                <a:solidFill>
                  <a:srgbClr val="222222"/>
                </a:solidFill>
                <a:latin typeface="Calibri"/>
              </a:rPr>
              <a:t>vehicle on THIS floor with THIS battery charge.</a:t>
            </a:r>
          </a:p>
        </p:txBody>
      </p:sp>
      <p:sp>
        <p:nvSpPr>
          <p:cNvPr id="20" name="Rounded Rectangle 1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The for loop is three things in one line: where to start, when to keep going, and what to change each pass.</a:t>
            </a:r>
          </a:p>
          <a:p>
            <a:pPr algn="l">
              <a:lnSpc>
                <a:spcPct val="100000"/>
              </a:lnSpc>
              <a:spcAft>
                <a:spcPts val="1100"/>
              </a:spcAft>
              <a:defRPr sz="1500" b="0">
                <a:solidFill>
                  <a:srgbClr val="222222"/>
                </a:solidFill>
                <a:latin typeface="Calibri"/>
              </a:defRPr>
            </a:pPr>
            <a:r>
              <a:rPr sz="1500" b="0">
                <a:solidFill>
                  <a:srgbClr val="222222"/>
                </a:solidFill>
                <a:latin typeface="Calibri"/>
              </a:rPr>
              <a:t>A while loop can run zero times. That is usually what you want when you are waiting for something.</a:t>
            </a:r>
          </a:p>
          <a:p>
            <a:pPr algn="l">
              <a:lnSpc>
                <a:spcPct val="100000"/>
              </a:lnSpc>
              <a:spcAft>
                <a:spcPts val="1100"/>
              </a:spcAft>
              <a:defRPr sz="1500" b="0">
                <a:solidFill>
                  <a:srgbClr val="222222"/>
                </a:solidFill>
                <a:latin typeface="Calibri"/>
              </a:defRPr>
            </a:pPr>
            <a:r>
              <a:rPr sz="1500" b="0">
                <a:solidFill>
                  <a:srgbClr val="222222"/>
                </a:solidFill>
                <a:latin typeface="Calibri"/>
              </a:rPr>
              <a:t>A do-while always runs once before it checks. Useful when the test needs a value you have not got yet.</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loop() itself is really a while(true) that the Arduino framework writes for you.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A for loop repeats a block a fixed number of times. Four sides, four corners.</a:t>
            </a:r>
          </a:p>
          <a:p>
            <a:pPr algn="l">
              <a:lnSpc>
                <a:spcPct val="100000"/>
              </a:lnSpc>
              <a:spcAft>
                <a:spcPts val="1100"/>
              </a:spcAft>
              <a:defRPr sz="1500" b="0">
                <a:solidFill>
                  <a:srgbClr val="222222"/>
                </a:solidFill>
                <a:latin typeface="Calibri"/>
              </a:defRPr>
            </a:pPr>
            <a:r>
              <a:rPr sz="1500" b="0">
                <a:solidFill>
                  <a:srgbClr val="222222"/>
                </a:solidFill>
                <a:latin typeface="Calibri"/>
              </a:rPr>
              <a:t>The whole shape is four numbers: DRIVE_SPEED, TURN_SPEED, FORWARD_MS and TURN_MS.</a:t>
            </a:r>
          </a:p>
          <a:p>
            <a:pPr algn="l">
              <a:lnSpc>
                <a:spcPct val="100000"/>
              </a:lnSpc>
              <a:spcAft>
                <a:spcPts val="1100"/>
              </a:spcAft>
              <a:defRPr sz="1500" b="0">
                <a:solidFill>
                  <a:srgbClr val="222222"/>
                </a:solidFill>
                <a:latin typeface="Calibri"/>
              </a:defRPr>
            </a:pPr>
            <a:r>
              <a:rPr sz="1500" b="0">
                <a:solidFill>
                  <a:srgbClr val="222222"/>
                </a:solidFill>
                <a:latin typeface="Calibri"/>
              </a:rPr>
              <a:t>TURN_MS is the one you will spend most of your time on. It sets how far round each corner goes.</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Clear a space about three metres square. Bags and feet out.</a:t>
            </a:r>
          </a:p>
          <a:p>
            <a:pPr algn="l">
              <a:lnSpc>
                <a:spcPct val="100000"/>
              </a:lnSpc>
              <a:spcAft>
                <a:spcPts val="800"/>
              </a:spcAft>
              <a:defRPr sz="1400" b="0">
                <a:solidFill>
                  <a:srgbClr val="222222"/>
                </a:solidFill>
                <a:latin typeface="Calibri"/>
              </a:defRPr>
            </a:pPr>
            <a:r>
              <a:rPr sz="1400" b="0">
                <a:solidFill>
                  <a:srgbClr val="222222"/>
                </a:solidFill>
                <a:latin typeface="Calibri"/>
              </a:rPr>
              <a:t>2.  Mark the starting point with a piece of tape.</a:t>
            </a:r>
          </a:p>
          <a:p>
            <a:pPr algn="l">
              <a:lnSpc>
                <a:spcPct val="100000"/>
              </a:lnSpc>
              <a:spcAft>
                <a:spcPts val="800"/>
              </a:spcAft>
              <a:defRPr sz="1400" b="0">
                <a:solidFill>
                  <a:srgbClr val="222222"/>
                </a:solidFill>
                <a:latin typeface="Calibri"/>
              </a:defRPr>
            </a:pPr>
            <a:r>
              <a:rPr sz="1400" b="0">
                <a:solidFill>
                  <a:srgbClr val="222222"/>
                </a:solidFill>
                <a:latin typeface="Calibri"/>
              </a:rPr>
              <a:t>3.  Upload. It waits five seconds, then goes.</a:t>
            </a:r>
          </a:p>
          <a:p>
            <a:pPr algn="l">
              <a:lnSpc>
                <a:spcPct val="100000"/>
              </a:lnSpc>
              <a:spcAft>
                <a:spcPts val="800"/>
              </a:spcAft>
              <a:defRPr sz="1400" b="0">
                <a:solidFill>
                  <a:srgbClr val="222222"/>
                </a:solidFill>
                <a:latin typeface="Calibri"/>
              </a:defRPr>
            </a:pPr>
            <a:r>
              <a:rPr sz="1400" b="0">
                <a:solidFill>
                  <a:srgbClr val="222222"/>
                </a:solidFill>
                <a:latin typeface="Calibri"/>
              </a:rPr>
              <a:t>4.  MEASURE one side of the square it actually drove.</a:t>
            </a:r>
          </a:p>
          <a:p>
            <a:pPr algn="l">
              <a:lnSpc>
                <a:spcPct val="100000"/>
              </a:lnSpc>
              <a:spcAft>
                <a:spcPts val="800"/>
              </a:spcAft>
              <a:defRPr sz="1400" b="0">
                <a:solidFill>
                  <a:srgbClr val="222222"/>
                </a:solidFill>
                <a:latin typeface="Calibri"/>
              </a:defRPr>
            </a:pPr>
            <a:r>
              <a:rPr sz="1400" b="0">
                <a:solidFill>
                  <a:srgbClr val="222222"/>
                </a:solidFill>
                <a:latin typeface="Calibri"/>
              </a:rPr>
              <a:t>5.  Work out the speed:  side length / (FORWARD_MS / 1000)</a:t>
            </a:r>
          </a:p>
          <a:p>
            <a:pPr algn="l">
              <a:lnSpc>
                <a:spcPct val="100000"/>
              </a:lnSpc>
              <a:spcAft>
                <a:spcPts val="800"/>
              </a:spcAft>
              <a:defRPr sz="1400" b="0">
                <a:solidFill>
                  <a:srgbClr val="222222"/>
                </a:solidFill>
                <a:latin typeface="Calibri"/>
              </a:defRPr>
            </a:pPr>
            <a:r>
              <a:rPr sz="14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400" b="0">
                <a:solidFill>
                  <a:srgbClr val="222222"/>
                </a:solidFill>
                <a:latin typeface="Calibri"/>
              </a:defRPr>
            </a:pPr>
            <a:r>
              <a:rPr sz="1400" b="0">
                <a:solidFill>
                  <a:srgbClr val="222222"/>
                </a:solidFill>
                <a:latin typeface="Calibri"/>
              </a:rPr>
              <a:t>7.  Now change FORWARD_MS and PREDICT the new square before running it. How close were you?</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Roughly a square. Roughly.</a:t>
            </a:r>
          </a:p>
          <a:p>
            <a:pPr algn="l">
              <a:lnSpc>
                <a:spcPct val="100000"/>
              </a:lnSpc>
              <a:spcAft>
                <a:spcPts val="600"/>
              </a:spcAft>
              <a:defRPr sz="1500" b="0">
                <a:solidFill>
                  <a:srgbClr val="222222"/>
                </a:solidFill>
                <a:latin typeface="Calibri"/>
              </a:defRPr>
            </a:pPr>
            <a:r>
              <a:rPr sz="1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your vehicle's speed in feet per second?</a:t>
            </a:r>
          </a:p>
          <a:p>
            <a:pPr algn="l">
              <a:lnSpc>
                <a:spcPct val="100000"/>
              </a:lnSpc>
              <a:spcAft>
                <a:spcPts val="600"/>
              </a:spcAft>
              <a:defRPr sz="1500" b="0">
                <a:solidFill>
                  <a:srgbClr val="222222"/>
                </a:solidFill>
                <a:latin typeface="Calibri"/>
              </a:defRPr>
            </a:pPr>
            <a:r>
              <a:rPr sz="15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1500" b="0">
                <a:solidFill>
                  <a:srgbClr val="222222"/>
                </a:solidFill>
                <a:latin typeface="Calibri"/>
              </a:defRPr>
            </a:pPr>
            <a:r>
              <a:rPr sz="1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It DRIFTS. Every small error accumulates, and nothing ever corrects it. Errors in your square come from:</a:t>
            </a:r>
          </a:p>
          <a:p>
            <a:pPr lvl="1" algn="l">
              <a:lnSpc>
                <a:spcPct val="100000"/>
              </a:lnSpc>
              <a:spcAft>
                <a:spcPts val="600"/>
              </a:spcAft>
              <a:defRPr sz="1500" b="0">
                <a:solidFill>
                  <a:srgbClr val="222222"/>
                </a:solidFill>
                <a:latin typeface="Calibri"/>
              </a:defRPr>
            </a:pPr>
            <a:r>
              <a:rPr sz="1500" b="0">
                <a:solidFill>
                  <a:srgbClr val="222222"/>
                </a:solidFill>
                <a:latin typeface="Calibri"/>
              </a:rPr>
              <a:t>Battery charge - a fresher pack drives further in the same time</a:t>
            </a:r>
          </a:p>
          <a:p>
            <a:pPr lvl="1" algn="l">
              <a:lnSpc>
                <a:spcPct val="100000"/>
              </a:lnSpc>
              <a:spcAft>
                <a:spcPts val="600"/>
              </a:spcAft>
              <a:defRPr sz="1500" b="0">
                <a:solidFill>
                  <a:srgbClr val="222222"/>
                </a:solidFill>
                <a:latin typeface="Calibri"/>
              </a:defRPr>
            </a:pPr>
            <a:r>
              <a:rPr sz="1500" b="0">
                <a:solidFill>
                  <a:srgbClr val="222222"/>
                </a:solidFill>
                <a:latin typeface="Calibri"/>
              </a:rPr>
              <a:t>Floor surface - carpet, tile and concrete all differ</a:t>
            </a:r>
          </a:p>
          <a:p>
            <a:pPr lvl="1" algn="l">
              <a:lnSpc>
                <a:spcPct val="100000"/>
              </a:lnSpc>
              <a:spcAft>
                <a:spcPts val="600"/>
              </a:spcAft>
              <a:defRPr sz="1500" b="0">
                <a:solidFill>
                  <a:srgbClr val="222222"/>
                </a:solidFill>
                <a:latin typeface="Calibri"/>
              </a:defRPr>
            </a:pPr>
            <a:r>
              <a:rPr sz="1500" b="0">
                <a:solidFill>
                  <a:srgbClr val="222222"/>
                </a:solidFill>
                <a:latin typeface="Calibri"/>
              </a:rPr>
              <a:t>Wheel slip during the turns, which skid steering guarantees</a:t>
            </a:r>
          </a:p>
          <a:p>
            <a:pPr lvl="1" algn="l">
              <a:lnSpc>
                <a:spcPct val="100000"/>
              </a:lnSpc>
              <a:spcAft>
                <a:spcPts val="600"/>
              </a:spcAft>
              <a:defRPr sz="1500" b="0">
                <a:solidFill>
                  <a:srgbClr val="222222"/>
                </a:solidFill>
                <a:latin typeface="Calibri"/>
              </a:defRPr>
            </a:pPr>
            <a:r>
              <a:rPr sz="1500" b="0">
                <a:solidFill>
                  <a:srgbClr val="222222"/>
                </a:solidFill>
                <a:latin typeface="Calibri"/>
              </a:rPr>
              <a:t>Motors that are not perfectly matched to each other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week and the week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this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24</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Watch</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300" b="0">
                <a:solidFill>
                  <a:srgbClr val="222222"/>
                </a:solidFill>
                <a:latin typeface="Calibri"/>
              </a:defRPr>
            </a:pPr>
            <a:r>
              <a:rPr sz="1300" b="0">
                <a:solidFill>
                  <a:srgbClr val="222222"/>
                </a:solidFill>
                <a:latin typeface="Calibri"/>
              </a:rPr>
              <a:t>How PWM works, controlling a motor   (10:10)</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youtube.com/watch?v=5nwNKPs2gco</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Arduino DC motor control   (11:44)</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youtube.com/watch?v=HtbCL2NruUY</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Motor speed tutorial with PWM motors   (17:33)</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youtube.com/watch?v=UPTU6nYSaMo</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Loops in C   (video)</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youtube.com/watch?v=b4DPj0XAfSg</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Read</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Loops in C, worked through properly</a:t>
            </a:r>
          </a:p>
          <a:p>
            <a:pPr lvl="1" algn="l">
              <a:lnSpc>
                <a:spcPct val="100000"/>
              </a:lnSpc>
              <a:spcAft>
                <a:spcPts val="800"/>
              </a:spcAft>
              <a:defRPr sz="1500" b="0">
                <a:solidFill>
                  <a:srgbClr val="222222"/>
                </a:solidFill>
                <a:latin typeface="Calibri"/>
              </a:defRPr>
            </a:pPr>
            <a:r>
              <a:rPr sz="1500" b="0">
                <a:solidFill>
                  <a:srgbClr val="222222"/>
                </a:solidFill>
                <a:latin typeface="Calibri"/>
              </a:rPr>
              <a:t>geeksforgeeks.org/c/c-loops/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Control structures - loops and conditionals</a:t>
            </a:r>
          </a:p>
          <a:p>
            <a:pPr lvl="1" algn="l">
              <a:lnSpc>
                <a:spcPct val="100000"/>
              </a:lnSpc>
              <a:spcAft>
                <a:spcPts val="800"/>
              </a:spcAft>
              <a:defRPr sz="1500" b="0">
                <a:solidFill>
                  <a:srgbClr val="222222"/>
                </a:solidFill>
                <a:latin typeface="Calibri"/>
              </a:defRPr>
            </a:pPr>
            <a:r>
              <a:rPr sz="1500" b="0">
                <a:solidFill>
                  <a:srgbClr val="222222"/>
                </a:solidFill>
                <a:latin typeface="Calibri"/>
              </a:rPr>
              <a:t>cplusplus.com/doc/tutorial/control/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Functions</a:t>
            </a:r>
          </a:p>
          <a:p>
            <a:pPr lvl="1" algn="l">
              <a:lnSpc>
                <a:spcPct val="100000"/>
              </a:lnSpc>
              <a:spcAft>
                <a:spcPts val="800"/>
              </a:spcAft>
              <a:defRPr sz="1500" b="0">
                <a:solidFill>
                  <a:srgbClr val="222222"/>
                </a:solidFill>
                <a:latin typeface="Calibri"/>
              </a:defRPr>
            </a:pPr>
            <a:r>
              <a:rPr sz="1500" b="0">
                <a:solidFill>
                  <a:srgbClr val="222222"/>
                </a:solidFill>
                <a:latin typeface="Calibri"/>
              </a:rPr>
              <a:t>cplusplus.com/doc/tutorial/functions/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Why does each motor need two pins instead of one?</a:t>
            </a:r>
          </a:p>
          <a:p>
            <a:pPr algn="l">
              <a:lnSpc>
                <a:spcPct val="100000"/>
              </a:lnSpc>
              <a:spcAft>
                <a:spcPts val="1400"/>
              </a:spcAft>
              <a:defRPr sz="1700" b="0">
                <a:solidFill>
                  <a:srgbClr val="222222"/>
                </a:solidFill>
                <a:latin typeface="Calibri"/>
              </a:defRPr>
            </a:pPr>
            <a:r>
              <a:rPr sz="1700" b="0">
                <a:solidFill>
                  <a:srgbClr val="222222"/>
                </a:solidFill>
                <a:latin typeface="Calibri"/>
              </a:rPr>
              <a:t>2.  A pin can only be on or off. Explain in one sentence how the vehicle gets a half speed.</a:t>
            </a:r>
          </a:p>
          <a:p>
            <a:pPr algn="l">
              <a:lnSpc>
                <a:spcPct val="100000"/>
              </a:lnSpc>
              <a:spcAft>
                <a:spcPts val="1400"/>
              </a:spcAft>
              <a:defRPr sz="1700" b="0">
                <a:solidFill>
                  <a:srgbClr val="222222"/>
                </a:solidFill>
                <a:latin typeface="Calibri"/>
              </a:defRPr>
            </a:pPr>
            <a:r>
              <a:rPr sz="1700" b="0">
                <a:solidFill>
                  <a:srgbClr val="222222"/>
                </a:solidFill>
                <a:latin typeface="Calibri"/>
              </a:rPr>
              <a:t>3.  What duty value is 25% of full power at 8-bit resolution?</a:t>
            </a:r>
          </a:p>
          <a:p>
            <a:pPr algn="l">
              <a:lnSpc>
                <a:spcPct val="100000"/>
              </a:lnSpc>
              <a:spcAft>
                <a:spcPts val="1400"/>
              </a:spcAft>
              <a:defRPr sz="1700" b="0">
                <a:solidFill>
                  <a:srgbClr val="222222"/>
                </a:solidFill>
                <a:latin typeface="Calibri"/>
              </a:defRPr>
            </a:pPr>
            <a:r>
              <a:rPr sz="1700" b="0">
                <a:solidFill>
                  <a:srgbClr val="222222"/>
                </a:solidFill>
                <a:latin typeface="Calibri"/>
              </a:rPr>
              <a:t>4.  Why do we switch at 20 kHz rather than 300 Hz?</a:t>
            </a:r>
          </a:p>
          <a:p>
            <a:pPr algn="l">
              <a:lnSpc>
                <a:spcPct val="100000"/>
              </a:lnSpc>
              <a:spcAft>
                <a:spcPts val="1400"/>
              </a:spcAft>
              <a:defRPr sz="1700" b="0">
                <a:solidFill>
                  <a:srgbClr val="222222"/>
                </a:solidFill>
                <a:latin typeface="Calibri"/>
              </a:defRPr>
            </a:pPr>
            <a:r>
              <a:rPr sz="1700" b="0">
                <a:solidFill>
                  <a:srgbClr val="222222"/>
                </a:solidFill>
                <a:latin typeface="Calibri"/>
              </a:rPr>
              <a:t>5.  The left wheels get 200 and the right wheels get -200. What does the vehicle do?</a:t>
            </a:r>
          </a:p>
          <a:p>
            <a:pPr algn="l">
              <a:lnSpc>
                <a:spcPct val="100000"/>
              </a:lnSpc>
              <a:spcAft>
                <a:spcPts val="1400"/>
              </a:spcAft>
              <a:defRPr sz="1700" b="0">
                <a:solidFill>
                  <a:srgbClr val="222222"/>
                </a:solidFill>
                <a:latin typeface="Calibri"/>
              </a:defRPr>
            </a:pPr>
            <a:r>
              <a:rPr sz="1700" b="0">
                <a:solidFill>
                  <a:srgbClr val="222222"/>
                </a:solidFill>
                <a:latin typeface="Calibri"/>
              </a:rPr>
              <a:t>6.  Your wheel is 3 inches across. How far does the vehicle travel in one wheel turn?</a:t>
            </a:r>
          </a:p>
          <a:p>
            <a:pPr algn="l">
              <a:lnSpc>
                <a:spcPct val="100000"/>
              </a:lnSpc>
              <a:spcAft>
                <a:spcPts val="1400"/>
              </a:spcAft>
              <a:defRPr sz="1700" b="0">
                <a:solidFill>
                  <a:srgbClr val="222222"/>
                </a:solidFill>
                <a:latin typeface="Calibri"/>
              </a:defRPr>
            </a:pPr>
            <a:r>
              <a:rPr sz="1700" b="0">
                <a:solidFill>
                  <a:srgbClr val="222222"/>
                </a:solidFill>
                <a:latin typeface="Calibri"/>
              </a:rPr>
              <a:t>7.  Your square comes out as a rectangle. Which number is wrong, and which way should you change it?</a:t>
            </a:r>
          </a:p>
          <a:p>
            <a:pPr algn="l">
              <a:lnSpc>
                <a:spcPct val="100000"/>
              </a:lnSpc>
              <a:spcAft>
                <a:spcPts val="1400"/>
              </a:spcAft>
              <a:defRPr sz="1700" b="0">
                <a:solidFill>
                  <a:srgbClr val="222222"/>
                </a:solidFill>
                <a:latin typeface="Calibri"/>
              </a:defRPr>
            </a:pPr>
            <a:r>
              <a:rPr sz="17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