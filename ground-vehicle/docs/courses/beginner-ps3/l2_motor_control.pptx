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3755029"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two lines you need</a:t>
            </a:r>
          </a:p>
        </p:txBody>
      </p:sp>
      <p:sp>
        <p:nvSpPr>
          <p:cNvPr id="7" name="TextBox 6"/>
          <p:cNvSpPr txBox="1"/>
          <p:nvPr/>
        </p:nvSpPr>
        <p:spPr>
          <a:xfrm>
            <a:off x="502920" y="1700784"/>
            <a:ext cx="3755029" cy="4562856"/>
          </a:xfrm>
          <a:prstGeom prst="rect">
            <a:avLst/>
          </a:prstGeom>
          <a:noFill/>
        </p:spPr>
        <p:txBody>
          <a:bodyPr wrap="square" lIns="0" tIns="0" rIns="0" bIns="0">
            <a:spAutoFit/>
          </a:bodyPr>
          <a:lstStyle/>
          <a:p>
            <a:pPr algn="l">
              <a:lnSpc>
                <a:spcPct val="100000"/>
              </a:lnSpc>
              <a:spcAft>
                <a:spcPts val="800"/>
              </a:spcAft>
              <a:defRPr sz="2500" b="0">
                <a:solidFill>
                  <a:srgbClr val="222222"/>
                </a:solidFill>
                <a:latin typeface="Calibri"/>
              </a:defRPr>
            </a:pPr>
            <a:r>
              <a:rPr sz="2500" b="0">
                <a:solidFill>
                  <a:srgbClr val="222222"/>
                </a:solidFill>
                <a:latin typeface="Calibri"/>
              </a:rPr>
              <a:t>ledcAttach(pin, freq, bits);</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ledcWrite(pin, duty);</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This board package lets you talk straight to the pin.</a:t>
            </a:r>
          </a:p>
        </p:txBody>
      </p:sp>
      <p:sp>
        <p:nvSpPr>
          <p:cNvPr id="8" name="TextBox 7"/>
          <p:cNvSpPr txBox="1"/>
          <p:nvPr/>
        </p:nvSpPr>
        <p:spPr>
          <a:xfrm>
            <a:off x="4715149" y="1188720"/>
            <a:ext cx="6973626"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numbers we use, and why</a:t>
            </a:r>
          </a:p>
        </p:txBody>
      </p:sp>
      <p:sp>
        <p:nvSpPr>
          <p:cNvPr id="9" name="TextBox 8"/>
          <p:cNvSpPr txBox="1"/>
          <p:nvPr/>
        </p:nvSpPr>
        <p:spPr>
          <a:xfrm>
            <a:off x="4715149" y="1700784"/>
            <a:ext cx="6973626" cy="4562856"/>
          </a:xfrm>
          <a:prstGeom prst="rect">
            <a:avLst/>
          </a:prstGeom>
          <a:noFill/>
        </p:spPr>
        <p:txBody>
          <a:bodyPr wrap="square" lIns="0" tIns="0" rIns="0" bIns="0">
            <a:spAutoFit/>
          </a:bodyPr>
          <a:lstStyle/>
          <a:p>
            <a:pPr algn="l">
              <a:lnSpc>
                <a:spcPct val="100000"/>
              </a:lnSpc>
              <a:spcAft>
                <a:spcPts val="800"/>
              </a:spcAft>
              <a:defRPr sz="2400" b="0">
                <a:solidFill>
                  <a:srgbClr val="222222"/>
                </a:solidFill>
                <a:latin typeface="Calibri"/>
              </a:defRPr>
            </a:pPr>
            <a:r>
              <a:rPr sz="24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400" b="0">
                <a:solidFill>
                  <a:srgbClr val="222222"/>
                </a:solidFill>
                <a:latin typeface="Calibri"/>
              </a:defRPr>
            </a:pPr>
            <a:r>
              <a:rPr sz="2400" b="0">
                <a:solidFill>
                  <a:srgbClr val="222222"/>
                </a:solidFill>
                <a:latin typeface="Calibri"/>
              </a:rPr>
              <a:t>Resolution 8 bits. That gives duty values 0 to 255, because 2 to the power 8 is 256.</a:t>
            </a:r>
          </a:p>
          <a:p>
            <a:pPr algn="l">
              <a:lnSpc>
                <a:spcPct val="100000"/>
              </a:lnSpc>
              <a:spcAft>
                <a:spcPts val="800"/>
              </a:spcAft>
              <a:defRPr sz="2400" b="0">
                <a:solidFill>
                  <a:srgbClr val="222222"/>
                </a:solidFill>
                <a:latin typeface="Calibri"/>
              </a:defRPr>
            </a:pPr>
            <a:r>
              <a:rPr sz="2400" b="0">
                <a:solidFill>
                  <a:srgbClr val="222222"/>
                </a:solidFill>
                <a:latin typeface="Calibri"/>
              </a:rPr>
              <a:t>0 is off, 128 is about half power, 255 is flat out.</a:t>
            </a:r>
          </a:p>
          <a:p>
            <a:pPr algn="l">
              <a:lnSpc>
                <a:spcPct val="100000"/>
              </a:lnSpc>
              <a:spcAft>
                <a:spcPts val="800"/>
              </a:spcAft>
              <a:defRPr sz="1200" b="0">
                <a:solidFill>
                  <a:srgbClr val="222222"/>
                </a:solidFill>
                <a:latin typeface="Calibri"/>
              </a:defRPr>
            </a:pPr>
          </a:p>
          <a:p>
            <a:pPr algn="l">
              <a:lnSpc>
                <a:spcPct val="100000"/>
              </a:lnSpc>
              <a:spcAft>
                <a:spcPts val="800"/>
              </a:spcAft>
              <a:defRPr sz="2400" b="0">
                <a:solidFill>
                  <a:srgbClr val="222222"/>
                </a:solidFill>
                <a:latin typeface="Calibri"/>
              </a:defRPr>
            </a:pPr>
            <a:r>
              <a:rPr sz="24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