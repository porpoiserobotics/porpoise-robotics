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slide only works if they measured. Ask three groups for their number before you say anything.</a:t>
            </a:r>
          </a:p>
          <a:p>
            <a:r>
              <a:rPr sz="1200">
                <a:latin typeface="Calibri"/>
              </a:rPr>
              <a:t>MOTOR_MIN is currently zero in the shipped program. That is deliberate, and it means the speed climbs smoothly from nothing.</a:t>
            </a:r>
          </a:p>
          <a:p>
            <a:r>
              <a:rPr sz="1200">
                <a:latin typeface="Calibri"/>
              </a:rPr>
              <a:t>The symptom to describe: the first part of the stick travel feels dead. The fix is raising MOTOR_MIN, and they will have the vocabulary for it next lesson.</a:t>
            </a:r>
          </a:p>
          <a:p>
            <a:r>
              <a:rPr sz="1200">
                <a:latin typeface="Calibri"/>
              </a:rPr>
              <a:t>Measure, do not guess. Say it - the number in the program was once a guess and it was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Worth thirty seconds of enthusiasm. Several students each year come for the rover and stay for the ROV.</a:t>
            </a:r>
          </a:p>
          <a:p>
            <a:r>
              <a:rPr sz="1200">
                <a:latin typeface="Calibri"/>
              </a:rPr>
              <a:t>The honest pitch: a mistake on a rover bumps a wall. A mistake on a submersible floods an electronics bay.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Simple, cheap, rugged, and forgiving of students.</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comes from which way current flows through it.</a:t>
            </a:r>
          </a:p>
          <a:p>
            <a:pPr algn="l">
              <a:lnSpc>
                <a:spcPct val="100000"/>
              </a:lnSpc>
              <a:spcAft>
                <a:spcPts val="800"/>
              </a:spcAft>
              <a:defRPr sz="1900" b="0">
                <a:solidFill>
                  <a:srgbClr val="222222"/>
                </a:solidFill>
                <a:latin typeface="Calibri"/>
              </a:defRPr>
            </a:pPr>
            <a:r>
              <a:rPr sz="1900" b="0">
                <a:solidFill>
                  <a:srgbClr val="222222"/>
                </a:solidFill>
                <a:latin typeface="Calibri"/>
              </a:rPr>
              <a:t>Speed comes from how much power you give it.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H-bridge driver to reverse the current. Ours are TI DRV8871 chips, one per motor.</a:t>
            </a:r>
          </a:p>
          <a:p>
            <a:pPr algn="l">
              <a:lnSpc>
                <a:spcPct val="100000"/>
              </a:lnSpc>
              <a:spcAft>
                <a:spcPts val="800"/>
              </a:spcAft>
              <a:defRPr sz="1900" b="0">
                <a:solidFill>
                  <a:srgbClr val="222222"/>
                </a:solidFill>
                <a:latin typeface="Calibri"/>
              </a:defRPr>
            </a:pPr>
            <a:r>
              <a:rPr sz="19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motor is a coil of wire sitting in a magnetic field. Push current through the coil and the field around the coil pushes against the magnets, and the shaft turns.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 motor has two terminals. Current flows from the one at the higher voltage to the one at the lower.</a:t>
            </a:r>
          </a:p>
          <a:p>
            <a:pPr algn="l">
              <a:lnSpc>
                <a:spcPct val="100000"/>
              </a:lnSpc>
              <a:spcAft>
                <a:spcPts val="800"/>
              </a:spcAft>
              <a:defRPr sz="1800" b="0">
                <a:solidFill>
                  <a:srgbClr val="222222"/>
                </a:solidFill>
                <a:latin typeface="Calibri"/>
              </a:defRPr>
            </a:pPr>
          </a:p>
          <a:p>
            <a:pPr lvl="1" algn="l">
              <a:lnSpc>
                <a:spcPct val="100000"/>
              </a:lnSpc>
              <a:spcAft>
                <a:spcPts val="8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800"/>
              </a:spcAft>
              <a:defRPr sz="1800" b="0">
                <a:solidFill>
                  <a:srgbClr val="222222"/>
                </a:solidFill>
                <a:latin typeface="Calibri"/>
              </a:defRPr>
            </a:pPr>
            <a:r>
              <a:rPr sz="1800" b="0">
                <a:solidFill>
                  <a:srgbClr val="222222"/>
                </a:solidFill>
                <a:latin typeface="Calibri"/>
              </a:rPr>
              <a:t>A at 0 V, B at 3.3 V  -&gt;  current flows B to 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Reverse the direction of the current and the coil's field reverses with it. Same magnets, same coil, opposite push - so the shaft turns the other way.</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That is the whole trick. 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So the pins do not mean "forwards" and "backwards". They mean "this end is positive". Which way the wheel then turns depends on which way round the motor was wired - which is why swapping the two pin numbers in the program fixes a wheel that runs backwards.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How MUCH current flows sets how hard it pushes, and that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 Hold that and the next slide - Ohm's law - is the same idea with a resistor instead of a motor.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digitalWrite(pin, HIGH) puts 3.3 volts on the pin. LOW puts 0 volts on it. There is nothing in between.</a:t>
            </a:r>
          </a:p>
          <a:p>
            <a:pPr algn="l">
              <a:lnSpc>
                <a:spcPct val="100000"/>
              </a:lnSpc>
              <a:spcAft>
                <a:spcPts val="600"/>
              </a:spcAft>
              <a:defRPr sz="2000" b="0">
                <a:solidFill>
                  <a:srgbClr val="222222"/>
                </a:solidFill>
                <a:latin typeface="Calibri"/>
              </a:defRPr>
            </a:pPr>
            <a:r>
              <a:rPr sz="2000" b="0">
                <a:solidFill>
                  <a:srgbClr val="222222"/>
                </a:solidFill>
                <a:latin typeface="Calibri"/>
              </a:rPr>
              <a:t>So how do you get HALF speed?</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000" b="0">
                <a:solidFill>
                  <a:srgbClr val="222222"/>
                </a:solidFill>
                <a:latin typeface="Calibri"/>
              </a:defRPr>
            </a:pPr>
            <a:r>
              <a:rPr sz="2000" b="0">
                <a:solidFill>
                  <a:srgbClr val="222222"/>
                </a:solidFill>
                <a:latin typeface="Calibri"/>
              </a:rPr>
              <a:t>That is PULSE WIDTH MODULATION. The fraction of each cycle that is on is the DUTY CYCLE.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ledcAttach(pin, freq, bits);</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ledcWrite(pin, duty);</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This board package lets you talk straight to the pin.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100" b="0">
                <a:solidFill>
                  <a:srgbClr val="222222"/>
                </a:solidFill>
                <a:latin typeface="Calibri"/>
              </a:defRPr>
            </a:pPr>
            <a:r>
              <a:rPr sz="2100" b="0">
                <a:solidFill>
                  <a:srgbClr val="222222"/>
                </a:solidFill>
                <a:latin typeface="Calibri"/>
              </a:rPr>
              <a:t>Resolution 8 bits. That gives duty values 0 to 255, because 2 to the power 8 is 256.</a:t>
            </a:r>
          </a:p>
          <a:p>
            <a:pPr algn="l">
              <a:lnSpc>
                <a:spcPct val="100000"/>
              </a:lnSpc>
              <a:spcAft>
                <a:spcPts val="800"/>
              </a:spcAft>
              <a:defRPr sz="2100" b="0">
                <a:solidFill>
                  <a:srgbClr val="222222"/>
                </a:solidFill>
                <a:latin typeface="Calibri"/>
              </a:defRPr>
            </a:pPr>
            <a:r>
              <a:rPr sz="2100" b="0">
                <a:solidFill>
                  <a:srgbClr val="222222"/>
                </a:solidFill>
                <a:latin typeface="Calibri"/>
              </a:rPr>
              <a:t>0 is off, 128 is about half power, 255 is flat out.</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The advanced program uses 10 bits, 0 to 1023, for finer control at low speed.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against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Put the vehicle on a block. Check all four wheels spin free.</a:t>
            </a:r>
          </a:p>
          <a:p>
            <a:pPr algn="l">
              <a:lnSpc>
                <a:spcPct val="100000"/>
              </a:lnSpc>
              <a:spcAft>
                <a:spcPts val="800"/>
              </a:spcAft>
              <a:defRPr sz="1800" b="0">
                <a:solidFill>
                  <a:srgbClr val="222222"/>
                </a:solidFill>
                <a:latin typeface="Calibri"/>
              </a:defRPr>
            </a:pPr>
            <a:r>
              <a:rPr sz="1800" b="0">
                <a:solidFill>
                  <a:srgbClr val="222222"/>
                </a:solidFill>
                <a:latin typeface="Calibri"/>
              </a:rPr>
              <a:t>2.  Upload it. Watch the front left wheel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3.  Change SPEED from 200 to 60. Upload. Does the wheel still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Front left wheel: forward, stop, reverse, stop, repeating.</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was your minimum turning speed?</a:t>
            </a:r>
          </a:p>
          <a:p>
            <a:pPr algn="l">
              <a:lnSpc>
                <a:spcPct val="100000"/>
              </a:lnSpc>
              <a:spcAft>
                <a:spcPts val="300"/>
              </a:spcAft>
              <a:defRPr sz="2600" b="0">
                <a:solidFill>
                  <a:srgbClr val="222222"/>
                </a:solidFill>
                <a:latin typeface="Calibri"/>
              </a:defRPr>
            </a:pPr>
            <a:r>
              <a:rPr sz="2600" b="0">
                <a:solidFill>
                  <a:srgbClr val="222222"/>
                </a:solidFill>
                <a:latin typeface="Calibri"/>
              </a:rPr>
              <a:t>Compare with another group. Are they the same? Why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Try 40, then 30, then 20. Find the SMALLEST number that still gets the wheel moving from a standstill. Write it down.</a:t>
            </a:r>
          </a:p>
          <a:p>
            <a:pPr algn="l">
              <a:lnSpc>
                <a:spcPct val="100000"/>
              </a:lnSpc>
              <a:spcAft>
                <a:spcPts val="800"/>
              </a:spcAft>
              <a:defRPr sz="1800" b="0">
                <a:solidFill>
                  <a:srgbClr val="222222"/>
                </a:solidFill>
                <a:latin typeface="Calibri"/>
              </a:defRPr>
            </a:pPr>
            <a:r>
              <a:rPr sz="1800" b="0">
                <a:solidFill>
                  <a:srgbClr val="222222"/>
                </a:solidFill>
                <a:latin typeface="Calibri"/>
              </a:rPr>
              <a:t>5.  Swap MOTOR_PIN_A and MOTOR_PIN_B. Upload. What changed?</a:t>
            </a:r>
          </a:p>
          <a:p>
            <a:pPr algn="l">
              <a:lnSpc>
                <a:spcPct val="100000"/>
              </a:lnSpc>
              <a:spcAft>
                <a:spcPts val="800"/>
              </a:spcAft>
              <a:defRPr sz="1800" b="0">
                <a:solidFill>
                  <a:srgbClr val="222222"/>
                </a:solidFill>
                <a:latin typeface="Calibri"/>
              </a:defRPr>
            </a:pPr>
            <a:r>
              <a:rPr sz="1800" b="0">
                <a:solidFill>
                  <a:srgbClr val="222222"/>
                </a:solidFill>
                <a:latin typeface="Calibri"/>
              </a:rPr>
              <a:t>6.  Change the pins to 22 and 23. Which wheel moves now?</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600"/>
              </a:spcAft>
              <a:defRPr sz="1800" b="0">
                <a:solidFill>
                  <a:srgbClr val="222222"/>
                </a:solidFill>
                <a:latin typeface="Calibri"/>
              </a:defRPr>
            </a:pPr>
            <a:r>
              <a:rPr sz="18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600"/>
              </a:spcAft>
              <a:defRPr sz="1800" b="0">
                <a:solidFill>
                  <a:srgbClr val="222222"/>
                </a:solidFill>
                <a:latin typeface="Calibri"/>
              </a:defRPr>
            </a:pPr>
            <a:r>
              <a:rPr sz="18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will meet the deadzone next lesson.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Is the speed proportional to the duty all the way down? Where does it stop being a straight line?</a:t>
            </a:r>
          </a:p>
          <a:p>
            <a:pPr algn="l">
              <a:lnSpc>
                <a:spcPct val="100000"/>
              </a:lnSpc>
              <a:spcAft>
                <a:spcPts val="300"/>
              </a:spcAft>
              <a:defRPr sz="2000" b="0">
                <a:solidFill>
                  <a:srgbClr val="222222"/>
                </a:solidFill>
                <a:latin typeface="Calibri"/>
              </a:defRPr>
            </a:pPr>
            <a:r>
              <a:rPr sz="2000" b="0">
                <a:solidFill>
                  <a:srgbClr val="222222"/>
                </a:solidFill>
                <a:latin typeface="Calibri"/>
              </a:rPr>
              <a:t>What is the 300 Hz whine, and where does it go at 20 kHz?</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1.  V = 12 volts, I = 15 mA.  R = ?</a:t>
            </a:r>
          </a:p>
          <a:p>
            <a:pPr lvl="1" algn="l">
              <a:lnSpc>
                <a:spcPct val="100000"/>
              </a:lnSpc>
              <a:spcAft>
                <a:spcPts val="900"/>
              </a:spcAft>
              <a:defRPr sz="2200" b="0">
                <a:solidFill>
                  <a:srgbClr val="222222"/>
                </a:solidFill>
                <a:latin typeface="Calibri"/>
              </a:defRPr>
            </a:pPr>
            <a:r>
              <a:rPr sz="22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2.  V = 12 volts, R = 220 ohms.  I = ?</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3.  I = 2 mA, R = 1.5k ohms.  V = ?</a:t>
            </a:r>
          </a:p>
          <a:p>
            <a:pPr lvl="1" algn="l">
              <a:lnSpc>
                <a:spcPct val="100000"/>
              </a:lnSpc>
              <a:spcAft>
                <a:spcPts val="900"/>
              </a:spcAft>
              <a:defRPr sz="2100" b="0">
                <a:solidFill>
                  <a:srgbClr val="222222"/>
                </a:solidFill>
                <a:latin typeface="Calibri"/>
              </a:defRPr>
            </a:pPr>
            <a:r>
              <a:rPr sz="2100" b="0">
                <a:solidFill>
                  <a:srgbClr val="222222"/>
                </a:solidFill>
                <a:latin typeface="Calibri"/>
              </a:rPr>
              <a:t>     (1.5k means 1500 ohms)</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SERIES. Your LED circuit from Lesson 1: supply, resistor, LED, back to ground. One loop, one current.</a:t>
            </a:r>
          </a:p>
          <a:p>
            <a:pPr lvl="1" algn="l">
              <a:lnSpc>
                <a:spcPct val="100000"/>
              </a:lnSpc>
              <a:spcAft>
                <a:spcPts val="600"/>
              </a:spcAft>
              <a:defRPr sz="2700" b="0">
                <a:solidFill>
                  <a:srgbClr val="222222"/>
                </a:solidFill>
                <a:latin typeface="Calibri"/>
              </a:defRPr>
            </a:pPr>
            <a:r>
              <a:rPr sz="2700" b="0">
                <a:solidFill>
                  <a:srgbClr val="222222"/>
                </a:solidFill>
                <a:latin typeface="Calibri"/>
              </a:rPr>
              <a:t>Add resistance and the current everywhere drops.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PARALLEL. The four motors. Each one hangs across the same supply, so each gets the full battery voltage, and the currents add up.</a:t>
            </a:r>
          </a:p>
          <a:p>
            <a:pPr lvl="1" algn="l">
              <a:lnSpc>
                <a:spcPct val="100000"/>
              </a:lnSpc>
              <a:spcAft>
                <a:spcPts val="600"/>
              </a:spcAft>
              <a:defRPr sz="2700" b="0">
                <a:solidFill>
                  <a:srgbClr val="222222"/>
                </a:solidFill>
                <a:latin typeface="Calibri"/>
              </a:defRPr>
            </a:pPr>
            <a:r>
              <a:rPr sz="2700" b="0">
                <a:solidFill>
                  <a:srgbClr val="222222"/>
                </a:solidFill>
                <a:latin typeface="Calibri"/>
              </a:rPr>
              <a:t>Four motors at 1.5 A each is 6 A out of the battery.</a:t>
            </a:r>
          </a:p>
          <a:p>
            <a:pPr lvl="1" algn="l">
              <a:lnSpc>
                <a:spcPct val="100000"/>
              </a:lnSpc>
              <a:spcAft>
                <a:spcPts val="600"/>
              </a:spcAft>
              <a:defRPr sz="2700" b="0">
                <a:solidFill>
                  <a:srgbClr val="222222"/>
                </a:solidFill>
                <a:latin typeface="Calibri"/>
              </a:defRPr>
            </a:pPr>
            <a:r>
              <a:rPr sz="2700" b="0">
                <a:solidFill>
                  <a:srgbClr val="222222"/>
                </a:solidFill>
                <a:latin typeface="Calibri"/>
              </a:rPr>
              <a:t>That is why the battery goes flat four times faster with all four driving than with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 32 LEDs are in parallel too. Each pixel draws its own current from the same 5 V rail, which is exactly why the power budget in Lesson 4 adds up the way it does.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Pathfinder has no steering rack. Nothing on it points the wheels.</a:t>
            </a:r>
          </a:p>
          <a:p>
            <a:pPr algn="l">
              <a:lnSpc>
                <a:spcPct val="100000"/>
              </a:lnSpc>
              <a:spcAft>
                <a:spcPts val="600"/>
              </a:spcAft>
              <a:defRPr sz="1900" b="0">
                <a:solidFill>
                  <a:srgbClr val="222222"/>
                </a:solidFill>
                <a:latin typeface="Calibri"/>
              </a:defRPr>
            </a:pPr>
            <a:r>
              <a:rPr sz="1900" b="0">
                <a:solidFill>
                  <a:srgbClr val="222222"/>
                </a:solidFill>
                <a:latin typeface="Calibri"/>
              </a:rPr>
              <a:t>The two wheels on the LEFT are driven together. The two on the RIGHT are driven together.</a:t>
            </a:r>
          </a:p>
          <a:p>
            <a:pPr algn="l">
              <a:lnSpc>
                <a:spcPct val="100000"/>
              </a:lnSpc>
              <a:spcAft>
                <a:spcPts val="600"/>
              </a:spcAft>
              <a:defRPr sz="1900" b="0">
                <a:solidFill>
                  <a:srgbClr val="222222"/>
                </a:solidFill>
                <a:latin typeface="Calibri"/>
              </a:defRPr>
            </a:pPr>
            <a:r>
              <a:rPr sz="1900" b="0">
                <a:solidFill>
                  <a:srgbClr val="222222"/>
                </a:solidFill>
                <a:latin typeface="Calibri"/>
              </a:rPr>
              <a:t>Both sides the same  -&gt;  a straight line.</a:t>
            </a:r>
          </a:p>
          <a:p>
            <a:pPr algn="l">
              <a:lnSpc>
                <a:spcPct val="100000"/>
              </a:lnSpc>
              <a:spcAft>
                <a:spcPts val="600"/>
              </a:spcAft>
              <a:defRPr sz="1900" b="0">
                <a:solidFill>
                  <a:srgbClr val="222222"/>
                </a:solidFill>
                <a:latin typeface="Calibri"/>
              </a:defRPr>
            </a:pPr>
            <a:r>
              <a:rPr sz="1900" b="0">
                <a:solidFill>
                  <a:srgbClr val="222222"/>
                </a:solidFill>
                <a:latin typeface="Calibri"/>
              </a:rPr>
              <a:t>Left faster than right  -&gt;  it curves to the right.</a:t>
            </a:r>
          </a:p>
          <a:p>
            <a:pPr algn="l">
              <a:lnSpc>
                <a:spcPct val="100000"/>
              </a:lnSpc>
              <a:spcAft>
                <a:spcPts val="600"/>
              </a:spcAft>
              <a:defRPr sz="1900" b="0">
                <a:solidFill>
                  <a:srgbClr val="222222"/>
                </a:solidFill>
                <a:latin typeface="Calibri"/>
              </a:defRPr>
            </a:pPr>
            <a:r>
              <a:rPr sz="1900" b="0">
                <a:solidFill>
                  <a:srgbClr val="222222"/>
                </a:solidFill>
                <a:latin typeface="Calibri"/>
              </a:rPr>
              <a:t>Left forward and right backward  -&gt;  it spins on the spot.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Wheel diameter is 3.0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Circumference = pi x diameter = 3.1416 x 3.0 = 9.42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Distance per wheel turn = 9.42 / 12 = 0.79 feet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Speed = revolutions per second x distance per revolution</a:t>
            </a:r>
          </a:p>
          <a:p>
            <a:pPr algn="l">
              <a:lnSpc>
                <a:spcPct val="100000"/>
              </a:lnSpc>
              <a:spcAft>
                <a:spcPts val="600"/>
              </a:spcAft>
              <a:defRPr sz="2000" b="0">
                <a:solidFill>
                  <a:srgbClr val="222222"/>
                </a:solidFill>
                <a:latin typeface="Calibri"/>
              </a:defRPr>
            </a:pPr>
            <a:r>
              <a:rPr sz="2000" b="0">
                <a:solidFill>
                  <a:srgbClr val="222222"/>
                </a:solidFill>
                <a:latin typeface="Calibri"/>
              </a:rPr>
              <a:t>Distance = speed x time</a:t>
            </a:r>
          </a:p>
          <a:p>
            <a:pPr algn="l">
              <a:lnSpc>
                <a:spcPct val="100000"/>
              </a:lnSpc>
              <a:spcAft>
                <a:spcPts val="600"/>
              </a:spcAft>
              <a:defRPr sz="2000" b="0">
                <a:solidFill>
                  <a:srgbClr val="222222"/>
                </a:solidFill>
                <a:latin typeface="Calibri"/>
              </a:defRPr>
            </a:pPr>
            <a:r>
              <a:rPr sz="2000" b="0">
                <a:solidFill>
                  <a:srgbClr val="222222"/>
                </a:solidFill>
                <a:latin typeface="Calibri"/>
              </a:rPr>
              <a:t>Degrees turned = turn rate x time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23291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A square is four legs on bearings 0, 90, 180 and 270, which is why you can do it in your head.</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Now try a baseball diamond. The batter hits the ball and runs at 45 degrees to first base, then makes three more left turns back to home plate.</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Nothing in the program changes. It is still drive, turn, drive, turn. What changes is that the bearings are no longer whole quarter turns, so you need sin and cos to work out where it ends up.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Running the bases  -  a maneuver that is not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Set it up in a spreadsheet: one row per leg, with time, speed, bearing, and the running east and north totals. Plot east against north as a scatter chart and you have drawn the path before the vehicle has moved.</a:t>
            </a:r>
          </a:p>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Then run it, and measure how far off the real one finishes.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18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Clear a space about three meters square. Bags and feet out.</a:t>
            </a:r>
          </a:p>
          <a:p>
            <a:pPr algn="l">
              <a:lnSpc>
                <a:spcPct val="100000"/>
              </a:lnSpc>
              <a:spcAft>
                <a:spcPts val="800"/>
              </a:spcAft>
              <a:defRPr sz="1800" b="0">
                <a:solidFill>
                  <a:srgbClr val="222222"/>
                </a:solidFill>
                <a:latin typeface="Calibri"/>
              </a:defRPr>
            </a:pPr>
            <a:r>
              <a:rPr sz="1800" b="0">
                <a:solidFill>
                  <a:srgbClr val="222222"/>
                </a:solidFill>
                <a:latin typeface="Calibri"/>
              </a:rPr>
              <a:t>2.  Mark the starting point with a piece of tape.</a:t>
            </a:r>
          </a:p>
          <a:p>
            <a:pPr algn="l">
              <a:lnSpc>
                <a:spcPct val="100000"/>
              </a:lnSpc>
              <a:spcAft>
                <a:spcPts val="8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800"/>
              </a:spcAft>
              <a:defRPr sz="1800" b="0">
                <a:solidFill>
                  <a:srgbClr val="222222"/>
                </a:solidFill>
                <a:latin typeface="Calibri"/>
              </a:defRPr>
            </a:pPr>
            <a:r>
              <a:rPr sz="1800" b="0">
                <a:solidFill>
                  <a:srgbClr val="222222"/>
                </a:solidFill>
                <a:latin typeface="Calibri"/>
              </a:rPr>
              <a:t>4.  MEASURE one side of the square it actually drove.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Roughly a square. Roughly.</a:t>
            </a:r>
          </a:p>
          <a:p>
            <a:pPr algn="l">
              <a:lnSpc>
                <a:spcPct val="100000"/>
              </a:lnSpc>
              <a:spcAft>
                <a:spcPts val="300"/>
              </a:spcAft>
              <a:defRPr sz="2500" b="0">
                <a:solidFill>
                  <a:srgbClr val="222222"/>
                </a:solidFill>
                <a:latin typeface="Calibri"/>
              </a:defRPr>
            </a:pPr>
            <a:r>
              <a:rPr sz="25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is your vehicle's speed in feet per second?</a:t>
            </a:r>
          </a:p>
          <a:p>
            <a:pPr algn="l">
              <a:lnSpc>
                <a:spcPct val="100000"/>
              </a:lnSpc>
              <a:spcAft>
                <a:spcPts val="300"/>
              </a:spcAft>
              <a:defRPr sz="2600" b="0">
                <a:solidFill>
                  <a:srgbClr val="222222"/>
                </a:solidFill>
                <a:latin typeface="Calibri"/>
              </a:defRPr>
            </a:pPr>
            <a:r>
              <a:rPr sz="2600" b="0">
                <a:solidFill>
                  <a:srgbClr val="222222"/>
                </a:solidFill>
                <a:latin typeface="Calibri"/>
              </a:rPr>
              <a:t>What is its turn rate in degrees per second?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5.  Work out the speed:  side length / (FORWARD_MS / 1000)</a:t>
            </a:r>
          </a:p>
          <a:p>
            <a:pPr algn="l">
              <a:lnSpc>
                <a:spcPct val="100000"/>
              </a:lnSpc>
              <a:spcAft>
                <a:spcPts val="800"/>
              </a:spcAft>
              <a:defRPr sz="1800" b="0">
                <a:solidFill>
                  <a:srgbClr val="222222"/>
                </a:solidFill>
                <a:latin typeface="Calibri"/>
              </a:defRPr>
            </a:pPr>
            <a:r>
              <a:rPr sz="1800" b="0">
                <a:solidFill>
                  <a:srgbClr val="222222"/>
                </a:solidFill>
                <a:latin typeface="Calibri"/>
              </a:rPr>
              <a:t>6.  The corners will not be 90 degrees. Adjust TURN_MS by 25 ms at a time until the vehicle comes back to its tape.</a:t>
            </a:r>
          </a:p>
          <a:p>
            <a:pPr algn="l">
              <a:lnSpc>
                <a:spcPct val="100000"/>
              </a:lnSpc>
              <a:spcAft>
                <a:spcPts val="800"/>
              </a:spcAft>
              <a:defRPr sz="1800" b="0">
                <a:solidFill>
                  <a:srgbClr val="222222"/>
                </a:solidFill>
                <a:latin typeface="Calibri"/>
              </a:defRPr>
            </a:pPr>
            <a:r>
              <a:rPr sz="1800" b="0">
                <a:solidFill>
                  <a:srgbClr val="222222"/>
                </a:solidFill>
                <a:latin typeface="Calibri"/>
              </a:rPr>
              <a:t>7.  Now change FORWARD_MS and PREDICT the new square before running it. How close were you?</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600"/>
              </a:spcAft>
              <a:defRPr sz="2500" b="0">
                <a:solidFill>
                  <a:srgbClr val="222222"/>
                </a:solidFill>
                <a:latin typeface="Calibri"/>
              </a:defRPr>
            </a:pPr>
            <a:r>
              <a:rPr sz="2500" b="0">
                <a:solidFill>
                  <a:srgbClr val="222222"/>
                </a:solidFill>
                <a:latin typeface="Calibri"/>
              </a:rPr>
              <a:t>DEAD RECKONING is working out where you are from your speed, your heading and the time - with no outside reference at all.</a:t>
            </a:r>
          </a:p>
          <a:p>
            <a:pPr algn="l">
              <a:lnSpc>
                <a:spcPct val="100000"/>
              </a:lnSpc>
              <a:spcAft>
                <a:spcPts val="600"/>
              </a:spcAft>
              <a:defRPr sz="2500" b="0">
                <a:solidFill>
                  <a:srgbClr val="222222"/>
                </a:solidFill>
                <a:latin typeface="Calibri"/>
              </a:defRPr>
            </a:pPr>
            <a:r>
              <a:rPr sz="2500" b="0">
                <a:solidFill>
                  <a:srgbClr val="222222"/>
                </a:solidFill>
                <a:latin typeface="Calibri"/>
              </a:rPr>
              <a:t>Ships and aircraft navigated this way for centuries. Submersibles still fall back on it, because GPS does not work underwater.</a:t>
            </a:r>
          </a:p>
          <a:p>
            <a:pPr algn="l">
              <a:lnSpc>
                <a:spcPct val="100000"/>
              </a:lnSpc>
              <a:spcAft>
                <a:spcPts val="600"/>
              </a:spcAft>
              <a:defRPr sz="250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It DRIFTS. Every small error accumulates, and nothing ever corrects it. Errors in your square come from:</a:t>
            </a:r>
          </a:p>
          <a:p>
            <a:pPr lvl="1" algn="l">
              <a:lnSpc>
                <a:spcPct val="100000"/>
              </a:lnSpc>
              <a:spcAft>
                <a:spcPts val="600"/>
              </a:spcAft>
              <a:defRPr sz="2500" b="0">
                <a:solidFill>
                  <a:srgbClr val="222222"/>
                </a:solidFill>
                <a:latin typeface="Calibri"/>
              </a:defRPr>
            </a:pPr>
            <a:r>
              <a:rPr sz="2500" b="0">
                <a:solidFill>
                  <a:srgbClr val="222222"/>
                </a:solidFill>
                <a:latin typeface="Calibri"/>
              </a:rPr>
              <a:t>Battery charge - a fresher pack drives further in the same time</a:t>
            </a:r>
          </a:p>
          <a:p>
            <a:pPr lvl="1" algn="l">
              <a:lnSpc>
                <a:spcPct val="100000"/>
              </a:lnSpc>
              <a:spcAft>
                <a:spcPts val="600"/>
              </a:spcAft>
              <a:defRPr sz="2500" b="0">
                <a:solidFill>
                  <a:srgbClr val="222222"/>
                </a:solidFill>
                <a:latin typeface="Calibri"/>
              </a:defRPr>
            </a:pPr>
            <a:r>
              <a:rPr sz="2500" b="0">
                <a:solidFill>
                  <a:srgbClr val="222222"/>
                </a:solidFill>
                <a:latin typeface="Calibri"/>
              </a:rPr>
              <a:t>Floor surface - carpet, tile and concrete all differ</a:t>
            </a:r>
          </a:p>
          <a:p>
            <a:pPr lvl="1" algn="l">
              <a:lnSpc>
                <a:spcPct val="100000"/>
              </a:lnSpc>
              <a:spcAft>
                <a:spcPts val="600"/>
              </a:spcAft>
              <a:defRPr sz="2500" b="0">
                <a:solidFill>
                  <a:srgbClr val="222222"/>
                </a:solidFill>
                <a:latin typeface="Calibri"/>
              </a:defRPr>
            </a:pPr>
            <a:r>
              <a:rPr sz="2500" b="0">
                <a:solidFill>
                  <a:srgbClr val="222222"/>
                </a:solidFill>
                <a:latin typeface="Calibri"/>
              </a:rPr>
              <a:t>Wheel slip during the turns, which skid steering guarantees</a:t>
            </a:r>
          </a:p>
          <a:p>
            <a:pPr lvl="1" algn="l">
              <a:lnSpc>
                <a:spcPct val="100000"/>
              </a:lnSpc>
              <a:spcAft>
                <a:spcPts val="600"/>
              </a:spcAft>
              <a:defRPr sz="2500" b="0">
                <a:solidFill>
                  <a:srgbClr val="222222"/>
                </a:solidFill>
                <a:latin typeface="Calibri"/>
              </a:defRPr>
            </a:pPr>
            <a:r>
              <a:rPr sz="2500" b="0">
                <a:solidFill>
                  <a:srgbClr val="222222"/>
                </a:solidFill>
                <a:latin typeface="Calibri"/>
              </a:rPr>
              <a:t>Motors that are not perfectly matched to each other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ideas, underwater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5227168"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Explorer Gen 2 ROV is built from the pieces you just met: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An ESP32, like the one on your desk</a:t>
            </a:r>
          </a:p>
          <a:p>
            <a:pPr algn="l">
              <a:lnSpc>
                <a:spcPct val="100000"/>
              </a:lnSpc>
              <a:spcAft>
                <a:spcPts val="600"/>
              </a:spcAft>
              <a:defRPr sz="1900" b="0">
                <a:solidFill>
                  <a:srgbClr val="222222"/>
                </a:solidFill>
                <a:latin typeface="Calibri"/>
              </a:defRPr>
            </a:pPr>
            <a:r>
              <a:rPr sz="1900" b="0">
                <a:solidFill>
                  <a:srgbClr val="222222"/>
                </a:solidFill>
                <a:latin typeface="Calibri"/>
              </a:rPr>
              <a:t>Brushless motors on ESCs, not brushed on H-bridges - more thrust for the weight</a:t>
            </a:r>
          </a:p>
          <a:p>
            <a:pPr algn="l">
              <a:lnSpc>
                <a:spcPct val="100000"/>
              </a:lnSpc>
              <a:spcAft>
                <a:spcPts val="600"/>
              </a:spcAft>
              <a:defRPr sz="1900" b="0">
                <a:solidFill>
                  <a:srgbClr val="222222"/>
                </a:solidFill>
                <a:latin typeface="Calibri"/>
              </a:defRPr>
            </a:pPr>
            <a:r>
              <a:rPr sz="1900" b="0">
                <a:solidFill>
                  <a:srgbClr val="222222"/>
                </a:solidFill>
                <a:latin typeface="Calibri"/>
              </a:rPr>
              <a:t>A pressure sensor and an IMU on an I2C bus</a:t>
            </a:r>
          </a:p>
          <a:p>
            <a:pPr algn="l">
              <a:lnSpc>
                <a:spcPct val="100000"/>
              </a:lnSpc>
              <a:spcAft>
                <a:spcPts val="600"/>
              </a:spcAft>
              <a:defRPr sz="1900" b="0">
                <a:solidFill>
                  <a:srgbClr val="222222"/>
                </a:solidFill>
                <a:latin typeface="Calibri"/>
              </a:defRPr>
            </a:pPr>
            <a:r>
              <a:rPr sz="1900" b="0">
                <a:solidFill>
                  <a:srgbClr val="222222"/>
                </a:solidFill>
                <a:latin typeface="Calibri"/>
              </a:rPr>
              <a:t>A CAN bus tying it together</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Different vehicle, same engineering.</a:t>
            </a:r>
          </a:p>
        </p:txBody>
      </p:sp>
      <p:pic>
        <p:nvPicPr>
          <p:cNvPr id="7" name="Picture 6" descr="rov-can-bus.jpg"/>
          <p:cNvPicPr>
            <a:picLocks noChangeAspect="1"/>
          </p:cNvPicPr>
          <p:nvPr/>
        </p:nvPicPr>
        <p:blipFill>
          <a:blip r:embed="rId2"/>
          <a:stretch>
            <a:fillRect/>
          </a:stretch>
        </p:blipFill>
        <p:spPr>
          <a:xfrm>
            <a:off x="6095848" y="1671640"/>
            <a:ext cx="5592927" cy="2326000"/>
          </a:xfrm>
          <a:prstGeom prst="rect">
            <a:avLst/>
          </a:prstGeom>
        </p:spPr>
      </p:pic>
      <p:sp>
        <p:nvSpPr>
          <p:cNvPr id="8" name="TextBox 7"/>
          <p:cNvSpPr txBox="1"/>
          <p:nvPr/>
        </p:nvSpPr>
        <p:spPr>
          <a:xfrm>
            <a:off x="6095848" y="4052504"/>
            <a:ext cx="5592927"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Explorer Gen 2 ROV: ESP32, ESC, sensors, CAN bus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this looks interesting, there is a whole ROV course. The ground vehicle is the easiest place to learn the ideas; the submersible is where they get hard.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Mark a start line and a finish line with tape. Measure the distance.</a:t>
            </a:r>
          </a:p>
          <a:p>
            <a:pPr algn="l">
              <a:lnSpc>
                <a:spcPct val="100000"/>
              </a:lnSpc>
              <a:spcAft>
                <a:spcPts val="600"/>
              </a:spcAft>
              <a:defRPr sz="2000" b="0">
                <a:solidFill>
                  <a:srgbClr val="222222"/>
                </a:solidFill>
                <a:latin typeface="Calibri"/>
              </a:defRPr>
            </a:pPr>
            <a:r>
              <a:rPr sz="2000" b="0">
                <a:solidFill>
                  <a:srgbClr val="222222"/>
                </a:solidFill>
                <a:latin typeface="Calibri"/>
              </a:rPr>
              <a:t>Line up two or three vehicles. Hold the reset button until the start signal, then let go.</a:t>
            </a:r>
          </a:p>
          <a:p>
            <a:pPr algn="l">
              <a:lnSpc>
                <a:spcPct val="100000"/>
              </a:lnSpc>
              <a:spcAft>
                <a:spcPts val="600"/>
              </a:spcAft>
              <a:defRPr sz="2000" b="0">
                <a:solidFill>
                  <a:srgbClr val="222222"/>
                </a:solidFill>
                <a:latin typeface="Calibri"/>
              </a:defRPr>
            </a:pPr>
            <a:r>
              <a:rPr sz="2000" b="0">
                <a:solidFill>
                  <a:srgbClr val="222222"/>
                </a:solidFill>
                <a:latin typeface="Calibri"/>
              </a:rPr>
              <a:t>Time from start to crossing the line. Speed = distance / time.</a:t>
            </a:r>
          </a:p>
          <a:p>
            <a:pPr algn="l">
              <a:lnSpc>
                <a:spcPct val="100000"/>
              </a:lnSpc>
              <a:spcAft>
                <a:spcPts val="600"/>
              </a:spcAft>
              <a:defRPr sz="2000" b="0">
                <a:solidFill>
                  <a:srgbClr val="222222"/>
                </a:solidFill>
                <a:latin typeface="Calibri"/>
              </a:defRPr>
            </a:pPr>
            <a:r>
              <a:rPr sz="2000" b="0">
                <a:solidFill>
                  <a:srgbClr val="222222"/>
                </a:solidFill>
                <a:latin typeface="Calibri"/>
              </a:rPr>
              <a:t>First across the line INSIDE the lane wins. Leaving the lane does not.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If your vehicle pulls to one side, you can add a short turn correction into the program to straighten it.</a:t>
            </a:r>
          </a:p>
          <a:p>
            <a:pPr algn="l">
              <a:lnSpc>
                <a:spcPct val="100000"/>
              </a:lnSpc>
              <a:spcAft>
                <a:spcPts val="600"/>
              </a:spcAft>
              <a:defRPr sz="2000" b="0">
                <a:solidFill>
                  <a:srgbClr val="222222"/>
                </a:solidFill>
                <a:latin typeface="Calibri"/>
              </a:defRPr>
            </a:pPr>
            <a:r>
              <a:rPr sz="20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Loops in C, worked through properly</a:t>
            </a:r>
          </a:p>
          <a:p>
            <a:pPr lvl="1" algn="l">
              <a:lnSpc>
                <a:spcPct val="100000"/>
              </a:lnSpc>
              <a:spcAft>
                <a:spcPts val="800"/>
              </a:spcAft>
              <a:defRPr sz="1800" b="0">
                <a:solidFill>
                  <a:srgbClr val="222222"/>
                </a:solidFill>
                <a:latin typeface="Calibri"/>
              </a:defRPr>
            </a:pPr>
            <a:r>
              <a:rPr sz="1800" b="0">
                <a:solidFill>
                  <a:srgbClr val="222222"/>
                </a:solidFill>
                <a:latin typeface="Calibri"/>
              </a:rPr>
              <a:t>geeksforgeeks.org/c/c-loops/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Control structures - loops and conditionals</a:t>
            </a:r>
          </a:p>
          <a:p>
            <a:pPr lvl="1" algn="l">
              <a:lnSpc>
                <a:spcPct val="100000"/>
              </a:lnSpc>
              <a:spcAft>
                <a:spcPts val="800"/>
              </a:spcAft>
              <a:defRPr sz="1800" b="0">
                <a:solidFill>
                  <a:srgbClr val="222222"/>
                </a:solidFill>
                <a:latin typeface="Calibri"/>
              </a:defRPr>
            </a:pPr>
            <a:r>
              <a:rPr sz="1800" b="0">
                <a:solidFill>
                  <a:srgbClr val="222222"/>
                </a:solidFill>
                <a:latin typeface="Calibri"/>
              </a:rPr>
              <a:t>cplusplus.com/doc/tutorial/control/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Functions</a:t>
            </a:r>
          </a:p>
          <a:p>
            <a:pPr lvl="1" algn="l">
              <a:lnSpc>
                <a:spcPct val="100000"/>
              </a:lnSpc>
              <a:spcAft>
                <a:spcPts val="800"/>
              </a:spcAft>
              <a:defRPr sz="1800" b="0">
                <a:solidFill>
                  <a:srgbClr val="222222"/>
                </a:solidFill>
                <a:latin typeface="Calibri"/>
              </a:defRPr>
            </a:pPr>
            <a:r>
              <a:rPr sz="1800" b="0">
                <a:solidFill>
                  <a:srgbClr val="222222"/>
                </a:solidFill>
                <a:latin typeface="Calibri"/>
              </a:rPr>
              <a:t>cplusplus.com/doc/tutorial/functions/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