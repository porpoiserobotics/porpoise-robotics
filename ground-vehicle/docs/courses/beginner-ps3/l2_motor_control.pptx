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Bowen" userId="ee6702fae12807e4" providerId="LiveId" clId="{5CB6C98B-5151-4E5D-BF39-3ED613ABF9A3}"/>
    <pc:docChg chg="modSld">
      <pc:chgData name="Kevin Bowen" userId="ee6702fae12807e4" providerId="LiveId" clId="{5CB6C98B-5151-4E5D-BF39-3ED613ABF9A3}" dt="2026-09-07T16:32:17.844" v="106" actId="1076"/>
      <pc:docMkLst>
        <pc:docMk/>
      </pc:docMkLst>
      <pc:sldChg chg="modSp mod">
        <pc:chgData name="Kevin Bowen" userId="ee6702fae12807e4" providerId="LiveId" clId="{5CB6C98B-5151-4E5D-BF39-3ED613ABF9A3}" dt="2026-09-07T16:32:17.844" v="106" actId="1076"/>
        <pc:sldMkLst>
          <pc:docMk/>
          <pc:sldMk cId="0" sldId="283"/>
        </pc:sldMkLst>
        <pc:spChg chg="mod">
          <ac:chgData name="Kevin Bowen" userId="ee6702fae12807e4" providerId="LiveId" clId="{5CB6C98B-5151-4E5D-BF39-3ED613ABF9A3}" dt="2026-09-07T16:32:17.844" v="106" actId="1076"/>
          <ac:spMkLst>
            <pc:docMk/>
            <pc:sldMk cId="0" sldId="283"/>
            <ac:spMk id="4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69468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porpoise-logo.png"/>
          <p:cNvPicPr>
            <a:picLocks noChangeAspect="1"/>
          </p:cNvPicPr>
          <p:nvPr/>
        </p:nvPicPr>
        <p:blipFill>
          <a:blip r:embed="rId3"/>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endParaRPr sz="1200" b="0">
              <a:solidFill>
                <a:srgbClr val="666666"/>
              </a:solidFill>
              <a:latin typeface="Calibri"/>
            </a:endParaR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endParaRPr sz="1200" b="0">
              <a:solidFill>
                <a:srgbClr val="666666"/>
              </a:solidFill>
              <a:latin typeface="Calibri"/>
            </a:endParaR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4"/>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endParaRPr sz="2700" b="0">
              <a:solidFill>
                <a:srgbClr val="222222"/>
              </a:solidFill>
              <a:latin typeface="Calibri"/>
            </a:endParaR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A32A2A"/>
                </a:solidFill>
                <a:latin typeface="Calibri"/>
              </a:rPr>
              <a:t>SAFETY   </a:t>
            </a:r>
            <a:r>
              <a:rPr sz="18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extLst>
                    <a:ext uri="{9D8B030D-6E8A-4147-A177-3AD203B41FA5}">
                      <a16:colId xmlns:a16="http://schemas.microsoft.com/office/drawing/2014/main" val="20000"/>
                    </a:ext>
                  </a:extLst>
                </a:gridCol>
                <a:gridCol w="10067269">
                  <a:extLst>
                    <a:ext uri="{9D8B030D-6E8A-4147-A177-3AD203B41FA5}">
                      <a16:colId xmlns:a16="http://schemas.microsoft.com/office/drawing/2014/main" val="20001"/>
                    </a:ext>
                  </a:extLst>
                </a:gridCol>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extLst>
                  <a:ext uri="{0D108BD9-81ED-4DB2-BD59-A6C34878D82A}">
                    <a16:rowId xmlns:a16="http://schemas.microsoft.com/office/drawing/2014/main" val="10000"/>
                  </a:ext>
                </a:extLst>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extLst>
                  <a:ext uri="{0D108BD9-81ED-4DB2-BD59-A6C34878D82A}">
                    <a16:rowId xmlns:a16="http://schemas.microsoft.com/office/drawing/2014/main" val="10001"/>
                  </a:ext>
                </a:extLst>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extLst>
                  <a:ext uri="{0D108BD9-81ED-4DB2-BD59-A6C34878D82A}">
                    <a16:rowId xmlns:a16="http://schemas.microsoft.com/office/drawing/2014/main" val="10002"/>
                  </a:ext>
                </a:extLst>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extLst>
                  <a:ext uri="{0D108BD9-81ED-4DB2-BD59-A6C34878D82A}">
                    <a16:rowId xmlns:a16="http://schemas.microsoft.com/office/drawing/2014/main" val="10003"/>
                  </a:ext>
                </a:extLst>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extLst>
                  <a:ext uri="{0D108BD9-81ED-4DB2-BD59-A6C34878D82A}">
                    <a16:rowId xmlns:a16="http://schemas.microsoft.com/office/drawing/2014/main" val="10004"/>
                  </a:ext>
                </a:extLst>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extLst>
                  <a:ext uri="{0D108BD9-81ED-4DB2-BD59-A6C34878D82A}">
                    <a16:rowId xmlns:a16="http://schemas.microsoft.com/office/drawing/2014/main" val="10005"/>
                  </a:ext>
                </a:extLst>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extLst>
                  <a:ext uri="{0D108BD9-81ED-4DB2-BD59-A6C34878D82A}">
                    <a16:rowId xmlns:a16="http://schemas.microsoft.com/office/drawing/2014/main" val="10006"/>
                  </a:ext>
                </a:extLst>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extLst>
                  <a:ext uri="{0D108BD9-81ED-4DB2-BD59-A6C34878D82A}">
                    <a16:rowId xmlns:a16="http://schemas.microsoft.com/office/drawing/2014/main" val="10007"/>
                  </a:ext>
                </a:extLst>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extLst>
                  <a:ext uri="{0D108BD9-81ED-4DB2-BD59-A6C34878D82A}">
                    <a16:rowId xmlns:a16="http://schemas.microsoft.com/office/drawing/2014/main" val="10008"/>
                  </a:ext>
                </a:extLst>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extLst>
                  <a:ext uri="{0D108BD9-81ED-4DB2-BD59-A6C34878D82A}">
                    <a16:rowId xmlns:a16="http://schemas.microsoft.com/office/drawing/2014/main" val="10009"/>
                  </a:ext>
                </a:extLst>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dirty="0">
                <a:solidFill>
                  <a:srgbClr val="0E7C86"/>
                </a:solidFill>
                <a:latin typeface="Calibri"/>
              </a:rPr>
              <a:t>IN1</a:t>
            </a:r>
            <a:br>
              <a:rPr dirty="0"/>
            </a:br>
            <a:r>
              <a:rPr sz="1800" b="1" dirty="0">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3" cy="2762250"/>
        </p:xfrm>
        <a:graphic>
          <a:graphicData uri="http://schemas.openxmlformats.org/drawingml/2006/table">
            <a:tbl>
              <a:tblPr firstRow="1" bandRow="1">
                <a:tableStyleId>{5C22544A-7EE6-4342-B048-85BDC9FD1C3A}</a:tableStyleId>
              </a:tblPr>
              <a:tblGrid>
                <a:gridCol w="3355756">
                  <a:extLst>
                    <a:ext uri="{9D8B030D-6E8A-4147-A177-3AD203B41FA5}">
                      <a16:colId xmlns:a16="http://schemas.microsoft.com/office/drawing/2014/main" val="20000"/>
                    </a:ext>
                  </a:extLst>
                </a:gridCol>
                <a:gridCol w="1677878">
                  <a:extLst>
                    <a:ext uri="{9D8B030D-6E8A-4147-A177-3AD203B41FA5}">
                      <a16:colId xmlns:a16="http://schemas.microsoft.com/office/drawing/2014/main" val="20001"/>
                    </a:ext>
                  </a:extLst>
                </a:gridCol>
                <a:gridCol w="1677878">
                  <a:extLst>
                    <a:ext uri="{9D8B030D-6E8A-4147-A177-3AD203B41FA5}">
                      <a16:colId xmlns:a16="http://schemas.microsoft.com/office/drawing/2014/main" val="20002"/>
                    </a:ext>
                  </a:extLst>
                </a:gridCol>
                <a:gridCol w="4474341">
                  <a:extLst>
                    <a:ext uri="{9D8B030D-6E8A-4147-A177-3AD203B41FA5}">
                      <a16:colId xmlns:a16="http://schemas.microsoft.com/office/drawing/2014/main" val="20003"/>
                    </a:ext>
                  </a:extLst>
                </a:gridCol>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extLst>
                  <a:ext uri="{0D108BD9-81ED-4DB2-BD59-A6C34878D82A}">
                    <a16:rowId xmlns:a16="http://schemas.microsoft.com/office/drawing/2014/main" val="10000"/>
                  </a:ext>
                </a:extLst>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extLst>
                  <a:ext uri="{0D108BD9-81ED-4DB2-BD59-A6C34878D82A}">
                    <a16:rowId xmlns:a16="http://schemas.microsoft.com/office/drawing/2014/main" val="10001"/>
                  </a:ext>
                </a:extLst>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extLst>
                  <a:ext uri="{0D108BD9-81ED-4DB2-BD59-A6C34878D82A}">
                    <a16:rowId xmlns:a16="http://schemas.microsoft.com/office/drawing/2014/main" val="10002"/>
                  </a:ext>
                </a:extLst>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extLst>
                  <a:ext uri="{0D108BD9-81ED-4DB2-BD59-A6C34878D82A}">
                    <a16:rowId xmlns:a16="http://schemas.microsoft.com/office/drawing/2014/main" val="10003"/>
                  </a:ext>
                </a:extLst>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endParaRPr sz="2200" b="0">
              <a:solidFill>
                <a:srgbClr val="222222"/>
              </a:solidFill>
              <a:latin typeface="Calibri"/>
            </a:endParaR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endParaRPr sz="2200" b="0">
              <a:solidFill>
                <a:srgbClr val="222222"/>
              </a:solidFill>
              <a:latin typeface="Calibri"/>
            </a:endParaR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3755029"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two lines you need</a:t>
            </a:r>
          </a:p>
        </p:txBody>
      </p:sp>
      <p:sp>
        <p:nvSpPr>
          <p:cNvPr id="7" name="TextBox 6"/>
          <p:cNvSpPr txBox="1"/>
          <p:nvPr/>
        </p:nvSpPr>
        <p:spPr>
          <a:xfrm>
            <a:off x="502920" y="1700784"/>
            <a:ext cx="3755029" cy="4562856"/>
          </a:xfrm>
          <a:prstGeom prst="rect">
            <a:avLst/>
          </a:prstGeom>
          <a:noFill/>
        </p:spPr>
        <p:txBody>
          <a:bodyPr wrap="square" lIns="0" tIns="0" rIns="0" bIns="0">
            <a:spAutoFit/>
          </a:bodyPr>
          <a:lstStyle/>
          <a:p>
            <a:pPr algn="l">
              <a:lnSpc>
                <a:spcPct val="100000"/>
              </a:lnSpc>
              <a:spcAft>
                <a:spcPts val="800"/>
              </a:spcAft>
              <a:defRPr sz="2500" b="0">
                <a:solidFill>
                  <a:srgbClr val="222222"/>
                </a:solidFill>
                <a:latin typeface="Calibri"/>
              </a:defRPr>
            </a:pPr>
            <a:r>
              <a:rPr sz="2500" b="0">
                <a:solidFill>
                  <a:srgbClr val="222222"/>
                </a:solidFill>
                <a:latin typeface="Calibri"/>
              </a:rPr>
              <a:t>ledcAttach(pin, freq, bits);</a:t>
            </a:r>
          </a:p>
          <a:p>
            <a:pPr algn="l">
              <a:lnSpc>
                <a:spcPct val="100000"/>
              </a:lnSpc>
              <a:spcAft>
                <a:spcPts val="800"/>
              </a:spcAft>
              <a:defRPr sz="1250" b="0">
                <a:solidFill>
                  <a:srgbClr val="222222"/>
                </a:solidFill>
                <a:latin typeface="Calibri"/>
              </a:defRPr>
            </a:pPr>
            <a:endParaRPr sz="2500" b="0">
              <a:solidFill>
                <a:srgbClr val="222222"/>
              </a:solidFill>
              <a:latin typeface="Calibri"/>
            </a:endParaRPr>
          </a:p>
          <a:p>
            <a:pPr algn="l">
              <a:lnSpc>
                <a:spcPct val="100000"/>
              </a:lnSpc>
              <a:spcAft>
                <a:spcPts val="800"/>
              </a:spcAft>
              <a:defRPr sz="2500" b="0">
                <a:solidFill>
                  <a:srgbClr val="222222"/>
                </a:solidFill>
                <a:latin typeface="Calibri"/>
              </a:defRPr>
            </a:pPr>
            <a:r>
              <a:rPr sz="2500" b="0">
                <a:solidFill>
                  <a:srgbClr val="222222"/>
                </a:solidFill>
                <a:latin typeface="Calibri"/>
              </a:rPr>
              <a:t>ledcWrite(pin, duty);</a:t>
            </a:r>
          </a:p>
          <a:p>
            <a:pPr algn="l">
              <a:lnSpc>
                <a:spcPct val="100000"/>
              </a:lnSpc>
              <a:spcAft>
                <a:spcPts val="800"/>
              </a:spcAft>
              <a:defRPr sz="1250" b="0">
                <a:solidFill>
                  <a:srgbClr val="222222"/>
                </a:solidFill>
                <a:latin typeface="Calibri"/>
              </a:defRPr>
            </a:pPr>
            <a:endParaRPr sz="2500" b="0">
              <a:solidFill>
                <a:srgbClr val="222222"/>
              </a:solidFill>
              <a:latin typeface="Calibri"/>
            </a:endParaRPr>
          </a:p>
          <a:p>
            <a:pPr algn="l">
              <a:lnSpc>
                <a:spcPct val="100000"/>
              </a:lnSpc>
              <a:spcAft>
                <a:spcPts val="800"/>
              </a:spcAft>
              <a:defRPr sz="2500" b="0">
                <a:solidFill>
                  <a:srgbClr val="222222"/>
                </a:solidFill>
                <a:latin typeface="Calibri"/>
              </a:defRPr>
            </a:pPr>
            <a:r>
              <a:rPr sz="2500" b="0">
                <a:solidFill>
                  <a:srgbClr val="222222"/>
                </a:solidFill>
                <a:latin typeface="Calibri"/>
              </a:rPr>
              <a:t>This board package lets you talk straight to the pin.</a:t>
            </a:r>
          </a:p>
        </p:txBody>
      </p:sp>
      <p:sp>
        <p:nvSpPr>
          <p:cNvPr id="8" name="TextBox 7"/>
          <p:cNvSpPr txBox="1"/>
          <p:nvPr/>
        </p:nvSpPr>
        <p:spPr>
          <a:xfrm>
            <a:off x="4715149" y="1188720"/>
            <a:ext cx="6973626"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numbers we use, and why</a:t>
            </a:r>
          </a:p>
        </p:txBody>
      </p:sp>
      <p:sp>
        <p:nvSpPr>
          <p:cNvPr id="9" name="TextBox 8"/>
          <p:cNvSpPr txBox="1"/>
          <p:nvPr/>
        </p:nvSpPr>
        <p:spPr>
          <a:xfrm>
            <a:off x="4715149" y="1700784"/>
            <a:ext cx="6973626" cy="4562856"/>
          </a:xfrm>
          <a:prstGeom prst="rect">
            <a:avLst/>
          </a:prstGeom>
          <a:noFill/>
        </p:spPr>
        <p:txBody>
          <a:bodyPr wrap="square" lIns="0" tIns="0" rIns="0" bIns="0">
            <a:spAutoFit/>
          </a:bodyPr>
          <a:lstStyle/>
          <a:p>
            <a:pPr algn="l">
              <a:lnSpc>
                <a:spcPct val="100000"/>
              </a:lnSpc>
              <a:spcAft>
                <a:spcPts val="800"/>
              </a:spcAft>
              <a:defRPr sz="2400" b="0">
                <a:solidFill>
                  <a:srgbClr val="222222"/>
                </a:solidFill>
                <a:latin typeface="Calibri"/>
              </a:defRPr>
            </a:pPr>
            <a:r>
              <a:rPr sz="24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400" b="0">
                <a:solidFill>
                  <a:srgbClr val="222222"/>
                </a:solidFill>
                <a:latin typeface="Calibri"/>
              </a:defRPr>
            </a:pPr>
            <a:r>
              <a:rPr sz="2400" b="0">
                <a:solidFill>
                  <a:srgbClr val="222222"/>
                </a:solidFill>
                <a:latin typeface="Calibri"/>
              </a:rPr>
              <a:t>Resolution 8 bits. That gives duty values 0 to 255, because 2 to the power 8 is 256.</a:t>
            </a:r>
          </a:p>
          <a:p>
            <a:pPr algn="l">
              <a:lnSpc>
                <a:spcPct val="100000"/>
              </a:lnSpc>
              <a:spcAft>
                <a:spcPts val="800"/>
              </a:spcAft>
              <a:defRPr sz="2400" b="0">
                <a:solidFill>
                  <a:srgbClr val="222222"/>
                </a:solidFill>
                <a:latin typeface="Calibri"/>
              </a:defRPr>
            </a:pPr>
            <a:r>
              <a:rPr sz="2400" b="0">
                <a:solidFill>
                  <a:srgbClr val="222222"/>
                </a:solidFill>
                <a:latin typeface="Calibri"/>
              </a:rPr>
              <a:t>0 is off, 128 is about half power, 255 is flat out.</a:t>
            </a:r>
          </a:p>
          <a:p>
            <a:pPr algn="l">
              <a:lnSpc>
                <a:spcPct val="100000"/>
              </a:lnSpc>
              <a:spcAft>
                <a:spcPts val="800"/>
              </a:spcAft>
              <a:defRPr sz="1200" b="0">
                <a:solidFill>
                  <a:srgbClr val="222222"/>
                </a:solidFill>
                <a:latin typeface="Calibri"/>
              </a:defRPr>
            </a:pPr>
            <a:endParaRPr sz="2400" b="0">
              <a:solidFill>
                <a:srgbClr val="222222"/>
              </a:solidFill>
              <a:latin typeface="Calibri"/>
            </a:endParaRPr>
          </a:p>
          <a:p>
            <a:pPr algn="l">
              <a:lnSpc>
                <a:spcPct val="100000"/>
              </a:lnSpc>
              <a:spcAft>
                <a:spcPts val="800"/>
              </a:spcAft>
              <a:defRPr sz="2400" b="0">
                <a:solidFill>
                  <a:srgbClr val="222222"/>
                </a:solidFill>
                <a:latin typeface="Calibri"/>
              </a:defRPr>
            </a:pPr>
            <a:r>
              <a:rPr sz="24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A32A2A"/>
                </a:solidFill>
                <a:latin typeface="Calibri"/>
              </a:rPr>
              <a:t>SAFETY   </a:t>
            </a:r>
            <a:r>
              <a:rPr sz="18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A32A2A"/>
                </a:solidFill>
                <a:latin typeface="Calibri"/>
              </a:rPr>
              <a:t>SAFETY   </a:t>
            </a:r>
            <a:r>
              <a:rPr sz="18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endParaRPr sz="2200" b="0">
              <a:solidFill>
                <a:srgbClr val="222222"/>
              </a:solidFill>
              <a:latin typeface="Calibri"/>
            </a:endParaR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endParaRPr sz="2200" b="0">
              <a:solidFill>
                <a:srgbClr val="222222"/>
              </a:solidFill>
              <a:latin typeface="Calibri"/>
            </a:endParaR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lnSpc>
                <a:spcPct val="100000"/>
              </a:lnSpc>
              <a:spcAft>
                <a:spcPts val="200"/>
              </a:spcAft>
              <a:defRPr sz="900" b="0">
                <a:solidFill>
                  <a:srgbClr val="222222"/>
                </a:solidFill>
                <a:latin typeface="Calibri"/>
              </a:defRPr>
            </a:pPr>
            <a:endParaR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lnSpc>
                <a:spcPct val="100000"/>
              </a:lnSpc>
              <a:spcAft>
                <a:spcPts val="200"/>
              </a:spcAft>
              <a:defRPr sz="900" b="0">
                <a:solidFill>
                  <a:srgbClr val="222222"/>
                </a:solidFill>
                <a:latin typeface="Calibri"/>
              </a:defRPr>
            </a:pPr>
            <a:endParaR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endParaRPr sz="1800" b="0">
              <a:solidFill>
                <a:srgbClr val="222222"/>
              </a:solidFill>
              <a:latin typeface="Calibri"/>
            </a:endParaR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endParaRPr sz="1800" b="0">
              <a:solidFill>
                <a:srgbClr val="222222"/>
              </a:solidFill>
              <a:latin typeface="Calibri"/>
            </a:endParaR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endParaRPr sz="1800" b="0">
              <a:solidFill>
                <a:srgbClr val="222222"/>
              </a:solidFill>
              <a:latin typeface="Calibri"/>
            </a:endParaR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endParaRPr sz="2300" b="0">
              <a:solidFill>
                <a:srgbClr val="222222"/>
              </a:solidFill>
              <a:latin typeface="Calibri"/>
            </a:endParaR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endParaRPr sz="2200" b="0">
              <a:solidFill>
                <a:srgbClr val="222222"/>
              </a:solidFill>
              <a:latin typeface="Calibri"/>
            </a:endParaR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endParaRPr sz="2200" b="0">
              <a:solidFill>
                <a:srgbClr val="222222"/>
              </a:solidFill>
              <a:latin typeface="Calibri"/>
            </a:endParaR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endParaRPr sz="1800" b="0">
              <a:solidFill>
                <a:srgbClr val="222222"/>
              </a:solidFill>
              <a:latin typeface="Calibri"/>
            </a:endParaR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endParaRPr sz="1800" b="0">
              <a:solidFill>
                <a:srgbClr val="222222"/>
              </a:solidFill>
              <a:latin typeface="Calibri"/>
            </a:endParaR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endParaRPr sz="2000" b="0">
              <a:solidFill>
                <a:srgbClr val="222222"/>
              </a:solidFill>
              <a:latin typeface="Calibri"/>
            </a:endParaR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endParaRPr sz="2000" b="0">
              <a:solidFill>
                <a:srgbClr val="222222"/>
              </a:solidFill>
              <a:latin typeface="Calibri"/>
            </a:endParaR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endParaRPr sz="2100" b="0">
              <a:solidFill>
                <a:srgbClr val="222222"/>
              </a:solidFill>
              <a:latin typeface="Calibri"/>
            </a:endParaR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endParaRPr sz="2100" b="0">
              <a:solidFill>
                <a:srgbClr val="222222"/>
              </a:solidFill>
              <a:latin typeface="Calibri"/>
            </a:endParaR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lnSpc>
                <a:spcPct val="100000"/>
              </a:lnSpc>
              <a:spcAft>
                <a:spcPts val="600"/>
              </a:spcAft>
              <a:defRPr sz="400" b="0">
                <a:solidFill>
                  <a:srgbClr val="222222"/>
                </a:solidFill>
                <a:latin typeface="Calibri"/>
              </a:defRPr>
            </a:pPr>
            <a:endParaR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lnSpc>
                <a:spcPct val="100000"/>
              </a:lnSpc>
              <a:spcAft>
                <a:spcPts val="600"/>
              </a:spcAft>
              <a:defRPr sz="400" b="0">
                <a:solidFill>
                  <a:srgbClr val="222222"/>
                </a:solidFill>
                <a:latin typeface="Calibri"/>
              </a:defRPr>
            </a:pPr>
            <a:endParaR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lnSpc>
                <a:spcPct val="100000"/>
              </a:lnSpc>
              <a:spcAft>
                <a:spcPts val="600"/>
              </a:spcAft>
              <a:defRPr sz="400" b="0">
                <a:solidFill>
                  <a:srgbClr val="222222"/>
                </a:solidFill>
                <a:latin typeface="Calibri"/>
              </a:defRPr>
            </a:pPr>
            <a:endParaR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lnSpc>
                <a:spcPct val="100000"/>
              </a:lnSpc>
              <a:spcAft>
                <a:spcPts val="600"/>
              </a:spcAft>
              <a:defRPr sz="400" b="0">
                <a:solidFill>
                  <a:srgbClr val="222222"/>
                </a:solidFill>
                <a:latin typeface="Calibri"/>
              </a:defRPr>
            </a:pPr>
            <a:endParaR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endParaRPr sz="1800" b="0">
              <a:solidFill>
                <a:srgbClr val="222222"/>
              </a:solidFill>
              <a:latin typeface="Calibri"/>
            </a:endParaR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900" b="1">
                <a:solidFill>
                  <a:srgbClr val="1F3A5F"/>
                </a:solidFill>
                <a:latin typeface="Calibri"/>
              </a:defRPr>
            </a:pPr>
            <a:endParaR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900" b="1">
                <a:solidFill>
                  <a:srgbClr val="1F3A5F"/>
                </a:solidFill>
                <a:latin typeface="Calibri"/>
              </a:defRPr>
            </a:pPr>
            <a:endParaR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355080" y="4356977"/>
            <a:ext cx="5669279" cy="553998"/>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dirty="0">
                <a:solidFill>
                  <a:srgbClr val="666666"/>
                </a:solidFill>
                <a:latin typeface="Calibri"/>
              </a:rPr>
              <a:t>At 3.34 ft/s a 10 s leg is 33.4 ft, and sin(45) = cos(45) = 0.707</a:t>
            </a:r>
            <a:endParaRPr lang="en-US" sz="1800" b="0" dirty="0">
              <a:solidFill>
                <a:srgbClr val="666666"/>
              </a:solidFill>
              <a:latin typeface="Calibri"/>
            </a:endParaRPr>
          </a:p>
          <a:p>
            <a:pPr algn="l">
              <a:lnSpc>
                <a:spcPct val="100000"/>
              </a:lnSpc>
              <a:spcAft>
                <a:spcPts val="0"/>
              </a:spcAft>
              <a:defRPr sz="1800" b="0">
                <a:solidFill>
                  <a:srgbClr val="666666"/>
                </a:solidFill>
                <a:latin typeface="Calibri"/>
              </a:defRPr>
            </a:pPr>
            <a:r>
              <a:rPr lang="en-US" dirty="0">
                <a:solidFill>
                  <a:srgbClr val="666666"/>
                </a:solidFill>
                <a:latin typeface="Calibri"/>
              </a:rPr>
              <a:t>In Excel, =SIN(RADIANS(45) =SIN(45*(3.14/180)) = 0.707</a:t>
            </a:r>
            <a:endParaRPr b="0" dirty="0">
              <a:solidFill>
                <a:srgbClr val="666666"/>
              </a:solidFill>
              <a:latin typeface="Calibri"/>
            </a:endParaRP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endParaRPr sz="1800" b="0">
              <a:solidFill>
                <a:srgbClr val="222222"/>
              </a:solidFill>
              <a:latin typeface="Calibri"/>
            </a:endParaR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extLst>
                    <a:ext uri="{9D8B030D-6E8A-4147-A177-3AD203B41FA5}">
                      <a16:colId xmlns:a16="http://schemas.microsoft.com/office/drawing/2014/main" val="20000"/>
                    </a:ext>
                  </a:extLst>
                </a:gridCol>
                <a:gridCol w="2643929">
                  <a:extLst>
                    <a:ext uri="{9D8B030D-6E8A-4147-A177-3AD203B41FA5}">
                      <a16:colId xmlns:a16="http://schemas.microsoft.com/office/drawing/2014/main" val="20001"/>
                    </a:ext>
                  </a:extLst>
                </a:gridCol>
                <a:gridCol w="7118271">
                  <a:extLst>
                    <a:ext uri="{9D8B030D-6E8A-4147-A177-3AD203B41FA5}">
                      <a16:colId xmlns:a16="http://schemas.microsoft.com/office/drawing/2014/main" val="20002"/>
                    </a:ext>
                  </a:extLst>
                </a:gridCol>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extLst>
                  <a:ext uri="{0D108BD9-81ED-4DB2-BD59-A6C34878D82A}">
                    <a16:rowId xmlns:a16="http://schemas.microsoft.com/office/drawing/2014/main" val="10000"/>
                  </a:ext>
                </a:extLst>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extLst>
                  <a:ext uri="{0D108BD9-81ED-4DB2-BD59-A6C34878D82A}">
                    <a16:rowId xmlns:a16="http://schemas.microsoft.com/office/drawing/2014/main" val="10001"/>
                  </a:ext>
                </a:extLst>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extLst>
                  <a:ext uri="{0D108BD9-81ED-4DB2-BD59-A6C34878D82A}">
                    <a16:rowId xmlns:a16="http://schemas.microsoft.com/office/drawing/2014/main" val="10002"/>
                  </a:ext>
                </a:extLst>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endParaRPr sz="1800" b="0">
              <a:solidFill>
                <a:srgbClr val="222222"/>
              </a:solidFill>
              <a:latin typeface="Calibri"/>
            </a:endParaR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A32A2A"/>
                </a:solidFill>
                <a:latin typeface="Calibri"/>
              </a:rPr>
              <a:t>SAFETY   </a:t>
            </a:r>
            <a:r>
              <a:rPr sz="18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endParaRPr sz="2100" b="0">
              <a:solidFill>
                <a:srgbClr val="222222"/>
              </a:solidFill>
              <a:latin typeface="Calibri"/>
            </a:endParaR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8689</Words>
  <Application>Microsoft Office PowerPoint</Application>
  <PresentationFormat>Widescreen</PresentationFormat>
  <Paragraphs>811</Paragraphs>
  <Slides>39</Slides>
  <Notes>39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Consolas</vt:lpstr>
      <vt:lpstr>Office Theme</vt:lpstr>
      <vt:lpstr>PowerPoint Presentation</vt:lpstr>
      <vt:lpstr>What you will be able to do by the end</vt:lpstr>
      <vt:lpstr>Where we got to last lesson</vt:lpstr>
      <vt:lpstr>Today, in order</vt:lpstr>
      <vt:lpstr>Two kinds of motor, and why we use the one we do</vt:lpstr>
      <vt:lpstr>The H-bridge: four switches, four things a motor can do</vt:lpstr>
      <vt:lpstr>Why driving A rather than B reverses the motor</vt:lpstr>
      <vt:lpstr>Your four motors and their eight pins</vt:lpstr>
      <vt:lpstr>The problem: a pin is only ever on or off</vt:lpstr>
      <vt:lpstr>Pulse width modulation: how a pin makes a half speed</vt:lpstr>
      <vt:lpstr>Setting PWM up on this track</vt:lpstr>
      <vt:lpstr>l2a_one_motor  -  the whole idea in six lines</vt:lpstr>
      <vt:lpstr>PowerPoint Presentation</vt:lpstr>
      <vt:lpstr>Do it now  -  one motor</vt:lpstr>
      <vt:lpstr>PowerPoint Presentation</vt:lpstr>
      <vt:lpstr>Do it now  -  duty vs speed</vt:lpstr>
      <vt:lpstr>PowerPoint Presentation</vt:lpstr>
      <vt:lpstr>Three quantities, one relationship</vt:lpstr>
      <vt:lpstr>Ohm's law, and the power law that goes with it</vt:lpstr>
      <vt:lpstr>Practice it</vt:lpstr>
      <vt:lpstr>Series and parallel: two ways to wire two loads</vt:lpstr>
      <vt:lpstr>Series and parallel on the vehicle</vt:lpstr>
      <vt:lpstr>PowerPoint Presentation</vt:lpstr>
      <vt:lpstr>Tank drive</vt:lpstr>
      <vt:lpstr>Mixing: one stick, two sides</vt:lpstr>
      <vt:lpstr>The math you need to predict where it ends up</vt:lpstr>
      <vt:lpstr>Dead reckoning: the vehicle has no idea where it is</vt:lpstr>
      <vt:lpstr>Plotting where a maneuver ends up</vt:lpstr>
      <vt:lpstr>Running the bases  -  a maneuver that is not a square</vt:lpstr>
      <vt:lpstr>Deciding what to do: if, else if, else</vt:lpstr>
      <vt:lpstr>if, else if, else  -  the three shapes</vt:lpstr>
      <vt:lpstr>The three kinds of loop in C</vt:lpstr>
      <vt:lpstr>The same job, written three ways</vt:lpstr>
      <vt:lpstr>l2c_maneuver_square  -  the loop</vt:lpstr>
      <vt:lpstr>Do it now  -  drive a square</vt:lpstr>
      <vt:lpstr>Dead reckoning, and what it cannot do</vt:lpstr>
      <vt:lpstr>Drag race  -  next lesson and the one after</vt:lpstr>
      <vt:lpstr>If you want to go further before the next lesson</vt:lpstr>
      <vt:lpstr>Check yourself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Kevin Bowen</cp:lastModifiedBy>
  <cp:revision>1</cp:revision>
  <dcterms:created xsi:type="dcterms:W3CDTF">2013-01-27T09:14:16Z</dcterms:created>
  <dcterms:modified xsi:type="dcterms:W3CDTF">2026-09-07T16:32:26Z</dcterms:modified>
  <cp:category/>
</cp:coreProperties>
</file>