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boxes across the top: those are the four things the motor can be told to do. The picture underneath is ONE of them actually happening - the first one - drawn by Kevin.</a:t>
            </a:r>
          </a:p>
          <a:p>
            <a:r>
              <a:rPr sz="1200">
                <a:latin typeface="Calibri"/>
              </a:rPr>
              <a:t>Say that before anybody asks why they can only see two switches in the picture. The other two are the ones that are open.</a:t>
            </a:r>
          </a:p>
          <a:p>
            <a:r>
              <a:rPr sz="1200">
                <a:latin typeface="Calibri"/>
              </a:rPr>
              <a:t>Then trace the arrows with a finger on the projected slide, slowly, all the way round: in at + V, along the top, down the left, through the motor, back to GND. Have them do it too.</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pic>
        <p:nvPicPr>
          <p:cNvPr id="18" name="Picture 17" descr="h-bridge-forward-current.png"/>
          <p:cNvPicPr>
            <a:picLocks noChangeAspect="1"/>
          </p:cNvPicPr>
          <p:nvPr/>
        </p:nvPicPr>
        <p:blipFill>
          <a:blip r:embed="rId3"/>
          <a:stretch>
            <a:fillRect/>
          </a:stretch>
        </p:blipFill>
        <p:spPr>
          <a:xfrm>
            <a:off x="2944904" y="3474720"/>
            <a:ext cx="6301886" cy="2148840"/>
          </a:xfrm>
          <a:prstGeom prst="rect">
            <a:avLst/>
          </a:prstGeom>
        </p:spPr>
      </p:pic>
      <p:sp>
        <p:nvSpPr>
          <p:cNvPr id="19" name="TextBox 18"/>
          <p:cNvSpPr txBox="1"/>
          <p:nvPr/>
        </p:nvSpPr>
        <p:spPr>
          <a:xfrm>
            <a:off x="502920" y="5687568"/>
            <a:ext cx="11185855"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arrows are the current: in at + V, along the top, down the left, through the motor, back to GND. That is the FORWARD box above. Turn pin B on instead of pin A and it all runs backwards.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3" cy="2762250"/>
        </p:xfrm>
        <a:graphic>
          <a:graphicData uri="http://schemas.openxmlformats.org/drawingml/2006/table">
            <a:tbl>
              <a:tblPr firstRow="1" bandRow="1">
                <a:tableStyleId>{5C22544A-7EE6-4342-B048-85BDC9FD1C3A}</a:tableStyleId>
              </a:tblPr>
              <a:tblGrid>
                <a:gridCol w="3355756"/>
                <a:gridCol w="1677878"/>
                <a:gridCol w="1677878"/>
                <a:gridCol w="4474341"/>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3755029"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two lines you need</a:t>
            </a:r>
          </a:p>
        </p:txBody>
      </p:sp>
      <p:sp>
        <p:nvSpPr>
          <p:cNvPr id="7" name="TextBox 6"/>
          <p:cNvSpPr txBox="1"/>
          <p:nvPr/>
        </p:nvSpPr>
        <p:spPr>
          <a:xfrm>
            <a:off x="502920" y="1700784"/>
            <a:ext cx="3755029" cy="4562856"/>
          </a:xfrm>
          <a:prstGeom prst="rect">
            <a:avLst/>
          </a:prstGeom>
          <a:noFill/>
        </p:spPr>
        <p:txBody>
          <a:bodyPr wrap="square" lIns="0" tIns="0" rIns="0" bIns="0">
            <a:spAutoFit/>
          </a:bodyPr>
          <a:lstStyle/>
          <a:p>
            <a:pPr algn="l">
              <a:lnSpc>
                <a:spcPct val="100000"/>
              </a:lnSpc>
              <a:spcAft>
                <a:spcPts val="800"/>
              </a:spcAft>
              <a:defRPr sz="2500" b="0">
                <a:solidFill>
                  <a:srgbClr val="222222"/>
                </a:solidFill>
                <a:latin typeface="Calibri"/>
              </a:defRPr>
            </a:pPr>
            <a:r>
              <a:rPr sz="2500" b="0">
                <a:solidFill>
                  <a:srgbClr val="222222"/>
                </a:solidFill>
                <a:latin typeface="Calibri"/>
              </a:rPr>
              <a:t>ledcAttach(pin, freq, bits);</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ledcWrite(pin, duty);</a:t>
            </a:r>
          </a:p>
          <a:p>
            <a:pPr algn="l">
              <a:lnSpc>
                <a:spcPct val="100000"/>
              </a:lnSpc>
              <a:spcAft>
                <a:spcPts val="800"/>
              </a:spcAft>
              <a:defRPr sz="1250" b="0">
                <a:solidFill>
                  <a:srgbClr val="222222"/>
                </a:solidFill>
                <a:latin typeface="Calibri"/>
              </a:defRPr>
            </a:pPr>
          </a:p>
          <a:p>
            <a:pPr algn="l">
              <a:lnSpc>
                <a:spcPct val="100000"/>
              </a:lnSpc>
              <a:spcAft>
                <a:spcPts val="800"/>
              </a:spcAft>
              <a:defRPr sz="2500" b="0">
                <a:solidFill>
                  <a:srgbClr val="222222"/>
                </a:solidFill>
                <a:latin typeface="Calibri"/>
              </a:defRPr>
            </a:pPr>
            <a:r>
              <a:rPr sz="2500" b="0">
                <a:solidFill>
                  <a:srgbClr val="222222"/>
                </a:solidFill>
                <a:latin typeface="Calibri"/>
              </a:rPr>
              <a:t>This board package lets you talk straight to the pin.</a:t>
            </a:r>
          </a:p>
        </p:txBody>
      </p:sp>
      <p:sp>
        <p:nvSpPr>
          <p:cNvPr id="8" name="TextBox 7"/>
          <p:cNvSpPr txBox="1"/>
          <p:nvPr/>
        </p:nvSpPr>
        <p:spPr>
          <a:xfrm>
            <a:off x="4715149" y="1188720"/>
            <a:ext cx="6973626" cy="457200"/>
          </a:xfrm>
          <a:prstGeom prst="rect">
            <a:avLst/>
          </a:prstGeom>
          <a:noFill/>
        </p:spPr>
        <p:txBody>
          <a:bodyPr wrap="square" lIns="0" tIns="0" rIns="0" bIns="0">
            <a:spAutoFit/>
          </a:bodyPr>
          <a:lstStyle/>
          <a:p>
            <a:pPr algn="l">
              <a:lnSpc>
                <a:spcPct val="100000"/>
              </a:lnSpc>
              <a:spcAft>
                <a:spcPts val="300"/>
              </a:spcAft>
              <a:defRPr sz="2200" b="1">
                <a:solidFill>
                  <a:srgbClr val="0E7C86"/>
                </a:solidFill>
                <a:latin typeface="Calibri"/>
              </a:defRPr>
            </a:pPr>
            <a:r>
              <a:rPr sz="2200" b="1">
                <a:solidFill>
                  <a:srgbClr val="0E7C86"/>
                </a:solidFill>
                <a:latin typeface="Calibri"/>
              </a:rPr>
              <a:t>The numbers we use, and why</a:t>
            </a:r>
          </a:p>
        </p:txBody>
      </p:sp>
      <p:sp>
        <p:nvSpPr>
          <p:cNvPr id="9" name="TextBox 8"/>
          <p:cNvSpPr txBox="1"/>
          <p:nvPr/>
        </p:nvSpPr>
        <p:spPr>
          <a:xfrm>
            <a:off x="4715149" y="1700784"/>
            <a:ext cx="6973626" cy="4562856"/>
          </a:xfrm>
          <a:prstGeom prst="rect">
            <a:avLst/>
          </a:prstGeom>
          <a:noFill/>
        </p:spPr>
        <p:txBody>
          <a:bodyPr wrap="square" lIns="0" tIns="0" rIns="0" bIns="0">
            <a:spAutoFit/>
          </a:bodyPr>
          <a:lstStyle/>
          <a:p>
            <a:pPr algn="l">
              <a:lnSpc>
                <a:spcPct val="100000"/>
              </a:lnSpc>
              <a:spcAft>
                <a:spcPts val="800"/>
              </a:spcAft>
              <a:defRPr sz="2400" b="0">
                <a:solidFill>
                  <a:srgbClr val="222222"/>
                </a:solidFill>
                <a:latin typeface="Calibri"/>
              </a:defRPr>
            </a:pPr>
            <a:r>
              <a:rPr sz="24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400" b="0">
                <a:solidFill>
                  <a:srgbClr val="222222"/>
                </a:solidFill>
                <a:latin typeface="Calibri"/>
              </a:defRPr>
            </a:pPr>
            <a:r>
              <a:rPr sz="2400" b="0">
                <a:solidFill>
                  <a:srgbClr val="222222"/>
                </a:solidFill>
                <a:latin typeface="Calibri"/>
              </a:rPr>
              <a:t>Resolution 8 bits. That gives duty values 0 to 255, because 2 to the power 8 is 256.</a:t>
            </a:r>
          </a:p>
          <a:p>
            <a:pPr algn="l">
              <a:lnSpc>
                <a:spcPct val="100000"/>
              </a:lnSpc>
              <a:spcAft>
                <a:spcPts val="800"/>
              </a:spcAft>
              <a:defRPr sz="2400" b="0">
                <a:solidFill>
                  <a:srgbClr val="222222"/>
                </a:solidFill>
                <a:latin typeface="Calibri"/>
              </a:defRPr>
            </a:pPr>
            <a:r>
              <a:rPr sz="2400" b="0">
                <a:solidFill>
                  <a:srgbClr val="222222"/>
                </a:solidFill>
                <a:latin typeface="Calibri"/>
              </a:rPr>
              <a:t>0 is off, 128 is about half power, 255 is flat out.</a:t>
            </a:r>
          </a:p>
          <a:p>
            <a:pPr algn="l">
              <a:lnSpc>
                <a:spcPct val="100000"/>
              </a:lnSpc>
              <a:spcAft>
                <a:spcPts val="800"/>
              </a:spcAft>
              <a:defRPr sz="1200" b="0">
                <a:solidFill>
                  <a:srgbClr val="222222"/>
                </a:solidFill>
                <a:latin typeface="Calibri"/>
              </a:defRPr>
            </a:pPr>
          </a:p>
          <a:p>
            <a:pPr algn="l">
              <a:lnSpc>
                <a:spcPct val="100000"/>
              </a:lnSpc>
              <a:spcAft>
                <a:spcPts val="800"/>
              </a:spcAft>
              <a:defRPr sz="2400" b="0">
                <a:solidFill>
                  <a:srgbClr val="222222"/>
                </a:solidFill>
                <a:latin typeface="Calibri"/>
              </a:defRPr>
            </a:pPr>
            <a:r>
              <a:rPr sz="24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1217168"/>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a:p>
            <a:pPr algn="l">
              <a:lnSpc>
                <a:spcPct val="100000"/>
              </a:lnSpc>
              <a:spcAft>
                <a:spcPts val="0"/>
              </a:spcAft>
              <a:defRPr sz="1800" b="0">
                <a:solidFill>
                  <a:srgbClr val="666666"/>
                </a:solidFill>
                <a:latin typeface="Calibri"/>
              </a:defRPr>
            </a:pPr>
            <a:r>
              <a:rPr sz="1800" b="0">
                <a:solidFill>
                  <a:srgbClr val="666666"/>
                </a:solidFill>
                <a:latin typeface="Calibri"/>
              </a:rPr>
              <a:t>In Excel:  =SIN(RADIANS(45))  or  =SIN(45*(3.14/180))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