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Blocks on every desk before anybody sits down. The wheels-off-the-ground rule is easier to keep than to introduce halfway through.</a:t>
            </a:r>
          </a:p>
          <a:p>
            <a:r>
              <a:rPr sz="1200">
                <a:latin typeface="Calibri"/>
              </a:rPr>
              <a:t>Today is the first lesson where a mistake moves. Set that tone in the first minute.</a:t>
            </a:r>
          </a:p>
          <a:p>
            <a:r>
              <a:rPr sz="1200">
                <a:latin typeface="Calibri"/>
              </a:rPr>
              <a:t>Ask who brought the LED drawing from last lesson. It gets used in Lesson 4, not today, but asking keeps them in the habit.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of these are math objectives and nobody minds, because by the end they will have used the math to predict where a vehicle stops.</a:t>
            </a:r>
          </a:p>
          <a:p>
            <a:r>
              <a:rPr sz="1200">
                <a:latin typeface="Calibri"/>
              </a:rPr>
              <a:t>The last one - explaining why dead reckoning drifts - is the one that matters most and takes the whole lesson to earn.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Sixty seconds. If anybody missed Lesson 1, this plus a neighbor is enough to keep them with the class.</a:t>
            </a:r>
          </a:p>
          <a:p>
            <a:r>
              <a:rPr sz="1200">
                <a:latin typeface="Calibri"/>
              </a:rPr>
              <a:t>Read the safety panel out loud rather than pointing at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Note where the two breaks fall, and that the floor gets cleared at 2:40.</a:t>
            </a:r>
          </a:p>
          <a:p>
            <a:r>
              <a:rPr sz="1200">
                <a:latin typeface="Calibri"/>
              </a:rPr>
              <a:t>If you are running late, shorten the Ohm's law section rather than the square. The square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Keep this short. They are here to drive something, not to compare motor topologies.</a:t>
            </a:r>
          </a:p>
          <a:p>
            <a:r>
              <a:rPr sz="1200">
                <a:latin typeface="Calibri"/>
              </a:rPr>
              <a:t>The one sentence that has to survive: a brushed motor goes one way when current flows one way, and the other way when it flows the other way.</a:t>
            </a:r>
          </a:p>
          <a:p>
            <a:r>
              <a:rPr sz="1200">
                <a:latin typeface="Calibri"/>
              </a:rPr>
              <a:t>Brushless and ESCs are on the slide because our bigger vehicles use them and somebody always asks. Two sentences,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Four boxes across the top: those are the four things the motor can be told to do. The picture underneath is ONE of them actually happening - the first one - drawn by Kevin.</a:t>
            </a:r>
          </a:p>
          <a:p>
            <a:r>
              <a:rPr sz="1200">
                <a:latin typeface="Calibri"/>
              </a:rPr>
              <a:t>Say that before anybody asks why they can only see two switches in the picture. The other two are the ones that are open.</a:t>
            </a:r>
          </a:p>
          <a:p>
            <a:r>
              <a:rPr sz="1200">
                <a:latin typeface="Calibri"/>
              </a:rPr>
              <a:t>Then trace the arrows with a finger on the projected slide, slowly, all the way round: in at + V, along the top, down the left, through the motor, back to GND. Have them do it too.</a:t>
            </a:r>
          </a:p>
          <a:p>
            <a:r>
              <a:rPr sz="1200">
                <a:latin typeface="Calibri"/>
              </a:rPr>
              <a:t>Ask what happens if you close both switches on one side. Somebody will work out that it shorts the supply - which is exactly why the driver chip will not let you.</a:t>
            </a:r>
          </a:p>
          <a:p>
            <a:r>
              <a:rPr sz="1200">
                <a:latin typeface="Calibri"/>
              </a:rPr>
              <a:t>Forward and reverse are the same circuit with the current running the other way. That is the whole trick, and it is why direction costs nothing extra in the program.</a:t>
            </a:r>
          </a:p>
          <a:p>
            <a:r>
              <a:rPr sz="1200">
                <a:latin typeface="Calibri"/>
              </a:rPr>
              <a:t>Brake and coast are worth ten seconds each here; they come back properly in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Land the KEY POINT and then extend it out loud: hold voltage as push and current as flow, and Ohm's law after the break is the same idea with a resistor in place of the motor.</a:t>
            </a:r>
          </a:p>
          <a:p>
            <a:r>
              <a:rPr sz="1200">
                <a:latin typeface="Calibri"/>
              </a:rPr>
              <a:t>If a student asks about back-EMF, that is a good question and it belongs in the advanced course. Park it.</a:t>
            </a:r>
          </a:p>
          <a:p>
            <a:r>
              <a:rPr sz="1200">
                <a:latin typeface="Calibri"/>
              </a:rPr>
              <a:t>The practical takeaway is the last sentence on the right: a wheel running backwards is a two-number fix in the sketch, not a rewiring job.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These pin numbers come straight out of the sketch they are about to open, so they can check the table against the file.</a:t>
            </a:r>
          </a:p>
          <a:p>
            <a:r>
              <a:rPr sz="1200">
                <a:latin typeface="Calibri"/>
              </a:rPr>
              <a:t>The note is the practically useful bit: a wheel running backwards is a two-number edit in the program, never a rewiring job.</a:t>
            </a:r>
          </a:p>
          <a:p>
            <a:r>
              <a:rPr sz="1200">
                <a:latin typeface="Calibri"/>
              </a:rPr>
              <a:t>Get them to find these constants at the top of l2a_one_motor.ino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the question on the slide and wait. Somebody will suggest half the voltage - that is the wrong answer worth having out loud.</a:t>
            </a:r>
          </a:p>
          <a:p>
            <a:r>
              <a:rPr sz="1200">
                <a:latin typeface="Calibri"/>
              </a:rPr>
              <a:t>The switch-flicked-very-fast analogy does the work. Follow it with the point that the motor is too heavy to follow the switching, so it feels the average.</a:t>
            </a:r>
          </a:p>
          <a:p>
            <a:r>
              <a:rPr sz="1200">
                <a:latin typeface="Calibri"/>
              </a:rPr>
              <a:t>Duty cycle is a percentage. Say the word percentage - it connects this to math they already have.</a:t>
            </a:r>
          </a:p>
          <a:p>
            <a:r>
              <a:rPr sz="1200">
                <a:latin typeface="Calibri"/>
              </a:rPr>
              <a:t>The hardware does the switching, not their program. That is why they only ever write one number.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Draw the square wave on the board first, then reveal the slide. It lands better if they have watched it being built.</a:t>
            </a:r>
          </a:p>
          <a:p>
            <a:r>
              <a:rPr sz="1200">
                <a:latin typeface="Calibri"/>
              </a:rPr>
              <a:t>The idea to land: the pin is only ever fully on or fully off. Half speed is half the TIME on, not half the voltage.</a:t>
            </a:r>
          </a:p>
          <a:p>
            <a:r>
              <a:rPr sz="1200">
                <a:latin typeface="Calibri"/>
              </a:rPr>
              <a:t>Analogy that works: a light switch flicked very fast. Too fast to see flicker, so the room looks half lit.</a:t>
            </a:r>
          </a:p>
          <a:p>
            <a:r>
              <a:rPr sz="1200">
                <a:latin typeface="Calibri"/>
              </a:rPr>
              <a:t>Duty cycle is a percentage, which is why the math lesson and the motor lesson are the same lesson.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left column is the two lines they will type. The right column is why the numbers are what they are.</a:t>
            </a:r>
          </a:p>
          <a:p>
            <a:r>
              <a:rPr sz="1200">
                <a:latin typeface="Calibri"/>
              </a:rPr>
              <a:t>The frequency and resolution on this slide are read out of the sketch at build time, so they match the file exactly.</a:t>
            </a:r>
          </a:p>
          <a:p>
            <a:r>
              <a:rPr sz="1200">
                <a:latin typeface="Calibri"/>
              </a:rPr>
              <a:t>Flag the 300 Hz experiment now. They do it in the next activity but one, and hearing the motors sing is the moment PWM becomes real.</a:t>
            </a:r>
          </a:p>
          <a:p>
            <a:r>
              <a:rPr sz="1200">
                <a:latin typeface="Calibri"/>
              </a:rPr>
              <a:t>This board package lets you name the PIN in ledcWrite. Students who search online will find older code with numbered channels - that is the 2.x way of doing the same job, and it does not compile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Six lines, three states: one way, the other way, and off.</a:t>
            </a:r>
          </a:p>
          <a:p>
            <a:r>
              <a:rPr sz="1200">
                <a:latin typeface="Calibri"/>
              </a:rPr>
              <a:t>Ask which line sets the direction and which sets the speed, and do not accept the first confident answer without checking it against the code.</a:t>
            </a:r>
          </a:p>
          <a:p>
            <a:r>
              <a:rPr sz="1200">
                <a:latin typeface="Calibri"/>
              </a:rPr>
              <a:t>Only the front left motor moves. Say why: a vehicle on a block with one wheel turning cannot surprise anybody.</a:t>
            </a:r>
          </a:p>
          <a:p>
            <a:r>
              <a:rPr sz="1200">
                <a:latin typeface="Calibri"/>
              </a:rPr>
              <a:t>Both pins on at once is a hard brake. Mention it, do not demonstrate it today.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First of three activities. Twenty seconds on this slide.</a:t>
            </a:r>
          </a:p>
          <a:p>
            <a:r>
              <a:rPr sz="1200">
                <a:latin typeface="Calibri"/>
              </a:rPr>
              <a:t>Blocks under every vehicle before anybody uploads.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Check every vehicle is on a block before anybody uploads. Walk the room.</a:t>
            </a:r>
          </a:p>
          <a:p>
            <a:r>
              <a:rPr sz="1200">
                <a:latin typeface="Calibri"/>
              </a:rPr>
              <a:t>Step 3 is the one to talk about: at a lower duty the wheel is being pushed less hard, which is not quite the same as going slower. Keep it at that level.</a:t>
            </a:r>
          </a:p>
          <a:p>
            <a:r>
              <a:rPr sz="1200">
                <a:latin typeface="Calibri"/>
              </a:rPr>
              <a:t>If a group finds a duty so low the wheel will not start at all, tell them they have found something real - and that the next activity, l2b_speed_ramp, is built to pin that exact number down.</a:t>
            </a:r>
          </a:p>
          <a:p>
            <a:r>
              <a:rPr sz="1200">
                <a:latin typeface="Calibri"/>
              </a:rPr>
              <a:t>Step 5 moves the pins to another motor. If nothing happens, they have almost certainly typed one pin of a pair.</a:t>
            </a:r>
          </a:p>
          <a:p>
            <a:r>
              <a:rPr sz="1200">
                <a:latin typeface="Calibri"/>
              </a:rPr>
              <a:t>ANSWER, at 60: slower AND with less force. A lower duty means the pin is on for less of each cycle, so the motor gets less average power. Near the bottom it may not have enough to overcome friction at all.</a:t>
            </a:r>
          </a:p>
          <a:p>
            <a:r>
              <a:rPr sz="1200">
                <a:latin typeface="Calibri"/>
              </a:rPr>
              <a:t>ANSWER, swapping pins: the motor turns whichever way the current flows through it. Swap which pin is driven and the current runs through the motor the other way, so it spins the other way. Nothing was rewired - only which end is positive.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of three. Wheels still off the ground - this one runs all four to full speed.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one runs all four wheels to full speed. Blocks checked again before anybody uploads.</a:t>
            </a:r>
          </a:p>
          <a:p>
            <a:r>
              <a:rPr sz="1200">
                <a:latin typeface="Calibri"/>
              </a:rPr>
              <a:t>Step 5 is the memorable one. Get the whole room to change to 300 Hz at the same time so they hear it together.</a:t>
            </a:r>
          </a:p>
          <a:p>
            <a:r>
              <a:rPr sz="1200">
                <a:latin typeface="Calibri"/>
              </a:rPr>
              <a:t>The whine is the switching frequency, now inside human hearing. At 20 kHz it is above it, which is exactly why we chose that number.</a:t>
            </a:r>
          </a:p>
          <a:p>
            <a:r>
              <a:rPr sz="1200">
                <a:latin typeface="Calibri"/>
              </a:rPr>
              <a:t>The ramp holds each duty value for STEP_MS so that the number on the screen and the wheel in front of them line up. Steps of 5 get them within 5; step 4 (DUTY_STEP = 1) gets the exact number, at the cost of a much slower ramp. Groups that finish early can check whether all four wheels start at the same duty - they usually do not.</a:t>
            </a:r>
          </a:p>
          <a:p>
            <a:r>
              <a:rPr sz="1200">
                <a:latin typeface="Calibri"/>
              </a:rPr>
              <a:t>ANSWER, proportional: no. At the bottom friction wins - the wheels do nothing at all until the duty is high enough to break them loose, then they jump into motion. Above that it is roughly a straight line, and at the very top the sound stops changing because the motor is close to its full speed.</a:t>
            </a:r>
          </a:p>
          <a:p>
            <a:r>
              <a:rPr sz="1200">
                <a:latin typeface="Calibri"/>
              </a:rPr>
              <a:t>ANSWER, the whine: it is the PWM switching itself. At 300 Hz the motor coils buzz 300 times a second, well inside human hearing. At 20 kHz the buzz is still there, but above what a human ear can hear - which is exactly why we chose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Twenty-five minutes away from the vehicle. Tell them why: the LED resistor, the current budget in Lesson 4 and the battery all live here.</a:t>
            </a:r>
          </a:p>
          <a:p>
            <a:r>
              <a:rPr sz="1200">
                <a:latin typeface="Calibri"/>
              </a:rPr>
              <a:t>Hand out breadboards and multimeters now if you are doing the practical version.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Ask them to draw the triangle in their engineering notebook before you show the next slide.</a:t>
            </a:r>
          </a:p>
          <a:p>
            <a:r>
              <a:rPr sz="1200">
                <a:latin typeface="Calibri"/>
              </a:rPr>
              <a:t>Kevin's Ohm's Law deck has more practice problems if this group wants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relationships, and between them they explain every resistor and every current budget on this vehicle.</a:t>
            </a:r>
          </a:p>
          <a:p>
            <a:r>
              <a:rPr sz="1200">
                <a:latin typeface="Calibri"/>
              </a:rPr>
              <a:t>Do one worked example on the board before they look at the slide, and make them tell you which quantity is the unknown.</a:t>
            </a:r>
          </a:p>
          <a:p>
            <a:r>
              <a:rPr sz="1200">
                <a:latin typeface="Calibri"/>
              </a:rPr>
              <a:t>Units matter more than the algebra here. Volts, amps, ohms, watts - keep saying them.</a:t>
            </a:r>
          </a:p>
          <a:p>
            <a:r>
              <a:rPr sz="1200">
                <a:latin typeface="Calibri"/>
              </a:rPr>
              <a:t>The reason this is in a robotics course: the LED resistor and the 32-LED current budget are both this, and getting them wrong smells of hot plastic.</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Give them four minutes, then take answers from the room rather than reading them out.</a:t>
            </a:r>
          </a:p>
          <a:p>
            <a:r>
              <a:rPr sz="1200">
                <a:latin typeface="Calibri"/>
              </a:rPr>
              <a:t>Question 4 is the one worth dwelling on - it connects the math back to the vehicle they are about to drive.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Same two parts, two different wirings, completely different behavior. That is the whole slide.</a:t>
            </a:r>
          </a:p>
          <a:p>
            <a:r>
              <a:rPr sz="1200">
                <a:latin typeface="Calibri"/>
              </a:rPr>
              <a:t>Series: one path, so the same current everywhere and the voltage shared out. Parallel: two paths, so the same voltage across each and the currents add.</a:t>
            </a:r>
          </a:p>
          <a:p>
            <a:r>
              <a:rPr sz="1200">
                <a:latin typeface="Calibri"/>
              </a:rPr>
              <a:t>Ask which one the 32 LEDs must be, and why. The answer - parallel, because each needs the full supply voltage - leads straight into the current budget.</a:t>
            </a:r>
          </a:p>
          <a:p>
            <a:r>
              <a:rPr sz="1200">
                <a:latin typeface="Calibri"/>
              </a:rPr>
              <a:t>Christmas lights are the story everyone already knows: one bulb out and the whole string dies means series.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payoff slide. Tie it to hardware they have handled.</a:t>
            </a:r>
          </a:p>
          <a:p>
            <a:r>
              <a:rPr sz="1200">
                <a:latin typeface="Calibri"/>
              </a:rPr>
              <a:t>If time is short, this is the slide to keep and the practice problems are the ones to drop.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last hour, and the best part of the lesson. From here the vehicle drives on the floor.</a:t>
            </a:r>
          </a:p>
          <a:p>
            <a:r>
              <a:rPr sz="1200">
                <a:latin typeface="Calibri"/>
              </a:rPr>
              <a:t>Announce the floor-clearing time now so bags get moved before you need the space.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Demonstrate rather than describe. Hold a vehicle up and spin the wheels on one side by hand.</a:t>
            </a:r>
          </a:p>
          <a:p>
            <a:r>
              <a:rPr sz="1200">
                <a:latin typeface="Calibri"/>
              </a:rPr>
              <a:t>Get them to predict each of the three cases before you read them out.</a:t>
            </a:r>
          </a:p>
          <a:p>
            <a:r>
              <a:rPr sz="1200">
                <a:latin typeface="Calibri"/>
              </a:rPr>
              <a:t>The cost of skid steering - wheels scrubbing sideways - is the reason their square will not close. Plant that now so it is not a surprise later.</a:t>
            </a:r>
          </a:p>
          <a:p>
            <a:r>
              <a:rPr sz="1200">
                <a:latin typeface="Calibri"/>
              </a:rPr>
              <a:t>Excavators, tanks and most small robots all do this. It is not a compromise, it is a design choice.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numbers in, two numbers out. Write the two lines on the board and work one example with the room: stick half forward and half right, what does each side get?</a:t>
            </a:r>
          </a:p>
          <a:p>
            <a:r>
              <a:rPr sz="1200">
                <a:latin typeface="Calibri"/>
              </a:rPr>
              <a:t>The constrain() is not decoration. Without it, forward plus turn can ask for more than the motor has, and the vehicle turns the wrong way.</a:t>
            </a:r>
          </a:p>
          <a:p>
            <a:r>
              <a:rPr sz="1200">
                <a:latin typeface="Calibri"/>
              </a:rPr>
              <a:t>Ask what happens with the stick pushed fully sideways: one side forward, one side back, and the vehicle spins on the spot. That is the move they need for the square.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on the board with the room, do not read the slide.</a:t>
            </a:r>
          </a:p>
          <a:p>
            <a:r>
              <a:rPr sz="1200">
                <a:latin typeface="Calibri"/>
              </a:rPr>
              <a:t>Circumference and pi turn up here for a real reason. Point back at the STEM slide from Lesson 1.</a:t>
            </a:r>
          </a:p>
          <a:p>
            <a:r>
              <a:rPr sz="1200">
                <a:latin typeface="Calibri"/>
              </a:rPr>
              <a:t>The important distinction: they KNOW the time because they wrote it in a delay(); they must MEASURE the speed, because it depends on their vehicle and their floor.</a:t>
            </a:r>
          </a:p>
          <a:p>
            <a:r>
              <a:rPr sz="1200">
                <a:latin typeface="Calibri"/>
              </a:rPr>
              <a:t>Have them write the two formulas in their notebooks. They use both in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vehicle has no idea where it is. Say that sentence out loud - it is the point of the diagram and it surprises people.</a:t>
            </a:r>
          </a:p>
          <a:p>
            <a:r>
              <a:rPr sz="1200">
                <a:latin typeface="Calibri"/>
              </a:rPr>
              <a:t>Everything it does here is open loop: a speed, for a time, and then a hope.</a:t>
            </a:r>
          </a:p>
          <a:p>
            <a:r>
              <a:rPr sz="1200">
                <a:latin typeface="Calibri"/>
              </a:rPr>
              <a:t>Ask what makes the real path miss the drawn one. Battery voltage, floor surface, one motor slightly faster than another, wheel slip on the turn.</a:t>
            </a:r>
          </a:p>
          <a:p>
            <a:r>
              <a:rPr sz="1200">
                <a:latin typeface="Calibri"/>
              </a:rPr>
              <a:t>This is the honest introduction to why sensors exist, and it sets up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trigonometry promised on the STEM slide in Lesson 1. Point back at it.</a:t>
            </a:r>
          </a:p>
          <a:p>
            <a:r>
              <a:rPr sz="1200">
                <a:latin typeface="Calibri"/>
              </a:rPr>
              <a:t>Each leg of a maneuver is a distance on a bearing, and any distance on a bearing splits into an east part and a north part.</a:t>
            </a:r>
          </a:p>
          <a:p>
            <a:r>
              <a:rPr sz="1200">
                <a:latin typeface="Calibri"/>
              </a:rPr>
              <a:t>Do the 45 degree case on the board first. Sine and cosine of 45 are both 0.707, so a leg at 45 degrees moves you equally in both.</a:t>
            </a:r>
          </a:p>
          <a:p>
            <a:r>
              <a:rPr sz="1200">
                <a:latin typeface="Calibri"/>
              </a:rPr>
              <a:t>Bearings here are measured the navigator's way: 0 is straight ahead and they increase clockwise.</a:t>
            </a:r>
          </a:p>
          <a:p>
            <a:r>
              <a:rPr sz="1200">
                <a:latin typeface="Calibri"/>
              </a:rPr>
              <a:t>Then the whole path is just adding the legs up, which is what the table on the right does. The four legs are the baseball diamond on the next slide: home to first at 45 degrees, then three left turns, which is why the bearings go 45, 315, 225, 135.</a:t>
            </a:r>
          </a:p>
          <a:p>
            <a:r>
              <a:rPr sz="1200">
                <a:latin typeface="Calibri"/>
              </a:rPr>
              <a:t>Worth saying that this is exactly how a ship's dead reckoning plot is kept - and why it drifts, because every leg's error is added to the one before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extension exercise for anybody who finishes the square early, and it is a good homework.</a:t>
            </a:r>
          </a:p>
          <a:p>
            <a:r>
              <a:rPr sz="1200">
                <a:latin typeface="Calibri"/>
              </a:rPr>
              <a:t>The point is that the PROGRAM does not get harder - only the arithmetic does. Drive, turn, drive, turn, exactly as before.</a:t>
            </a:r>
          </a:p>
          <a:p>
            <a:r>
              <a:rPr sz="1200">
                <a:latin typeface="Calibri"/>
              </a:rPr>
              <a:t>A spreadsheet is the right tool here and using one is a real skill. One row per leg, and a scatter chart of east against north.</a:t>
            </a:r>
          </a:p>
          <a:p>
            <a:r>
              <a:rPr sz="1200">
                <a:latin typeface="Calibri"/>
              </a:rPr>
              <a:t>Predicting the path before driving it is the whole idea. Get them to print the plot and lay it next to the tape on the floor.</a:t>
            </a:r>
          </a:p>
          <a:p>
            <a:r>
              <a:rPr sz="1200">
                <a:latin typeface="Calibri"/>
              </a:rPr>
              <a:t>If somebody asks why 45 degrees is special: sin and cos are both 0.707, so the legs are equal in both directions and the arithmetic stays easy.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Kevin's point, and it is right: conditionals turn up more often than loops, so they go first and they get the same space.</a:t>
            </a:r>
          </a:p>
          <a:p>
            <a:r>
              <a:rPr sz="1200">
                <a:latin typeface="Calibri"/>
              </a:rPr>
              <a:t>Do the = versus == trap out loud. One equals sign ASSIGNS, two COMPARE, and if (x = 5) compiles happily and is always true. It will bite somebody this term.</a:t>
            </a:r>
          </a:p>
          <a:p>
            <a:r>
              <a:rPr sz="1200">
                <a:latin typeface="Calibri"/>
              </a:rPr>
              <a:t>The right-hand column is all code they have run or are about to. Point at each one rather than reading it.</a:t>
            </a:r>
          </a:p>
          <a:p>
            <a:r>
              <a:rPr sz="1200">
                <a:latin typeface="Calibri"/>
              </a:rPr>
              <a:t>If somebody asks about switch, say it exists, it is a tidier else-if chain for one variable, and they will see one in the advanced course.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shapes, and they cover almost everything they will write this year.</a:t>
            </a:r>
          </a:p>
          <a:p>
            <a:r>
              <a:rPr sz="1200">
                <a:latin typeface="Calibri"/>
              </a:rPr>
              <a:t>The else-if chain is the one worth dwelling on. Ask what happens if you put duty &gt; 60 first: the answer is that nothing is ever fast, because the first true test wins.</a:t>
            </a:r>
          </a:p>
          <a:p>
            <a:r>
              <a:rPr sz="1200">
                <a:latin typeface="Calibri"/>
              </a:rPr>
              <a:t>lightsOn is real - it is the toggle in l5b_button_toggle, which they will write in Lesson 5.</a:t>
            </a:r>
          </a:p>
          <a:p>
            <a:r>
              <a:rPr sz="1200">
                <a:latin typeface="Calibri"/>
              </a:rPr>
              <a:t>End on the braces. Optional for one line, and the source of a famous class of bug when somebody adds a second line later and does not notice.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Three loops, and they have been using one all lesson without naming it.</a:t>
            </a:r>
          </a:p>
          <a:p>
            <a:r>
              <a:rPr sz="1200">
                <a:latin typeface="Calibri"/>
              </a:rPr>
              <a:t>Give an example of each from something they have already seen rather than from nothing.</a:t>
            </a:r>
          </a:p>
          <a:p>
            <a:r>
              <a:rPr sz="1200">
                <a:latin typeface="Calibri"/>
              </a:rPr>
              <a:t>The distinction that matters is when the test happens, because that is what decides whether the body can run zero times.</a:t>
            </a:r>
          </a:p>
          <a:p>
            <a:r>
              <a:rPr sz="1200">
                <a:latin typeface="Calibri"/>
              </a:rPr>
              <a:t>The note is not a throwaway. Somebody who really understands when to reach for each one is ahead of most people who can write the syntax.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three forms side by side rather than one at a time.</a:t>
            </a:r>
          </a:p>
          <a:p>
            <a:r>
              <a:rPr sz="1200">
                <a:latin typeface="Calibri"/>
              </a:rPr>
              <a:t>The while example is one they will meet for real in Lesson 5, waiting for a controller. Mention that.</a:t>
            </a:r>
          </a:p>
          <a:p>
            <a:r>
              <a:rPr sz="1200">
                <a:latin typeface="Calibri"/>
              </a:rPr>
              <a:t>The do-while is the rarest. One example is plenty.</a:t>
            </a:r>
          </a:p>
          <a:p>
            <a:r>
              <a:rPr sz="1200">
                <a:latin typeface="Calibri"/>
              </a:rPr>
              <a:t>Finish with the line about loop() really being a while(true) that the framework writes for them. It reframes everything they have done so far.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Read the for loop out loud as a sentence: four times, drive forward then turn right.</a:t>
            </a:r>
          </a:p>
          <a:p>
            <a:r>
              <a:rPr sz="1200">
                <a:latin typeface="Calibri"/>
              </a:rPr>
              <a:t>Four numbers control the whole shape. Get them to find all four at the top of the file before they upload.</a:t>
            </a:r>
          </a:p>
          <a:p>
            <a:r>
              <a:rPr sz="1200">
                <a:latin typeface="Calibri"/>
              </a:rPr>
              <a:t>TURN_MS is deliberately untuned in the shipped sketch. Do not fix it for them - tuning it is the exercise.</a:t>
            </a:r>
          </a:p>
          <a:p>
            <a:r>
              <a:rPr sz="1200">
                <a:latin typeface="Calibri"/>
              </a:rPr>
              <a:t>The twenty-second stop at the end is so nobody has to chase a vehicle that has started a second square.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Floor cleared, bags away, and one person per group watching where the vehicle goes rather than watching the laptop.</a:t>
            </a:r>
          </a:p>
          <a:p>
            <a:r>
              <a:rPr sz="1200">
                <a:latin typeface="Calibri"/>
              </a:rPr>
              <a:t>Steps 4 and 5 are the measurement. Nobody tunes anything until they have a speed written down.</a:t>
            </a:r>
          </a:p>
          <a:p>
            <a:r>
              <a:rPr sz="1200">
                <a:latin typeface="Calibri"/>
              </a:rPr>
              <a:t>Step 6 is patient work: twenty-five milliseconds at a time. Resist doing it for them.</a:t>
            </a:r>
          </a:p>
          <a:p>
            <a:r>
              <a:rPr sz="1200">
                <a:latin typeface="Calibri"/>
              </a:rPr>
              <a:t>Step 7 is the one that proves they understand it - predict first, then run. Make a note of which groups predicted well.</a:t>
            </a:r>
          </a:p>
          <a:p>
            <a:r>
              <a:rPr sz="1200">
                <a:latin typeface="Calibri"/>
              </a:rPr>
              <a:t>If a group's vehicle curves badly on the straights, one motor is weaker. That is a real finding and worth saying out loud.</a:t>
            </a:r>
          </a:p>
          <a:p>
            <a:r>
              <a:rPr sz="1200">
                <a:latin typeface="Calibri"/>
              </a:rPr>
              <a:t>ANSWERS are different for every vehicle, so check the working rather than the number. Speed: the side length they measured divided by FORWARD_MS / 1000 - the side in feet divided by 1 seconds. Turn rate: 90 degrees divided by the TUNED TURN_MS in seconds, once the square closes. A group whose square closes at TURN_MS = 450 has a turn rate of 90 / 0.45 = 200 degrees per second.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intellectual point of the lesson. Give it the time it needs.</a:t>
            </a:r>
          </a:p>
          <a:p>
            <a:r>
              <a:rPr sz="1200">
                <a:latin typeface="Calibri"/>
              </a:rPr>
              <a:t>Ships and aircraft navigated this way for centuries, and submersibles still do, because GPS does not work underwater. That connects the rover to the rest of what the company does.</a:t>
            </a:r>
          </a:p>
          <a:p>
            <a:r>
              <a:rPr sz="1200">
                <a:latin typeface="Calibri"/>
              </a:rPr>
              <a:t>Go through the four error sources and ask which they saw today. They will have seen at least two.</a:t>
            </a:r>
          </a:p>
          <a:p>
            <a:r>
              <a:rPr sz="1200">
                <a:latin typeface="Calibri"/>
              </a:rPr>
              <a:t>End on the fix: a sensor that tells you something true about the outside world. That is the next course.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a preview, not an activity. Two minutes.</a:t>
            </a:r>
          </a:p>
          <a:p>
            <a:r>
              <a:rPr sz="1200">
                <a:latin typeface="Calibri"/>
              </a:rPr>
              <a:t>The calibration point is the one to stress: they already know what duty 255 gives them in feet per second, so they can predict the race.</a:t>
            </a:r>
          </a:p>
          <a:p>
            <a:r>
              <a:rPr sz="1200">
                <a:latin typeface="Calibri"/>
              </a:rPr>
              <a:t>Braking by driving in reverse surprises people. Let them think about why there is no other option.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Optional and not examined. Say so, or the keen ones will treat it as homework and the rest will feel behind.</a:t>
            </a:r>
          </a:p>
          <a:p>
            <a:r>
              <a:rPr sz="1200">
                <a:latin typeface="Calibri"/>
              </a:rPr>
              <a:t>The PWM video is the one to recommend if today felt fast.</a:t>
            </a:r>
          </a:p>
          <a:p>
            <a:r>
              <a:rPr sz="1200">
                <a:latin typeface="Calibri"/>
              </a:rPr>
              <a:t>Check the links still work before you show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 Take a wrong answer first where you can.</a:t>
            </a:r>
          </a:p>
          <a:p>
            <a:r>
              <a:rPr sz="1200">
                <a:latin typeface="Calibri"/>
              </a:rPr>
              <a:t>Answers, in order: two pins so current can be sent either way; the pin switches on and off fast and the motor feels the average; 25% of 255 is about 64; 20 kHz is above hearing and 300 Hz is not; the vehicle spins on the spot; 9.42 inches, which is 0.79 feet.</a:t>
            </a:r>
          </a:p>
          <a:p>
            <a:r>
              <a:rPr sz="1200">
                <a:latin typeface="Calibri"/>
              </a:rPr>
              <a:t>For question 7: TURN_MS, and make it SMALLER. Every corner turns too far because the spin runs too long. Undershooting would be the opposite - make it bigger. FORWARD_MS only changes the length of the sides, never the angles.</a:t>
            </a:r>
          </a:p>
          <a:p>
            <a:r>
              <a:rPr sz="1200">
                <a:latin typeface="Calibri"/>
              </a:rPr>
              <a:t>For question 8, any two of: battery charge, floor surface, wheel slip, motors not matched.</a:t>
            </a:r>
          </a:p>
          <a:p>
            <a:r>
              <a:rPr sz="1200">
                <a:latin typeface="Calibri"/>
              </a:rPr>
              <a:t>Tell them next lesson they drive it themselves. That is the hook.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2</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Motor Control</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H-bridges, pulse width modulation, tank steering, and driving a square you worked out on paper.</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6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Wheels off the ground until told otherwise.</a:t>
            </a:r>
          </a:p>
        </p:txBody>
      </p:sp>
      <p:pic>
        <p:nvPicPr>
          <p:cNvPr id="8" name="Picture 7" descr="vehicle-top-plate-esp32.jpg"/>
          <p:cNvPicPr>
            <a:picLocks noChangeAspect="1"/>
          </p:cNvPicPr>
          <p:nvPr/>
        </p:nvPicPr>
        <p:blipFill>
          <a:blip r:embed="rId3"/>
          <a:stretch>
            <a:fillRect/>
          </a:stretch>
        </p:blipFill>
        <p:spPr>
          <a:xfrm>
            <a:off x="7223760" y="1844001"/>
            <a:ext cx="4480560" cy="3718637"/>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Explain how an H-bridge reverses a motor, in terms of current</a:t>
            </a:r>
          </a:p>
          <a:p>
            <a:pPr algn="l">
              <a:lnSpc>
                <a:spcPct val="100000"/>
              </a:lnSpc>
              <a:spcAft>
                <a:spcPts val="1300"/>
              </a:spcAft>
              <a:defRPr sz="1900" b="0">
                <a:solidFill>
                  <a:srgbClr val="222222"/>
                </a:solidFill>
                <a:latin typeface="Calibri"/>
              </a:defRPr>
            </a:pPr>
            <a:r>
              <a:rPr sz="1900" b="0">
                <a:solidFill>
                  <a:srgbClr val="222222"/>
                </a:solidFill>
                <a:latin typeface="Calibri"/>
              </a:rPr>
              <a:t>2.   Say what a duty cycle is, and work out the duty value for a given percentage of full power</a:t>
            </a:r>
          </a:p>
          <a:p>
            <a:pPr algn="l">
              <a:lnSpc>
                <a:spcPct val="100000"/>
              </a:lnSpc>
              <a:spcAft>
                <a:spcPts val="1300"/>
              </a:spcAft>
              <a:defRPr sz="1900" b="0">
                <a:solidFill>
                  <a:srgbClr val="222222"/>
                </a:solidFill>
                <a:latin typeface="Calibri"/>
              </a:defRPr>
            </a:pPr>
            <a:r>
              <a:rPr sz="1900" b="0">
                <a:solidFill>
                  <a:srgbClr val="222222"/>
                </a:solidFill>
                <a:latin typeface="Calibri"/>
              </a:rPr>
              <a:t>3.   Use Ohm's law to find voltage, current or resistance given the other two</a:t>
            </a:r>
          </a:p>
          <a:p>
            <a:pPr algn="l">
              <a:lnSpc>
                <a:spcPct val="100000"/>
              </a:lnSpc>
              <a:spcAft>
                <a:spcPts val="1300"/>
              </a:spcAft>
              <a:defRPr sz="1900" b="0">
                <a:solidFill>
                  <a:srgbClr val="222222"/>
                </a:solidFill>
                <a:latin typeface="Calibri"/>
              </a:defRPr>
            </a:pPr>
            <a:r>
              <a:rPr sz="1900" b="0">
                <a:solidFill>
                  <a:srgbClr val="222222"/>
                </a:solidFill>
                <a:latin typeface="Calibri"/>
              </a:rPr>
              <a:t>4.   Tell a series circuit from a parallel one, and say what is shared in each</a:t>
            </a:r>
          </a:p>
          <a:p>
            <a:pPr algn="l">
              <a:lnSpc>
                <a:spcPct val="100000"/>
              </a:lnSpc>
              <a:spcAft>
                <a:spcPts val="1300"/>
              </a:spcAft>
              <a:defRPr sz="1900" b="0">
                <a:solidFill>
                  <a:srgbClr val="222222"/>
                </a:solidFill>
                <a:latin typeface="Calibri"/>
              </a:defRPr>
            </a:pPr>
            <a:r>
              <a:rPr sz="1900" b="0">
                <a:solidFill>
                  <a:srgbClr val="222222"/>
                </a:solidFill>
                <a:latin typeface="Calibri"/>
              </a:rPr>
              <a:t>5.   Measure your own vehicle's speed in feet per second</a:t>
            </a:r>
          </a:p>
          <a:p>
            <a:pPr algn="l">
              <a:lnSpc>
                <a:spcPct val="100000"/>
              </a:lnSpc>
              <a:spcAft>
                <a:spcPts val="1300"/>
              </a:spcAft>
              <a:defRPr sz="1900" b="0">
                <a:solidFill>
                  <a:srgbClr val="222222"/>
                </a:solidFill>
                <a:latin typeface="Calibri"/>
              </a:defRPr>
            </a:pPr>
            <a:r>
              <a:rPr sz="1900" b="0">
                <a:solidFill>
                  <a:srgbClr val="222222"/>
                </a:solidFill>
                <a:latin typeface="Calibri"/>
              </a:rPr>
              <a:t>6.   Predict where a pre-programmed maneuver will finish, then tune it</a:t>
            </a:r>
          </a:p>
          <a:p>
            <a:pPr algn="l">
              <a:lnSpc>
                <a:spcPct val="100000"/>
              </a:lnSpc>
              <a:spcAft>
                <a:spcPts val="1300"/>
              </a:spcAft>
              <a:defRPr sz="1900" b="0">
                <a:solidFill>
                  <a:srgbClr val="222222"/>
                </a:solidFill>
                <a:latin typeface="Calibri"/>
              </a:defRPr>
            </a:pPr>
            <a:r>
              <a:rPr sz="1900" b="0">
                <a:solidFill>
                  <a:srgbClr val="222222"/>
                </a:solidFill>
                <a:latin typeface="Calibri"/>
              </a:rPr>
              <a:t>7.   Explain why dead reckoning drifts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got to last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r>
              <a:rPr sz="2700" b="0">
                <a:solidFill>
                  <a:srgbClr val="222222"/>
                </a:solidFill>
                <a:latin typeface="Calibri"/>
              </a:rPr>
              <a:t>You installed the Arduino IDE, the board package and the libraries.</a:t>
            </a:r>
          </a:p>
          <a:p>
            <a:pPr algn="l">
              <a:lnSpc>
                <a:spcPct val="100000"/>
              </a:lnSpc>
              <a:spcAft>
                <a:spcPts val="600"/>
              </a:spcAft>
              <a:defRPr sz="2700" b="0">
                <a:solidFill>
                  <a:srgbClr val="222222"/>
                </a:solidFill>
                <a:latin typeface="Calibri"/>
              </a:defRPr>
            </a:pPr>
            <a:r>
              <a:rPr sz="2700" b="0">
                <a:solidFill>
                  <a:srgbClr val="222222"/>
                </a:solidFill>
                <a:latin typeface="Calibri"/>
              </a:rPr>
              <a:t>You know the three parts of a program: the top of the file, setup(), and loop().</a:t>
            </a:r>
          </a:p>
          <a:p>
            <a:pPr algn="l">
              <a:lnSpc>
                <a:spcPct val="100000"/>
              </a:lnSpc>
              <a:spcAft>
                <a:spcPts val="600"/>
              </a:spcAft>
              <a:defRPr sz="2700" b="0">
                <a:solidFill>
                  <a:srgbClr val="222222"/>
                </a:solidFill>
                <a:latin typeface="Calibri"/>
              </a:defRPr>
            </a:pPr>
            <a:r>
              <a:rPr sz="2700" b="0">
                <a:solidFill>
                  <a:srgbClr val="222222"/>
                </a:solidFill>
                <a:latin typeface="Calibri"/>
              </a:rPr>
              <a:t>You can upload a program and read what it prints.</a:t>
            </a:r>
          </a:p>
          <a:p>
            <a:pPr algn="l">
              <a:lnSpc>
                <a:spcPct val="100000"/>
              </a:lnSpc>
              <a:spcAft>
                <a:spcPts val="600"/>
              </a:spcAft>
              <a:defRPr sz="2700" b="0">
                <a:solidFill>
                  <a:srgbClr val="222222"/>
                </a:solidFill>
                <a:latin typeface="Calibri"/>
              </a:defRPr>
            </a:pPr>
            <a:r>
              <a:rPr sz="2700" b="0">
                <a:solidFill>
                  <a:srgbClr val="222222"/>
                </a:solidFill>
                <a:latin typeface="Calibri"/>
              </a:rPr>
              <a:t>You lit one of the 32 LEDs and found out where number 0 is.</a:t>
            </a:r>
          </a:p>
          <a:p>
            <a:pPr algn="l">
              <a:lnSpc>
                <a:spcPct val="100000"/>
              </a:lnSpc>
              <a:spcAft>
                <a:spcPts val="600"/>
              </a:spcAft>
              <a:defRPr sz="135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Today the vehicle moves.</a:t>
            </a:r>
          </a:p>
        </p:txBody>
      </p:sp>
      <p:sp>
        <p:nvSpPr>
          <p:cNvPr id="7" name="Rounded Rectangle 6"/>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for everything until the square maneuver at the end. Then we clear the floor and do it properly.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graphicFrame>
        <p:nvGraphicFramePr>
          <p:cNvPr id="6" name="Table 5"/>
          <p:cNvGraphicFramePr>
            <a:graphicFrameLocks noGrp="1"/>
          </p:cNvGraphicFramePr>
          <p:nvPr/>
        </p:nvGraphicFramePr>
        <p:xfrm>
          <a:off x="502920" y="1188720"/>
          <a:ext cx="11185854" cy="5029200"/>
        </p:xfrm>
        <a:graphic>
          <a:graphicData uri="http://schemas.openxmlformats.org/drawingml/2006/table">
            <a:tbl>
              <a:tblPr firstRow="1" bandRow="1">
                <a:tableStyleId>{5C22544A-7EE6-4342-B048-85BDC9FD1C3A}</a:tableStyleId>
              </a:tblPr>
              <a:tblGrid>
                <a:gridCol w="1118585"/>
                <a:gridCol w="10067269"/>
              </a:tblGrid>
              <a:tr h="457200">
                <a:tc>
                  <a:txBody>
                    <a:bodyPr/>
                    <a:lstStyle/>
                    <a:p>
                      <a:r>
                        <a:rPr sz="2400" b="1">
                          <a:solidFill>
                            <a:srgbClr val="FFFFFF"/>
                          </a:solidFill>
                          <a:latin typeface="Calibri"/>
                        </a:rPr>
                        <a:t>Time</a:t>
                      </a:r>
                    </a:p>
                  </a:txBody>
                  <a:tcPr marL="73152" marT="18288" marB="18288">
                    <a:solidFill>
                      <a:srgbClr val="1F3A5F"/>
                    </a:solidFill>
                  </a:tcPr>
                </a:tc>
                <a:tc>
                  <a:txBody>
                    <a:bodyPr/>
                    <a:lstStyle/>
                    <a:p>
                      <a:r>
                        <a:rPr sz="2400" b="1">
                          <a:solidFill>
                            <a:srgbClr val="FFFFFF"/>
                          </a:solidFill>
                          <a:latin typeface="Calibri"/>
                        </a:rPr>
                        <a:t>What we do</a:t>
                      </a:r>
                    </a:p>
                  </a:txBody>
                  <a:tcPr marL="73152" marT="18288" marB="18288">
                    <a:solidFill>
                      <a:srgbClr val="1F3A5F"/>
                    </a:solidFill>
                  </a:tcPr>
                </a:tc>
              </a:tr>
              <a:tr h="457200">
                <a:tc>
                  <a:txBody>
                    <a:bodyPr/>
                    <a:lstStyle/>
                    <a:p>
                      <a:r>
                        <a:rPr sz="2400">
                          <a:solidFill>
                            <a:srgbClr val="222222"/>
                          </a:solidFill>
                          <a:latin typeface="Calibri"/>
                        </a:rPr>
                        <a:t>0:00</a:t>
                      </a:r>
                    </a:p>
                  </a:txBody>
                  <a:tcPr marL="73152" marT="18288" marB="18288">
                    <a:solidFill>
                      <a:srgbClr val="FFFFFF"/>
                    </a:solidFill>
                  </a:tcPr>
                </a:tc>
                <a:tc>
                  <a:txBody>
                    <a:bodyPr/>
                    <a:lstStyle/>
                    <a:p>
                      <a:r>
                        <a:rPr sz="2400">
                          <a:solidFill>
                            <a:srgbClr val="222222"/>
                          </a:solidFill>
                          <a:latin typeface="Calibri"/>
                        </a:rPr>
                        <a:t>Recap. Two kinds of motor, and how an H-bridge works</a:t>
                      </a:r>
                    </a:p>
                  </a:txBody>
                  <a:tcPr marL="73152" marT="18288" marB="18288">
                    <a:solidFill>
                      <a:srgbClr val="FFFFFF"/>
                    </a:solidFill>
                  </a:tcPr>
                </a:tc>
              </a:tr>
              <a:tr h="457200">
                <a:tc>
                  <a:txBody>
                    <a:bodyPr/>
                    <a:lstStyle/>
                    <a:p>
                      <a:r>
                        <a:rPr sz="2400">
                          <a:solidFill>
                            <a:srgbClr val="222222"/>
                          </a:solidFill>
                          <a:latin typeface="Calibri"/>
                        </a:rPr>
                        <a:t>0:25</a:t>
                      </a:r>
                    </a:p>
                  </a:txBody>
                  <a:tcPr marL="73152" marT="18288" marB="18288">
                    <a:solidFill>
                      <a:srgbClr val="EEF3F8"/>
                    </a:solidFill>
                  </a:tcPr>
                </a:tc>
                <a:tc>
                  <a:txBody>
                    <a:bodyPr/>
                    <a:lstStyle/>
                    <a:p>
                      <a:r>
                        <a:rPr sz="2400">
                          <a:solidFill>
                            <a:srgbClr val="222222"/>
                          </a:solidFill>
                          <a:latin typeface="Calibri"/>
                        </a:rPr>
                        <a:t>Pulse width modulation and duty cycle</a:t>
                      </a:r>
                    </a:p>
                  </a:txBody>
                  <a:tcPr marL="73152" marT="18288" marB="18288">
                    <a:solidFill>
                      <a:srgbClr val="EEF3F8"/>
                    </a:solidFill>
                  </a:tcPr>
                </a:tc>
              </a:tr>
              <a:tr h="457200">
                <a:tc>
                  <a:txBody>
                    <a:bodyPr/>
                    <a:lstStyle/>
                    <a:p>
                      <a:r>
                        <a:rPr sz="2400">
                          <a:solidFill>
                            <a:srgbClr val="222222"/>
                          </a:solidFill>
                          <a:latin typeface="Calibri"/>
                        </a:rPr>
                        <a:t>0:50</a:t>
                      </a:r>
                    </a:p>
                  </a:txBody>
                  <a:tcPr marL="73152" marT="18288" marB="18288">
                    <a:solidFill>
                      <a:srgbClr val="FFFFFF"/>
                    </a:solidFill>
                  </a:tcPr>
                </a:tc>
                <a:tc>
                  <a:txBody>
                    <a:bodyPr/>
                    <a:lstStyle/>
                    <a:p>
                      <a:r>
                        <a:rPr sz="2400">
                          <a:solidFill>
                            <a:srgbClr val="222222"/>
                          </a:solidFill>
                          <a:latin typeface="Calibri"/>
                        </a:rPr>
                        <a:t>Upload l2a_one_motor. Find your vehicle's minimum speed</a:t>
                      </a:r>
                    </a:p>
                  </a:txBody>
                  <a:tcPr marL="73152" marT="18288" marB="18288">
                    <a:solidFill>
                      <a:srgbClr val="FFFFFF"/>
                    </a:solidFill>
                  </a:tcPr>
                </a:tc>
              </a:tr>
              <a:tr h="457200">
                <a:tc>
                  <a:txBody>
                    <a:bodyPr/>
                    <a:lstStyle/>
                    <a:p>
                      <a:r>
                        <a:rPr sz="2400">
                          <a:solidFill>
                            <a:srgbClr val="222222"/>
                          </a:solidFill>
                          <a:latin typeface="Calibri"/>
                        </a:rPr>
                        <a:t>1:15</a:t>
                      </a:r>
                    </a:p>
                  </a:txBody>
                  <a:tcPr marL="73152" marT="18288" marB="18288">
                    <a:solidFill>
                      <a:srgbClr val="EEF3F8"/>
                    </a:solidFill>
                  </a:tcPr>
                </a:tc>
                <a:tc>
                  <a:txBody>
                    <a:bodyPr/>
                    <a:lstStyle/>
                    <a:p>
                      <a:r>
                        <a:rPr sz="2400">
                          <a:solidFill>
                            <a:srgbClr val="222222"/>
                          </a:solidFill>
                          <a:latin typeface="Calibri"/>
                        </a:rPr>
                        <a:t>BREAK  (10 minutes)</a:t>
                      </a:r>
                    </a:p>
                  </a:txBody>
                  <a:tcPr marL="73152" marT="18288" marB="18288">
                    <a:solidFill>
                      <a:srgbClr val="EEF3F8"/>
                    </a:solidFill>
                  </a:tcPr>
                </a:tc>
              </a:tr>
              <a:tr h="457200">
                <a:tc>
                  <a:txBody>
                    <a:bodyPr/>
                    <a:lstStyle/>
                    <a:p>
                      <a:r>
                        <a:rPr sz="2400">
                          <a:solidFill>
                            <a:srgbClr val="222222"/>
                          </a:solidFill>
                          <a:latin typeface="Calibri"/>
                        </a:rPr>
                        <a:t>1:25</a:t>
                      </a:r>
                    </a:p>
                  </a:txBody>
                  <a:tcPr marL="73152" marT="18288" marB="18288">
                    <a:solidFill>
                      <a:srgbClr val="FFFFFF"/>
                    </a:solidFill>
                  </a:tcPr>
                </a:tc>
                <a:tc>
                  <a:txBody>
                    <a:bodyPr/>
                    <a:lstStyle/>
                    <a:p>
                      <a:r>
                        <a:rPr sz="2400">
                          <a:solidFill>
                            <a:srgbClr val="222222"/>
                          </a:solidFill>
                          <a:latin typeface="Calibri"/>
                        </a:rPr>
                        <a:t>Upload l2b_speed_ramp. Duty against actual speed</a:t>
                      </a:r>
                    </a:p>
                  </a:txBody>
                  <a:tcPr marL="73152" marT="18288" marB="18288">
                    <a:solidFill>
                      <a:srgbClr val="FFFFFF"/>
                    </a:solidFill>
                  </a:tcPr>
                </a:tc>
              </a:tr>
              <a:tr h="457200">
                <a:tc>
                  <a:txBody>
                    <a:bodyPr/>
                    <a:lstStyle/>
                    <a:p>
                      <a:r>
                        <a:rPr sz="2400">
                          <a:solidFill>
                            <a:srgbClr val="222222"/>
                          </a:solidFill>
                          <a:latin typeface="Calibri"/>
                        </a:rPr>
                        <a:t>1:45</a:t>
                      </a:r>
                    </a:p>
                  </a:txBody>
                  <a:tcPr marL="73152" marT="18288" marB="18288">
                    <a:solidFill>
                      <a:srgbClr val="EEF3F8"/>
                    </a:solidFill>
                  </a:tcPr>
                </a:tc>
                <a:tc>
                  <a:txBody>
                    <a:bodyPr/>
                    <a:lstStyle/>
                    <a:p>
                      <a:r>
                        <a:rPr sz="2400">
                          <a:solidFill>
                            <a:srgbClr val="222222"/>
                          </a:solidFill>
                          <a:latin typeface="Calibri"/>
                        </a:rPr>
                        <a:t>STEM break: Ohm's law, and a circuit on a breadboard</a:t>
                      </a:r>
                    </a:p>
                  </a:txBody>
                  <a:tcPr marL="73152" marT="18288" marB="18288">
                    <a:solidFill>
                      <a:srgbClr val="EEF3F8"/>
                    </a:solidFill>
                  </a:tcPr>
                </a:tc>
              </a:tr>
              <a:tr h="457200">
                <a:tc>
                  <a:txBody>
                    <a:bodyPr/>
                    <a:lstStyle/>
                    <a:p>
                      <a:r>
                        <a:rPr sz="2400">
                          <a:solidFill>
                            <a:srgbClr val="222222"/>
                          </a:solidFill>
                          <a:latin typeface="Calibri"/>
                        </a:rPr>
                        <a:t>2:10</a:t>
                      </a:r>
                    </a:p>
                  </a:txBody>
                  <a:tcPr marL="73152" marT="18288" marB="18288">
                    <a:solidFill>
                      <a:srgbClr val="FFFFFF"/>
                    </a:solidFill>
                  </a:tcPr>
                </a:tc>
                <a:tc>
                  <a:txBody>
                    <a:bodyPr/>
                    <a:lstStyle/>
                    <a:p>
                      <a:r>
                        <a:rPr sz="2400">
                          <a:solidFill>
                            <a:srgbClr val="222222"/>
                          </a:solidFill>
                          <a:latin typeface="Calibri"/>
                        </a:rPr>
                        <a:t>BREAK  (10 minutes)</a:t>
                      </a:r>
                    </a:p>
                  </a:txBody>
                  <a:tcPr marL="73152" marT="18288" marB="18288">
                    <a:solidFill>
                      <a:srgbClr val="FFFFFF"/>
                    </a:solidFill>
                  </a:tcPr>
                </a:tc>
              </a:tr>
              <a:tr h="457200">
                <a:tc>
                  <a:txBody>
                    <a:bodyPr/>
                    <a:lstStyle/>
                    <a:p>
                      <a:r>
                        <a:rPr sz="2400">
                          <a:solidFill>
                            <a:srgbClr val="222222"/>
                          </a:solidFill>
                          <a:latin typeface="Calibri"/>
                        </a:rPr>
                        <a:t>2:20</a:t>
                      </a:r>
                    </a:p>
                  </a:txBody>
                  <a:tcPr marL="73152" marT="18288" marB="18288">
                    <a:solidFill>
                      <a:srgbClr val="EEF3F8"/>
                    </a:solidFill>
                  </a:tcPr>
                </a:tc>
                <a:tc>
                  <a:txBody>
                    <a:bodyPr/>
                    <a:lstStyle/>
                    <a:p>
                      <a:r>
                        <a:rPr sz="2400">
                          <a:solidFill>
                            <a:srgbClr val="222222"/>
                          </a:solidFill>
                          <a:latin typeface="Calibri"/>
                        </a:rPr>
                        <a:t>Tank drive, mixing, and the math that predicts the square</a:t>
                      </a:r>
                    </a:p>
                  </a:txBody>
                  <a:tcPr marL="73152" marT="18288" marB="18288">
                    <a:solidFill>
                      <a:srgbClr val="EEF3F8"/>
                    </a:solidFill>
                  </a:tcPr>
                </a:tc>
              </a:tr>
              <a:tr h="457200">
                <a:tc>
                  <a:txBody>
                    <a:bodyPr/>
                    <a:lstStyle/>
                    <a:p>
                      <a:r>
                        <a:rPr sz="2400">
                          <a:solidFill>
                            <a:srgbClr val="222222"/>
                          </a:solidFill>
                          <a:latin typeface="Calibri"/>
                        </a:rPr>
                        <a:t>2:40</a:t>
                      </a:r>
                    </a:p>
                  </a:txBody>
                  <a:tcPr marL="73152" marT="18288" marB="18288">
                    <a:solidFill>
                      <a:srgbClr val="FFFFFF"/>
                    </a:solidFill>
                  </a:tcPr>
                </a:tc>
                <a:tc>
                  <a:txBody>
                    <a:bodyPr/>
                    <a:lstStyle/>
                    <a:p>
                      <a:r>
                        <a:rPr sz="2400">
                          <a:solidFill>
                            <a:srgbClr val="222222"/>
                          </a:solidFill>
                          <a:latin typeface="Calibri"/>
                        </a:rPr>
                        <a:t>Clear the floor. Upload l2c_maneuver_square and tune it</a:t>
                      </a:r>
                    </a:p>
                  </a:txBody>
                  <a:tcPr marL="73152" marT="18288" marB="18288">
                    <a:solidFill>
                      <a:srgbClr val="FFFFFF"/>
                    </a:solidFill>
                  </a:tcPr>
                </a:tc>
              </a:tr>
              <a:tr h="457200">
                <a:tc>
                  <a:txBody>
                    <a:bodyPr/>
                    <a:lstStyle/>
                    <a:p>
                      <a:r>
                        <a:rPr sz="2400">
                          <a:solidFill>
                            <a:srgbClr val="222222"/>
                          </a:solidFill>
                          <a:latin typeface="Calibri"/>
                        </a:rPr>
                        <a:t>2:57</a:t>
                      </a:r>
                    </a:p>
                  </a:txBody>
                  <a:tcPr marL="73152" marT="18288" marB="18288">
                    <a:solidFill>
                      <a:srgbClr val="EEF3F8"/>
                    </a:solidFill>
                  </a:tcPr>
                </a:tc>
                <a:tc>
                  <a:txBody>
                    <a:bodyPr/>
                    <a:lstStyle/>
                    <a:p>
                      <a:r>
                        <a:rPr sz="2400">
                          <a:solidFill>
                            <a:srgbClr val="222222"/>
                          </a:solidFill>
                          <a:latin typeface="Calibri"/>
                        </a:rPr>
                        <a:t>Sources of error, and what dead reckoning cannot do</a:t>
                      </a:r>
                    </a:p>
                  </a:txBody>
                  <a:tcPr marL="73152" marT="18288" marB="18288">
                    <a:solidFill>
                      <a:srgbClr val="EEF3F8"/>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kinds of motor, and why we use the one we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5086049" cy="45720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Brushed DC, with an H-bridge  (the Pathfinder)</a:t>
            </a:r>
          </a:p>
        </p:txBody>
      </p:sp>
      <p:sp>
        <p:nvSpPr>
          <p:cNvPr id="7" name="TextBox 6"/>
          <p:cNvSpPr txBox="1"/>
          <p:nvPr/>
        </p:nvSpPr>
        <p:spPr>
          <a:xfrm>
            <a:off x="502920" y="1700784"/>
            <a:ext cx="5086049"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Simple, cheap, rugged, and forgiving of students.</a:t>
            </a:r>
          </a:p>
          <a:p>
            <a:pPr algn="l">
              <a:lnSpc>
                <a:spcPct val="100000"/>
              </a:lnSpc>
              <a:spcAft>
                <a:spcPts val="800"/>
              </a:spcAft>
              <a:defRPr sz="1800" b="0">
                <a:solidFill>
                  <a:srgbClr val="222222"/>
                </a:solidFill>
                <a:latin typeface="Calibri"/>
              </a:defRPr>
            </a:pPr>
            <a:r>
              <a:rPr sz="1800" b="0">
                <a:solidFill>
                  <a:srgbClr val="222222"/>
                </a:solidFill>
                <a:latin typeface="Calibri"/>
              </a:rPr>
              <a:t>Direction comes from which way current flows through it.</a:t>
            </a:r>
          </a:p>
          <a:p>
            <a:pPr algn="l">
              <a:lnSpc>
                <a:spcPct val="100000"/>
              </a:lnSpc>
              <a:spcAft>
                <a:spcPts val="800"/>
              </a:spcAft>
              <a:defRPr sz="1800" b="0">
                <a:solidFill>
                  <a:srgbClr val="222222"/>
                </a:solidFill>
                <a:latin typeface="Calibri"/>
              </a:defRPr>
            </a:pPr>
            <a:r>
              <a:rPr sz="1800" b="0">
                <a:solidFill>
                  <a:srgbClr val="222222"/>
                </a:solidFill>
                <a:latin typeface="Calibri"/>
              </a:rPr>
              <a:t>Speed comes from how much power you give it.</a:t>
            </a:r>
          </a:p>
          <a:p>
            <a:pPr algn="l">
              <a:lnSpc>
                <a:spcPct val="100000"/>
              </a:lnSpc>
              <a:spcAft>
                <a:spcPts val="800"/>
              </a:spcAft>
              <a:defRPr sz="1800" b="0">
                <a:solidFill>
                  <a:srgbClr val="222222"/>
                </a:solidFill>
                <a:latin typeface="Calibri"/>
              </a:defRPr>
            </a:pPr>
            <a:r>
              <a:rPr sz="1800" b="0">
                <a:solidFill>
                  <a:srgbClr val="222222"/>
                </a:solidFill>
                <a:latin typeface="Calibri"/>
              </a:rPr>
              <a:t>Needs an H-bridge driver to reverse the current. Ours are TI DRV8871 chips, one per motor.</a:t>
            </a:r>
          </a:p>
          <a:p>
            <a:pPr algn="l">
              <a:lnSpc>
                <a:spcPct val="100000"/>
              </a:lnSpc>
              <a:spcAft>
                <a:spcPts val="800"/>
              </a:spcAft>
              <a:defRPr sz="1800" b="0">
                <a:solidFill>
                  <a:srgbClr val="222222"/>
                </a:solidFill>
                <a:latin typeface="Calibri"/>
              </a:defRPr>
            </a:pPr>
            <a:r>
              <a:rPr sz="1800" b="0">
                <a:solidFill>
                  <a:srgbClr val="222222"/>
                </a:solidFill>
                <a:latin typeface="Calibri"/>
              </a:rPr>
              <a:t>Two signal wires per motor from the ESP32.</a:t>
            </a:r>
          </a:p>
        </p:txBody>
      </p:sp>
      <p:sp>
        <p:nvSpPr>
          <p:cNvPr id="8" name="TextBox 7"/>
          <p:cNvSpPr txBox="1"/>
          <p:nvPr/>
        </p:nvSpPr>
        <p:spPr>
          <a:xfrm>
            <a:off x="6046169" y="1188720"/>
            <a:ext cx="5642606"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Brushless, with an ESC</a:t>
            </a:r>
          </a:p>
        </p:txBody>
      </p:sp>
      <p:sp>
        <p:nvSpPr>
          <p:cNvPr id="9" name="TextBox 8"/>
          <p:cNvSpPr txBox="1"/>
          <p:nvPr/>
        </p:nvSpPr>
        <p:spPr>
          <a:xfrm>
            <a:off x="6046169" y="1700784"/>
            <a:ext cx="5642606"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More power for the weight, and far longer life - no brushes to wear out.</a:t>
            </a:r>
          </a:p>
          <a:p>
            <a:pPr algn="l">
              <a:lnSpc>
                <a:spcPct val="100000"/>
              </a:lnSpc>
              <a:spcAft>
                <a:spcPts val="800"/>
              </a:spcAft>
              <a:defRPr sz="1900" b="0">
                <a:solidFill>
                  <a:srgbClr val="222222"/>
                </a:solidFill>
                <a:latin typeface="Calibri"/>
              </a:defRPr>
            </a:pPr>
            <a:r>
              <a:rPr sz="1900" b="0">
                <a:solidFill>
                  <a:srgbClr val="222222"/>
                </a:solidFill>
                <a:latin typeface="Calibri"/>
              </a:rPr>
              <a:t>Needs an Electronic Speed Controller to energize three windings in the right order.</a:t>
            </a:r>
          </a:p>
          <a:p>
            <a:pPr algn="l">
              <a:lnSpc>
                <a:spcPct val="100000"/>
              </a:lnSpc>
              <a:spcAft>
                <a:spcPts val="800"/>
              </a:spcAft>
              <a:defRPr sz="1900" b="0">
                <a:solidFill>
                  <a:srgbClr val="222222"/>
                </a:solidFill>
                <a:latin typeface="Calibri"/>
              </a:defRPr>
            </a:pPr>
            <a:r>
              <a:rPr sz="1900" b="0">
                <a:solidFill>
                  <a:srgbClr val="222222"/>
                </a:solidFill>
                <a:latin typeface="Calibri"/>
              </a:rPr>
              <a:t>The ESC takes a throttle signal, not a direction and a speed.</a:t>
            </a:r>
          </a:p>
          <a:p>
            <a:pPr algn="l">
              <a:lnSpc>
                <a:spcPct val="100000"/>
              </a:lnSpc>
              <a:spcAft>
                <a:spcPts val="800"/>
              </a:spcAft>
              <a:defRPr sz="1900" b="0">
                <a:solidFill>
                  <a:srgbClr val="222222"/>
                </a:solidFill>
                <a:latin typeface="Calibri"/>
              </a:defRPr>
            </a:pPr>
            <a:r>
              <a:rPr sz="1900" b="0">
                <a:solidFill>
                  <a:srgbClr val="222222"/>
                </a:solidFill>
                <a:latin typeface="Calibri"/>
              </a:rPr>
              <a:t>Used on drones, and on our larger vehicles.</a:t>
            </a:r>
          </a:p>
          <a:p>
            <a:pPr algn="l">
              <a:lnSpc>
                <a:spcPct val="100000"/>
              </a:lnSpc>
              <a:spcAft>
                <a:spcPts val="800"/>
              </a:spcAft>
              <a:defRPr sz="1900" b="0">
                <a:solidFill>
                  <a:srgbClr val="222222"/>
                </a:solidFill>
                <a:latin typeface="Calibri"/>
              </a:defRPr>
            </a:pPr>
            <a:r>
              <a:rPr sz="1900" b="0">
                <a:solidFill>
                  <a:srgbClr val="222222"/>
                </a:solidFill>
                <a:latin typeface="Calibri"/>
              </a:rPr>
              <a:t>Worth knowing about. Not what is under your hands today.</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motor goes one way when current flows one way through it, and the other way when it flows the other way. Everything else is detail.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H-bridge: four switches, four things a motor can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Rectangle 5"/>
          <p:cNvSpPr/>
          <p:nvPr/>
        </p:nvSpPr>
        <p:spPr>
          <a:xfrm>
            <a:off x="502920"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A high, B low</a:t>
            </a:r>
          </a:p>
        </p:txBody>
      </p:sp>
      <p:sp>
        <p:nvSpPr>
          <p:cNvPr id="7" name="Rounded Rectangle 6"/>
          <p:cNvSpPr/>
          <p:nvPr/>
        </p:nvSpPr>
        <p:spPr>
          <a:xfrm>
            <a:off x="502920" y="2011680"/>
            <a:ext cx="2606040" cy="658368"/>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FORWARD</a:t>
            </a:r>
          </a:p>
        </p:txBody>
      </p:sp>
      <p:sp>
        <p:nvSpPr>
          <p:cNvPr id="8" name="TextBox 7"/>
          <p:cNvSpPr txBox="1"/>
          <p:nvPr/>
        </p:nvSpPr>
        <p:spPr>
          <a:xfrm>
            <a:off x="502920" y="278892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driven one way</a:t>
            </a:r>
          </a:p>
        </p:txBody>
      </p:sp>
      <p:sp>
        <p:nvSpPr>
          <p:cNvPr id="9" name="Rectangle 8"/>
          <p:cNvSpPr/>
          <p:nvPr/>
        </p:nvSpPr>
        <p:spPr>
          <a:xfrm>
            <a:off x="3364992"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A low, B high</a:t>
            </a:r>
          </a:p>
        </p:txBody>
      </p:sp>
      <p:sp>
        <p:nvSpPr>
          <p:cNvPr id="10" name="Rounded Rectangle 9"/>
          <p:cNvSpPr/>
          <p:nvPr/>
        </p:nvSpPr>
        <p:spPr>
          <a:xfrm>
            <a:off x="3364992" y="2011680"/>
            <a:ext cx="2606040" cy="658368"/>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REVERSE</a:t>
            </a:r>
          </a:p>
        </p:txBody>
      </p:sp>
      <p:sp>
        <p:nvSpPr>
          <p:cNvPr id="11" name="TextBox 10"/>
          <p:cNvSpPr txBox="1"/>
          <p:nvPr/>
        </p:nvSpPr>
        <p:spPr>
          <a:xfrm>
            <a:off x="3364992" y="278892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driven the other way</a:t>
            </a:r>
          </a:p>
        </p:txBody>
      </p:sp>
      <p:sp>
        <p:nvSpPr>
          <p:cNvPr id="12" name="Rectangle 11"/>
          <p:cNvSpPr/>
          <p:nvPr/>
        </p:nvSpPr>
        <p:spPr>
          <a:xfrm>
            <a:off x="6227064"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both low</a:t>
            </a:r>
          </a:p>
        </p:txBody>
      </p:sp>
      <p:sp>
        <p:nvSpPr>
          <p:cNvPr id="13" name="Rounded Rectangle 12"/>
          <p:cNvSpPr/>
          <p:nvPr/>
        </p:nvSpPr>
        <p:spPr>
          <a:xfrm>
            <a:off x="6227064" y="2011680"/>
            <a:ext cx="2606040" cy="658368"/>
          </a:xfrm>
          <a:prstGeom prst="roundRect">
            <a:avLst>
              <a:gd name="adj" fmla="val 12000"/>
            </a:avLst>
          </a:prstGeom>
          <a:solidFill>
            <a:srgbClr val="E8ECF0"/>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COAST</a:t>
            </a:r>
          </a:p>
        </p:txBody>
      </p:sp>
      <p:sp>
        <p:nvSpPr>
          <p:cNvPr id="14" name="TextBox 13"/>
          <p:cNvSpPr txBox="1"/>
          <p:nvPr/>
        </p:nvSpPr>
        <p:spPr>
          <a:xfrm>
            <a:off x="6227064" y="278892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terminals floating,</a:t>
            </a:r>
          </a:p>
          <a:p>
            <a:pPr algn="ctr">
              <a:lnSpc>
                <a:spcPct val="100000"/>
              </a:lnSpc>
              <a:spcAft>
                <a:spcPts val="0"/>
              </a:spcAft>
              <a:defRPr sz="1800" b="0">
                <a:solidFill>
                  <a:srgbClr val="222222"/>
                </a:solidFill>
                <a:latin typeface="Calibri"/>
              </a:defRPr>
            </a:pPr>
            <a:r>
              <a:rPr sz="1800" b="0">
                <a:solidFill>
                  <a:srgbClr val="222222"/>
                </a:solidFill>
                <a:latin typeface="Calibri"/>
              </a:rPr>
              <a:t>motor freewheels</a:t>
            </a:r>
          </a:p>
        </p:txBody>
      </p:sp>
      <p:sp>
        <p:nvSpPr>
          <p:cNvPr id="15" name="Rectangle 14"/>
          <p:cNvSpPr/>
          <p:nvPr/>
        </p:nvSpPr>
        <p:spPr>
          <a:xfrm>
            <a:off x="9089136" y="1508760"/>
            <a:ext cx="2606040" cy="438912"/>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both high</a:t>
            </a:r>
          </a:p>
        </p:txBody>
      </p:sp>
      <p:sp>
        <p:nvSpPr>
          <p:cNvPr id="16" name="Rounded Rectangle 15"/>
          <p:cNvSpPr/>
          <p:nvPr/>
        </p:nvSpPr>
        <p:spPr>
          <a:xfrm>
            <a:off x="9089136" y="2011680"/>
            <a:ext cx="2606040" cy="658368"/>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BRAKE</a:t>
            </a:r>
          </a:p>
        </p:txBody>
      </p:sp>
      <p:sp>
        <p:nvSpPr>
          <p:cNvPr id="17" name="TextBox 16"/>
          <p:cNvSpPr txBox="1"/>
          <p:nvPr/>
        </p:nvSpPr>
        <p:spPr>
          <a:xfrm>
            <a:off x="9089136" y="278892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terminals shorted,</a:t>
            </a:r>
          </a:p>
          <a:p>
            <a:pPr algn="ctr">
              <a:lnSpc>
                <a:spcPct val="100000"/>
              </a:lnSpc>
              <a:spcAft>
                <a:spcPts val="0"/>
              </a:spcAft>
              <a:defRPr sz="1800" b="0">
                <a:solidFill>
                  <a:srgbClr val="222222"/>
                </a:solidFill>
                <a:latin typeface="Calibri"/>
              </a:defRPr>
            </a:pPr>
            <a:r>
              <a:rPr sz="1800" b="0">
                <a:solidFill>
                  <a:srgbClr val="222222"/>
                </a:solidFill>
                <a:latin typeface="Calibri"/>
              </a:rPr>
              <a:t>motor stops hard</a:t>
            </a:r>
          </a:p>
        </p:txBody>
      </p:sp>
      <p:pic>
        <p:nvPicPr>
          <p:cNvPr id="18" name="Picture 17" descr="h-bridge-forward-current.png"/>
          <p:cNvPicPr>
            <a:picLocks noChangeAspect="1"/>
          </p:cNvPicPr>
          <p:nvPr/>
        </p:nvPicPr>
        <p:blipFill>
          <a:blip r:embed="rId3"/>
          <a:stretch>
            <a:fillRect/>
          </a:stretch>
        </p:blipFill>
        <p:spPr>
          <a:xfrm>
            <a:off x="2944904" y="3474720"/>
            <a:ext cx="6301886" cy="2148840"/>
          </a:xfrm>
          <a:prstGeom prst="rect">
            <a:avLst/>
          </a:prstGeom>
        </p:spPr>
      </p:pic>
      <p:sp>
        <p:nvSpPr>
          <p:cNvPr id="19" name="TextBox 18"/>
          <p:cNvSpPr txBox="1"/>
          <p:nvPr/>
        </p:nvSpPr>
        <p:spPr>
          <a:xfrm>
            <a:off x="502920" y="5687568"/>
            <a:ext cx="11185855"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The arrows are the current: in at + V, along the top, down the left, through the motor, back to GND. That is the FORWARD box above. Turn pin B on instead of pin A and it all runs backwards.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driving A rather than B reverses the motor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476072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is physically happening</a:t>
            </a:r>
          </a:p>
        </p:txBody>
      </p:sp>
      <p:sp>
        <p:nvSpPr>
          <p:cNvPr id="7" name="TextBox 6"/>
          <p:cNvSpPr txBox="1"/>
          <p:nvPr/>
        </p:nvSpPr>
        <p:spPr>
          <a:xfrm>
            <a:off x="502920" y="1700784"/>
            <a:ext cx="4760728"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A motor is a coil of wire in a magnetic field. Push current through the coil and its field pushes against the magnets, so the shaft turns.</a:t>
            </a:r>
          </a:p>
          <a:p>
            <a:pPr algn="l">
              <a:lnSpc>
                <a:spcPct val="100000"/>
              </a:lnSpc>
              <a:spcAft>
                <a:spcPts val="800"/>
              </a:spcAft>
              <a:defRPr sz="1900" b="0">
                <a:solidFill>
                  <a:srgbClr val="222222"/>
                </a:solidFill>
                <a:latin typeface="Calibri"/>
              </a:defRPr>
            </a:pPr>
            <a:r>
              <a:rPr sz="1900" b="0">
                <a:solidFill>
                  <a:srgbClr val="222222"/>
                </a:solidFill>
                <a:latin typeface="Calibri"/>
              </a:rPr>
              <a:t>Reverse the current and the coil's field reverses with it. Same magnets, same coil, opposite push, opposite rotation.</a:t>
            </a:r>
          </a:p>
          <a:p>
            <a:pPr algn="l">
              <a:lnSpc>
                <a:spcPct val="100000"/>
              </a:lnSpc>
              <a:spcAft>
                <a:spcPts val="800"/>
              </a:spcAft>
              <a:defRPr sz="1900" b="0">
                <a:solidFill>
                  <a:srgbClr val="222222"/>
                </a:solidFill>
                <a:latin typeface="Calibri"/>
              </a:defRPr>
            </a:pPr>
            <a:r>
              <a:rPr sz="1900" b="0">
                <a:solidFill>
                  <a:srgbClr val="222222"/>
                </a:solidFill>
                <a:latin typeface="Calibri"/>
              </a:rPr>
              <a:t>DIRECTION OF ROTATION IS DIRECTION OF CURRENT. Everything the H-bridge does is in service of that one fact.</a:t>
            </a:r>
          </a:p>
        </p:txBody>
      </p:sp>
      <p:sp>
        <p:nvSpPr>
          <p:cNvPr id="8" name="TextBox 7"/>
          <p:cNvSpPr txBox="1"/>
          <p:nvPr/>
        </p:nvSpPr>
        <p:spPr>
          <a:xfrm>
            <a:off x="5720848" y="1188720"/>
            <a:ext cx="59679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the two pins do about it</a:t>
            </a:r>
          </a:p>
        </p:txBody>
      </p:sp>
      <p:sp>
        <p:nvSpPr>
          <p:cNvPr id="9" name="TextBox 8"/>
          <p:cNvSpPr txBox="1"/>
          <p:nvPr/>
        </p:nvSpPr>
        <p:spPr>
          <a:xfrm>
            <a:off x="5720848" y="1700784"/>
            <a:ext cx="5967927"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Current flows from the terminal at the higher voltage to the one at the lower.</a:t>
            </a:r>
          </a:p>
          <a:p>
            <a:pPr lvl="1" algn="l">
              <a:lnSpc>
                <a:spcPct val="100000"/>
              </a:lnSpc>
              <a:spcAft>
                <a:spcPts val="800"/>
              </a:spcAft>
              <a:defRPr sz="1900" b="0">
                <a:solidFill>
                  <a:srgbClr val="222222"/>
                </a:solidFill>
                <a:latin typeface="Calibri"/>
              </a:defRPr>
            </a:pPr>
            <a:r>
              <a:rPr sz="1900" b="0">
                <a:solidFill>
                  <a:srgbClr val="222222"/>
                </a:solidFill>
                <a:latin typeface="Calibri"/>
              </a:rPr>
              <a:t>A at 3.3 V, B at 0 V  -&gt;  current flows A to B</a:t>
            </a:r>
          </a:p>
          <a:p>
            <a:pPr lvl="1" algn="l">
              <a:lnSpc>
                <a:spcPct val="100000"/>
              </a:lnSpc>
              <a:spcAft>
                <a:spcPts val="800"/>
              </a:spcAft>
              <a:defRPr sz="1900" b="0">
                <a:solidFill>
                  <a:srgbClr val="222222"/>
                </a:solidFill>
                <a:latin typeface="Calibri"/>
              </a:defRPr>
            </a:pPr>
            <a:r>
              <a:rPr sz="1900" b="0">
                <a:solidFill>
                  <a:srgbClr val="222222"/>
                </a:solidFill>
                <a:latin typeface="Calibri"/>
              </a:rPr>
              <a:t>A at 0 V, B at 3.3 V  -&gt;  current flows B to A</a:t>
            </a:r>
          </a:p>
          <a:p>
            <a:pPr algn="l">
              <a:lnSpc>
                <a:spcPct val="100000"/>
              </a:lnSpc>
              <a:spcAft>
                <a:spcPts val="800"/>
              </a:spcAft>
              <a:defRPr sz="1900" b="0">
                <a:solidFill>
                  <a:srgbClr val="222222"/>
                </a:solidFill>
                <a:latin typeface="Calibri"/>
              </a:defRPr>
            </a:pPr>
            <a:r>
              <a:rPr sz="1900" b="0">
                <a:solidFill>
                  <a:srgbClr val="222222"/>
                </a:solidFill>
                <a:latin typeface="Calibri"/>
              </a:rPr>
              <a:t>The pins do not mean forwards and backwards. They mean "this end is positive" - which is why swapping them fixes a backwards wheel.</a:t>
            </a:r>
          </a:p>
          <a:p>
            <a:pPr algn="l">
              <a:lnSpc>
                <a:spcPct val="100000"/>
              </a:lnSpc>
              <a:spcAft>
                <a:spcPts val="800"/>
              </a:spcAft>
              <a:defRPr sz="1900" b="0">
                <a:solidFill>
                  <a:srgbClr val="222222"/>
                </a:solidFill>
                <a:latin typeface="Calibri"/>
              </a:defRPr>
            </a:pPr>
            <a:r>
              <a:rPr sz="1900" b="0">
                <a:solidFill>
                  <a:srgbClr val="222222"/>
                </a:solidFill>
                <a:latin typeface="Calibri"/>
              </a:rPr>
              <a:t>How MUCH current flows sets how hard it pushes, which is what the duty cycle controls.</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Voltage is the push, current is the flow, and the motor turns because of the 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Your four motors and their eight pins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Two pins per motor. Which one you drive is the direction; how hard you drive it is the speed.</a:t>
            </a:r>
          </a:p>
        </p:txBody>
      </p:sp>
      <p:graphicFrame>
        <p:nvGraphicFramePr>
          <p:cNvPr id="7" name="Table 6"/>
          <p:cNvGraphicFramePr>
            <a:graphicFrameLocks noGrp="1"/>
          </p:cNvGraphicFramePr>
          <p:nvPr/>
        </p:nvGraphicFramePr>
        <p:xfrm>
          <a:off x="502920" y="1691640"/>
          <a:ext cx="11185853" cy="2762250"/>
        </p:xfrm>
        <a:graphic>
          <a:graphicData uri="http://schemas.openxmlformats.org/drawingml/2006/table">
            <a:tbl>
              <a:tblPr firstRow="1" bandRow="1">
                <a:tableStyleId>{5C22544A-7EE6-4342-B048-85BDC9FD1C3A}</a:tableStyleId>
              </a:tblPr>
              <a:tblGrid>
                <a:gridCol w="3355756"/>
                <a:gridCol w="1677878"/>
                <a:gridCol w="1677878"/>
                <a:gridCol w="4474341"/>
              </a:tblGrid>
              <a:tr h="552450">
                <a:tc>
                  <a:txBody>
                    <a:bodyPr/>
                    <a:lstStyle/>
                    <a:p>
                      <a:r>
                        <a:rPr sz="3000" b="1">
                          <a:solidFill>
                            <a:srgbClr val="FFFFFF"/>
                          </a:solidFill>
                          <a:latin typeface="Calibri"/>
                        </a:rPr>
                        <a:t>Motor</a:t>
                      </a:r>
                    </a:p>
                  </a:txBody>
                  <a:tcPr marL="73152" marT="18288" marB="18288">
                    <a:solidFill>
                      <a:srgbClr val="1F3A5F"/>
                    </a:solidFill>
                  </a:tcPr>
                </a:tc>
                <a:tc>
                  <a:txBody>
                    <a:bodyPr/>
                    <a:lstStyle/>
                    <a:p>
                      <a:r>
                        <a:rPr sz="3000" b="1">
                          <a:solidFill>
                            <a:srgbClr val="FFFFFF"/>
                          </a:solidFill>
                          <a:latin typeface="Calibri"/>
                        </a:rPr>
                        <a:t>Pin A</a:t>
                      </a:r>
                    </a:p>
                  </a:txBody>
                  <a:tcPr marL="73152" marT="18288" marB="18288">
                    <a:solidFill>
                      <a:srgbClr val="1F3A5F"/>
                    </a:solidFill>
                  </a:tcPr>
                </a:tc>
                <a:tc>
                  <a:txBody>
                    <a:bodyPr/>
                    <a:lstStyle/>
                    <a:p>
                      <a:r>
                        <a:rPr sz="3000" b="1">
                          <a:solidFill>
                            <a:srgbClr val="FFFFFF"/>
                          </a:solidFill>
                          <a:latin typeface="Calibri"/>
                        </a:rPr>
                        <a:t>Pin B</a:t>
                      </a:r>
                    </a:p>
                  </a:txBody>
                  <a:tcPr marL="73152" marT="18288" marB="18288">
                    <a:solidFill>
                      <a:srgbClr val="1F3A5F"/>
                    </a:solidFill>
                  </a:tcPr>
                </a:tc>
                <a:tc>
                  <a:txBody>
                    <a:bodyPr/>
                    <a:lstStyle/>
                    <a:p>
                      <a:r>
                        <a:rPr sz="3000" b="1">
                          <a:solidFill>
                            <a:srgbClr val="FFFFFF"/>
                          </a:solidFill>
                          <a:latin typeface="Calibri"/>
                        </a:rPr>
                        <a:t>Driving A gives you</a:t>
                      </a:r>
                    </a:p>
                  </a:txBody>
                  <a:tcPr marL="73152" marT="18288" marB="18288">
                    <a:solidFill>
                      <a:srgbClr val="1F3A5F"/>
                    </a:solidFill>
                  </a:tcPr>
                </a:tc>
              </a:tr>
              <a:tr h="552450">
                <a:tc>
                  <a:txBody>
                    <a:bodyPr/>
                    <a:lstStyle/>
                    <a:p>
                      <a:r>
                        <a:rPr sz="3000">
                          <a:solidFill>
                            <a:srgbClr val="222222"/>
                          </a:solidFill>
                          <a:latin typeface="Calibri"/>
                        </a:rPr>
                        <a:t>Front left</a:t>
                      </a:r>
                    </a:p>
                  </a:txBody>
                  <a:tcPr marL="73152" marT="18288" marB="18288">
                    <a:solidFill>
                      <a:srgbClr val="FFFFFF"/>
                    </a:solidFill>
                  </a:tcPr>
                </a:tc>
                <a:tc>
                  <a:txBody>
                    <a:bodyPr/>
                    <a:lstStyle/>
                    <a:p>
                      <a:r>
                        <a:rPr sz="3000">
                          <a:solidFill>
                            <a:srgbClr val="222222"/>
                          </a:solidFill>
                          <a:latin typeface="Calibri"/>
                        </a:rPr>
                        <a:t>12</a:t>
                      </a:r>
                    </a:p>
                  </a:txBody>
                  <a:tcPr marL="73152" marT="18288" marB="18288">
                    <a:solidFill>
                      <a:srgbClr val="FFFFFF"/>
                    </a:solidFill>
                  </a:tcPr>
                </a:tc>
                <a:tc>
                  <a:txBody>
                    <a:bodyPr/>
                    <a:lstStyle/>
                    <a:p>
                      <a:r>
                        <a:rPr sz="3000">
                          <a:solidFill>
                            <a:srgbClr val="222222"/>
                          </a:solidFill>
                          <a:latin typeface="Calibri"/>
                        </a:rPr>
                        <a:t>13</a:t>
                      </a:r>
                    </a:p>
                  </a:txBody>
                  <a:tcPr marL="73152" marT="18288" marB="18288">
                    <a:solidFill>
                      <a:srgbClr val="FFFFFF"/>
                    </a:solidFill>
                  </a:tcPr>
                </a:tc>
                <a:tc>
                  <a:txBody>
                    <a:bodyPr/>
                    <a:lstStyle/>
                    <a:p>
                      <a:r>
                        <a:rPr sz="3000">
                          <a:solidFill>
                            <a:srgbClr val="222222"/>
                          </a:solidFill>
                          <a:latin typeface="Calibri"/>
                        </a:rPr>
                        <a:t>forward</a:t>
                      </a:r>
                    </a:p>
                  </a:txBody>
                  <a:tcPr marL="73152" marT="18288" marB="18288">
                    <a:solidFill>
                      <a:srgbClr val="FFFFFF"/>
                    </a:solidFill>
                  </a:tcPr>
                </a:tc>
              </a:tr>
              <a:tr h="552450">
                <a:tc>
                  <a:txBody>
                    <a:bodyPr/>
                    <a:lstStyle/>
                    <a:p>
                      <a:r>
                        <a:rPr sz="3000">
                          <a:solidFill>
                            <a:srgbClr val="222222"/>
                          </a:solidFill>
                          <a:latin typeface="Calibri"/>
                        </a:rPr>
                        <a:t>Rear left</a:t>
                      </a:r>
                    </a:p>
                  </a:txBody>
                  <a:tcPr marL="73152" marT="18288" marB="18288">
                    <a:solidFill>
                      <a:srgbClr val="EEF3F8"/>
                    </a:solidFill>
                  </a:tcPr>
                </a:tc>
                <a:tc>
                  <a:txBody>
                    <a:bodyPr/>
                    <a:lstStyle/>
                    <a:p>
                      <a:r>
                        <a:rPr sz="3000">
                          <a:solidFill>
                            <a:srgbClr val="222222"/>
                          </a:solidFill>
                          <a:latin typeface="Calibri"/>
                        </a:rPr>
                        <a:t>18</a:t>
                      </a:r>
                    </a:p>
                  </a:txBody>
                  <a:tcPr marL="73152" marT="18288" marB="18288">
                    <a:solidFill>
                      <a:srgbClr val="EEF3F8"/>
                    </a:solidFill>
                  </a:tcPr>
                </a:tc>
                <a:tc>
                  <a:txBody>
                    <a:bodyPr/>
                    <a:lstStyle/>
                    <a:p>
                      <a:r>
                        <a:rPr sz="3000">
                          <a:solidFill>
                            <a:srgbClr val="222222"/>
                          </a:solidFill>
                          <a:latin typeface="Calibri"/>
                        </a:rPr>
                        <a:t>19</a:t>
                      </a:r>
                    </a:p>
                  </a:txBody>
                  <a:tcPr marL="73152" marT="18288" marB="18288">
                    <a:solidFill>
                      <a:srgbClr val="EEF3F8"/>
                    </a:solidFill>
                  </a:tcPr>
                </a:tc>
                <a:tc>
                  <a:txBody>
                    <a:bodyPr/>
                    <a:lstStyle/>
                    <a:p>
                      <a:r>
                        <a:rPr sz="3000">
                          <a:solidFill>
                            <a:srgbClr val="222222"/>
                          </a:solidFill>
                          <a:latin typeface="Calibri"/>
                        </a:rPr>
                        <a:t>forward</a:t>
                      </a:r>
                    </a:p>
                  </a:txBody>
                  <a:tcPr marL="73152" marT="18288" marB="18288">
                    <a:solidFill>
                      <a:srgbClr val="EEF3F8"/>
                    </a:solidFill>
                  </a:tcPr>
                </a:tc>
              </a:tr>
              <a:tr h="552450">
                <a:tc>
                  <a:txBody>
                    <a:bodyPr/>
                    <a:lstStyle/>
                    <a:p>
                      <a:r>
                        <a:rPr sz="3000">
                          <a:solidFill>
                            <a:srgbClr val="222222"/>
                          </a:solidFill>
                          <a:latin typeface="Calibri"/>
                        </a:rPr>
                        <a:t>Front right</a:t>
                      </a:r>
                    </a:p>
                  </a:txBody>
                  <a:tcPr marL="73152" marT="18288" marB="18288">
                    <a:solidFill>
                      <a:srgbClr val="FFFFFF"/>
                    </a:solidFill>
                  </a:tcPr>
                </a:tc>
                <a:tc>
                  <a:txBody>
                    <a:bodyPr/>
                    <a:lstStyle/>
                    <a:p>
                      <a:r>
                        <a:rPr sz="3000">
                          <a:solidFill>
                            <a:srgbClr val="222222"/>
                          </a:solidFill>
                          <a:latin typeface="Calibri"/>
                        </a:rPr>
                        <a:t>22</a:t>
                      </a:r>
                    </a:p>
                  </a:txBody>
                  <a:tcPr marL="73152" marT="18288" marB="18288">
                    <a:solidFill>
                      <a:srgbClr val="FFFFFF"/>
                    </a:solidFill>
                  </a:tcPr>
                </a:tc>
                <a:tc>
                  <a:txBody>
                    <a:bodyPr/>
                    <a:lstStyle/>
                    <a:p>
                      <a:r>
                        <a:rPr sz="3000">
                          <a:solidFill>
                            <a:srgbClr val="222222"/>
                          </a:solidFill>
                          <a:latin typeface="Calibri"/>
                        </a:rPr>
                        <a:t>23</a:t>
                      </a:r>
                    </a:p>
                  </a:txBody>
                  <a:tcPr marL="73152" marT="18288" marB="18288">
                    <a:solidFill>
                      <a:srgbClr val="FFFFFF"/>
                    </a:solidFill>
                  </a:tcPr>
                </a:tc>
                <a:tc>
                  <a:txBody>
                    <a:bodyPr/>
                    <a:lstStyle/>
                    <a:p>
                      <a:r>
                        <a:rPr sz="3000">
                          <a:solidFill>
                            <a:srgbClr val="222222"/>
                          </a:solidFill>
                          <a:latin typeface="Calibri"/>
                        </a:rPr>
                        <a:t>forward</a:t>
                      </a:r>
                    </a:p>
                  </a:txBody>
                  <a:tcPr marL="73152" marT="18288" marB="18288">
                    <a:solidFill>
                      <a:srgbClr val="FFFFFF"/>
                    </a:solidFill>
                  </a:tcPr>
                </a:tc>
              </a:tr>
              <a:tr h="552450">
                <a:tc>
                  <a:txBody>
                    <a:bodyPr/>
                    <a:lstStyle/>
                    <a:p>
                      <a:r>
                        <a:rPr sz="3000">
                          <a:solidFill>
                            <a:srgbClr val="222222"/>
                          </a:solidFill>
                          <a:latin typeface="Calibri"/>
                        </a:rPr>
                        <a:t>Rear right</a:t>
                      </a:r>
                    </a:p>
                  </a:txBody>
                  <a:tcPr marL="73152" marT="18288" marB="18288">
                    <a:solidFill>
                      <a:srgbClr val="EEF3F8"/>
                    </a:solidFill>
                  </a:tcPr>
                </a:tc>
                <a:tc>
                  <a:txBody>
                    <a:bodyPr/>
                    <a:lstStyle/>
                    <a:p>
                      <a:r>
                        <a:rPr sz="3000">
                          <a:solidFill>
                            <a:srgbClr val="222222"/>
                          </a:solidFill>
                          <a:latin typeface="Calibri"/>
                        </a:rPr>
                        <a:t>16</a:t>
                      </a:r>
                    </a:p>
                  </a:txBody>
                  <a:tcPr marL="73152" marT="18288" marB="18288">
                    <a:solidFill>
                      <a:srgbClr val="EEF3F8"/>
                    </a:solidFill>
                  </a:tcPr>
                </a:tc>
                <a:tc>
                  <a:txBody>
                    <a:bodyPr/>
                    <a:lstStyle/>
                    <a:p>
                      <a:r>
                        <a:rPr sz="3000">
                          <a:solidFill>
                            <a:srgbClr val="222222"/>
                          </a:solidFill>
                          <a:latin typeface="Calibri"/>
                        </a:rPr>
                        <a:t>17</a:t>
                      </a:r>
                    </a:p>
                  </a:txBody>
                  <a:tcPr marL="73152" marT="18288" marB="18288">
                    <a:solidFill>
                      <a:srgbClr val="EEF3F8"/>
                    </a:solidFill>
                  </a:tcPr>
                </a:tc>
                <a:tc>
                  <a:txBody>
                    <a:bodyPr/>
                    <a:lstStyle/>
                    <a:p>
                      <a:r>
                        <a:rPr sz="3000">
                          <a:solidFill>
                            <a:srgbClr val="222222"/>
                          </a:solidFill>
                          <a:latin typeface="Calibri"/>
                        </a:rPr>
                        <a:t>forward</a:t>
                      </a:r>
                    </a:p>
                  </a:txBody>
                  <a:tcPr marL="73152" marT="18288" marB="18288">
                    <a:solidFill>
                      <a:srgbClr val="EEF3F8"/>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If one wheel on your vehicle runs backwards, swap that motor's two pin numbers in the program. Do not rewire anything.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problem: a pin is only ever on or off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Pulse width modulation</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digitalWrite(pin, HIGH) puts 3.3 volts on the pin. LOW puts 0 volts on it. There is nothing in between.</a:t>
            </a:r>
          </a:p>
          <a:p>
            <a:pPr algn="l">
              <a:lnSpc>
                <a:spcPct val="100000"/>
              </a:lnSpc>
              <a:spcAft>
                <a:spcPts val="600"/>
              </a:spcAft>
              <a:defRPr sz="2200" b="0">
                <a:solidFill>
                  <a:srgbClr val="222222"/>
                </a:solidFill>
                <a:latin typeface="Calibri"/>
              </a:defRPr>
            </a:pPr>
            <a:r>
              <a:rPr sz="2200" b="0">
                <a:solidFill>
                  <a:srgbClr val="222222"/>
                </a:solidFill>
                <a:latin typeface="Calibri"/>
              </a:rPr>
              <a:t>So how do you get HALF speed?</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You switch the pin on and off very fast, and vary how much of each cycle it spends switched on. The motor cannot respond quickly enough to follow the switching, so it feels the AVERAGE.</a:t>
            </a:r>
          </a:p>
          <a:p>
            <a:pPr algn="l">
              <a:lnSpc>
                <a:spcPct val="100000"/>
              </a:lnSpc>
              <a:spcAft>
                <a:spcPts val="600"/>
              </a:spcAft>
              <a:defRPr sz="2200" b="0">
                <a:solidFill>
                  <a:srgbClr val="222222"/>
                </a:solidFill>
                <a:latin typeface="Calibri"/>
              </a:defRPr>
            </a:pPr>
            <a:r>
              <a:rPr sz="2200" b="0">
                <a:solidFill>
                  <a:srgbClr val="222222"/>
                </a:solidFill>
                <a:latin typeface="Calibri"/>
              </a:rPr>
              <a:t>That is PULSE WIDTH MODULATION. The fraction of each cycle that is on is the DUTY CYCLE.</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The ESP32 has dedicated hardware for this, so your program does not have to sit there flipping pins. You set it up once and then just write the number you want.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Pulse width modulation: how a pin makes a half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38988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25% duty</a:t>
            </a:r>
          </a:p>
        </p:txBody>
      </p:sp>
      <p:cxnSp>
        <p:nvCxnSpPr>
          <p:cNvPr id="7" name="Connector 6"/>
          <p:cNvCxnSpPr/>
          <p:nvPr/>
        </p:nvCxnSpPr>
        <p:spPr>
          <a:xfrm>
            <a:off x="1920240" y="184708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20240"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920240"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388869"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388869"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794759"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794759"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63388"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263388"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669278"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5669278"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137907"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137907"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543797" y="1280160"/>
            <a:ext cx="46862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43797"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012426" y="128016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012426" y="1847088"/>
            <a:ext cx="140589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528047" y="129844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quarter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64)</a:t>
            </a:r>
          </a:p>
        </p:txBody>
      </p:sp>
      <p:sp>
        <p:nvSpPr>
          <p:cNvPr id="25" name="TextBox 24"/>
          <p:cNvSpPr txBox="1"/>
          <p:nvPr/>
        </p:nvSpPr>
        <p:spPr>
          <a:xfrm>
            <a:off x="502920" y="257860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50% duty</a:t>
            </a:r>
          </a:p>
        </p:txBody>
      </p:sp>
      <p:cxnSp>
        <p:nvCxnSpPr>
          <p:cNvPr id="26" name="Connector 25"/>
          <p:cNvCxnSpPr/>
          <p:nvPr/>
        </p:nvCxnSpPr>
        <p:spPr>
          <a:xfrm>
            <a:off x="1920240" y="303580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920240"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920240"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857499"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857499"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794759"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794759"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32018"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732018"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669278"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669278"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06537"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06537"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543797" y="2468880"/>
            <a:ext cx="93725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543797"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481056" y="246888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481056" y="3035808"/>
            <a:ext cx="937260"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528047" y="248716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half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128)</a:t>
            </a:r>
          </a:p>
        </p:txBody>
      </p:sp>
      <p:sp>
        <p:nvSpPr>
          <p:cNvPr id="44" name="TextBox 43"/>
          <p:cNvSpPr txBox="1"/>
          <p:nvPr/>
        </p:nvSpPr>
        <p:spPr>
          <a:xfrm>
            <a:off x="502920" y="3767328"/>
            <a:ext cx="13258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100% duty</a:t>
            </a:r>
          </a:p>
        </p:txBody>
      </p:sp>
      <p:cxnSp>
        <p:nvCxnSpPr>
          <p:cNvPr id="45" name="Connector 44"/>
          <p:cNvCxnSpPr/>
          <p:nvPr/>
        </p:nvCxnSpPr>
        <p:spPr>
          <a:xfrm>
            <a:off x="1920240" y="4224528"/>
            <a:ext cx="7498079" cy="0"/>
          </a:xfrm>
          <a:prstGeom prst="line">
            <a:avLst/>
          </a:prstGeom>
          <a:ln w="12700">
            <a:solidFill>
              <a:srgbClr val="C8D2D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920240"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920240"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794759"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794759"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5669278"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669278"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43797" y="3657600"/>
            <a:ext cx="1874519" cy="0"/>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7543797" y="3657600"/>
            <a:ext cx="0" cy="566928"/>
          </a:xfrm>
          <a:prstGeom prst="line">
            <a:avLst/>
          </a:prstGeom>
          <a:ln w="31750">
            <a:solidFill>
              <a:srgbClr val="0E7C8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9528047" y="3675888"/>
            <a:ext cx="2377440" cy="659384"/>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full power</a:t>
            </a:r>
          </a:p>
          <a:p>
            <a:pPr algn="l">
              <a:lnSpc>
                <a:spcPct val="100000"/>
              </a:lnSpc>
              <a:spcAft>
                <a:spcPts val="0"/>
              </a:spcAft>
              <a:defRPr sz="1800" b="0">
                <a:solidFill>
                  <a:srgbClr val="666666"/>
                </a:solidFill>
                <a:latin typeface="Calibri"/>
              </a:defRPr>
            </a:pPr>
            <a:r>
              <a:rPr sz="1800" b="0">
                <a:solidFill>
                  <a:srgbClr val="666666"/>
                </a:solidFill>
                <a:latin typeface="Calibri"/>
              </a:rPr>
              <a:t>ledcWrite(pin, 255)</a:t>
            </a:r>
          </a:p>
        </p:txBody>
      </p:sp>
      <p:sp>
        <p:nvSpPr>
          <p:cNvPr id="55" name="TextBox 54"/>
          <p:cNvSpPr txBox="1"/>
          <p:nvPr/>
        </p:nvSpPr>
        <p:spPr>
          <a:xfrm>
            <a:off x="1920240" y="4956047"/>
            <a:ext cx="7498079"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one cycle = 1/20000 s; this picture repeats 5000 times a second</a:t>
            </a:r>
          </a:p>
        </p:txBody>
      </p:sp>
      <p:sp>
        <p:nvSpPr>
          <p:cNvPr id="56" name="Rounded Rectangle 55"/>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pin is only ever fully on or fully off. Speed comes from the FRACTION of each cycle it spends on - the duty cycle.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Setting PWM up on this track</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502920" y="1188720"/>
            <a:ext cx="3755029"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The two lines you need</a:t>
            </a:r>
          </a:p>
        </p:txBody>
      </p:sp>
      <p:sp>
        <p:nvSpPr>
          <p:cNvPr id="7" name="TextBox 6"/>
          <p:cNvSpPr txBox="1"/>
          <p:nvPr/>
        </p:nvSpPr>
        <p:spPr>
          <a:xfrm>
            <a:off x="502920" y="1700784"/>
            <a:ext cx="3755029" cy="4562856"/>
          </a:xfrm>
          <a:prstGeom prst="rect">
            <a:avLst/>
          </a:prstGeom>
          <a:noFill/>
        </p:spPr>
        <p:txBody>
          <a:bodyPr wrap="square" lIns="0" tIns="0" rIns="0" bIns="0">
            <a:spAutoFit/>
          </a:bodyPr>
          <a:lstStyle/>
          <a:p>
            <a:pPr algn="l">
              <a:lnSpc>
                <a:spcPct val="100000"/>
              </a:lnSpc>
              <a:spcAft>
                <a:spcPts val="800"/>
              </a:spcAft>
              <a:defRPr sz="2500" b="0">
                <a:solidFill>
                  <a:srgbClr val="222222"/>
                </a:solidFill>
                <a:latin typeface="Calibri"/>
              </a:defRPr>
            </a:pPr>
            <a:r>
              <a:rPr sz="2500" b="0">
                <a:solidFill>
                  <a:srgbClr val="222222"/>
                </a:solidFill>
                <a:latin typeface="Calibri"/>
              </a:rPr>
              <a:t>ledcAttach(pin, freq, bits);</a:t>
            </a:r>
          </a:p>
          <a:p>
            <a:pPr algn="l">
              <a:lnSpc>
                <a:spcPct val="100000"/>
              </a:lnSpc>
              <a:spcAft>
                <a:spcPts val="800"/>
              </a:spcAft>
              <a:defRPr sz="1250" b="0">
                <a:solidFill>
                  <a:srgbClr val="222222"/>
                </a:solidFill>
                <a:latin typeface="Calibri"/>
              </a:defRPr>
            </a:pPr>
          </a:p>
          <a:p>
            <a:pPr algn="l">
              <a:lnSpc>
                <a:spcPct val="100000"/>
              </a:lnSpc>
              <a:spcAft>
                <a:spcPts val="800"/>
              </a:spcAft>
              <a:defRPr sz="2500" b="0">
                <a:solidFill>
                  <a:srgbClr val="222222"/>
                </a:solidFill>
                <a:latin typeface="Calibri"/>
              </a:defRPr>
            </a:pPr>
            <a:r>
              <a:rPr sz="2500" b="0">
                <a:solidFill>
                  <a:srgbClr val="222222"/>
                </a:solidFill>
                <a:latin typeface="Calibri"/>
              </a:rPr>
              <a:t>ledcWrite(pin, duty);</a:t>
            </a:r>
          </a:p>
          <a:p>
            <a:pPr algn="l">
              <a:lnSpc>
                <a:spcPct val="100000"/>
              </a:lnSpc>
              <a:spcAft>
                <a:spcPts val="800"/>
              </a:spcAft>
              <a:defRPr sz="1250" b="0">
                <a:solidFill>
                  <a:srgbClr val="222222"/>
                </a:solidFill>
                <a:latin typeface="Calibri"/>
              </a:defRPr>
            </a:pPr>
          </a:p>
          <a:p>
            <a:pPr algn="l">
              <a:lnSpc>
                <a:spcPct val="100000"/>
              </a:lnSpc>
              <a:spcAft>
                <a:spcPts val="800"/>
              </a:spcAft>
              <a:defRPr sz="2500" b="0">
                <a:solidFill>
                  <a:srgbClr val="222222"/>
                </a:solidFill>
                <a:latin typeface="Calibri"/>
              </a:defRPr>
            </a:pPr>
            <a:r>
              <a:rPr sz="2500" b="0">
                <a:solidFill>
                  <a:srgbClr val="222222"/>
                </a:solidFill>
                <a:latin typeface="Calibri"/>
              </a:rPr>
              <a:t>This board package lets you talk straight to the pin.</a:t>
            </a:r>
          </a:p>
        </p:txBody>
      </p:sp>
      <p:sp>
        <p:nvSpPr>
          <p:cNvPr id="8" name="TextBox 7"/>
          <p:cNvSpPr txBox="1"/>
          <p:nvPr/>
        </p:nvSpPr>
        <p:spPr>
          <a:xfrm>
            <a:off x="4715149" y="1188720"/>
            <a:ext cx="6973626" cy="457200"/>
          </a:xfrm>
          <a:prstGeom prst="rect">
            <a:avLst/>
          </a:prstGeom>
          <a:noFill/>
        </p:spPr>
        <p:txBody>
          <a:bodyPr wrap="square" lIns="0" tIns="0" rIns="0" bIns="0">
            <a:spAutoFit/>
          </a:bodyPr>
          <a:lstStyle/>
          <a:p>
            <a:pPr algn="l">
              <a:lnSpc>
                <a:spcPct val="100000"/>
              </a:lnSpc>
              <a:spcAft>
                <a:spcPts val="300"/>
              </a:spcAft>
              <a:defRPr sz="2200" b="1">
                <a:solidFill>
                  <a:srgbClr val="0E7C86"/>
                </a:solidFill>
                <a:latin typeface="Calibri"/>
              </a:defRPr>
            </a:pPr>
            <a:r>
              <a:rPr sz="2200" b="1">
                <a:solidFill>
                  <a:srgbClr val="0E7C86"/>
                </a:solidFill>
                <a:latin typeface="Calibri"/>
              </a:rPr>
              <a:t>The numbers we use, and why</a:t>
            </a:r>
          </a:p>
        </p:txBody>
      </p:sp>
      <p:sp>
        <p:nvSpPr>
          <p:cNvPr id="9" name="TextBox 8"/>
          <p:cNvSpPr txBox="1"/>
          <p:nvPr/>
        </p:nvSpPr>
        <p:spPr>
          <a:xfrm>
            <a:off x="4715149" y="1700784"/>
            <a:ext cx="6973626" cy="4562856"/>
          </a:xfrm>
          <a:prstGeom prst="rect">
            <a:avLst/>
          </a:prstGeom>
          <a:noFill/>
        </p:spPr>
        <p:txBody>
          <a:bodyPr wrap="square" lIns="0" tIns="0" rIns="0" bIns="0">
            <a:spAutoFit/>
          </a:bodyPr>
          <a:lstStyle/>
          <a:p>
            <a:pPr algn="l">
              <a:lnSpc>
                <a:spcPct val="100000"/>
              </a:lnSpc>
              <a:spcAft>
                <a:spcPts val="800"/>
              </a:spcAft>
              <a:defRPr sz="2400" b="0">
                <a:solidFill>
                  <a:srgbClr val="222222"/>
                </a:solidFill>
                <a:latin typeface="Calibri"/>
              </a:defRPr>
            </a:pPr>
            <a:r>
              <a:rPr sz="2400" b="0">
                <a:solidFill>
                  <a:srgbClr val="222222"/>
                </a:solidFill>
                <a:latin typeface="Calibri"/>
              </a:rPr>
              <a:t>Frequency 20000 Hz. Human hearing stops around 20 kHz, so the switching is silent. Set it to 300 and you will hear the motors sing - try it.</a:t>
            </a:r>
          </a:p>
          <a:p>
            <a:pPr algn="l">
              <a:lnSpc>
                <a:spcPct val="100000"/>
              </a:lnSpc>
              <a:spcAft>
                <a:spcPts val="800"/>
              </a:spcAft>
              <a:defRPr sz="2400" b="0">
                <a:solidFill>
                  <a:srgbClr val="222222"/>
                </a:solidFill>
                <a:latin typeface="Calibri"/>
              </a:defRPr>
            </a:pPr>
            <a:r>
              <a:rPr sz="2400" b="0">
                <a:solidFill>
                  <a:srgbClr val="222222"/>
                </a:solidFill>
                <a:latin typeface="Calibri"/>
              </a:rPr>
              <a:t>Resolution 8 bits. That gives duty values 0 to 255, because 2 to the power 8 is 256.</a:t>
            </a:r>
          </a:p>
          <a:p>
            <a:pPr algn="l">
              <a:lnSpc>
                <a:spcPct val="100000"/>
              </a:lnSpc>
              <a:spcAft>
                <a:spcPts val="800"/>
              </a:spcAft>
              <a:defRPr sz="2400" b="0">
                <a:solidFill>
                  <a:srgbClr val="222222"/>
                </a:solidFill>
                <a:latin typeface="Calibri"/>
              </a:defRPr>
            </a:pPr>
            <a:r>
              <a:rPr sz="2400" b="0">
                <a:solidFill>
                  <a:srgbClr val="222222"/>
                </a:solidFill>
                <a:latin typeface="Calibri"/>
              </a:rPr>
              <a:t>0 is off, 128 is about half power, 255 is flat out.</a:t>
            </a:r>
          </a:p>
          <a:p>
            <a:pPr algn="l">
              <a:lnSpc>
                <a:spcPct val="100000"/>
              </a:lnSpc>
              <a:spcAft>
                <a:spcPts val="800"/>
              </a:spcAft>
              <a:defRPr sz="1200" b="0">
                <a:solidFill>
                  <a:srgbClr val="222222"/>
                </a:solidFill>
                <a:latin typeface="Calibri"/>
              </a:defRPr>
            </a:pPr>
          </a:p>
          <a:p>
            <a:pPr algn="l">
              <a:lnSpc>
                <a:spcPct val="100000"/>
              </a:lnSpc>
              <a:spcAft>
                <a:spcPts val="800"/>
              </a:spcAft>
              <a:defRPr sz="2400" b="0">
                <a:solidFill>
                  <a:srgbClr val="222222"/>
                </a:solidFill>
                <a:latin typeface="Calibri"/>
              </a:defRPr>
            </a:pPr>
            <a:r>
              <a:rPr sz="2400" b="0">
                <a:solidFill>
                  <a:srgbClr val="222222"/>
                </a:solidFill>
                <a:latin typeface="Calibri"/>
              </a:rPr>
              <a:t>The advanced program uses 10 bits, 0 to 1023, for finer control at low speed.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l2a_one_motor  -  the whole idea in six lines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l2a_one_motor.ino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600">
                <a:latin typeface="Consolas"/>
              </a:defRPr>
            </a:pPr>
            <a:r>
              <a:rPr sz="1600">
                <a:solidFill>
                  <a:srgbClr val="222222"/>
                </a:solidFill>
                <a:latin typeface="Consolas"/>
              </a:rPr>
              <a:t>ledcWrite(MOTOR_PIN_A, SPEED);   // drive A</a:t>
            </a:r>
          </a:p>
          <a:p>
            <a:pPr algn="l">
              <a:lnSpc>
                <a:spcPct val="100000"/>
              </a:lnSpc>
              <a:spcAft>
                <a:spcPts val="0"/>
              </a:spcAft>
              <a:defRPr sz="1600">
                <a:latin typeface="Consolas"/>
              </a:defRPr>
            </a:pPr>
            <a:r>
              <a:rPr sz="1600">
                <a:solidFill>
                  <a:srgbClr val="222222"/>
                </a:solidFill>
                <a:latin typeface="Consolas"/>
              </a:rPr>
              <a:t>ledcWrite(MOTOR_PIN_B, 0);       // leave B off</a:t>
            </a:r>
          </a:p>
          <a:p>
            <a:pPr algn="l">
              <a:lnSpc>
                <a:spcPct val="100000"/>
              </a:lnSpc>
              <a:spcAft>
                <a:spcPts val="0"/>
              </a:spcAft>
              <a:defRPr sz="1600">
                <a:latin typeface="Consolas"/>
              </a:defRPr>
            </a:pPr>
            <a:r>
              <a:rPr sz="1600">
                <a:solidFill>
                  <a:srgbClr val="666666"/>
                </a:solidFill>
                <a:latin typeface="Consolas"/>
              </a:rPr>
              <a:t>//   -&gt; the motor turns one way</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ledcWrite(MOTOR_PIN_A, 0);</a:t>
            </a:r>
          </a:p>
          <a:p>
            <a:pPr algn="l">
              <a:lnSpc>
                <a:spcPct val="100000"/>
              </a:lnSpc>
              <a:spcAft>
                <a:spcPts val="0"/>
              </a:spcAft>
              <a:defRPr sz="1600">
                <a:latin typeface="Consolas"/>
              </a:defRPr>
            </a:pPr>
            <a:r>
              <a:rPr sz="1600">
                <a:solidFill>
                  <a:srgbClr val="222222"/>
                </a:solidFill>
                <a:latin typeface="Consolas"/>
              </a:rPr>
              <a:t>ledcWrite(MOTOR_PIN_B, SPEED);   // now the other way round</a:t>
            </a:r>
          </a:p>
          <a:p>
            <a:pPr algn="l">
              <a:lnSpc>
                <a:spcPct val="100000"/>
              </a:lnSpc>
              <a:spcAft>
                <a:spcPts val="0"/>
              </a:spcAft>
              <a:defRPr sz="1600">
                <a:latin typeface="Consolas"/>
              </a:defRPr>
            </a:pPr>
            <a:r>
              <a:rPr sz="1600">
                <a:solidFill>
                  <a:srgbClr val="666666"/>
                </a:solidFill>
                <a:latin typeface="Consolas"/>
              </a:rPr>
              <a:t>//   -&gt; the motor turns the other way</a:t>
            </a:r>
          </a:p>
          <a:p>
            <a:pPr algn="l">
              <a:lnSpc>
                <a:spcPct val="100000"/>
              </a:lnSpc>
              <a:spcAft>
                <a:spcPts val="0"/>
              </a:spcAft>
              <a:defRPr sz="1600">
                <a:latin typeface="Consolas"/>
              </a:defRPr>
            </a:pPr>
            <a:r>
              <a:rPr sz="1600">
                <a:solidFill>
                  <a:srgbClr val="222222"/>
                </a:solidFill>
                <a:latin typeface="Consolas"/>
              </a:rPr>
              <a:t> </a:t>
            </a:r>
          </a:p>
          <a:p>
            <a:pPr algn="l">
              <a:lnSpc>
                <a:spcPct val="100000"/>
              </a:lnSpc>
              <a:spcAft>
                <a:spcPts val="0"/>
              </a:spcAft>
              <a:defRPr sz="1600">
                <a:latin typeface="Consolas"/>
              </a:defRPr>
            </a:pPr>
            <a:r>
              <a:rPr sz="1600">
                <a:solidFill>
                  <a:srgbClr val="222222"/>
                </a:solidFill>
                <a:latin typeface="Consolas"/>
              </a:rPr>
              <a:t>ledcWrite(MOTOR_PIN_A, 0);</a:t>
            </a:r>
          </a:p>
          <a:p>
            <a:pPr algn="l">
              <a:lnSpc>
                <a:spcPct val="100000"/>
              </a:lnSpc>
              <a:spcAft>
                <a:spcPts val="0"/>
              </a:spcAft>
              <a:defRPr sz="1600">
                <a:latin typeface="Consolas"/>
              </a:defRPr>
            </a:pPr>
            <a:r>
              <a:rPr sz="1600">
                <a:solidFill>
                  <a:srgbClr val="222222"/>
                </a:solidFill>
                <a:latin typeface="Consolas"/>
              </a:rPr>
              <a:t>ledcWrite(MOTOR_PIN_B, 0);</a:t>
            </a:r>
          </a:p>
          <a:p>
            <a:pPr algn="l">
              <a:lnSpc>
                <a:spcPct val="100000"/>
              </a:lnSpc>
              <a:spcAft>
                <a:spcPts val="0"/>
              </a:spcAft>
              <a:defRPr sz="1600">
                <a:latin typeface="Consolas"/>
              </a:defRPr>
            </a:pPr>
            <a:r>
              <a:rPr sz="1600">
                <a:solidFill>
                  <a:srgbClr val="666666"/>
                </a:solidFill>
                <a:latin typeface="Consolas"/>
              </a:rPr>
              <a:t>//   -&gt; both off: the motor coasts to a stop</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100" b="0">
                <a:solidFill>
                  <a:srgbClr val="222222"/>
                </a:solidFill>
                <a:latin typeface="Calibri"/>
              </a:defRPr>
            </a:pPr>
            <a:r>
              <a:rPr sz="2100" b="0">
                <a:solidFill>
                  <a:srgbClr val="222222"/>
                </a:solidFill>
                <a:latin typeface="Calibri"/>
              </a:rPr>
              <a:t>Only the FRONT LEFT motor is driven, so the vehicle cannot run away while you are still finding out what the numbers do.</a:t>
            </a:r>
          </a:p>
          <a:p>
            <a:pPr algn="l">
              <a:lnSpc>
                <a:spcPct val="100000"/>
              </a:lnSpc>
              <a:spcAft>
                <a:spcPts val="700"/>
              </a:spcAft>
              <a:defRPr sz="2100" b="0">
                <a:solidFill>
                  <a:srgbClr val="222222"/>
                </a:solidFill>
                <a:latin typeface="Calibri"/>
              </a:defRPr>
            </a:pPr>
            <a:r>
              <a:rPr sz="2100" b="0">
                <a:solidFill>
                  <a:srgbClr val="222222"/>
                </a:solidFill>
                <a:latin typeface="Calibri"/>
              </a:rPr>
              <a:t>Direction is which pin you drive.</a:t>
            </a:r>
          </a:p>
          <a:p>
            <a:pPr algn="l">
              <a:lnSpc>
                <a:spcPct val="100000"/>
              </a:lnSpc>
              <a:spcAft>
                <a:spcPts val="700"/>
              </a:spcAft>
              <a:defRPr sz="2100" b="0">
                <a:solidFill>
                  <a:srgbClr val="222222"/>
                </a:solidFill>
                <a:latin typeface="Calibri"/>
              </a:defRPr>
            </a:pPr>
            <a:r>
              <a:rPr sz="2100" b="0">
                <a:solidFill>
                  <a:srgbClr val="222222"/>
                </a:solidFill>
                <a:latin typeface="Calibri"/>
              </a:rPr>
              <a:t>Speed is how hard you drive it.</a:t>
            </a:r>
          </a:p>
          <a:p>
            <a:pPr algn="l">
              <a:lnSpc>
                <a:spcPct val="100000"/>
              </a:lnSpc>
              <a:spcAft>
                <a:spcPts val="700"/>
              </a:spcAft>
              <a:defRPr sz="2100" b="0">
                <a:solidFill>
                  <a:srgbClr val="222222"/>
                </a:solidFill>
                <a:latin typeface="Calibri"/>
              </a:defRPr>
            </a:pPr>
            <a:r>
              <a:rPr sz="2100" b="0">
                <a:solidFill>
                  <a:srgbClr val="222222"/>
                </a:solidFill>
                <a:latin typeface="Calibri"/>
              </a:rPr>
              <a:t>Both off is a coast. Both ON would be a hard brake - the advanced course uses that.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One motor</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1" name="Rounded Rectangle 10"/>
          <p:cNvSpPr/>
          <p:nvPr/>
        </p:nvSpPr>
        <p:spPr>
          <a:xfrm>
            <a:off x="5035782"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Duty vs speed</a:t>
            </a:r>
          </a:p>
        </p:txBody>
      </p:sp>
      <p:sp>
        <p:nvSpPr>
          <p:cNvPr id="12" name="Rounded Rectangle 11"/>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Ohm's law and circuits</a:t>
            </a:r>
          </a:p>
        </p:txBody>
      </p:sp>
      <p:sp>
        <p:nvSpPr>
          <p:cNvPr id="13" name="Rounded Rectangle 12"/>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one motor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l2a_one_motor</a:t>
            </a:r>
            <a:r>
              <a:rPr sz="1200">
                <a:solidFill>
                  <a:srgbClr val="FFFFFF"/>
                </a:solidFill>
                <a:latin typeface="Calibri"/>
              </a:rPr>
              <a:t>     (25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1.  Vehicle on a block. Check all four wheels spin free.</a:t>
            </a:r>
          </a:p>
          <a:p>
            <a:pPr algn="l">
              <a:lnSpc>
                <a:spcPct val="100000"/>
              </a:lnSpc>
              <a:spcAft>
                <a:spcPts val="800"/>
              </a:spcAft>
              <a:defRPr sz="1900" b="0">
                <a:solidFill>
                  <a:srgbClr val="222222"/>
                </a:solidFill>
                <a:latin typeface="Calibri"/>
              </a:defRPr>
            </a:pPr>
            <a:r>
              <a:rPr sz="1900" b="0">
                <a:solidFill>
                  <a:srgbClr val="222222"/>
                </a:solidFill>
                <a:latin typeface="Calibri"/>
              </a:rPr>
              <a:t>2.  Upload. Watch the front left wheel and the Serial Monitor.</a:t>
            </a:r>
          </a:p>
          <a:p>
            <a:pPr algn="l">
              <a:lnSpc>
                <a:spcPct val="100000"/>
              </a:lnSpc>
              <a:spcAft>
                <a:spcPts val="800"/>
              </a:spcAft>
              <a:defRPr sz="1900" b="0">
                <a:solidFill>
                  <a:srgbClr val="222222"/>
                </a:solidFill>
                <a:latin typeface="Calibri"/>
              </a:defRPr>
            </a:pPr>
            <a:r>
              <a:rPr sz="1900" b="0">
                <a:solidFill>
                  <a:srgbClr val="222222"/>
                </a:solidFill>
                <a:latin typeface="Calibri"/>
              </a:rPr>
              <a:t>3.  Change SPEED from 200 to 60. Does the wheel still turn?</a:t>
            </a:r>
          </a:p>
          <a:p>
            <a:pPr algn="l">
              <a:lnSpc>
                <a:spcPct val="100000"/>
              </a:lnSpc>
              <a:spcAft>
                <a:spcPts val="800"/>
              </a:spcAft>
              <a:defRPr sz="1900" b="0">
                <a:solidFill>
                  <a:srgbClr val="222222"/>
                </a:solidFill>
                <a:latin typeface="Calibri"/>
              </a:defRPr>
            </a:pPr>
            <a:r>
              <a:rPr sz="1900" b="0">
                <a:solidFill>
                  <a:srgbClr val="222222"/>
                </a:solidFill>
                <a:latin typeface="Calibri"/>
              </a:rPr>
              <a:t>4.  Swap MOTOR_PIN_A and MOTOR_PIN_B. What changed?</a:t>
            </a:r>
          </a:p>
          <a:p>
            <a:pPr algn="l">
              <a:lnSpc>
                <a:spcPct val="100000"/>
              </a:lnSpc>
              <a:spcAft>
                <a:spcPts val="800"/>
              </a:spcAft>
              <a:defRPr sz="1900" b="0">
                <a:solidFill>
                  <a:srgbClr val="222222"/>
                </a:solidFill>
                <a:latin typeface="Calibri"/>
              </a:defRPr>
            </a:pPr>
            <a:r>
              <a:rPr sz="1900" b="0">
                <a:solidFill>
                  <a:srgbClr val="222222"/>
                </a:solidFill>
                <a:latin typeface="Calibri"/>
              </a:rPr>
              <a:t>5.  Change the pins to 22 and 23. Which wheel moves?</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696452"/>
          </a:xfrm>
          <a:prstGeom prst="rect">
            <a:avLst/>
          </a:prstGeom>
          <a:noFill/>
        </p:spPr>
        <p:txBody>
          <a:bodyPr wrap="square" lIns="0" tIns="0" rIns="0" bIns="0">
            <a:spAutoFit/>
          </a:bodyPr>
          <a:lstStyle/>
          <a:p>
            <a:pPr algn="l">
              <a:lnSpc>
                <a:spcPct val="100000"/>
              </a:lnSpc>
              <a:spcAft>
                <a:spcPts val="300"/>
              </a:spcAft>
              <a:defRPr sz="1800" b="0">
                <a:solidFill>
                  <a:srgbClr val="222222"/>
                </a:solidFill>
                <a:latin typeface="Calibri"/>
              </a:defRPr>
            </a:pPr>
            <a:r>
              <a:rPr sz="1800" b="0">
                <a:solidFill>
                  <a:srgbClr val="222222"/>
                </a:solidFill>
                <a:latin typeface="Calibri"/>
              </a:rPr>
              <a:t>Front left wheel: forward, stop, reverse, stop, repeating.</a:t>
            </a:r>
          </a:p>
        </p:txBody>
      </p:sp>
      <p:sp>
        <p:nvSpPr>
          <p:cNvPr id="10" name="TextBox 9"/>
          <p:cNvSpPr txBox="1"/>
          <p:nvPr/>
        </p:nvSpPr>
        <p:spPr>
          <a:xfrm>
            <a:off x="7163537" y="307389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476228"/>
            <a:ext cx="4525238" cy="1699275"/>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At 60, is the wheel turning as fast as it did at 200, or is it turning with less force?</a:t>
            </a:r>
          </a:p>
          <a:p>
            <a:pPr algn="l">
              <a:lnSpc>
                <a:spcPct val="100000"/>
              </a:lnSpc>
              <a:spcAft>
                <a:spcPts val="300"/>
              </a:spcAft>
              <a:defRPr sz="1900" b="0">
                <a:solidFill>
                  <a:srgbClr val="222222"/>
                </a:solidFill>
                <a:latin typeface="Calibri"/>
              </a:defRPr>
            </a:pPr>
            <a:r>
              <a:rPr sz="1900" b="0">
                <a:solidFill>
                  <a:srgbClr val="222222"/>
                </a:solidFill>
                <a:latin typeface="Calibri"/>
              </a:rPr>
              <a:t>Swapping the two pins reversed it. Why does that work?</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Nothing on this slide should touch the floor.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Duty vs speed</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20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3" name="Rounded Rectangle 12"/>
          <p:cNvSpPr/>
          <p:nvPr/>
        </p:nvSpPr>
        <p:spPr>
          <a:xfrm>
            <a:off x="7302213"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Ohm's law and circuits</a:t>
            </a:r>
          </a:p>
        </p:txBody>
      </p:sp>
      <p:sp>
        <p:nvSpPr>
          <p:cNvPr id="14" name="Rounded Rectangle 13"/>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duty vs speed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l2b_speed_ramp</a:t>
            </a:r>
            <a:r>
              <a:rPr sz="1200">
                <a:solidFill>
                  <a:srgbClr val="FFFFFF"/>
                </a:solidFill>
                <a:latin typeface="Calibri"/>
              </a:rPr>
              <a:t>     (20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Wheels still off the ground. Upload it.</a:t>
            </a:r>
          </a:p>
          <a:p>
            <a:pPr algn="l">
              <a:lnSpc>
                <a:spcPct val="100000"/>
              </a:lnSpc>
              <a:spcAft>
                <a:spcPts val="400"/>
              </a:spcAft>
              <a:defRPr sz="1800" b="0">
                <a:solidFill>
                  <a:srgbClr val="222222"/>
                </a:solidFill>
                <a:latin typeface="Calibri"/>
              </a:defRPr>
            </a:pPr>
            <a:r>
              <a:rPr sz="1800" b="0">
                <a:solidFill>
                  <a:srgbClr val="222222"/>
                </a:solidFill>
                <a:latin typeface="Calibri"/>
              </a:rPr>
              <a:t>2.  Watch the wheels and the Serial Monitor together. Each duty is held for 300 ms.</a:t>
            </a:r>
          </a:p>
          <a:p>
            <a:pPr algn="l">
              <a:lnSpc>
                <a:spcPct val="100000"/>
              </a:lnSpc>
              <a:spcAft>
                <a:spcPts val="400"/>
              </a:spcAft>
              <a:defRPr sz="1800" b="0">
                <a:solidFill>
                  <a:srgbClr val="222222"/>
                </a:solidFill>
                <a:latin typeface="Calibri"/>
              </a:defRPr>
            </a:pPr>
            <a:r>
              <a:rPr sz="1800" b="0">
                <a:solidFill>
                  <a:srgbClr val="222222"/>
                </a:solidFill>
                <a:latin typeface="Calibri"/>
              </a:rPr>
              <a:t>3.  Write down the duty at which the wheels START to turn.</a:t>
            </a:r>
          </a:p>
          <a:p>
            <a:pPr algn="l">
              <a:lnSpc>
                <a:spcPct val="100000"/>
              </a:lnSpc>
              <a:spcAft>
                <a:spcPts val="400"/>
              </a:spcAft>
              <a:defRPr sz="1800" b="0">
                <a:solidFill>
                  <a:srgbClr val="222222"/>
                </a:solidFill>
                <a:latin typeface="Calibri"/>
              </a:defRPr>
            </a:pPr>
            <a:r>
              <a:rPr sz="1800" b="0">
                <a:solidFill>
                  <a:srgbClr val="222222"/>
                </a:solidFill>
                <a:latin typeface="Calibri"/>
              </a:rPr>
              <a:t>4.  Set DUTY_STEP to 1 to pin that number down exactly.</a:t>
            </a:r>
          </a:p>
          <a:p>
            <a:pPr algn="l">
              <a:lnSpc>
                <a:spcPct val="100000"/>
              </a:lnSpc>
              <a:spcAft>
                <a:spcPts val="400"/>
              </a:spcAft>
              <a:defRPr sz="1800" b="0">
                <a:solidFill>
                  <a:srgbClr val="222222"/>
                </a:solidFill>
                <a:latin typeface="Calibri"/>
              </a:defRPr>
            </a:pPr>
            <a:r>
              <a:rPr sz="1800" b="0">
                <a:solidFill>
                  <a:srgbClr val="222222"/>
                </a:solidFill>
                <a:latin typeface="Calibri"/>
              </a:rPr>
              <a:t>5.  Change PWM_FREQ from 20000 to 300 and upload. LISTEN.</a:t>
            </a:r>
          </a:p>
          <a:p>
            <a:pPr algn="l">
              <a:lnSpc>
                <a:spcPct val="100000"/>
              </a:lnSpc>
              <a:spcAft>
                <a:spcPts val="400"/>
              </a:spcAft>
              <a:defRPr sz="1800" b="0">
                <a:solidFill>
                  <a:srgbClr val="222222"/>
                </a:solidFill>
                <a:latin typeface="Calibri"/>
              </a:defRPr>
            </a:pPr>
            <a:r>
              <a:rPr sz="1800" b="0">
                <a:solidFill>
                  <a:srgbClr val="222222"/>
                </a:solidFill>
                <a:latin typeface="Calibri"/>
              </a:rPr>
              <a:t>6.  Put it back to 20000.</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889120"/>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All four wheels winding slowly up to full speed and back, the duty printing at each step.</a:t>
            </a:r>
          </a:p>
        </p:txBody>
      </p:sp>
      <p:sp>
        <p:nvSpPr>
          <p:cNvPr id="10" name="TextBox 9"/>
          <p:cNvSpPr txBox="1"/>
          <p:nvPr/>
        </p:nvSpPr>
        <p:spPr>
          <a:xfrm>
            <a:off x="7163537" y="3266560"/>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668896"/>
            <a:ext cx="4525238" cy="1506607"/>
          </a:xfrm>
          <a:prstGeom prst="rect">
            <a:avLst/>
          </a:prstGeom>
          <a:noFill/>
        </p:spPr>
        <p:txBody>
          <a:bodyPr wrap="square" lIns="0" tIns="0" rIns="0" bIns="0">
            <a:spAutoFit/>
          </a:bodyPr>
          <a:lstStyle/>
          <a:p>
            <a:pPr algn="l">
              <a:lnSpc>
                <a:spcPct val="100000"/>
              </a:lnSpc>
              <a:spcAft>
                <a:spcPts val="200"/>
              </a:spcAft>
              <a:defRPr sz="1800" b="0">
                <a:solidFill>
                  <a:srgbClr val="222222"/>
                </a:solidFill>
                <a:latin typeface="Calibri"/>
              </a:defRPr>
            </a:pPr>
            <a:r>
              <a:rPr sz="1800" b="0">
                <a:solidFill>
                  <a:srgbClr val="222222"/>
                </a:solidFill>
                <a:latin typeface="Calibri"/>
              </a:rPr>
              <a:t>Is the speed proportional to the duty all the way down? Where does it stop being a straight line?</a:t>
            </a:r>
          </a:p>
          <a:p>
            <a:pPr algn="l">
              <a:lnSpc>
                <a:spcPct val="100000"/>
              </a:lnSpc>
              <a:spcAft>
                <a:spcPts val="200"/>
              </a:spcAft>
              <a:defRPr sz="1800" b="0">
                <a:solidFill>
                  <a:srgbClr val="222222"/>
                </a:solidFill>
                <a:latin typeface="Calibri"/>
              </a:defRPr>
            </a:pPr>
            <a:r>
              <a:rPr sz="1800" b="0">
                <a:solidFill>
                  <a:srgbClr val="222222"/>
                </a:solidFill>
                <a:latin typeface="Calibri"/>
              </a:rPr>
              <a:t>What is the 300 Hz whine, and where does it go at 20 kHz?</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Wheels off the ground. This one reaches full speed.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STEM break: Ohm's law and circuits</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25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Ohm's law and circuits</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
        <p:nvSpPr>
          <p:cNvPr id="15" name="Rounded Rectangle 14"/>
          <p:cNvSpPr/>
          <p:nvPr/>
        </p:nvSpPr>
        <p:spPr>
          <a:xfrm>
            <a:off x="9568644" y="3886200"/>
            <a:ext cx="2120127" cy="132588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Driving a square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Three quantities, one relationship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Voltage, current, resistance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200" b="0">
                <a:solidFill>
                  <a:srgbClr val="222222"/>
                </a:solidFill>
                <a:latin typeface="Calibri"/>
              </a:defRPr>
            </a:pPr>
            <a:r>
              <a:rPr sz="2200" b="0">
                <a:solidFill>
                  <a:srgbClr val="222222"/>
                </a:solidFill>
                <a:latin typeface="Calibri"/>
              </a:rPr>
              <a:t>You met these in Lesson 1 when you sized the resistor for your LED. Here they are properly.</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VOLTAGE (V), in volts. The push. How hard the supply is trying to move charge round the circuit.</a:t>
            </a:r>
          </a:p>
          <a:p>
            <a:pPr algn="l">
              <a:lnSpc>
                <a:spcPct val="100000"/>
              </a:lnSpc>
              <a:spcAft>
                <a:spcPts val="600"/>
              </a:spcAft>
              <a:defRPr sz="2200" b="0">
                <a:solidFill>
                  <a:srgbClr val="222222"/>
                </a:solidFill>
                <a:latin typeface="Calibri"/>
              </a:defRPr>
            </a:pPr>
            <a:r>
              <a:rPr sz="2200" b="0">
                <a:solidFill>
                  <a:srgbClr val="222222"/>
                </a:solidFill>
                <a:latin typeface="Calibri"/>
              </a:rPr>
              <a:t>CURRENT (I), in amps. The flow. How much charge is actually moving past a point each second.</a:t>
            </a:r>
          </a:p>
          <a:p>
            <a:pPr algn="l">
              <a:lnSpc>
                <a:spcPct val="100000"/>
              </a:lnSpc>
              <a:spcAft>
                <a:spcPts val="600"/>
              </a:spcAft>
              <a:defRPr sz="2200" b="0">
                <a:solidFill>
                  <a:srgbClr val="222222"/>
                </a:solidFill>
                <a:latin typeface="Calibri"/>
              </a:defRPr>
            </a:pPr>
            <a:r>
              <a:rPr sz="2200" b="0">
                <a:solidFill>
                  <a:srgbClr val="222222"/>
                </a:solidFill>
                <a:latin typeface="Calibri"/>
              </a:rPr>
              <a:t>RESISTANCE (R), in ohms. The opposition. How much the circuit fights the flow.</a:t>
            </a:r>
          </a:p>
          <a:p>
            <a:pPr algn="l">
              <a:lnSpc>
                <a:spcPct val="100000"/>
              </a:lnSpc>
              <a:spcAft>
                <a:spcPts val="600"/>
              </a:spcAft>
              <a:defRPr sz="1100" b="0">
                <a:solidFill>
                  <a:srgbClr val="222222"/>
                </a:solidFill>
                <a:latin typeface="Calibri"/>
              </a:defRPr>
            </a:pPr>
          </a:p>
          <a:p>
            <a:pPr algn="l">
              <a:lnSpc>
                <a:spcPct val="100000"/>
              </a:lnSpc>
              <a:spcAft>
                <a:spcPts val="600"/>
              </a:spcAft>
              <a:defRPr sz="2200" b="0">
                <a:solidFill>
                  <a:srgbClr val="222222"/>
                </a:solidFill>
                <a:latin typeface="Calibri"/>
              </a:defRPr>
            </a:pPr>
            <a:r>
              <a:rPr sz="2200" b="0">
                <a:solidFill>
                  <a:srgbClr val="222222"/>
                </a:solidFill>
                <a:latin typeface="Calibri"/>
              </a:rPr>
              <a:t>Ohm's law ties all three together. Know any two and you can work out the third - which is exactly what you did to pick 220 ohms.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Ohm's law, and the power law that goes with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114300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0E7C86"/>
                </a:solidFill>
                <a:latin typeface="Calibri"/>
              </a:defRPr>
            </a:pPr>
            <a:r>
              <a:rPr sz="1800" b="1">
                <a:solidFill>
                  <a:srgbClr val="0E7C86"/>
                </a:solidFill>
                <a:latin typeface="Calibri"/>
              </a:rPr>
              <a:t>OHM'S LAW</a:t>
            </a:r>
          </a:p>
        </p:txBody>
      </p:sp>
      <p:sp>
        <p:nvSpPr>
          <p:cNvPr id="7" name="Isosceles Triangle 6"/>
          <p:cNvSpPr/>
          <p:nvPr/>
        </p:nvSpPr>
        <p:spPr>
          <a:xfrm>
            <a:off x="1143000" y="1508760"/>
            <a:ext cx="2743200" cy="2011680"/>
          </a:xfrm>
          <a:prstGeom prst="triangle">
            <a:avLst/>
          </a:prstGeom>
          <a:solidFill>
            <a:srgbClr val="D6ECEE"/>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8" name="Connector 7"/>
          <p:cNvCxnSpPr/>
          <p:nvPr/>
        </p:nvCxnSpPr>
        <p:spPr>
          <a:xfrm>
            <a:off x="1709928" y="2635300"/>
            <a:ext cx="1609344" cy="0"/>
          </a:xfrm>
          <a:prstGeom prst="line">
            <a:avLst/>
          </a:prstGeom>
          <a:ln w="22225">
            <a:solidFill>
              <a:srgbClr val="0E7C8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4300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V</a:t>
            </a:r>
          </a:p>
        </p:txBody>
      </p:sp>
      <p:sp>
        <p:nvSpPr>
          <p:cNvPr id="10" name="TextBox 9"/>
          <p:cNvSpPr txBox="1"/>
          <p:nvPr/>
        </p:nvSpPr>
        <p:spPr>
          <a:xfrm>
            <a:off x="146304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1" name="TextBox 10"/>
          <p:cNvSpPr txBox="1"/>
          <p:nvPr/>
        </p:nvSpPr>
        <p:spPr>
          <a:xfrm>
            <a:off x="274320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R</a:t>
            </a:r>
          </a:p>
        </p:txBody>
      </p:sp>
      <p:sp>
        <p:nvSpPr>
          <p:cNvPr id="12" name="Rectangle 11"/>
          <p:cNvSpPr/>
          <p:nvPr/>
        </p:nvSpPr>
        <p:spPr>
          <a:xfrm>
            <a:off x="100584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V = I x R</a:t>
            </a:r>
          </a:p>
          <a:p>
            <a:pPr algn="ctr">
              <a:lnSpc>
                <a:spcPct val="100000"/>
              </a:lnSpc>
              <a:spcAft>
                <a:spcPts val="0"/>
              </a:spcAft>
              <a:defRPr sz="1400" b="0">
                <a:solidFill>
                  <a:srgbClr val="222222"/>
                </a:solidFill>
                <a:latin typeface="Consolas"/>
              </a:defRPr>
            </a:pPr>
            <a:r>
              <a:rPr sz="1400" b="0">
                <a:solidFill>
                  <a:srgbClr val="222222"/>
                </a:solidFill>
                <a:latin typeface="Consolas"/>
              </a:rPr>
              <a:t>I = V / R</a:t>
            </a:r>
          </a:p>
          <a:p>
            <a:pPr algn="ctr">
              <a:lnSpc>
                <a:spcPct val="100000"/>
              </a:lnSpc>
              <a:spcAft>
                <a:spcPts val="0"/>
              </a:spcAft>
              <a:defRPr sz="1400" b="0">
                <a:solidFill>
                  <a:srgbClr val="222222"/>
                </a:solidFill>
                <a:latin typeface="Consolas"/>
              </a:defRPr>
            </a:pPr>
            <a:r>
              <a:rPr sz="1400" b="0">
                <a:solidFill>
                  <a:srgbClr val="222222"/>
                </a:solidFill>
                <a:latin typeface="Consolas"/>
              </a:rPr>
              <a:t>R = V / I</a:t>
            </a:r>
          </a:p>
        </p:txBody>
      </p:sp>
      <p:sp>
        <p:nvSpPr>
          <p:cNvPr id="13" name="TextBox 12"/>
          <p:cNvSpPr txBox="1"/>
          <p:nvPr/>
        </p:nvSpPr>
        <p:spPr>
          <a:xfrm>
            <a:off x="100584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V  volts     I  amps     R  ohms</a:t>
            </a:r>
          </a:p>
        </p:txBody>
      </p:sp>
      <p:sp>
        <p:nvSpPr>
          <p:cNvPr id="14" name="TextBox 13"/>
          <p:cNvSpPr txBox="1"/>
          <p:nvPr/>
        </p:nvSpPr>
        <p:spPr>
          <a:xfrm>
            <a:off x="6812280" y="1124712"/>
            <a:ext cx="2743200" cy="367792"/>
          </a:xfrm>
          <a:prstGeom prst="rect">
            <a:avLst/>
          </a:prstGeom>
          <a:noFill/>
        </p:spPr>
        <p:txBody>
          <a:bodyPr wrap="square" lIns="0" tIns="0" rIns="0" bIns="0">
            <a:spAutoFit/>
          </a:bodyPr>
          <a:lstStyle/>
          <a:p>
            <a:pPr algn="ctr">
              <a:lnSpc>
                <a:spcPct val="100000"/>
              </a:lnSpc>
              <a:spcAft>
                <a:spcPts val="0"/>
              </a:spcAft>
              <a:defRPr sz="1800" b="1">
                <a:solidFill>
                  <a:srgbClr val="B46A0F"/>
                </a:solidFill>
                <a:latin typeface="Calibri"/>
              </a:defRPr>
            </a:pPr>
            <a:r>
              <a:rPr sz="1800" b="1">
                <a:solidFill>
                  <a:srgbClr val="B46A0F"/>
                </a:solidFill>
                <a:latin typeface="Calibri"/>
              </a:rPr>
              <a:t>POWER LAW</a:t>
            </a:r>
          </a:p>
        </p:txBody>
      </p:sp>
      <p:sp>
        <p:nvSpPr>
          <p:cNvPr id="15" name="Isosceles Triangle 14"/>
          <p:cNvSpPr/>
          <p:nvPr/>
        </p:nvSpPr>
        <p:spPr>
          <a:xfrm>
            <a:off x="6812280" y="1508760"/>
            <a:ext cx="2743200" cy="2011680"/>
          </a:xfrm>
          <a:prstGeom prst="triangle">
            <a:avLst/>
          </a:prstGeom>
          <a:solidFill>
            <a:srgbClr val="FAE6C8"/>
          </a:solidFill>
          <a:ln w="1905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200"/>
              </a:spcAft>
              <a:defRPr sz="900" b="0">
                <a:solidFill>
                  <a:srgbClr val="222222"/>
                </a:solidFill>
                <a:latin typeface="Calibri"/>
              </a:defRPr>
            </a:pPr>
          </a:p>
        </p:txBody>
      </p:sp>
      <p:cxnSp>
        <p:nvCxnSpPr>
          <p:cNvPr id="16" name="Connector 15"/>
          <p:cNvCxnSpPr/>
          <p:nvPr/>
        </p:nvCxnSpPr>
        <p:spPr>
          <a:xfrm>
            <a:off x="7379208" y="2635300"/>
            <a:ext cx="1609344" cy="0"/>
          </a:xfrm>
          <a:prstGeom prst="line">
            <a:avLst/>
          </a:prstGeom>
          <a:ln w="22225">
            <a:solidFill>
              <a:srgbClr val="B46A0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12280" y="1892808"/>
            <a:ext cx="2743200" cy="491744"/>
          </a:xfrm>
          <a:prstGeom prst="rect">
            <a:avLst/>
          </a:prstGeom>
          <a:noFill/>
        </p:spPr>
        <p:txBody>
          <a:bodyPr wrap="square" lIns="0" tIns="0" rIns="0" bIns="0">
            <a:spAutoFit/>
          </a:bodyPr>
          <a:lstStyle/>
          <a:p>
            <a:pPr algn="ctr">
              <a:lnSpc>
                <a:spcPct val="100000"/>
              </a:lnSpc>
              <a:spcAft>
                <a:spcPts val="100"/>
              </a:spcAft>
              <a:defRPr sz="2600" b="1">
                <a:solidFill>
                  <a:srgbClr val="1F3A5F"/>
                </a:solidFill>
                <a:latin typeface="Calibri"/>
              </a:defRPr>
            </a:pPr>
            <a:r>
              <a:rPr sz="2600" b="1">
                <a:solidFill>
                  <a:srgbClr val="1F3A5F"/>
                </a:solidFill>
                <a:latin typeface="Calibri"/>
              </a:rPr>
              <a:t>P</a:t>
            </a:r>
          </a:p>
        </p:txBody>
      </p:sp>
      <p:sp>
        <p:nvSpPr>
          <p:cNvPr id="18" name="TextBox 17"/>
          <p:cNvSpPr txBox="1"/>
          <p:nvPr/>
        </p:nvSpPr>
        <p:spPr>
          <a:xfrm>
            <a:off x="713232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I</a:t>
            </a:r>
          </a:p>
        </p:txBody>
      </p:sp>
      <p:sp>
        <p:nvSpPr>
          <p:cNvPr id="19" name="TextBox 18"/>
          <p:cNvSpPr txBox="1"/>
          <p:nvPr/>
        </p:nvSpPr>
        <p:spPr>
          <a:xfrm>
            <a:off x="8412480" y="2909620"/>
            <a:ext cx="822960" cy="429768"/>
          </a:xfrm>
          <a:prstGeom prst="rect">
            <a:avLst/>
          </a:prstGeom>
          <a:noFill/>
        </p:spPr>
        <p:txBody>
          <a:bodyPr wrap="square" lIns="0" tIns="0" rIns="0" bIns="0">
            <a:spAutoFit/>
          </a:bodyPr>
          <a:lstStyle/>
          <a:p>
            <a:pPr algn="ctr">
              <a:lnSpc>
                <a:spcPct val="100000"/>
              </a:lnSpc>
              <a:spcAft>
                <a:spcPts val="100"/>
              </a:spcAft>
              <a:defRPr sz="2200" b="1">
                <a:solidFill>
                  <a:srgbClr val="1F3A5F"/>
                </a:solidFill>
                <a:latin typeface="Calibri"/>
              </a:defRPr>
            </a:pPr>
            <a:r>
              <a:rPr sz="2200" b="1">
                <a:solidFill>
                  <a:srgbClr val="1F3A5F"/>
                </a:solidFill>
                <a:latin typeface="Calibri"/>
              </a:rPr>
              <a:t>V</a:t>
            </a:r>
          </a:p>
        </p:txBody>
      </p:sp>
      <p:sp>
        <p:nvSpPr>
          <p:cNvPr id="20" name="Rectangle 19"/>
          <p:cNvSpPr/>
          <p:nvPr/>
        </p:nvSpPr>
        <p:spPr>
          <a:xfrm>
            <a:off x="6675120" y="3794760"/>
            <a:ext cx="3017520" cy="914400"/>
          </a:xfrm>
          <a:prstGeom prst="rect">
            <a:avLst/>
          </a:prstGeom>
          <a:solidFill>
            <a:srgbClr val="F4F6F8"/>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P = I x V</a:t>
            </a:r>
          </a:p>
          <a:p>
            <a:pPr algn="ctr">
              <a:lnSpc>
                <a:spcPct val="100000"/>
              </a:lnSpc>
              <a:spcAft>
                <a:spcPts val="0"/>
              </a:spcAft>
              <a:defRPr sz="1400" b="0">
                <a:solidFill>
                  <a:srgbClr val="222222"/>
                </a:solidFill>
                <a:latin typeface="Consolas"/>
              </a:defRPr>
            </a:pPr>
            <a:r>
              <a:rPr sz="1400" b="0">
                <a:solidFill>
                  <a:srgbClr val="222222"/>
                </a:solidFill>
                <a:latin typeface="Consolas"/>
              </a:rPr>
              <a:t>I = P / V</a:t>
            </a:r>
          </a:p>
          <a:p>
            <a:pPr algn="ctr">
              <a:lnSpc>
                <a:spcPct val="100000"/>
              </a:lnSpc>
              <a:spcAft>
                <a:spcPts val="0"/>
              </a:spcAft>
              <a:defRPr sz="1400" b="0">
                <a:solidFill>
                  <a:srgbClr val="222222"/>
                </a:solidFill>
                <a:latin typeface="Consolas"/>
              </a:defRPr>
            </a:pPr>
            <a:r>
              <a:rPr sz="1400" b="0">
                <a:solidFill>
                  <a:srgbClr val="222222"/>
                </a:solidFill>
                <a:latin typeface="Consolas"/>
              </a:rPr>
              <a:t>V = P / I</a:t>
            </a:r>
          </a:p>
        </p:txBody>
      </p:sp>
      <p:sp>
        <p:nvSpPr>
          <p:cNvPr id="21" name="TextBox 20"/>
          <p:cNvSpPr txBox="1"/>
          <p:nvPr/>
        </p:nvSpPr>
        <p:spPr>
          <a:xfrm>
            <a:off x="6675120" y="4818888"/>
            <a:ext cx="3017520" cy="6466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P  watts     I  amps     V  volts</a:t>
            </a:r>
          </a:p>
        </p:txBody>
      </p:sp>
      <p:sp>
        <p:nvSpPr>
          <p:cNvPr id="22" name="Rectangle 21"/>
          <p:cNvSpPr/>
          <p:nvPr/>
        </p:nvSpPr>
        <p:spPr>
          <a:xfrm>
            <a:off x="4297680" y="1325880"/>
            <a:ext cx="2194560" cy="3657600"/>
          </a:xfrm>
          <a:prstGeom prst="rect">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NEOPIXEL</a:t>
            </a:r>
          </a:p>
          <a:p>
            <a:pPr algn="ctr">
              <a:lnSpc>
                <a:spcPct val="100000"/>
              </a:lnSpc>
              <a:spcAft>
                <a:spcPts val="0"/>
              </a:spcAft>
              <a:defRPr sz="1800" b="0">
                <a:solidFill>
                  <a:srgbClr val="222222"/>
                </a:solidFill>
                <a:latin typeface="Calibri"/>
              </a:defRPr>
            </a:pPr>
            <a:r>
              <a:rPr sz="1800" b="0">
                <a:solidFill>
                  <a:srgbClr val="222222"/>
                </a:solidFill>
                <a:latin typeface="Calibri"/>
              </a:rPr>
              <a:t>at full white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3 LEDs x 20 mA</a:t>
            </a:r>
          </a:p>
          <a:p>
            <a:pPr algn="ctr">
              <a:lnSpc>
                <a:spcPct val="100000"/>
              </a:lnSpc>
              <a:spcAft>
                <a:spcPts val="0"/>
              </a:spcAft>
              <a:defRPr sz="1800" b="0">
                <a:solidFill>
                  <a:srgbClr val="222222"/>
                </a:solidFill>
                <a:latin typeface="Calibri"/>
              </a:defRPr>
            </a:pPr>
            <a:r>
              <a:rPr sz="1800" b="0">
                <a:solidFill>
                  <a:srgbClr val="222222"/>
                </a:solidFill>
                <a:latin typeface="Calibri"/>
              </a:rPr>
              <a:t>= 60 mA</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P = I x V</a:t>
            </a:r>
          </a:p>
          <a:p>
            <a:pPr algn="ctr">
              <a:lnSpc>
                <a:spcPct val="100000"/>
              </a:lnSpc>
              <a:spcAft>
                <a:spcPts val="0"/>
              </a:spcAft>
              <a:defRPr sz="1800" b="0">
                <a:solidFill>
                  <a:srgbClr val="222222"/>
                </a:solidFill>
                <a:latin typeface="Calibri"/>
              </a:defRPr>
            </a:pPr>
            <a:r>
              <a:rPr sz="1800" b="0">
                <a:solidFill>
                  <a:srgbClr val="222222"/>
                </a:solidFill>
                <a:latin typeface="Calibri"/>
              </a:rPr>
              <a:t>= 0.06 x 5</a:t>
            </a:r>
          </a:p>
          <a:p>
            <a:pPr algn="ctr">
              <a:lnSpc>
                <a:spcPct val="100000"/>
              </a:lnSpc>
              <a:spcAft>
                <a:spcPts val="0"/>
              </a:spcAft>
              <a:defRPr sz="1800" b="0">
                <a:solidFill>
                  <a:srgbClr val="222222"/>
                </a:solidFill>
                <a:latin typeface="Calibri"/>
              </a:defRPr>
            </a:pPr>
            <a:r>
              <a:rPr sz="1800" b="0">
                <a:solidFill>
                  <a:srgbClr val="222222"/>
                </a:solidFill>
                <a:latin typeface="Calibri"/>
              </a:rPr>
              <a:t>= 0.3 W</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x 32 pixels</a:t>
            </a:r>
          </a:p>
          <a:p>
            <a:pPr algn="ctr">
              <a:lnSpc>
                <a:spcPct val="100000"/>
              </a:lnSpc>
              <a:spcAft>
                <a:spcPts val="0"/>
              </a:spcAft>
              <a:defRPr sz="1800" b="0">
                <a:solidFill>
                  <a:srgbClr val="222222"/>
                </a:solidFill>
                <a:latin typeface="Calibri"/>
              </a:defRPr>
            </a:pPr>
            <a:r>
              <a:rPr sz="1800" b="0">
                <a:solidFill>
                  <a:srgbClr val="222222"/>
                </a:solidFill>
                <a:latin typeface="Calibri"/>
              </a:rPr>
              <a:t>= 1.92 A</a:t>
            </a:r>
          </a:p>
          <a:p>
            <a:pPr algn="ctr">
              <a:lnSpc>
                <a:spcPct val="100000"/>
              </a:lnSpc>
              <a:spcAft>
                <a:spcPts val="0"/>
              </a:spcAft>
              <a:defRPr sz="1800" b="0">
                <a:solidFill>
                  <a:srgbClr val="222222"/>
                </a:solidFill>
                <a:latin typeface="Calibri"/>
              </a:defRPr>
            </a:pPr>
            <a:r>
              <a:rPr sz="1800" b="0">
                <a:solidFill>
                  <a:srgbClr val="222222"/>
                </a:solidFill>
                <a:latin typeface="Calibri"/>
              </a:rPr>
              <a:t>= 9.6 W</a:t>
            </a:r>
          </a:p>
        </p:txBody>
      </p:sp>
      <p:sp>
        <p:nvSpPr>
          <p:cNvPr id="23" name="Rounded Rectangle 22"/>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Cover the quantity you want with your thumb and the triangle shows you the sum. These two turn up again in the LED budget, the shunt resistor, and how long your battery lasts.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Practice it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Four minutes, in your notebook</a:t>
            </a:r>
          </a:p>
        </p:txBody>
      </p:sp>
      <p:sp>
        <p:nvSpPr>
          <p:cNvPr id="7" name="TextBox 6"/>
          <p:cNvSpPr txBox="1"/>
          <p:nvPr/>
        </p:nvSpPr>
        <p:spPr>
          <a:xfrm>
            <a:off x="502920" y="1755648"/>
            <a:ext cx="5364327" cy="3419856"/>
          </a:xfrm>
          <a:prstGeom prst="rect">
            <a:avLst/>
          </a:prstGeom>
          <a:noFill/>
        </p:spPr>
        <p:txBody>
          <a:bodyPr wrap="square" lIns="0" tIns="0" rIns="0" bIns="0">
            <a:spAutoFit/>
          </a:bodyPr>
          <a:lstStyle/>
          <a:p>
            <a:pPr algn="l">
              <a:lnSpc>
                <a:spcPct val="100000"/>
              </a:lnSpc>
              <a:spcAft>
                <a:spcPts val="900"/>
              </a:spcAft>
              <a:defRPr sz="2300" b="0">
                <a:solidFill>
                  <a:srgbClr val="222222"/>
                </a:solidFill>
                <a:latin typeface="Calibri"/>
              </a:defRPr>
            </a:pPr>
            <a:r>
              <a:rPr sz="2300" b="0">
                <a:solidFill>
                  <a:srgbClr val="222222"/>
                </a:solidFill>
                <a:latin typeface="Calibri"/>
              </a:rPr>
              <a:t>Work these in your engineering notebook. Cover the unknown on the triangle with your thumb and the triangle tells you the sum.</a:t>
            </a:r>
          </a:p>
          <a:p>
            <a:pPr algn="l">
              <a:lnSpc>
                <a:spcPct val="100000"/>
              </a:lnSpc>
              <a:spcAft>
                <a:spcPts val="900"/>
              </a:spcAft>
              <a:defRPr sz="1150" b="0">
                <a:solidFill>
                  <a:srgbClr val="222222"/>
                </a:solidFill>
                <a:latin typeface="Calibri"/>
              </a:defRPr>
            </a:pPr>
          </a:p>
          <a:p>
            <a:pPr algn="l">
              <a:lnSpc>
                <a:spcPct val="100000"/>
              </a:lnSpc>
              <a:spcAft>
                <a:spcPts val="900"/>
              </a:spcAft>
              <a:defRPr sz="2300" b="0">
                <a:solidFill>
                  <a:srgbClr val="222222"/>
                </a:solidFill>
                <a:latin typeface="Calibri"/>
              </a:defRPr>
            </a:pPr>
            <a:r>
              <a:rPr sz="2300" b="0">
                <a:solidFill>
                  <a:srgbClr val="222222"/>
                </a:solidFill>
                <a:latin typeface="Calibri"/>
              </a:rPr>
              <a:t>1.  V = 12 volts, I = 15 mA.  R = ?</a:t>
            </a:r>
          </a:p>
          <a:p>
            <a:pPr lvl="1" algn="l">
              <a:lnSpc>
                <a:spcPct val="100000"/>
              </a:lnSpc>
              <a:spcAft>
                <a:spcPts val="900"/>
              </a:spcAft>
              <a:defRPr sz="2300" b="0">
                <a:solidFill>
                  <a:srgbClr val="222222"/>
                </a:solidFill>
                <a:latin typeface="Calibri"/>
              </a:defRPr>
            </a:pPr>
            <a:r>
              <a:rPr sz="2300" b="0">
                <a:solidFill>
                  <a:srgbClr val="222222"/>
                </a:solidFill>
                <a:latin typeface="Calibri"/>
              </a:rPr>
              <a:t>     (careful: convert milliamps to amps first)</a:t>
            </a:r>
          </a:p>
        </p:txBody>
      </p:sp>
      <p:sp>
        <p:nvSpPr>
          <p:cNvPr id="8" name="TextBox 7"/>
          <p:cNvSpPr txBox="1"/>
          <p:nvPr/>
        </p:nvSpPr>
        <p:spPr>
          <a:xfrm>
            <a:off x="6324447" y="1755648"/>
            <a:ext cx="5364327" cy="3419856"/>
          </a:xfrm>
          <a:prstGeom prst="rect">
            <a:avLst/>
          </a:prstGeom>
          <a:noFill/>
        </p:spPr>
        <p:txBody>
          <a:bodyPr wrap="square" lIns="0" tIns="0" rIns="0" bIns="0">
            <a:spAutoFit/>
          </a:bodyPr>
          <a:lstStyle/>
          <a:p>
            <a:pPr algn="l">
              <a:lnSpc>
                <a:spcPct val="100000"/>
              </a:lnSpc>
              <a:spcAft>
                <a:spcPts val="900"/>
              </a:spcAft>
              <a:defRPr sz="2200" b="0">
                <a:solidFill>
                  <a:srgbClr val="222222"/>
                </a:solidFill>
                <a:latin typeface="Calibri"/>
              </a:defRPr>
            </a:pPr>
            <a:r>
              <a:rPr sz="2200" b="0">
                <a:solidFill>
                  <a:srgbClr val="222222"/>
                </a:solidFill>
                <a:latin typeface="Calibri"/>
              </a:rPr>
              <a:t>2.  V = 12 volts, R = 220 ohms.  I = ?</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3.  I = 2 mA, R = 1.5k ohms.  V = ?</a:t>
            </a:r>
          </a:p>
          <a:p>
            <a:pPr lvl="1" algn="l">
              <a:lnSpc>
                <a:spcPct val="100000"/>
              </a:lnSpc>
              <a:spcAft>
                <a:spcPts val="900"/>
              </a:spcAft>
              <a:defRPr sz="2200" b="0">
                <a:solidFill>
                  <a:srgbClr val="222222"/>
                </a:solidFill>
                <a:latin typeface="Calibri"/>
              </a:defRPr>
            </a:pPr>
            <a:r>
              <a:rPr sz="2200" b="0">
                <a:solidFill>
                  <a:srgbClr val="222222"/>
                </a:solidFill>
                <a:latin typeface="Calibri"/>
              </a:rPr>
              <a:t>     (1.5k means 1500 ohms)</a:t>
            </a:r>
          </a:p>
          <a:p>
            <a:pPr algn="l">
              <a:lnSpc>
                <a:spcPct val="100000"/>
              </a:lnSpc>
              <a:spcAft>
                <a:spcPts val="900"/>
              </a:spcAft>
              <a:defRPr sz="1100" b="0">
                <a:solidFill>
                  <a:srgbClr val="222222"/>
                </a:solidFill>
                <a:latin typeface="Calibri"/>
              </a:defRPr>
            </a:pPr>
          </a:p>
          <a:p>
            <a:pPr algn="l">
              <a:lnSpc>
                <a:spcPct val="100000"/>
              </a:lnSpc>
              <a:spcAft>
                <a:spcPts val="900"/>
              </a:spcAft>
              <a:defRPr sz="2200" b="0">
                <a:solidFill>
                  <a:srgbClr val="222222"/>
                </a:solidFill>
                <a:latin typeface="Calibri"/>
              </a:defRPr>
            </a:pPr>
            <a:r>
              <a:rPr sz="2200" b="0">
                <a:solidFill>
                  <a:srgbClr val="222222"/>
                </a:solidFill>
                <a:latin typeface="Calibri"/>
              </a:rPr>
              <a:t>4.  Your vehicle's battery is 16 V. A motor stalls and draws 3 amps. What resistance is it presenting?</a:t>
            </a:r>
          </a:p>
        </p:txBody>
      </p:sp>
      <p:sp>
        <p:nvSpPr>
          <p:cNvPr id="9" name="Rounded Rectangle 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Answers: 800 ohms, 0.055 A (55 mA), 3 volts, and about 5.3 ohms. The last one is why a stalled motor gets hot.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Series and parallel: two ways to wire two loads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5272887" cy="367792"/>
          </a:xfrm>
          <a:prstGeom prst="rect">
            <a:avLst/>
          </a:prstGeom>
          <a:noFill/>
        </p:spPr>
        <p:txBody>
          <a:bodyPr wrap="square" lIns="0" tIns="0" rIns="0" bIns="0">
            <a:spAutoFit/>
          </a:bodyPr>
          <a:lstStyle/>
          <a:p>
            <a:pPr algn="ctr">
              <a:lnSpc>
                <a:spcPct val="100000"/>
              </a:lnSpc>
              <a:spcAft>
                <a:spcPts val="100"/>
              </a:spcAft>
              <a:defRPr sz="1800" b="1">
                <a:solidFill>
                  <a:srgbClr val="0E7C86"/>
                </a:solidFill>
                <a:latin typeface="Calibri"/>
              </a:defRPr>
            </a:pPr>
            <a:r>
              <a:rPr sz="1800" b="1">
                <a:solidFill>
                  <a:srgbClr val="0E7C86"/>
                </a:solidFill>
                <a:latin typeface="Calibri"/>
              </a:rPr>
              <a:t>SERIES</a:t>
            </a:r>
          </a:p>
        </p:txBody>
      </p:sp>
      <p:cxnSp>
        <p:nvCxnSpPr>
          <p:cNvPr id="7" name="Connector 6"/>
          <p:cNvCxnSpPr/>
          <p:nvPr/>
        </p:nvCxnSpPr>
        <p:spPr>
          <a:xfrm>
            <a:off x="960120"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 y="2532888"/>
            <a:ext cx="77724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a:t>
            </a:r>
          </a:p>
        </p:txBody>
      </p:sp>
      <p:cxnSp>
        <p:nvCxnSpPr>
          <p:cNvPr id="9" name="Connector 8"/>
          <p:cNvCxnSpPr/>
          <p:nvPr/>
        </p:nvCxnSpPr>
        <p:spPr>
          <a:xfrm>
            <a:off x="960120" y="187452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318607"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0120" y="361188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600200" y="1618488"/>
            <a:ext cx="1097280" cy="512064"/>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R1</a:t>
            </a:r>
          </a:p>
        </p:txBody>
      </p:sp>
      <p:sp>
        <p:nvSpPr>
          <p:cNvPr id="13" name="Rounded Rectangle 12"/>
          <p:cNvSpPr/>
          <p:nvPr/>
        </p:nvSpPr>
        <p:spPr>
          <a:xfrm>
            <a:off x="3581247" y="1618488"/>
            <a:ext cx="1097280" cy="512064"/>
          </a:xfrm>
          <a:prstGeom prst="roundRect">
            <a:avLst>
              <a:gd name="adj" fmla="val 12000"/>
            </a:avLst>
          </a:prstGeom>
          <a:solidFill>
            <a:srgbClr val="D6ECEE"/>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R2</a:t>
            </a:r>
          </a:p>
        </p:txBody>
      </p:sp>
      <p:sp>
        <p:nvSpPr>
          <p:cNvPr id="14" name="Rectangle 13"/>
          <p:cNvSpPr/>
          <p:nvPr/>
        </p:nvSpPr>
        <p:spPr>
          <a:xfrm>
            <a:off x="502920" y="3931920"/>
            <a:ext cx="5272887" cy="160020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One path. The SAME current everywhere.</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R total = R1 + R2</a:t>
            </a:r>
          </a:p>
          <a:p>
            <a:pPr algn="ctr">
              <a:lnSpc>
                <a:spcPct val="100000"/>
              </a:lnSpc>
              <a:spcAft>
                <a:spcPts val="0"/>
              </a:spcAft>
              <a:defRPr sz="1800" b="0">
                <a:solidFill>
                  <a:srgbClr val="222222"/>
                </a:solidFill>
                <a:latin typeface="Calibri"/>
              </a:defRPr>
            </a:pPr>
            <a:r>
              <a:rPr sz="1800" b="0">
                <a:solidFill>
                  <a:srgbClr val="222222"/>
                </a:solidFill>
                <a:latin typeface="Calibri"/>
              </a:rPr>
              <a:t>I total = I1 = I2</a:t>
            </a:r>
          </a:p>
          <a:p>
            <a:pPr algn="ctr">
              <a:lnSpc>
                <a:spcPct val="100000"/>
              </a:lnSpc>
              <a:spcAft>
                <a:spcPts val="0"/>
              </a:spcAft>
              <a:defRPr sz="1800" b="0">
                <a:solidFill>
                  <a:srgbClr val="222222"/>
                </a:solidFill>
                <a:latin typeface="Calibri"/>
              </a:defRPr>
            </a:pPr>
            <a:r>
              <a:rPr sz="1800" b="0">
                <a:solidFill>
                  <a:srgbClr val="222222"/>
                </a:solidFill>
                <a:latin typeface="Calibri"/>
              </a:rPr>
              <a:t>V total = V1 + V2</a:t>
            </a:r>
          </a:p>
        </p:txBody>
      </p:sp>
      <p:sp>
        <p:nvSpPr>
          <p:cNvPr id="15" name="TextBox 14"/>
          <p:cNvSpPr txBox="1"/>
          <p:nvPr/>
        </p:nvSpPr>
        <p:spPr>
          <a:xfrm>
            <a:off x="6415887" y="1188720"/>
            <a:ext cx="5272887" cy="367792"/>
          </a:xfrm>
          <a:prstGeom prst="rect">
            <a:avLst/>
          </a:prstGeom>
          <a:noFill/>
        </p:spPr>
        <p:txBody>
          <a:bodyPr wrap="square" lIns="0" tIns="0" rIns="0" bIns="0">
            <a:spAutoFit/>
          </a:bodyPr>
          <a:lstStyle/>
          <a:p>
            <a:pPr algn="ctr">
              <a:lnSpc>
                <a:spcPct val="100000"/>
              </a:lnSpc>
              <a:spcAft>
                <a:spcPts val="100"/>
              </a:spcAft>
              <a:defRPr sz="1800" b="1">
                <a:solidFill>
                  <a:srgbClr val="B46A0F"/>
                </a:solidFill>
                <a:latin typeface="Calibri"/>
              </a:defRPr>
            </a:pPr>
            <a:r>
              <a:rPr sz="1800" b="1">
                <a:solidFill>
                  <a:srgbClr val="B46A0F"/>
                </a:solidFill>
                <a:latin typeface="Calibri"/>
              </a:rPr>
              <a:t>PARALLEL</a:t>
            </a:r>
          </a:p>
        </p:txBody>
      </p:sp>
      <p:cxnSp>
        <p:nvCxnSpPr>
          <p:cNvPr id="16" name="Connector 15"/>
          <p:cNvCxnSpPr/>
          <p:nvPr/>
        </p:nvCxnSpPr>
        <p:spPr>
          <a:xfrm>
            <a:off x="6873087"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04407" y="2532888"/>
            <a:ext cx="777240" cy="646684"/>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battery</a:t>
            </a:r>
          </a:p>
        </p:txBody>
      </p:sp>
      <p:cxnSp>
        <p:nvCxnSpPr>
          <p:cNvPr id="18" name="Connector 17"/>
          <p:cNvCxnSpPr/>
          <p:nvPr/>
        </p:nvCxnSpPr>
        <p:spPr>
          <a:xfrm>
            <a:off x="6873087" y="187452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73087" y="3611880"/>
            <a:ext cx="4358487" cy="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231574"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052330" y="1874520"/>
            <a:ext cx="0" cy="1737360"/>
          </a:xfrm>
          <a:prstGeom prst="line">
            <a:avLst/>
          </a:prstGeom>
          <a:ln w="25400">
            <a:solidFill>
              <a:srgbClr val="1F3A5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03690" y="2441448"/>
            <a:ext cx="1097280" cy="548640"/>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R1</a:t>
            </a:r>
          </a:p>
        </p:txBody>
      </p:sp>
      <p:sp>
        <p:nvSpPr>
          <p:cNvPr id="23" name="Rounded Rectangle 22"/>
          <p:cNvSpPr/>
          <p:nvPr/>
        </p:nvSpPr>
        <p:spPr>
          <a:xfrm>
            <a:off x="10682934" y="2441448"/>
            <a:ext cx="1097280" cy="548640"/>
          </a:xfrm>
          <a:prstGeom prst="roundRect">
            <a:avLst>
              <a:gd name="adj" fmla="val 12000"/>
            </a:avLst>
          </a:prstGeom>
          <a:solidFill>
            <a:srgbClr val="FAE6C8"/>
          </a:solidFill>
          <a:ln w="15875">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222222"/>
                </a:solidFill>
                <a:latin typeface="Calibri"/>
              </a:defRPr>
            </a:pPr>
            <a:r>
              <a:rPr sz="1800" b="1">
                <a:solidFill>
                  <a:srgbClr val="222222"/>
                </a:solidFill>
                <a:latin typeface="Calibri"/>
              </a:rPr>
              <a:t>R2</a:t>
            </a:r>
          </a:p>
        </p:txBody>
      </p:sp>
      <p:sp>
        <p:nvSpPr>
          <p:cNvPr id="24" name="Rectangle 23"/>
          <p:cNvSpPr/>
          <p:nvPr/>
        </p:nvSpPr>
        <p:spPr>
          <a:xfrm>
            <a:off x="6415887" y="3931920"/>
            <a:ext cx="5272887" cy="160020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Two paths. The SAME voltage across each.</a:t>
            </a:r>
          </a:p>
          <a:p>
            <a:pPr algn="ctr">
              <a:lnSpc>
                <a:spcPct val="100000"/>
              </a:lnSpc>
              <a:spcAft>
                <a:spcPts val="0"/>
              </a:spcAft>
              <a:defRPr sz="900" b="0">
                <a:solidFill>
                  <a:srgbClr val="222222"/>
                </a:solidFill>
                <a:latin typeface="Calibri"/>
              </a:defRPr>
            </a:pPr>
          </a:p>
          <a:p>
            <a:pPr algn="ctr">
              <a:lnSpc>
                <a:spcPct val="100000"/>
              </a:lnSpc>
              <a:spcAft>
                <a:spcPts val="0"/>
              </a:spcAft>
              <a:defRPr sz="1800" b="0">
                <a:solidFill>
                  <a:srgbClr val="222222"/>
                </a:solidFill>
                <a:latin typeface="Calibri"/>
              </a:defRPr>
            </a:pPr>
            <a:r>
              <a:rPr sz="1800" b="0">
                <a:solidFill>
                  <a:srgbClr val="222222"/>
                </a:solidFill>
                <a:latin typeface="Calibri"/>
              </a:rPr>
              <a:t>V total = V1 = V2</a:t>
            </a:r>
          </a:p>
          <a:p>
            <a:pPr algn="ctr">
              <a:lnSpc>
                <a:spcPct val="100000"/>
              </a:lnSpc>
              <a:spcAft>
                <a:spcPts val="0"/>
              </a:spcAft>
              <a:defRPr sz="1800" b="0">
                <a:solidFill>
                  <a:srgbClr val="222222"/>
                </a:solidFill>
                <a:latin typeface="Calibri"/>
              </a:defRPr>
            </a:pPr>
            <a:r>
              <a:rPr sz="1800" b="0">
                <a:solidFill>
                  <a:srgbClr val="222222"/>
                </a:solidFill>
                <a:latin typeface="Calibri"/>
              </a:rPr>
              <a:t>I total = I1 + I2</a:t>
            </a:r>
          </a:p>
          <a:p>
            <a:pPr algn="ctr">
              <a:lnSpc>
                <a:spcPct val="100000"/>
              </a:lnSpc>
              <a:spcAft>
                <a:spcPts val="0"/>
              </a:spcAft>
              <a:defRPr sz="1800" b="0">
                <a:solidFill>
                  <a:srgbClr val="222222"/>
                </a:solidFill>
                <a:latin typeface="Calibri"/>
              </a:defRPr>
            </a:pPr>
            <a:r>
              <a:rPr sz="1800" b="0">
                <a:solidFill>
                  <a:srgbClr val="222222"/>
                </a:solidFill>
                <a:latin typeface="Calibri"/>
              </a:rPr>
              <a:t>1/R total = 1/R1 + 1/R2</a:t>
            </a:r>
          </a:p>
        </p:txBody>
      </p:sp>
      <p:sp>
        <p:nvSpPr>
          <p:cNvPr id="25" name="Rounded Rectangle 24"/>
          <p:cNvSpPr/>
          <p:nvPr/>
        </p:nvSpPr>
        <p:spPr>
          <a:xfrm>
            <a:off x="502920" y="5198364"/>
            <a:ext cx="11185855" cy="1065276"/>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The LED circuit you built in Lesson 1 is a SERIES circuit: one loop, so the same current flows through the resistor and the LED. That is why the resistor protects the LED wherever you put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Series and parallel on the vehicle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You have already built both</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SERIES. Your LED circuit from Lesson 1: supply, resistor, LED, back to ground. One loop, one current.</a:t>
            </a:r>
          </a:p>
          <a:p>
            <a:pPr lvl="1" algn="l">
              <a:lnSpc>
                <a:spcPct val="100000"/>
              </a:lnSpc>
              <a:spcAft>
                <a:spcPts val="600"/>
              </a:spcAft>
              <a:defRPr sz="2000" b="0">
                <a:solidFill>
                  <a:srgbClr val="222222"/>
                </a:solidFill>
                <a:latin typeface="Calibri"/>
              </a:defRPr>
            </a:pPr>
            <a:r>
              <a:rPr sz="2000" b="0">
                <a:solidFill>
                  <a:srgbClr val="222222"/>
                </a:solidFill>
                <a:latin typeface="Calibri"/>
              </a:rPr>
              <a:t>Add resistance and the current everywhere drops.</a:t>
            </a:r>
          </a:p>
          <a:p>
            <a:pPr algn="l">
              <a:lnSpc>
                <a:spcPct val="100000"/>
              </a:lnSpc>
              <a:spcAft>
                <a:spcPts val="600"/>
              </a:spcAft>
              <a:defRPr sz="2000" b="0">
                <a:solidFill>
                  <a:srgbClr val="222222"/>
                </a:solidFill>
                <a:latin typeface="Calibri"/>
              </a:defRPr>
            </a:pPr>
            <a:r>
              <a:rPr sz="2000" b="0">
                <a:solidFill>
                  <a:srgbClr val="222222"/>
                </a:solidFill>
                <a:latin typeface="Calibri"/>
              </a:rPr>
              <a:t>PARALLEL. The four motors. Each hangs across the same supply, so each gets the full battery voltage and the currents add up.</a:t>
            </a:r>
          </a:p>
          <a:p>
            <a:pPr lvl="1" algn="l">
              <a:lnSpc>
                <a:spcPct val="100000"/>
              </a:lnSpc>
              <a:spcAft>
                <a:spcPts val="600"/>
              </a:spcAft>
              <a:defRPr sz="2000" b="0">
                <a:solidFill>
                  <a:srgbClr val="222222"/>
                </a:solidFill>
                <a:latin typeface="Calibri"/>
              </a:defRPr>
            </a:pPr>
            <a:r>
              <a:rPr sz="2000" b="0">
                <a:solidFill>
                  <a:srgbClr val="222222"/>
                </a:solidFill>
                <a:latin typeface="Calibri"/>
              </a:rPr>
              <a:t>Four motors at 1.5 A each is 6 A out of the battery.</a:t>
            </a:r>
          </a:p>
          <a:p>
            <a:pPr lvl="1" algn="l">
              <a:lnSpc>
                <a:spcPct val="100000"/>
              </a:lnSpc>
              <a:spcAft>
                <a:spcPts val="600"/>
              </a:spcAft>
              <a:defRPr sz="2000" b="0">
                <a:solidFill>
                  <a:srgbClr val="222222"/>
                </a:solidFill>
                <a:latin typeface="Calibri"/>
              </a:defRPr>
            </a:pPr>
            <a:r>
              <a:rPr sz="2000" b="0">
                <a:solidFill>
                  <a:srgbClr val="222222"/>
                </a:solidFill>
                <a:latin typeface="Calibri"/>
              </a:rPr>
              <a:t>Which is why it goes flat four times faster on four motors than on one.</a:t>
            </a:r>
          </a:p>
          <a:p>
            <a:pPr algn="l">
              <a:lnSpc>
                <a:spcPct val="100000"/>
              </a:lnSpc>
              <a:spcAft>
                <a:spcPts val="600"/>
              </a:spcAft>
              <a:defRPr sz="2000" b="0">
                <a:solidFill>
                  <a:srgbClr val="222222"/>
                </a:solidFill>
                <a:latin typeface="Calibri"/>
              </a:defRPr>
            </a:pPr>
            <a:r>
              <a:rPr sz="2000" b="0">
                <a:solidFill>
                  <a:srgbClr val="222222"/>
                </a:solidFill>
                <a:latin typeface="Calibri"/>
              </a:rPr>
              <a:t>The 32 LEDs are in parallel too, each drawing its own current from the same 5 V rail. That is why the Lesson 4 power budget adds up the way it does.</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Series: current is shared, voltage divides. Parallel: voltage is shared, current divides. Almost every wiring question comes down to knowing which one you are looking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3" name="TextBox 2"/>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4" name="Rectangle 3"/>
          <p:cNvSpPr/>
          <p:nvPr/>
        </p:nvSpPr>
        <p:spPr>
          <a:xfrm>
            <a:off x="0" y="1234440"/>
            <a:ext cx="256032" cy="15544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325880"/>
            <a:ext cx="10515600" cy="1051560"/>
          </a:xfrm>
          <a:prstGeom prst="rect">
            <a:avLst/>
          </a:prstGeom>
          <a:noFill/>
        </p:spPr>
        <p:txBody>
          <a:bodyPr wrap="square" lIns="0" tIns="0" rIns="0" bIns="0">
            <a:spAutoFit/>
          </a:bodyPr>
          <a:lstStyle/>
          <a:p>
            <a:pPr algn="l">
              <a:lnSpc>
                <a:spcPct val="100000"/>
              </a:lnSpc>
              <a:spcAft>
                <a:spcPts val="0"/>
              </a:spcAft>
              <a:defRPr sz="3600" b="1">
                <a:solidFill>
                  <a:srgbClr val="1F3A5F"/>
                </a:solidFill>
                <a:latin typeface="Calibri"/>
              </a:defRPr>
            </a:pPr>
            <a:r>
              <a:rPr sz="3600" b="1">
                <a:solidFill>
                  <a:srgbClr val="1F3A5F"/>
                </a:solidFill>
                <a:latin typeface="Calibri"/>
              </a:rPr>
              <a:t>Making it go where you want</a:t>
            </a:r>
          </a:p>
        </p:txBody>
      </p:sp>
      <p:sp>
        <p:nvSpPr>
          <p:cNvPr id="6" name="TextBox 5"/>
          <p:cNvSpPr txBox="1"/>
          <p:nvPr/>
        </p:nvSpPr>
        <p:spPr>
          <a:xfrm>
            <a:off x="777240" y="2423160"/>
            <a:ext cx="10515600" cy="685800"/>
          </a:xfrm>
          <a:prstGeom prst="rect">
            <a:avLst/>
          </a:prstGeom>
          <a:noFill/>
        </p:spPr>
        <p:txBody>
          <a:bodyPr wrap="square" lIns="0" tIns="0" rIns="0" bIns="0">
            <a:spAutoFit/>
          </a:bodyPr>
          <a:lstStyle/>
          <a:p>
            <a:pPr algn="l">
              <a:lnSpc>
                <a:spcPct val="100000"/>
              </a:lnSpc>
              <a:spcAft>
                <a:spcPts val="400"/>
              </a:spcAft>
              <a:defRPr sz="1600" b="0">
                <a:solidFill>
                  <a:srgbClr val="666666"/>
                </a:solidFill>
                <a:latin typeface="Calibri"/>
              </a:defRPr>
            </a:pPr>
            <a:r>
              <a:rPr sz="1600" b="0">
                <a:solidFill>
                  <a:srgbClr val="666666"/>
                </a:solidFill>
                <a:latin typeface="Calibri"/>
              </a:rPr>
              <a:t>About 35 minutes</a:t>
            </a:r>
          </a:p>
        </p:txBody>
      </p:sp>
      <p:sp>
        <p:nvSpPr>
          <p:cNvPr id="7" name="Rounded Rectangle 6"/>
          <p:cNvSpPr/>
          <p:nvPr/>
        </p:nvSpPr>
        <p:spPr>
          <a:xfrm>
            <a:off x="502920"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H-bridges and PWM</a:t>
            </a:r>
          </a:p>
        </p:txBody>
      </p:sp>
      <p:sp>
        <p:nvSpPr>
          <p:cNvPr id="8" name="TextBox 7"/>
          <p:cNvSpPr txBox="1"/>
          <p:nvPr/>
        </p:nvSpPr>
        <p:spPr>
          <a:xfrm>
            <a:off x="502920"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9" name="Rounded Rectangle 8"/>
          <p:cNvSpPr/>
          <p:nvPr/>
        </p:nvSpPr>
        <p:spPr>
          <a:xfrm>
            <a:off x="2769351"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One motor</a:t>
            </a:r>
          </a:p>
        </p:txBody>
      </p:sp>
      <p:sp>
        <p:nvSpPr>
          <p:cNvPr id="10" name="TextBox 9"/>
          <p:cNvSpPr txBox="1"/>
          <p:nvPr/>
        </p:nvSpPr>
        <p:spPr>
          <a:xfrm>
            <a:off x="2769351"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1" name="Rounded Rectangle 10"/>
          <p:cNvSpPr/>
          <p:nvPr/>
        </p:nvSpPr>
        <p:spPr>
          <a:xfrm>
            <a:off x="5035782"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Duty vs speed</a:t>
            </a:r>
          </a:p>
        </p:txBody>
      </p:sp>
      <p:sp>
        <p:nvSpPr>
          <p:cNvPr id="12" name="TextBox 11"/>
          <p:cNvSpPr txBox="1"/>
          <p:nvPr/>
        </p:nvSpPr>
        <p:spPr>
          <a:xfrm>
            <a:off x="5035782"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3" name="Rounded Rectangle 12"/>
          <p:cNvSpPr/>
          <p:nvPr/>
        </p:nvSpPr>
        <p:spPr>
          <a:xfrm>
            <a:off x="7302213" y="3886200"/>
            <a:ext cx="2120127" cy="132588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Ohm's law and circuits</a:t>
            </a:r>
          </a:p>
        </p:txBody>
      </p:sp>
      <p:sp>
        <p:nvSpPr>
          <p:cNvPr id="14" name="TextBox 13"/>
          <p:cNvSpPr txBox="1"/>
          <p:nvPr/>
        </p:nvSpPr>
        <p:spPr>
          <a:xfrm>
            <a:off x="7302213"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done</a:t>
            </a:r>
          </a:p>
        </p:txBody>
      </p:sp>
      <p:sp>
        <p:nvSpPr>
          <p:cNvPr id="15" name="Rounded Rectangle 14"/>
          <p:cNvSpPr/>
          <p:nvPr/>
        </p:nvSpPr>
        <p:spPr>
          <a:xfrm>
            <a:off x="9568644" y="3886200"/>
            <a:ext cx="2120127" cy="132588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Driving a square</a:t>
            </a:r>
          </a:p>
        </p:txBody>
      </p:sp>
      <p:sp>
        <p:nvSpPr>
          <p:cNvPr id="16" name="TextBox 15"/>
          <p:cNvSpPr txBox="1"/>
          <p:nvPr/>
        </p:nvSpPr>
        <p:spPr>
          <a:xfrm>
            <a:off x="9568644" y="3520440"/>
            <a:ext cx="2120127" cy="310896"/>
          </a:xfrm>
          <a:prstGeom prst="rect">
            <a:avLst/>
          </a:prstGeom>
          <a:noFill/>
        </p:spPr>
        <p:txBody>
          <a:bodyPr wrap="square" lIns="0" tIns="0" rIns="0" bIns="0">
            <a:spAutoFit/>
          </a:bodyPr>
          <a:lstStyle/>
          <a:p>
            <a:pPr algn="ctr">
              <a:lnSpc>
                <a:spcPct val="100000"/>
              </a:lnSpc>
              <a:spcAft>
                <a:spcPts val="200"/>
              </a:spcAft>
              <a:defRPr sz="1100" b="1">
                <a:solidFill>
                  <a:srgbClr val="0E7C86"/>
                </a:solidFill>
                <a:latin typeface="Calibri"/>
              </a:defRPr>
            </a:pPr>
            <a:r>
              <a:rPr sz="1100" b="1">
                <a:solidFill>
                  <a:srgbClr val="0E7C86"/>
                </a:solidFill>
                <a:latin typeface="Calibri"/>
              </a:rPr>
              <a:t>NOW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Tank drive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24</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sides, driven separately</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The Pathfinder has no steering rack. Nothing on it points the wheels.</a:t>
            </a:r>
          </a:p>
          <a:p>
            <a:pPr algn="l">
              <a:lnSpc>
                <a:spcPct val="100000"/>
              </a:lnSpc>
              <a:spcAft>
                <a:spcPts val="600"/>
              </a:spcAft>
              <a:defRPr sz="2000" b="0">
                <a:solidFill>
                  <a:srgbClr val="222222"/>
                </a:solidFill>
                <a:latin typeface="Calibri"/>
              </a:defRPr>
            </a:pPr>
            <a:r>
              <a:rPr sz="2000" b="0">
                <a:solidFill>
                  <a:srgbClr val="222222"/>
                </a:solidFill>
                <a:latin typeface="Calibri"/>
              </a:rPr>
              <a:t>The two wheels on the LEFT are driven together. The two on the RIGHT are driven together.</a:t>
            </a:r>
          </a:p>
          <a:p>
            <a:pPr algn="l">
              <a:lnSpc>
                <a:spcPct val="100000"/>
              </a:lnSpc>
              <a:spcAft>
                <a:spcPts val="600"/>
              </a:spcAft>
              <a:defRPr sz="2000" b="0">
                <a:solidFill>
                  <a:srgbClr val="222222"/>
                </a:solidFill>
                <a:latin typeface="Calibri"/>
              </a:defRPr>
            </a:pPr>
            <a:r>
              <a:rPr sz="2000" b="0">
                <a:solidFill>
                  <a:srgbClr val="222222"/>
                </a:solidFill>
                <a:latin typeface="Calibri"/>
              </a:rPr>
              <a:t>Both sides the same  -&gt;  a straight line.</a:t>
            </a:r>
          </a:p>
          <a:p>
            <a:pPr algn="l">
              <a:lnSpc>
                <a:spcPct val="100000"/>
              </a:lnSpc>
              <a:spcAft>
                <a:spcPts val="600"/>
              </a:spcAft>
              <a:defRPr sz="2000" b="0">
                <a:solidFill>
                  <a:srgbClr val="222222"/>
                </a:solidFill>
                <a:latin typeface="Calibri"/>
              </a:defRPr>
            </a:pPr>
            <a:r>
              <a:rPr sz="2000" b="0">
                <a:solidFill>
                  <a:srgbClr val="222222"/>
                </a:solidFill>
                <a:latin typeface="Calibri"/>
              </a:rPr>
              <a:t>Left faster than right  -&gt;  it curves to the right.</a:t>
            </a:r>
          </a:p>
          <a:p>
            <a:pPr algn="l">
              <a:lnSpc>
                <a:spcPct val="100000"/>
              </a:lnSpc>
              <a:spcAft>
                <a:spcPts val="600"/>
              </a:spcAft>
              <a:defRPr sz="2000" b="0">
                <a:solidFill>
                  <a:srgbClr val="222222"/>
                </a:solidFill>
                <a:latin typeface="Calibri"/>
              </a:defRPr>
            </a:pPr>
            <a:r>
              <a:rPr sz="2000" b="0">
                <a:solidFill>
                  <a:srgbClr val="222222"/>
                </a:solidFill>
                <a:latin typeface="Calibri"/>
              </a:rPr>
              <a:t>Left forward and right backward  -&gt;  it spins on the spot.</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This is how a tank steers, how an excavator steers, and how most small robots steer. It is called differential or skid steering.</a:t>
            </a:r>
          </a:p>
          <a:p>
            <a:pPr algn="l">
              <a:lnSpc>
                <a:spcPct val="100000"/>
              </a:lnSpc>
              <a:spcAft>
                <a:spcPts val="600"/>
              </a:spcAft>
              <a:defRPr sz="1000" b="0">
                <a:solidFill>
                  <a:srgbClr val="222222"/>
                </a:solidFill>
                <a:latin typeface="Calibri"/>
              </a:defRPr>
            </a:pPr>
          </a:p>
          <a:p>
            <a:pPr algn="l">
              <a:lnSpc>
                <a:spcPct val="100000"/>
              </a:lnSpc>
              <a:spcAft>
                <a:spcPts val="600"/>
              </a:spcAft>
              <a:defRPr sz="2000" b="0">
                <a:solidFill>
                  <a:srgbClr val="222222"/>
                </a:solidFill>
                <a:latin typeface="Calibri"/>
              </a:defRPr>
            </a:pPr>
            <a:r>
              <a:rPr sz="2000" b="0">
                <a:solidFill>
                  <a:srgbClr val="222222"/>
                </a:solidFill>
                <a:latin typeface="Calibri"/>
              </a:rPr>
              <a:t>It costs you something: the wheels have to scrub sideways across the floor to turn, so turning is much more affected by the surface than driving straight is. That will show up in your square today.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Mixing: one stick, two sides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25</a:t>
            </a:r>
          </a:p>
        </p:txBody>
      </p:sp>
      <p:sp>
        <p:nvSpPr>
          <p:cNvPr id="6" name="TextBox 5"/>
          <p:cNvSpPr txBox="1"/>
          <p:nvPr/>
        </p:nvSpPr>
        <p:spPr>
          <a:xfrm>
            <a:off x="502920" y="1188720"/>
            <a:ext cx="11185855" cy="429768"/>
          </a:xfrm>
          <a:prstGeom prst="rect">
            <a:avLst/>
          </a:prstGeom>
          <a:noFill/>
        </p:spPr>
        <p:txBody>
          <a:bodyPr wrap="square" lIns="0" tIns="0" rIns="0" bIns="0">
            <a:spAutoFit/>
          </a:bodyPr>
          <a:lstStyle/>
          <a:p>
            <a:pPr algn="ctr">
              <a:lnSpc>
                <a:spcPct val="100000"/>
              </a:lnSpc>
              <a:spcAft>
                <a:spcPts val="100"/>
              </a:spcAft>
              <a:defRPr sz="2200" b="1">
                <a:solidFill>
                  <a:srgbClr val="0E7C86"/>
                </a:solidFill>
                <a:latin typeface="Calibri"/>
              </a:defRPr>
            </a:pPr>
            <a:r>
              <a:rPr sz="2200" b="1">
                <a:solidFill>
                  <a:srgbClr val="0E7C86"/>
                </a:solidFill>
                <a:latin typeface="Calibri"/>
              </a:rPr>
              <a:t>left = forward + turn            right = forward - turn</a:t>
            </a:r>
          </a:p>
        </p:txBody>
      </p:sp>
      <p:sp>
        <p:nvSpPr>
          <p:cNvPr id="7" name="Rounded Rectangle 6"/>
          <p:cNvSpPr/>
          <p:nvPr/>
        </p:nvSpPr>
        <p:spPr>
          <a:xfrm>
            <a:off x="502920" y="1874520"/>
            <a:ext cx="2606040" cy="4114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stick straight up</a:t>
            </a:r>
          </a:p>
        </p:txBody>
      </p:sp>
      <p:sp>
        <p:nvSpPr>
          <p:cNvPr id="8" name="Rectangle 7"/>
          <p:cNvSpPr/>
          <p:nvPr/>
        </p:nvSpPr>
        <p:spPr>
          <a:xfrm>
            <a:off x="502920"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200</a:t>
            </a:r>
          </a:p>
          <a:p>
            <a:pPr algn="ctr">
              <a:lnSpc>
                <a:spcPct val="100000"/>
              </a:lnSpc>
              <a:spcAft>
                <a:spcPts val="0"/>
              </a:spcAft>
              <a:defRPr sz="1400" b="0">
                <a:solidFill>
                  <a:srgbClr val="222222"/>
                </a:solidFill>
                <a:latin typeface="Consolas"/>
              </a:defRPr>
            </a:pPr>
            <a:r>
              <a:rPr sz="1400" b="0">
                <a:solidFill>
                  <a:srgbClr val="222222"/>
                </a:solidFill>
                <a:latin typeface="Consolas"/>
              </a:rPr>
              <a:t>turn 0</a:t>
            </a:r>
          </a:p>
        </p:txBody>
      </p:sp>
      <p:cxnSp>
        <p:nvCxnSpPr>
          <p:cNvPr id="9" name="Connector 8"/>
          <p:cNvCxnSpPr/>
          <p:nvPr/>
        </p:nvCxnSpPr>
        <p:spPr>
          <a:xfrm>
            <a:off x="1805940"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02920"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200</a:t>
            </a:r>
          </a:p>
          <a:p>
            <a:pPr algn="ctr">
              <a:lnSpc>
                <a:spcPct val="100000"/>
              </a:lnSpc>
              <a:spcAft>
                <a:spcPts val="0"/>
              </a:spcAft>
              <a:defRPr sz="1400" b="0">
                <a:solidFill>
                  <a:srgbClr val="222222"/>
                </a:solidFill>
                <a:latin typeface="Consolas"/>
              </a:defRPr>
            </a:pPr>
            <a:r>
              <a:rPr sz="1400" b="0">
                <a:solidFill>
                  <a:srgbClr val="222222"/>
                </a:solidFill>
                <a:latin typeface="Consolas"/>
              </a:rPr>
              <a:t>right 200</a:t>
            </a:r>
          </a:p>
        </p:txBody>
      </p:sp>
      <p:sp>
        <p:nvSpPr>
          <p:cNvPr id="11" name="TextBox 10"/>
          <p:cNvSpPr txBox="1"/>
          <p:nvPr/>
        </p:nvSpPr>
        <p:spPr>
          <a:xfrm>
            <a:off x="502920"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straight ahead</a:t>
            </a:r>
          </a:p>
        </p:txBody>
      </p:sp>
      <p:sp>
        <p:nvSpPr>
          <p:cNvPr id="12" name="Rounded Rectangle 11"/>
          <p:cNvSpPr/>
          <p:nvPr/>
        </p:nvSpPr>
        <p:spPr>
          <a:xfrm>
            <a:off x="3364992" y="1874520"/>
            <a:ext cx="2606040" cy="411480"/>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up and right</a:t>
            </a:r>
          </a:p>
        </p:txBody>
      </p:sp>
      <p:sp>
        <p:nvSpPr>
          <p:cNvPr id="13" name="Rectangle 12"/>
          <p:cNvSpPr/>
          <p:nvPr/>
        </p:nvSpPr>
        <p:spPr>
          <a:xfrm>
            <a:off x="3364992"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200</a:t>
            </a:r>
          </a:p>
          <a:p>
            <a:pPr algn="ctr">
              <a:lnSpc>
                <a:spcPct val="100000"/>
              </a:lnSpc>
              <a:spcAft>
                <a:spcPts val="0"/>
              </a:spcAft>
              <a:defRPr sz="1400" b="0">
                <a:solidFill>
                  <a:srgbClr val="222222"/>
                </a:solidFill>
                <a:latin typeface="Consolas"/>
              </a:defRPr>
            </a:pPr>
            <a:r>
              <a:rPr sz="1400" b="0">
                <a:solidFill>
                  <a:srgbClr val="222222"/>
                </a:solidFill>
                <a:latin typeface="Consolas"/>
              </a:rPr>
              <a:t>turn 60</a:t>
            </a:r>
          </a:p>
        </p:txBody>
      </p:sp>
      <p:cxnSp>
        <p:nvCxnSpPr>
          <p:cNvPr id="14" name="Connector 13"/>
          <p:cNvCxnSpPr/>
          <p:nvPr/>
        </p:nvCxnSpPr>
        <p:spPr>
          <a:xfrm>
            <a:off x="4668012"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364992"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260 -&gt; 255</a:t>
            </a:r>
          </a:p>
          <a:p>
            <a:pPr algn="ctr">
              <a:lnSpc>
                <a:spcPct val="100000"/>
              </a:lnSpc>
              <a:spcAft>
                <a:spcPts val="0"/>
              </a:spcAft>
              <a:defRPr sz="1400" b="0">
                <a:solidFill>
                  <a:srgbClr val="222222"/>
                </a:solidFill>
                <a:latin typeface="Consolas"/>
              </a:defRPr>
            </a:pPr>
            <a:r>
              <a:rPr sz="1400" b="0">
                <a:solidFill>
                  <a:srgbClr val="222222"/>
                </a:solidFill>
                <a:latin typeface="Consolas"/>
              </a:rPr>
              <a:t>right 140</a:t>
            </a:r>
          </a:p>
        </p:txBody>
      </p:sp>
      <p:sp>
        <p:nvSpPr>
          <p:cNvPr id="16" name="TextBox 15"/>
          <p:cNvSpPr txBox="1"/>
          <p:nvPr/>
        </p:nvSpPr>
        <p:spPr>
          <a:xfrm>
            <a:off x="3364992" y="4526280"/>
            <a:ext cx="2606040" cy="659384"/>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curves right</a:t>
            </a:r>
          </a:p>
          <a:p>
            <a:pPr algn="ctr">
              <a:lnSpc>
                <a:spcPct val="100000"/>
              </a:lnSpc>
              <a:spcAft>
                <a:spcPts val="0"/>
              </a:spcAft>
              <a:defRPr sz="1800" b="0">
                <a:solidFill>
                  <a:srgbClr val="222222"/>
                </a:solidFill>
                <a:latin typeface="Calibri"/>
              </a:defRPr>
            </a:pPr>
            <a:r>
              <a:rPr sz="1800" b="0">
                <a:solidFill>
                  <a:srgbClr val="222222"/>
                </a:solidFill>
                <a:latin typeface="Calibri"/>
              </a:rPr>
              <a:t>while moving</a:t>
            </a:r>
          </a:p>
        </p:txBody>
      </p:sp>
      <p:sp>
        <p:nvSpPr>
          <p:cNvPr id="17" name="Rounded Rectangle 16"/>
          <p:cNvSpPr/>
          <p:nvPr/>
        </p:nvSpPr>
        <p:spPr>
          <a:xfrm>
            <a:off x="6227064" y="1874520"/>
            <a:ext cx="2606040" cy="411480"/>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hard right only</a:t>
            </a:r>
          </a:p>
        </p:txBody>
      </p:sp>
      <p:sp>
        <p:nvSpPr>
          <p:cNvPr id="18" name="Rectangle 17"/>
          <p:cNvSpPr/>
          <p:nvPr/>
        </p:nvSpPr>
        <p:spPr>
          <a:xfrm>
            <a:off x="6227064"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0</a:t>
            </a:r>
          </a:p>
          <a:p>
            <a:pPr algn="ctr">
              <a:lnSpc>
                <a:spcPct val="100000"/>
              </a:lnSpc>
              <a:spcAft>
                <a:spcPts val="0"/>
              </a:spcAft>
              <a:defRPr sz="1400" b="0">
                <a:solidFill>
                  <a:srgbClr val="222222"/>
                </a:solidFill>
                <a:latin typeface="Consolas"/>
              </a:defRPr>
            </a:pPr>
            <a:r>
              <a:rPr sz="1400" b="0">
                <a:solidFill>
                  <a:srgbClr val="222222"/>
                </a:solidFill>
                <a:latin typeface="Consolas"/>
              </a:rPr>
              <a:t>turn 127</a:t>
            </a:r>
          </a:p>
        </p:txBody>
      </p:sp>
      <p:cxnSp>
        <p:nvCxnSpPr>
          <p:cNvPr id="19" name="Connector 18"/>
          <p:cNvCxnSpPr/>
          <p:nvPr/>
        </p:nvCxnSpPr>
        <p:spPr>
          <a:xfrm>
            <a:off x="7530084"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227064"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127</a:t>
            </a:r>
          </a:p>
          <a:p>
            <a:pPr algn="ctr">
              <a:lnSpc>
                <a:spcPct val="100000"/>
              </a:lnSpc>
              <a:spcAft>
                <a:spcPts val="0"/>
              </a:spcAft>
              <a:defRPr sz="1400" b="0">
                <a:solidFill>
                  <a:srgbClr val="222222"/>
                </a:solidFill>
                <a:latin typeface="Consolas"/>
              </a:defRPr>
            </a:pPr>
            <a:r>
              <a:rPr sz="1400" b="0">
                <a:solidFill>
                  <a:srgbClr val="222222"/>
                </a:solidFill>
                <a:latin typeface="Consolas"/>
              </a:rPr>
              <a:t>right -127</a:t>
            </a:r>
          </a:p>
        </p:txBody>
      </p:sp>
      <p:sp>
        <p:nvSpPr>
          <p:cNvPr id="21" name="TextBox 20"/>
          <p:cNvSpPr txBox="1"/>
          <p:nvPr/>
        </p:nvSpPr>
        <p:spPr>
          <a:xfrm>
            <a:off x="6227064"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spins on the spot</a:t>
            </a:r>
          </a:p>
        </p:txBody>
      </p:sp>
      <p:sp>
        <p:nvSpPr>
          <p:cNvPr id="22" name="Rounded Rectangle 21"/>
          <p:cNvSpPr/>
          <p:nvPr/>
        </p:nvSpPr>
        <p:spPr>
          <a:xfrm>
            <a:off x="9089136" y="1874520"/>
            <a:ext cx="2606040" cy="411480"/>
          </a:xfrm>
          <a:prstGeom prst="roundRect">
            <a:avLst>
              <a:gd name="adj" fmla="val 12000"/>
            </a:avLst>
          </a:prstGeom>
          <a:solidFill>
            <a:srgbClr val="E8ECF0"/>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stick centered</a:t>
            </a:r>
          </a:p>
        </p:txBody>
      </p:sp>
      <p:sp>
        <p:nvSpPr>
          <p:cNvPr id="23" name="Rectangle 22"/>
          <p:cNvSpPr/>
          <p:nvPr/>
        </p:nvSpPr>
        <p:spPr>
          <a:xfrm>
            <a:off x="9089136" y="2423160"/>
            <a:ext cx="2606040" cy="777240"/>
          </a:xfrm>
          <a:prstGeom prst="rect">
            <a:avLst/>
          </a:prstGeom>
          <a:solidFill>
            <a:srgbClr val="FFFFFF"/>
          </a:solidFill>
          <a:ln w="952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forward 0</a:t>
            </a:r>
          </a:p>
          <a:p>
            <a:pPr algn="ctr">
              <a:lnSpc>
                <a:spcPct val="100000"/>
              </a:lnSpc>
              <a:spcAft>
                <a:spcPts val="0"/>
              </a:spcAft>
              <a:defRPr sz="1400" b="0">
                <a:solidFill>
                  <a:srgbClr val="222222"/>
                </a:solidFill>
                <a:latin typeface="Consolas"/>
              </a:defRPr>
            </a:pPr>
            <a:r>
              <a:rPr sz="1400" b="0">
                <a:solidFill>
                  <a:srgbClr val="222222"/>
                </a:solidFill>
                <a:latin typeface="Consolas"/>
              </a:rPr>
              <a:t>turn 0</a:t>
            </a:r>
          </a:p>
        </p:txBody>
      </p:sp>
      <p:cxnSp>
        <p:nvCxnSpPr>
          <p:cNvPr id="24" name="Connector 23"/>
          <p:cNvCxnSpPr/>
          <p:nvPr/>
        </p:nvCxnSpPr>
        <p:spPr>
          <a:xfrm>
            <a:off x="10392156" y="3246120"/>
            <a:ext cx="0" cy="320040"/>
          </a:xfrm>
          <a:prstGeom prst="line">
            <a:avLst/>
          </a:prstGeom>
          <a:ln w="22225">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9089136" y="3611880"/>
            <a:ext cx="2606040" cy="777240"/>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left 0</a:t>
            </a:r>
          </a:p>
          <a:p>
            <a:pPr algn="ctr">
              <a:lnSpc>
                <a:spcPct val="100000"/>
              </a:lnSpc>
              <a:spcAft>
                <a:spcPts val="0"/>
              </a:spcAft>
              <a:defRPr sz="1400" b="0">
                <a:solidFill>
                  <a:srgbClr val="222222"/>
                </a:solidFill>
                <a:latin typeface="Consolas"/>
              </a:defRPr>
            </a:pPr>
            <a:r>
              <a:rPr sz="1400" b="0">
                <a:solidFill>
                  <a:srgbClr val="222222"/>
                </a:solidFill>
                <a:latin typeface="Consolas"/>
              </a:rPr>
              <a:t>right 0</a:t>
            </a:r>
          </a:p>
        </p:txBody>
      </p:sp>
      <p:sp>
        <p:nvSpPr>
          <p:cNvPr id="26" name="TextBox 25"/>
          <p:cNvSpPr txBox="1"/>
          <p:nvPr/>
        </p:nvSpPr>
        <p:spPr>
          <a:xfrm>
            <a:off x="9089136" y="4526280"/>
            <a:ext cx="2606040" cy="367792"/>
          </a:xfrm>
          <a:prstGeom prst="rect">
            <a:avLst/>
          </a:prstGeom>
          <a:noFill/>
        </p:spPr>
        <p:txBody>
          <a:bodyPr wrap="square" lIns="0" tIns="0" rIns="0" bIns="0">
            <a:spAutoFit/>
          </a:bodyPr>
          <a:lstStyle/>
          <a:p>
            <a:pPr algn="ctr">
              <a:lnSpc>
                <a:spcPct val="100000"/>
              </a:lnSpc>
              <a:spcAft>
                <a:spcPts val="0"/>
              </a:spcAft>
              <a:defRPr sz="1800" b="0">
                <a:solidFill>
                  <a:srgbClr val="222222"/>
                </a:solidFill>
                <a:latin typeface="Calibri"/>
              </a:defRPr>
            </a:pPr>
            <a:r>
              <a:rPr sz="1800" b="0">
                <a:solidFill>
                  <a:srgbClr val="222222"/>
                </a:solidFill>
                <a:latin typeface="Calibri"/>
              </a:rPr>
              <a:t>both sides coast</a:t>
            </a:r>
          </a:p>
        </p:txBody>
      </p:sp>
      <p:sp>
        <p:nvSpPr>
          <p:cNvPr id="27" name="Rounded Rectangle 2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260 is over the maximum, which is exactly what constrain() is there to catch. Steering also has its own lower cap, turnMax, so the vehicle stays easy to aim.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math you need to predict where it ends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Wheel diameter is 3.0 inches.</a:t>
            </a:r>
          </a:p>
          <a:p>
            <a:pPr lvl="1" algn="l">
              <a:lnSpc>
                <a:spcPct val="100000"/>
              </a:lnSpc>
              <a:spcAft>
                <a:spcPts val="600"/>
              </a:spcAft>
              <a:defRPr sz="2100" b="0">
                <a:solidFill>
                  <a:srgbClr val="222222"/>
                </a:solidFill>
                <a:latin typeface="Calibri"/>
              </a:defRPr>
            </a:pPr>
            <a:r>
              <a:rPr sz="2100" b="0">
                <a:solidFill>
                  <a:srgbClr val="222222"/>
                </a:solidFill>
                <a:latin typeface="Calibri"/>
              </a:rPr>
              <a:t>Circumference = pi x diameter = 3.1416 x 3.0 = 9.42 inches</a:t>
            </a:r>
          </a:p>
          <a:p>
            <a:pPr lvl="1" algn="l">
              <a:lnSpc>
                <a:spcPct val="100000"/>
              </a:lnSpc>
              <a:spcAft>
                <a:spcPts val="600"/>
              </a:spcAft>
              <a:defRPr sz="2100" b="0">
                <a:solidFill>
                  <a:srgbClr val="222222"/>
                </a:solidFill>
                <a:latin typeface="Calibri"/>
              </a:defRPr>
            </a:pPr>
            <a:r>
              <a:rPr sz="2100" b="0">
                <a:solidFill>
                  <a:srgbClr val="222222"/>
                </a:solidFill>
                <a:latin typeface="Calibri"/>
              </a:rPr>
              <a:t>Distance per wheel turn = 9.42 / 12 = 0.79 feet</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Speed = revolutions per second x distance per revolution</a:t>
            </a:r>
          </a:p>
          <a:p>
            <a:pPr algn="l">
              <a:lnSpc>
                <a:spcPct val="100000"/>
              </a:lnSpc>
              <a:spcAft>
                <a:spcPts val="600"/>
              </a:spcAft>
              <a:defRPr sz="2100" b="0">
                <a:solidFill>
                  <a:srgbClr val="222222"/>
                </a:solidFill>
                <a:latin typeface="Calibri"/>
              </a:defRPr>
            </a:pPr>
            <a:r>
              <a:rPr sz="2100" b="0">
                <a:solidFill>
                  <a:srgbClr val="222222"/>
                </a:solidFill>
                <a:latin typeface="Calibri"/>
              </a:rPr>
              <a:t>Distance = speed x time</a:t>
            </a:r>
          </a:p>
          <a:p>
            <a:pPr algn="l">
              <a:lnSpc>
                <a:spcPct val="100000"/>
              </a:lnSpc>
              <a:spcAft>
                <a:spcPts val="600"/>
              </a:spcAft>
              <a:defRPr sz="2100" b="0">
                <a:solidFill>
                  <a:srgbClr val="222222"/>
                </a:solidFill>
                <a:latin typeface="Calibri"/>
              </a:defRPr>
            </a:pPr>
            <a:r>
              <a:rPr sz="2100" b="0">
                <a:solidFill>
                  <a:srgbClr val="222222"/>
                </a:solidFill>
                <a:latin typeface="Calibri"/>
              </a:rPr>
              <a:t>Degrees turned = turn rate x time</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You know the time - you wrote it in the delay(). You have to MEASURE the speed and the turn rate, because they depend on your motors, your floor and your battery.</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Worked example: at 3.34 feet per second, 100 feet takes 29.94 seconds. At a turn rate of 30 degrees per second, a 90 degree corner takes 3 seconds.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Dead reckoning: the vehicle has no idea where it is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27</a:t>
            </a:r>
          </a:p>
        </p:txBody>
      </p:sp>
      <p:cxnSp>
        <p:nvCxnSpPr>
          <p:cNvPr id="6" name="Connector 5"/>
          <p:cNvCxnSpPr/>
          <p:nvPr/>
        </p:nvCxnSpPr>
        <p:spPr>
          <a:xfrm flipV="1">
            <a:off x="1874520" y="1828800"/>
            <a:ext cx="0" cy="265176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874520" y="1828800"/>
            <a:ext cx="2651760" cy="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4526280" y="1828800"/>
            <a:ext cx="0" cy="265176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874520" y="4480560"/>
            <a:ext cx="2651760" cy="0"/>
          </a:xfrm>
          <a:prstGeom prst="line">
            <a:avLst/>
          </a:prstGeom>
          <a:ln w="38100">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 y="29718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1  forward</a:t>
            </a:r>
          </a:p>
        </p:txBody>
      </p:sp>
      <p:sp>
        <p:nvSpPr>
          <p:cNvPr id="11" name="TextBox 10"/>
          <p:cNvSpPr txBox="1"/>
          <p:nvPr/>
        </p:nvSpPr>
        <p:spPr>
          <a:xfrm>
            <a:off x="2468880" y="11430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2  forward</a:t>
            </a:r>
          </a:p>
        </p:txBody>
      </p:sp>
      <p:sp>
        <p:nvSpPr>
          <p:cNvPr id="12" name="TextBox 11"/>
          <p:cNvSpPr txBox="1"/>
          <p:nvPr/>
        </p:nvSpPr>
        <p:spPr>
          <a:xfrm>
            <a:off x="4800600" y="29718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3  forward</a:t>
            </a:r>
          </a:p>
        </p:txBody>
      </p:sp>
      <p:sp>
        <p:nvSpPr>
          <p:cNvPr id="13" name="TextBox 12"/>
          <p:cNvSpPr txBox="1"/>
          <p:nvPr/>
        </p:nvSpPr>
        <p:spPr>
          <a:xfrm>
            <a:off x="2468880" y="4800600"/>
            <a:ext cx="1463040" cy="367792"/>
          </a:xfrm>
          <a:prstGeom prst="rect">
            <a:avLst/>
          </a:prstGeom>
          <a:noFill/>
        </p:spPr>
        <p:txBody>
          <a:bodyPr wrap="square" lIns="0" tIns="0" rIns="0" bIns="0">
            <a:spAutoFit/>
          </a:bodyPr>
          <a:lstStyle/>
          <a:p>
            <a:pPr algn="ctr">
              <a:lnSpc>
                <a:spcPct val="100000"/>
              </a:lnSpc>
              <a:spcAft>
                <a:spcPts val="0"/>
              </a:spcAft>
              <a:defRPr sz="1800" b="1">
                <a:solidFill>
                  <a:srgbClr val="1F3A5F"/>
                </a:solidFill>
                <a:latin typeface="Calibri"/>
              </a:defRPr>
            </a:pPr>
            <a:r>
              <a:rPr sz="1800" b="1">
                <a:solidFill>
                  <a:srgbClr val="1F3A5F"/>
                </a:solidFill>
                <a:latin typeface="Calibri"/>
              </a:rPr>
              <a:t>4  forward</a:t>
            </a:r>
          </a:p>
        </p:txBody>
      </p:sp>
      <p:sp>
        <p:nvSpPr>
          <p:cNvPr id="14" name="Oval 13"/>
          <p:cNvSpPr/>
          <p:nvPr/>
        </p:nvSpPr>
        <p:spPr>
          <a:xfrm>
            <a:off x="1755648" y="436168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5" name="Oval 14"/>
          <p:cNvSpPr/>
          <p:nvPr/>
        </p:nvSpPr>
        <p:spPr>
          <a:xfrm>
            <a:off x="1755648" y="170992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6" name="Oval 15"/>
          <p:cNvSpPr/>
          <p:nvPr/>
        </p:nvSpPr>
        <p:spPr>
          <a:xfrm>
            <a:off x="4407408" y="170992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7" name="Oval 16"/>
          <p:cNvSpPr/>
          <p:nvPr/>
        </p:nvSpPr>
        <p:spPr>
          <a:xfrm>
            <a:off x="4407408" y="4361688"/>
            <a:ext cx="237744" cy="237744"/>
          </a:xfrm>
          <a:prstGeom prst="ellipse">
            <a:avLst/>
          </a:prstGeom>
          <a:solidFill>
            <a:srgbClr val="B46A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600"/>
              </a:spcAft>
              <a:defRPr sz="400" b="0">
                <a:solidFill>
                  <a:srgbClr val="222222"/>
                </a:solidFill>
                <a:latin typeface="Calibri"/>
              </a:defRPr>
            </a:pPr>
          </a:p>
        </p:txBody>
      </p:sp>
      <p:sp>
        <p:nvSpPr>
          <p:cNvPr id="18" name="TextBox 17"/>
          <p:cNvSpPr txBox="1"/>
          <p:nvPr/>
        </p:nvSpPr>
        <p:spPr>
          <a:xfrm>
            <a:off x="91440" y="4206240"/>
            <a:ext cx="1691640" cy="367792"/>
          </a:xfrm>
          <a:prstGeom prst="rect">
            <a:avLst/>
          </a:prstGeom>
          <a:noFill/>
        </p:spPr>
        <p:txBody>
          <a:bodyPr wrap="square" lIns="0" tIns="0" rIns="0" bIns="0">
            <a:spAutoFit/>
          </a:bodyPr>
          <a:lstStyle/>
          <a:p>
            <a:pPr algn="r">
              <a:lnSpc>
                <a:spcPct val="100000"/>
              </a:lnSpc>
              <a:spcAft>
                <a:spcPts val="0"/>
              </a:spcAft>
              <a:defRPr sz="1800" b="1">
                <a:solidFill>
                  <a:srgbClr val="0E7C86"/>
                </a:solidFill>
                <a:latin typeface="Calibri"/>
              </a:defRPr>
            </a:pPr>
            <a:r>
              <a:rPr sz="1800" b="1">
                <a:solidFill>
                  <a:srgbClr val="0E7C86"/>
                </a:solidFill>
                <a:latin typeface="Calibri"/>
              </a:rPr>
              <a:t>START</a:t>
            </a:r>
          </a:p>
        </p:txBody>
      </p:sp>
      <p:sp>
        <p:nvSpPr>
          <p:cNvPr id="19" name="TextBox 18"/>
          <p:cNvSpPr txBox="1"/>
          <p:nvPr/>
        </p:nvSpPr>
        <p:spPr>
          <a:xfrm>
            <a:off x="91440" y="4535424"/>
            <a:ext cx="169164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each dot is a</a:t>
            </a:r>
          </a:p>
        </p:txBody>
      </p:sp>
      <p:sp>
        <p:nvSpPr>
          <p:cNvPr id="20" name="TextBox 19"/>
          <p:cNvSpPr txBox="1"/>
          <p:nvPr/>
        </p:nvSpPr>
        <p:spPr>
          <a:xfrm>
            <a:off x="91440" y="4864608"/>
            <a:ext cx="1691640" cy="367792"/>
          </a:xfrm>
          <a:prstGeom prst="rect">
            <a:avLst/>
          </a:prstGeom>
          <a:noFill/>
        </p:spPr>
        <p:txBody>
          <a:bodyPr wrap="square" lIns="0" tIns="0" rIns="0" bIns="0">
            <a:spAutoFit/>
          </a:bodyPr>
          <a:lstStyle/>
          <a:p>
            <a:pPr algn="r">
              <a:lnSpc>
                <a:spcPct val="100000"/>
              </a:lnSpc>
              <a:spcAft>
                <a:spcPts val="0"/>
              </a:spcAft>
              <a:defRPr sz="1800" b="0">
                <a:solidFill>
                  <a:srgbClr val="B46A0F"/>
                </a:solidFill>
                <a:latin typeface="Calibri"/>
              </a:defRPr>
            </a:pPr>
            <a:r>
              <a:rPr sz="1800" b="0">
                <a:solidFill>
                  <a:srgbClr val="B46A0F"/>
                </a:solidFill>
                <a:latin typeface="Calibri"/>
              </a:rPr>
              <a:t>90 degree turn</a:t>
            </a:r>
          </a:p>
        </p:txBody>
      </p:sp>
      <p:sp>
        <p:nvSpPr>
          <p:cNvPr id="21" name="TextBox 20"/>
          <p:cNvSpPr txBox="1"/>
          <p:nvPr/>
        </p:nvSpPr>
        <p:spPr>
          <a:xfrm>
            <a:off x="6537960" y="1188720"/>
            <a:ext cx="5120640" cy="383286"/>
          </a:xfrm>
          <a:prstGeom prst="rect">
            <a:avLst/>
          </a:prstGeom>
          <a:noFill/>
        </p:spPr>
        <p:txBody>
          <a:bodyPr wrap="square" lIns="0" tIns="0" rIns="0" bIns="0">
            <a:spAutoFit/>
          </a:bodyPr>
          <a:lstStyle/>
          <a:p>
            <a:pPr algn="l">
              <a:lnSpc>
                <a:spcPct val="100000"/>
              </a:lnSpc>
              <a:spcAft>
                <a:spcPts val="100"/>
              </a:spcAft>
              <a:defRPr sz="1900" b="1">
                <a:solidFill>
                  <a:srgbClr val="0E7C86"/>
                </a:solidFill>
                <a:latin typeface="Calibri"/>
              </a:defRPr>
            </a:pPr>
            <a:r>
              <a:rPr sz="1900" b="1">
                <a:solidFill>
                  <a:srgbClr val="0E7C86"/>
                </a:solidFill>
                <a:latin typeface="Calibri"/>
              </a:rPr>
              <a:t>The two equations</a:t>
            </a:r>
          </a:p>
        </p:txBody>
      </p:sp>
      <p:sp>
        <p:nvSpPr>
          <p:cNvPr id="22" name="Rectangle 21"/>
          <p:cNvSpPr/>
          <p:nvPr/>
        </p:nvSpPr>
        <p:spPr>
          <a:xfrm>
            <a:off x="6537960" y="1609344"/>
            <a:ext cx="5120640" cy="896112"/>
          </a:xfrm>
          <a:prstGeom prst="rect">
            <a:avLst/>
          </a:prstGeom>
          <a:solidFill>
            <a:srgbClr val="F4F6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500" b="0">
                <a:solidFill>
                  <a:srgbClr val="222222"/>
                </a:solidFill>
                <a:latin typeface="Consolas"/>
              </a:defRPr>
            </a:pPr>
            <a:r>
              <a:rPr sz="1500" b="0">
                <a:solidFill>
                  <a:srgbClr val="222222"/>
                </a:solidFill>
                <a:latin typeface="Consolas"/>
              </a:rPr>
              <a:t>distance = speed x time</a:t>
            </a:r>
          </a:p>
          <a:p>
            <a:pPr algn="l">
              <a:lnSpc>
                <a:spcPct val="100000"/>
              </a:lnSpc>
              <a:spcAft>
                <a:spcPts val="0"/>
              </a:spcAft>
              <a:defRPr sz="1500" b="0">
                <a:solidFill>
                  <a:srgbClr val="222222"/>
                </a:solidFill>
                <a:latin typeface="Consolas"/>
              </a:defRPr>
            </a:pPr>
            <a:r>
              <a:rPr sz="1500" b="0">
                <a:solidFill>
                  <a:srgbClr val="222222"/>
                </a:solidFill>
                <a:latin typeface="Consolas"/>
              </a:rPr>
              <a:t>degrees turned = turn rate x time</a:t>
            </a:r>
          </a:p>
        </p:txBody>
      </p:sp>
      <p:sp>
        <p:nvSpPr>
          <p:cNvPr id="23" name="TextBox 22"/>
          <p:cNvSpPr txBox="1"/>
          <p:nvPr/>
        </p:nvSpPr>
        <p:spPr>
          <a:xfrm>
            <a:off x="6537960" y="2615184"/>
            <a:ext cx="5120640" cy="3093466"/>
          </a:xfrm>
          <a:prstGeom prst="rect">
            <a:avLst/>
          </a:prstGeom>
          <a:noFill/>
        </p:spPr>
        <p:txBody>
          <a:bodyPr wrap="square" lIns="0" tIns="0" rIns="0" bIns="0">
            <a:spAutoFit/>
          </a:bodyPr>
          <a:lstStyle/>
          <a:p>
            <a:pPr algn="l">
              <a:lnSpc>
                <a:spcPct val="100000"/>
              </a:lnSpc>
              <a:spcAft>
                <a:spcPts val="0"/>
              </a:spcAft>
              <a:defRPr sz="1800" b="0">
                <a:solidFill>
                  <a:srgbClr val="222222"/>
                </a:solidFill>
                <a:latin typeface="Calibri"/>
              </a:defRPr>
            </a:pPr>
            <a:r>
              <a:rPr sz="1800" b="0">
                <a:solidFill>
                  <a:srgbClr val="222222"/>
                </a:solidFill>
                <a:latin typeface="Calibri"/>
              </a:rPr>
              <a:t>You know the TIME - you wrote it in the delay().</a:t>
            </a:r>
          </a:p>
          <a:p>
            <a:pPr algn="l">
              <a:lnSpc>
                <a:spcPct val="100000"/>
              </a:lnSpc>
              <a:spcAft>
                <a:spcPts val="0"/>
              </a:spcAft>
              <a:defRPr sz="1800" b="0">
                <a:solidFill>
                  <a:srgbClr val="222222"/>
                </a:solidFill>
                <a:latin typeface="Calibri"/>
              </a:defRPr>
            </a:pPr>
            <a:r>
              <a:rPr sz="1800" b="0">
                <a:solidFill>
                  <a:srgbClr val="222222"/>
                </a:solidFill>
                <a:latin typeface="Calibri"/>
              </a:rPr>
              <a:t>You have to MEASURE the speed and the turn rate.</a:t>
            </a:r>
          </a:p>
          <a:p>
            <a:pPr algn="l">
              <a:lnSpc>
                <a:spcPct val="100000"/>
              </a:lnSpc>
              <a:spcAft>
                <a:spcPts val="0"/>
              </a:spcAft>
              <a:defRPr sz="1800" b="0">
                <a:solidFill>
                  <a:srgbClr val="222222"/>
                </a:solidFill>
                <a:latin typeface="Calibri"/>
              </a:defRPr>
            </a:pPr>
            <a:r>
              <a:rPr sz="1800" b="0">
                <a:solidFill>
                  <a:srgbClr val="222222"/>
                </a:solidFill>
                <a:latin typeface="Calibri"/>
              </a:rPr>
              <a:t>wheel circumference = pi x 3.0 in = 9.42 in</a:t>
            </a:r>
          </a:p>
          <a:p>
            <a:pPr algn="l">
              <a:lnSpc>
                <a:spcPct val="100000"/>
              </a:lnSpc>
              <a:spcAft>
                <a:spcPts val="0"/>
              </a:spcAft>
              <a:defRPr sz="1800" b="0">
                <a:solidFill>
                  <a:srgbClr val="222222"/>
                </a:solidFill>
                <a:latin typeface="Calibri"/>
              </a:defRPr>
            </a:pPr>
            <a:r>
              <a:rPr sz="1800" b="0">
                <a:solidFill>
                  <a:srgbClr val="222222"/>
                </a:solidFill>
                <a:latin typeface="Calibri"/>
              </a:rPr>
              <a:t>one wheel turn = 9.42 / 12 = 0.79 ft</a:t>
            </a:r>
          </a:p>
          <a:p>
            <a:pPr algn="l">
              <a:lnSpc>
                <a:spcPct val="100000"/>
              </a:lnSpc>
              <a:spcAft>
                <a:spcPts val="0"/>
              </a:spcAft>
              <a:defRPr sz="900" b="0">
                <a:solidFill>
                  <a:srgbClr val="222222"/>
                </a:solidFill>
                <a:latin typeface="Calibri"/>
              </a:defRPr>
            </a:pPr>
          </a:p>
          <a:p>
            <a:pPr algn="l">
              <a:lnSpc>
                <a:spcPct val="100000"/>
              </a:lnSpc>
              <a:spcAft>
                <a:spcPts val="0"/>
              </a:spcAft>
              <a:defRPr sz="1800" b="0">
                <a:solidFill>
                  <a:srgbClr val="222222"/>
                </a:solidFill>
                <a:latin typeface="Calibri"/>
              </a:defRPr>
            </a:pPr>
            <a:r>
              <a:rPr sz="1800" b="0">
                <a:solidFill>
                  <a:srgbClr val="222222"/>
                </a:solidFill>
                <a:latin typeface="Calibri"/>
              </a:rPr>
              <a:t>Drive one side, time it, divide: that is feet per</a:t>
            </a:r>
          </a:p>
          <a:p>
            <a:pPr algn="l">
              <a:lnSpc>
                <a:spcPct val="100000"/>
              </a:lnSpc>
              <a:spcAft>
                <a:spcPts val="0"/>
              </a:spcAft>
              <a:defRPr sz="1800" b="0">
                <a:solidFill>
                  <a:srgbClr val="222222"/>
                </a:solidFill>
                <a:latin typeface="Calibri"/>
              </a:defRPr>
            </a:pPr>
            <a:r>
              <a:rPr sz="1800" b="0">
                <a:solidFill>
                  <a:srgbClr val="222222"/>
                </a:solidFill>
                <a:latin typeface="Calibri"/>
              </a:rPr>
              <a:t>second for YOUR vehicle, on THIS floor and battery.</a:t>
            </a:r>
          </a:p>
        </p:txBody>
      </p:sp>
      <p:sp>
        <p:nvSpPr>
          <p:cNvPr id="24" name="Rounded Rectangle 23"/>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Recharge the battery and the same numbers give a bigger square. That drift is why dead reckoning is a starting point, not an answer.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Plotting where a maneuver ends up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28</a:t>
            </a:r>
          </a:p>
        </p:txBody>
      </p:sp>
      <p:sp>
        <p:nvSpPr>
          <p:cNvPr id="6" name="TextBox 5"/>
          <p:cNvSpPr txBox="1"/>
          <p:nvPr/>
        </p:nvSpPr>
        <p:spPr>
          <a:xfrm>
            <a:off x="502920" y="1353312"/>
            <a:ext cx="548640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One leg: a distance on a bearing</a:t>
            </a:r>
          </a:p>
        </p:txBody>
      </p:sp>
      <p:sp>
        <p:nvSpPr>
          <p:cNvPr id="7" name="Rounded Rectangle 6"/>
          <p:cNvSpPr/>
          <p:nvPr/>
        </p:nvSpPr>
        <p:spPr>
          <a:xfrm>
            <a:off x="502920" y="1737360"/>
            <a:ext cx="5486400" cy="868680"/>
          </a:xfrm>
          <a:prstGeom prst="roundRect">
            <a:avLst>
              <a:gd name="adj" fmla="val 12000"/>
            </a:avLst>
          </a:prstGeom>
          <a:solidFill>
            <a:srgbClr val="F4F6F8"/>
          </a:solidFill>
          <a:ln w="15875">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lnSpc>
                <a:spcPct val="100000"/>
              </a:lnSpc>
              <a:spcAft>
                <a:spcPts val="0"/>
              </a:spcAft>
              <a:defRPr sz="1500" b="0">
                <a:solidFill>
                  <a:srgbClr val="222222"/>
                </a:solidFill>
                <a:latin typeface="Consolas"/>
              </a:defRPr>
            </a:pPr>
            <a:r>
              <a:rPr sz="1500" b="0">
                <a:solidFill>
                  <a:srgbClr val="222222"/>
                </a:solidFill>
                <a:latin typeface="Consolas"/>
              </a:rPr>
              <a:t>distance = speed x time</a:t>
            </a:r>
          </a:p>
          <a:p>
            <a:pPr algn="l">
              <a:lnSpc>
                <a:spcPct val="100000"/>
              </a:lnSpc>
              <a:spcAft>
                <a:spcPts val="0"/>
              </a:spcAft>
              <a:defRPr sz="1500" b="0">
                <a:solidFill>
                  <a:srgbClr val="222222"/>
                </a:solidFill>
                <a:latin typeface="Consolas"/>
              </a:defRPr>
            </a:pPr>
            <a:r>
              <a:rPr sz="1500" b="0">
                <a:solidFill>
                  <a:srgbClr val="222222"/>
                </a:solidFill>
                <a:latin typeface="Consolas"/>
              </a:rPr>
              <a:t>east  = distance x sin(bearing)</a:t>
            </a:r>
          </a:p>
          <a:p>
            <a:pPr algn="l">
              <a:lnSpc>
                <a:spcPct val="100000"/>
              </a:lnSpc>
              <a:spcAft>
                <a:spcPts val="0"/>
              </a:spcAft>
              <a:defRPr sz="1500" b="0">
                <a:solidFill>
                  <a:srgbClr val="222222"/>
                </a:solidFill>
                <a:latin typeface="Consolas"/>
              </a:defRPr>
            </a:pPr>
            <a:r>
              <a:rPr sz="1500" b="0">
                <a:solidFill>
                  <a:srgbClr val="222222"/>
                </a:solidFill>
                <a:latin typeface="Consolas"/>
              </a:rPr>
              <a:t>north = distance x cos(bearing)</a:t>
            </a:r>
          </a:p>
        </p:txBody>
      </p:sp>
      <p:cxnSp>
        <p:nvCxnSpPr>
          <p:cNvPr id="8" name="Connector 7"/>
          <p:cNvCxnSpPr/>
          <p:nvPr/>
        </p:nvCxnSpPr>
        <p:spPr>
          <a:xfrm flipV="1">
            <a:off x="1783080" y="2834640"/>
            <a:ext cx="0" cy="1737360"/>
          </a:xfrm>
          <a:prstGeom prst="line">
            <a:avLst/>
          </a:prstGeom>
          <a:ln w="12700">
            <a:solidFill>
              <a:srgbClr val="66666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2633472"/>
            <a:ext cx="1170432"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north</a:t>
            </a:r>
          </a:p>
        </p:txBody>
      </p:sp>
      <p:sp>
        <p:nvSpPr>
          <p:cNvPr id="10" name="TextBox 9"/>
          <p:cNvSpPr txBox="1"/>
          <p:nvPr/>
        </p:nvSpPr>
        <p:spPr>
          <a:xfrm>
            <a:off x="502920" y="4005072"/>
            <a:ext cx="1170432" cy="367792"/>
          </a:xfrm>
          <a:prstGeom prst="rect">
            <a:avLst/>
          </a:prstGeom>
          <a:noFill/>
        </p:spPr>
        <p:txBody>
          <a:bodyPr wrap="square" lIns="0" tIns="0" rIns="0" bIns="0">
            <a:spAutoFit/>
          </a:bodyPr>
          <a:lstStyle/>
          <a:p>
            <a:pPr algn="r">
              <a:lnSpc>
                <a:spcPct val="100000"/>
              </a:lnSpc>
              <a:spcAft>
                <a:spcPts val="0"/>
              </a:spcAft>
              <a:defRPr sz="1800" b="0">
                <a:solidFill>
                  <a:srgbClr val="666666"/>
                </a:solidFill>
                <a:latin typeface="Calibri"/>
              </a:defRPr>
            </a:pPr>
            <a:r>
              <a:rPr sz="1800" b="0">
                <a:solidFill>
                  <a:srgbClr val="666666"/>
                </a:solidFill>
                <a:latin typeface="Calibri"/>
              </a:rPr>
              <a:t>bearing</a:t>
            </a:r>
          </a:p>
        </p:txBody>
      </p:sp>
      <p:cxnSp>
        <p:nvCxnSpPr>
          <p:cNvPr id="11" name="Connector 10"/>
          <p:cNvCxnSpPr/>
          <p:nvPr/>
        </p:nvCxnSpPr>
        <p:spPr>
          <a:xfrm flipV="1">
            <a:off x="1783080" y="3108960"/>
            <a:ext cx="2103120" cy="1463040"/>
          </a:xfrm>
          <a:prstGeom prst="line">
            <a:avLst/>
          </a:prstGeom>
          <a:ln w="31750">
            <a:solidFill>
              <a:srgbClr val="1F3A5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783080" y="4572000"/>
            <a:ext cx="2103120" cy="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3886200" y="3108960"/>
            <a:ext cx="0" cy="1463040"/>
          </a:xfrm>
          <a:prstGeom prst="line">
            <a:avLst/>
          </a:prstGeom>
          <a:ln w="19050">
            <a:solidFill>
              <a:srgbClr val="0E7C8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286000" y="2907792"/>
            <a:ext cx="1554480" cy="367792"/>
          </a:xfrm>
          <a:prstGeom prst="rect">
            <a:avLst/>
          </a:prstGeom>
          <a:noFill/>
        </p:spPr>
        <p:txBody>
          <a:bodyPr wrap="square" lIns="0" tIns="0" rIns="0" bIns="0">
            <a:spAutoFit/>
          </a:bodyPr>
          <a:lstStyle/>
          <a:p>
            <a:pPr algn="l">
              <a:lnSpc>
                <a:spcPct val="100000"/>
              </a:lnSpc>
              <a:spcAft>
                <a:spcPts val="0"/>
              </a:spcAft>
              <a:defRPr sz="1800" b="1">
                <a:solidFill>
                  <a:srgbClr val="1F3A5F"/>
                </a:solidFill>
                <a:latin typeface="Calibri"/>
              </a:defRPr>
            </a:pPr>
            <a:r>
              <a:rPr sz="1800" b="1">
                <a:solidFill>
                  <a:srgbClr val="1F3A5F"/>
                </a:solidFill>
                <a:latin typeface="Calibri"/>
              </a:rPr>
              <a:t>distance</a:t>
            </a:r>
          </a:p>
        </p:txBody>
      </p:sp>
      <p:sp>
        <p:nvSpPr>
          <p:cNvPr id="15" name="TextBox 14"/>
          <p:cNvSpPr txBox="1"/>
          <p:nvPr/>
        </p:nvSpPr>
        <p:spPr>
          <a:xfrm>
            <a:off x="4014216" y="3611880"/>
            <a:ext cx="1463040" cy="367792"/>
          </a:xfrm>
          <a:prstGeom prst="rect">
            <a:avLst/>
          </a:prstGeom>
          <a:noFill/>
        </p:spPr>
        <p:txBody>
          <a:bodyPr wrap="square" lIns="0" tIns="0" rIns="0" bIns="0">
            <a:spAutoFit/>
          </a:bodyPr>
          <a:lstStyle/>
          <a:p>
            <a:pPr algn="l">
              <a:lnSpc>
                <a:spcPct val="100000"/>
              </a:lnSpc>
              <a:spcAft>
                <a:spcPts val="0"/>
              </a:spcAft>
              <a:defRPr sz="1800" b="0">
                <a:solidFill>
                  <a:srgbClr val="0E7C86"/>
                </a:solidFill>
                <a:latin typeface="Calibri"/>
              </a:defRPr>
            </a:pPr>
            <a:r>
              <a:rPr sz="1800" b="0">
                <a:solidFill>
                  <a:srgbClr val="0E7C86"/>
                </a:solidFill>
                <a:latin typeface="Calibri"/>
              </a:rPr>
              <a:t>north part</a:t>
            </a:r>
          </a:p>
        </p:txBody>
      </p:sp>
      <p:sp>
        <p:nvSpPr>
          <p:cNvPr id="16" name="TextBox 15"/>
          <p:cNvSpPr txBox="1"/>
          <p:nvPr/>
        </p:nvSpPr>
        <p:spPr>
          <a:xfrm>
            <a:off x="2258568" y="4626864"/>
            <a:ext cx="1463040" cy="367792"/>
          </a:xfrm>
          <a:prstGeom prst="rect">
            <a:avLst/>
          </a:prstGeom>
          <a:noFill/>
        </p:spPr>
        <p:txBody>
          <a:bodyPr wrap="square" lIns="0" tIns="0" rIns="0" bIns="0">
            <a:spAutoFit/>
          </a:bodyPr>
          <a:lstStyle/>
          <a:p>
            <a:pPr algn="l">
              <a:lnSpc>
                <a:spcPct val="100000"/>
              </a:lnSpc>
              <a:spcAft>
                <a:spcPts val="0"/>
              </a:spcAft>
              <a:defRPr sz="1800" b="0">
                <a:solidFill>
                  <a:srgbClr val="0E7C86"/>
                </a:solidFill>
                <a:latin typeface="Calibri"/>
              </a:defRPr>
            </a:pPr>
            <a:r>
              <a:rPr sz="1800" b="0">
                <a:solidFill>
                  <a:srgbClr val="0E7C86"/>
                </a:solidFill>
                <a:latin typeface="Calibri"/>
              </a:rPr>
              <a:t>east part</a:t>
            </a:r>
          </a:p>
        </p:txBody>
      </p:sp>
      <p:sp>
        <p:nvSpPr>
          <p:cNvPr id="17" name="TextBox 16"/>
          <p:cNvSpPr txBox="1"/>
          <p:nvPr/>
        </p:nvSpPr>
        <p:spPr>
          <a:xfrm>
            <a:off x="6537960" y="1353312"/>
            <a:ext cx="5120640" cy="367792"/>
          </a:xfrm>
          <a:prstGeom prst="rect">
            <a:avLst/>
          </a:prstGeom>
          <a:noFill/>
        </p:spPr>
        <p:txBody>
          <a:bodyPr wrap="square" lIns="0" tIns="0" rIns="0" bIns="0">
            <a:spAutoFit/>
          </a:bodyPr>
          <a:lstStyle/>
          <a:p>
            <a:pPr algn="l">
              <a:lnSpc>
                <a:spcPct val="100000"/>
              </a:lnSpc>
              <a:spcAft>
                <a:spcPts val="0"/>
              </a:spcAft>
              <a:defRPr sz="1800" b="1">
                <a:solidFill>
                  <a:srgbClr val="0E7C86"/>
                </a:solidFill>
                <a:latin typeface="Calibri"/>
              </a:defRPr>
            </a:pPr>
            <a:r>
              <a:rPr sz="1800" b="1">
                <a:solidFill>
                  <a:srgbClr val="0E7C86"/>
                </a:solidFill>
                <a:latin typeface="Calibri"/>
              </a:rPr>
              <a:t>Four legs, added up as you go</a:t>
            </a:r>
          </a:p>
        </p:txBody>
      </p:sp>
      <p:sp>
        <p:nvSpPr>
          <p:cNvPr id="18" name="Rectangle 17"/>
          <p:cNvSpPr/>
          <p:nvPr/>
        </p:nvSpPr>
        <p:spPr>
          <a:xfrm>
            <a:off x="6537960" y="1773936"/>
            <a:ext cx="64008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Leg</a:t>
            </a:r>
          </a:p>
        </p:txBody>
      </p:sp>
      <p:sp>
        <p:nvSpPr>
          <p:cNvPr id="19" name="Rectangle 18"/>
          <p:cNvSpPr/>
          <p:nvPr/>
        </p:nvSpPr>
        <p:spPr>
          <a:xfrm>
            <a:off x="7178040" y="1773936"/>
            <a:ext cx="91440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Time</a:t>
            </a:r>
          </a:p>
        </p:txBody>
      </p:sp>
      <p:sp>
        <p:nvSpPr>
          <p:cNvPr id="20" name="Rectangle 19"/>
          <p:cNvSpPr/>
          <p:nvPr/>
        </p:nvSpPr>
        <p:spPr>
          <a:xfrm>
            <a:off x="8092440" y="1773936"/>
            <a:ext cx="109728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Bearing</a:t>
            </a:r>
          </a:p>
        </p:txBody>
      </p:sp>
      <p:sp>
        <p:nvSpPr>
          <p:cNvPr id="21" name="Rectangle 20"/>
          <p:cNvSpPr/>
          <p:nvPr/>
        </p:nvSpPr>
        <p:spPr>
          <a:xfrm>
            <a:off x="9189720" y="1773936"/>
            <a:ext cx="123444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East</a:t>
            </a:r>
          </a:p>
        </p:txBody>
      </p:sp>
      <p:sp>
        <p:nvSpPr>
          <p:cNvPr id="22" name="Rectangle 21"/>
          <p:cNvSpPr/>
          <p:nvPr/>
        </p:nvSpPr>
        <p:spPr>
          <a:xfrm>
            <a:off x="10424160" y="1773936"/>
            <a:ext cx="1234440" cy="420624"/>
          </a:xfrm>
          <a:prstGeom prst="rect">
            <a:avLst/>
          </a:prstGeom>
          <a:solidFill>
            <a:srgbClr val="EEF3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North</a:t>
            </a:r>
          </a:p>
        </p:txBody>
      </p:sp>
      <p:sp>
        <p:nvSpPr>
          <p:cNvPr id="23" name="Rectangle 22"/>
          <p:cNvSpPr/>
          <p:nvPr/>
        </p:nvSpPr>
        <p:spPr>
          <a:xfrm>
            <a:off x="6537960" y="2194560"/>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a:t>
            </a:r>
          </a:p>
        </p:txBody>
      </p:sp>
      <p:sp>
        <p:nvSpPr>
          <p:cNvPr id="24" name="Rectangle 23"/>
          <p:cNvSpPr/>
          <p:nvPr/>
        </p:nvSpPr>
        <p:spPr>
          <a:xfrm>
            <a:off x="7178040" y="2194560"/>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25" name="Rectangle 24"/>
          <p:cNvSpPr/>
          <p:nvPr/>
        </p:nvSpPr>
        <p:spPr>
          <a:xfrm>
            <a:off x="8092440" y="2194560"/>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45</a:t>
            </a:r>
          </a:p>
        </p:txBody>
      </p:sp>
      <p:sp>
        <p:nvSpPr>
          <p:cNvPr id="26" name="Rectangle 25"/>
          <p:cNvSpPr/>
          <p:nvPr/>
        </p:nvSpPr>
        <p:spPr>
          <a:xfrm>
            <a:off x="9189720" y="2194560"/>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27" name="Rectangle 26"/>
          <p:cNvSpPr/>
          <p:nvPr/>
        </p:nvSpPr>
        <p:spPr>
          <a:xfrm>
            <a:off x="10424160" y="2194560"/>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28" name="Rectangle 27"/>
          <p:cNvSpPr/>
          <p:nvPr/>
        </p:nvSpPr>
        <p:spPr>
          <a:xfrm>
            <a:off x="6537960" y="2615184"/>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a:t>
            </a:r>
          </a:p>
        </p:txBody>
      </p:sp>
      <p:sp>
        <p:nvSpPr>
          <p:cNvPr id="29" name="Rectangle 28"/>
          <p:cNvSpPr/>
          <p:nvPr/>
        </p:nvSpPr>
        <p:spPr>
          <a:xfrm>
            <a:off x="7178040" y="2615184"/>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30" name="Rectangle 29"/>
          <p:cNvSpPr/>
          <p:nvPr/>
        </p:nvSpPr>
        <p:spPr>
          <a:xfrm>
            <a:off x="8092440" y="2615184"/>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315</a:t>
            </a:r>
          </a:p>
        </p:txBody>
      </p:sp>
      <p:sp>
        <p:nvSpPr>
          <p:cNvPr id="31" name="Rectangle 30"/>
          <p:cNvSpPr/>
          <p:nvPr/>
        </p:nvSpPr>
        <p:spPr>
          <a:xfrm>
            <a:off x="9189720" y="2615184"/>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2" name="Rectangle 31"/>
          <p:cNvSpPr/>
          <p:nvPr/>
        </p:nvSpPr>
        <p:spPr>
          <a:xfrm>
            <a:off x="10424160" y="2615184"/>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3" name="Rectangle 32"/>
          <p:cNvSpPr/>
          <p:nvPr/>
        </p:nvSpPr>
        <p:spPr>
          <a:xfrm>
            <a:off x="6537960" y="3035808"/>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3</a:t>
            </a:r>
          </a:p>
        </p:txBody>
      </p:sp>
      <p:sp>
        <p:nvSpPr>
          <p:cNvPr id="34" name="Rectangle 33"/>
          <p:cNvSpPr/>
          <p:nvPr/>
        </p:nvSpPr>
        <p:spPr>
          <a:xfrm>
            <a:off x="7178040" y="3035808"/>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35" name="Rectangle 34"/>
          <p:cNvSpPr/>
          <p:nvPr/>
        </p:nvSpPr>
        <p:spPr>
          <a:xfrm>
            <a:off x="8092440" y="3035808"/>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225</a:t>
            </a:r>
          </a:p>
        </p:txBody>
      </p:sp>
      <p:sp>
        <p:nvSpPr>
          <p:cNvPr id="36" name="Rectangle 35"/>
          <p:cNvSpPr/>
          <p:nvPr/>
        </p:nvSpPr>
        <p:spPr>
          <a:xfrm>
            <a:off x="9189720" y="3035808"/>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7" name="Rectangle 36"/>
          <p:cNvSpPr/>
          <p:nvPr/>
        </p:nvSpPr>
        <p:spPr>
          <a:xfrm>
            <a:off x="10424160" y="3035808"/>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38" name="Rectangle 37"/>
          <p:cNvSpPr/>
          <p:nvPr/>
        </p:nvSpPr>
        <p:spPr>
          <a:xfrm>
            <a:off x="6537960" y="3456432"/>
            <a:ext cx="6400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4</a:t>
            </a:r>
          </a:p>
        </p:txBody>
      </p:sp>
      <p:sp>
        <p:nvSpPr>
          <p:cNvPr id="39" name="Rectangle 38"/>
          <p:cNvSpPr/>
          <p:nvPr/>
        </p:nvSpPr>
        <p:spPr>
          <a:xfrm>
            <a:off x="7178040" y="3456432"/>
            <a:ext cx="91440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10 s</a:t>
            </a:r>
          </a:p>
        </p:txBody>
      </p:sp>
      <p:sp>
        <p:nvSpPr>
          <p:cNvPr id="40" name="Rectangle 39"/>
          <p:cNvSpPr/>
          <p:nvPr/>
        </p:nvSpPr>
        <p:spPr>
          <a:xfrm>
            <a:off x="8092440" y="3456432"/>
            <a:ext cx="109728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0">
                <a:solidFill>
                  <a:srgbClr val="222222"/>
                </a:solidFill>
                <a:latin typeface="Calibri"/>
              </a:defRPr>
            </a:pPr>
            <a:r>
              <a:rPr sz="1800" b="0">
                <a:solidFill>
                  <a:srgbClr val="222222"/>
                </a:solidFill>
                <a:latin typeface="Calibri"/>
              </a:rPr>
              <a:t>135</a:t>
            </a:r>
          </a:p>
        </p:txBody>
      </p:sp>
      <p:sp>
        <p:nvSpPr>
          <p:cNvPr id="41" name="Rectangle 40"/>
          <p:cNvSpPr/>
          <p:nvPr/>
        </p:nvSpPr>
        <p:spPr>
          <a:xfrm>
            <a:off x="9189720" y="3456432"/>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42" name="Rectangle 41"/>
          <p:cNvSpPr/>
          <p:nvPr/>
        </p:nvSpPr>
        <p:spPr>
          <a:xfrm>
            <a:off x="10424160" y="3456432"/>
            <a:ext cx="1234440" cy="420624"/>
          </a:xfrm>
          <a:prstGeom prst="rect">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0">
                <a:solidFill>
                  <a:srgbClr val="222222"/>
                </a:solidFill>
                <a:latin typeface="Consolas"/>
              </a:defRPr>
            </a:pPr>
            <a:r>
              <a:rPr sz="1400" b="0">
                <a:solidFill>
                  <a:srgbClr val="222222"/>
                </a:solidFill>
                <a:latin typeface="Consolas"/>
              </a:rPr>
              <a:t>-23.6</a:t>
            </a:r>
          </a:p>
        </p:txBody>
      </p:sp>
      <p:sp>
        <p:nvSpPr>
          <p:cNvPr id="43" name="Rectangle 42"/>
          <p:cNvSpPr/>
          <p:nvPr/>
        </p:nvSpPr>
        <p:spPr>
          <a:xfrm>
            <a:off x="6537960" y="3877056"/>
            <a:ext cx="64008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900" b="1">
                <a:solidFill>
                  <a:srgbClr val="1F3A5F"/>
                </a:solidFill>
                <a:latin typeface="Calibri"/>
              </a:defRPr>
            </a:pPr>
          </a:p>
        </p:txBody>
      </p:sp>
      <p:sp>
        <p:nvSpPr>
          <p:cNvPr id="44" name="Rectangle 43"/>
          <p:cNvSpPr/>
          <p:nvPr/>
        </p:nvSpPr>
        <p:spPr>
          <a:xfrm>
            <a:off x="7178040" y="3877056"/>
            <a:ext cx="91440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900" b="1">
                <a:solidFill>
                  <a:srgbClr val="1F3A5F"/>
                </a:solidFill>
                <a:latin typeface="Calibri"/>
              </a:defRPr>
            </a:pPr>
          </a:p>
        </p:txBody>
      </p:sp>
      <p:sp>
        <p:nvSpPr>
          <p:cNvPr id="45" name="Rectangle 44"/>
          <p:cNvSpPr/>
          <p:nvPr/>
        </p:nvSpPr>
        <p:spPr>
          <a:xfrm>
            <a:off x="8092440" y="3877056"/>
            <a:ext cx="109728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800" b="1">
                <a:solidFill>
                  <a:srgbClr val="1F3A5F"/>
                </a:solidFill>
                <a:latin typeface="Calibri"/>
              </a:defRPr>
            </a:pPr>
            <a:r>
              <a:rPr sz="1800" b="1">
                <a:solidFill>
                  <a:srgbClr val="1F3A5F"/>
                </a:solidFill>
                <a:latin typeface="Calibri"/>
              </a:rPr>
              <a:t>total</a:t>
            </a:r>
          </a:p>
        </p:txBody>
      </p:sp>
      <p:sp>
        <p:nvSpPr>
          <p:cNvPr id="46" name="Rectangle 45"/>
          <p:cNvSpPr/>
          <p:nvPr/>
        </p:nvSpPr>
        <p:spPr>
          <a:xfrm>
            <a:off x="9189720" y="3877056"/>
            <a:ext cx="123444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0.0</a:t>
            </a:r>
          </a:p>
        </p:txBody>
      </p:sp>
      <p:sp>
        <p:nvSpPr>
          <p:cNvPr id="47" name="Rectangle 46"/>
          <p:cNvSpPr/>
          <p:nvPr/>
        </p:nvSpPr>
        <p:spPr>
          <a:xfrm>
            <a:off x="10424160" y="3877056"/>
            <a:ext cx="1234440" cy="420624"/>
          </a:xfrm>
          <a:prstGeom prst="rect">
            <a:avLst/>
          </a:prstGeom>
          <a:solidFill>
            <a:srgbClr val="D6ECEE"/>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0.0</a:t>
            </a:r>
          </a:p>
        </p:txBody>
      </p:sp>
      <p:sp>
        <p:nvSpPr>
          <p:cNvPr id="48" name="TextBox 47"/>
          <p:cNvSpPr txBox="1"/>
          <p:nvPr/>
        </p:nvSpPr>
        <p:spPr>
          <a:xfrm>
            <a:off x="6537960" y="4407408"/>
            <a:ext cx="5120640" cy="1217168"/>
          </a:xfrm>
          <a:prstGeom prst="rect">
            <a:avLst/>
          </a:prstGeom>
          <a:noFill/>
        </p:spPr>
        <p:txBody>
          <a:bodyPr wrap="square" lIns="0" tIns="0" rIns="0" bIns="0">
            <a:spAutoFit/>
          </a:bodyPr>
          <a:lstStyle/>
          <a:p>
            <a:pPr algn="l">
              <a:lnSpc>
                <a:spcPct val="100000"/>
              </a:lnSpc>
              <a:spcAft>
                <a:spcPts val="0"/>
              </a:spcAft>
              <a:defRPr sz="1800" b="0">
                <a:solidFill>
                  <a:srgbClr val="666666"/>
                </a:solidFill>
                <a:latin typeface="Calibri"/>
              </a:defRPr>
            </a:pPr>
            <a:r>
              <a:rPr sz="1800" b="0">
                <a:solidFill>
                  <a:srgbClr val="666666"/>
                </a:solidFill>
                <a:latin typeface="Calibri"/>
              </a:rPr>
              <a:t>At 3.34 ft/s a 10 s leg is 33.4 ft, and sin(45) = cos(45) = 0.707.</a:t>
            </a:r>
          </a:p>
          <a:p>
            <a:pPr algn="l">
              <a:lnSpc>
                <a:spcPct val="100000"/>
              </a:lnSpc>
              <a:spcAft>
                <a:spcPts val="0"/>
              </a:spcAft>
              <a:defRPr sz="1800" b="0">
                <a:solidFill>
                  <a:srgbClr val="666666"/>
                </a:solidFill>
                <a:latin typeface="Calibri"/>
              </a:defRPr>
            </a:pPr>
            <a:r>
              <a:rPr sz="1800" b="0">
                <a:solidFill>
                  <a:srgbClr val="666666"/>
                </a:solidFill>
                <a:latin typeface="Calibri"/>
              </a:rPr>
              <a:t>In Excel:  =SIN(RADIANS(45))  or  =SIN(45*(3.14/180))  =  0.707</a:t>
            </a:r>
          </a:p>
        </p:txBody>
      </p:sp>
      <p:sp>
        <p:nvSpPr>
          <p:cNvPr id="49" name="Rounded Rectangle 48"/>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Four equal legs turning 90 degrees each time should end where they started. Yours will not, and the gap is the drift.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Running the bases  -  a maneuver that is not a square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Same program, four legs, different bearings</a:t>
            </a:r>
          </a:p>
        </p:txBody>
      </p:sp>
      <p:sp>
        <p:nvSpPr>
          <p:cNvPr id="7" name="TextBox 6"/>
          <p:cNvSpPr txBox="1"/>
          <p:nvPr/>
        </p:nvSpPr>
        <p:spPr>
          <a:xfrm>
            <a:off x="502920" y="1755648"/>
            <a:ext cx="11185855" cy="3419856"/>
          </a:xfrm>
          <a:prstGeom prst="rect">
            <a:avLst/>
          </a:prstGeom>
          <a:noFill/>
        </p:spPr>
        <p:txBody>
          <a:bodyPr wrap="square" lIns="0" tIns="0" rIns="0" bIns="0">
            <a:spAutoFit/>
          </a:bodyPr>
          <a:lstStyle/>
          <a:p>
            <a:pPr algn="l">
              <a:lnSpc>
                <a:spcPct val="100000"/>
              </a:lnSpc>
              <a:spcAft>
                <a:spcPts val="600"/>
              </a:spcAft>
              <a:defRPr sz="1900" b="0">
                <a:solidFill>
                  <a:srgbClr val="222222"/>
                </a:solidFill>
                <a:latin typeface="Calibri"/>
              </a:defRPr>
            </a:pPr>
            <a:r>
              <a:rPr sz="1900" b="0">
                <a:solidFill>
                  <a:srgbClr val="222222"/>
                </a:solidFill>
                <a:latin typeface="Calibri"/>
              </a:rPr>
              <a:t>A square is four legs on bearings 0, 90, 180 and 270, which is why you can do it in your head.</a:t>
            </a:r>
          </a:p>
          <a:p>
            <a:pPr algn="l">
              <a:lnSpc>
                <a:spcPct val="100000"/>
              </a:lnSpc>
              <a:spcAft>
                <a:spcPts val="600"/>
              </a:spcAft>
              <a:defRPr sz="1900" b="0">
                <a:solidFill>
                  <a:srgbClr val="222222"/>
                </a:solidFill>
                <a:latin typeface="Calibri"/>
              </a:defRPr>
            </a:pPr>
            <a:r>
              <a:rPr sz="1900" b="0">
                <a:solidFill>
                  <a:srgbClr val="222222"/>
                </a:solidFill>
                <a:latin typeface="Calibri"/>
              </a:rPr>
              <a:t>Now try a baseball diamond: run at 45 degrees to first base, then three more left turns back to home plate.</a:t>
            </a:r>
          </a:p>
          <a:p>
            <a:pPr algn="l">
              <a:lnSpc>
                <a:spcPct val="100000"/>
              </a:lnSpc>
              <a:spcAft>
                <a:spcPts val="600"/>
              </a:spcAft>
              <a:defRPr sz="1900" b="0">
                <a:solidFill>
                  <a:srgbClr val="222222"/>
                </a:solidFill>
                <a:latin typeface="Calibri"/>
              </a:defRPr>
            </a:pPr>
            <a:r>
              <a:rPr sz="1900" b="0">
                <a:solidFill>
                  <a:srgbClr val="222222"/>
                </a:solidFill>
                <a:latin typeface="Calibri"/>
              </a:rPr>
              <a:t>Nothing in the program changes - it is still drive, turn, drive, turn. The bearings are no longer whole quarter turns, so you need sin and cos to work out where it ends up.</a:t>
            </a:r>
          </a:p>
          <a:p>
            <a:pPr algn="l">
              <a:lnSpc>
                <a:spcPct val="100000"/>
              </a:lnSpc>
              <a:spcAft>
                <a:spcPts val="600"/>
              </a:spcAft>
              <a:defRPr sz="1900" b="0">
                <a:solidFill>
                  <a:srgbClr val="222222"/>
                </a:solidFill>
                <a:latin typeface="Calibri"/>
              </a:defRPr>
            </a:pPr>
            <a:r>
              <a:rPr sz="1900" b="0">
                <a:solidFill>
                  <a:srgbClr val="222222"/>
                </a:solidFill>
                <a:latin typeface="Calibri"/>
              </a:rPr>
              <a:t>Set it up in a spreadsheet: one row per leg, with time, speed, bearing, and the running east and north totals. Plot east against north and you have drawn the path before the vehicle has moved.</a:t>
            </a:r>
          </a:p>
          <a:p>
            <a:pPr algn="l">
              <a:lnSpc>
                <a:spcPct val="100000"/>
              </a:lnSpc>
              <a:spcAft>
                <a:spcPts val="600"/>
              </a:spcAft>
              <a:defRPr sz="1900" b="0">
                <a:solidFill>
                  <a:srgbClr val="222222"/>
                </a:solidFill>
                <a:latin typeface="Calibri"/>
              </a:defRPr>
            </a:pPr>
            <a:r>
              <a:rPr sz="1900" b="0">
                <a:solidFill>
                  <a:srgbClr val="222222"/>
                </a:solidFill>
                <a:latin typeface="Calibri"/>
              </a:rPr>
              <a:t>Then run it, and measure how far off the real one finishes.</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A closed shape should add up to zero east and zero north. Whatever it actually adds up to is your drift, in feet.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Deciding what to do: if, else if, else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30</a:t>
            </a:r>
          </a:p>
        </p:txBody>
      </p:sp>
      <p:sp>
        <p:nvSpPr>
          <p:cNvPr id="6" name="TextBox 5"/>
          <p:cNvSpPr txBox="1"/>
          <p:nvPr/>
        </p:nvSpPr>
        <p:spPr>
          <a:xfrm>
            <a:off x="502920" y="1188720"/>
            <a:ext cx="5649338"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shape of it</a:t>
            </a:r>
          </a:p>
        </p:txBody>
      </p:sp>
      <p:sp>
        <p:nvSpPr>
          <p:cNvPr id="7" name="TextBox 6"/>
          <p:cNvSpPr txBox="1"/>
          <p:nvPr/>
        </p:nvSpPr>
        <p:spPr>
          <a:xfrm>
            <a:off x="502920" y="1700784"/>
            <a:ext cx="5649338" cy="3474720"/>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An IF runs a block only when its test is true, and carries straight on when it is not.</a:t>
            </a:r>
          </a:p>
          <a:p>
            <a:pPr algn="l">
              <a:lnSpc>
                <a:spcPct val="100000"/>
              </a:lnSpc>
              <a:spcAft>
                <a:spcPts val="800"/>
              </a:spcAft>
              <a:defRPr sz="2000" b="0">
                <a:solidFill>
                  <a:srgbClr val="222222"/>
                </a:solidFill>
                <a:latin typeface="Calibri"/>
              </a:defRPr>
            </a:pPr>
            <a:r>
              <a:rPr sz="2000" b="0">
                <a:solidFill>
                  <a:srgbClr val="222222"/>
                </a:solidFill>
                <a:latin typeface="Calibri"/>
              </a:rPr>
              <a:t>Add an ELSE and exactly one of the two blocks runs. Never both, never neither.</a:t>
            </a:r>
          </a:p>
          <a:p>
            <a:pPr algn="l">
              <a:lnSpc>
                <a:spcPct val="100000"/>
              </a:lnSpc>
              <a:spcAft>
                <a:spcPts val="800"/>
              </a:spcAft>
              <a:defRPr sz="2000" b="0">
                <a:solidFill>
                  <a:srgbClr val="222222"/>
                </a:solidFill>
                <a:latin typeface="Calibri"/>
              </a:defRPr>
            </a:pPr>
            <a:r>
              <a:rPr sz="2000" b="0">
                <a:solidFill>
                  <a:srgbClr val="222222"/>
                </a:solidFill>
                <a:latin typeface="Calibri"/>
              </a:rPr>
              <a:t>Chain them with ELSE IF and the FIRST true test wins. The rest are not even looked at, so order matters.</a:t>
            </a:r>
          </a:p>
          <a:p>
            <a:pPr algn="l">
              <a:lnSpc>
                <a:spcPct val="100000"/>
              </a:lnSpc>
              <a:spcAft>
                <a:spcPts val="800"/>
              </a:spcAft>
              <a:defRPr sz="2000" b="0">
                <a:solidFill>
                  <a:srgbClr val="222222"/>
                </a:solidFill>
                <a:latin typeface="Calibri"/>
              </a:defRPr>
            </a:pPr>
            <a:r>
              <a:rPr sz="2000" b="0">
                <a:solidFill>
                  <a:srgbClr val="222222"/>
                </a:solidFill>
                <a:latin typeface="Calibri"/>
              </a:rPr>
              <a:t>A test is anything that comes out true or false: a comparison, a button, a bool.</a:t>
            </a:r>
          </a:p>
        </p:txBody>
      </p:sp>
      <p:sp>
        <p:nvSpPr>
          <p:cNvPr id="8" name="TextBox 7"/>
          <p:cNvSpPr txBox="1"/>
          <p:nvPr/>
        </p:nvSpPr>
        <p:spPr>
          <a:xfrm>
            <a:off x="6609458" y="1188720"/>
            <a:ext cx="507931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Where you have already met one</a:t>
            </a:r>
          </a:p>
        </p:txBody>
      </p:sp>
      <p:sp>
        <p:nvSpPr>
          <p:cNvPr id="9" name="TextBox 8"/>
          <p:cNvSpPr txBox="1"/>
          <p:nvPr/>
        </p:nvSpPr>
        <p:spPr>
          <a:xfrm>
            <a:off x="6609458" y="1700784"/>
            <a:ext cx="5079317" cy="3474720"/>
          </a:xfrm>
          <a:prstGeom prst="rect">
            <a:avLst/>
          </a:prstGeom>
          <a:noFill/>
        </p:spPr>
        <p:txBody>
          <a:bodyPr wrap="square" lIns="0" tIns="0" rIns="0" bIns="0">
            <a:spAutoFit/>
          </a:bodyPr>
          <a:lstStyle/>
          <a:p>
            <a:pPr algn="l">
              <a:lnSpc>
                <a:spcPct val="100000"/>
              </a:lnSpc>
              <a:spcAft>
                <a:spcPts val="800"/>
              </a:spcAft>
              <a:defRPr sz="2000" b="0">
                <a:solidFill>
                  <a:srgbClr val="222222"/>
                </a:solidFill>
                <a:latin typeface="Calibri"/>
              </a:defRPr>
            </a:pPr>
            <a:r>
              <a:rPr sz="2000" b="0">
                <a:solidFill>
                  <a:srgbClr val="222222"/>
                </a:solidFill>
                <a:latin typeface="Calibri"/>
              </a:rPr>
              <a:t>Is the stick inside the deadzone? Then the speed is zero.</a:t>
            </a:r>
          </a:p>
          <a:p>
            <a:pPr algn="l">
              <a:lnSpc>
                <a:spcPct val="100000"/>
              </a:lnSpc>
              <a:spcAft>
                <a:spcPts val="800"/>
              </a:spcAft>
              <a:defRPr sz="2000" b="0">
                <a:solidFill>
                  <a:srgbClr val="222222"/>
                </a:solidFill>
                <a:latin typeface="Calibri"/>
              </a:defRPr>
            </a:pPr>
            <a:r>
              <a:rPr sz="2000" b="0">
                <a:solidFill>
                  <a:srgbClr val="222222"/>
                </a:solidFill>
                <a:latin typeface="Calibri"/>
              </a:rPr>
              <a:t>Is the controller connected? If not, stop the motors.</a:t>
            </a:r>
          </a:p>
          <a:p>
            <a:pPr algn="l">
              <a:lnSpc>
                <a:spcPct val="100000"/>
              </a:lnSpc>
              <a:spcAft>
                <a:spcPts val="800"/>
              </a:spcAft>
              <a:defRPr sz="2000" b="0">
                <a:solidFill>
                  <a:srgbClr val="222222"/>
                </a:solidFill>
                <a:latin typeface="Calibri"/>
              </a:defRPr>
            </a:pPr>
            <a:r>
              <a:rPr sz="2000" b="0">
                <a:solidFill>
                  <a:srgbClr val="222222"/>
                </a:solidFill>
                <a:latin typeface="Calibri"/>
              </a:rPr>
              <a:t>Are the lights on? Then turn them off, otherwise turn them on.</a:t>
            </a:r>
          </a:p>
          <a:p>
            <a:pPr algn="l">
              <a:lnSpc>
                <a:spcPct val="100000"/>
              </a:lnSpc>
              <a:spcAft>
                <a:spcPts val="800"/>
              </a:spcAft>
              <a:defRPr sz="2000" b="0">
                <a:solidFill>
                  <a:srgbClr val="222222"/>
                </a:solidFill>
                <a:latin typeface="Calibri"/>
              </a:defRPr>
            </a:pPr>
            <a:r>
              <a:rPr sz="2000" b="0">
                <a:solidFill>
                  <a:srgbClr val="222222"/>
                </a:solidFill>
                <a:latin typeface="Calibri"/>
              </a:rPr>
              <a:t>Every one of those is a question with a yes and a no, and that is all an if is.</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You will write far more of these than loops. Almost everything a robot does is a decision about a number it just read.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if, else if, else  -  the three shapes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31</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three conditional forms</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50">
                <a:latin typeface="Consolas"/>
              </a:defRPr>
            </a:pPr>
            <a:r>
              <a:rPr sz="1450">
                <a:solidFill>
                  <a:srgbClr val="666666"/>
                </a:solidFill>
                <a:latin typeface="Consolas"/>
              </a:rPr>
              <a:t>// if  -  do it only when the test is true</a:t>
            </a:r>
          </a:p>
          <a:p>
            <a:pPr algn="l">
              <a:lnSpc>
                <a:spcPct val="100000"/>
              </a:lnSpc>
              <a:spcAft>
                <a:spcPts val="0"/>
              </a:spcAft>
              <a:defRPr sz="1450">
                <a:latin typeface="Consolas"/>
              </a:defRPr>
            </a:pPr>
            <a:r>
              <a:rPr sz="1450" b="1">
                <a:solidFill>
                  <a:srgbClr val="0E7C86"/>
                </a:solidFill>
                <a:latin typeface="Consolas"/>
              </a:rPr>
              <a:t>if (speed &gt; MOTOR_MAX) {</a:t>
            </a:r>
          </a:p>
          <a:p>
            <a:pPr algn="l">
              <a:lnSpc>
                <a:spcPct val="100000"/>
              </a:lnSpc>
              <a:spcAft>
                <a:spcPts val="0"/>
              </a:spcAft>
              <a:defRPr sz="1450">
                <a:latin typeface="Consolas"/>
              </a:defRPr>
            </a:pPr>
            <a:r>
              <a:rPr sz="1450">
                <a:solidFill>
                  <a:srgbClr val="222222"/>
                </a:solidFill>
                <a:latin typeface="Consolas"/>
              </a:rPr>
              <a:t>  speed = MOTOR_MAX;</a:t>
            </a:r>
          </a:p>
          <a:p>
            <a:pPr algn="l">
              <a:lnSpc>
                <a:spcPct val="100000"/>
              </a:lnSpc>
              <a:spcAft>
                <a:spcPts val="0"/>
              </a:spcAft>
              <a:defRPr sz="1450">
                <a:latin typeface="Consolas"/>
              </a:defRPr>
            </a:pPr>
            <a:r>
              <a:rPr sz="1450">
                <a:solidFill>
                  <a:srgbClr val="222222"/>
                </a:solidFill>
                <a:latin typeface="Consolas"/>
              </a:rPr>
              <a:t>}</a:t>
            </a:r>
          </a:p>
          <a:p>
            <a:pPr algn="l">
              <a:lnSpc>
                <a:spcPct val="100000"/>
              </a:lnSpc>
              <a:spcAft>
                <a:spcPts val="0"/>
              </a:spcAft>
              <a:defRPr sz="1450">
                <a:latin typeface="Consolas"/>
              </a:defRPr>
            </a:pPr>
            <a:r>
              <a:rPr sz="1450">
                <a:solidFill>
                  <a:srgbClr val="222222"/>
                </a:solidFill>
                <a:latin typeface="Consolas"/>
              </a:rPr>
              <a:t> </a:t>
            </a:r>
          </a:p>
          <a:p>
            <a:pPr algn="l">
              <a:lnSpc>
                <a:spcPct val="100000"/>
              </a:lnSpc>
              <a:spcAft>
                <a:spcPts val="0"/>
              </a:spcAft>
              <a:defRPr sz="1450">
                <a:latin typeface="Consolas"/>
              </a:defRPr>
            </a:pPr>
            <a:r>
              <a:rPr sz="1450">
                <a:solidFill>
                  <a:srgbClr val="666666"/>
                </a:solidFill>
                <a:latin typeface="Consolas"/>
              </a:rPr>
              <a:t>// if / else  -  one or the other, never both</a:t>
            </a:r>
          </a:p>
          <a:p>
            <a:pPr algn="l">
              <a:lnSpc>
                <a:spcPct val="100000"/>
              </a:lnSpc>
              <a:spcAft>
                <a:spcPts val="0"/>
              </a:spcAft>
              <a:defRPr sz="1450">
                <a:latin typeface="Consolas"/>
              </a:defRPr>
            </a:pPr>
            <a:r>
              <a:rPr sz="1450" b="1">
                <a:solidFill>
                  <a:srgbClr val="0E7C86"/>
                </a:solidFill>
                <a:latin typeface="Consolas"/>
              </a:rPr>
              <a:t>if (lightsOn) {</a:t>
            </a:r>
          </a:p>
          <a:p>
            <a:pPr algn="l">
              <a:lnSpc>
                <a:spcPct val="100000"/>
              </a:lnSpc>
              <a:spcAft>
                <a:spcPts val="0"/>
              </a:spcAft>
              <a:defRPr sz="1450">
                <a:latin typeface="Consolas"/>
              </a:defRPr>
            </a:pPr>
            <a:r>
              <a:rPr sz="1450">
                <a:solidFill>
                  <a:srgbClr val="222222"/>
                </a:solidFill>
                <a:latin typeface="Consolas"/>
              </a:rPr>
              <a:t>  headlightsOn();</a:t>
            </a:r>
          </a:p>
          <a:p>
            <a:pPr algn="l">
              <a:lnSpc>
                <a:spcPct val="100000"/>
              </a:lnSpc>
              <a:spcAft>
                <a:spcPts val="0"/>
              </a:spcAft>
              <a:defRPr sz="1450">
                <a:latin typeface="Consolas"/>
              </a:defRPr>
            </a:pPr>
            <a:r>
              <a:rPr sz="1450">
                <a:solidFill>
                  <a:srgbClr val="222222"/>
                </a:solidFill>
                <a:latin typeface="Consolas"/>
              </a:rPr>
              <a:t>} else {</a:t>
            </a:r>
          </a:p>
          <a:p>
            <a:pPr algn="l">
              <a:lnSpc>
                <a:spcPct val="100000"/>
              </a:lnSpc>
              <a:spcAft>
                <a:spcPts val="0"/>
              </a:spcAft>
              <a:defRPr sz="1450">
                <a:latin typeface="Consolas"/>
              </a:defRPr>
            </a:pPr>
            <a:r>
              <a:rPr sz="1450">
                <a:solidFill>
                  <a:srgbClr val="222222"/>
                </a:solidFill>
                <a:latin typeface="Consolas"/>
              </a:rPr>
              <a:t>  allLightsOff();</a:t>
            </a:r>
          </a:p>
          <a:p>
            <a:pPr algn="l">
              <a:lnSpc>
                <a:spcPct val="100000"/>
              </a:lnSpc>
              <a:spcAft>
                <a:spcPts val="0"/>
              </a:spcAft>
              <a:defRPr sz="1450">
                <a:latin typeface="Consolas"/>
              </a:defRPr>
            </a:pPr>
            <a:r>
              <a:rPr sz="1450">
                <a:solidFill>
                  <a:srgbClr val="222222"/>
                </a:solidFill>
                <a:latin typeface="Consolas"/>
              </a:rPr>
              <a:t>}</a:t>
            </a:r>
          </a:p>
          <a:p>
            <a:pPr algn="l">
              <a:lnSpc>
                <a:spcPct val="100000"/>
              </a:lnSpc>
              <a:spcAft>
                <a:spcPts val="0"/>
              </a:spcAft>
              <a:defRPr sz="1450">
                <a:latin typeface="Consolas"/>
              </a:defRPr>
            </a:pPr>
            <a:r>
              <a:rPr sz="1450">
                <a:solidFill>
                  <a:srgbClr val="222222"/>
                </a:solidFill>
                <a:latin typeface="Consolas"/>
              </a:rPr>
              <a:t> </a:t>
            </a:r>
          </a:p>
          <a:p>
            <a:pPr algn="l">
              <a:lnSpc>
                <a:spcPct val="100000"/>
              </a:lnSpc>
              <a:spcAft>
                <a:spcPts val="0"/>
              </a:spcAft>
              <a:defRPr sz="1450">
                <a:latin typeface="Consolas"/>
              </a:defRPr>
            </a:pPr>
            <a:r>
              <a:rPr sz="1450">
                <a:solidFill>
                  <a:srgbClr val="666666"/>
                </a:solidFill>
                <a:latin typeface="Consolas"/>
              </a:rPr>
              <a:t>// else if  -  a chain. The FIRST true one wins.</a:t>
            </a:r>
          </a:p>
          <a:p>
            <a:pPr algn="l">
              <a:lnSpc>
                <a:spcPct val="100000"/>
              </a:lnSpc>
              <a:spcAft>
                <a:spcPts val="0"/>
              </a:spcAft>
              <a:defRPr sz="1450">
                <a:latin typeface="Consolas"/>
              </a:defRPr>
            </a:pPr>
            <a:r>
              <a:rPr sz="1450" b="1">
                <a:solidFill>
                  <a:srgbClr val="0E7C86"/>
                </a:solidFill>
                <a:latin typeface="Consolas"/>
              </a:rPr>
              <a:t>if (duty &gt; 200) {</a:t>
            </a:r>
          </a:p>
          <a:p>
            <a:pPr algn="l">
              <a:lnSpc>
                <a:spcPct val="100000"/>
              </a:lnSpc>
              <a:spcAft>
                <a:spcPts val="0"/>
              </a:spcAft>
              <a:defRPr sz="1450">
                <a:latin typeface="Consolas"/>
              </a:defRPr>
            </a:pPr>
            <a:r>
              <a:rPr sz="1450">
                <a:solidFill>
                  <a:srgbClr val="222222"/>
                </a:solidFill>
                <a:latin typeface="Consolas"/>
              </a:rPr>
              <a:t>  Serial.println("fast");</a:t>
            </a:r>
          </a:p>
          <a:p>
            <a:pPr algn="l">
              <a:lnSpc>
                <a:spcPct val="100000"/>
              </a:lnSpc>
              <a:spcAft>
                <a:spcPts val="0"/>
              </a:spcAft>
              <a:defRPr sz="1450">
                <a:latin typeface="Consolas"/>
              </a:defRPr>
            </a:pPr>
            <a:r>
              <a:rPr sz="1450" b="1">
                <a:solidFill>
                  <a:srgbClr val="0E7C86"/>
                </a:solidFill>
                <a:latin typeface="Consolas"/>
              </a:rPr>
              <a:t>} else if (duty &gt; 60) {</a:t>
            </a:r>
          </a:p>
          <a:p>
            <a:pPr algn="l">
              <a:lnSpc>
                <a:spcPct val="100000"/>
              </a:lnSpc>
              <a:spcAft>
                <a:spcPts val="0"/>
              </a:spcAft>
              <a:defRPr sz="1450">
                <a:latin typeface="Consolas"/>
              </a:defRPr>
            </a:pPr>
            <a:r>
              <a:rPr sz="1450">
                <a:solidFill>
                  <a:srgbClr val="222222"/>
                </a:solidFill>
                <a:latin typeface="Consolas"/>
              </a:rPr>
              <a:t>  Serial.println("moving");</a:t>
            </a:r>
          </a:p>
          <a:p>
            <a:pPr algn="l">
              <a:lnSpc>
                <a:spcPct val="100000"/>
              </a:lnSpc>
              <a:spcAft>
                <a:spcPts val="0"/>
              </a:spcAft>
              <a:defRPr sz="1450">
                <a:latin typeface="Consolas"/>
              </a:defRPr>
            </a:pPr>
            <a:r>
              <a:rPr sz="1450" b="1">
                <a:solidFill>
                  <a:srgbClr val="0E7C86"/>
                </a:solidFill>
                <a:latin typeface="Consolas"/>
              </a:rPr>
              <a:t>} else {</a:t>
            </a:r>
          </a:p>
          <a:p>
            <a:pPr algn="l">
              <a:lnSpc>
                <a:spcPct val="100000"/>
              </a:lnSpc>
              <a:spcAft>
                <a:spcPts val="0"/>
              </a:spcAft>
              <a:defRPr sz="1450">
                <a:latin typeface="Consolas"/>
              </a:defRPr>
            </a:pPr>
            <a:r>
              <a:rPr sz="1450">
                <a:solidFill>
                  <a:srgbClr val="222222"/>
                </a:solidFill>
                <a:latin typeface="Consolas"/>
              </a:rPr>
              <a:t>  Serial.println("stopped");</a:t>
            </a:r>
          </a:p>
          <a:p>
            <a:pPr algn="l">
              <a:lnSpc>
                <a:spcPct val="100000"/>
              </a:lnSpc>
              <a:spcAft>
                <a:spcPts val="0"/>
              </a:spcAft>
              <a:defRPr sz="1450">
                <a:latin typeface="Consolas"/>
              </a:defRPr>
            </a:pPr>
            <a:r>
              <a:rPr sz="145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 compares. = assigns. if (x = 5) compiles, and is always true. This one catches everybody once.</a:t>
            </a:r>
          </a:p>
          <a:p>
            <a:pPr algn="l">
              <a:lnSpc>
                <a:spcPct val="100000"/>
              </a:lnSpc>
              <a:spcAft>
                <a:spcPts val="700"/>
              </a:spcAft>
              <a:defRPr sz="1800" b="0">
                <a:solidFill>
                  <a:srgbClr val="222222"/>
                </a:solidFill>
                <a:latin typeface="Calibri"/>
              </a:defRPr>
            </a:pPr>
            <a:r>
              <a:rPr sz="1800" b="0">
                <a:solidFill>
                  <a:srgbClr val="222222"/>
                </a:solidFill>
                <a:latin typeface="Calibri"/>
              </a:rPr>
              <a:t>An if on its own can run zero times or one time. An if / else always runs exactly one of the two.</a:t>
            </a:r>
          </a:p>
          <a:p>
            <a:pPr algn="l">
              <a:lnSpc>
                <a:spcPct val="100000"/>
              </a:lnSpc>
              <a:spcAft>
                <a:spcPts val="700"/>
              </a:spcAft>
              <a:defRPr sz="1800" b="0">
                <a:solidFill>
                  <a:srgbClr val="222222"/>
                </a:solidFill>
                <a:latin typeface="Calibri"/>
              </a:defRPr>
            </a:pPr>
            <a:r>
              <a:rPr sz="1800" b="0">
                <a:solidFill>
                  <a:srgbClr val="222222"/>
                </a:solidFill>
                <a:latin typeface="Calibri"/>
              </a:rPr>
              <a:t>In a chain, put the NARROWEST test first. Swap the last two here and nothing is ever "fast".</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The braces are optional for a single line. Use them anyway - the bug they prevent is a nasty one.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three kinds of loop in C</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32</a:t>
            </a:r>
          </a:p>
        </p:txBody>
      </p:sp>
      <p:sp>
        <p:nvSpPr>
          <p:cNvPr id="6" name="TextBox 5"/>
          <p:cNvSpPr txBox="1"/>
          <p:nvPr/>
        </p:nvSpPr>
        <p:spPr>
          <a:xfrm>
            <a:off x="502920" y="1188720"/>
            <a:ext cx="11185855" cy="457200"/>
          </a:xfrm>
          <a:prstGeom prst="rect">
            <a:avLst/>
          </a:prstGeom>
          <a:noFill/>
        </p:spPr>
        <p:txBody>
          <a:bodyPr wrap="square" lIns="0" tIns="0" rIns="0" bIns="0">
            <a:spAutoFit/>
          </a:bodyPr>
          <a:lstStyle/>
          <a:p>
            <a:pPr algn="l">
              <a:lnSpc>
                <a:spcPct val="100000"/>
              </a:lnSpc>
              <a:spcAft>
                <a:spcPts val="600"/>
              </a:spcAft>
              <a:defRPr sz="1600" b="0">
                <a:solidFill>
                  <a:srgbClr val="222222"/>
                </a:solidFill>
                <a:latin typeface="Calibri"/>
              </a:defRPr>
            </a:pPr>
            <a:r>
              <a:rPr sz="1600" b="0">
                <a:solidFill>
                  <a:srgbClr val="222222"/>
                </a:solidFill>
                <a:latin typeface="Calibri"/>
              </a:rPr>
              <a:t>You have been using for loops all lesson. There are two more.</a:t>
            </a:r>
          </a:p>
        </p:txBody>
      </p:sp>
      <p:graphicFrame>
        <p:nvGraphicFramePr>
          <p:cNvPr id="7" name="Table 6"/>
          <p:cNvGraphicFramePr>
            <a:graphicFrameLocks noGrp="1"/>
          </p:cNvGraphicFramePr>
          <p:nvPr/>
        </p:nvGraphicFramePr>
        <p:xfrm>
          <a:off x="502920" y="1691640"/>
          <a:ext cx="11185854" cy="3352800"/>
        </p:xfrm>
        <a:graphic>
          <a:graphicData uri="http://schemas.openxmlformats.org/drawingml/2006/table">
            <a:tbl>
              <a:tblPr firstRow="1" bandRow="1">
                <a:tableStyleId>{5C22544A-7EE6-4342-B048-85BDC9FD1C3A}</a:tableStyleId>
              </a:tblPr>
              <a:tblGrid>
                <a:gridCol w="1423654"/>
                <a:gridCol w="2643929"/>
                <a:gridCol w="7118271"/>
              </a:tblGrid>
              <a:tr h="838200">
                <a:tc>
                  <a:txBody>
                    <a:bodyPr/>
                    <a:lstStyle/>
                    <a:p>
                      <a:r>
                        <a:rPr sz="2400" b="1">
                          <a:solidFill>
                            <a:srgbClr val="FFFFFF"/>
                          </a:solidFill>
                          <a:latin typeface="Calibri"/>
                        </a:rPr>
                        <a:t>Loop</a:t>
                      </a:r>
                    </a:p>
                  </a:txBody>
                  <a:tcPr marL="73152" marT="18288" marB="18288">
                    <a:solidFill>
                      <a:srgbClr val="1F3A5F"/>
                    </a:solidFill>
                  </a:tcPr>
                </a:tc>
                <a:tc>
                  <a:txBody>
                    <a:bodyPr/>
                    <a:lstStyle/>
                    <a:p>
                      <a:r>
                        <a:rPr sz="2400" b="1">
                          <a:solidFill>
                            <a:srgbClr val="FFFFFF"/>
                          </a:solidFill>
                          <a:latin typeface="Calibri"/>
                        </a:rPr>
                        <a:t>When the test happens</a:t>
                      </a:r>
                    </a:p>
                  </a:txBody>
                  <a:tcPr marL="73152" marT="18288" marB="18288">
                    <a:solidFill>
                      <a:srgbClr val="1F3A5F"/>
                    </a:solidFill>
                  </a:tcPr>
                </a:tc>
                <a:tc>
                  <a:txBody>
                    <a:bodyPr/>
                    <a:lstStyle/>
                    <a:p>
                      <a:r>
                        <a:rPr sz="2400" b="1">
                          <a:solidFill>
                            <a:srgbClr val="FFFFFF"/>
                          </a:solidFill>
                          <a:latin typeface="Calibri"/>
                        </a:rPr>
                        <a:t>Use it when</a:t>
                      </a:r>
                    </a:p>
                  </a:txBody>
                  <a:tcPr marL="73152" marT="18288" marB="18288">
                    <a:solidFill>
                      <a:srgbClr val="1F3A5F"/>
                    </a:solidFill>
                  </a:tcPr>
                </a:tc>
              </a:tr>
              <a:tr h="838200">
                <a:tc>
                  <a:txBody>
                    <a:bodyPr/>
                    <a:lstStyle/>
                    <a:p>
                      <a:r>
                        <a:rPr sz="2400">
                          <a:solidFill>
                            <a:srgbClr val="222222"/>
                          </a:solidFill>
                          <a:latin typeface="Calibri"/>
                        </a:rPr>
                        <a:t>for</a:t>
                      </a:r>
                    </a:p>
                  </a:txBody>
                  <a:tcPr marL="73152" marT="18288" marB="18288">
                    <a:solidFill>
                      <a:srgbClr val="FFFFFF"/>
                    </a:solidFill>
                  </a:tcPr>
                </a:tc>
                <a:tc>
                  <a:txBody>
                    <a:bodyPr/>
                    <a:lstStyle/>
                    <a:p>
                      <a:r>
                        <a:rPr sz="2400">
                          <a:solidFill>
                            <a:srgbClr val="222222"/>
                          </a:solidFill>
                          <a:latin typeface="Calibri"/>
                        </a:rPr>
                        <a:t>Before each pass</a:t>
                      </a:r>
                    </a:p>
                  </a:txBody>
                  <a:tcPr marL="73152" marT="18288" marB="18288">
                    <a:solidFill>
                      <a:srgbClr val="FFFFFF"/>
                    </a:solidFill>
                  </a:tcPr>
                </a:tc>
                <a:tc>
                  <a:txBody>
                    <a:bodyPr/>
                    <a:lstStyle/>
                    <a:p>
                      <a:r>
                        <a:rPr sz="2400">
                          <a:solidFill>
                            <a:srgbClr val="222222"/>
                          </a:solidFill>
                          <a:latin typeface="Calibri"/>
                        </a:rPr>
                        <a:t>You know how many times. Stepping through the 32 LEDs, or four sides of a square.</a:t>
                      </a:r>
                    </a:p>
                  </a:txBody>
                  <a:tcPr marL="73152" marT="18288" marB="18288">
                    <a:solidFill>
                      <a:srgbClr val="FFFFFF"/>
                    </a:solidFill>
                  </a:tcPr>
                </a:tc>
              </a:tr>
              <a:tr h="838200">
                <a:tc>
                  <a:txBody>
                    <a:bodyPr/>
                    <a:lstStyle/>
                    <a:p>
                      <a:r>
                        <a:rPr sz="2400">
                          <a:solidFill>
                            <a:srgbClr val="222222"/>
                          </a:solidFill>
                          <a:latin typeface="Calibri"/>
                        </a:rPr>
                        <a:t>while</a:t>
                      </a:r>
                    </a:p>
                  </a:txBody>
                  <a:tcPr marL="73152" marT="18288" marB="18288">
                    <a:solidFill>
                      <a:srgbClr val="EEF3F8"/>
                    </a:solidFill>
                  </a:tcPr>
                </a:tc>
                <a:tc>
                  <a:txBody>
                    <a:bodyPr/>
                    <a:lstStyle/>
                    <a:p>
                      <a:r>
                        <a:rPr sz="2400">
                          <a:solidFill>
                            <a:srgbClr val="222222"/>
                          </a:solidFill>
                          <a:latin typeface="Calibri"/>
                        </a:rPr>
                        <a:t>Before each pass</a:t>
                      </a:r>
                    </a:p>
                  </a:txBody>
                  <a:tcPr marL="73152" marT="18288" marB="18288">
                    <a:solidFill>
                      <a:srgbClr val="EEF3F8"/>
                    </a:solidFill>
                  </a:tcPr>
                </a:tc>
                <a:tc>
                  <a:txBody>
                    <a:bodyPr/>
                    <a:lstStyle/>
                    <a:p>
                      <a:r>
                        <a:rPr sz="2400">
                          <a:solidFill>
                            <a:srgbClr val="222222"/>
                          </a:solidFill>
                          <a:latin typeface="Calibri"/>
                        </a:rPr>
                        <a:t>You do not know how many times. It depends on a condition, and it might not run at all.</a:t>
                      </a:r>
                    </a:p>
                  </a:txBody>
                  <a:tcPr marL="73152" marT="18288" marB="18288">
                    <a:solidFill>
                      <a:srgbClr val="EEF3F8"/>
                    </a:solidFill>
                  </a:tcPr>
                </a:tc>
              </a:tr>
              <a:tr h="838200">
                <a:tc>
                  <a:txBody>
                    <a:bodyPr/>
                    <a:lstStyle/>
                    <a:p>
                      <a:r>
                        <a:rPr sz="2400">
                          <a:solidFill>
                            <a:srgbClr val="222222"/>
                          </a:solidFill>
                          <a:latin typeface="Calibri"/>
                        </a:rPr>
                        <a:t>do-while</a:t>
                      </a:r>
                    </a:p>
                  </a:txBody>
                  <a:tcPr marL="73152" marT="18288" marB="18288">
                    <a:solidFill>
                      <a:srgbClr val="FFFFFF"/>
                    </a:solidFill>
                  </a:tcPr>
                </a:tc>
                <a:tc>
                  <a:txBody>
                    <a:bodyPr/>
                    <a:lstStyle/>
                    <a:p>
                      <a:r>
                        <a:rPr sz="2400">
                          <a:solidFill>
                            <a:srgbClr val="222222"/>
                          </a:solidFill>
                          <a:latin typeface="Calibri"/>
                        </a:rPr>
                        <a:t>After each pass</a:t>
                      </a:r>
                    </a:p>
                  </a:txBody>
                  <a:tcPr marL="73152" marT="18288" marB="18288">
                    <a:solidFill>
                      <a:srgbClr val="FFFFFF"/>
                    </a:solidFill>
                  </a:tcPr>
                </a:tc>
                <a:tc>
                  <a:txBody>
                    <a:bodyPr/>
                    <a:lstStyle/>
                    <a:p>
                      <a:r>
                        <a:rPr sz="2400">
                          <a:solidFill>
                            <a:srgbClr val="222222"/>
                          </a:solidFill>
                          <a:latin typeface="Calibri"/>
                        </a:rPr>
                        <a:t>The body must run at least once, whatever the condition says.</a:t>
                      </a:r>
                    </a:p>
                  </a:txBody>
                  <a:tcPr marL="73152" marT="18288" marB="18288">
                    <a:solidFill>
                      <a:srgbClr val="FFFFFF"/>
                    </a:solidFill>
                  </a:tcPr>
                </a:tc>
              </a:tr>
            </a:tbl>
          </a:graphicData>
        </a:graphic>
      </p:graphicFrame>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Study these three properly. If you genuinely understand when to reach for each one, you are already a better programmer than the syntax alone would make you.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same job, written three ways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33</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the three loop forms</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500">
                <a:latin typeface="Consolas"/>
              </a:defRPr>
            </a:pPr>
            <a:r>
              <a:rPr sz="1500">
                <a:solidFill>
                  <a:srgbClr val="666666"/>
                </a:solidFill>
                <a:latin typeface="Consolas"/>
              </a:rPr>
              <a:t>// for  -  a known number of passes</a:t>
            </a:r>
          </a:p>
          <a:p>
            <a:pPr algn="l">
              <a:lnSpc>
                <a:spcPct val="100000"/>
              </a:lnSpc>
              <a:spcAft>
                <a:spcPts val="0"/>
              </a:spcAft>
              <a:defRPr sz="1500">
                <a:latin typeface="Consolas"/>
              </a:defRPr>
            </a:pPr>
            <a:r>
              <a:rPr sz="1500" b="1">
                <a:solidFill>
                  <a:srgbClr val="0E7C86"/>
                </a:solidFill>
                <a:latin typeface="Consolas"/>
              </a:rPr>
              <a:t>for (int i = 0; i &lt; 32; i++) {</a:t>
            </a:r>
          </a:p>
          <a:p>
            <a:pPr algn="l">
              <a:lnSpc>
                <a:spcPct val="100000"/>
              </a:lnSpc>
              <a:spcAft>
                <a:spcPts val="0"/>
              </a:spcAft>
              <a:defRPr sz="1500">
                <a:latin typeface="Consolas"/>
              </a:defRPr>
            </a:pPr>
            <a:r>
              <a:rPr sz="1500">
                <a:solidFill>
                  <a:srgbClr val="222222"/>
                </a:solidFill>
                <a:latin typeface="Consolas"/>
              </a:rPr>
              <a:t>  strip.setPixelColor(i, color);</a:t>
            </a:r>
          </a:p>
          <a:p>
            <a:pPr algn="l">
              <a:lnSpc>
                <a:spcPct val="100000"/>
              </a:lnSpc>
              <a:spcAft>
                <a:spcPts val="0"/>
              </a:spcAft>
              <a:defRPr sz="1500">
                <a:latin typeface="Consolas"/>
              </a:defRPr>
            </a:pPr>
            <a:r>
              <a:rPr sz="1500">
                <a:solidFill>
                  <a:srgbClr val="222222"/>
                </a:solidFill>
                <a:latin typeface="Consolas"/>
              </a:rPr>
              <a:t>}</a:t>
            </a:r>
          </a:p>
          <a:p>
            <a:pPr algn="l">
              <a:lnSpc>
                <a:spcPct val="100000"/>
              </a:lnSpc>
              <a:spcAft>
                <a:spcPts val="0"/>
              </a:spcAft>
              <a:defRPr sz="1500">
                <a:latin typeface="Consolas"/>
              </a:defRPr>
            </a:pPr>
            <a:r>
              <a:rPr sz="1500">
                <a:solidFill>
                  <a:srgbClr val="222222"/>
                </a:solidFill>
                <a:latin typeface="Consolas"/>
              </a:rPr>
              <a:t> </a:t>
            </a:r>
          </a:p>
          <a:p>
            <a:pPr algn="l">
              <a:lnSpc>
                <a:spcPct val="100000"/>
              </a:lnSpc>
              <a:spcAft>
                <a:spcPts val="0"/>
              </a:spcAft>
              <a:defRPr sz="1500">
                <a:latin typeface="Consolas"/>
              </a:defRPr>
            </a:pPr>
            <a:r>
              <a:rPr sz="1500">
                <a:solidFill>
                  <a:srgbClr val="666666"/>
                </a:solidFill>
                <a:latin typeface="Consolas"/>
              </a:rPr>
              <a:t>// while  -  keep going until something changes</a:t>
            </a:r>
          </a:p>
          <a:p>
            <a:pPr algn="l">
              <a:lnSpc>
                <a:spcPct val="100000"/>
              </a:lnSpc>
              <a:spcAft>
                <a:spcPts val="0"/>
              </a:spcAft>
              <a:defRPr sz="1500">
                <a:latin typeface="Consolas"/>
              </a:defRPr>
            </a:pPr>
            <a:r>
              <a:rPr sz="1500" b="1">
                <a:solidFill>
                  <a:srgbClr val="0E7C86"/>
                </a:solidFill>
                <a:latin typeface="Consolas"/>
              </a:rPr>
              <a:t>while (!Ps3.isConnected()) {</a:t>
            </a:r>
          </a:p>
          <a:p>
            <a:pPr algn="l">
              <a:lnSpc>
                <a:spcPct val="100000"/>
              </a:lnSpc>
              <a:spcAft>
                <a:spcPts val="0"/>
              </a:spcAft>
              <a:defRPr sz="1500">
                <a:latin typeface="Consolas"/>
              </a:defRPr>
            </a:pPr>
            <a:r>
              <a:rPr sz="1500">
                <a:solidFill>
                  <a:srgbClr val="222222"/>
                </a:solidFill>
                <a:latin typeface="Consolas"/>
              </a:rPr>
              <a:t>  showWaitingLights();        // may never run at all</a:t>
            </a:r>
          </a:p>
          <a:p>
            <a:pPr algn="l">
              <a:lnSpc>
                <a:spcPct val="100000"/>
              </a:lnSpc>
              <a:spcAft>
                <a:spcPts val="0"/>
              </a:spcAft>
              <a:defRPr sz="1500">
                <a:latin typeface="Consolas"/>
              </a:defRPr>
            </a:pPr>
            <a:r>
              <a:rPr sz="1500">
                <a:solidFill>
                  <a:srgbClr val="222222"/>
                </a:solidFill>
                <a:latin typeface="Consolas"/>
              </a:rPr>
              <a:t>}</a:t>
            </a:r>
          </a:p>
          <a:p>
            <a:pPr algn="l">
              <a:lnSpc>
                <a:spcPct val="100000"/>
              </a:lnSpc>
              <a:spcAft>
                <a:spcPts val="0"/>
              </a:spcAft>
              <a:defRPr sz="1500">
                <a:latin typeface="Consolas"/>
              </a:defRPr>
            </a:pPr>
            <a:r>
              <a:rPr sz="1500">
                <a:solidFill>
                  <a:srgbClr val="222222"/>
                </a:solidFill>
                <a:latin typeface="Consolas"/>
              </a:rPr>
              <a:t> </a:t>
            </a:r>
          </a:p>
          <a:p>
            <a:pPr algn="l">
              <a:lnSpc>
                <a:spcPct val="100000"/>
              </a:lnSpc>
              <a:spcAft>
                <a:spcPts val="0"/>
              </a:spcAft>
              <a:defRPr sz="1500">
                <a:latin typeface="Consolas"/>
              </a:defRPr>
            </a:pPr>
            <a:r>
              <a:rPr sz="1500">
                <a:solidFill>
                  <a:srgbClr val="666666"/>
                </a:solidFill>
                <a:latin typeface="Consolas"/>
              </a:rPr>
              <a:t>// do-while  -  always at least one pass</a:t>
            </a:r>
          </a:p>
          <a:p>
            <a:pPr algn="l">
              <a:lnSpc>
                <a:spcPct val="100000"/>
              </a:lnSpc>
              <a:spcAft>
                <a:spcPts val="0"/>
              </a:spcAft>
              <a:defRPr sz="1500">
                <a:latin typeface="Consolas"/>
              </a:defRPr>
            </a:pPr>
            <a:r>
              <a:rPr sz="1500" b="1">
                <a:solidFill>
                  <a:srgbClr val="0E7C86"/>
                </a:solidFill>
                <a:latin typeface="Consolas"/>
              </a:rPr>
              <a:t>do {</a:t>
            </a:r>
          </a:p>
          <a:p>
            <a:pPr algn="l">
              <a:lnSpc>
                <a:spcPct val="100000"/>
              </a:lnSpc>
              <a:spcAft>
                <a:spcPts val="0"/>
              </a:spcAft>
              <a:defRPr sz="1500">
                <a:latin typeface="Consolas"/>
              </a:defRPr>
            </a:pPr>
            <a:r>
              <a:rPr sz="1500">
                <a:solidFill>
                  <a:srgbClr val="222222"/>
                </a:solidFill>
                <a:latin typeface="Consolas"/>
              </a:rPr>
              <a:t>  reading = analogRead(PIN);  // take a reading FIRST,</a:t>
            </a:r>
          </a:p>
          <a:p>
            <a:pPr algn="l">
              <a:lnSpc>
                <a:spcPct val="100000"/>
              </a:lnSpc>
              <a:spcAft>
                <a:spcPts val="0"/>
              </a:spcAft>
              <a:defRPr sz="1500">
                <a:latin typeface="Consolas"/>
              </a:defRPr>
            </a:pPr>
            <a:r>
              <a:rPr sz="1500">
                <a:solidFill>
                  <a:srgbClr val="222222"/>
                </a:solidFill>
                <a:latin typeface="Consolas"/>
              </a:rPr>
              <a:t>} while (reading &gt; LIMIT);    // then decide whether to repeat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The for loop is three things in one line: where to start, when to keep going, and what to change each pass.</a:t>
            </a:r>
          </a:p>
          <a:p>
            <a:pPr algn="l">
              <a:lnSpc>
                <a:spcPct val="100000"/>
              </a:lnSpc>
              <a:spcAft>
                <a:spcPts val="700"/>
              </a:spcAft>
              <a:defRPr sz="1800" b="0">
                <a:solidFill>
                  <a:srgbClr val="222222"/>
                </a:solidFill>
                <a:latin typeface="Calibri"/>
              </a:defRPr>
            </a:pPr>
            <a:r>
              <a:rPr sz="1800" b="0">
                <a:solidFill>
                  <a:srgbClr val="222222"/>
                </a:solidFill>
                <a:latin typeface="Calibri"/>
              </a:rPr>
              <a:t>A while loop can run zero times. That is usually what you want when you are waiting for something.</a:t>
            </a:r>
          </a:p>
          <a:p>
            <a:pPr algn="l">
              <a:lnSpc>
                <a:spcPct val="100000"/>
              </a:lnSpc>
              <a:spcAft>
                <a:spcPts val="700"/>
              </a:spcAft>
              <a:defRPr sz="1800" b="0">
                <a:solidFill>
                  <a:srgbClr val="222222"/>
                </a:solidFill>
                <a:latin typeface="Calibri"/>
              </a:defRPr>
            </a:pPr>
            <a:r>
              <a:rPr sz="1800" b="0">
                <a:solidFill>
                  <a:srgbClr val="222222"/>
                </a:solidFill>
                <a:latin typeface="Calibri"/>
              </a:rPr>
              <a:t>A do-while always runs once before it checks. Useful when the test needs a value you have not got yet.</a:t>
            </a:r>
          </a:p>
          <a:p>
            <a:pPr algn="l">
              <a:lnSpc>
                <a:spcPct val="100000"/>
              </a:lnSpc>
              <a:spcAft>
                <a:spcPts val="700"/>
              </a:spcAft>
              <a:defRPr sz="900" b="0">
                <a:solidFill>
                  <a:srgbClr val="222222"/>
                </a:solidFill>
                <a:latin typeface="Calibri"/>
              </a:defRPr>
            </a:pPr>
          </a:p>
          <a:p>
            <a:pPr algn="l">
              <a:lnSpc>
                <a:spcPct val="100000"/>
              </a:lnSpc>
              <a:spcAft>
                <a:spcPts val="700"/>
              </a:spcAft>
              <a:defRPr sz="1800" b="0">
                <a:solidFill>
                  <a:srgbClr val="222222"/>
                </a:solidFill>
                <a:latin typeface="Calibri"/>
              </a:defRPr>
            </a:pPr>
            <a:r>
              <a:rPr sz="1800" b="0">
                <a:solidFill>
                  <a:srgbClr val="222222"/>
                </a:solidFill>
                <a:latin typeface="Calibri"/>
              </a:rPr>
              <a:t>loop() itself is really a while(true) that the Arduino framework writes for you.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l2c_maneuver_square  -  the loop</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34</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l2c_maneuver_square.ino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950">
                <a:latin typeface="Consolas"/>
              </a:defRPr>
            </a:pPr>
            <a:r>
              <a:rPr sz="1950">
                <a:solidFill>
                  <a:srgbClr val="222222"/>
                </a:solidFill>
                <a:latin typeface="Consolas"/>
              </a:rPr>
              <a:t>void loop() {</a:t>
            </a:r>
          </a:p>
          <a:p>
            <a:pPr algn="l">
              <a:lnSpc>
                <a:spcPct val="100000"/>
              </a:lnSpc>
              <a:spcAft>
                <a:spcPts val="0"/>
              </a:spcAft>
              <a:defRPr sz="1950">
                <a:latin typeface="Consolas"/>
              </a:defRPr>
            </a:pPr>
            <a:r>
              <a:rPr sz="1950">
                <a:solidFill>
                  <a:srgbClr val="666666"/>
                </a:solidFill>
                <a:latin typeface="Consolas"/>
              </a:rPr>
              <a:t>  // Four sides and four corners makes a square.</a:t>
            </a:r>
          </a:p>
          <a:p>
            <a:pPr algn="l">
              <a:lnSpc>
                <a:spcPct val="100000"/>
              </a:lnSpc>
              <a:spcAft>
                <a:spcPts val="0"/>
              </a:spcAft>
              <a:defRPr sz="1950">
                <a:latin typeface="Consolas"/>
              </a:defRPr>
            </a:pPr>
            <a:r>
              <a:rPr sz="1950">
                <a:solidFill>
                  <a:srgbClr val="222222"/>
                </a:solidFill>
                <a:latin typeface="Consolas"/>
              </a:rPr>
              <a:t>  for (int corner = 0; corner &lt; 4; corner++) {</a:t>
            </a:r>
          </a:p>
          <a:p>
            <a:pPr algn="l">
              <a:lnSpc>
                <a:spcPct val="100000"/>
              </a:lnSpc>
              <a:spcAft>
                <a:spcPts val="0"/>
              </a:spcAft>
              <a:defRPr sz="1950">
                <a:latin typeface="Consolas"/>
              </a:defRPr>
            </a:pPr>
            <a:r>
              <a:rPr sz="1950">
                <a:solidFill>
                  <a:srgbClr val="222222"/>
                </a:solidFill>
                <a:latin typeface="Consolas"/>
              </a:rPr>
              <a:t>    goForward();</a:t>
            </a:r>
          </a:p>
          <a:p>
            <a:pPr algn="l">
              <a:lnSpc>
                <a:spcPct val="100000"/>
              </a:lnSpc>
              <a:spcAft>
                <a:spcPts val="0"/>
              </a:spcAft>
              <a:defRPr sz="1950">
                <a:latin typeface="Consolas"/>
              </a:defRPr>
            </a:pPr>
            <a:r>
              <a:rPr sz="1950" b="1">
                <a:solidFill>
                  <a:srgbClr val="0E7C86"/>
                </a:solidFill>
                <a:latin typeface="Consolas"/>
              </a:rPr>
              <a:t>    delay(FORWARD_MS);</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spinRight();</a:t>
            </a:r>
          </a:p>
          <a:p>
            <a:pPr algn="l">
              <a:lnSpc>
                <a:spcPct val="100000"/>
              </a:lnSpc>
              <a:spcAft>
                <a:spcPts val="0"/>
              </a:spcAft>
              <a:defRPr sz="1950">
                <a:latin typeface="Consolas"/>
              </a:defRPr>
            </a:pPr>
            <a:r>
              <a:rPr sz="1950" b="1">
                <a:solidFill>
                  <a:srgbClr val="0E7C86"/>
                </a:solidFill>
                <a:latin typeface="Consolas"/>
              </a:rPr>
              <a:t>    delay(TURN_MS);</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a:t>
            </a:r>
          </a:p>
          <a:p>
            <a:pPr algn="l">
              <a:lnSpc>
                <a:spcPct val="100000"/>
              </a:lnSpc>
              <a:spcAft>
                <a:spcPts val="0"/>
              </a:spcAft>
              <a:defRPr sz="1950">
                <a:latin typeface="Consolas"/>
              </a:defRPr>
            </a:pPr>
            <a:r>
              <a:rPr sz="1950">
                <a:solidFill>
                  <a:srgbClr val="222222"/>
                </a:solidFill>
                <a:latin typeface="Consolas"/>
              </a:rPr>
              <a:t>  stopMoving();</a:t>
            </a:r>
          </a:p>
          <a:p>
            <a:pPr algn="l">
              <a:lnSpc>
                <a:spcPct val="100000"/>
              </a:lnSpc>
              <a:spcAft>
                <a:spcPts val="0"/>
              </a:spcAft>
              <a:defRPr sz="1950">
                <a:latin typeface="Consolas"/>
              </a:defRPr>
            </a:pPr>
            <a:r>
              <a:rPr sz="1950">
                <a:solidFill>
                  <a:srgbClr val="222222"/>
                </a:solidFill>
                <a:latin typeface="Consolas"/>
              </a:rPr>
              <a:t>  delay(20000);   // pick your vehicle up</a:t>
            </a:r>
          </a:p>
          <a:p>
            <a:pPr algn="l">
              <a:lnSpc>
                <a:spcPct val="100000"/>
              </a:lnSpc>
              <a:spcAft>
                <a:spcPts val="0"/>
              </a:spcAft>
              <a:defRPr sz="1950">
                <a:latin typeface="Consolas"/>
              </a:defRPr>
            </a:pPr>
            <a:r>
              <a:rPr sz="195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800" b="0">
                <a:solidFill>
                  <a:srgbClr val="222222"/>
                </a:solidFill>
                <a:latin typeface="Calibri"/>
              </a:defRPr>
            </a:pPr>
            <a:r>
              <a:rPr sz="1800" b="0">
                <a:solidFill>
                  <a:srgbClr val="222222"/>
                </a:solidFill>
                <a:latin typeface="Calibri"/>
              </a:rPr>
              <a:t>A for loop repeats a block a fixed number of times. Four sides, four corners.</a:t>
            </a:r>
          </a:p>
          <a:p>
            <a:pPr algn="l">
              <a:lnSpc>
                <a:spcPct val="100000"/>
              </a:lnSpc>
              <a:spcAft>
                <a:spcPts val="700"/>
              </a:spcAft>
              <a:defRPr sz="1800" b="0">
                <a:solidFill>
                  <a:srgbClr val="222222"/>
                </a:solidFill>
                <a:latin typeface="Calibri"/>
              </a:defRPr>
            </a:pPr>
            <a:r>
              <a:rPr sz="1800" b="0">
                <a:solidFill>
                  <a:srgbClr val="222222"/>
                </a:solidFill>
                <a:latin typeface="Calibri"/>
              </a:rPr>
              <a:t>The whole shape is four numbers: DRIVE_SPEED, TURN_SPEED, FORWARD_MS and TURN_MS.</a:t>
            </a:r>
          </a:p>
          <a:p>
            <a:pPr algn="l">
              <a:lnSpc>
                <a:spcPct val="100000"/>
              </a:lnSpc>
              <a:spcAft>
                <a:spcPts val="700"/>
              </a:spcAft>
              <a:defRPr sz="1800" b="0">
                <a:solidFill>
                  <a:srgbClr val="222222"/>
                </a:solidFill>
                <a:latin typeface="Calibri"/>
              </a:defRPr>
            </a:pPr>
            <a:r>
              <a:rPr sz="1800" b="0">
                <a:solidFill>
                  <a:srgbClr val="222222"/>
                </a:solidFill>
                <a:latin typeface="Calibri"/>
              </a:rPr>
              <a:t>TURN_MS is the one you will spend most of your time on. It sets how far round each corner goes.</a:t>
            </a:r>
          </a:p>
          <a:p>
            <a:pPr algn="l">
              <a:lnSpc>
                <a:spcPct val="100000"/>
              </a:lnSpc>
              <a:spcAft>
                <a:spcPts val="700"/>
              </a:spcAft>
              <a:defRPr sz="1800" b="0">
                <a:solidFill>
                  <a:srgbClr val="222222"/>
                </a:solidFill>
                <a:latin typeface="Calibri"/>
              </a:defRPr>
            </a:pPr>
            <a:r>
              <a:rPr sz="1800" b="0">
                <a:solidFill>
                  <a:srgbClr val="222222"/>
                </a:solidFill>
                <a:latin typeface="Calibri"/>
              </a:rPr>
              <a:t>Note the twenty second stop at the end. That is so the program does not immediately start a second square while you are walking toward 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drive a square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35</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l2c_maneuver_square</a:t>
            </a:r>
            <a:r>
              <a:rPr sz="1200">
                <a:solidFill>
                  <a:srgbClr val="FFFFFF"/>
                </a:solidFill>
                <a:latin typeface="Calibri"/>
              </a:rPr>
              <a:t>     (30 minutes)</a:t>
            </a:r>
          </a:p>
        </p:txBody>
      </p:sp>
      <p:sp>
        <p:nvSpPr>
          <p:cNvPr id="7" name="TextBox 6"/>
          <p:cNvSpPr txBox="1"/>
          <p:nvPr/>
        </p:nvSpPr>
        <p:spPr>
          <a:xfrm>
            <a:off x="502920" y="1901952"/>
            <a:ext cx="6249137" cy="3273552"/>
          </a:xfrm>
          <a:prstGeom prst="rect">
            <a:avLst/>
          </a:prstGeom>
          <a:noFill/>
        </p:spPr>
        <p:txBody>
          <a:bodyPr wrap="square" lIns="0" tIns="0" rIns="0" bIns="0">
            <a:spAutoFit/>
          </a:bodyPr>
          <a:lstStyle/>
          <a:p>
            <a:pPr algn="l">
              <a:lnSpc>
                <a:spcPct val="100000"/>
              </a:lnSpc>
              <a:spcAft>
                <a:spcPts val="400"/>
              </a:spcAft>
              <a:defRPr sz="1800" b="0">
                <a:solidFill>
                  <a:srgbClr val="222222"/>
                </a:solidFill>
                <a:latin typeface="Calibri"/>
              </a:defRPr>
            </a:pPr>
            <a:r>
              <a:rPr sz="1800" b="0">
                <a:solidFill>
                  <a:srgbClr val="222222"/>
                </a:solidFill>
                <a:latin typeface="Calibri"/>
              </a:rPr>
              <a:t>1.  Clear three meters square. Bags and feet out.</a:t>
            </a:r>
          </a:p>
          <a:p>
            <a:pPr algn="l">
              <a:lnSpc>
                <a:spcPct val="100000"/>
              </a:lnSpc>
              <a:spcAft>
                <a:spcPts val="400"/>
              </a:spcAft>
              <a:defRPr sz="1800" b="0">
                <a:solidFill>
                  <a:srgbClr val="222222"/>
                </a:solidFill>
                <a:latin typeface="Calibri"/>
              </a:defRPr>
            </a:pPr>
            <a:r>
              <a:rPr sz="1800" b="0">
                <a:solidFill>
                  <a:srgbClr val="222222"/>
                </a:solidFill>
                <a:latin typeface="Calibri"/>
              </a:rPr>
              <a:t>2.  Mark the starting point with tape.</a:t>
            </a:r>
          </a:p>
          <a:p>
            <a:pPr algn="l">
              <a:lnSpc>
                <a:spcPct val="100000"/>
              </a:lnSpc>
              <a:spcAft>
                <a:spcPts val="400"/>
              </a:spcAft>
              <a:defRPr sz="1800" b="0">
                <a:solidFill>
                  <a:srgbClr val="222222"/>
                </a:solidFill>
                <a:latin typeface="Calibri"/>
              </a:defRPr>
            </a:pPr>
            <a:r>
              <a:rPr sz="1800" b="0">
                <a:solidFill>
                  <a:srgbClr val="222222"/>
                </a:solidFill>
                <a:latin typeface="Calibri"/>
              </a:rPr>
              <a:t>3.  Upload. It waits five seconds, then goes.</a:t>
            </a:r>
          </a:p>
          <a:p>
            <a:pPr algn="l">
              <a:lnSpc>
                <a:spcPct val="100000"/>
              </a:lnSpc>
              <a:spcAft>
                <a:spcPts val="400"/>
              </a:spcAft>
              <a:defRPr sz="1800" b="0">
                <a:solidFill>
                  <a:srgbClr val="222222"/>
                </a:solidFill>
                <a:latin typeface="Calibri"/>
              </a:defRPr>
            </a:pPr>
            <a:r>
              <a:rPr sz="1800" b="0">
                <a:solidFill>
                  <a:srgbClr val="222222"/>
                </a:solidFill>
                <a:latin typeface="Calibri"/>
              </a:rPr>
              <a:t>4.  MEASURE one side of the square it actually drove.</a:t>
            </a:r>
          </a:p>
          <a:p>
            <a:pPr algn="l">
              <a:lnSpc>
                <a:spcPct val="100000"/>
              </a:lnSpc>
              <a:spcAft>
                <a:spcPts val="400"/>
              </a:spcAft>
              <a:defRPr sz="1800" b="0">
                <a:solidFill>
                  <a:srgbClr val="222222"/>
                </a:solidFill>
                <a:latin typeface="Calibri"/>
              </a:defRPr>
            </a:pPr>
            <a:r>
              <a:rPr sz="1800" b="0">
                <a:solidFill>
                  <a:srgbClr val="222222"/>
                </a:solidFill>
                <a:latin typeface="Calibri"/>
              </a:rPr>
              <a:t>5.  Speed = side length / (FORWARD_MS / 1000)</a:t>
            </a:r>
          </a:p>
          <a:p>
            <a:pPr algn="l">
              <a:lnSpc>
                <a:spcPct val="100000"/>
              </a:lnSpc>
              <a:spcAft>
                <a:spcPts val="400"/>
              </a:spcAft>
              <a:defRPr sz="1800" b="0">
                <a:solidFill>
                  <a:srgbClr val="222222"/>
                </a:solidFill>
                <a:latin typeface="Calibri"/>
              </a:defRPr>
            </a:pPr>
            <a:r>
              <a:rPr sz="1800" b="0">
                <a:solidFill>
                  <a:srgbClr val="222222"/>
                </a:solidFill>
                <a:latin typeface="Calibri"/>
              </a:rPr>
              <a:t>6.  The corners will not be 90 degrees. Adjust TURN_MS by 25 ms at a time until it comes back to its tape.</a:t>
            </a:r>
          </a:p>
          <a:p>
            <a:pPr algn="l">
              <a:lnSpc>
                <a:spcPct val="100000"/>
              </a:lnSpc>
              <a:spcAft>
                <a:spcPts val="400"/>
              </a:spcAft>
              <a:defRPr sz="1800" b="0">
                <a:solidFill>
                  <a:srgbClr val="222222"/>
                </a:solidFill>
                <a:latin typeface="Calibri"/>
              </a:defRPr>
            </a:pPr>
            <a:r>
              <a:rPr sz="1800" b="0">
                <a:solidFill>
                  <a:srgbClr val="222222"/>
                </a:solidFill>
                <a:latin typeface="Calibri"/>
              </a:rPr>
              <a:t>7.  Change FORWARD_MS and PREDICT the new square before you run it. How close were you?</a:t>
            </a:r>
          </a:p>
        </p:txBody>
      </p:sp>
      <p:sp>
        <p:nvSpPr>
          <p:cNvPr id="8" name="TextBox 7"/>
          <p:cNvSpPr txBox="1"/>
          <p:nvPr/>
        </p:nvSpPr>
        <p:spPr>
          <a:xfrm>
            <a:off x="7163537" y="1901952"/>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7163537" y="2304288"/>
            <a:ext cx="4525238" cy="1049849"/>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Roughly a square. Roughly.</a:t>
            </a:r>
          </a:p>
          <a:p>
            <a:pPr algn="l">
              <a:lnSpc>
                <a:spcPct val="100000"/>
              </a:lnSpc>
              <a:spcAft>
                <a:spcPts val="300"/>
              </a:spcAft>
              <a:defRPr sz="1900" b="0">
                <a:solidFill>
                  <a:srgbClr val="222222"/>
                </a:solidFill>
                <a:latin typeface="Calibri"/>
              </a:defRPr>
            </a:pPr>
            <a:r>
              <a:rPr sz="1900" b="0">
                <a:solidFill>
                  <a:srgbClr val="222222"/>
                </a:solidFill>
                <a:latin typeface="Calibri"/>
              </a:rPr>
              <a:t>It will not close on the first attempt. That is the point, not a failure.</a:t>
            </a:r>
          </a:p>
        </p:txBody>
      </p:sp>
      <p:sp>
        <p:nvSpPr>
          <p:cNvPr id="10" name="TextBox 9"/>
          <p:cNvSpPr txBox="1"/>
          <p:nvPr/>
        </p:nvSpPr>
        <p:spPr>
          <a:xfrm>
            <a:off x="7163537" y="3427289"/>
            <a:ext cx="4525238"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7163537" y="3829625"/>
            <a:ext cx="4525238" cy="1345878"/>
          </a:xfrm>
          <a:prstGeom prst="rect">
            <a:avLst/>
          </a:prstGeom>
          <a:noFill/>
        </p:spPr>
        <p:txBody>
          <a:bodyPr wrap="square" lIns="0" tIns="0" rIns="0" bIns="0">
            <a:spAutoFit/>
          </a:bodyPr>
          <a:lstStyle/>
          <a:p>
            <a:pPr algn="l">
              <a:lnSpc>
                <a:spcPct val="100000"/>
              </a:lnSpc>
              <a:spcAft>
                <a:spcPts val="300"/>
              </a:spcAft>
              <a:defRPr sz="1900" b="0">
                <a:solidFill>
                  <a:srgbClr val="222222"/>
                </a:solidFill>
                <a:latin typeface="Calibri"/>
              </a:defRPr>
            </a:pPr>
            <a:r>
              <a:rPr sz="1900" b="0">
                <a:solidFill>
                  <a:srgbClr val="222222"/>
                </a:solidFill>
                <a:latin typeface="Calibri"/>
              </a:rPr>
              <a:t>What is your vehicle's speed in feet per second?</a:t>
            </a:r>
          </a:p>
          <a:p>
            <a:pPr algn="l">
              <a:lnSpc>
                <a:spcPct val="100000"/>
              </a:lnSpc>
              <a:spcAft>
                <a:spcPts val="300"/>
              </a:spcAft>
              <a:defRPr sz="1900" b="0">
                <a:solidFill>
                  <a:srgbClr val="222222"/>
                </a:solidFill>
                <a:latin typeface="Calibri"/>
              </a:defRPr>
            </a:pPr>
            <a:r>
              <a:rPr sz="1900" b="0">
                <a:solidFill>
                  <a:srgbClr val="222222"/>
                </a:solidFill>
                <a:latin typeface="Calibri"/>
              </a:rPr>
              <a:t>What is its turn rate in degrees per second?</a:t>
            </a:r>
          </a:p>
        </p:txBody>
      </p:sp>
      <p:sp>
        <p:nvSpPr>
          <p:cNvPr id="12" name="Rounded Rectangle 11"/>
          <p:cNvSpPr/>
          <p:nvPr/>
        </p:nvSpPr>
        <p:spPr>
          <a:xfrm>
            <a:off x="502920" y="5303520"/>
            <a:ext cx="11185855" cy="960120"/>
          </a:xfrm>
          <a:prstGeom prst="roundRect">
            <a:avLst>
              <a:gd name="adj" fmla="val 4000"/>
            </a:avLst>
          </a:prstGeom>
          <a:solidFill>
            <a:srgbClr val="FBECEC"/>
          </a:solidFill>
          <a:ln w="12700">
            <a:solidFill>
              <a:srgbClr val="A3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A32A2A"/>
                </a:solidFill>
                <a:latin typeface="Calibri"/>
              </a:rPr>
              <a:t>SAFETY   </a:t>
            </a:r>
            <a:r>
              <a:rPr sz="1800">
                <a:solidFill>
                  <a:srgbClr val="222222"/>
                </a:solidFill>
                <a:latin typeface="Calibri"/>
              </a:rPr>
              <a:t>This one drives on the floor. Know where your power switch is before you upload.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Dead reckoning, and what it cannot do</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000" b="0">
                <a:solidFill>
                  <a:srgbClr val="222222"/>
                </a:solidFill>
                <a:latin typeface="Calibri"/>
              </a:defRPr>
            </a:pPr>
            <a:r>
              <a:rPr sz="2000" b="0">
                <a:solidFill>
                  <a:srgbClr val="222222"/>
                </a:solidFill>
                <a:latin typeface="Calibri"/>
              </a:rPr>
              <a:t>DEAD RECKONING is working out where you are from your speed, your heading and the time, with no outside reference at all. Ships and aircraft navigated this way for centuries, and submersibles still do, because GPS does not work underwater.</a:t>
            </a:r>
          </a:p>
          <a:p>
            <a:pPr algn="l">
              <a:lnSpc>
                <a:spcPct val="100000"/>
              </a:lnSpc>
              <a:spcAft>
                <a:spcPts val="600"/>
              </a:spcAft>
              <a:defRPr sz="2000" b="0">
                <a:solidFill>
                  <a:srgbClr val="222222"/>
                </a:solidFill>
                <a:latin typeface="Calibri"/>
              </a:defRPr>
            </a:pPr>
            <a:r>
              <a:rPr sz="2000" b="0">
                <a:solidFill>
                  <a:srgbClr val="222222"/>
                </a:solidFill>
                <a:latin typeface="Calibri"/>
              </a:rPr>
              <a:t>It DRIFTS. Every small error accumulates and nothing ever corrects it. Yours came from:</a:t>
            </a:r>
          </a:p>
          <a:p>
            <a:pPr lvl="1" algn="l">
              <a:lnSpc>
                <a:spcPct val="100000"/>
              </a:lnSpc>
              <a:spcAft>
                <a:spcPts val="600"/>
              </a:spcAft>
              <a:defRPr sz="2000" b="0">
                <a:solidFill>
                  <a:srgbClr val="222222"/>
                </a:solidFill>
                <a:latin typeface="Calibri"/>
              </a:defRPr>
            </a:pPr>
            <a:r>
              <a:rPr sz="2000" b="0">
                <a:solidFill>
                  <a:srgbClr val="222222"/>
                </a:solidFill>
                <a:latin typeface="Calibri"/>
              </a:rPr>
              <a:t>Battery charge - a fresher pack drives further</a:t>
            </a:r>
          </a:p>
          <a:p>
            <a:pPr lvl="1" algn="l">
              <a:lnSpc>
                <a:spcPct val="100000"/>
              </a:lnSpc>
              <a:spcAft>
                <a:spcPts val="600"/>
              </a:spcAft>
              <a:defRPr sz="2000" b="0">
                <a:solidFill>
                  <a:srgbClr val="222222"/>
                </a:solidFill>
                <a:latin typeface="Calibri"/>
              </a:defRPr>
            </a:pPr>
            <a:r>
              <a:rPr sz="2000" b="0">
                <a:solidFill>
                  <a:srgbClr val="222222"/>
                </a:solidFill>
                <a:latin typeface="Calibri"/>
              </a:rPr>
              <a:t>Floor surface - carpet, tile and concrete all differ</a:t>
            </a:r>
          </a:p>
          <a:p>
            <a:pPr lvl="1" algn="l">
              <a:lnSpc>
                <a:spcPct val="100000"/>
              </a:lnSpc>
              <a:spcAft>
                <a:spcPts val="600"/>
              </a:spcAft>
              <a:defRPr sz="2000" b="0">
                <a:solidFill>
                  <a:srgbClr val="222222"/>
                </a:solidFill>
                <a:latin typeface="Calibri"/>
              </a:defRPr>
            </a:pPr>
            <a:r>
              <a:rPr sz="2000" b="0">
                <a:solidFill>
                  <a:srgbClr val="222222"/>
                </a:solidFill>
                <a:latin typeface="Calibri"/>
              </a:rPr>
              <a:t>Wheel slip in the turns, which skid steering guarantees</a:t>
            </a:r>
          </a:p>
          <a:p>
            <a:pPr lvl="1" algn="l">
              <a:lnSpc>
                <a:spcPct val="100000"/>
              </a:lnSpc>
              <a:spcAft>
                <a:spcPts val="600"/>
              </a:spcAft>
              <a:defRPr sz="2000" b="0">
                <a:solidFill>
                  <a:srgbClr val="222222"/>
                </a:solidFill>
                <a:latin typeface="Calibri"/>
              </a:defRPr>
            </a:pPr>
            <a:r>
              <a:rPr sz="2000" b="0">
                <a:solidFill>
                  <a:srgbClr val="222222"/>
                </a:solidFill>
                <a:latin typeface="Calibri"/>
              </a:rPr>
              <a:t>Motors not perfectly matched to each other</a:t>
            </a:r>
          </a:p>
          <a:p>
            <a:pPr algn="l">
              <a:lnSpc>
                <a:spcPct val="100000"/>
              </a:lnSpc>
              <a:spcAft>
                <a:spcPts val="600"/>
              </a:spcAft>
              <a:defRPr sz="2000" b="0">
                <a:solidFill>
                  <a:srgbClr val="222222"/>
                </a:solidFill>
                <a:latin typeface="Calibri"/>
              </a:defRPr>
            </a:pPr>
            <a:r>
              <a:rPr sz="2000" b="0">
                <a:solidFill>
                  <a:srgbClr val="222222"/>
                </a:solidFill>
                <a:latin typeface="Calibri"/>
              </a:rPr>
              <a:t>The fix is a SENSOR that tells you something true about the outside world. That is where the course goes next.</a:t>
            </a:r>
          </a:p>
        </p:txBody>
      </p:sp>
      <p:sp>
        <p:nvSpPr>
          <p:cNvPr id="7" name="Rounded Rectangle 6"/>
          <p:cNvSpPr/>
          <p:nvPr/>
        </p:nvSpPr>
        <p:spPr>
          <a:xfrm>
            <a:off x="502920" y="5303520"/>
            <a:ext cx="11185855" cy="960120"/>
          </a:xfrm>
          <a:prstGeom prst="roundRect">
            <a:avLst>
              <a:gd name="adj" fmla="val 4000"/>
            </a:avLst>
          </a:prstGeom>
          <a:solidFill>
            <a:srgbClr val="FDF3E3"/>
          </a:solidFill>
          <a:ln w="12700">
            <a:solidFill>
              <a:srgbClr val="B46A0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B46A0F"/>
                </a:solidFill>
                <a:latin typeface="Calibri"/>
              </a:rPr>
              <a:t>WATCH OUT   </a:t>
            </a:r>
            <a:r>
              <a:rPr sz="1800">
                <a:solidFill>
                  <a:srgbClr val="222222"/>
                </a:solidFill>
                <a:latin typeface="Calibri"/>
              </a:rPr>
              <a:t>Recharge the battery and run the same numbers again. The square gets bigger. Nothing in the program changed.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Drag race  -  next lesson and the one after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37</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Calibrate first, then race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Mark a start line and a finish line with tape. Measure the distance.</a:t>
            </a:r>
          </a:p>
          <a:p>
            <a:pPr algn="l">
              <a:lnSpc>
                <a:spcPct val="100000"/>
              </a:lnSpc>
              <a:spcAft>
                <a:spcPts val="600"/>
              </a:spcAft>
              <a:defRPr sz="2100" b="0">
                <a:solidFill>
                  <a:srgbClr val="222222"/>
                </a:solidFill>
                <a:latin typeface="Calibri"/>
              </a:defRPr>
            </a:pPr>
            <a:r>
              <a:rPr sz="2100" b="0">
                <a:solidFill>
                  <a:srgbClr val="222222"/>
                </a:solidFill>
                <a:latin typeface="Calibri"/>
              </a:rPr>
              <a:t>Line up two or three vehicles. Hold the reset button until the start signal, then let go.</a:t>
            </a:r>
          </a:p>
          <a:p>
            <a:pPr algn="l">
              <a:lnSpc>
                <a:spcPct val="100000"/>
              </a:lnSpc>
              <a:spcAft>
                <a:spcPts val="600"/>
              </a:spcAft>
              <a:defRPr sz="2100" b="0">
                <a:solidFill>
                  <a:srgbClr val="222222"/>
                </a:solidFill>
                <a:latin typeface="Calibri"/>
              </a:defRPr>
            </a:pPr>
            <a:r>
              <a:rPr sz="2100" b="0">
                <a:solidFill>
                  <a:srgbClr val="222222"/>
                </a:solidFill>
                <a:latin typeface="Calibri"/>
              </a:rPr>
              <a:t>Time from start to crossing the line. Speed = distance / time.</a:t>
            </a:r>
          </a:p>
          <a:p>
            <a:pPr algn="l">
              <a:lnSpc>
                <a:spcPct val="100000"/>
              </a:lnSpc>
              <a:spcAft>
                <a:spcPts val="600"/>
              </a:spcAft>
              <a:defRPr sz="2100" b="0">
                <a:solidFill>
                  <a:srgbClr val="222222"/>
                </a:solidFill>
                <a:latin typeface="Calibri"/>
              </a:defRPr>
            </a:pPr>
            <a:r>
              <a:rPr sz="2100" b="0">
                <a:solidFill>
                  <a:srgbClr val="222222"/>
                </a:solidFill>
                <a:latin typeface="Calibri"/>
              </a:rPr>
              <a:t>First across the line INSIDE the lane wins. Leaving the lane does not.</a:t>
            </a:r>
          </a:p>
          <a:p>
            <a:pPr algn="l">
              <a:lnSpc>
                <a:spcPct val="100000"/>
              </a:lnSpc>
              <a:spcAft>
                <a:spcPts val="600"/>
              </a:spcAft>
              <a:defRPr sz="105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Calibrate: you now know what duty value 255 gives you in feet per second. Try 200 and 150 as well. Is it a straight line?</a:t>
            </a:r>
          </a:p>
          <a:p>
            <a:pPr algn="l">
              <a:lnSpc>
                <a:spcPct val="100000"/>
              </a:lnSpc>
              <a:spcAft>
                <a:spcPts val="600"/>
              </a:spcAft>
              <a:defRPr sz="2100" b="0">
                <a:solidFill>
                  <a:srgbClr val="222222"/>
                </a:solidFill>
                <a:latin typeface="Calibri"/>
              </a:defRPr>
            </a:pPr>
            <a:r>
              <a:rPr sz="2100" b="0">
                <a:solidFill>
                  <a:srgbClr val="222222"/>
                </a:solidFill>
                <a:latin typeface="Calibri"/>
              </a:rPr>
              <a:t>If your vehicle pulls to one side, you can add a short turn correction into the program to straighten it.</a:t>
            </a:r>
          </a:p>
          <a:p>
            <a:pPr algn="l">
              <a:lnSpc>
                <a:spcPct val="100000"/>
              </a:lnSpc>
              <a:spcAft>
                <a:spcPts val="600"/>
              </a:spcAft>
              <a:defRPr sz="2100" b="0">
                <a:solidFill>
                  <a:srgbClr val="222222"/>
                </a:solidFill>
                <a:latin typeface="Calibri"/>
              </a:defRPr>
            </a:pPr>
            <a:r>
              <a:rPr sz="2100" b="0">
                <a:solidFill>
                  <a:srgbClr val="222222"/>
                </a:solidFill>
                <a:latin typeface="Calibri"/>
              </a:rPr>
              <a:t>You can only brake by driving in reverse - try half speed for a short time and see how far it slides.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If you want to go further before the next lesson</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38</a:t>
            </a:r>
          </a:p>
        </p:txBody>
      </p:sp>
      <p:sp>
        <p:nvSpPr>
          <p:cNvPr id="6" name="TextBox 5"/>
          <p:cNvSpPr txBox="1"/>
          <p:nvPr/>
        </p:nvSpPr>
        <p:spPr>
          <a:xfrm>
            <a:off x="502920" y="1188720"/>
            <a:ext cx="5427235"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Watch</a:t>
            </a:r>
          </a:p>
        </p:txBody>
      </p:sp>
      <p:sp>
        <p:nvSpPr>
          <p:cNvPr id="7" name="TextBox 6"/>
          <p:cNvSpPr txBox="1"/>
          <p:nvPr/>
        </p:nvSpPr>
        <p:spPr>
          <a:xfrm>
            <a:off x="502920" y="1700784"/>
            <a:ext cx="5427235"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How PWM works, controlling a motor   (10:10)</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youtube.com/watch?v=5nwNKPs2gco</a:t>
            </a:r>
          </a:p>
          <a:p>
            <a:pPr algn="l">
              <a:lnSpc>
                <a:spcPct val="100000"/>
              </a:lnSpc>
              <a:spcAft>
                <a:spcPts val="800"/>
              </a:spcAft>
              <a:defRPr sz="1800" b="0">
                <a:solidFill>
                  <a:srgbClr val="222222"/>
                </a:solidFill>
                <a:latin typeface="Calibri"/>
              </a:defRPr>
            </a:pPr>
            <a:r>
              <a:rPr sz="1800" b="0">
                <a:solidFill>
                  <a:srgbClr val="222222"/>
                </a:solidFill>
                <a:latin typeface="Calibri"/>
              </a:rPr>
              <a:t>Arduino DC motor control   (11:44)</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youtube.com/watch?v=HtbCL2NruUY</a:t>
            </a:r>
          </a:p>
          <a:p>
            <a:pPr algn="l">
              <a:lnSpc>
                <a:spcPct val="100000"/>
              </a:lnSpc>
              <a:spcAft>
                <a:spcPts val="800"/>
              </a:spcAft>
              <a:defRPr sz="1800" b="0">
                <a:solidFill>
                  <a:srgbClr val="222222"/>
                </a:solidFill>
                <a:latin typeface="Calibri"/>
              </a:defRPr>
            </a:pPr>
            <a:r>
              <a:rPr sz="1800" b="0">
                <a:solidFill>
                  <a:srgbClr val="222222"/>
                </a:solidFill>
                <a:latin typeface="Calibri"/>
              </a:rPr>
              <a:t>Motor speed tutorial with PWM motors   (17:33)</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youtube.com/watch?v=UPTU6nYSaMo</a:t>
            </a:r>
          </a:p>
          <a:p>
            <a:pPr algn="l">
              <a:lnSpc>
                <a:spcPct val="100000"/>
              </a:lnSpc>
              <a:spcAft>
                <a:spcPts val="800"/>
              </a:spcAft>
              <a:defRPr sz="1800" b="0">
                <a:solidFill>
                  <a:srgbClr val="222222"/>
                </a:solidFill>
                <a:latin typeface="Calibri"/>
              </a:defRPr>
            </a:pPr>
            <a:r>
              <a:rPr sz="1800" b="0">
                <a:solidFill>
                  <a:srgbClr val="222222"/>
                </a:solidFill>
                <a:latin typeface="Calibri"/>
              </a:rPr>
              <a:t>Loops in C   (video)</a:t>
            </a:r>
          </a:p>
          <a:p>
            <a:pPr lvl="1" algn="l">
              <a:lnSpc>
                <a:spcPct val="100000"/>
              </a:lnSpc>
              <a:spcAft>
                <a:spcPts val="800"/>
              </a:spcAft>
              <a:defRPr sz="1800" b="0">
                <a:solidFill>
                  <a:srgbClr val="222222"/>
                </a:solidFill>
                <a:latin typeface="Calibri"/>
              </a:defRPr>
            </a:pPr>
            <a:r>
              <a:rPr sz="1800" b="0">
                <a:solidFill>
                  <a:srgbClr val="222222"/>
                </a:solidFill>
                <a:latin typeface="Calibri"/>
              </a:rPr>
              <a:t>youtube.com/watch?v=b4DPj0XAfSg</a:t>
            </a:r>
          </a:p>
        </p:txBody>
      </p:sp>
      <p:sp>
        <p:nvSpPr>
          <p:cNvPr id="8" name="TextBox 7"/>
          <p:cNvSpPr txBox="1"/>
          <p:nvPr/>
        </p:nvSpPr>
        <p:spPr>
          <a:xfrm>
            <a:off x="6387355" y="1188720"/>
            <a:ext cx="5301420"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Read</a:t>
            </a:r>
          </a:p>
        </p:txBody>
      </p:sp>
      <p:sp>
        <p:nvSpPr>
          <p:cNvPr id="9" name="TextBox 8"/>
          <p:cNvSpPr txBox="1"/>
          <p:nvPr/>
        </p:nvSpPr>
        <p:spPr>
          <a:xfrm>
            <a:off x="6387355" y="1700784"/>
            <a:ext cx="5301420" cy="3474720"/>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If statements in C</a:t>
            </a:r>
          </a:p>
          <a:p>
            <a:pPr lvl="1" algn="l">
              <a:lnSpc>
                <a:spcPct val="100000"/>
              </a:lnSpc>
              <a:spcAft>
                <a:spcPts val="800"/>
              </a:spcAft>
              <a:defRPr sz="1900" b="0">
                <a:solidFill>
                  <a:srgbClr val="222222"/>
                </a:solidFill>
                <a:latin typeface="Calibri"/>
              </a:defRPr>
            </a:pPr>
            <a:r>
              <a:rPr sz="1900" b="0">
                <a:solidFill>
                  <a:srgbClr val="222222"/>
                </a:solidFill>
                <a:latin typeface="Calibri"/>
              </a:rPr>
              <a:t>cplusplus.com/doc/tutorial/control/</a:t>
            </a:r>
          </a:p>
          <a:p>
            <a:pPr algn="l">
              <a:lnSpc>
                <a:spcPct val="100000"/>
              </a:lnSpc>
              <a:spcAft>
                <a:spcPts val="800"/>
              </a:spcAft>
              <a:defRPr sz="1900" b="0">
                <a:solidFill>
                  <a:srgbClr val="222222"/>
                </a:solidFill>
                <a:latin typeface="Calibri"/>
              </a:defRPr>
            </a:pPr>
            <a:r>
              <a:rPr sz="1900" b="0">
                <a:solidFill>
                  <a:srgbClr val="222222"/>
                </a:solidFill>
                <a:latin typeface="Calibri"/>
              </a:rPr>
              <a:t>Loops in C, worked through properly</a:t>
            </a:r>
          </a:p>
          <a:p>
            <a:pPr lvl="1" algn="l">
              <a:lnSpc>
                <a:spcPct val="100000"/>
              </a:lnSpc>
              <a:spcAft>
                <a:spcPts val="800"/>
              </a:spcAft>
              <a:defRPr sz="1900" b="0">
                <a:solidFill>
                  <a:srgbClr val="222222"/>
                </a:solidFill>
                <a:latin typeface="Calibri"/>
              </a:defRPr>
            </a:pPr>
            <a:r>
              <a:rPr sz="1900" b="0">
                <a:solidFill>
                  <a:srgbClr val="222222"/>
                </a:solidFill>
                <a:latin typeface="Calibri"/>
              </a:rPr>
              <a:t>geeksforgeeks.org/c/c-loops/</a:t>
            </a:r>
          </a:p>
          <a:p>
            <a:pPr algn="l">
              <a:lnSpc>
                <a:spcPct val="100000"/>
              </a:lnSpc>
              <a:spcAft>
                <a:spcPts val="800"/>
              </a:spcAft>
              <a:defRPr sz="1900" b="0">
                <a:solidFill>
                  <a:srgbClr val="222222"/>
                </a:solidFill>
                <a:latin typeface="Calibri"/>
              </a:defRPr>
            </a:pPr>
            <a:r>
              <a:rPr sz="1900" b="0">
                <a:solidFill>
                  <a:srgbClr val="222222"/>
                </a:solidFill>
                <a:latin typeface="Calibri"/>
              </a:rPr>
              <a:t>Functions</a:t>
            </a:r>
          </a:p>
          <a:p>
            <a:pPr lvl="1" algn="l">
              <a:lnSpc>
                <a:spcPct val="100000"/>
              </a:lnSpc>
              <a:spcAft>
                <a:spcPts val="800"/>
              </a:spcAft>
              <a:defRPr sz="1900" b="0">
                <a:solidFill>
                  <a:srgbClr val="222222"/>
                </a:solidFill>
                <a:latin typeface="Calibri"/>
              </a:defRPr>
            </a:pPr>
            <a:r>
              <a:rPr sz="1900" b="0">
                <a:solidFill>
                  <a:srgbClr val="222222"/>
                </a:solidFill>
                <a:latin typeface="Calibri"/>
              </a:rPr>
              <a:t>cplusplus.com/doc/tutorial/functions/</a:t>
            </a:r>
          </a:p>
          <a:p>
            <a:pPr algn="l">
              <a:lnSpc>
                <a:spcPct val="100000"/>
              </a:lnSpc>
              <a:spcAft>
                <a:spcPts val="800"/>
              </a:spcAft>
              <a:defRPr sz="1900" b="0">
                <a:solidFill>
                  <a:srgbClr val="222222"/>
                </a:solidFill>
                <a:latin typeface="Calibri"/>
              </a:defRPr>
            </a:pPr>
            <a:r>
              <a:rPr sz="1900" b="0">
                <a:solidFill>
                  <a:srgbClr val="222222"/>
                </a:solidFill>
                <a:latin typeface="Calibri"/>
              </a:rPr>
              <a:t>All of this is optional and none of it is examined.</a:t>
            </a:r>
          </a:p>
        </p:txBody>
      </p:sp>
      <p:sp>
        <p:nvSpPr>
          <p:cNvPr id="10" name="Rounded Rectangle 9"/>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800">
                <a:solidFill>
                  <a:srgbClr val="222222"/>
                </a:solidFill>
                <a:latin typeface="Calibri"/>
              </a:rPr>
              <a:t>Watch the PWM video before Lesson 3 if today felt fast. It covers the same ground more slowly, and with an oscilloscope.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Beginner - PS3  |  Lesson 2</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39</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you get to drive it yourself.</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1900" b="0">
                <a:solidFill>
                  <a:srgbClr val="222222"/>
                </a:solidFill>
                <a:latin typeface="Calibri"/>
              </a:defRPr>
            </a:pPr>
            <a:r>
              <a:rPr sz="1900" b="0">
                <a:solidFill>
                  <a:srgbClr val="222222"/>
                </a:solidFill>
                <a:latin typeface="Calibri"/>
              </a:rPr>
              <a:t>1.  Why does each motor need two pins instead of one?</a:t>
            </a:r>
          </a:p>
          <a:p>
            <a:pPr algn="l">
              <a:lnSpc>
                <a:spcPct val="100000"/>
              </a:lnSpc>
              <a:spcAft>
                <a:spcPts val="1100"/>
              </a:spcAft>
              <a:defRPr sz="1900" b="0">
                <a:solidFill>
                  <a:srgbClr val="222222"/>
                </a:solidFill>
                <a:latin typeface="Calibri"/>
              </a:defRPr>
            </a:pPr>
            <a:r>
              <a:rPr sz="1900" b="0">
                <a:solidFill>
                  <a:srgbClr val="222222"/>
                </a:solidFill>
                <a:latin typeface="Calibri"/>
              </a:rPr>
              <a:t>2.  A pin can only be on or off. Explain in one sentence how the vehicle gets a half speed.</a:t>
            </a:r>
          </a:p>
          <a:p>
            <a:pPr algn="l">
              <a:lnSpc>
                <a:spcPct val="100000"/>
              </a:lnSpc>
              <a:spcAft>
                <a:spcPts val="1100"/>
              </a:spcAft>
              <a:defRPr sz="1900" b="0">
                <a:solidFill>
                  <a:srgbClr val="222222"/>
                </a:solidFill>
                <a:latin typeface="Calibri"/>
              </a:defRPr>
            </a:pPr>
            <a:r>
              <a:rPr sz="1900" b="0">
                <a:solidFill>
                  <a:srgbClr val="222222"/>
                </a:solidFill>
                <a:latin typeface="Calibri"/>
              </a:rPr>
              <a:t>3.  What duty value is 25% of full power at 8-bit resolution?</a:t>
            </a:r>
          </a:p>
          <a:p>
            <a:pPr algn="l">
              <a:lnSpc>
                <a:spcPct val="100000"/>
              </a:lnSpc>
              <a:spcAft>
                <a:spcPts val="1100"/>
              </a:spcAft>
              <a:defRPr sz="1900" b="0">
                <a:solidFill>
                  <a:srgbClr val="222222"/>
                </a:solidFill>
                <a:latin typeface="Calibri"/>
              </a:defRPr>
            </a:pPr>
            <a:r>
              <a:rPr sz="1900" b="0">
                <a:solidFill>
                  <a:srgbClr val="222222"/>
                </a:solidFill>
                <a:latin typeface="Calibri"/>
              </a:rPr>
              <a:t>4.  Why do we switch at 20 kHz rather than 300 Hz?</a:t>
            </a:r>
          </a:p>
          <a:p>
            <a:pPr algn="l">
              <a:lnSpc>
                <a:spcPct val="100000"/>
              </a:lnSpc>
              <a:spcAft>
                <a:spcPts val="1100"/>
              </a:spcAft>
              <a:defRPr sz="1900" b="0">
                <a:solidFill>
                  <a:srgbClr val="222222"/>
                </a:solidFill>
                <a:latin typeface="Calibri"/>
              </a:defRPr>
            </a:pPr>
            <a:r>
              <a:rPr sz="1900" b="0">
                <a:solidFill>
                  <a:srgbClr val="222222"/>
                </a:solidFill>
                <a:latin typeface="Calibri"/>
              </a:rPr>
              <a:t>5.  The left wheels get 200 and the right wheels get -200. What does the vehicle do?</a:t>
            </a:r>
          </a:p>
          <a:p>
            <a:pPr algn="l">
              <a:lnSpc>
                <a:spcPct val="100000"/>
              </a:lnSpc>
              <a:spcAft>
                <a:spcPts val="1100"/>
              </a:spcAft>
              <a:defRPr sz="1900" b="0">
                <a:solidFill>
                  <a:srgbClr val="222222"/>
                </a:solidFill>
                <a:latin typeface="Calibri"/>
              </a:defRPr>
            </a:pPr>
            <a:r>
              <a:rPr sz="1900" b="0">
                <a:solidFill>
                  <a:srgbClr val="222222"/>
                </a:solidFill>
                <a:latin typeface="Calibri"/>
              </a:rPr>
              <a:t>6.  Your wheel is 3 inches across. How far does the vehicle travel in one wheel turn?</a:t>
            </a:r>
          </a:p>
          <a:p>
            <a:pPr algn="l">
              <a:lnSpc>
                <a:spcPct val="100000"/>
              </a:lnSpc>
              <a:spcAft>
                <a:spcPts val="1100"/>
              </a:spcAft>
              <a:defRPr sz="1900" b="0">
                <a:solidFill>
                  <a:srgbClr val="222222"/>
                </a:solidFill>
                <a:latin typeface="Calibri"/>
              </a:defRPr>
            </a:pPr>
            <a:r>
              <a:rPr sz="1900" b="0">
                <a:solidFill>
                  <a:srgbClr val="222222"/>
                </a:solidFill>
                <a:latin typeface="Calibri"/>
              </a:rPr>
              <a:t>7.  Your vehicle overshoots every corner, so the square never closes. Which number do you change, and which way?</a:t>
            </a:r>
          </a:p>
          <a:p>
            <a:pPr algn="l">
              <a:lnSpc>
                <a:spcPct val="100000"/>
              </a:lnSpc>
              <a:spcAft>
                <a:spcPts val="1100"/>
              </a:spcAft>
              <a:defRPr sz="1900" b="0">
                <a:solidFill>
                  <a:srgbClr val="222222"/>
                </a:solidFill>
                <a:latin typeface="Calibri"/>
              </a:defRPr>
            </a:pPr>
            <a:r>
              <a:rPr sz="1900" b="0">
                <a:solidFill>
                  <a:srgbClr val="222222"/>
                </a:solidFill>
                <a:latin typeface="Calibri"/>
              </a:rPr>
              <a:t>8.  Give two reasons the same program gives a different square today than it did yesterday.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