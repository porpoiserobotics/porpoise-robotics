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maths objectives and nobody minds, because by the end they will have used the maths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neighbour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maths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maths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behaviour.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1:45</a:t>
                      </a:r>
                    </a:p>
                  </a:txBody>
                  <a:tcPr marL="73152" marT="18288" marB="18288">
                    <a:solidFill>
                      <a:srgbClr val="EEF3F8"/>
                    </a:solidFill>
                  </a:tcPr>
                </a:tc>
                <a:tc>
                  <a:txBody>
                    <a:bodyPr/>
                    <a:lstStyle/>
                    <a:p>
                      <a:r>
                        <a:rPr sz="1400">
                          <a:solidFill>
                            <a:srgbClr val="222222"/>
                          </a:solidFill>
                          <a:latin typeface="Calibri"/>
                        </a:rPr>
                        <a:t>STEM break: Ohm's law, and a circuit on a breadboard</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Tank drive, mixing, and the maths that predicts the square</a:t>
                      </a:r>
                    </a:p>
                  </a:txBody>
                  <a:tcPr marL="73152" marT="18288" marB="18288">
                    <a:solidFill>
                      <a:srgbClr val="EEF3F8"/>
                    </a:solidFill>
                  </a:tcPr>
                </a:tc>
              </a:tr>
              <a:tr h="298450">
                <a:tc>
                  <a:txBody>
                    <a:bodyPr/>
                    <a:lstStyle/>
                    <a:p>
                      <a:r>
                        <a:rPr sz="1400">
                          <a:solidFill>
                            <a:srgbClr val="222222"/>
                          </a:solidFill>
                          <a:latin typeface="Calibri"/>
                        </a:rPr>
                        <a:t>2:40</a:t>
                      </a:r>
                    </a:p>
                  </a:txBody>
                  <a:tcPr marL="73152" marT="18288" marB="18288">
                    <a:solidFill>
                      <a:srgbClr val="FFFFFF"/>
                    </a:solidFill>
                  </a:tcPr>
                </a:tc>
                <a:tc>
                  <a:txBody>
                    <a:bodyPr/>
                    <a:lstStyle/>
                    <a:p>
                      <a:r>
                        <a:rPr sz="1400">
                          <a:solidFill>
                            <a:srgbClr val="222222"/>
                          </a:solidFill>
                          <a:latin typeface="Calibri"/>
                        </a:rPr>
                        <a:t>Clear the floor. Upload l2c_maneuver_square and tune it</a:t>
                      </a:r>
                    </a:p>
                  </a:txBody>
                  <a:tcPr marL="73152" marT="18288" marB="18288">
                    <a:solidFill>
                      <a:srgbClr val="FFFFFF"/>
                    </a:solidFill>
                  </a:tcPr>
                </a:tc>
              </a:tr>
              <a:tr h="298450">
                <a:tc>
                  <a:txBody>
                    <a:bodyPr/>
                    <a:lstStyle/>
                    <a:p>
                      <a:r>
                        <a:rPr sz="1400">
                          <a:solidFill>
                            <a:srgbClr val="222222"/>
                          </a:solidFill>
                          <a:latin typeface="Calibri"/>
                        </a:rPr>
                        <a:t>2:57</a:t>
                      </a:r>
                    </a:p>
                  </a:txBody>
                  <a:tcPr marL="73152" marT="18288" marB="18288">
                    <a:solidFill>
                      <a:srgbClr val="EEF3F8"/>
                    </a:solidFill>
                  </a:tcPr>
                </a:tc>
                <a:tc>
                  <a:txBody>
                    <a:bodyPr/>
                    <a:lstStyle/>
                    <a:p>
                      <a:r>
                        <a:rPr sz="1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4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4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4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Brushless, with an ESC</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More power for the weight, and far longer life - no brushes to wear out.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Electronic Speed Controller to energise three windings in the right order.</a:t>
            </a:r>
          </a:p>
          <a:p>
            <a:pPr algn="l">
              <a:lnSpc>
                <a:spcPct val="100000"/>
              </a:lnSpc>
              <a:spcAft>
                <a:spcPts val="400"/>
              </a:spcAft>
              <a:defRPr sz="1800" b="0">
                <a:solidFill>
                  <a:srgbClr val="222222"/>
                </a:solidFill>
                <a:latin typeface="Calibri"/>
              </a:defRPr>
            </a:pPr>
            <a:r>
              <a:rPr sz="1800" b="0">
                <a:solidFill>
                  <a:srgbClr val="222222"/>
                </a:solidFill>
                <a:latin typeface="Calibri"/>
              </a:rPr>
              <a:t>The ESC takes a throttle signal, not a direction and a speed.</a:t>
            </a:r>
          </a:p>
          <a:p>
            <a:pPr algn="l">
              <a:lnSpc>
                <a:spcPct val="100000"/>
              </a:lnSpc>
              <a:spcAft>
                <a:spcPts val="400"/>
              </a:spcAft>
              <a:defRPr sz="1800" b="0">
                <a:solidFill>
                  <a:srgbClr val="222222"/>
                </a:solidFill>
                <a:latin typeface="Calibri"/>
              </a:defRPr>
            </a:pPr>
            <a:r>
              <a:rPr sz="1800" b="0">
                <a:solidFill>
                  <a:srgbClr val="222222"/>
                </a:solidFill>
                <a:latin typeface="Calibri"/>
              </a:rPr>
              <a:t>Used on drones, and on our larger vehicles.</a:t>
            </a:r>
          </a:p>
          <a:p>
            <a:pPr algn="l">
              <a:lnSpc>
                <a:spcPct val="100000"/>
              </a:lnSpc>
              <a:spcAft>
                <a:spcPts val="400"/>
              </a:spcAft>
              <a:defRPr sz="1800" b="0">
                <a:solidFill>
                  <a:srgbClr val="222222"/>
                </a:solidFill>
                <a:latin typeface="Calibri"/>
              </a:defRPr>
            </a:pPr>
            <a:r>
              <a:rPr sz="18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400"/>
              </a:spcAft>
              <a:defRPr sz="1800" b="0">
                <a:solidFill>
                  <a:srgbClr val="222222"/>
                </a:solidFill>
                <a:latin typeface="Calibri"/>
              </a:defRPr>
            </a:pP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ledcAttach(pin, freq, bits);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ledcWrite(pin, duty);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400"/>
              </a:spcAft>
              <a:defRPr sz="1800" b="0">
                <a:solidFill>
                  <a:srgbClr val="222222"/>
                </a:solidFill>
                <a:latin typeface="Calibri"/>
              </a:defRPr>
            </a:pPr>
            <a:r>
              <a:rPr sz="1800" b="0">
                <a:solidFill>
                  <a:srgbClr val="222222"/>
                </a:solidFill>
                <a:latin typeface="Calibri"/>
              </a:rPr>
              <a:t>Resolution 8 bits. That gives duty values 0 to 255, because 2 to the power 8 is 256.</a:t>
            </a:r>
          </a:p>
          <a:p>
            <a:pPr algn="l">
              <a:lnSpc>
                <a:spcPct val="100000"/>
              </a:lnSpc>
              <a:spcAft>
                <a:spcPts val="400"/>
              </a:spcAft>
              <a:defRPr sz="1800" b="0">
                <a:solidFill>
                  <a:srgbClr val="222222"/>
                </a:solidFill>
                <a:latin typeface="Calibri"/>
              </a:defRPr>
            </a:pPr>
            <a:r>
              <a:rPr sz="1800" b="0">
                <a:solidFill>
                  <a:srgbClr val="222222"/>
                </a:solidFill>
                <a:latin typeface="Calibri"/>
              </a:rPr>
              <a:t>0 is off, 128 is about half power, 255 is flat out.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Only the FRONT LEFT motor is driven, so the vehicle cannot run away while you are still finding out what the numbers do.</a:t>
            </a:r>
          </a:p>
          <a:p>
            <a:pPr algn="l">
              <a:lnSpc>
                <a:spcPct val="100000"/>
              </a:lnSpc>
              <a:spcAft>
                <a:spcPts val="600"/>
              </a:spcAft>
              <a:defRPr sz="1800" b="0">
                <a:solidFill>
                  <a:srgbClr val="222222"/>
                </a:solidFill>
                <a:latin typeface="Calibri"/>
              </a:defRPr>
            </a:pPr>
            <a:r>
              <a:rPr sz="1800" b="0">
                <a:solidFill>
                  <a:srgbClr val="222222"/>
                </a:solidFill>
                <a:latin typeface="Calibri"/>
              </a:rPr>
              <a:t>Direction is which pin you drive.</a:t>
            </a:r>
          </a:p>
          <a:p>
            <a:pPr algn="l">
              <a:lnSpc>
                <a:spcPct val="100000"/>
              </a:lnSpc>
              <a:spcAft>
                <a:spcPts val="600"/>
              </a:spcAft>
              <a:defRPr sz="1800" b="0">
                <a:solidFill>
                  <a:srgbClr val="222222"/>
                </a:solidFill>
                <a:latin typeface="Calibri"/>
              </a:defRPr>
            </a:pPr>
            <a:r>
              <a:rPr sz="1800" b="0">
                <a:solidFill>
                  <a:srgbClr val="222222"/>
                </a:solidFill>
                <a:latin typeface="Calibri"/>
              </a:rPr>
              <a:t>Speed is how hard you drive it.</a:t>
            </a:r>
          </a:p>
          <a:p>
            <a:pPr algn="l">
              <a:lnSpc>
                <a:spcPct val="100000"/>
              </a:lnSpc>
              <a:spcAft>
                <a:spcPts val="600"/>
              </a:spcAft>
              <a:defRPr sz="1800" b="0">
                <a:solidFill>
                  <a:srgbClr val="222222"/>
                </a:solidFill>
                <a:latin typeface="Calibri"/>
              </a:defRPr>
            </a:pPr>
            <a:r>
              <a:rPr sz="18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was your minimum turning speed?</a:t>
            </a:r>
          </a:p>
          <a:p>
            <a:pPr algn="l">
              <a:lnSpc>
                <a:spcPct val="100000"/>
              </a:lnSpc>
              <a:spcAft>
                <a:spcPts val="200"/>
              </a:spcAft>
              <a:defRPr sz="1800" b="0">
                <a:solidFill>
                  <a:srgbClr val="222222"/>
                </a:solidFill>
                <a:latin typeface="Calibri"/>
              </a:defRPr>
            </a:pPr>
            <a:r>
              <a:rPr sz="18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4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4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4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4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4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4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met these in Lesson 1 when you sized the resistor for your LED. Here they are properly.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VOLTAGE (V), in volts. The push. How hard the supply is trying to move charge round the circuit.</a:t>
            </a:r>
          </a:p>
          <a:p>
            <a:pPr algn="l">
              <a:lnSpc>
                <a:spcPct val="100000"/>
              </a:lnSpc>
              <a:spcAft>
                <a:spcPts val="900"/>
              </a:spcAft>
              <a:defRPr sz="1800" b="0">
                <a:solidFill>
                  <a:srgbClr val="222222"/>
                </a:solidFill>
                <a:latin typeface="Calibri"/>
              </a:defRPr>
            </a:pPr>
            <a:r>
              <a:rPr sz="1800" b="0">
                <a:solidFill>
                  <a:srgbClr val="222222"/>
                </a:solidFill>
                <a:latin typeface="Calibri"/>
              </a:rPr>
              <a:t>CURRENT (I), in amps. The flow. How much charge is actually moving past a point each second.</a:t>
            </a:r>
          </a:p>
          <a:p>
            <a:pPr algn="l">
              <a:lnSpc>
                <a:spcPct val="100000"/>
              </a:lnSpc>
              <a:spcAft>
                <a:spcPts val="900"/>
              </a:spcAft>
              <a:defRPr sz="1800" b="0">
                <a:solidFill>
                  <a:srgbClr val="222222"/>
                </a:solidFill>
                <a:latin typeface="Calibri"/>
              </a:defRPr>
            </a:pPr>
            <a:r>
              <a:rPr sz="1800" b="0">
                <a:solidFill>
                  <a:srgbClr val="222222"/>
                </a:solidFill>
                <a:latin typeface="Calibri"/>
              </a:rPr>
              <a:t>RESISTANCE (R), in ohms. The opposition. How much the circuit fights the flow.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V = 12 volts, I = 15 mA.  R = ?</a:t>
            </a:r>
          </a:p>
          <a:p>
            <a:pPr lvl="1" algn="l">
              <a:lnSpc>
                <a:spcPct val="100000"/>
              </a:lnSpc>
              <a:spcAft>
                <a:spcPts val="900"/>
              </a:spcAft>
              <a:defRPr sz="1800" b="0">
                <a:solidFill>
                  <a:srgbClr val="222222"/>
                </a:solidFill>
                <a:latin typeface="Calibri"/>
              </a:defRPr>
            </a:pPr>
            <a:r>
              <a:rPr sz="1800" b="0">
                <a:solidFill>
                  <a:srgbClr val="222222"/>
                </a:solidFill>
                <a:latin typeface="Calibri"/>
              </a:rPr>
              <a:t>     (careful: convert milliamps to amps first)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2.  V = 12 volts, R = 220 ohms.  I =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3.  I = 2 mA, R = 1.5k ohms.  V = ?</a:t>
            </a:r>
          </a:p>
          <a:p>
            <a:pPr lvl="1" algn="l">
              <a:lnSpc>
                <a:spcPct val="100000"/>
              </a:lnSpc>
              <a:spcAft>
                <a:spcPts val="900"/>
              </a:spcAft>
              <a:defRPr sz="1800" b="0">
                <a:solidFill>
                  <a:srgbClr val="222222"/>
                </a:solidFill>
                <a:latin typeface="Calibri"/>
              </a:defRPr>
            </a:pPr>
            <a:r>
              <a:rPr sz="1800" b="0">
                <a:solidFill>
                  <a:srgbClr val="222222"/>
                </a:solidFill>
                <a:latin typeface="Calibri"/>
              </a:rPr>
              <a:t>     (1.5k means 1500 ohms)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4.  Your vehicle's battery is 16 V. A motor stalls and draws 3 amps. What resistance is it presenting?</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SERIES. Your LED circuit from Lesson 1: supply, resistor, LED, back to ground. One loop, one current.</a:t>
            </a:r>
          </a:p>
          <a:p>
            <a:pPr lvl="1" algn="l">
              <a:lnSpc>
                <a:spcPct val="100000"/>
              </a:lnSpc>
              <a:spcAft>
                <a:spcPts val="900"/>
              </a:spcAft>
              <a:defRPr sz="1800" b="0">
                <a:solidFill>
                  <a:srgbClr val="222222"/>
                </a:solidFill>
                <a:latin typeface="Calibri"/>
              </a:defRPr>
            </a:pPr>
            <a:r>
              <a:rPr sz="1800" b="0">
                <a:solidFill>
                  <a:srgbClr val="222222"/>
                </a:solidFill>
                <a:latin typeface="Calibri"/>
              </a:rPr>
              <a:t>Add resistance and the current everywhere drops.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900"/>
              </a:spcAft>
              <a:defRPr sz="1800" b="0">
                <a:solidFill>
                  <a:srgbClr val="222222"/>
                </a:solidFill>
                <a:latin typeface="Calibri"/>
              </a:defRPr>
            </a:pPr>
            <a:r>
              <a:rPr sz="1800" b="0">
                <a:solidFill>
                  <a:srgbClr val="222222"/>
                </a:solidFill>
                <a:latin typeface="Calibri"/>
              </a:rPr>
              <a:t>Four motors at 1.5 A each is 6 A out of the battery.</a:t>
            </a:r>
          </a:p>
          <a:p>
            <a:pPr lvl="1" algn="l">
              <a:lnSpc>
                <a:spcPct val="100000"/>
              </a:lnSpc>
              <a:spcAft>
                <a:spcPts val="900"/>
              </a:spcAft>
              <a:defRPr sz="1800" b="0">
                <a:solidFill>
                  <a:srgbClr val="222222"/>
                </a:solidFill>
                <a:latin typeface="Calibri"/>
              </a:defRPr>
            </a:pPr>
            <a:r>
              <a:rPr sz="1800" b="0">
                <a:solidFill>
                  <a:srgbClr val="222222"/>
                </a:solidFill>
                <a:latin typeface="Calibri"/>
              </a:rPr>
              <a:t>That is why the battery goes flat four times faster with all four driving than with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square is four legs on bearings 0, 90, 180 and 270, which is why you can do it in your head.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6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6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6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6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6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Roughly a square. Roughly.</a:t>
            </a:r>
          </a:p>
          <a:p>
            <a:pPr algn="l">
              <a:lnSpc>
                <a:spcPct val="100000"/>
              </a:lnSpc>
              <a:spcAft>
                <a:spcPts val="200"/>
              </a:spcAft>
              <a:defRPr sz="1800" b="0">
                <a:solidFill>
                  <a:srgbClr val="222222"/>
                </a:solidFill>
                <a:latin typeface="Calibri"/>
              </a:defRPr>
            </a:pPr>
            <a:r>
              <a:rPr sz="18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speed in feet per second?</a:t>
            </a:r>
          </a:p>
          <a:p>
            <a:pPr algn="l">
              <a:lnSpc>
                <a:spcPct val="100000"/>
              </a:lnSpc>
              <a:spcAft>
                <a:spcPts val="200"/>
              </a:spcAft>
              <a:defRPr sz="1800" b="0">
                <a:solidFill>
                  <a:srgbClr val="222222"/>
                </a:solidFill>
                <a:latin typeface="Calibri"/>
              </a:defRPr>
            </a:pPr>
            <a:r>
              <a:rPr sz="1800" b="0">
                <a:solidFill>
                  <a:srgbClr val="222222"/>
                </a:solidFill>
                <a:latin typeface="Calibri"/>
              </a:rPr>
              <a:t>What is its turn rate in degrees per second?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DEAD RECKONING is working out where you are from your speed, your heading and the time - with no outside reference at all.</a:t>
            </a:r>
          </a:p>
          <a:p>
            <a:pPr algn="l">
              <a:lnSpc>
                <a:spcPct val="100000"/>
              </a:lnSpc>
              <a:spcAft>
                <a:spcPts val="900"/>
              </a:spcAft>
              <a:defRPr sz="1800" b="0">
                <a:solidFill>
                  <a:srgbClr val="222222"/>
                </a:solidFill>
                <a:latin typeface="Calibri"/>
              </a:defRPr>
            </a:pPr>
            <a:r>
              <a:rPr sz="1800" b="0">
                <a:solidFill>
                  <a:srgbClr val="222222"/>
                </a:solidFill>
                <a:latin typeface="Calibri"/>
              </a:rPr>
              <a:t>Ships and aircraft navigated this way for centuries. Submersibles still fall back on it, because GPS does not work underwater.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It DRIFTS. Every small error accumulates, and nothing ever corrects it. Errors in your square come from:</a:t>
            </a:r>
          </a:p>
          <a:p>
            <a:pPr lvl="1" algn="l">
              <a:lnSpc>
                <a:spcPct val="100000"/>
              </a:lnSpc>
              <a:spcAft>
                <a:spcPts val="900"/>
              </a:spcAft>
              <a:defRPr sz="1800" b="0">
                <a:solidFill>
                  <a:srgbClr val="222222"/>
                </a:solidFill>
                <a:latin typeface="Calibri"/>
              </a:defRPr>
            </a:pPr>
            <a:r>
              <a:rPr sz="1800" b="0">
                <a:solidFill>
                  <a:srgbClr val="222222"/>
                </a:solidFill>
                <a:latin typeface="Calibri"/>
              </a:rPr>
              <a:t>Battery charge - a fresher pack drives further in the same time</a:t>
            </a:r>
          </a:p>
          <a:p>
            <a:pPr lvl="1" algn="l">
              <a:lnSpc>
                <a:spcPct val="100000"/>
              </a:lnSpc>
              <a:spcAft>
                <a:spcPts val="900"/>
              </a:spcAft>
              <a:defRPr sz="1800" b="0">
                <a:solidFill>
                  <a:srgbClr val="222222"/>
                </a:solidFill>
                <a:latin typeface="Calibri"/>
              </a:defRPr>
            </a:pPr>
            <a:r>
              <a:rPr sz="1800" b="0">
                <a:solidFill>
                  <a:srgbClr val="222222"/>
                </a:solidFill>
                <a:latin typeface="Calibri"/>
              </a:rPr>
              <a:t>Floor surface - carpet, tile and concrete all differ</a:t>
            </a:r>
          </a:p>
          <a:p>
            <a:pPr lvl="1" algn="l">
              <a:lnSpc>
                <a:spcPct val="100000"/>
              </a:lnSpc>
              <a:spcAft>
                <a:spcPts val="900"/>
              </a:spcAft>
              <a:defRPr sz="1800" b="0">
                <a:solidFill>
                  <a:srgbClr val="222222"/>
                </a:solidFill>
                <a:latin typeface="Calibri"/>
              </a:defRPr>
            </a:pPr>
            <a:r>
              <a:rPr sz="1800" b="0">
                <a:solidFill>
                  <a:srgbClr val="222222"/>
                </a:solidFill>
                <a:latin typeface="Calibri"/>
              </a:rPr>
              <a:t>Wheel slip during the turns, which skid steering guarantees</a:t>
            </a:r>
          </a:p>
          <a:p>
            <a:pPr lvl="1" algn="l">
              <a:lnSpc>
                <a:spcPct val="100000"/>
              </a:lnSpc>
              <a:spcAft>
                <a:spcPts val="900"/>
              </a:spcAft>
              <a:defRPr sz="1800" b="0">
                <a:solidFill>
                  <a:srgbClr val="222222"/>
                </a:solidFill>
                <a:latin typeface="Calibri"/>
              </a:defRPr>
            </a:pPr>
            <a:r>
              <a:rPr sz="1800" b="0">
                <a:solidFill>
                  <a:srgbClr val="222222"/>
                </a:solidFill>
                <a:latin typeface="Calibri"/>
              </a:rPr>
              <a:t>Motors that are not perfectly matched to each other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4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Why does each motor need two pins instead of one?</a:t>
            </a:r>
          </a:p>
          <a:p>
            <a:pPr algn="l">
              <a:lnSpc>
                <a:spcPct val="100000"/>
              </a:lnSpc>
              <a:spcAft>
                <a:spcPts val="1000"/>
              </a:spcAft>
              <a:defRPr sz="1800" b="0">
                <a:solidFill>
                  <a:srgbClr val="222222"/>
                </a:solidFill>
                <a:latin typeface="Calibri"/>
              </a:defRPr>
            </a:pPr>
            <a:r>
              <a:rPr sz="1800" b="0">
                <a:solidFill>
                  <a:srgbClr val="222222"/>
                </a:solidFill>
                <a:latin typeface="Calibri"/>
              </a:rPr>
              <a:t>2.  A pin can only be on or off. Explain in one sentence how the vehicle gets a half speed.</a:t>
            </a:r>
          </a:p>
          <a:p>
            <a:pPr algn="l">
              <a:lnSpc>
                <a:spcPct val="100000"/>
              </a:lnSpc>
              <a:spcAft>
                <a:spcPts val="1000"/>
              </a:spcAft>
              <a:defRPr sz="1800" b="0">
                <a:solidFill>
                  <a:srgbClr val="222222"/>
                </a:solidFill>
                <a:latin typeface="Calibri"/>
              </a:defRPr>
            </a:pPr>
            <a:r>
              <a:rPr sz="1800" b="0">
                <a:solidFill>
                  <a:srgbClr val="222222"/>
                </a:solidFill>
                <a:latin typeface="Calibri"/>
              </a:rPr>
              <a:t>3.  What duty value is 25% of full power at 8-bit resolution?</a:t>
            </a:r>
          </a:p>
          <a:p>
            <a:pPr algn="l">
              <a:lnSpc>
                <a:spcPct val="100000"/>
              </a:lnSpc>
              <a:spcAft>
                <a:spcPts val="1000"/>
              </a:spcAft>
              <a:defRPr sz="1800" b="0">
                <a:solidFill>
                  <a:srgbClr val="222222"/>
                </a:solidFill>
                <a:latin typeface="Calibri"/>
              </a:defRPr>
            </a:pPr>
            <a:r>
              <a:rPr sz="1800" b="0">
                <a:solidFill>
                  <a:srgbClr val="222222"/>
                </a:solidFill>
                <a:latin typeface="Calibri"/>
              </a:rPr>
              <a:t>4.  Why do we switch at 20 kHz rather than 300 Hz?</a:t>
            </a:r>
          </a:p>
          <a:p>
            <a:pPr algn="l">
              <a:lnSpc>
                <a:spcPct val="100000"/>
              </a:lnSpc>
              <a:spcAft>
                <a:spcPts val="1000"/>
              </a:spcAft>
              <a:defRPr sz="1800" b="0">
                <a:solidFill>
                  <a:srgbClr val="222222"/>
                </a:solidFill>
                <a:latin typeface="Calibri"/>
              </a:defRPr>
            </a:pPr>
            <a:r>
              <a:rPr sz="1800" b="0">
                <a:solidFill>
                  <a:srgbClr val="222222"/>
                </a:solidFill>
                <a:latin typeface="Calibri"/>
              </a:rPr>
              <a:t>5.  The left wheels get 200 and the right wheels get -200. What does the vehicle do?</a:t>
            </a:r>
          </a:p>
          <a:p>
            <a:pPr algn="l">
              <a:lnSpc>
                <a:spcPct val="100000"/>
              </a:lnSpc>
              <a:spcAft>
                <a:spcPts val="1000"/>
              </a:spcAft>
              <a:defRPr sz="1800" b="0">
                <a:solidFill>
                  <a:srgbClr val="222222"/>
                </a:solidFill>
                <a:latin typeface="Calibri"/>
              </a:defRPr>
            </a:pPr>
            <a:r>
              <a:rPr sz="1800" b="0">
                <a:solidFill>
                  <a:srgbClr val="222222"/>
                </a:solidFill>
                <a:latin typeface="Calibri"/>
              </a:rPr>
              <a:t>6.  Your wheel is 3 inches across. How far does the vehicle travel in one wheel turn?</a:t>
            </a:r>
          </a:p>
          <a:p>
            <a:pPr algn="l">
              <a:lnSpc>
                <a:spcPct val="100000"/>
              </a:lnSpc>
              <a:spcAft>
                <a:spcPts val="1000"/>
              </a:spcAft>
              <a:defRPr sz="1800" b="0">
                <a:solidFill>
                  <a:srgbClr val="222222"/>
                </a:solidFill>
                <a:latin typeface="Calibri"/>
              </a:defRPr>
            </a:pPr>
            <a:r>
              <a:rPr sz="1800" b="0">
                <a:solidFill>
                  <a:srgbClr val="222222"/>
                </a:solidFill>
                <a:latin typeface="Calibri"/>
              </a:rPr>
              <a:t>7.  Your square comes out as a rectangle. Which number is wrong, and which way should you change it?</a:t>
            </a:r>
          </a:p>
          <a:p>
            <a:pPr algn="l">
              <a:lnSpc>
                <a:spcPct val="100000"/>
              </a:lnSpc>
              <a:spcAft>
                <a:spcPts val="1000"/>
              </a:spcAft>
              <a:defRPr sz="1800" b="0">
                <a:solidFill>
                  <a:srgbClr val="222222"/>
                </a:solidFill>
                <a:latin typeface="Calibri"/>
              </a:defRPr>
            </a:pPr>
            <a:r>
              <a:rPr sz="18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