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371600"/>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installed the Arduino IDE, the board package and the libraries.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three parts of a program: the top of the file, setup(), and loop().</a:t>
            </a:r>
          </a:p>
          <a:p>
            <a:pPr algn="l">
              <a:lnSpc>
                <a:spcPct val="100000"/>
              </a:lnSpc>
              <a:spcAft>
                <a:spcPts val="900"/>
              </a:spcAft>
              <a:defRPr sz="1800" b="0">
                <a:solidFill>
                  <a:srgbClr val="222222"/>
                </a:solidFill>
                <a:latin typeface="Calibri"/>
              </a:defRPr>
            </a:pPr>
            <a:r>
              <a:rPr sz="1800" b="0">
                <a:solidFill>
                  <a:srgbClr val="222222"/>
                </a:solidFill>
                <a:latin typeface="Calibri"/>
              </a:rPr>
              <a:t>You can upload a program and read what it prints.</a:t>
            </a:r>
          </a:p>
          <a:p>
            <a:pPr algn="l">
              <a:lnSpc>
                <a:spcPct val="100000"/>
              </a:lnSpc>
              <a:spcAft>
                <a:spcPts val="900"/>
              </a:spcAft>
              <a:defRPr sz="1800" b="0">
                <a:solidFill>
                  <a:srgbClr val="222222"/>
                </a:solidFill>
                <a:latin typeface="Calibri"/>
              </a:defRPr>
            </a:pPr>
            <a:r>
              <a:rPr sz="1800" b="0">
                <a:solidFill>
                  <a:srgbClr val="222222"/>
                </a:solidFill>
                <a:latin typeface="Calibri"/>
              </a:rPr>
              <a:t>You lit one of the 32 LEDs and found out where number 0 is.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slide 22. Then we clear the floor and do it properly.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Two kinds of motor, and how an H-bridge works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Pulse width modulation and duty cycle</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l2a_one_motor. Find your vehicle's minimum speed</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Upload l2b_speed_ramp. Duty against actual speed</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Tank drive, and mixing forward with turn</a:t>
                      </a:r>
                    </a:p>
                  </a:txBody>
                  <a:tcPr marL="73152" marT="18288" marB="18288">
                    <a:solidFill>
                      <a:srgbClr val="EEF3F8"/>
                    </a:solidFill>
                  </a:tcPr>
                </a:tc>
              </a:tr>
              <a:tr h="298450">
                <a:tc>
                  <a:txBody>
                    <a:bodyPr/>
                    <a:lstStyle/>
                    <a:p>
                      <a:r>
                        <a:rPr sz="1400">
                          <a:solidFill>
                            <a:srgbClr val="222222"/>
                          </a:solidFill>
                          <a:latin typeface="Calibri"/>
                        </a:rPr>
                        <a:t>2:10</a:t>
                      </a:r>
                    </a:p>
                  </a:txBody>
                  <a:tcPr marL="73152" marT="18288" marB="18288">
                    <a:solidFill>
                      <a:srgbClr val="FFFFFF"/>
                    </a:solidFill>
                  </a:tcPr>
                </a:tc>
                <a:tc>
                  <a:txBody>
                    <a:bodyPr/>
                    <a:lstStyle/>
                    <a:p>
                      <a:r>
                        <a:rPr sz="1400">
                          <a:solidFill>
                            <a:srgbClr val="222222"/>
                          </a:solidFill>
                          <a:latin typeface="Calibri"/>
                        </a:rPr>
                        <a:t>The maths: circumference, speed, distance, turn rate</a:t>
                      </a:r>
                    </a:p>
                  </a:txBody>
                  <a:tcPr marL="73152" marT="18288" marB="18288">
                    <a:solidFill>
                      <a:srgbClr val="FFFFFF"/>
                    </a:solidFill>
                  </a:tcPr>
                </a:tc>
              </a:tr>
              <a:tr h="298450">
                <a:tc>
                  <a:txBody>
                    <a:bodyPr/>
                    <a:lstStyle/>
                    <a:p>
                      <a:r>
                        <a:rPr sz="1400">
                          <a:solidFill>
                            <a:srgbClr val="222222"/>
                          </a:solidFill>
                          <a:latin typeface="Calibri"/>
                        </a:rPr>
                        <a:t>2:35</a:t>
                      </a:r>
                    </a:p>
                  </a:txBody>
                  <a:tcPr marL="73152" marT="18288" marB="18288">
                    <a:solidFill>
                      <a:srgbClr val="EEF3F8"/>
                    </a:solidFill>
                  </a:tcPr>
                </a:tc>
                <a:tc>
                  <a:txBody>
                    <a:bodyPr/>
                    <a:lstStyle/>
                    <a:p>
                      <a:r>
                        <a:rPr sz="1400">
                          <a:solidFill>
                            <a:srgbClr val="222222"/>
                          </a:solidFill>
                          <a:latin typeface="Calibri"/>
                        </a:rPr>
                        <a:t>Clear the floor. Upload l2c_maneuver_square and tune it</a:t>
                      </a:r>
                    </a:p>
                  </a:txBody>
                  <a:tcPr marL="73152" marT="18288" marB="18288">
                    <a:solidFill>
                      <a:srgbClr val="EEF3F8"/>
                    </a:solidFill>
                  </a:tcPr>
                </a:tc>
              </a:tr>
              <a:tr h="298450">
                <a:tc>
                  <a:txBody>
                    <a:bodyPr/>
                    <a:lstStyle/>
                    <a:p>
                      <a:r>
                        <a:rPr sz="1400">
                          <a:solidFill>
                            <a:srgbClr val="222222"/>
                          </a:solidFill>
                          <a:latin typeface="Calibri"/>
                        </a:rPr>
                        <a:t>2:55</a:t>
                      </a:r>
                    </a:p>
                  </a:txBody>
                  <a:tcPr marL="73152" marT="18288" marB="18288">
                    <a:solidFill>
                      <a:srgbClr val="FFFFFF"/>
                    </a:solidFill>
                  </a:tcPr>
                </a:tc>
                <a:tc>
                  <a:txBody>
                    <a:bodyPr/>
                    <a:lstStyle/>
                    <a:p>
                      <a:r>
                        <a:rPr sz="1400">
                          <a:solidFill>
                            <a:srgbClr val="222222"/>
                          </a:solidFill>
                          <a:latin typeface="Calibri"/>
                        </a:rPr>
                        <a:t>Sources of error, and what dead reckoning cannot do</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4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4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4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4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Brushless, with an ESC</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More power for the weight, and far longer life - no brushes to wear out.</a:t>
            </a:r>
          </a:p>
          <a:p>
            <a:pPr algn="l">
              <a:lnSpc>
                <a:spcPct val="100000"/>
              </a:lnSpc>
              <a:spcAft>
                <a:spcPts val="400"/>
              </a:spcAft>
              <a:defRPr sz="1800" b="0">
                <a:solidFill>
                  <a:srgbClr val="222222"/>
                </a:solidFill>
                <a:latin typeface="Calibri"/>
              </a:defRPr>
            </a:pPr>
            <a:r>
              <a:rPr sz="1800" b="0">
                <a:solidFill>
                  <a:srgbClr val="222222"/>
                </a:solidFill>
                <a:latin typeface="Calibri"/>
              </a:rPr>
              <a:t>Needs an Electronic Speed Controller to energise three windings in the right order.</a:t>
            </a:r>
          </a:p>
          <a:p>
            <a:pPr algn="l">
              <a:lnSpc>
                <a:spcPct val="100000"/>
              </a:lnSpc>
              <a:spcAft>
                <a:spcPts val="400"/>
              </a:spcAft>
              <a:defRPr sz="1800" b="0">
                <a:solidFill>
                  <a:srgbClr val="222222"/>
                </a:solidFill>
                <a:latin typeface="Calibri"/>
              </a:defRPr>
            </a:pPr>
            <a:r>
              <a:rPr sz="1800" b="0">
                <a:solidFill>
                  <a:srgbClr val="222222"/>
                </a:solidFill>
                <a:latin typeface="Calibri"/>
              </a:rPr>
              <a:t>The ESC takes a throttle signal, not a direction and a speed.</a:t>
            </a:r>
          </a:p>
          <a:p>
            <a:pPr algn="l">
              <a:lnSpc>
                <a:spcPct val="100000"/>
              </a:lnSpc>
              <a:spcAft>
                <a:spcPts val="400"/>
              </a:spcAft>
              <a:defRPr sz="1800" b="0">
                <a:solidFill>
                  <a:srgbClr val="222222"/>
                </a:solidFill>
                <a:latin typeface="Calibri"/>
              </a:defRPr>
            </a:pPr>
            <a:r>
              <a:rPr sz="1800" b="0">
                <a:solidFill>
                  <a:srgbClr val="222222"/>
                </a:solidFill>
                <a:latin typeface="Calibri"/>
              </a:rPr>
              <a:t>Used on drones, and on our larger vehicles.</a:t>
            </a:r>
          </a:p>
          <a:p>
            <a:pPr algn="l">
              <a:lnSpc>
                <a:spcPct val="100000"/>
              </a:lnSpc>
              <a:spcAft>
                <a:spcPts val="400"/>
              </a:spcAft>
              <a:defRPr sz="1800" b="0">
                <a:solidFill>
                  <a:srgbClr val="222222"/>
                </a:solidFill>
                <a:latin typeface="Calibri"/>
              </a:defRPr>
            </a:pPr>
            <a:r>
              <a:rPr sz="18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1492250"/>
        </p:xfrm>
        <a:graphic>
          <a:graphicData uri="http://schemas.openxmlformats.org/drawingml/2006/table">
            <a:tbl>
              <a:tblPr firstRow="1" bandRow="1">
                <a:tableStyleId>{5C22544A-7EE6-4342-B048-85BDC9FD1C3A}</a:tableStyleId>
              </a:tblPr>
              <a:tblGrid>
                <a:gridCol w="3355756"/>
                <a:gridCol w="1677878"/>
                <a:gridCol w="1677878"/>
                <a:gridCol w="4474342"/>
              </a:tblGrid>
              <a:tr h="298450">
                <a:tc>
                  <a:txBody>
                    <a:bodyPr/>
                    <a:lstStyle/>
                    <a:p>
                      <a:r>
                        <a:rPr sz="1400" b="1">
                          <a:solidFill>
                            <a:srgbClr val="FFFFFF"/>
                          </a:solidFill>
                          <a:latin typeface="Calibri"/>
                        </a:rPr>
                        <a:t>Motor</a:t>
                      </a:r>
                    </a:p>
                  </a:txBody>
                  <a:tcPr marL="73152" marT="18288" marB="18288">
                    <a:solidFill>
                      <a:srgbClr val="1F3A5F"/>
                    </a:solidFill>
                  </a:tcPr>
                </a:tc>
                <a:tc>
                  <a:txBody>
                    <a:bodyPr/>
                    <a:lstStyle/>
                    <a:p>
                      <a:r>
                        <a:rPr sz="1400" b="1">
                          <a:solidFill>
                            <a:srgbClr val="FFFFFF"/>
                          </a:solidFill>
                          <a:latin typeface="Calibri"/>
                        </a:rPr>
                        <a:t>Pin A</a:t>
                      </a:r>
                    </a:p>
                  </a:txBody>
                  <a:tcPr marL="73152" marT="18288" marB="18288">
                    <a:solidFill>
                      <a:srgbClr val="1F3A5F"/>
                    </a:solidFill>
                  </a:tcPr>
                </a:tc>
                <a:tc>
                  <a:txBody>
                    <a:bodyPr/>
                    <a:lstStyle/>
                    <a:p>
                      <a:r>
                        <a:rPr sz="1400" b="1">
                          <a:solidFill>
                            <a:srgbClr val="FFFFFF"/>
                          </a:solidFill>
                          <a:latin typeface="Calibri"/>
                        </a:rPr>
                        <a:t>Pin B</a:t>
                      </a:r>
                    </a:p>
                  </a:txBody>
                  <a:tcPr marL="73152" marT="18288" marB="18288">
                    <a:solidFill>
                      <a:srgbClr val="1F3A5F"/>
                    </a:solidFill>
                  </a:tcPr>
                </a:tc>
                <a:tc>
                  <a:txBody>
                    <a:bodyPr/>
                    <a:lstStyle/>
                    <a:p>
                      <a:r>
                        <a:rPr sz="1400" b="1">
                          <a:solidFill>
                            <a:srgbClr val="FFFFFF"/>
                          </a:solidFill>
                          <a:latin typeface="Calibri"/>
                        </a:rPr>
                        <a:t>Driving A gives you</a:t>
                      </a:r>
                    </a:p>
                  </a:txBody>
                  <a:tcPr marL="73152" marT="18288" marB="18288">
                    <a:solidFill>
                      <a:srgbClr val="1F3A5F"/>
                    </a:solidFill>
                  </a:tcPr>
                </a:tc>
              </a:tr>
              <a:tr h="298450">
                <a:tc>
                  <a:txBody>
                    <a:bodyPr/>
                    <a:lstStyle/>
                    <a:p>
                      <a:r>
                        <a:rPr sz="1400">
                          <a:solidFill>
                            <a:srgbClr val="222222"/>
                          </a:solidFill>
                          <a:latin typeface="Calibri"/>
                        </a:rPr>
                        <a:t>Front left</a:t>
                      </a:r>
                    </a:p>
                  </a:txBody>
                  <a:tcPr marL="73152" marT="18288" marB="18288">
                    <a:solidFill>
                      <a:srgbClr val="FFFFFF"/>
                    </a:solidFill>
                  </a:tcPr>
                </a:tc>
                <a:tc>
                  <a:txBody>
                    <a:bodyPr/>
                    <a:lstStyle/>
                    <a:p>
                      <a:r>
                        <a:rPr sz="1400">
                          <a:solidFill>
                            <a:srgbClr val="222222"/>
                          </a:solidFill>
                          <a:latin typeface="Calibri"/>
                        </a:rPr>
                        <a:t>12</a:t>
                      </a:r>
                    </a:p>
                  </a:txBody>
                  <a:tcPr marL="73152" marT="18288" marB="18288">
                    <a:solidFill>
                      <a:srgbClr val="FFFFFF"/>
                    </a:solidFill>
                  </a:tcPr>
                </a:tc>
                <a:tc>
                  <a:txBody>
                    <a:bodyPr/>
                    <a:lstStyle/>
                    <a:p>
                      <a:r>
                        <a:rPr sz="1400">
                          <a:solidFill>
                            <a:srgbClr val="222222"/>
                          </a:solidFill>
                          <a:latin typeface="Calibri"/>
                        </a:rPr>
                        <a:t>13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left</a:t>
                      </a:r>
                    </a:p>
                  </a:txBody>
                  <a:tcPr marL="73152" marT="18288" marB="18288">
                    <a:solidFill>
                      <a:srgbClr val="EEF3F8"/>
                    </a:solidFill>
                  </a:tcPr>
                </a:tc>
                <a:tc>
                  <a:txBody>
                    <a:bodyPr/>
                    <a:lstStyle/>
                    <a:p>
                      <a:r>
                        <a:rPr sz="1400">
                          <a:solidFill>
                            <a:srgbClr val="222222"/>
                          </a:solidFill>
                          <a:latin typeface="Calibri"/>
                        </a:rPr>
                        <a:t>18</a:t>
                      </a:r>
                    </a:p>
                  </a:txBody>
                  <a:tcPr marL="73152" marT="18288" marB="18288">
                    <a:solidFill>
                      <a:srgbClr val="EEF3F8"/>
                    </a:solidFill>
                  </a:tcPr>
                </a:tc>
                <a:tc>
                  <a:txBody>
                    <a:bodyPr/>
                    <a:lstStyle/>
                    <a:p>
                      <a:r>
                        <a:rPr sz="1400">
                          <a:solidFill>
                            <a:srgbClr val="222222"/>
                          </a:solidFill>
                          <a:latin typeface="Calibri"/>
                        </a:rPr>
                        <a:t>19</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r h="298450">
                <a:tc>
                  <a:txBody>
                    <a:bodyPr/>
                    <a:lstStyle/>
                    <a:p>
                      <a:r>
                        <a:rPr sz="1400">
                          <a:solidFill>
                            <a:srgbClr val="222222"/>
                          </a:solidFill>
                          <a:latin typeface="Calibri"/>
                        </a:rPr>
                        <a:t>Front right</a:t>
                      </a:r>
                    </a:p>
                  </a:txBody>
                  <a:tcPr marL="73152" marT="18288" marB="18288">
                    <a:solidFill>
                      <a:srgbClr val="FFFFFF"/>
                    </a:solidFill>
                  </a:tcPr>
                </a:tc>
                <a:tc>
                  <a:txBody>
                    <a:bodyPr/>
                    <a:lstStyle/>
                    <a:p>
                      <a:r>
                        <a:rPr sz="1400">
                          <a:solidFill>
                            <a:srgbClr val="222222"/>
                          </a:solidFill>
                          <a:latin typeface="Calibri"/>
                        </a:rPr>
                        <a:t>22</a:t>
                      </a:r>
                    </a:p>
                  </a:txBody>
                  <a:tcPr marL="73152" marT="18288" marB="18288">
                    <a:solidFill>
                      <a:srgbClr val="FFFFFF"/>
                    </a:solidFill>
                  </a:tcPr>
                </a:tc>
                <a:tc>
                  <a:txBody>
                    <a:bodyPr/>
                    <a:lstStyle/>
                    <a:p>
                      <a:r>
                        <a:rPr sz="1400">
                          <a:solidFill>
                            <a:srgbClr val="222222"/>
                          </a:solidFill>
                          <a:latin typeface="Calibri"/>
                        </a:rPr>
                        <a:t>23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right</a:t>
                      </a:r>
                    </a:p>
                  </a:txBody>
                  <a:tcPr marL="73152" marT="18288" marB="18288">
                    <a:solidFill>
                      <a:srgbClr val="EEF3F8"/>
                    </a:solidFill>
                  </a:tcPr>
                </a:tc>
                <a:tc>
                  <a:txBody>
                    <a:bodyPr/>
                    <a:lstStyle/>
                    <a:p>
                      <a:r>
                        <a:rPr sz="1400">
                          <a:solidFill>
                            <a:srgbClr val="222222"/>
                          </a:solidFill>
                          <a:latin typeface="Calibri"/>
                        </a:rPr>
                        <a:t>16</a:t>
                      </a:r>
                    </a:p>
                  </a:txBody>
                  <a:tcPr marL="73152" marT="18288" marB="18288">
                    <a:solidFill>
                      <a:srgbClr val="EEF3F8"/>
                    </a:solidFill>
                  </a:tcPr>
                </a:tc>
                <a:tc>
                  <a:txBody>
                    <a:bodyPr/>
                    <a:lstStyle/>
                    <a:p>
                      <a:r>
                        <a:rPr sz="1400">
                          <a:solidFill>
                            <a:srgbClr val="222222"/>
                          </a:solidFill>
                          <a:latin typeface="Calibri"/>
                        </a:rPr>
                        <a:t>17</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digitalWrite(pin, HIGH) puts 3.3 volts on the pin. LOW puts 0 volts on it. There is nothing in between.</a:t>
            </a:r>
          </a:p>
          <a:p>
            <a:pPr algn="l">
              <a:lnSpc>
                <a:spcPct val="100000"/>
              </a:lnSpc>
              <a:spcAft>
                <a:spcPts val="900"/>
              </a:spcAft>
              <a:defRPr sz="1800" b="0">
                <a:solidFill>
                  <a:srgbClr val="222222"/>
                </a:solidFill>
                <a:latin typeface="Calibri"/>
              </a:defRPr>
            </a:pPr>
            <a:r>
              <a:rPr sz="1800" b="0">
                <a:solidFill>
                  <a:srgbClr val="222222"/>
                </a:solidFill>
                <a:latin typeface="Calibri"/>
              </a:rPr>
              <a:t>So how do you get HALF speed?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900"/>
              </a:spcAft>
              <a:defRPr sz="1800" b="0">
                <a:solidFill>
                  <a:srgbClr val="222222"/>
                </a:solidFill>
                <a:latin typeface="Calibri"/>
              </a:defRPr>
            </a:pPr>
            <a:r>
              <a:rPr sz="1800" b="0">
                <a:solidFill>
                  <a:srgbClr val="222222"/>
                </a:solidFill>
                <a:latin typeface="Calibri"/>
              </a:rPr>
              <a:t>That is PULSE WIDTH MODULATION. The fraction of each cycle that is on is the DUTY CYCLE.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435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92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344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688336"/>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145536"/>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596896"/>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941064"/>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398264"/>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849624"/>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5303519"/>
            <a:ext cx="7498079"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second, so this whole picture happens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two lines you need</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ledcAttach(pin, freq, bits);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ledcWrite(pin, duty);</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This board package lets you talk straight to the pin.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numbers we use, and why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400"/>
              </a:spcAft>
              <a:defRPr sz="1800" b="0">
                <a:solidFill>
                  <a:srgbClr val="222222"/>
                </a:solidFill>
                <a:latin typeface="Calibri"/>
              </a:defRPr>
            </a:pPr>
            <a:r>
              <a:rPr sz="1800" b="0">
                <a:solidFill>
                  <a:srgbClr val="222222"/>
                </a:solidFill>
                <a:latin typeface="Calibri"/>
              </a:rPr>
              <a:t>Resolution 8 bits. That gives duty values 0 to 255, because 2 to the power 8 is 256.</a:t>
            </a:r>
          </a:p>
          <a:p>
            <a:pPr algn="l">
              <a:lnSpc>
                <a:spcPct val="100000"/>
              </a:lnSpc>
              <a:spcAft>
                <a:spcPts val="400"/>
              </a:spcAft>
              <a:defRPr sz="1800" b="0">
                <a:solidFill>
                  <a:srgbClr val="222222"/>
                </a:solidFill>
                <a:latin typeface="Calibri"/>
              </a:defRPr>
            </a:pPr>
            <a:r>
              <a:rPr sz="1800" b="0">
                <a:solidFill>
                  <a:srgbClr val="222222"/>
                </a:solidFill>
                <a:latin typeface="Calibri"/>
              </a:rPr>
              <a:t>0 is off, 128 is about half power, 255 is flat out.</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The advanced program uses 10 bits, 0 to 1023, for finer control at low speed.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ledcWrite(MOTOR_PIN_A, SPEED);   // drive A</a:t>
            </a:r>
          </a:p>
          <a:p>
            <a:pPr algn="l">
              <a:lnSpc>
                <a:spcPct val="100000"/>
              </a:lnSpc>
              <a:spcAft>
                <a:spcPts val="0"/>
              </a:spcAft>
              <a:defRPr sz="1400">
                <a:latin typeface="Consolas"/>
              </a:defRPr>
            </a:pPr>
            <a:r>
              <a:rPr sz="1400">
                <a:solidFill>
                  <a:srgbClr val="222222"/>
                </a:solidFill>
                <a:latin typeface="Consolas"/>
              </a:rPr>
              <a:t>ledcWrite(MOTOR_PIN_B, 0);       // leave B off</a:t>
            </a:r>
          </a:p>
          <a:p>
            <a:pPr algn="l">
              <a:lnSpc>
                <a:spcPct val="100000"/>
              </a:lnSpc>
              <a:spcAft>
                <a:spcPts val="0"/>
              </a:spcAft>
              <a:defRPr sz="1400">
                <a:latin typeface="Consolas"/>
              </a:defRPr>
            </a:pPr>
            <a:r>
              <a:rPr sz="1400">
                <a:solidFill>
                  <a:srgbClr val="666666"/>
                </a:solidFill>
                <a:latin typeface="Consolas"/>
              </a:rPr>
              <a:t>//   -&gt; the motor turns one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SPEED);   // now the other way round</a:t>
            </a:r>
          </a:p>
          <a:p>
            <a:pPr algn="l">
              <a:lnSpc>
                <a:spcPct val="100000"/>
              </a:lnSpc>
              <a:spcAft>
                <a:spcPts val="0"/>
              </a:spcAft>
              <a:defRPr sz="1400">
                <a:latin typeface="Consolas"/>
              </a:defRPr>
            </a:pPr>
            <a:r>
              <a:rPr sz="1400">
                <a:solidFill>
                  <a:srgbClr val="666666"/>
                </a:solidFill>
                <a:latin typeface="Consolas"/>
              </a:rPr>
              <a:t>//   -&gt; the motor turns the other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0);</a:t>
            </a:r>
          </a:p>
          <a:p>
            <a:pPr algn="l">
              <a:lnSpc>
                <a:spcPct val="100000"/>
              </a:lnSpc>
              <a:spcAft>
                <a:spcPts val="0"/>
              </a:spcAft>
              <a:defRPr sz="1400">
                <a:latin typeface="Consolas"/>
              </a:defRPr>
            </a:pPr>
            <a:r>
              <a:rPr sz="14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Only the FRONT LEFT motor is driven, so the vehicle cannot run away while you are still finding out what the numbers do.</a:t>
            </a:r>
          </a:p>
          <a:p>
            <a:pPr algn="l">
              <a:lnSpc>
                <a:spcPct val="100000"/>
              </a:lnSpc>
              <a:spcAft>
                <a:spcPts val="600"/>
              </a:spcAft>
              <a:defRPr sz="1800" b="0">
                <a:solidFill>
                  <a:srgbClr val="222222"/>
                </a:solidFill>
                <a:latin typeface="Calibri"/>
              </a:defRPr>
            </a:pPr>
            <a:r>
              <a:rPr sz="1800" b="0">
                <a:solidFill>
                  <a:srgbClr val="222222"/>
                </a:solidFill>
                <a:latin typeface="Calibri"/>
              </a:rPr>
              <a:t>Direction is which pin you drive.</a:t>
            </a:r>
          </a:p>
          <a:p>
            <a:pPr algn="l">
              <a:lnSpc>
                <a:spcPct val="100000"/>
              </a:lnSpc>
              <a:spcAft>
                <a:spcPts val="600"/>
              </a:spcAft>
              <a:defRPr sz="1800" b="0">
                <a:solidFill>
                  <a:srgbClr val="222222"/>
                </a:solidFill>
                <a:latin typeface="Calibri"/>
              </a:defRPr>
            </a:pPr>
            <a:r>
              <a:rPr sz="1800" b="0">
                <a:solidFill>
                  <a:srgbClr val="222222"/>
                </a:solidFill>
                <a:latin typeface="Calibri"/>
              </a:rPr>
              <a:t>Speed is how hard you drive it.</a:t>
            </a:r>
          </a:p>
          <a:p>
            <a:pPr algn="l">
              <a:lnSpc>
                <a:spcPct val="100000"/>
              </a:lnSpc>
              <a:spcAft>
                <a:spcPts val="600"/>
              </a:spcAft>
              <a:defRPr sz="1800" b="0">
                <a:solidFill>
                  <a:srgbClr val="222222"/>
                </a:solidFill>
                <a:latin typeface="Calibri"/>
              </a:defRPr>
            </a:pPr>
            <a:r>
              <a:rPr sz="1800" b="0">
                <a:solidFill>
                  <a:srgbClr val="222222"/>
                </a:solidFill>
                <a:latin typeface="Calibri"/>
              </a:rPr>
              <a:t>Both off is a coast. Both ON would be a hard brake - the advanced course uses that.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Put the vehicle on a block. Check all four wheels spin free.</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Watch the front left wheel and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3.  Change SPEED from 200 to 60. Upload. Does the wheel still turn?</a:t>
            </a:r>
          </a:p>
          <a:p>
            <a:pPr algn="l">
              <a:lnSpc>
                <a:spcPct val="100000"/>
              </a:lnSpc>
              <a:spcAft>
                <a:spcPts val="400"/>
              </a:spcAft>
              <a:defRPr sz="1800" b="0">
                <a:solidFill>
                  <a:srgbClr val="222222"/>
                </a:solidFill>
                <a:latin typeface="Calibri"/>
              </a:defRPr>
            </a:pPr>
            <a:r>
              <a:rPr sz="1800" b="0">
                <a:solidFill>
                  <a:srgbClr val="222222"/>
                </a:solidFill>
                <a:latin typeface="Calibri"/>
              </a:rPr>
              <a:t>4.  Try 40, then 30, then 20. Find the SMALLEST number that still gets the wheel moving from a standstill. Write it down.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was your minimum turning speed?</a:t>
            </a:r>
          </a:p>
          <a:p>
            <a:pPr algn="l">
              <a:lnSpc>
                <a:spcPct val="100000"/>
              </a:lnSpc>
              <a:spcAft>
                <a:spcPts val="200"/>
              </a:spcAft>
              <a:defRPr sz="1800" b="0">
                <a:solidFill>
                  <a:srgbClr val="222222"/>
                </a:solidFill>
                <a:latin typeface="Calibri"/>
              </a:defRPr>
            </a:pPr>
            <a:r>
              <a:rPr sz="1800" b="0">
                <a:solidFill>
                  <a:srgbClr val="222222"/>
                </a:solidFill>
                <a:latin typeface="Calibri"/>
              </a:rPr>
              <a:t>Compare with another group. Are they the same? Why not?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5.  Swap MOTOR_PIN_A and MOTOR_PIN_B. Upload. What changed?</a:t>
            </a:r>
          </a:p>
          <a:p>
            <a:pPr algn="l">
              <a:lnSpc>
                <a:spcPct val="100000"/>
              </a:lnSpc>
              <a:spcAft>
                <a:spcPts val="400"/>
              </a:spcAft>
              <a:defRPr sz="1800" b="0">
                <a:solidFill>
                  <a:srgbClr val="222222"/>
                </a:solidFill>
                <a:latin typeface="Calibri"/>
              </a:defRPr>
            </a:pPr>
            <a:r>
              <a:rPr sz="1800" b="0">
                <a:solidFill>
                  <a:srgbClr val="222222"/>
                </a:solidFill>
                <a:latin typeface="Calibri"/>
              </a:rPr>
              <a:t>6.  Change the pins to 22 and 23. Which wheel moves now?</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Below a certain duty, a motor does not turn at all. It has to overcome friction in the gearbox and the bearings before anything moves.</a:t>
            </a:r>
          </a:p>
          <a:p>
            <a:pPr algn="l">
              <a:lnSpc>
                <a:spcPct val="100000"/>
              </a:lnSpc>
              <a:spcAft>
                <a:spcPts val="900"/>
              </a:spcAft>
              <a:defRPr sz="1800" b="0">
                <a:solidFill>
                  <a:srgbClr val="222222"/>
                </a:solidFill>
                <a:latin typeface="Calibri"/>
              </a:defRPr>
            </a:pPr>
            <a:r>
              <a:rPr sz="1800" b="0">
                <a:solidFill>
                  <a:srgbClr val="222222"/>
                </a:solidFill>
                <a:latin typeface="Calibri"/>
              </a:rPr>
              <a:t>Your number will not be the same as the next group's. It depends on your motors, your wheels, your bearings and how charged your battery is.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In the full vehicle program there is a setting called MOTOR_MIN for exactly this. It is currently 0, which means the speed climbs smoothly from nothing.</a:t>
            </a:r>
          </a:p>
          <a:p>
            <a:pPr algn="l">
              <a:lnSpc>
                <a:spcPct val="100000"/>
              </a:lnSpc>
              <a:spcAft>
                <a:spcPts val="900"/>
              </a:spcAft>
              <a:defRPr sz="1800" b="0">
                <a:solidFill>
                  <a:srgbClr val="222222"/>
                </a:solidFill>
                <a:latin typeface="Calibri"/>
              </a:defRPr>
            </a:pPr>
            <a:r>
              <a:rPr sz="1800" b="0">
                <a:solidFill>
                  <a:srgbClr val="222222"/>
                </a:solidFill>
                <a:latin typeface="Calibri"/>
              </a:rPr>
              <a:t>If the first part of your stick travel ever feels dead, raising MOTOR_MIN is the fix - it lifts the slowest speed the vehicle is ever given, so the wheels start moving the moment you leave the deadzone.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will meet the deadzone next week.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Measure it, do not guess it. The number in the program was once a guess, and it was wrong.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4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4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4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400"/>
              </a:spcAft>
              <a:defRPr sz="1800" b="0">
                <a:solidFill>
                  <a:srgbClr val="222222"/>
                </a:solidFill>
                <a:latin typeface="Calibri"/>
              </a:defRPr>
            </a:pPr>
            <a:r>
              <a:rPr sz="1800" b="0">
                <a:solidFill>
                  <a:srgbClr val="222222"/>
                </a:solidFill>
                <a:latin typeface="Calibri"/>
              </a:rPr>
              <a:t>5.  Change PWM_FREQ from 20000 to 300 and upload. LISTEN.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6.  Put it back to 20000.</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Pathfinder has no steering rack. Nothing on it points the wheels.</a:t>
            </a:r>
          </a:p>
          <a:p>
            <a:pPr algn="l">
              <a:lnSpc>
                <a:spcPct val="100000"/>
              </a:lnSpc>
              <a:spcAft>
                <a:spcPts val="900"/>
              </a:spcAft>
              <a:defRPr sz="1800" b="0">
                <a:solidFill>
                  <a:srgbClr val="222222"/>
                </a:solidFill>
                <a:latin typeface="Calibri"/>
              </a:defRPr>
            </a:pPr>
            <a:r>
              <a:rPr sz="1800" b="0">
                <a:solidFill>
                  <a:srgbClr val="222222"/>
                </a:solidFill>
                <a:latin typeface="Calibri"/>
              </a:rPr>
              <a:t>The two wheels on the LEFT are driven together. The two on the RIGHT are driven together.</a:t>
            </a:r>
          </a:p>
          <a:p>
            <a:pPr algn="l">
              <a:lnSpc>
                <a:spcPct val="100000"/>
              </a:lnSpc>
              <a:spcAft>
                <a:spcPts val="900"/>
              </a:spcAft>
              <a:defRPr sz="1800" b="0">
                <a:solidFill>
                  <a:srgbClr val="222222"/>
                </a:solidFill>
                <a:latin typeface="Calibri"/>
              </a:defRPr>
            </a:pPr>
            <a:r>
              <a:rPr sz="1800" b="0">
                <a:solidFill>
                  <a:srgbClr val="222222"/>
                </a:solidFill>
                <a:latin typeface="Calibri"/>
              </a:rPr>
              <a:t>Both sides the same  -&gt;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Left faster than right  -&gt;  it curves to the right.</a:t>
            </a:r>
          </a:p>
          <a:p>
            <a:pPr algn="l">
              <a:lnSpc>
                <a:spcPct val="100000"/>
              </a:lnSpc>
              <a:spcAft>
                <a:spcPts val="900"/>
              </a:spcAft>
              <a:defRPr sz="1800" b="0">
                <a:solidFill>
                  <a:srgbClr val="222222"/>
                </a:solidFill>
                <a:latin typeface="Calibri"/>
              </a:defRPr>
            </a:pPr>
            <a:r>
              <a:rPr sz="1800" b="0">
                <a:solidFill>
                  <a:srgbClr val="222222"/>
                </a:solidFill>
                <a:latin typeface="Calibri"/>
              </a:rPr>
              <a:t>Left forward and right backward  -&gt;  it spins on the spot.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This is how a tank steers, how an excavator steers, and how most small robots steer. It is called differential or skid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maths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Wheel diameter is 3.0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Circumference = pi x diameter = 3.1416 x 3.0 = 9.42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Distance per wheel turn = 9.42 / 12 = 0.79 feet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Speed = revolutions per second x distance per revolution</a:t>
            </a:r>
          </a:p>
          <a:p>
            <a:pPr algn="l">
              <a:lnSpc>
                <a:spcPct val="100000"/>
              </a:lnSpc>
              <a:spcAft>
                <a:spcPts val="900"/>
              </a:spcAft>
              <a:defRPr sz="1800" b="0">
                <a:solidFill>
                  <a:srgbClr val="222222"/>
                </a:solidFill>
                <a:latin typeface="Calibri"/>
              </a:defRPr>
            </a:pPr>
            <a:r>
              <a:rPr sz="1800" b="0">
                <a:solidFill>
                  <a:srgbClr val="222222"/>
                </a:solidFill>
                <a:latin typeface="Calibri"/>
              </a:rPr>
              <a:t>Distance = speed x time</a:t>
            </a:r>
          </a:p>
          <a:p>
            <a:pPr algn="l">
              <a:lnSpc>
                <a:spcPct val="100000"/>
              </a:lnSpc>
              <a:spcAft>
                <a:spcPts val="900"/>
              </a:spcAft>
              <a:defRPr sz="1800" b="0">
                <a:solidFill>
                  <a:srgbClr val="222222"/>
                </a:solidFill>
                <a:latin typeface="Calibri"/>
              </a:defRPr>
            </a:pPr>
            <a:r>
              <a:rPr sz="1800" b="0">
                <a:solidFill>
                  <a:srgbClr val="222222"/>
                </a:solidFill>
                <a:latin typeface="Calibri"/>
              </a:rPr>
              <a:t>Degrees turned = turn rate x time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cxnSp>
        <p:nvCxnSpPr>
          <p:cNvPr id="6" name="Connector 5"/>
          <p:cNvCxnSpPr/>
          <p:nvPr/>
        </p:nvCxnSpPr>
        <p:spPr>
          <a:xfrm flipV="1">
            <a:off x="1783080" y="2103120"/>
            <a:ext cx="0" cy="301752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783080" y="2103120"/>
            <a:ext cx="3017520" cy="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800600" y="2103120"/>
            <a:ext cx="0" cy="301752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783080" y="5120640"/>
            <a:ext cx="3017520" cy="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527048" y="4992624"/>
            <a:ext cx="512064" cy="256032"/>
          </a:xfrm>
          <a:prstGeom prst="ellipse">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p>
        </p:txBody>
      </p:sp>
      <p:sp>
        <p:nvSpPr>
          <p:cNvPr id="11" name="TextBox 10"/>
          <p:cNvSpPr txBox="1"/>
          <p:nvPr/>
        </p:nvSpPr>
        <p:spPr>
          <a:xfrm>
            <a:off x="411480" y="5212080"/>
            <a:ext cx="128016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 / finish</a:t>
            </a:r>
          </a:p>
        </p:txBody>
      </p:sp>
      <p:sp>
        <p:nvSpPr>
          <p:cNvPr id="12" name="TextBox 11"/>
          <p:cNvSpPr txBox="1"/>
          <p:nvPr/>
        </p:nvSpPr>
        <p:spPr>
          <a:xfrm>
            <a:off x="1280160" y="4553712"/>
            <a:ext cx="1005840" cy="646684"/>
          </a:xfrm>
          <a:prstGeom prst="rect">
            <a:avLst/>
          </a:prstGeom>
          <a:noFill/>
        </p:spPr>
        <p:txBody>
          <a:bodyPr wrap="square" lIns="0" tIns="0" rIns="0" bIns="0">
            <a:spAutoFit/>
          </a:bodyPr>
          <a:lstStyle/>
          <a:p>
            <a:pPr algn="ctr">
              <a:lnSpc>
                <a:spcPct val="100000"/>
              </a:lnSpc>
              <a:spcAft>
                <a:spcPts val="0"/>
              </a:spcAft>
              <a:defRPr sz="1800" b="0">
                <a:solidFill>
                  <a:srgbClr val="B46A0F"/>
                </a:solidFill>
                <a:latin typeface="Calibri"/>
              </a:defRPr>
            </a:pPr>
            <a:r>
              <a:rPr sz="1800" b="0">
                <a:solidFill>
                  <a:srgbClr val="B46A0F"/>
                </a:solidFill>
                <a:latin typeface="Calibri"/>
              </a:rPr>
              <a:t>turn TURN_MS ms</a:t>
            </a:r>
          </a:p>
        </p:txBody>
      </p:sp>
      <p:sp>
        <p:nvSpPr>
          <p:cNvPr id="13" name="TextBox 12"/>
          <p:cNvSpPr txBox="1"/>
          <p:nvPr/>
        </p:nvSpPr>
        <p:spPr>
          <a:xfrm>
            <a:off x="1280160" y="1536192"/>
            <a:ext cx="1005840" cy="646684"/>
          </a:xfrm>
          <a:prstGeom prst="rect">
            <a:avLst/>
          </a:prstGeom>
          <a:noFill/>
        </p:spPr>
        <p:txBody>
          <a:bodyPr wrap="square" lIns="0" tIns="0" rIns="0" bIns="0">
            <a:spAutoFit/>
          </a:bodyPr>
          <a:lstStyle/>
          <a:p>
            <a:pPr algn="ctr">
              <a:lnSpc>
                <a:spcPct val="100000"/>
              </a:lnSpc>
              <a:spcAft>
                <a:spcPts val="0"/>
              </a:spcAft>
              <a:defRPr sz="1800" b="0">
                <a:solidFill>
                  <a:srgbClr val="B46A0F"/>
                </a:solidFill>
                <a:latin typeface="Calibri"/>
              </a:defRPr>
            </a:pPr>
            <a:r>
              <a:rPr sz="1800" b="0">
                <a:solidFill>
                  <a:srgbClr val="B46A0F"/>
                </a:solidFill>
                <a:latin typeface="Calibri"/>
              </a:rPr>
              <a:t>turn TURN_MS ms</a:t>
            </a:r>
          </a:p>
        </p:txBody>
      </p:sp>
      <p:sp>
        <p:nvSpPr>
          <p:cNvPr id="14" name="TextBox 13"/>
          <p:cNvSpPr txBox="1"/>
          <p:nvPr/>
        </p:nvSpPr>
        <p:spPr>
          <a:xfrm>
            <a:off x="4297680" y="1536192"/>
            <a:ext cx="1005840" cy="646684"/>
          </a:xfrm>
          <a:prstGeom prst="rect">
            <a:avLst/>
          </a:prstGeom>
          <a:noFill/>
        </p:spPr>
        <p:txBody>
          <a:bodyPr wrap="square" lIns="0" tIns="0" rIns="0" bIns="0">
            <a:spAutoFit/>
          </a:bodyPr>
          <a:lstStyle/>
          <a:p>
            <a:pPr algn="ctr">
              <a:lnSpc>
                <a:spcPct val="100000"/>
              </a:lnSpc>
              <a:spcAft>
                <a:spcPts val="0"/>
              </a:spcAft>
              <a:defRPr sz="1800" b="0">
                <a:solidFill>
                  <a:srgbClr val="B46A0F"/>
                </a:solidFill>
                <a:latin typeface="Calibri"/>
              </a:defRPr>
            </a:pPr>
            <a:r>
              <a:rPr sz="1800" b="0">
                <a:solidFill>
                  <a:srgbClr val="B46A0F"/>
                </a:solidFill>
                <a:latin typeface="Calibri"/>
              </a:rPr>
              <a:t>turn TURN_MS ms</a:t>
            </a:r>
          </a:p>
        </p:txBody>
      </p:sp>
      <p:sp>
        <p:nvSpPr>
          <p:cNvPr id="15" name="TextBox 14"/>
          <p:cNvSpPr txBox="1"/>
          <p:nvPr/>
        </p:nvSpPr>
        <p:spPr>
          <a:xfrm>
            <a:off x="4297680" y="4553712"/>
            <a:ext cx="1005840" cy="646684"/>
          </a:xfrm>
          <a:prstGeom prst="rect">
            <a:avLst/>
          </a:prstGeom>
          <a:noFill/>
        </p:spPr>
        <p:txBody>
          <a:bodyPr wrap="square" lIns="0" tIns="0" rIns="0" bIns="0">
            <a:spAutoFit/>
          </a:bodyPr>
          <a:lstStyle/>
          <a:p>
            <a:pPr algn="ctr">
              <a:lnSpc>
                <a:spcPct val="100000"/>
              </a:lnSpc>
              <a:spcAft>
                <a:spcPts val="0"/>
              </a:spcAft>
              <a:defRPr sz="1800" b="0">
                <a:solidFill>
                  <a:srgbClr val="B46A0F"/>
                </a:solidFill>
                <a:latin typeface="Calibri"/>
              </a:defRPr>
            </a:pPr>
            <a:r>
              <a:rPr sz="1800" b="0">
                <a:solidFill>
                  <a:srgbClr val="B46A0F"/>
                </a:solidFill>
                <a:latin typeface="Calibri"/>
              </a:rPr>
              <a:t>turn TURN_MS ms</a:t>
            </a:r>
          </a:p>
        </p:txBody>
      </p:sp>
      <p:sp>
        <p:nvSpPr>
          <p:cNvPr id="16" name="TextBox 15"/>
          <p:cNvSpPr txBox="1"/>
          <p:nvPr/>
        </p:nvSpPr>
        <p:spPr>
          <a:xfrm>
            <a:off x="1783080" y="34290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1F3A5F"/>
                </a:solidFill>
                <a:latin typeface="Calibri"/>
              </a:defRPr>
            </a:pPr>
            <a:r>
              <a:rPr sz="1800" b="0">
                <a:solidFill>
                  <a:srgbClr val="1F3A5F"/>
                </a:solidFill>
                <a:latin typeface="Calibri"/>
              </a:rPr>
              <a:t>forward</a:t>
            </a:r>
            <a:br/>
            <a:r>
              <a:rPr sz="1800" b="0">
                <a:solidFill>
                  <a:srgbClr val="1F3A5F"/>
                </a:solidFill>
                <a:latin typeface="Calibri"/>
              </a:rPr>
              <a:t>FORWARD_MS</a:t>
            </a:r>
          </a:p>
        </p:txBody>
      </p:sp>
      <p:sp>
        <p:nvSpPr>
          <p:cNvPr id="17" name="TextBox 16"/>
          <p:cNvSpPr txBox="1"/>
          <p:nvPr/>
        </p:nvSpPr>
        <p:spPr>
          <a:xfrm>
            <a:off x="6263640" y="1325880"/>
            <a:ext cx="5120640"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The two equations</a:t>
            </a:r>
          </a:p>
        </p:txBody>
      </p:sp>
      <p:sp>
        <p:nvSpPr>
          <p:cNvPr id="18" name="Rectangle 17"/>
          <p:cNvSpPr/>
          <p:nvPr/>
        </p:nvSpPr>
        <p:spPr>
          <a:xfrm>
            <a:off x="6263640" y="1737360"/>
            <a:ext cx="5120640" cy="91440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19" name="TextBox 18"/>
          <p:cNvSpPr txBox="1"/>
          <p:nvPr/>
        </p:nvSpPr>
        <p:spPr>
          <a:xfrm>
            <a:off x="6263640" y="2880360"/>
            <a:ext cx="5120640" cy="381609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Then: drive it, measure the side, divide by the</a:t>
            </a:r>
          </a:p>
          <a:p>
            <a:pPr algn="l">
              <a:lnSpc>
                <a:spcPct val="100000"/>
              </a:lnSpc>
              <a:spcAft>
                <a:spcPts val="0"/>
              </a:spcAft>
              <a:defRPr sz="1800" b="0">
                <a:solidFill>
                  <a:srgbClr val="222222"/>
                </a:solidFill>
                <a:latin typeface="Calibri"/>
              </a:defRPr>
            </a:pPr>
            <a:r>
              <a:rPr sz="1800" b="0">
                <a:solidFill>
                  <a:srgbClr val="222222"/>
                </a:solidFill>
                <a:latin typeface="Calibri"/>
              </a:rPr>
              <a:t>time, and you have feet per second for YOUR</a:t>
            </a:r>
          </a:p>
          <a:p>
            <a:pPr algn="l">
              <a:lnSpc>
                <a:spcPct val="100000"/>
              </a:lnSpc>
              <a:spcAft>
                <a:spcPts val="0"/>
              </a:spcAft>
              <a:defRPr sz="1800" b="0">
                <a:solidFill>
                  <a:srgbClr val="222222"/>
                </a:solidFill>
                <a:latin typeface="Calibri"/>
              </a:defRPr>
            </a:pPr>
            <a:r>
              <a:rPr sz="1800" b="0">
                <a:solidFill>
                  <a:srgbClr val="222222"/>
                </a:solidFill>
                <a:latin typeface="Calibri"/>
              </a:rPr>
              <a:t>vehicle on THIS floor with THIS battery charge.</a:t>
            </a:r>
          </a:p>
        </p:txBody>
      </p:sp>
      <p:sp>
        <p:nvSpPr>
          <p:cNvPr id="20" name="Rounded Rectangle 1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300"/>
              </a:spcAft>
              <a:defRPr sz="1300" b="0">
                <a:solidFill>
                  <a:srgbClr val="222222"/>
                </a:solidFill>
                <a:latin typeface="Calibri"/>
              </a:defRPr>
            </a:pPr>
            <a:r>
              <a:rPr sz="1300" b="0">
                <a:solidFill>
                  <a:srgbClr val="222222"/>
                </a:solidFill>
                <a:latin typeface="Calibri"/>
              </a:rPr>
              <a:t>You have been using for loops all lesson. There are two more, and between them they turn up in almost every program you will ever read.</a:t>
            </a:r>
          </a:p>
        </p:txBody>
      </p:sp>
      <p:graphicFrame>
        <p:nvGraphicFramePr>
          <p:cNvPr id="7" name="Table 6"/>
          <p:cNvGraphicFramePr>
            <a:graphicFrameLocks noGrp="1"/>
          </p:cNvGraphicFramePr>
          <p:nvPr/>
        </p:nvGraphicFramePr>
        <p:xfrm>
          <a:off x="502920" y="1691640"/>
          <a:ext cx="11185854" cy="1638300"/>
        </p:xfrm>
        <a:graphic>
          <a:graphicData uri="http://schemas.openxmlformats.org/drawingml/2006/table">
            <a:tbl>
              <a:tblPr firstRow="1" bandRow="1">
                <a:tableStyleId>{5C22544A-7EE6-4342-B048-85BDC9FD1C3A}</a:tableStyleId>
              </a:tblPr>
              <a:tblGrid>
                <a:gridCol w="1423654"/>
                <a:gridCol w="2643929"/>
                <a:gridCol w="7118271"/>
              </a:tblGrid>
              <a:tr h="409575">
                <a:tc>
                  <a:txBody>
                    <a:bodyPr/>
                    <a:lstStyle/>
                    <a:p>
                      <a:r>
                        <a:rPr sz="1400" b="1">
                          <a:solidFill>
                            <a:srgbClr val="FFFFFF"/>
                          </a:solidFill>
                          <a:latin typeface="Calibri"/>
                        </a:rPr>
                        <a:t>Loop</a:t>
                      </a:r>
                    </a:p>
                  </a:txBody>
                  <a:tcPr marL="73152" marT="18288" marB="18288">
                    <a:solidFill>
                      <a:srgbClr val="1F3A5F"/>
                    </a:solidFill>
                  </a:tcPr>
                </a:tc>
                <a:tc>
                  <a:txBody>
                    <a:bodyPr/>
                    <a:lstStyle/>
                    <a:p>
                      <a:r>
                        <a:rPr sz="1400" b="1">
                          <a:solidFill>
                            <a:srgbClr val="FFFFFF"/>
                          </a:solidFill>
                          <a:latin typeface="Calibri"/>
                        </a:rPr>
                        <a:t>When the test happens</a:t>
                      </a:r>
                    </a:p>
                  </a:txBody>
                  <a:tcPr marL="73152" marT="18288" marB="18288">
                    <a:solidFill>
                      <a:srgbClr val="1F3A5F"/>
                    </a:solidFill>
                  </a:tcPr>
                </a:tc>
                <a:tc>
                  <a:txBody>
                    <a:bodyPr/>
                    <a:lstStyle/>
                    <a:p>
                      <a:r>
                        <a:rPr sz="1400" b="1">
                          <a:solidFill>
                            <a:srgbClr val="FFFFFF"/>
                          </a:solidFill>
                          <a:latin typeface="Calibri"/>
                        </a:rPr>
                        <a:t>Use it when</a:t>
                      </a:r>
                    </a:p>
                  </a:txBody>
                  <a:tcPr marL="73152" marT="18288" marB="18288">
                    <a:solidFill>
                      <a:srgbClr val="1F3A5F"/>
                    </a:solidFill>
                  </a:tcPr>
                </a:tc>
              </a:tr>
              <a:tr h="409575">
                <a:tc>
                  <a:txBody>
                    <a:bodyPr/>
                    <a:lstStyle/>
                    <a:p>
                      <a:r>
                        <a:rPr sz="1400">
                          <a:solidFill>
                            <a:srgbClr val="222222"/>
                          </a:solidFill>
                          <a:latin typeface="Calibri"/>
                        </a:rPr>
                        <a:t>for</a:t>
                      </a:r>
                    </a:p>
                  </a:txBody>
                  <a:tcPr marL="73152" marT="18288" marB="18288">
                    <a:solidFill>
                      <a:srgbClr val="FFFFFF"/>
                    </a:solidFill>
                  </a:tcPr>
                </a:tc>
                <a:tc>
                  <a:txBody>
                    <a:bodyPr/>
                    <a:lstStyle/>
                    <a:p>
                      <a:r>
                        <a:rPr sz="1400">
                          <a:solidFill>
                            <a:srgbClr val="222222"/>
                          </a:solidFill>
                          <a:latin typeface="Calibri"/>
                        </a:rPr>
                        <a:t>Before each pass</a:t>
                      </a:r>
                    </a:p>
                  </a:txBody>
                  <a:tcPr marL="73152" marT="18288" marB="18288">
                    <a:solidFill>
                      <a:srgbClr val="FFFFFF"/>
                    </a:solidFill>
                  </a:tcPr>
                </a:tc>
                <a:tc>
                  <a:txBody>
                    <a:bodyPr/>
                    <a:lstStyle/>
                    <a:p>
                      <a:r>
                        <a:rPr sz="1400">
                          <a:solidFill>
                            <a:srgbClr val="222222"/>
                          </a:solidFill>
                          <a:latin typeface="Calibri"/>
                        </a:rPr>
                        <a:t>You know how many times. Stepping through the 32 LEDs, or four sides of a square.</a:t>
                      </a:r>
                    </a:p>
                  </a:txBody>
                  <a:tcPr marL="73152" marT="18288" marB="18288">
                    <a:solidFill>
                      <a:srgbClr val="FFFFFF"/>
                    </a:solidFill>
                  </a:tcPr>
                </a:tc>
              </a:tr>
              <a:tr h="409575">
                <a:tc>
                  <a:txBody>
                    <a:bodyPr/>
                    <a:lstStyle/>
                    <a:p>
                      <a:r>
                        <a:rPr sz="1400">
                          <a:solidFill>
                            <a:srgbClr val="222222"/>
                          </a:solidFill>
                          <a:latin typeface="Calibri"/>
                        </a:rPr>
                        <a:t>while</a:t>
                      </a:r>
                    </a:p>
                  </a:txBody>
                  <a:tcPr marL="73152" marT="18288" marB="18288">
                    <a:solidFill>
                      <a:srgbClr val="EEF3F8"/>
                    </a:solidFill>
                  </a:tcPr>
                </a:tc>
                <a:tc>
                  <a:txBody>
                    <a:bodyPr/>
                    <a:lstStyle/>
                    <a:p>
                      <a:r>
                        <a:rPr sz="1400">
                          <a:solidFill>
                            <a:srgbClr val="222222"/>
                          </a:solidFill>
                          <a:latin typeface="Calibri"/>
                        </a:rPr>
                        <a:t>Before each pass</a:t>
                      </a:r>
                    </a:p>
                  </a:txBody>
                  <a:tcPr marL="73152" marT="18288" marB="18288">
                    <a:solidFill>
                      <a:srgbClr val="EEF3F8"/>
                    </a:solidFill>
                  </a:tcPr>
                </a:tc>
                <a:tc>
                  <a:txBody>
                    <a:bodyPr/>
                    <a:lstStyle/>
                    <a:p>
                      <a:r>
                        <a:rPr sz="1400">
                          <a:solidFill>
                            <a:srgbClr val="222222"/>
                          </a:solidFill>
                          <a:latin typeface="Calibri"/>
                        </a:rPr>
                        <a:t>You do not know how many times. It depends on a condition, and it might not run at all.</a:t>
                      </a:r>
                    </a:p>
                  </a:txBody>
                  <a:tcPr marL="73152" marT="18288" marB="18288">
                    <a:solidFill>
                      <a:srgbClr val="EEF3F8"/>
                    </a:solidFill>
                  </a:tcPr>
                </a:tc>
              </a:tr>
              <a:tr h="409575">
                <a:tc>
                  <a:txBody>
                    <a:bodyPr/>
                    <a:lstStyle/>
                    <a:p>
                      <a:r>
                        <a:rPr sz="1400">
                          <a:solidFill>
                            <a:srgbClr val="222222"/>
                          </a:solidFill>
                          <a:latin typeface="Calibri"/>
                        </a:rPr>
                        <a:t>do-while</a:t>
                      </a:r>
                    </a:p>
                  </a:txBody>
                  <a:tcPr marL="73152" marT="18288" marB="18288">
                    <a:solidFill>
                      <a:srgbClr val="FFFFFF"/>
                    </a:solidFill>
                  </a:tcPr>
                </a:tc>
                <a:tc>
                  <a:txBody>
                    <a:bodyPr/>
                    <a:lstStyle/>
                    <a:p>
                      <a:r>
                        <a:rPr sz="1400">
                          <a:solidFill>
                            <a:srgbClr val="222222"/>
                          </a:solidFill>
                          <a:latin typeface="Calibri"/>
                        </a:rPr>
                        <a:t>After each pass</a:t>
                      </a:r>
                    </a:p>
                  </a:txBody>
                  <a:tcPr marL="73152" marT="18288" marB="18288">
                    <a:solidFill>
                      <a:srgbClr val="FFFFFF"/>
                    </a:solidFill>
                  </a:tcPr>
                </a:tc>
                <a:tc>
                  <a:txBody>
                    <a:bodyPr/>
                    <a:lstStyle/>
                    <a:p>
                      <a:r>
                        <a:rPr sz="1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666666"/>
                </a:solidFill>
                <a:latin typeface="Consolas"/>
              </a:rPr>
              <a:t>// for  -  a known number of passes</a:t>
            </a:r>
          </a:p>
          <a:p>
            <a:pPr algn="l">
              <a:lnSpc>
                <a:spcPct val="100000"/>
              </a:lnSpc>
              <a:spcAft>
                <a:spcPts val="0"/>
              </a:spcAft>
              <a:defRPr sz="1300">
                <a:latin typeface="Consolas"/>
              </a:defRPr>
            </a:pPr>
            <a:r>
              <a:rPr sz="1300" b="1">
                <a:solidFill>
                  <a:srgbClr val="0E7C86"/>
                </a:solidFill>
                <a:latin typeface="Consolas"/>
              </a:rPr>
              <a:t>for (int i = 0; i &lt; 32; i++) {</a:t>
            </a:r>
          </a:p>
          <a:p>
            <a:pPr algn="l">
              <a:lnSpc>
                <a:spcPct val="100000"/>
              </a:lnSpc>
              <a:spcAft>
                <a:spcPts val="0"/>
              </a:spcAft>
              <a:defRPr sz="1300">
                <a:latin typeface="Consolas"/>
              </a:defRPr>
            </a:pPr>
            <a:r>
              <a:rPr sz="1300">
                <a:solidFill>
                  <a:srgbClr val="222222"/>
                </a:solidFill>
                <a:latin typeface="Consolas"/>
              </a:rPr>
              <a:t>  strip.setPixelColor(i, colour);</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while  -  keep going until something changes</a:t>
            </a:r>
          </a:p>
          <a:p>
            <a:pPr algn="l">
              <a:lnSpc>
                <a:spcPct val="100000"/>
              </a:lnSpc>
              <a:spcAft>
                <a:spcPts val="0"/>
              </a:spcAft>
              <a:defRPr sz="1300">
                <a:latin typeface="Consolas"/>
              </a:defRPr>
            </a:pPr>
            <a:r>
              <a:rPr sz="1300" b="1">
                <a:solidFill>
                  <a:srgbClr val="0E7C86"/>
                </a:solidFill>
                <a:latin typeface="Consolas"/>
              </a:rPr>
              <a:t>while (!Ps3.isConnected()) {</a:t>
            </a:r>
          </a:p>
          <a:p>
            <a:pPr algn="l">
              <a:lnSpc>
                <a:spcPct val="100000"/>
              </a:lnSpc>
              <a:spcAft>
                <a:spcPts val="0"/>
              </a:spcAft>
              <a:defRPr sz="1300">
                <a:latin typeface="Consolas"/>
              </a:defRPr>
            </a:pPr>
            <a:r>
              <a:rPr sz="1300">
                <a:solidFill>
                  <a:srgbClr val="222222"/>
                </a:solidFill>
                <a:latin typeface="Consolas"/>
              </a:rPr>
              <a:t>  showWaitingLights();        // may never run at all</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do-while  -  always at least one pass</a:t>
            </a:r>
          </a:p>
          <a:p>
            <a:pPr algn="l">
              <a:lnSpc>
                <a:spcPct val="100000"/>
              </a:lnSpc>
              <a:spcAft>
                <a:spcPts val="0"/>
              </a:spcAft>
              <a:defRPr sz="1300">
                <a:latin typeface="Consolas"/>
              </a:defRPr>
            </a:pPr>
            <a:r>
              <a:rPr sz="1300" b="1">
                <a:solidFill>
                  <a:srgbClr val="0E7C86"/>
                </a:solidFill>
                <a:latin typeface="Consolas"/>
              </a:rPr>
              <a:t>do {</a:t>
            </a:r>
          </a:p>
          <a:p>
            <a:pPr algn="l">
              <a:lnSpc>
                <a:spcPct val="100000"/>
              </a:lnSpc>
              <a:spcAft>
                <a:spcPts val="0"/>
              </a:spcAft>
              <a:defRPr sz="1300">
                <a:latin typeface="Consolas"/>
              </a:defRPr>
            </a:pPr>
            <a:r>
              <a:rPr sz="1300">
                <a:solidFill>
                  <a:srgbClr val="222222"/>
                </a:solidFill>
                <a:latin typeface="Consolas"/>
              </a:rPr>
              <a:t>  reading = analogRead(PIN);  // take a reading FIRST,</a:t>
            </a:r>
          </a:p>
          <a:p>
            <a:pPr algn="l">
              <a:lnSpc>
                <a:spcPct val="100000"/>
              </a:lnSpc>
              <a:spcAft>
                <a:spcPts val="0"/>
              </a:spcAft>
              <a:defRPr sz="1300">
                <a:latin typeface="Consolas"/>
              </a:defRPr>
            </a:pPr>
            <a:r>
              <a:rPr sz="13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6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6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666666"/>
                </a:solidFill>
                <a:latin typeface="Consolas"/>
              </a:rPr>
              <a:t>  // Four sides and four corners makes a square.</a:t>
            </a:r>
          </a:p>
          <a:p>
            <a:pPr algn="l">
              <a:lnSpc>
                <a:spcPct val="100000"/>
              </a:lnSpc>
              <a:spcAft>
                <a:spcPts val="0"/>
              </a:spcAft>
              <a:defRPr sz="1400">
                <a:latin typeface="Consolas"/>
              </a:defRPr>
            </a:pPr>
            <a:r>
              <a:rPr sz="1400">
                <a:solidFill>
                  <a:srgbClr val="222222"/>
                </a:solidFill>
                <a:latin typeface="Consolas"/>
              </a:rPr>
              <a:t>  for (int corner = 0; corner &lt; 4; corner++) {</a:t>
            </a:r>
          </a:p>
          <a:p>
            <a:pPr algn="l">
              <a:lnSpc>
                <a:spcPct val="100000"/>
              </a:lnSpc>
              <a:spcAft>
                <a:spcPts val="0"/>
              </a:spcAft>
              <a:defRPr sz="1400">
                <a:latin typeface="Consolas"/>
              </a:defRPr>
            </a:pPr>
            <a:r>
              <a:rPr sz="1400">
                <a:solidFill>
                  <a:srgbClr val="222222"/>
                </a:solidFill>
                <a:latin typeface="Consolas"/>
              </a:rPr>
              <a:t>    goForward();</a:t>
            </a:r>
          </a:p>
          <a:p>
            <a:pPr algn="l">
              <a:lnSpc>
                <a:spcPct val="100000"/>
              </a:lnSpc>
              <a:spcAft>
                <a:spcPts val="0"/>
              </a:spcAft>
              <a:defRPr sz="1400">
                <a:latin typeface="Consolas"/>
              </a:defRPr>
            </a:pPr>
            <a:r>
              <a:rPr sz="1400" b="1">
                <a:solidFill>
                  <a:srgbClr val="0E7C86"/>
                </a:solidFill>
                <a:latin typeface="Consolas"/>
              </a:rPr>
              <a:t>    delay(FORWARD_MS);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spinRight();</a:t>
            </a:r>
          </a:p>
          <a:p>
            <a:pPr algn="l">
              <a:lnSpc>
                <a:spcPct val="100000"/>
              </a:lnSpc>
              <a:spcAft>
                <a:spcPts val="0"/>
              </a:spcAft>
              <a:defRPr sz="1400">
                <a:latin typeface="Consolas"/>
              </a:defRPr>
            </a:pPr>
            <a:r>
              <a:rPr sz="1400" b="1">
                <a:solidFill>
                  <a:srgbClr val="0E7C86"/>
                </a:solidFill>
                <a:latin typeface="Consolas"/>
              </a:rPr>
              <a:t>    delay(TURN_MS);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stopMoving();</a:t>
            </a:r>
          </a:p>
          <a:p>
            <a:pPr algn="l">
              <a:lnSpc>
                <a:spcPct val="100000"/>
              </a:lnSpc>
              <a:spcAft>
                <a:spcPts val="0"/>
              </a:spcAft>
              <a:defRPr sz="1400">
                <a:latin typeface="Consolas"/>
              </a:defRPr>
            </a:pPr>
            <a:r>
              <a:rPr sz="1400">
                <a:solidFill>
                  <a:srgbClr val="222222"/>
                </a:solidFill>
                <a:latin typeface="Consolas"/>
              </a:rPr>
              <a:t>  delay(20000);   // pick your vehicle up</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6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6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6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towards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a space about three metres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a piece of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Work out the speed:  side length / (FORWARD_MS / 1000)</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Roughly a square. Roughly.</a:t>
            </a:r>
          </a:p>
          <a:p>
            <a:pPr algn="l">
              <a:lnSpc>
                <a:spcPct val="100000"/>
              </a:lnSpc>
              <a:spcAft>
                <a:spcPts val="200"/>
              </a:spcAft>
              <a:defRPr sz="1800" b="0">
                <a:solidFill>
                  <a:srgbClr val="222222"/>
                </a:solidFill>
                <a:latin typeface="Calibri"/>
              </a:defRPr>
            </a:pPr>
            <a:r>
              <a:rPr sz="1800" b="0">
                <a:solidFill>
                  <a:srgbClr val="222222"/>
                </a:solidFill>
                <a:latin typeface="Calibri"/>
              </a:rPr>
              <a:t>It will not close perfectly on the first attempt. That is the point of the exercise, not a failure.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is your vehicle's speed in feet per second?</a:t>
            </a:r>
          </a:p>
          <a:p>
            <a:pPr algn="l">
              <a:lnSpc>
                <a:spcPct val="100000"/>
              </a:lnSpc>
              <a:spcAft>
                <a:spcPts val="200"/>
              </a:spcAft>
              <a:defRPr sz="1800" b="0">
                <a:solidFill>
                  <a:srgbClr val="222222"/>
                </a:solidFill>
                <a:latin typeface="Calibri"/>
              </a:defRPr>
            </a:pPr>
            <a:r>
              <a:rPr sz="1800" b="0">
                <a:solidFill>
                  <a:srgbClr val="222222"/>
                </a:solidFill>
                <a:latin typeface="Calibri"/>
              </a:rPr>
              <a:t>What is its turn rate in degrees per second?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the vehicle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Now change FORWARD_MS and PREDICT the new square before running it. How close were you?</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DEAD RECKONING is working out where you are from your speed, your heading and the time - with no outside reference at all.</a:t>
            </a:r>
          </a:p>
          <a:p>
            <a:pPr algn="l">
              <a:lnSpc>
                <a:spcPct val="100000"/>
              </a:lnSpc>
              <a:spcAft>
                <a:spcPts val="900"/>
              </a:spcAft>
              <a:defRPr sz="1800" b="0">
                <a:solidFill>
                  <a:srgbClr val="222222"/>
                </a:solidFill>
                <a:latin typeface="Calibri"/>
              </a:defRPr>
            </a:pPr>
            <a:r>
              <a:rPr sz="1800" b="0">
                <a:solidFill>
                  <a:srgbClr val="222222"/>
                </a:solidFill>
                <a:latin typeface="Calibri"/>
              </a:rPr>
              <a:t>Ships and aircraft navigated this way for centuries. Submersibles still fall back on it, because GPS does not work underwater.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It DRIFTS. Every small error accumulates, and nothing ever corrects it. Errors in your square come from:</a:t>
            </a:r>
          </a:p>
          <a:p>
            <a:pPr lvl="1" algn="l">
              <a:lnSpc>
                <a:spcPct val="100000"/>
              </a:lnSpc>
              <a:spcAft>
                <a:spcPts val="900"/>
              </a:spcAft>
              <a:defRPr sz="1800" b="0">
                <a:solidFill>
                  <a:srgbClr val="222222"/>
                </a:solidFill>
                <a:latin typeface="Calibri"/>
              </a:defRPr>
            </a:pPr>
            <a:r>
              <a:rPr sz="1800" b="0">
                <a:solidFill>
                  <a:srgbClr val="222222"/>
                </a:solidFill>
                <a:latin typeface="Calibri"/>
              </a:rPr>
              <a:t>Battery charge - a fresher pack drives further in the same time</a:t>
            </a:r>
          </a:p>
          <a:p>
            <a:pPr lvl="1" algn="l">
              <a:lnSpc>
                <a:spcPct val="100000"/>
              </a:lnSpc>
              <a:spcAft>
                <a:spcPts val="900"/>
              </a:spcAft>
              <a:defRPr sz="1800" b="0">
                <a:solidFill>
                  <a:srgbClr val="222222"/>
                </a:solidFill>
                <a:latin typeface="Calibri"/>
              </a:defRPr>
            </a:pPr>
            <a:r>
              <a:rPr sz="1800" b="0">
                <a:solidFill>
                  <a:srgbClr val="222222"/>
                </a:solidFill>
                <a:latin typeface="Calibri"/>
              </a:rPr>
              <a:t>Floor surface - carpet, tile and concrete all differ</a:t>
            </a:r>
          </a:p>
          <a:p>
            <a:pPr lvl="1" algn="l">
              <a:lnSpc>
                <a:spcPct val="100000"/>
              </a:lnSpc>
              <a:spcAft>
                <a:spcPts val="900"/>
              </a:spcAft>
              <a:defRPr sz="1800" b="0">
                <a:solidFill>
                  <a:srgbClr val="222222"/>
                </a:solidFill>
                <a:latin typeface="Calibri"/>
              </a:defRPr>
            </a:pPr>
            <a:r>
              <a:rPr sz="1800" b="0">
                <a:solidFill>
                  <a:srgbClr val="222222"/>
                </a:solidFill>
                <a:latin typeface="Calibri"/>
              </a:rPr>
              <a:t>Wheel slip during the turns, which skid steering guarantees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Motors that are not perfectly matched to each other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fix is a SENSOR that tells you something true about the outside world. That is where the course goes after this one.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week and the week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Mark a start line and a finish line with tape. Measure the distance.</a:t>
            </a:r>
          </a:p>
          <a:p>
            <a:pPr algn="l">
              <a:lnSpc>
                <a:spcPct val="100000"/>
              </a:lnSpc>
              <a:spcAft>
                <a:spcPts val="900"/>
              </a:spcAft>
              <a:defRPr sz="1800" b="0">
                <a:solidFill>
                  <a:srgbClr val="222222"/>
                </a:solidFill>
                <a:latin typeface="Calibri"/>
              </a:defRPr>
            </a:pPr>
            <a:r>
              <a:rPr sz="1800" b="0">
                <a:solidFill>
                  <a:srgbClr val="222222"/>
                </a:solidFill>
                <a:latin typeface="Calibri"/>
              </a:rPr>
              <a:t>Line up two or three vehicles. Hold the reset button until the start signal, then let go.</a:t>
            </a:r>
          </a:p>
          <a:p>
            <a:pPr algn="l">
              <a:lnSpc>
                <a:spcPct val="100000"/>
              </a:lnSpc>
              <a:spcAft>
                <a:spcPts val="900"/>
              </a:spcAft>
              <a:defRPr sz="1800" b="0">
                <a:solidFill>
                  <a:srgbClr val="222222"/>
                </a:solidFill>
                <a:latin typeface="Calibri"/>
              </a:defRPr>
            </a:pPr>
            <a:r>
              <a:rPr sz="1800" b="0">
                <a:solidFill>
                  <a:srgbClr val="222222"/>
                </a:solidFill>
                <a:latin typeface="Calibri"/>
              </a:rPr>
              <a:t>Time from start to crossing the line. Speed = distance / time.</a:t>
            </a:r>
          </a:p>
          <a:p>
            <a:pPr algn="l">
              <a:lnSpc>
                <a:spcPct val="100000"/>
              </a:lnSpc>
              <a:spcAft>
                <a:spcPts val="900"/>
              </a:spcAft>
              <a:defRPr sz="1800" b="0">
                <a:solidFill>
                  <a:srgbClr val="222222"/>
                </a:solidFill>
                <a:latin typeface="Calibri"/>
              </a:defRPr>
            </a:pPr>
            <a:r>
              <a:rPr sz="1800" b="0">
                <a:solidFill>
                  <a:srgbClr val="222222"/>
                </a:solidFill>
                <a:latin typeface="Calibri"/>
              </a:rPr>
              <a:t>First across the line INSIDE the lane wins. Leaving the lane does not.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Calibrate: you now know what duty value 255 gives you in feet per second. Try 200 and 150 as well. Is it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If your vehicle pulls to one side, you can add a short turn correction into the program to straighten it.</a:t>
            </a:r>
          </a:p>
          <a:p>
            <a:pPr algn="l">
              <a:lnSpc>
                <a:spcPct val="100000"/>
              </a:lnSpc>
              <a:spcAft>
                <a:spcPts val="900"/>
              </a:spcAft>
              <a:defRPr sz="1800" b="0">
                <a:solidFill>
                  <a:srgbClr val="222222"/>
                </a:solidFill>
                <a:latin typeface="Calibri"/>
              </a:defRPr>
            </a:pPr>
            <a:r>
              <a:rPr sz="18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this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Watch</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youtube.com/watch?v=UPTU6nYSaMo</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Read</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Loops in C, worked through properly</a:t>
            </a:r>
          </a:p>
          <a:p>
            <a:pPr lvl="1" algn="l">
              <a:lnSpc>
                <a:spcPct val="100000"/>
              </a:lnSpc>
              <a:spcAft>
                <a:spcPts val="400"/>
              </a:spcAft>
              <a:defRPr sz="1800" b="0">
                <a:solidFill>
                  <a:srgbClr val="222222"/>
                </a:solidFill>
                <a:latin typeface="Calibri"/>
              </a:defRPr>
            </a:pPr>
            <a:r>
              <a:rPr sz="1800" b="0">
                <a:solidFill>
                  <a:srgbClr val="222222"/>
                </a:solidFill>
                <a:latin typeface="Calibri"/>
              </a:rPr>
              <a:t>geeksforgeeks.org/c/c-loops/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Control structures - loops and conditionals</a:t>
            </a:r>
          </a:p>
          <a:p>
            <a:pPr lvl="1" algn="l">
              <a:lnSpc>
                <a:spcPct val="100000"/>
              </a:lnSpc>
              <a:spcAft>
                <a:spcPts val="400"/>
              </a:spcAft>
              <a:defRPr sz="1800" b="0">
                <a:solidFill>
                  <a:srgbClr val="222222"/>
                </a:solidFill>
                <a:latin typeface="Calibri"/>
              </a:defRPr>
            </a:pPr>
            <a:r>
              <a:rPr sz="1800" b="0">
                <a:solidFill>
                  <a:srgbClr val="222222"/>
                </a:solidFill>
                <a:latin typeface="Calibri"/>
              </a:rPr>
              <a:t>cplusplus.com/doc/tutorial/control/</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Functions</a:t>
            </a:r>
          </a:p>
          <a:p>
            <a:pPr lvl="1" algn="l">
              <a:lnSpc>
                <a:spcPct val="100000"/>
              </a:lnSpc>
              <a:spcAft>
                <a:spcPts val="400"/>
              </a:spcAft>
              <a:defRPr sz="1800" b="0">
                <a:solidFill>
                  <a:srgbClr val="222222"/>
                </a:solidFill>
                <a:latin typeface="Calibri"/>
              </a:defRPr>
            </a:pPr>
            <a:r>
              <a:rPr sz="1800" b="0">
                <a:solidFill>
                  <a:srgbClr val="222222"/>
                </a:solidFill>
                <a:latin typeface="Calibri"/>
              </a:rPr>
              <a:t>cplusplus.com/doc/tutorial/functions/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this week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Watch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Read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Everything above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Why does each motor need two pins instead of one?</a:t>
            </a:r>
          </a:p>
          <a:p>
            <a:pPr algn="l">
              <a:lnSpc>
                <a:spcPct val="100000"/>
              </a:lnSpc>
              <a:spcAft>
                <a:spcPts val="1000"/>
              </a:spcAft>
              <a:defRPr sz="1800" b="0">
                <a:solidFill>
                  <a:srgbClr val="222222"/>
                </a:solidFill>
                <a:latin typeface="Calibri"/>
              </a:defRPr>
            </a:pPr>
            <a:r>
              <a:rPr sz="1800" b="0">
                <a:solidFill>
                  <a:srgbClr val="222222"/>
                </a:solidFill>
                <a:latin typeface="Calibri"/>
              </a:rPr>
              <a:t>2.  A pin can only be on or off. Explain in one sentence how the vehicle gets a half speed.</a:t>
            </a:r>
          </a:p>
          <a:p>
            <a:pPr algn="l">
              <a:lnSpc>
                <a:spcPct val="100000"/>
              </a:lnSpc>
              <a:spcAft>
                <a:spcPts val="1000"/>
              </a:spcAft>
              <a:defRPr sz="1800" b="0">
                <a:solidFill>
                  <a:srgbClr val="222222"/>
                </a:solidFill>
                <a:latin typeface="Calibri"/>
              </a:defRPr>
            </a:pPr>
            <a:r>
              <a:rPr sz="1800" b="0">
                <a:solidFill>
                  <a:srgbClr val="222222"/>
                </a:solidFill>
                <a:latin typeface="Calibri"/>
              </a:rPr>
              <a:t>3.  What duty value is 25% of full power at 8-bit resolution?</a:t>
            </a:r>
          </a:p>
          <a:p>
            <a:pPr algn="l">
              <a:lnSpc>
                <a:spcPct val="100000"/>
              </a:lnSpc>
              <a:spcAft>
                <a:spcPts val="1000"/>
              </a:spcAft>
              <a:defRPr sz="1800" b="0">
                <a:solidFill>
                  <a:srgbClr val="222222"/>
                </a:solidFill>
                <a:latin typeface="Calibri"/>
              </a:defRPr>
            </a:pPr>
            <a:r>
              <a:rPr sz="1800" b="0">
                <a:solidFill>
                  <a:srgbClr val="222222"/>
                </a:solidFill>
                <a:latin typeface="Calibri"/>
              </a:rPr>
              <a:t>4.  Why do we switch at 20 kHz rather than 300 Hz?</a:t>
            </a:r>
          </a:p>
          <a:p>
            <a:pPr algn="l">
              <a:lnSpc>
                <a:spcPct val="100000"/>
              </a:lnSpc>
              <a:spcAft>
                <a:spcPts val="1000"/>
              </a:spcAft>
              <a:defRPr sz="1800" b="0">
                <a:solidFill>
                  <a:srgbClr val="222222"/>
                </a:solidFill>
                <a:latin typeface="Calibri"/>
              </a:defRPr>
            </a:pPr>
            <a:r>
              <a:rPr sz="1800" b="0">
                <a:solidFill>
                  <a:srgbClr val="222222"/>
                </a:solidFill>
                <a:latin typeface="Calibri"/>
              </a:rPr>
              <a:t>5.  The left wheels get 200 and the right wheels get -200. What does the vehicle do?</a:t>
            </a:r>
          </a:p>
          <a:p>
            <a:pPr algn="l">
              <a:lnSpc>
                <a:spcPct val="100000"/>
              </a:lnSpc>
              <a:spcAft>
                <a:spcPts val="1000"/>
              </a:spcAft>
              <a:defRPr sz="1800" b="0">
                <a:solidFill>
                  <a:srgbClr val="222222"/>
                </a:solidFill>
                <a:latin typeface="Calibri"/>
              </a:defRPr>
            </a:pPr>
            <a:r>
              <a:rPr sz="1800" b="0">
                <a:solidFill>
                  <a:srgbClr val="222222"/>
                </a:solidFill>
                <a:latin typeface="Calibri"/>
              </a:rPr>
              <a:t>6.  Your wheel is 3 inches across. How far does the vehicle travel in one wheel turn?</a:t>
            </a:r>
          </a:p>
          <a:p>
            <a:pPr algn="l">
              <a:lnSpc>
                <a:spcPct val="100000"/>
              </a:lnSpc>
              <a:spcAft>
                <a:spcPts val="1000"/>
              </a:spcAft>
              <a:defRPr sz="1800" b="0">
                <a:solidFill>
                  <a:srgbClr val="222222"/>
                </a:solidFill>
                <a:latin typeface="Calibri"/>
              </a:defRPr>
            </a:pPr>
            <a:r>
              <a:rPr sz="1800" b="0">
                <a:solidFill>
                  <a:srgbClr val="222222"/>
                </a:solidFill>
                <a:latin typeface="Calibri"/>
              </a:rPr>
              <a:t>7.  Your square comes out as a rectangle. Which number is wrong, and which way should you change it?</a:t>
            </a:r>
          </a:p>
          <a:p>
            <a:pPr algn="l">
              <a:lnSpc>
                <a:spcPct val="100000"/>
              </a:lnSpc>
              <a:spcAft>
                <a:spcPts val="1000"/>
              </a:spcAft>
              <a:defRPr sz="1800" b="0">
                <a:solidFill>
                  <a:srgbClr val="222222"/>
                </a:solidFill>
                <a:latin typeface="Calibri"/>
              </a:defRPr>
            </a:pPr>
            <a:r>
              <a:rPr sz="18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