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notesMaster" Target="notesMasters/notesMaster1.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If a student asks about back-EMF, that is a good question and it belongs in the advanced course. Park it.</a:t>
            </a:r>
          </a:p>
          <a:p>
            <a:r>
              <a:rPr sz="1200">
                <a:latin typeface="Calibri"/>
              </a:rPr>
              <a:t>The practical takeaway is the last sentence on the right: a wheel running backwards is a two-number fix in the sketch, not a rewiring job.</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Ask them to draw the triangle in their engineering notebook before you show the next slide.</a:t>
            </a:r>
          </a:p>
          <a:p>
            <a:r>
              <a:rPr sz="1200">
                <a:latin typeface="Calibri"/>
              </a:rPr>
              <a:t>Kevin's Ohm's Law deck has more practice problems if this group wants them.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Give them four minutes, then take answers from the room rather than reading them out.</a:t>
            </a:r>
          </a:p>
          <a:p>
            <a:r>
              <a:rPr sz="1200">
                <a:latin typeface="Calibri"/>
              </a:rPr>
              <a:t>Question 4 is the one worth dwelling on - it connects the maths back to the vehicle they are about to drive.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payoff slide. Tie it to hardware they have handled.</a:t>
            </a:r>
          </a:p>
          <a:p>
            <a:r>
              <a:rPr sz="1200">
                <a:latin typeface="Calibri"/>
              </a:rPr>
              <a:t>If time is short, this is the slide to keep and the practice problems are the ones to drop.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Worth thirty seconds of enthusiasm. Several students each year come for the rover and stay for the ROV.</a:t>
            </a:r>
          </a:p>
          <a:p>
            <a:r>
              <a:rPr sz="1200">
                <a:latin typeface="Calibri"/>
              </a:rPr>
              <a:t>The honest pitch: a mistake on a rover bumps a wall. A mistake on a submersible floods an electronics bay.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notesSlide" Target="../notesSlides/notesSlide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2</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Motor Control</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H-bridges, pulse width modulation, tank steering, and driving a square you worked out on paper.</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Wheels off the ground until told otherwise.</a:t>
            </a:r>
          </a:p>
        </p:txBody>
      </p:sp>
      <p:pic>
        <p:nvPicPr>
          <p:cNvPr id="8" name="Picture 7" descr="vehicle-top-plate-esp32.jpg"/>
          <p:cNvPicPr>
            <a:picLocks noChangeAspect="1"/>
          </p:cNvPicPr>
          <p:nvPr/>
        </p:nvPicPr>
        <p:blipFill>
          <a:blip r:embed="rId3"/>
          <a:stretch>
            <a:fillRect/>
          </a:stretch>
        </p:blipFill>
        <p:spPr>
          <a:xfrm>
            <a:off x="7223760" y="1371600"/>
            <a:ext cx="4480560" cy="3718637"/>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an H-bridge reverses a motor, in terms of current</a:t>
            </a:r>
          </a:p>
          <a:p>
            <a:pPr algn="l">
              <a:lnSpc>
                <a:spcPct val="100000"/>
              </a:lnSpc>
              <a:spcAft>
                <a:spcPts val="1300"/>
              </a:spcAft>
              <a:defRPr sz="1900" b="0">
                <a:solidFill>
                  <a:srgbClr val="222222"/>
                </a:solidFill>
                <a:latin typeface="Calibri"/>
              </a:defRPr>
            </a:pPr>
            <a:r>
              <a:rPr sz="1900" b="0">
                <a:solidFill>
                  <a:srgbClr val="222222"/>
                </a:solidFill>
                <a:latin typeface="Calibri"/>
              </a:rPr>
              <a:t>2.   Say what a duty cycle is, and work out the duty value for a given percentage of full power</a:t>
            </a:r>
          </a:p>
          <a:p>
            <a:pPr algn="l">
              <a:lnSpc>
                <a:spcPct val="100000"/>
              </a:lnSpc>
              <a:spcAft>
                <a:spcPts val="1300"/>
              </a:spcAft>
              <a:defRPr sz="1900" b="0">
                <a:solidFill>
                  <a:srgbClr val="222222"/>
                </a:solidFill>
                <a:latin typeface="Calibri"/>
              </a:defRPr>
            </a:pPr>
            <a:r>
              <a:rPr sz="1900" b="0">
                <a:solidFill>
                  <a:srgbClr val="222222"/>
                </a:solidFill>
                <a:latin typeface="Calibri"/>
              </a:rPr>
              <a:t>3.   Use Ohm's law to find voltage, current or resistance given the other two</a:t>
            </a:r>
          </a:p>
          <a:p>
            <a:pPr algn="l">
              <a:lnSpc>
                <a:spcPct val="100000"/>
              </a:lnSpc>
              <a:spcAft>
                <a:spcPts val="1300"/>
              </a:spcAft>
              <a:defRPr sz="1900" b="0">
                <a:solidFill>
                  <a:srgbClr val="222222"/>
                </a:solidFill>
                <a:latin typeface="Calibri"/>
              </a:defRPr>
            </a:pPr>
            <a:r>
              <a:rPr sz="1900" b="0">
                <a:solidFill>
                  <a:srgbClr val="222222"/>
                </a:solidFill>
                <a:latin typeface="Calibri"/>
              </a:rPr>
              <a:t>4.   Tell a series circuit from a parallel one, and say what is shared in each</a:t>
            </a:r>
          </a:p>
          <a:p>
            <a:pPr algn="l">
              <a:lnSpc>
                <a:spcPct val="100000"/>
              </a:lnSpc>
              <a:spcAft>
                <a:spcPts val="1300"/>
              </a:spcAft>
              <a:defRPr sz="1900" b="0">
                <a:solidFill>
                  <a:srgbClr val="222222"/>
                </a:solidFill>
                <a:latin typeface="Calibri"/>
              </a:defRPr>
            </a:pPr>
            <a:r>
              <a:rPr sz="1900" b="0">
                <a:solidFill>
                  <a:srgbClr val="222222"/>
                </a:solidFill>
                <a:latin typeface="Calibri"/>
              </a:rPr>
              <a:t>5.   Measure your own vehicle's speed in feet per second</a:t>
            </a:r>
          </a:p>
          <a:p>
            <a:pPr algn="l">
              <a:lnSpc>
                <a:spcPct val="100000"/>
              </a:lnSpc>
              <a:spcAft>
                <a:spcPts val="1300"/>
              </a:spcAft>
              <a:defRPr sz="1900" b="0">
                <a:solidFill>
                  <a:srgbClr val="222222"/>
                </a:solidFill>
                <a:latin typeface="Calibri"/>
              </a:defRPr>
            </a:pPr>
            <a:r>
              <a:rPr sz="1900" b="0">
                <a:solidFill>
                  <a:srgbClr val="222222"/>
                </a:solidFill>
                <a:latin typeface="Calibri"/>
              </a:rPr>
              <a:t>6.   Predict where a pre-programmed maneuver will finish, then tune it</a:t>
            </a:r>
          </a:p>
          <a:p>
            <a:pPr algn="l">
              <a:lnSpc>
                <a:spcPct val="100000"/>
              </a:lnSpc>
              <a:spcAft>
                <a:spcPts val="1300"/>
              </a:spcAft>
              <a:defRPr sz="1900" b="0">
                <a:solidFill>
                  <a:srgbClr val="222222"/>
                </a:solidFill>
                <a:latin typeface="Calibri"/>
              </a:defRPr>
            </a:pPr>
            <a:r>
              <a:rPr sz="1900" b="0">
                <a:solidFill>
                  <a:srgbClr val="222222"/>
                </a:solidFill>
                <a:latin typeface="Calibri"/>
              </a:rPr>
              <a:t>7.   Explain why dead reckoning drifts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You installed the Arduino IDE, the board package and the libraries.</a:t>
            </a:r>
          </a:p>
          <a:p>
            <a:pPr algn="l">
              <a:lnSpc>
                <a:spcPct val="100000"/>
              </a:lnSpc>
              <a:spcAft>
                <a:spcPts val="900"/>
              </a:spcAft>
              <a:defRPr sz="1800" b="0">
                <a:solidFill>
                  <a:srgbClr val="222222"/>
                </a:solidFill>
                <a:latin typeface="Calibri"/>
              </a:defRPr>
            </a:pPr>
            <a:r>
              <a:rPr sz="1800" b="0">
                <a:solidFill>
                  <a:srgbClr val="222222"/>
                </a:solidFill>
                <a:latin typeface="Calibri"/>
              </a:rPr>
              <a:t>You know the three parts of a program: the top of the file, setup(), and loop().</a:t>
            </a:r>
          </a:p>
          <a:p>
            <a:pPr algn="l">
              <a:lnSpc>
                <a:spcPct val="100000"/>
              </a:lnSpc>
              <a:spcAft>
                <a:spcPts val="900"/>
              </a:spcAft>
              <a:defRPr sz="1800" b="0">
                <a:solidFill>
                  <a:srgbClr val="222222"/>
                </a:solidFill>
                <a:latin typeface="Calibri"/>
              </a:defRPr>
            </a:pPr>
            <a:r>
              <a:rPr sz="1800" b="0">
                <a:solidFill>
                  <a:srgbClr val="222222"/>
                </a:solidFill>
                <a:latin typeface="Calibri"/>
              </a:rPr>
              <a:t>You can upload a program and read what it prints.</a:t>
            </a:r>
          </a:p>
          <a:p>
            <a:pPr algn="l">
              <a:lnSpc>
                <a:spcPct val="100000"/>
              </a:lnSpc>
              <a:spcAft>
                <a:spcPts val="900"/>
              </a:spcAft>
              <a:defRPr sz="1800" b="0">
                <a:solidFill>
                  <a:srgbClr val="222222"/>
                </a:solidFill>
                <a:latin typeface="Calibri"/>
              </a:defRPr>
            </a:pPr>
            <a:r>
              <a:rPr sz="1800" b="0">
                <a:solidFill>
                  <a:srgbClr val="222222"/>
                </a:solidFill>
                <a:latin typeface="Calibri"/>
              </a:rPr>
              <a:t>You lit one of the 32 LEDs and found out where number 0 is.</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Today the vehicle moves.</a:t>
            </a:r>
          </a:p>
        </p:txBody>
      </p:sp>
      <p:sp>
        <p:nvSpPr>
          <p:cNvPr id="7" name="Rounded Rectangle 6"/>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for everything until the square maneuver at the end. Then we clear the floor and do it properly.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4" cy="3282950"/>
        </p:xfrm>
        <a:graphic>
          <a:graphicData uri="http://schemas.openxmlformats.org/drawingml/2006/table">
            <a:tbl>
              <a:tblPr firstRow="1" bandRow="1">
                <a:tableStyleId>{5C22544A-7EE6-4342-B048-85BDC9FD1C3A}</a:tableStyleId>
              </a:tblPr>
              <a:tblGrid>
                <a:gridCol w="1118585"/>
                <a:gridCol w="10067269"/>
              </a:tblGrid>
              <a:tr h="298450">
                <a:tc>
                  <a:txBody>
                    <a:bodyPr/>
                    <a:lstStyle/>
                    <a:p>
                      <a:r>
                        <a:rPr sz="1400" b="1">
                          <a:solidFill>
                            <a:srgbClr val="FFFFFF"/>
                          </a:solidFill>
                          <a:latin typeface="Calibri"/>
                        </a:rPr>
                        <a:t>Time</a:t>
                      </a:r>
                    </a:p>
                  </a:txBody>
                  <a:tcPr marL="73152" marT="18288" marB="18288">
                    <a:solidFill>
                      <a:srgbClr val="1F3A5F"/>
                    </a:solidFill>
                  </a:tcPr>
                </a:tc>
                <a:tc>
                  <a:txBody>
                    <a:bodyPr/>
                    <a:lstStyle/>
                    <a:p>
                      <a:r>
                        <a:rPr sz="1400" b="1">
                          <a:solidFill>
                            <a:srgbClr val="FFFFFF"/>
                          </a:solidFill>
                          <a:latin typeface="Calibri"/>
                        </a:rPr>
                        <a:t>What we do</a:t>
                      </a:r>
                    </a:p>
                  </a:txBody>
                  <a:tcPr marL="73152" marT="18288" marB="18288">
                    <a:solidFill>
                      <a:srgbClr val="1F3A5F"/>
                    </a:solidFill>
                  </a:tcPr>
                </a:tc>
              </a:tr>
              <a:tr h="298450">
                <a:tc>
                  <a:txBody>
                    <a:bodyPr/>
                    <a:lstStyle/>
                    <a:p>
                      <a:r>
                        <a:rPr sz="1400">
                          <a:solidFill>
                            <a:srgbClr val="222222"/>
                          </a:solidFill>
                          <a:latin typeface="Calibri"/>
                        </a:rPr>
                        <a:t>0:00</a:t>
                      </a:r>
                    </a:p>
                  </a:txBody>
                  <a:tcPr marL="73152" marT="18288" marB="18288">
                    <a:solidFill>
                      <a:srgbClr val="FFFFFF"/>
                    </a:solidFill>
                  </a:tcPr>
                </a:tc>
                <a:tc>
                  <a:txBody>
                    <a:bodyPr/>
                    <a:lstStyle/>
                    <a:p>
                      <a:r>
                        <a:rPr sz="1400">
                          <a:solidFill>
                            <a:srgbClr val="222222"/>
                          </a:solidFill>
                          <a:latin typeface="Calibri"/>
                        </a:rPr>
                        <a:t>Recap. Two kinds of motor, and how an H-bridge works</a:t>
                      </a:r>
                    </a:p>
                  </a:txBody>
                  <a:tcPr marL="73152" marT="18288" marB="18288">
                    <a:solidFill>
                      <a:srgbClr val="FFFFFF"/>
                    </a:solidFill>
                  </a:tcPr>
                </a:tc>
              </a:tr>
              <a:tr h="298450">
                <a:tc>
                  <a:txBody>
                    <a:bodyPr/>
                    <a:lstStyle/>
                    <a:p>
                      <a:r>
                        <a:rPr sz="1400">
                          <a:solidFill>
                            <a:srgbClr val="222222"/>
                          </a:solidFill>
                          <a:latin typeface="Calibri"/>
                        </a:rPr>
                        <a:t>0:25</a:t>
                      </a:r>
                    </a:p>
                  </a:txBody>
                  <a:tcPr marL="73152" marT="18288" marB="18288">
                    <a:solidFill>
                      <a:srgbClr val="EEF3F8"/>
                    </a:solidFill>
                  </a:tcPr>
                </a:tc>
                <a:tc>
                  <a:txBody>
                    <a:bodyPr/>
                    <a:lstStyle/>
                    <a:p>
                      <a:r>
                        <a:rPr sz="1400">
                          <a:solidFill>
                            <a:srgbClr val="222222"/>
                          </a:solidFill>
                          <a:latin typeface="Calibri"/>
                        </a:rPr>
                        <a:t>Pulse width modulation and duty cycle</a:t>
                      </a:r>
                    </a:p>
                  </a:txBody>
                  <a:tcPr marL="73152" marT="18288" marB="18288">
                    <a:solidFill>
                      <a:srgbClr val="EEF3F8"/>
                    </a:solidFill>
                  </a:tcPr>
                </a:tc>
              </a:tr>
              <a:tr h="298450">
                <a:tc>
                  <a:txBody>
                    <a:bodyPr/>
                    <a:lstStyle/>
                    <a:p>
                      <a:r>
                        <a:rPr sz="1400">
                          <a:solidFill>
                            <a:srgbClr val="222222"/>
                          </a:solidFill>
                          <a:latin typeface="Calibri"/>
                        </a:rPr>
                        <a:t>0:50</a:t>
                      </a:r>
                    </a:p>
                  </a:txBody>
                  <a:tcPr marL="73152" marT="18288" marB="18288">
                    <a:solidFill>
                      <a:srgbClr val="FFFFFF"/>
                    </a:solidFill>
                  </a:tcPr>
                </a:tc>
                <a:tc>
                  <a:txBody>
                    <a:bodyPr/>
                    <a:lstStyle/>
                    <a:p>
                      <a:r>
                        <a:rPr sz="1400">
                          <a:solidFill>
                            <a:srgbClr val="222222"/>
                          </a:solidFill>
                          <a:latin typeface="Calibri"/>
                        </a:rPr>
                        <a:t>Upload l2a_one_motor. Find your vehicle's minimum speed</a:t>
                      </a:r>
                    </a:p>
                  </a:txBody>
                  <a:tcPr marL="73152" marT="18288" marB="18288">
                    <a:solidFill>
                      <a:srgbClr val="FFFFFF"/>
                    </a:solidFill>
                  </a:tcPr>
                </a:tc>
              </a:tr>
              <a:tr h="298450">
                <a:tc>
                  <a:txBody>
                    <a:bodyPr/>
                    <a:lstStyle/>
                    <a:p>
                      <a:r>
                        <a:rPr sz="1400">
                          <a:solidFill>
                            <a:srgbClr val="222222"/>
                          </a:solidFill>
                          <a:latin typeface="Calibri"/>
                        </a:rPr>
                        <a:t>1:15</a:t>
                      </a:r>
                    </a:p>
                  </a:txBody>
                  <a:tcPr marL="73152" marT="18288" marB="18288">
                    <a:solidFill>
                      <a:srgbClr val="EEF3F8"/>
                    </a:solidFill>
                  </a:tcPr>
                </a:tc>
                <a:tc>
                  <a:txBody>
                    <a:bodyPr/>
                    <a:lstStyle/>
                    <a:p>
                      <a:r>
                        <a:rPr sz="1400">
                          <a:solidFill>
                            <a:srgbClr val="222222"/>
                          </a:solidFill>
                          <a:latin typeface="Calibri"/>
                        </a:rPr>
                        <a:t>BREAK  (10 minutes)</a:t>
                      </a:r>
                    </a:p>
                  </a:txBody>
                  <a:tcPr marL="73152" marT="18288" marB="18288">
                    <a:solidFill>
                      <a:srgbClr val="EEF3F8"/>
                    </a:solidFill>
                  </a:tcPr>
                </a:tc>
              </a:tr>
              <a:tr h="298450">
                <a:tc>
                  <a:txBody>
                    <a:bodyPr/>
                    <a:lstStyle/>
                    <a:p>
                      <a:r>
                        <a:rPr sz="1400">
                          <a:solidFill>
                            <a:srgbClr val="222222"/>
                          </a:solidFill>
                          <a:latin typeface="Calibri"/>
                        </a:rPr>
                        <a:t>1:25</a:t>
                      </a:r>
                    </a:p>
                  </a:txBody>
                  <a:tcPr marL="73152" marT="18288" marB="18288">
                    <a:solidFill>
                      <a:srgbClr val="FFFFFF"/>
                    </a:solidFill>
                  </a:tcPr>
                </a:tc>
                <a:tc>
                  <a:txBody>
                    <a:bodyPr/>
                    <a:lstStyle/>
                    <a:p>
                      <a:r>
                        <a:rPr sz="1400">
                          <a:solidFill>
                            <a:srgbClr val="222222"/>
                          </a:solidFill>
                          <a:latin typeface="Calibri"/>
                        </a:rPr>
                        <a:t>Upload l2b_speed_ramp. Duty against actual speed</a:t>
                      </a:r>
                    </a:p>
                  </a:txBody>
                  <a:tcPr marL="73152" marT="18288" marB="18288">
                    <a:solidFill>
                      <a:srgbClr val="FFFFFF"/>
                    </a:solidFill>
                  </a:tcPr>
                </a:tc>
              </a:tr>
              <a:tr h="298450">
                <a:tc>
                  <a:txBody>
                    <a:bodyPr/>
                    <a:lstStyle/>
                    <a:p>
                      <a:r>
                        <a:rPr sz="1400">
                          <a:solidFill>
                            <a:srgbClr val="222222"/>
                          </a:solidFill>
                          <a:latin typeface="Calibri"/>
                        </a:rPr>
                        <a:t>1:45</a:t>
                      </a:r>
                    </a:p>
                  </a:txBody>
                  <a:tcPr marL="73152" marT="18288" marB="18288">
                    <a:solidFill>
                      <a:srgbClr val="EEF3F8"/>
                    </a:solidFill>
                  </a:tcPr>
                </a:tc>
                <a:tc>
                  <a:txBody>
                    <a:bodyPr/>
                    <a:lstStyle/>
                    <a:p>
                      <a:r>
                        <a:rPr sz="1400">
                          <a:solidFill>
                            <a:srgbClr val="222222"/>
                          </a:solidFill>
                          <a:latin typeface="Calibri"/>
                        </a:rPr>
                        <a:t>STEM break: Ohm's law, and a circuit on a breadboard</a:t>
                      </a:r>
                    </a:p>
                  </a:txBody>
                  <a:tcPr marL="73152" marT="18288" marB="18288">
                    <a:solidFill>
                      <a:srgbClr val="EEF3F8"/>
                    </a:solidFill>
                  </a:tcPr>
                </a:tc>
              </a:tr>
              <a:tr h="298450">
                <a:tc>
                  <a:txBody>
                    <a:bodyPr/>
                    <a:lstStyle/>
                    <a:p>
                      <a:r>
                        <a:rPr sz="1400">
                          <a:solidFill>
                            <a:srgbClr val="222222"/>
                          </a:solidFill>
                          <a:latin typeface="Calibri"/>
                        </a:rPr>
                        <a:t>2:10</a:t>
                      </a:r>
                    </a:p>
                  </a:txBody>
                  <a:tcPr marL="73152" marT="18288" marB="18288">
                    <a:solidFill>
                      <a:srgbClr val="FFFFFF"/>
                    </a:solidFill>
                  </a:tcPr>
                </a:tc>
                <a:tc>
                  <a:txBody>
                    <a:bodyPr/>
                    <a:lstStyle/>
                    <a:p>
                      <a:r>
                        <a:rPr sz="1400">
                          <a:solidFill>
                            <a:srgbClr val="222222"/>
                          </a:solidFill>
                          <a:latin typeface="Calibri"/>
                        </a:rPr>
                        <a:t>BREAK  (10 minutes)</a:t>
                      </a:r>
                    </a:p>
                  </a:txBody>
                  <a:tcPr marL="73152" marT="18288" marB="18288">
                    <a:solidFill>
                      <a:srgbClr val="FFFFFF"/>
                    </a:solidFill>
                  </a:tcPr>
                </a:tc>
              </a:tr>
              <a:tr h="298450">
                <a:tc>
                  <a:txBody>
                    <a:bodyPr/>
                    <a:lstStyle/>
                    <a:p>
                      <a:r>
                        <a:rPr sz="1400">
                          <a:solidFill>
                            <a:srgbClr val="222222"/>
                          </a:solidFill>
                          <a:latin typeface="Calibri"/>
                        </a:rPr>
                        <a:t>2:20</a:t>
                      </a:r>
                    </a:p>
                  </a:txBody>
                  <a:tcPr marL="73152" marT="18288" marB="18288">
                    <a:solidFill>
                      <a:srgbClr val="EEF3F8"/>
                    </a:solidFill>
                  </a:tcPr>
                </a:tc>
                <a:tc>
                  <a:txBody>
                    <a:bodyPr/>
                    <a:lstStyle/>
                    <a:p>
                      <a:r>
                        <a:rPr sz="1400">
                          <a:solidFill>
                            <a:srgbClr val="222222"/>
                          </a:solidFill>
                          <a:latin typeface="Calibri"/>
                        </a:rPr>
                        <a:t>Tank drive, mixing, and the maths that predicts the square</a:t>
                      </a:r>
                    </a:p>
                  </a:txBody>
                  <a:tcPr marL="73152" marT="18288" marB="18288">
                    <a:solidFill>
                      <a:srgbClr val="EEF3F8"/>
                    </a:solidFill>
                  </a:tcPr>
                </a:tc>
              </a:tr>
              <a:tr h="298450">
                <a:tc>
                  <a:txBody>
                    <a:bodyPr/>
                    <a:lstStyle/>
                    <a:p>
                      <a:r>
                        <a:rPr sz="1400">
                          <a:solidFill>
                            <a:srgbClr val="222222"/>
                          </a:solidFill>
                          <a:latin typeface="Calibri"/>
                        </a:rPr>
                        <a:t>2:40</a:t>
                      </a:r>
                    </a:p>
                  </a:txBody>
                  <a:tcPr marL="73152" marT="18288" marB="18288">
                    <a:solidFill>
                      <a:srgbClr val="FFFFFF"/>
                    </a:solidFill>
                  </a:tcPr>
                </a:tc>
                <a:tc>
                  <a:txBody>
                    <a:bodyPr/>
                    <a:lstStyle/>
                    <a:p>
                      <a:r>
                        <a:rPr sz="1400">
                          <a:solidFill>
                            <a:srgbClr val="222222"/>
                          </a:solidFill>
                          <a:latin typeface="Calibri"/>
                        </a:rPr>
                        <a:t>Clear the floor. Upload l2c_maneuver_square and tune it</a:t>
                      </a:r>
                    </a:p>
                  </a:txBody>
                  <a:tcPr marL="73152" marT="18288" marB="18288">
                    <a:solidFill>
                      <a:srgbClr val="FFFFFF"/>
                    </a:solidFill>
                  </a:tcPr>
                </a:tc>
              </a:tr>
              <a:tr h="298450">
                <a:tc>
                  <a:txBody>
                    <a:bodyPr/>
                    <a:lstStyle/>
                    <a:p>
                      <a:r>
                        <a:rPr sz="1400">
                          <a:solidFill>
                            <a:srgbClr val="222222"/>
                          </a:solidFill>
                          <a:latin typeface="Calibri"/>
                        </a:rPr>
                        <a:t>2:57</a:t>
                      </a:r>
                    </a:p>
                  </a:txBody>
                  <a:tcPr marL="73152" marT="18288" marB="18288">
                    <a:solidFill>
                      <a:srgbClr val="EEF3F8"/>
                    </a:solidFill>
                  </a:tcPr>
                </a:tc>
                <a:tc>
                  <a:txBody>
                    <a:bodyPr/>
                    <a:lstStyle/>
                    <a:p>
                      <a:r>
                        <a:rPr sz="1400">
                          <a:solidFill>
                            <a:srgbClr val="222222"/>
                          </a:solidFill>
                          <a:latin typeface="Calibri"/>
                        </a:rPr>
                        <a:t>Sources of error, and what dead reckoning cannot do</a:t>
                      </a:r>
                    </a:p>
                  </a:txBody>
                  <a:tcPr marL="73152" marT="18288" marB="18288">
                    <a:solidFill>
                      <a:srgbClr val="EEF3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kinds of motor, and why we use the one we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Brushed DC, with an H-bridge  (the Pathfinder)</a:t>
            </a:r>
          </a:p>
        </p:txBody>
      </p:sp>
      <p:sp>
        <p:nvSpPr>
          <p:cNvPr id="7" name="TextBox 6"/>
          <p:cNvSpPr txBox="1"/>
          <p:nvPr/>
        </p:nvSpPr>
        <p:spPr>
          <a:xfrm>
            <a:off x="502920"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Simple, cheap, rugged, and forgiving of students.</a:t>
            </a:r>
          </a:p>
          <a:p>
            <a:pPr algn="l">
              <a:lnSpc>
                <a:spcPct val="100000"/>
              </a:lnSpc>
              <a:spcAft>
                <a:spcPts val="400"/>
              </a:spcAft>
              <a:defRPr sz="1800" b="0">
                <a:solidFill>
                  <a:srgbClr val="222222"/>
                </a:solidFill>
                <a:latin typeface="Calibri"/>
              </a:defRPr>
            </a:pPr>
            <a:r>
              <a:rPr sz="1800" b="0">
                <a:solidFill>
                  <a:srgbClr val="222222"/>
                </a:solidFill>
                <a:latin typeface="Calibri"/>
              </a:rPr>
              <a:t>Direction comes from which way current flows through it.</a:t>
            </a:r>
          </a:p>
          <a:p>
            <a:pPr algn="l">
              <a:lnSpc>
                <a:spcPct val="100000"/>
              </a:lnSpc>
              <a:spcAft>
                <a:spcPts val="400"/>
              </a:spcAft>
              <a:defRPr sz="1800" b="0">
                <a:solidFill>
                  <a:srgbClr val="222222"/>
                </a:solidFill>
                <a:latin typeface="Calibri"/>
              </a:defRPr>
            </a:pPr>
            <a:r>
              <a:rPr sz="1800" b="0">
                <a:solidFill>
                  <a:srgbClr val="222222"/>
                </a:solidFill>
                <a:latin typeface="Calibri"/>
              </a:rPr>
              <a:t>Speed comes from how much power you give it.</a:t>
            </a:r>
          </a:p>
          <a:p>
            <a:pPr algn="l">
              <a:lnSpc>
                <a:spcPct val="100000"/>
              </a:lnSpc>
              <a:spcAft>
                <a:spcPts val="400"/>
              </a:spcAft>
              <a:defRPr sz="1800" b="0">
                <a:solidFill>
                  <a:srgbClr val="222222"/>
                </a:solidFill>
                <a:latin typeface="Calibri"/>
              </a:defRPr>
            </a:pPr>
            <a:r>
              <a:rPr sz="1800" b="0">
                <a:solidFill>
                  <a:srgbClr val="222222"/>
                </a:solidFill>
                <a:latin typeface="Calibri"/>
              </a:rPr>
              <a:t>Needs an H-bridge driver to reverse the current. Ours are TI DRV8871 chips, one per motor.</a:t>
            </a:r>
          </a:p>
          <a:p>
            <a:pPr algn="l">
              <a:lnSpc>
                <a:spcPct val="100000"/>
              </a:lnSpc>
              <a:spcAft>
                <a:spcPts val="400"/>
              </a:spcAft>
              <a:defRPr sz="1800" b="0">
                <a:solidFill>
                  <a:srgbClr val="222222"/>
                </a:solidFill>
                <a:latin typeface="Calibri"/>
              </a:defRPr>
            </a:pPr>
            <a:r>
              <a:rPr sz="1800" b="0">
                <a:solidFill>
                  <a:srgbClr val="222222"/>
                </a:solidFill>
                <a:latin typeface="Calibri"/>
              </a:rPr>
              <a:t>Two signal wires per motor from the ESP32.</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Brushless, with an ESC</a:t>
            </a:r>
          </a:p>
        </p:txBody>
      </p:sp>
      <p:sp>
        <p:nvSpPr>
          <p:cNvPr id="9" name="TextBox 8"/>
          <p:cNvSpPr txBox="1"/>
          <p:nvPr/>
        </p:nvSpPr>
        <p:spPr>
          <a:xfrm>
            <a:off x="6324447"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More power for the weight, and far longer life - no brushes to wear out.</a:t>
            </a:r>
          </a:p>
          <a:p>
            <a:pPr algn="l">
              <a:lnSpc>
                <a:spcPct val="100000"/>
              </a:lnSpc>
              <a:spcAft>
                <a:spcPts val="400"/>
              </a:spcAft>
              <a:defRPr sz="1800" b="0">
                <a:solidFill>
                  <a:srgbClr val="222222"/>
                </a:solidFill>
                <a:latin typeface="Calibri"/>
              </a:defRPr>
            </a:pPr>
            <a:r>
              <a:rPr sz="1800" b="0">
                <a:solidFill>
                  <a:srgbClr val="222222"/>
                </a:solidFill>
                <a:latin typeface="Calibri"/>
              </a:rPr>
              <a:t>Needs an Electronic Speed Controller to energise three windings in the right order.</a:t>
            </a:r>
          </a:p>
          <a:p>
            <a:pPr algn="l">
              <a:lnSpc>
                <a:spcPct val="100000"/>
              </a:lnSpc>
              <a:spcAft>
                <a:spcPts val="400"/>
              </a:spcAft>
              <a:defRPr sz="1800" b="0">
                <a:solidFill>
                  <a:srgbClr val="222222"/>
                </a:solidFill>
                <a:latin typeface="Calibri"/>
              </a:defRPr>
            </a:pPr>
            <a:r>
              <a:rPr sz="1800" b="0">
                <a:solidFill>
                  <a:srgbClr val="222222"/>
                </a:solidFill>
                <a:latin typeface="Calibri"/>
              </a:rPr>
              <a:t>The ESC takes a throttle signal, not a direction and a speed.</a:t>
            </a:r>
          </a:p>
          <a:p>
            <a:pPr algn="l">
              <a:lnSpc>
                <a:spcPct val="100000"/>
              </a:lnSpc>
              <a:spcAft>
                <a:spcPts val="400"/>
              </a:spcAft>
              <a:defRPr sz="1800" b="0">
                <a:solidFill>
                  <a:srgbClr val="222222"/>
                </a:solidFill>
                <a:latin typeface="Calibri"/>
              </a:defRPr>
            </a:pPr>
            <a:r>
              <a:rPr sz="1800" b="0">
                <a:solidFill>
                  <a:srgbClr val="222222"/>
                </a:solidFill>
                <a:latin typeface="Calibri"/>
              </a:rPr>
              <a:t>Used on drones, and on our larger vehicles.</a:t>
            </a:r>
          </a:p>
          <a:p>
            <a:pPr algn="l">
              <a:lnSpc>
                <a:spcPct val="100000"/>
              </a:lnSpc>
              <a:spcAft>
                <a:spcPts val="400"/>
              </a:spcAft>
              <a:defRPr sz="1800" b="0">
                <a:solidFill>
                  <a:srgbClr val="222222"/>
                </a:solidFill>
                <a:latin typeface="Calibri"/>
              </a:defRPr>
            </a:pPr>
            <a:r>
              <a:rPr sz="1800" b="0">
                <a:solidFill>
                  <a:srgbClr val="222222"/>
                </a:solidFill>
                <a:latin typeface="Calibri"/>
              </a:rPr>
              <a:t>Worth knowing about. Not what is under your hands today.</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motor goes one way when current flows one way through it, and the other way when it flows the other way. Everything else is detail.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H-bridge: four switches, four things a motor can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Rectangle 5"/>
          <p:cNvSpPr/>
          <p:nvPr/>
        </p:nvSpPr>
        <p:spPr>
          <a:xfrm>
            <a:off x="502920"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A high, B low</a:t>
            </a:r>
          </a:p>
        </p:txBody>
      </p:sp>
      <p:sp>
        <p:nvSpPr>
          <p:cNvPr id="7" name="Rounded Rectangle 6"/>
          <p:cNvSpPr/>
          <p:nvPr/>
        </p:nvSpPr>
        <p:spPr>
          <a:xfrm>
            <a:off x="502920" y="2011680"/>
            <a:ext cx="2606040" cy="658368"/>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FORWARD</a:t>
            </a:r>
          </a:p>
        </p:txBody>
      </p:sp>
      <p:sp>
        <p:nvSpPr>
          <p:cNvPr id="8" name="TextBox 7"/>
          <p:cNvSpPr txBox="1"/>
          <p:nvPr/>
        </p:nvSpPr>
        <p:spPr>
          <a:xfrm>
            <a:off x="502920" y="278892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driven one way</a:t>
            </a:r>
          </a:p>
        </p:txBody>
      </p:sp>
      <p:sp>
        <p:nvSpPr>
          <p:cNvPr id="9" name="Rectangle 8"/>
          <p:cNvSpPr/>
          <p:nvPr/>
        </p:nvSpPr>
        <p:spPr>
          <a:xfrm>
            <a:off x="3364992"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A low, B high</a:t>
            </a:r>
          </a:p>
        </p:txBody>
      </p:sp>
      <p:sp>
        <p:nvSpPr>
          <p:cNvPr id="10" name="Rounded Rectangle 9"/>
          <p:cNvSpPr/>
          <p:nvPr/>
        </p:nvSpPr>
        <p:spPr>
          <a:xfrm>
            <a:off x="3364992" y="2011680"/>
            <a:ext cx="2606040" cy="658368"/>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REVERSE</a:t>
            </a:r>
          </a:p>
        </p:txBody>
      </p:sp>
      <p:sp>
        <p:nvSpPr>
          <p:cNvPr id="11" name="TextBox 10"/>
          <p:cNvSpPr txBox="1"/>
          <p:nvPr/>
        </p:nvSpPr>
        <p:spPr>
          <a:xfrm>
            <a:off x="3364992" y="278892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driven the other way</a:t>
            </a:r>
          </a:p>
        </p:txBody>
      </p:sp>
      <p:sp>
        <p:nvSpPr>
          <p:cNvPr id="12" name="Rectangle 11"/>
          <p:cNvSpPr/>
          <p:nvPr/>
        </p:nvSpPr>
        <p:spPr>
          <a:xfrm>
            <a:off x="6227064"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both low</a:t>
            </a:r>
          </a:p>
        </p:txBody>
      </p:sp>
      <p:sp>
        <p:nvSpPr>
          <p:cNvPr id="13" name="Rounded Rectangle 12"/>
          <p:cNvSpPr/>
          <p:nvPr/>
        </p:nvSpPr>
        <p:spPr>
          <a:xfrm>
            <a:off x="6227064" y="2011680"/>
            <a:ext cx="2606040" cy="658368"/>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COAST</a:t>
            </a:r>
          </a:p>
        </p:txBody>
      </p:sp>
      <p:sp>
        <p:nvSpPr>
          <p:cNvPr id="14" name="TextBox 13"/>
          <p:cNvSpPr txBox="1"/>
          <p:nvPr/>
        </p:nvSpPr>
        <p:spPr>
          <a:xfrm>
            <a:off x="6227064" y="278892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terminals floating,</a:t>
            </a:r>
          </a:p>
          <a:p>
            <a:pPr algn="ctr">
              <a:lnSpc>
                <a:spcPct val="100000"/>
              </a:lnSpc>
              <a:spcAft>
                <a:spcPts val="0"/>
              </a:spcAft>
              <a:defRPr sz="1800" b="0">
                <a:solidFill>
                  <a:srgbClr val="222222"/>
                </a:solidFill>
                <a:latin typeface="Calibri"/>
              </a:defRPr>
            </a:pPr>
            <a:r>
              <a:rPr sz="1800" b="0">
                <a:solidFill>
                  <a:srgbClr val="222222"/>
                </a:solidFill>
                <a:latin typeface="Calibri"/>
              </a:rPr>
              <a:t>motor freewheels</a:t>
            </a:r>
          </a:p>
        </p:txBody>
      </p:sp>
      <p:sp>
        <p:nvSpPr>
          <p:cNvPr id="15" name="Rectangle 14"/>
          <p:cNvSpPr/>
          <p:nvPr/>
        </p:nvSpPr>
        <p:spPr>
          <a:xfrm>
            <a:off x="9089136"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both high</a:t>
            </a:r>
          </a:p>
        </p:txBody>
      </p:sp>
      <p:sp>
        <p:nvSpPr>
          <p:cNvPr id="16" name="Rounded Rectangle 15"/>
          <p:cNvSpPr/>
          <p:nvPr/>
        </p:nvSpPr>
        <p:spPr>
          <a:xfrm>
            <a:off x="9089136" y="2011680"/>
            <a:ext cx="2606040" cy="65836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BRAKE</a:t>
            </a:r>
          </a:p>
        </p:txBody>
      </p:sp>
      <p:sp>
        <p:nvSpPr>
          <p:cNvPr id="17" name="TextBox 16"/>
          <p:cNvSpPr txBox="1"/>
          <p:nvPr/>
        </p:nvSpPr>
        <p:spPr>
          <a:xfrm>
            <a:off x="9089136" y="278892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terminals shorted,</a:t>
            </a:r>
          </a:p>
          <a:p>
            <a:pPr algn="ctr">
              <a:lnSpc>
                <a:spcPct val="100000"/>
              </a:lnSpc>
              <a:spcAft>
                <a:spcPts val="0"/>
              </a:spcAft>
              <a:defRPr sz="1800" b="0">
                <a:solidFill>
                  <a:srgbClr val="222222"/>
                </a:solidFill>
                <a:latin typeface="Calibri"/>
              </a:defRPr>
            </a:pPr>
            <a:r>
              <a:rPr sz="1800" b="0">
                <a:solidFill>
                  <a:srgbClr val="222222"/>
                </a:solidFill>
                <a:latin typeface="Calibri"/>
              </a:rPr>
              <a:t>motor stops hard</a:t>
            </a:r>
          </a:p>
        </p:txBody>
      </p:sp>
      <p:cxnSp>
        <p:nvCxnSpPr>
          <p:cNvPr id="18" name="Connector 17"/>
          <p:cNvCxnSpPr/>
          <p:nvPr/>
        </p:nvCxnSpPr>
        <p:spPr>
          <a:xfrm>
            <a:off x="3611880" y="3657600"/>
            <a:ext cx="58521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611880" y="5394960"/>
            <a:ext cx="58521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611880" y="365760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464040" y="365760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611880" y="4526280"/>
            <a:ext cx="21945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269480" y="4526280"/>
            <a:ext cx="21945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5806440" y="4206240"/>
            <a:ext cx="1463040" cy="640080"/>
          </a:xfrm>
          <a:prstGeom prst="ellipse">
            <a:avLst/>
          </a:prstGeom>
          <a:solidFill>
            <a:srgbClr val="FFFFFF"/>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MOTOR</a:t>
            </a:r>
          </a:p>
        </p:txBody>
      </p:sp>
      <p:sp>
        <p:nvSpPr>
          <p:cNvPr id="25" name="TextBox 24"/>
          <p:cNvSpPr txBox="1"/>
          <p:nvPr/>
        </p:nvSpPr>
        <p:spPr>
          <a:xfrm>
            <a:off x="2651760" y="4069080"/>
            <a:ext cx="914400" cy="646684"/>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IN1</a:t>
            </a:r>
            <a:br/>
            <a:r>
              <a:rPr sz="1800" b="1">
                <a:solidFill>
                  <a:srgbClr val="0E7C86"/>
                </a:solidFill>
                <a:latin typeface="Calibri"/>
              </a:rPr>
              <a:t>(pin A)</a:t>
            </a:r>
          </a:p>
        </p:txBody>
      </p:sp>
      <p:sp>
        <p:nvSpPr>
          <p:cNvPr id="26" name="TextBox 25"/>
          <p:cNvSpPr txBox="1"/>
          <p:nvPr/>
        </p:nvSpPr>
        <p:spPr>
          <a:xfrm>
            <a:off x="9555480" y="4069080"/>
            <a:ext cx="1005840" cy="646684"/>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IN2</a:t>
            </a:r>
            <a:br/>
            <a:r>
              <a:rPr sz="1800" b="1">
                <a:solidFill>
                  <a:srgbClr val="0E7C86"/>
                </a:solidFill>
                <a:latin typeface="Calibri"/>
              </a:rPr>
              <a:t>(pin B)</a:t>
            </a:r>
          </a:p>
        </p:txBody>
      </p:sp>
      <p:sp>
        <p:nvSpPr>
          <p:cNvPr id="27" name="TextBox 26"/>
          <p:cNvSpPr txBox="1"/>
          <p:nvPr/>
        </p:nvSpPr>
        <p:spPr>
          <a:xfrm>
            <a:off x="5989320" y="3328416"/>
            <a:ext cx="12801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 V</a:t>
            </a:r>
          </a:p>
        </p:txBody>
      </p:sp>
      <p:sp>
        <p:nvSpPr>
          <p:cNvPr id="28" name="TextBox 27"/>
          <p:cNvSpPr txBox="1"/>
          <p:nvPr/>
        </p:nvSpPr>
        <p:spPr>
          <a:xfrm>
            <a:off x="5989320" y="5449824"/>
            <a:ext cx="12801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GND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driving A rather than B reverses the motor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What is physically happening</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A motor is a coil of wire sitting in a magnetic field. Push current through the coil and the field around the coil pushes against the magnets, and the shaft turns.</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Reverse the direction of the current and the coil's field reverses with it. Same magnets, same coil, opposite push - so the shaft turns the other way.</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What the two pins do about it</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The motor has two terminals. Current flows from the one at the higher voltage to the one at the lower.</a:t>
            </a:r>
          </a:p>
          <a:p>
            <a:pPr algn="l">
              <a:lnSpc>
                <a:spcPct val="100000"/>
              </a:lnSpc>
              <a:spcAft>
                <a:spcPts val="400"/>
              </a:spcAft>
              <a:defRPr sz="1800" b="0">
                <a:solidFill>
                  <a:srgbClr val="222222"/>
                </a:solidFill>
                <a:latin typeface="Calibri"/>
              </a:defRPr>
            </a:pPr>
          </a:p>
          <a:p>
            <a:pPr lvl="1" algn="l">
              <a:lnSpc>
                <a:spcPct val="100000"/>
              </a:lnSpc>
              <a:spcAft>
                <a:spcPts val="400"/>
              </a:spcAft>
              <a:defRPr sz="1800" b="0">
                <a:solidFill>
                  <a:srgbClr val="222222"/>
                </a:solidFill>
                <a:latin typeface="Calibri"/>
              </a:defRPr>
            </a:pPr>
            <a:r>
              <a:rPr sz="1800" b="0">
                <a:solidFill>
                  <a:srgbClr val="222222"/>
                </a:solidFill>
                <a:latin typeface="Calibri"/>
              </a:rPr>
              <a:t>A at 3.3 V, B at 0 V  -&gt;  current flows A to B</a:t>
            </a:r>
          </a:p>
          <a:p>
            <a:pPr lvl="1" algn="l">
              <a:lnSpc>
                <a:spcPct val="100000"/>
              </a:lnSpc>
              <a:spcAft>
                <a:spcPts val="400"/>
              </a:spcAft>
              <a:defRPr sz="1800" b="0">
                <a:solidFill>
                  <a:srgbClr val="222222"/>
                </a:solidFill>
                <a:latin typeface="Calibri"/>
              </a:defRPr>
            </a:pPr>
            <a:r>
              <a:rPr sz="1800" b="0">
                <a:solidFill>
                  <a:srgbClr val="222222"/>
                </a:solidFill>
                <a:latin typeface="Calibri"/>
              </a:rPr>
              <a:t>A at 0 V, B at 3.3 V  -&gt;  current flows B to 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driving A rather than B reverses the motor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What is physically happening (cont.)</a:t>
            </a:r>
          </a:p>
        </p:txBody>
      </p:sp>
      <p:sp>
        <p:nvSpPr>
          <p:cNvPr id="7" name="TextBox 6"/>
          <p:cNvSpPr txBox="1"/>
          <p:nvPr/>
        </p:nvSpPr>
        <p:spPr>
          <a:xfrm>
            <a:off x="502920"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That is the whole trick. DIRECTION OF ROTATION IS DIRECTION OF CURRENT. Everything the H-bridge does is in service of that one fact.</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What the two pins do about it (cont.)</a:t>
            </a:r>
          </a:p>
        </p:txBody>
      </p:sp>
      <p:sp>
        <p:nvSpPr>
          <p:cNvPr id="9" name="TextBox 8"/>
          <p:cNvSpPr txBox="1"/>
          <p:nvPr/>
        </p:nvSpPr>
        <p:spPr>
          <a:xfrm>
            <a:off x="6324447"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So the pins do not mean "forwards" and "backwards". They mean "this end is positive". Which way the wheel then turns depends on which way round the motor was wired - which is why swapping the two pin numbers in the program fixes a wheel that runs backwards.</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How MUCH current flows sets how hard it pushes, and that is what the duty cycle controls.</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Voltage is the push, current is the flow, and the motor turns because of the flow. Hold that and the next slide - Ohm's law - is the same idea with a resistor instead of a motor.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Your four motors and their eight pins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Two pins per motor. Which one you drive is the direction; how hard you drive it is the speed.</a:t>
            </a:r>
          </a:p>
        </p:txBody>
      </p:sp>
      <p:graphicFrame>
        <p:nvGraphicFramePr>
          <p:cNvPr id="7" name="Table 6"/>
          <p:cNvGraphicFramePr>
            <a:graphicFrameLocks noGrp="1"/>
          </p:cNvGraphicFramePr>
          <p:nvPr/>
        </p:nvGraphicFramePr>
        <p:xfrm>
          <a:off x="502920" y="1691640"/>
          <a:ext cx="11185854" cy="1492250"/>
        </p:xfrm>
        <a:graphic>
          <a:graphicData uri="http://schemas.openxmlformats.org/drawingml/2006/table">
            <a:tbl>
              <a:tblPr firstRow="1" bandRow="1">
                <a:tableStyleId>{5C22544A-7EE6-4342-B048-85BDC9FD1C3A}</a:tableStyleId>
              </a:tblPr>
              <a:tblGrid>
                <a:gridCol w="3355756"/>
                <a:gridCol w="1677878"/>
                <a:gridCol w="1677878"/>
                <a:gridCol w="4474342"/>
              </a:tblGrid>
              <a:tr h="298450">
                <a:tc>
                  <a:txBody>
                    <a:bodyPr/>
                    <a:lstStyle/>
                    <a:p>
                      <a:r>
                        <a:rPr sz="1400" b="1">
                          <a:solidFill>
                            <a:srgbClr val="FFFFFF"/>
                          </a:solidFill>
                          <a:latin typeface="Calibri"/>
                        </a:rPr>
                        <a:t>Motor</a:t>
                      </a:r>
                    </a:p>
                  </a:txBody>
                  <a:tcPr marL="73152" marT="18288" marB="18288">
                    <a:solidFill>
                      <a:srgbClr val="1F3A5F"/>
                    </a:solidFill>
                  </a:tcPr>
                </a:tc>
                <a:tc>
                  <a:txBody>
                    <a:bodyPr/>
                    <a:lstStyle/>
                    <a:p>
                      <a:r>
                        <a:rPr sz="1400" b="1">
                          <a:solidFill>
                            <a:srgbClr val="FFFFFF"/>
                          </a:solidFill>
                          <a:latin typeface="Calibri"/>
                        </a:rPr>
                        <a:t>Pin A</a:t>
                      </a:r>
                    </a:p>
                  </a:txBody>
                  <a:tcPr marL="73152" marT="18288" marB="18288">
                    <a:solidFill>
                      <a:srgbClr val="1F3A5F"/>
                    </a:solidFill>
                  </a:tcPr>
                </a:tc>
                <a:tc>
                  <a:txBody>
                    <a:bodyPr/>
                    <a:lstStyle/>
                    <a:p>
                      <a:r>
                        <a:rPr sz="1400" b="1">
                          <a:solidFill>
                            <a:srgbClr val="FFFFFF"/>
                          </a:solidFill>
                          <a:latin typeface="Calibri"/>
                        </a:rPr>
                        <a:t>Pin B</a:t>
                      </a:r>
                    </a:p>
                  </a:txBody>
                  <a:tcPr marL="73152" marT="18288" marB="18288">
                    <a:solidFill>
                      <a:srgbClr val="1F3A5F"/>
                    </a:solidFill>
                  </a:tcPr>
                </a:tc>
                <a:tc>
                  <a:txBody>
                    <a:bodyPr/>
                    <a:lstStyle/>
                    <a:p>
                      <a:r>
                        <a:rPr sz="1400" b="1">
                          <a:solidFill>
                            <a:srgbClr val="FFFFFF"/>
                          </a:solidFill>
                          <a:latin typeface="Calibri"/>
                        </a:rPr>
                        <a:t>Driving A gives you</a:t>
                      </a:r>
                    </a:p>
                  </a:txBody>
                  <a:tcPr marL="73152" marT="18288" marB="18288">
                    <a:solidFill>
                      <a:srgbClr val="1F3A5F"/>
                    </a:solidFill>
                  </a:tcPr>
                </a:tc>
              </a:tr>
              <a:tr h="298450">
                <a:tc>
                  <a:txBody>
                    <a:bodyPr/>
                    <a:lstStyle/>
                    <a:p>
                      <a:r>
                        <a:rPr sz="1400">
                          <a:solidFill>
                            <a:srgbClr val="222222"/>
                          </a:solidFill>
                          <a:latin typeface="Calibri"/>
                        </a:rPr>
                        <a:t>Front left</a:t>
                      </a:r>
                    </a:p>
                  </a:txBody>
                  <a:tcPr marL="73152" marT="18288" marB="18288">
                    <a:solidFill>
                      <a:srgbClr val="FFFFFF"/>
                    </a:solidFill>
                  </a:tcPr>
                </a:tc>
                <a:tc>
                  <a:txBody>
                    <a:bodyPr/>
                    <a:lstStyle/>
                    <a:p>
                      <a:r>
                        <a:rPr sz="1400">
                          <a:solidFill>
                            <a:srgbClr val="222222"/>
                          </a:solidFill>
                          <a:latin typeface="Calibri"/>
                        </a:rPr>
                        <a:t>12</a:t>
                      </a:r>
                    </a:p>
                  </a:txBody>
                  <a:tcPr marL="73152" marT="18288" marB="18288">
                    <a:solidFill>
                      <a:srgbClr val="FFFFFF"/>
                    </a:solidFill>
                  </a:tcPr>
                </a:tc>
                <a:tc>
                  <a:txBody>
                    <a:bodyPr/>
                    <a:lstStyle/>
                    <a:p>
                      <a:r>
                        <a:rPr sz="1400">
                          <a:solidFill>
                            <a:srgbClr val="222222"/>
                          </a:solidFill>
                          <a:latin typeface="Calibri"/>
                        </a:rPr>
                        <a:t>13</a:t>
                      </a:r>
                    </a:p>
                  </a:txBody>
                  <a:tcPr marL="73152" marT="18288" marB="18288">
                    <a:solidFill>
                      <a:srgbClr val="FFFFFF"/>
                    </a:solidFill>
                  </a:tcPr>
                </a:tc>
                <a:tc>
                  <a:txBody>
                    <a:bodyPr/>
                    <a:lstStyle/>
                    <a:p>
                      <a:r>
                        <a:rPr sz="1400">
                          <a:solidFill>
                            <a:srgbClr val="222222"/>
                          </a:solidFill>
                          <a:latin typeface="Calibri"/>
                        </a:rPr>
                        <a:t>forward</a:t>
                      </a:r>
                    </a:p>
                  </a:txBody>
                  <a:tcPr marL="73152" marT="18288" marB="18288">
                    <a:solidFill>
                      <a:srgbClr val="FFFFFF"/>
                    </a:solidFill>
                  </a:tcPr>
                </a:tc>
              </a:tr>
              <a:tr h="298450">
                <a:tc>
                  <a:txBody>
                    <a:bodyPr/>
                    <a:lstStyle/>
                    <a:p>
                      <a:r>
                        <a:rPr sz="1400">
                          <a:solidFill>
                            <a:srgbClr val="222222"/>
                          </a:solidFill>
                          <a:latin typeface="Calibri"/>
                        </a:rPr>
                        <a:t>Rear left</a:t>
                      </a:r>
                    </a:p>
                  </a:txBody>
                  <a:tcPr marL="73152" marT="18288" marB="18288">
                    <a:solidFill>
                      <a:srgbClr val="EEF3F8"/>
                    </a:solidFill>
                  </a:tcPr>
                </a:tc>
                <a:tc>
                  <a:txBody>
                    <a:bodyPr/>
                    <a:lstStyle/>
                    <a:p>
                      <a:r>
                        <a:rPr sz="1400">
                          <a:solidFill>
                            <a:srgbClr val="222222"/>
                          </a:solidFill>
                          <a:latin typeface="Calibri"/>
                        </a:rPr>
                        <a:t>18</a:t>
                      </a:r>
                    </a:p>
                  </a:txBody>
                  <a:tcPr marL="73152" marT="18288" marB="18288">
                    <a:solidFill>
                      <a:srgbClr val="EEF3F8"/>
                    </a:solidFill>
                  </a:tcPr>
                </a:tc>
                <a:tc>
                  <a:txBody>
                    <a:bodyPr/>
                    <a:lstStyle/>
                    <a:p>
                      <a:r>
                        <a:rPr sz="1400">
                          <a:solidFill>
                            <a:srgbClr val="222222"/>
                          </a:solidFill>
                          <a:latin typeface="Calibri"/>
                        </a:rPr>
                        <a:t>19</a:t>
                      </a:r>
                    </a:p>
                  </a:txBody>
                  <a:tcPr marL="73152" marT="18288" marB="18288">
                    <a:solidFill>
                      <a:srgbClr val="EEF3F8"/>
                    </a:solidFill>
                  </a:tcPr>
                </a:tc>
                <a:tc>
                  <a:txBody>
                    <a:bodyPr/>
                    <a:lstStyle/>
                    <a:p>
                      <a:r>
                        <a:rPr sz="1400">
                          <a:solidFill>
                            <a:srgbClr val="222222"/>
                          </a:solidFill>
                          <a:latin typeface="Calibri"/>
                        </a:rPr>
                        <a:t>forward</a:t>
                      </a:r>
                    </a:p>
                  </a:txBody>
                  <a:tcPr marL="73152" marT="18288" marB="18288">
                    <a:solidFill>
                      <a:srgbClr val="EEF3F8"/>
                    </a:solidFill>
                  </a:tcPr>
                </a:tc>
              </a:tr>
              <a:tr h="298450">
                <a:tc>
                  <a:txBody>
                    <a:bodyPr/>
                    <a:lstStyle/>
                    <a:p>
                      <a:r>
                        <a:rPr sz="1400">
                          <a:solidFill>
                            <a:srgbClr val="222222"/>
                          </a:solidFill>
                          <a:latin typeface="Calibri"/>
                        </a:rPr>
                        <a:t>Front right</a:t>
                      </a:r>
                    </a:p>
                  </a:txBody>
                  <a:tcPr marL="73152" marT="18288" marB="18288">
                    <a:solidFill>
                      <a:srgbClr val="FFFFFF"/>
                    </a:solidFill>
                  </a:tcPr>
                </a:tc>
                <a:tc>
                  <a:txBody>
                    <a:bodyPr/>
                    <a:lstStyle/>
                    <a:p>
                      <a:r>
                        <a:rPr sz="1400">
                          <a:solidFill>
                            <a:srgbClr val="222222"/>
                          </a:solidFill>
                          <a:latin typeface="Calibri"/>
                        </a:rPr>
                        <a:t>22</a:t>
                      </a:r>
                    </a:p>
                  </a:txBody>
                  <a:tcPr marL="73152" marT="18288" marB="18288">
                    <a:solidFill>
                      <a:srgbClr val="FFFFFF"/>
                    </a:solidFill>
                  </a:tcPr>
                </a:tc>
                <a:tc>
                  <a:txBody>
                    <a:bodyPr/>
                    <a:lstStyle/>
                    <a:p>
                      <a:r>
                        <a:rPr sz="1400">
                          <a:solidFill>
                            <a:srgbClr val="222222"/>
                          </a:solidFill>
                          <a:latin typeface="Calibri"/>
                        </a:rPr>
                        <a:t>23</a:t>
                      </a:r>
                    </a:p>
                  </a:txBody>
                  <a:tcPr marL="73152" marT="18288" marB="18288">
                    <a:solidFill>
                      <a:srgbClr val="FFFFFF"/>
                    </a:solidFill>
                  </a:tcPr>
                </a:tc>
                <a:tc>
                  <a:txBody>
                    <a:bodyPr/>
                    <a:lstStyle/>
                    <a:p>
                      <a:r>
                        <a:rPr sz="1400">
                          <a:solidFill>
                            <a:srgbClr val="222222"/>
                          </a:solidFill>
                          <a:latin typeface="Calibri"/>
                        </a:rPr>
                        <a:t>forward</a:t>
                      </a:r>
                    </a:p>
                  </a:txBody>
                  <a:tcPr marL="73152" marT="18288" marB="18288">
                    <a:solidFill>
                      <a:srgbClr val="FFFFFF"/>
                    </a:solidFill>
                  </a:tcPr>
                </a:tc>
              </a:tr>
              <a:tr h="298450">
                <a:tc>
                  <a:txBody>
                    <a:bodyPr/>
                    <a:lstStyle/>
                    <a:p>
                      <a:r>
                        <a:rPr sz="1400">
                          <a:solidFill>
                            <a:srgbClr val="222222"/>
                          </a:solidFill>
                          <a:latin typeface="Calibri"/>
                        </a:rPr>
                        <a:t>Rear right</a:t>
                      </a:r>
                    </a:p>
                  </a:txBody>
                  <a:tcPr marL="73152" marT="18288" marB="18288">
                    <a:solidFill>
                      <a:srgbClr val="EEF3F8"/>
                    </a:solidFill>
                  </a:tcPr>
                </a:tc>
                <a:tc>
                  <a:txBody>
                    <a:bodyPr/>
                    <a:lstStyle/>
                    <a:p>
                      <a:r>
                        <a:rPr sz="1400">
                          <a:solidFill>
                            <a:srgbClr val="222222"/>
                          </a:solidFill>
                          <a:latin typeface="Calibri"/>
                        </a:rPr>
                        <a:t>16</a:t>
                      </a:r>
                    </a:p>
                  </a:txBody>
                  <a:tcPr marL="73152" marT="18288" marB="18288">
                    <a:solidFill>
                      <a:srgbClr val="EEF3F8"/>
                    </a:solidFill>
                  </a:tcPr>
                </a:tc>
                <a:tc>
                  <a:txBody>
                    <a:bodyPr/>
                    <a:lstStyle/>
                    <a:p>
                      <a:r>
                        <a:rPr sz="1400">
                          <a:solidFill>
                            <a:srgbClr val="222222"/>
                          </a:solidFill>
                          <a:latin typeface="Calibri"/>
                        </a:rPr>
                        <a:t>17</a:t>
                      </a:r>
                    </a:p>
                  </a:txBody>
                  <a:tcPr marL="73152" marT="18288" marB="18288">
                    <a:solidFill>
                      <a:srgbClr val="EEF3F8"/>
                    </a:solidFill>
                  </a:tcPr>
                </a:tc>
                <a:tc>
                  <a:txBody>
                    <a:bodyPr/>
                    <a:lstStyle/>
                    <a:p>
                      <a:r>
                        <a:rPr sz="1400">
                          <a:solidFill>
                            <a:srgbClr val="222222"/>
                          </a:solidFill>
                          <a:latin typeface="Calibri"/>
                        </a:rPr>
                        <a:t>forward</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If one wheel on your vehicle runs backwards, swap that motor's two pin numbers in the program. Do not rewire anything.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a pin is only ever on or off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Pulse width modulation</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digitalWrite(pin, HIGH) puts 3.3 volts on the pin. LOW puts 0 volts on it. There is nothing in between.</a:t>
            </a:r>
          </a:p>
          <a:p>
            <a:pPr algn="l">
              <a:lnSpc>
                <a:spcPct val="100000"/>
              </a:lnSpc>
              <a:spcAft>
                <a:spcPts val="900"/>
              </a:spcAft>
              <a:defRPr sz="1800" b="0">
                <a:solidFill>
                  <a:srgbClr val="222222"/>
                </a:solidFill>
                <a:latin typeface="Calibri"/>
              </a:defRPr>
            </a:pPr>
            <a:r>
              <a:rPr sz="1800" b="0">
                <a:solidFill>
                  <a:srgbClr val="222222"/>
                </a:solidFill>
                <a:latin typeface="Calibri"/>
              </a:rPr>
              <a:t>So how do you get HALF speed?</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You switch the pin on and off very fast, and vary how much of each cycle it spends switched on. The motor cannot respond quickly enough to follow the switching, so it feels the AVERAGE.</a:t>
            </a:r>
          </a:p>
          <a:p>
            <a:pPr algn="l">
              <a:lnSpc>
                <a:spcPct val="100000"/>
              </a:lnSpc>
              <a:spcAft>
                <a:spcPts val="900"/>
              </a:spcAft>
              <a:defRPr sz="1800" b="0">
                <a:solidFill>
                  <a:srgbClr val="222222"/>
                </a:solidFill>
                <a:latin typeface="Calibri"/>
              </a:defRPr>
            </a:pPr>
            <a:r>
              <a:rPr sz="1800" b="0">
                <a:solidFill>
                  <a:srgbClr val="222222"/>
                </a:solidFill>
                <a:latin typeface="Calibri"/>
              </a:rPr>
              <a:t>That is PULSE WIDTH MODULATION. The fraction of each cycle that is on is the DUTY CYCLE.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ESP32 has dedicated hardware for this, so your program does not have to sit there flipping pins. You set it up once and then just write the number you want.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Pulse width modulation: how a pin makes a half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43560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25% duty</a:t>
            </a:r>
          </a:p>
        </p:txBody>
      </p:sp>
      <p:cxnSp>
        <p:nvCxnSpPr>
          <p:cNvPr id="7" name="Connector 6"/>
          <p:cNvCxnSpPr/>
          <p:nvPr/>
        </p:nvCxnSpPr>
        <p:spPr>
          <a:xfrm>
            <a:off x="1920240" y="189280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920240" y="132588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920240"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388869"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388869" y="189280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794759" y="132588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794759"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63388"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263388" y="189280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669278" y="132588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5669278"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137907"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137907" y="189280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543797" y="132588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7543797"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012426"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012426" y="189280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9528047" y="134416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quarter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64)</a:t>
            </a:r>
          </a:p>
        </p:txBody>
      </p:sp>
      <p:sp>
        <p:nvSpPr>
          <p:cNvPr id="25" name="TextBox 24"/>
          <p:cNvSpPr txBox="1"/>
          <p:nvPr/>
        </p:nvSpPr>
        <p:spPr>
          <a:xfrm>
            <a:off x="502920" y="2688336"/>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50% duty</a:t>
            </a:r>
          </a:p>
        </p:txBody>
      </p:sp>
      <p:cxnSp>
        <p:nvCxnSpPr>
          <p:cNvPr id="26" name="Connector 25"/>
          <p:cNvCxnSpPr/>
          <p:nvPr/>
        </p:nvCxnSpPr>
        <p:spPr>
          <a:xfrm>
            <a:off x="1920240" y="3145536"/>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920240" y="2578608"/>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1920240"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857499"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857499" y="3145536"/>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794759" y="2578608"/>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794759"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732018"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4732018" y="3145536"/>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69278" y="2578608"/>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5669278"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606537"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606537" y="3145536"/>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543797" y="2578608"/>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7543797"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481056"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8481056" y="3145536"/>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9528047" y="2596896"/>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half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128)</a:t>
            </a:r>
          </a:p>
        </p:txBody>
      </p:sp>
      <p:sp>
        <p:nvSpPr>
          <p:cNvPr id="44" name="TextBox 43"/>
          <p:cNvSpPr txBox="1"/>
          <p:nvPr/>
        </p:nvSpPr>
        <p:spPr>
          <a:xfrm>
            <a:off x="502920" y="3941064"/>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100% duty</a:t>
            </a:r>
          </a:p>
        </p:txBody>
      </p:sp>
      <p:cxnSp>
        <p:nvCxnSpPr>
          <p:cNvPr id="45" name="Connector 44"/>
          <p:cNvCxnSpPr/>
          <p:nvPr/>
        </p:nvCxnSpPr>
        <p:spPr>
          <a:xfrm>
            <a:off x="1920240" y="4398264"/>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920240" y="3831336"/>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1920240" y="3831336"/>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3794759" y="3831336"/>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3794759" y="3831336"/>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5669278" y="3831336"/>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5669278" y="3831336"/>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7543797" y="3831336"/>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7543797" y="3831336"/>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9528047" y="3849624"/>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full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255)</a:t>
            </a:r>
          </a:p>
        </p:txBody>
      </p:sp>
      <p:sp>
        <p:nvSpPr>
          <p:cNvPr id="55" name="TextBox 54"/>
          <p:cNvSpPr txBox="1"/>
          <p:nvPr/>
        </p:nvSpPr>
        <p:spPr>
          <a:xfrm>
            <a:off x="1920240" y="5303519"/>
            <a:ext cx="7498079"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one cycle = 1/20000 second, so this whole picture happens 5000 times a second</a:t>
            </a:r>
          </a:p>
        </p:txBody>
      </p:sp>
      <p:sp>
        <p:nvSpPr>
          <p:cNvPr id="56" name="Rounded Rectangle 55"/>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pin is only ever fully on or fully off. Speed comes from the FRACTION of each cycle it spends on - the duty cycle.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Setting PWM up on this track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The two lines you need</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ledcAttach(pin, freq, bits);</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ledcWrite(pin, duty);</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This board package lets you talk straight to the pin.</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The numbers we use, and why</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Frequency 20000 Hz. Human hearing stops around 20 kHz, so the switching is silent. Set it to 300 and you will hear the motors sing - try it.</a:t>
            </a:r>
          </a:p>
          <a:p>
            <a:pPr algn="l">
              <a:lnSpc>
                <a:spcPct val="100000"/>
              </a:lnSpc>
              <a:spcAft>
                <a:spcPts val="400"/>
              </a:spcAft>
              <a:defRPr sz="1800" b="0">
                <a:solidFill>
                  <a:srgbClr val="222222"/>
                </a:solidFill>
                <a:latin typeface="Calibri"/>
              </a:defRPr>
            </a:pPr>
            <a:r>
              <a:rPr sz="1800" b="0">
                <a:solidFill>
                  <a:srgbClr val="222222"/>
                </a:solidFill>
                <a:latin typeface="Calibri"/>
              </a:rPr>
              <a:t>Resolution 8 bits. That gives duty values 0 to 255, because 2 to the power 8 is 256.</a:t>
            </a:r>
          </a:p>
          <a:p>
            <a:pPr algn="l">
              <a:lnSpc>
                <a:spcPct val="100000"/>
              </a:lnSpc>
              <a:spcAft>
                <a:spcPts val="400"/>
              </a:spcAft>
              <a:defRPr sz="1800" b="0">
                <a:solidFill>
                  <a:srgbClr val="222222"/>
                </a:solidFill>
                <a:latin typeface="Calibri"/>
              </a:defRPr>
            </a:pPr>
            <a:r>
              <a:rPr sz="1800" b="0">
                <a:solidFill>
                  <a:srgbClr val="222222"/>
                </a:solidFill>
                <a:latin typeface="Calibri"/>
              </a:rPr>
              <a:t>0 is off, 128 is about half power, 255 is flat out.</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The advanced program uses 10 bits, 0 to 1023, for finer control at low speed.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l2a_one_motor  -  the whole idea in six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l2a_one_motor.ino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ledcWrite(MOTOR_PIN_A, SPEED);   // drive A</a:t>
            </a:r>
          </a:p>
          <a:p>
            <a:pPr algn="l">
              <a:lnSpc>
                <a:spcPct val="100000"/>
              </a:lnSpc>
              <a:spcAft>
                <a:spcPts val="0"/>
              </a:spcAft>
              <a:defRPr sz="1400">
                <a:latin typeface="Consolas"/>
              </a:defRPr>
            </a:pPr>
            <a:r>
              <a:rPr sz="1400">
                <a:solidFill>
                  <a:srgbClr val="222222"/>
                </a:solidFill>
                <a:latin typeface="Consolas"/>
              </a:rPr>
              <a:t>ledcWrite(MOTOR_PIN_B, 0);       // leave B off</a:t>
            </a:r>
          </a:p>
          <a:p>
            <a:pPr algn="l">
              <a:lnSpc>
                <a:spcPct val="100000"/>
              </a:lnSpc>
              <a:spcAft>
                <a:spcPts val="0"/>
              </a:spcAft>
              <a:defRPr sz="1400">
                <a:latin typeface="Consolas"/>
              </a:defRPr>
            </a:pPr>
            <a:r>
              <a:rPr sz="1400">
                <a:solidFill>
                  <a:srgbClr val="666666"/>
                </a:solidFill>
                <a:latin typeface="Consolas"/>
              </a:rPr>
              <a:t>//   -&gt; the motor turns one way</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ledcWrite(MOTOR_PIN_A, 0);</a:t>
            </a:r>
          </a:p>
          <a:p>
            <a:pPr algn="l">
              <a:lnSpc>
                <a:spcPct val="100000"/>
              </a:lnSpc>
              <a:spcAft>
                <a:spcPts val="0"/>
              </a:spcAft>
              <a:defRPr sz="1400">
                <a:latin typeface="Consolas"/>
              </a:defRPr>
            </a:pPr>
            <a:r>
              <a:rPr sz="1400">
                <a:solidFill>
                  <a:srgbClr val="222222"/>
                </a:solidFill>
                <a:latin typeface="Consolas"/>
              </a:rPr>
              <a:t>ledcWrite(MOTOR_PIN_B, SPEED);   // now the other way round</a:t>
            </a:r>
          </a:p>
          <a:p>
            <a:pPr algn="l">
              <a:lnSpc>
                <a:spcPct val="100000"/>
              </a:lnSpc>
              <a:spcAft>
                <a:spcPts val="0"/>
              </a:spcAft>
              <a:defRPr sz="1400">
                <a:latin typeface="Consolas"/>
              </a:defRPr>
            </a:pPr>
            <a:r>
              <a:rPr sz="1400">
                <a:solidFill>
                  <a:srgbClr val="666666"/>
                </a:solidFill>
                <a:latin typeface="Consolas"/>
              </a:rPr>
              <a:t>//   -&gt; the motor turns the other way</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ledcWrite(MOTOR_PIN_A, 0);</a:t>
            </a:r>
          </a:p>
          <a:p>
            <a:pPr algn="l">
              <a:lnSpc>
                <a:spcPct val="100000"/>
              </a:lnSpc>
              <a:spcAft>
                <a:spcPts val="0"/>
              </a:spcAft>
              <a:defRPr sz="1400">
                <a:latin typeface="Consolas"/>
              </a:defRPr>
            </a:pPr>
            <a:r>
              <a:rPr sz="1400">
                <a:solidFill>
                  <a:srgbClr val="222222"/>
                </a:solidFill>
                <a:latin typeface="Consolas"/>
              </a:rPr>
              <a:t>ledcWrite(MOTOR_PIN_B, 0);</a:t>
            </a:r>
          </a:p>
          <a:p>
            <a:pPr algn="l">
              <a:lnSpc>
                <a:spcPct val="100000"/>
              </a:lnSpc>
              <a:spcAft>
                <a:spcPts val="0"/>
              </a:spcAft>
              <a:defRPr sz="1400">
                <a:latin typeface="Consolas"/>
              </a:defRPr>
            </a:pPr>
            <a:r>
              <a:rPr sz="1400">
                <a:solidFill>
                  <a:srgbClr val="666666"/>
                </a:solidFill>
                <a:latin typeface="Consolas"/>
              </a:rPr>
              <a:t>//   -&gt; both off: the motor coasts to a stop</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Only the FRONT LEFT motor is driven, so the vehicle cannot run away while you are still finding out what the numbers do.</a:t>
            </a:r>
          </a:p>
          <a:p>
            <a:pPr algn="l">
              <a:lnSpc>
                <a:spcPct val="100000"/>
              </a:lnSpc>
              <a:spcAft>
                <a:spcPts val="600"/>
              </a:spcAft>
              <a:defRPr sz="1800" b="0">
                <a:solidFill>
                  <a:srgbClr val="222222"/>
                </a:solidFill>
                <a:latin typeface="Calibri"/>
              </a:defRPr>
            </a:pPr>
            <a:r>
              <a:rPr sz="1800" b="0">
                <a:solidFill>
                  <a:srgbClr val="222222"/>
                </a:solidFill>
                <a:latin typeface="Calibri"/>
              </a:rPr>
              <a:t>Direction is which pin you drive.</a:t>
            </a:r>
          </a:p>
          <a:p>
            <a:pPr algn="l">
              <a:lnSpc>
                <a:spcPct val="100000"/>
              </a:lnSpc>
              <a:spcAft>
                <a:spcPts val="600"/>
              </a:spcAft>
              <a:defRPr sz="1800" b="0">
                <a:solidFill>
                  <a:srgbClr val="222222"/>
                </a:solidFill>
                <a:latin typeface="Calibri"/>
              </a:defRPr>
            </a:pPr>
            <a:r>
              <a:rPr sz="1800" b="0">
                <a:solidFill>
                  <a:srgbClr val="222222"/>
                </a:solidFill>
                <a:latin typeface="Calibri"/>
              </a:rPr>
              <a:t>Speed is how hard you drive it.</a:t>
            </a:r>
          </a:p>
          <a:p>
            <a:pPr algn="l">
              <a:lnSpc>
                <a:spcPct val="100000"/>
              </a:lnSpc>
              <a:spcAft>
                <a:spcPts val="600"/>
              </a:spcAft>
              <a:defRPr sz="1800" b="0">
                <a:solidFill>
                  <a:srgbClr val="222222"/>
                </a:solidFill>
                <a:latin typeface="Calibri"/>
              </a:defRPr>
            </a:pPr>
            <a:r>
              <a:rPr sz="1800" b="0">
                <a:solidFill>
                  <a:srgbClr val="222222"/>
                </a:solidFill>
                <a:latin typeface="Calibri"/>
              </a:rPr>
              <a:t>Both off is a coast. Both ON would be a hard brake - the advanced course uses that.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One motor</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5035782"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Duty against speed</a:t>
            </a:r>
          </a:p>
        </p:txBody>
      </p:sp>
      <p:sp>
        <p:nvSpPr>
          <p:cNvPr id="11" name="Rounded Rectangle 10"/>
          <p:cNvSpPr/>
          <p:nvPr/>
        </p:nvSpPr>
        <p:spPr>
          <a:xfrm>
            <a:off x="7302213"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Ohm's law and circuits</a:t>
            </a:r>
          </a:p>
        </p:txBody>
      </p:sp>
      <p:sp>
        <p:nvSpPr>
          <p:cNvPr id="12" name="Rounded Rectangle 11"/>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one motor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l2a_one_motor</a:t>
            </a:r>
            <a:r>
              <a:rPr sz="1200">
                <a:solidFill>
                  <a:srgbClr val="FFFFFF"/>
                </a:solidFill>
                <a:latin typeface="Calibri"/>
              </a:rPr>
              <a:t>     (25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Put the vehicle on a block. Check all four wheels spin free.</a:t>
            </a:r>
          </a:p>
          <a:p>
            <a:pPr algn="l">
              <a:lnSpc>
                <a:spcPct val="100000"/>
              </a:lnSpc>
              <a:spcAft>
                <a:spcPts val="400"/>
              </a:spcAft>
              <a:defRPr sz="1800" b="0">
                <a:solidFill>
                  <a:srgbClr val="222222"/>
                </a:solidFill>
                <a:latin typeface="Calibri"/>
              </a:defRPr>
            </a:pPr>
            <a:r>
              <a:rPr sz="1800" b="0">
                <a:solidFill>
                  <a:srgbClr val="222222"/>
                </a:solidFill>
                <a:latin typeface="Calibri"/>
              </a:rPr>
              <a:t>2.  Upload it. Watch the front left wheel and the Serial Monitor.</a:t>
            </a:r>
          </a:p>
          <a:p>
            <a:pPr algn="l">
              <a:lnSpc>
                <a:spcPct val="100000"/>
              </a:lnSpc>
              <a:spcAft>
                <a:spcPts val="400"/>
              </a:spcAft>
              <a:defRPr sz="1800" b="0">
                <a:solidFill>
                  <a:srgbClr val="222222"/>
                </a:solidFill>
                <a:latin typeface="Calibri"/>
              </a:defRPr>
            </a:pPr>
            <a:r>
              <a:rPr sz="1800" b="0">
                <a:solidFill>
                  <a:srgbClr val="222222"/>
                </a:solidFill>
                <a:latin typeface="Calibri"/>
              </a:rPr>
              <a:t>3.  Change SPEED from 200 to 60. Upload. Does the wheel still turn?</a:t>
            </a:r>
          </a:p>
          <a:p>
            <a:pPr algn="l">
              <a:lnSpc>
                <a:spcPct val="100000"/>
              </a:lnSpc>
              <a:spcAft>
                <a:spcPts val="400"/>
              </a:spcAft>
              <a:defRPr sz="1800" b="0">
                <a:solidFill>
                  <a:srgbClr val="222222"/>
                </a:solidFill>
                <a:latin typeface="Calibri"/>
              </a:defRPr>
            </a:pPr>
            <a:r>
              <a:rPr sz="1800" b="0">
                <a:solidFill>
                  <a:srgbClr val="222222"/>
                </a:solidFill>
                <a:latin typeface="Calibri"/>
              </a:rPr>
              <a:t>4.  Try 40, then 30, then 20. Find the SMALLEST number that still gets the wheel moving from a standstill. Write it down.</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Front left wheel: forward, stop, reverse, stop, repeating.</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What was your minimum turning speed?</a:t>
            </a:r>
          </a:p>
          <a:p>
            <a:pPr algn="l">
              <a:lnSpc>
                <a:spcPct val="100000"/>
              </a:lnSpc>
              <a:spcAft>
                <a:spcPts val="200"/>
              </a:spcAft>
              <a:defRPr sz="1800" b="0">
                <a:solidFill>
                  <a:srgbClr val="222222"/>
                </a:solidFill>
                <a:latin typeface="Calibri"/>
              </a:defRPr>
            </a:pPr>
            <a:r>
              <a:rPr sz="1800" b="0">
                <a:solidFill>
                  <a:srgbClr val="222222"/>
                </a:solidFill>
                <a:latin typeface="Calibri"/>
              </a:rPr>
              <a:t>Compare with another group. Are they the same? Why not?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one motor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l2a_one_motor</a:t>
            </a:r>
          </a:p>
        </p:txBody>
      </p:sp>
      <p:sp>
        <p:nvSpPr>
          <p:cNvPr id="7" name="TextBox 6"/>
          <p:cNvSpPr txBox="1"/>
          <p:nvPr/>
        </p:nvSpPr>
        <p:spPr>
          <a:xfrm>
            <a:off x="502920" y="1901952"/>
            <a:ext cx="5387187" cy="317296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5.  Swap MOTOR_PIN_A and MOTOR_PIN_B. Upload. What changed?</a:t>
            </a:r>
          </a:p>
          <a:p>
            <a:pPr algn="l">
              <a:lnSpc>
                <a:spcPct val="100000"/>
              </a:lnSpc>
              <a:spcAft>
                <a:spcPts val="400"/>
              </a:spcAft>
              <a:defRPr sz="1800" b="0">
                <a:solidFill>
                  <a:srgbClr val="222222"/>
                </a:solidFill>
                <a:latin typeface="Calibri"/>
              </a:defRPr>
            </a:pPr>
            <a:r>
              <a:rPr sz="1800" b="0">
                <a:solidFill>
                  <a:srgbClr val="222222"/>
                </a:solidFill>
                <a:latin typeface="Calibri"/>
              </a:rPr>
              <a:t>6.  Change the pins to 22 and 23. Which wheel moves now?</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Nothing on this slide should touch the floor.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That minimum number matters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Below a certain duty, a motor does not turn at all. It has to overcome friction in the gearbox and the bearings before anything moves.</a:t>
            </a:r>
          </a:p>
          <a:p>
            <a:pPr algn="l">
              <a:lnSpc>
                <a:spcPct val="100000"/>
              </a:lnSpc>
              <a:spcAft>
                <a:spcPts val="900"/>
              </a:spcAft>
              <a:defRPr sz="1800" b="0">
                <a:solidFill>
                  <a:srgbClr val="222222"/>
                </a:solidFill>
                <a:latin typeface="Calibri"/>
              </a:defRPr>
            </a:pPr>
            <a:r>
              <a:rPr sz="1800" b="0">
                <a:solidFill>
                  <a:srgbClr val="222222"/>
                </a:solidFill>
                <a:latin typeface="Calibri"/>
              </a:rPr>
              <a:t>Your number will not be the same as the next group's. It depends on your motors, your wheels, your bearings and how charged your battery is.</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In the full vehicle program there is a setting called MOTOR_MIN for exactly this. It is currently 0, which means the speed climbs smoothly from nothing.</a:t>
            </a:r>
          </a:p>
          <a:p>
            <a:pPr algn="l">
              <a:lnSpc>
                <a:spcPct val="100000"/>
              </a:lnSpc>
              <a:spcAft>
                <a:spcPts val="900"/>
              </a:spcAft>
              <a:defRPr sz="1800" b="0">
                <a:solidFill>
                  <a:srgbClr val="222222"/>
                </a:solidFill>
                <a:latin typeface="Calibri"/>
              </a:defRPr>
            </a:pPr>
            <a:r>
              <a:rPr sz="1800" b="0">
                <a:solidFill>
                  <a:srgbClr val="222222"/>
                </a:solidFill>
                <a:latin typeface="Calibri"/>
              </a:rPr>
              <a:t>If the first part of your stick travel ever feels dead, raising MOTOR_MIN is the fix - it lifts the slowest speed the vehicle is ever given, so the wheels start moving the moment you leave the deadzone.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That minimum number matters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You will meet the deadzone next lesson.</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Measure it, do not guess it. The number in the program was once a guess, and it was wrong.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One motor</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5035782"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Duty against speed</a:t>
            </a:r>
          </a:p>
        </p:txBody>
      </p:sp>
      <p:sp>
        <p:nvSpPr>
          <p:cNvPr id="11" name="TextBox 10"/>
          <p:cNvSpPr txBox="1"/>
          <p:nvPr/>
        </p:nvSpPr>
        <p:spPr>
          <a:xfrm>
            <a:off x="5035782"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2" name="Rounded Rectangle 11"/>
          <p:cNvSpPr/>
          <p:nvPr/>
        </p:nvSpPr>
        <p:spPr>
          <a:xfrm>
            <a:off x="7302213"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Ohm's law and circuits</a:t>
            </a:r>
          </a:p>
        </p:txBody>
      </p:sp>
      <p:sp>
        <p:nvSpPr>
          <p:cNvPr id="13" name="Rounded Rectangle 12"/>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duty against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l2b_speed_ramp</a:t>
            </a:r>
            <a:r>
              <a:rPr sz="1200">
                <a:solidFill>
                  <a:srgbClr val="FFFFFF"/>
                </a:solidFill>
                <a:latin typeface="Calibri"/>
              </a:rPr>
              <a:t>     (20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Wheels still off the ground. Upload it.</a:t>
            </a:r>
          </a:p>
          <a:p>
            <a:pPr algn="l">
              <a:lnSpc>
                <a:spcPct val="100000"/>
              </a:lnSpc>
              <a:spcAft>
                <a:spcPts val="400"/>
              </a:spcAft>
              <a:defRPr sz="1800" b="0">
                <a:solidFill>
                  <a:srgbClr val="222222"/>
                </a:solidFill>
                <a:latin typeface="Calibri"/>
              </a:defRPr>
            </a:pPr>
            <a:r>
              <a:rPr sz="1800" b="0">
                <a:solidFill>
                  <a:srgbClr val="222222"/>
                </a:solidFill>
                <a:latin typeface="Calibri"/>
              </a:rPr>
              <a:t>2.  Watch the wheels and read the Serial Monitor at the same time.</a:t>
            </a:r>
          </a:p>
          <a:p>
            <a:pPr algn="l">
              <a:lnSpc>
                <a:spcPct val="100000"/>
              </a:lnSpc>
              <a:spcAft>
                <a:spcPts val="400"/>
              </a:spcAft>
              <a:defRPr sz="1800" b="0">
                <a:solidFill>
                  <a:srgbClr val="222222"/>
                </a:solidFill>
                <a:latin typeface="Calibri"/>
              </a:defRPr>
            </a:pPr>
            <a:r>
              <a:rPr sz="1800" b="0">
                <a:solidFill>
                  <a:srgbClr val="222222"/>
                </a:solidFill>
                <a:latin typeface="Calibri"/>
              </a:rPr>
              <a:t>3.  Note the duty value at which the wheels START to turn.</a:t>
            </a:r>
          </a:p>
          <a:p>
            <a:pPr algn="l">
              <a:lnSpc>
                <a:spcPct val="100000"/>
              </a:lnSpc>
              <a:spcAft>
                <a:spcPts val="400"/>
              </a:spcAft>
              <a:defRPr sz="1800" b="0">
                <a:solidFill>
                  <a:srgbClr val="222222"/>
                </a:solidFill>
                <a:latin typeface="Calibri"/>
              </a:defRPr>
            </a:pPr>
            <a:r>
              <a:rPr sz="1800" b="0">
                <a:solidFill>
                  <a:srgbClr val="222222"/>
                </a:solidFill>
                <a:latin typeface="Calibri"/>
              </a:rPr>
              <a:t>4.  Note the value at which the sound stops changing.</a:t>
            </a:r>
          </a:p>
          <a:p>
            <a:pPr algn="l">
              <a:lnSpc>
                <a:spcPct val="100000"/>
              </a:lnSpc>
              <a:spcAft>
                <a:spcPts val="400"/>
              </a:spcAft>
              <a:defRPr sz="1800" b="0">
                <a:solidFill>
                  <a:srgbClr val="222222"/>
                </a:solidFill>
                <a:latin typeface="Calibri"/>
              </a:defRPr>
            </a:pPr>
            <a:r>
              <a:rPr sz="1800" b="0">
                <a:solidFill>
                  <a:srgbClr val="222222"/>
                </a:solidFill>
                <a:latin typeface="Calibri"/>
              </a:rPr>
              <a:t>5.  Change PWM_FREQ from 20000 to 300 and upload. LISTEN.</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All four wheels winding up from nothing to full speed and back, with the duty and the percentage printing as it goes.</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Is the speed proportional to the duty all the way down? Where does it stop being a straight line?</a:t>
            </a:r>
          </a:p>
          <a:p>
            <a:pPr algn="l">
              <a:lnSpc>
                <a:spcPct val="100000"/>
              </a:lnSpc>
              <a:spcAft>
                <a:spcPts val="200"/>
              </a:spcAft>
              <a:defRPr sz="1800" b="0">
                <a:solidFill>
                  <a:srgbClr val="222222"/>
                </a:solidFill>
                <a:latin typeface="Calibri"/>
              </a:defRPr>
            </a:pPr>
            <a:r>
              <a:rPr sz="1800" b="0">
                <a:solidFill>
                  <a:srgbClr val="222222"/>
                </a:solidFill>
                <a:latin typeface="Calibri"/>
              </a:rPr>
              <a:t>What is the 300 Hz whine, and where does it go at 20 kHz?</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duty against speed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l2b_speed_ramp</a:t>
            </a:r>
          </a:p>
        </p:txBody>
      </p:sp>
      <p:sp>
        <p:nvSpPr>
          <p:cNvPr id="7" name="TextBox 6"/>
          <p:cNvSpPr txBox="1"/>
          <p:nvPr/>
        </p:nvSpPr>
        <p:spPr>
          <a:xfrm>
            <a:off x="502920" y="1901952"/>
            <a:ext cx="5387187" cy="317296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6.  Put it back to 20000.</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This one reaches full speed.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4" name="Rectangle 3"/>
          <p:cNvSpPr/>
          <p:nvPr/>
        </p:nvSpPr>
        <p:spPr>
          <a:xfrm>
            <a:off x="0" y="2194560"/>
            <a:ext cx="256032" cy="18288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286000"/>
            <a:ext cx="10515600" cy="118872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STEM break: Ohm's law and circuits</a:t>
            </a:r>
          </a:p>
        </p:txBody>
      </p:sp>
      <p:sp>
        <p:nvSpPr>
          <p:cNvPr id="6" name="TextBox 5"/>
          <p:cNvSpPr txBox="1"/>
          <p:nvPr/>
        </p:nvSpPr>
        <p:spPr>
          <a:xfrm>
            <a:off x="777240" y="3520440"/>
            <a:ext cx="10515600" cy="9144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Three quantities, one relationship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Voltage, current, resistance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You met these in Lesson 1 when you sized the resistor for your LED. Here they are properly.</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VOLTAGE (V), in volts. The push. How hard the supply is trying to move charge round the circuit.</a:t>
            </a:r>
          </a:p>
          <a:p>
            <a:pPr algn="l">
              <a:lnSpc>
                <a:spcPct val="100000"/>
              </a:lnSpc>
              <a:spcAft>
                <a:spcPts val="900"/>
              </a:spcAft>
              <a:defRPr sz="1800" b="0">
                <a:solidFill>
                  <a:srgbClr val="222222"/>
                </a:solidFill>
                <a:latin typeface="Calibri"/>
              </a:defRPr>
            </a:pPr>
            <a:r>
              <a:rPr sz="1800" b="0">
                <a:solidFill>
                  <a:srgbClr val="222222"/>
                </a:solidFill>
                <a:latin typeface="Calibri"/>
              </a:rPr>
              <a:t>CURRENT (I), in amps. The flow. How much charge is actually moving past a point each second.</a:t>
            </a:r>
          </a:p>
          <a:p>
            <a:pPr algn="l">
              <a:lnSpc>
                <a:spcPct val="100000"/>
              </a:lnSpc>
              <a:spcAft>
                <a:spcPts val="900"/>
              </a:spcAft>
              <a:defRPr sz="1800" b="0">
                <a:solidFill>
                  <a:srgbClr val="222222"/>
                </a:solidFill>
                <a:latin typeface="Calibri"/>
              </a:defRPr>
            </a:pPr>
            <a:r>
              <a:rPr sz="1800" b="0">
                <a:solidFill>
                  <a:srgbClr val="222222"/>
                </a:solidFill>
                <a:latin typeface="Calibri"/>
              </a:rPr>
              <a:t>RESISTANCE (R), in ohms. The opposition. How much the circuit fights the flow.</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Ohm's law ties all three together. Know any two and you can work out the third - which is exactly what you did to pick 220 ohms.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Ohm's law, and the power law that goes with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114300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8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V</a:t>
            </a:r>
          </a:p>
        </p:txBody>
      </p:sp>
      <p:sp>
        <p:nvSpPr>
          <p:cNvPr id="10" name="TextBox 9"/>
          <p:cNvSpPr txBox="1"/>
          <p:nvPr/>
        </p:nvSpPr>
        <p:spPr>
          <a:xfrm>
            <a:off x="146304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1" name="TextBox 10"/>
          <p:cNvSpPr txBox="1"/>
          <p:nvPr/>
        </p:nvSpPr>
        <p:spPr>
          <a:xfrm>
            <a:off x="274320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V  volts     I  amps     R  ohms</a:t>
            </a:r>
          </a:p>
        </p:txBody>
      </p:sp>
      <p:sp>
        <p:nvSpPr>
          <p:cNvPr id="14" name="TextBox 13"/>
          <p:cNvSpPr txBox="1"/>
          <p:nvPr/>
        </p:nvSpPr>
        <p:spPr>
          <a:xfrm>
            <a:off x="681228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8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P</a:t>
            </a:r>
          </a:p>
        </p:txBody>
      </p:sp>
      <p:sp>
        <p:nvSpPr>
          <p:cNvPr id="18" name="TextBox 17"/>
          <p:cNvSpPr txBox="1"/>
          <p:nvPr/>
        </p:nvSpPr>
        <p:spPr>
          <a:xfrm>
            <a:off x="713232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9" name="TextBox 18"/>
          <p:cNvSpPr txBox="1"/>
          <p:nvPr/>
        </p:nvSpPr>
        <p:spPr>
          <a:xfrm>
            <a:off x="841248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NEOPIXEL</a:t>
            </a:r>
          </a:p>
          <a:p>
            <a:pPr algn="ctr">
              <a:lnSpc>
                <a:spcPct val="100000"/>
              </a:lnSpc>
              <a:spcAft>
                <a:spcPts val="0"/>
              </a:spcAft>
              <a:defRPr sz="1800" b="0">
                <a:solidFill>
                  <a:srgbClr val="222222"/>
                </a:solidFill>
                <a:latin typeface="Calibri"/>
              </a:defRPr>
            </a:pPr>
            <a:r>
              <a:rPr sz="1800" b="0">
                <a:solidFill>
                  <a:srgbClr val="222222"/>
                </a:solidFill>
                <a:latin typeface="Calibri"/>
              </a:rPr>
              <a:t>at full white</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3 LEDs x 20 mA</a:t>
            </a:r>
          </a:p>
          <a:p>
            <a:pPr algn="ctr">
              <a:lnSpc>
                <a:spcPct val="100000"/>
              </a:lnSpc>
              <a:spcAft>
                <a:spcPts val="0"/>
              </a:spcAft>
              <a:defRPr sz="1800" b="0">
                <a:solidFill>
                  <a:srgbClr val="222222"/>
                </a:solidFill>
                <a:latin typeface="Calibri"/>
              </a:defRPr>
            </a:pPr>
            <a:r>
              <a:rPr sz="1800" b="0">
                <a:solidFill>
                  <a:srgbClr val="222222"/>
                </a:solidFill>
                <a:latin typeface="Calibri"/>
              </a:rPr>
              <a:t>= 60 mA</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P = I x V</a:t>
            </a:r>
          </a:p>
          <a:p>
            <a:pPr algn="ctr">
              <a:lnSpc>
                <a:spcPct val="100000"/>
              </a:lnSpc>
              <a:spcAft>
                <a:spcPts val="0"/>
              </a:spcAft>
              <a:defRPr sz="1800" b="0">
                <a:solidFill>
                  <a:srgbClr val="222222"/>
                </a:solidFill>
                <a:latin typeface="Calibri"/>
              </a:defRPr>
            </a:pPr>
            <a:r>
              <a:rPr sz="1800" b="0">
                <a:solidFill>
                  <a:srgbClr val="222222"/>
                </a:solidFill>
                <a:latin typeface="Calibri"/>
              </a:rPr>
              <a:t>= 0.06 x 5</a:t>
            </a:r>
          </a:p>
          <a:p>
            <a:pPr algn="ctr">
              <a:lnSpc>
                <a:spcPct val="100000"/>
              </a:lnSpc>
              <a:spcAft>
                <a:spcPts val="0"/>
              </a:spcAft>
              <a:defRPr sz="1800" b="0">
                <a:solidFill>
                  <a:srgbClr val="222222"/>
                </a:solidFill>
                <a:latin typeface="Calibri"/>
              </a:defRPr>
            </a:pPr>
            <a:r>
              <a:rPr sz="1800" b="0">
                <a:solidFill>
                  <a:srgbClr val="222222"/>
                </a:solidFill>
                <a:latin typeface="Calibri"/>
              </a:rPr>
              <a:t>= 0.3 W</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x 32 pixels</a:t>
            </a:r>
          </a:p>
          <a:p>
            <a:pPr algn="ctr">
              <a:lnSpc>
                <a:spcPct val="100000"/>
              </a:lnSpc>
              <a:spcAft>
                <a:spcPts val="0"/>
              </a:spcAft>
              <a:defRPr sz="1800" b="0">
                <a:solidFill>
                  <a:srgbClr val="222222"/>
                </a:solidFill>
                <a:latin typeface="Calibri"/>
              </a:defRPr>
            </a:pPr>
            <a:r>
              <a:rPr sz="1800" b="0">
                <a:solidFill>
                  <a:srgbClr val="222222"/>
                </a:solidFill>
                <a:latin typeface="Calibri"/>
              </a:rPr>
              <a:t>= 1.92 A</a:t>
            </a:r>
          </a:p>
          <a:p>
            <a:pPr algn="ctr">
              <a:lnSpc>
                <a:spcPct val="100000"/>
              </a:lnSpc>
              <a:spcAft>
                <a:spcPts val="0"/>
              </a:spcAft>
              <a:defRPr sz="1800" b="0">
                <a:solidFill>
                  <a:srgbClr val="222222"/>
                </a:solidFill>
                <a:latin typeface="Calibri"/>
              </a:defRPr>
            </a:pPr>
            <a:r>
              <a:rPr sz="18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Practise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Four minutes, in your notebook</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Work these in your engineering notebook. Cover the unknown on the triangle with your thumb and the triangle tells you the sum.</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1.  V = 12 volts, I = 15 mA.  R = ?</a:t>
            </a:r>
          </a:p>
          <a:p>
            <a:pPr lvl="1" algn="l">
              <a:lnSpc>
                <a:spcPct val="100000"/>
              </a:lnSpc>
              <a:spcAft>
                <a:spcPts val="900"/>
              </a:spcAft>
              <a:defRPr sz="1800" b="0">
                <a:solidFill>
                  <a:srgbClr val="222222"/>
                </a:solidFill>
                <a:latin typeface="Calibri"/>
              </a:defRPr>
            </a:pPr>
            <a:r>
              <a:rPr sz="1800" b="0">
                <a:solidFill>
                  <a:srgbClr val="222222"/>
                </a:solidFill>
                <a:latin typeface="Calibri"/>
              </a:rPr>
              <a:t>     (careful: convert milliamps to amps first)</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2.  V = 12 volts, R = 220 ohms.  I = ?</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Practise it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3.  I = 2 mA, R = 1.5k ohms.  V = ?</a:t>
            </a:r>
          </a:p>
          <a:p>
            <a:pPr lvl="1" algn="l">
              <a:lnSpc>
                <a:spcPct val="100000"/>
              </a:lnSpc>
              <a:spcAft>
                <a:spcPts val="900"/>
              </a:spcAft>
              <a:defRPr sz="1800" b="0">
                <a:solidFill>
                  <a:srgbClr val="222222"/>
                </a:solidFill>
                <a:latin typeface="Calibri"/>
              </a:defRPr>
            </a:pPr>
            <a:r>
              <a:rPr sz="1800" b="0">
                <a:solidFill>
                  <a:srgbClr val="222222"/>
                </a:solidFill>
                <a:latin typeface="Calibri"/>
              </a:rPr>
              <a:t>     (1.5k means 1500 ohms)</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4.  Your vehicle's battery is 16 V. A motor stalls and draws 3 amps. What resistance is it presenting?</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Answers: 800 ohms, 0.055 A (55 mA), 3 volts, and about 5.3 ohms. The last one is why a stalled motor gets hot.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Series and parallel: two ways to wire two loads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5272887" cy="367792"/>
          </a:xfrm>
          <a:prstGeom prst="rect">
            <a:avLst/>
          </a:prstGeom>
          <a:noFill/>
        </p:spPr>
        <p:txBody>
          <a:bodyPr wrap="square" lIns="0" tIns="0" rIns="0" bIns="0">
            <a:spAutoFit/>
          </a:bodyPr>
          <a:lstStyle/>
          <a:p>
            <a:pPr algn="ctr">
              <a:lnSpc>
                <a:spcPct val="100000"/>
              </a:lnSpc>
              <a:spcAft>
                <a:spcPts val="100"/>
              </a:spcAft>
              <a:defRPr sz="1800" b="1">
                <a:solidFill>
                  <a:srgbClr val="0E7C86"/>
                </a:solidFill>
                <a:latin typeface="Calibri"/>
              </a:defRPr>
            </a:pPr>
            <a:r>
              <a:rPr sz="1800" b="1">
                <a:solidFill>
                  <a:srgbClr val="0E7C86"/>
                </a:solidFill>
                <a:latin typeface="Calibri"/>
              </a:rPr>
              <a:t>SERIES</a:t>
            </a:r>
          </a:p>
        </p:txBody>
      </p:sp>
      <p:cxnSp>
        <p:nvCxnSpPr>
          <p:cNvPr id="7" name="Connector 6"/>
          <p:cNvCxnSpPr/>
          <p:nvPr/>
        </p:nvCxnSpPr>
        <p:spPr>
          <a:xfrm>
            <a:off x="960120"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1440" y="2532888"/>
            <a:ext cx="77724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battery</a:t>
            </a:r>
          </a:p>
        </p:txBody>
      </p:sp>
      <p:cxnSp>
        <p:nvCxnSpPr>
          <p:cNvPr id="9" name="Connector 8"/>
          <p:cNvCxnSpPr/>
          <p:nvPr/>
        </p:nvCxnSpPr>
        <p:spPr>
          <a:xfrm>
            <a:off x="960120" y="187452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318607"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960120" y="361188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1600200" y="1618488"/>
            <a:ext cx="1097280" cy="512064"/>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R1</a:t>
            </a:r>
          </a:p>
        </p:txBody>
      </p:sp>
      <p:sp>
        <p:nvSpPr>
          <p:cNvPr id="13" name="Rounded Rectangle 12"/>
          <p:cNvSpPr/>
          <p:nvPr/>
        </p:nvSpPr>
        <p:spPr>
          <a:xfrm>
            <a:off x="3581247" y="1618488"/>
            <a:ext cx="1097280" cy="512064"/>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R2</a:t>
            </a:r>
          </a:p>
        </p:txBody>
      </p:sp>
      <p:sp>
        <p:nvSpPr>
          <p:cNvPr id="14" name="Rectangle 13"/>
          <p:cNvSpPr/>
          <p:nvPr/>
        </p:nvSpPr>
        <p:spPr>
          <a:xfrm>
            <a:off x="502920" y="3931920"/>
            <a:ext cx="5272887" cy="160020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path. The SAME current everywhere.</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R total = R1 + R2</a:t>
            </a:r>
          </a:p>
          <a:p>
            <a:pPr algn="ctr">
              <a:lnSpc>
                <a:spcPct val="100000"/>
              </a:lnSpc>
              <a:spcAft>
                <a:spcPts val="0"/>
              </a:spcAft>
              <a:defRPr sz="1800" b="0">
                <a:solidFill>
                  <a:srgbClr val="222222"/>
                </a:solidFill>
                <a:latin typeface="Calibri"/>
              </a:defRPr>
            </a:pPr>
            <a:r>
              <a:rPr sz="1800" b="0">
                <a:solidFill>
                  <a:srgbClr val="222222"/>
                </a:solidFill>
                <a:latin typeface="Calibri"/>
              </a:rPr>
              <a:t>I total = I1 = I2</a:t>
            </a:r>
          </a:p>
          <a:p>
            <a:pPr algn="ctr">
              <a:lnSpc>
                <a:spcPct val="100000"/>
              </a:lnSpc>
              <a:spcAft>
                <a:spcPts val="0"/>
              </a:spcAft>
              <a:defRPr sz="1800" b="0">
                <a:solidFill>
                  <a:srgbClr val="222222"/>
                </a:solidFill>
                <a:latin typeface="Calibri"/>
              </a:defRPr>
            </a:pPr>
            <a:r>
              <a:rPr sz="1800" b="0">
                <a:solidFill>
                  <a:srgbClr val="222222"/>
                </a:solidFill>
                <a:latin typeface="Calibri"/>
              </a:rPr>
              <a:t>V total = V1 + V2</a:t>
            </a:r>
          </a:p>
        </p:txBody>
      </p:sp>
      <p:sp>
        <p:nvSpPr>
          <p:cNvPr id="15" name="TextBox 14"/>
          <p:cNvSpPr txBox="1"/>
          <p:nvPr/>
        </p:nvSpPr>
        <p:spPr>
          <a:xfrm>
            <a:off x="6415887" y="1188720"/>
            <a:ext cx="5272887" cy="367792"/>
          </a:xfrm>
          <a:prstGeom prst="rect">
            <a:avLst/>
          </a:prstGeom>
          <a:noFill/>
        </p:spPr>
        <p:txBody>
          <a:bodyPr wrap="square" lIns="0" tIns="0" rIns="0" bIns="0">
            <a:spAutoFit/>
          </a:bodyPr>
          <a:lstStyle/>
          <a:p>
            <a:pPr algn="ctr">
              <a:lnSpc>
                <a:spcPct val="100000"/>
              </a:lnSpc>
              <a:spcAft>
                <a:spcPts val="100"/>
              </a:spcAft>
              <a:defRPr sz="1800" b="1">
                <a:solidFill>
                  <a:srgbClr val="B46A0F"/>
                </a:solidFill>
                <a:latin typeface="Calibri"/>
              </a:defRPr>
            </a:pPr>
            <a:r>
              <a:rPr sz="1800" b="1">
                <a:solidFill>
                  <a:srgbClr val="B46A0F"/>
                </a:solidFill>
                <a:latin typeface="Calibri"/>
              </a:rPr>
              <a:t>PARALLEL</a:t>
            </a:r>
          </a:p>
        </p:txBody>
      </p:sp>
      <p:cxnSp>
        <p:nvCxnSpPr>
          <p:cNvPr id="16" name="Connector 15"/>
          <p:cNvCxnSpPr/>
          <p:nvPr/>
        </p:nvCxnSpPr>
        <p:spPr>
          <a:xfrm>
            <a:off x="6873087"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004407" y="2532888"/>
            <a:ext cx="77724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battery</a:t>
            </a:r>
          </a:p>
        </p:txBody>
      </p:sp>
      <p:cxnSp>
        <p:nvCxnSpPr>
          <p:cNvPr id="18" name="Connector 17"/>
          <p:cNvCxnSpPr/>
          <p:nvPr/>
        </p:nvCxnSpPr>
        <p:spPr>
          <a:xfrm>
            <a:off x="6873087" y="187452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873087" y="361188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1231574"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052330"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503690" y="2441448"/>
            <a:ext cx="1097280" cy="548640"/>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R1</a:t>
            </a:r>
          </a:p>
        </p:txBody>
      </p:sp>
      <p:sp>
        <p:nvSpPr>
          <p:cNvPr id="23" name="Rounded Rectangle 22"/>
          <p:cNvSpPr/>
          <p:nvPr/>
        </p:nvSpPr>
        <p:spPr>
          <a:xfrm>
            <a:off x="10682934" y="2441448"/>
            <a:ext cx="1097280" cy="548640"/>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R2</a:t>
            </a:r>
          </a:p>
        </p:txBody>
      </p:sp>
      <p:sp>
        <p:nvSpPr>
          <p:cNvPr id="24" name="Rectangle 23"/>
          <p:cNvSpPr/>
          <p:nvPr/>
        </p:nvSpPr>
        <p:spPr>
          <a:xfrm>
            <a:off x="6415887" y="3931920"/>
            <a:ext cx="5272887" cy="160020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Two paths. The SAME voltage across each.</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V total = V1 = V2</a:t>
            </a:r>
          </a:p>
          <a:p>
            <a:pPr algn="ctr">
              <a:lnSpc>
                <a:spcPct val="100000"/>
              </a:lnSpc>
              <a:spcAft>
                <a:spcPts val="0"/>
              </a:spcAft>
              <a:defRPr sz="1800" b="0">
                <a:solidFill>
                  <a:srgbClr val="222222"/>
                </a:solidFill>
                <a:latin typeface="Calibri"/>
              </a:defRPr>
            </a:pPr>
            <a:r>
              <a:rPr sz="1800" b="0">
                <a:solidFill>
                  <a:srgbClr val="222222"/>
                </a:solidFill>
                <a:latin typeface="Calibri"/>
              </a:rPr>
              <a:t>I total = I1 + I2</a:t>
            </a:r>
          </a:p>
          <a:p>
            <a:pPr algn="ctr">
              <a:lnSpc>
                <a:spcPct val="100000"/>
              </a:lnSpc>
              <a:spcAft>
                <a:spcPts val="0"/>
              </a:spcAft>
              <a:defRPr sz="1800" b="0">
                <a:solidFill>
                  <a:srgbClr val="222222"/>
                </a:solidFill>
                <a:latin typeface="Calibri"/>
              </a:defRPr>
            </a:pPr>
            <a:r>
              <a:rPr sz="1800" b="0">
                <a:solidFill>
                  <a:srgbClr val="222222"/>
                </a:solidFill>
                <a:latin typeface="Calibri"/>
              </a:rPr>
              <a:t>1/R total = 1/R1 + 1/R2</a:t>
            </a:r>
          </a:p>
        </p:txBody>
      </p:sp>
      <p:sp>
        <p:nvSpPr>
          <p:cNvPr id="25" name="Rounded Rectangle 24"/>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LED circuit you built in Lesson 1 is a SERIES circuit: one loop, so the same current flows through the resistor and the LED. That is why the resistor protects the LED wherever you put it.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Series and parallel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You have already built both</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SERIES. Your LED circuit from Lesson 1: supply, resistor, LED, back to ground. One loop, one current.</a:t>
            </a:r>
          </a:p>
          <a:p>
            <a:pPr lvl="1" algn="l">
              <a:lnSpc>
                <a:spcPct val="100000"/>
              </a:lnSpc>
              <a:spcAft>
                <a:spcPts val="900"/>
              </a:spcAft>
              <a:defRPr sz="1800" b="0">
                <a:solidFill>
                  <a:srgbClr val="222222"/>
                </a:solidFill>
                <a:latin typeface="Calibri"/>
              </a:defRPr>
            </a:pPr>
            <a:r>
              <a:rPr sz="1800" b="0">
                <a:solidFill>
                  <a:srgbClr val="222222"/>
                </a:solidFill>
                <a:latin typeface="Calibri"/>
              </a:rPr>
              <a:t>Add resistance and the current everywhere drops.</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PARALLEL. The four motors. Each one hangs across the same supply, so each gets the full battery voltage, and the currents add up.</a:t>
            </a:r>
          </a:p>
          <a:p>
            <a:pPr lvl="1" algn="l">
              <a:lnSpc>
                <a:spcPct val="100000"/>
              </a:lnSpc>
              <a:spcAft>
                <a:spcPts val="900"/>
              </a:spcAft>
              <a:defRPr sz="1800" b="0">
                <a:solidFill>
                  <a:srgbClr val="222222"/>
                </a:solidFill>
                <a:latin typeface="Calibri"/>
              </a:defRPr>
            </a:pPr>
            <a:r>
              <a:rPr sz="1800" b="0">
                <a:solidFill>
                  <a:srgbClr val="222222"/>
                </a:solidFill>
                <a:latin typeface="Calibri"/>
              </a:rPr>
              <a:t>Four motors at 1.5 A each is 6 A out of the battery.</a:t>
            </a:r>
          </a:p>
          <a:p>
            <a:pPr lvl="1" algn="l">
              <a:lnSpc>
                <a:spcPct val="100000"/>
              </a:lnSpc>
              <a:spcAft>
                <a:spcPts val="900"/>
              </a:spcAft>
              <a:defRPr sz="1800" b="0">
                <a:solidFill>
                  <a:srgbClr val="222222"/>
                </a:solidFill>
                <a:latin typeface="Calibri"/>
              </a:defRPr>
            </a:pPr>
            <a:r>
              <a:rPr sz="1800" b="0">
                <a:solidFill>
                  <a:srgbClr val="222222"/>
                </a:solidFill>
                <a:latin typeface="Calibri"/>
              </a:rPr>
              <a:t>That is why the battery goes flat four times faster with all four driving than with one.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Series and parallel on the vehicle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The 32 LEDs are in parallel too. Each pixel draws its own current from the same 5 V rail, which is exactly why the power budget in Lesson 4 adds up the way it does.</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Series: current is shared, voltage divides. Parallel: voltage is shared, current divides. Almost every wiring question comes down to knowing which one you are looking at.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4" name="Rectangle 3"/>
          <p:cNvSpPr/>
          <p:nvPr/>
        </p:nvSpPr>
        <p:spPr>
          <a:xfrm>
            <a:off x="0" y="2194560"/>
            <a:ext cx="256032" cy="18288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286000"/>
            <a:ext cx="10515600" cy="118872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Making it go where you want</a:t>
            </a:r>
          </a:p>
        </p:txBody>
      </p:sp>
      <p:sp>
        <p:nvSpPr>
          <p:cNvPr id="6" name="TextBox 5"/>
          <p:cNvSpPr txBox="1"/>
          <p:nvPr/>
        </p:nvSpPr>
        <p:spPr>
          <a:xfrm>
            <a:off x="777240" y="3520440"/>
            <a:ext cx="10515600" cy="9144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60 minutes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Tank drive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sides, driven separately</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The Pathfinder has no steering rack. Nothing on it points the wheels.</a:t>
            </a:r>
          </a:p>
          <a:p>
            <a:pPr algn="l">
              <a:lnSpc>
                <a:spcPct val="100000"/>
              </a:lnSpc>
              <a:spcAft>
                <a:spcPts val="900"/>
              </a:spcAft>
              <a:defRPr sz="1800" b="0">
                <a:solidFill>
                  <a:srgbClr val="222222"/>
                </a:solidFill>
                <a:latin typeface="Calibri"/>
              </a:defRPr>
            </a:pPr>
            <a:r>
              <a:rPr sz="1800" b="0">
                <a:solidFill>
                  <a:srgbClr val="222222"/>
                </a:solidFill>
                <a:latin typeface="Calibri"/>
              </a:rPr>
              <a:t>The two wheels on the LEFT are driven together. The two on the RIGHT are driven together.</a:t>
            </a:r>
          </a:p>
          <a:p>
            <a:pPr algn="l">
              <a:lnSpc>
                <a:spcPct val="100000"/>
              </a:lnSpc>
              <a:spcAft>
                <a:spcPts val="900"/>
              </a:spcAft>
              <a:defRPr sz="1800" b="0">
                <a:solidFill>
                  <a:srgbClr val="222222"/>
                </a:solidFill>
                <a:latin typeface="Calibri"/>
              </a:defRPr>
            </a:pPr>
            <a:r>
              <a:rPr sz="1800" b="0">
                <a:solidFill>
                  <a:srgbClr val="222222"/>
                </a:solidFill>
                <a:latin typeface="Calibri"/>
              </a:rPr>
              <a:t>Both sides the same  -&gt;  a straight line.</a:t>
            </a:r>
          </a:p>
          <a:p>
            <a:pPr algn="l">
              <a:lnSpc>
                <a:spcPct val="100000"/>
              </a:lnSpc>
              <a:spcAft>
                <a:spcPts val="900"/>
              </a:spcAft>
              <a:defRPr sz="1800" b="0">
                <a:solidFill>
                  <a:srgbClr val="222222"/>
                </a:solidFill>
                <a:latin typeface="Calibri"/>
              </a:defRPr>
            </a:pPr>
            <a:r>
              <a:rPr sz="1800" b="0">
                <a:solidFill>
                  <a:srgbClr val="222222"/>
                </a:solidFill>
                <a:latin typeface="Calibri"/>
              </a:rPr>
              <a:t>Left faster than right  -&gt;  it curves to the right.</a:t>
            </a:r>
          </a:p>
          <a:p>
            <a:pPr algn="l">
              <a:lnSpc>
                <a:spcPct val="100000"/>
              </a:lnSpc>
              <a:spcAft>
                <a:spcPts val="900"/>
              </a:spcAft>
              <a:defRPr sz="1800" b="0">
                <a:solidFill>
                  <a:srgbClr val="222222"/>
                </a:solidFill>
                <a:latin typeface="Calibri"/>
              </a:defRPr>
            </a:pPr>
            <a:r>
              <a:rPr sz="1800" b="0">
                <a:solidFill>
                  <a:srgbClr val="222222"/>
                </a:solidFill>
                <a:latin typeface="Calibri"/>
              </a:rPr>
              <a:t>Left forward and right backward  -&gt;  it spins on the spot.</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This is how a tank steers, how an excavator steers, and how most small robots steer. It is called differential or skid steering.</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It costs you something: the wheels have to scrub sideways across the floor to turn, so turning is much more affected by the surface than driving straight is. That will show up in your square today.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one stick, two sides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sp>
        <p:nvSpPr>
          <p:cNvPr id="6" name="TextBox 5"/>
          <p:cNvSpPr txBox="1"/>
          <p:nvPr/>
        </p:nvSpPr>
        <p:spPr>
          <a:xfrm>
            <a:off x="502920" y="1188720"/>
            <a:ext cx="11185855" cy="429768"/>
          </a:xfrm>
          <a:prstGeom prst="rect">
            <a:avLst/>
          </a:prstGeom>
          <a:noFill/>
        </p:spPr>
        <p:txBody>
          <a:bodyPr wrap="square" lIns="0" tIns="0" rIns="0" bIns="0">
            <a:spAutoFit/>
          </a:bodyPr>
          <a:lstStyle/>
          <a:p>
            <a:pPr algn="ctr">
              <a:lnSpc>
                <a:spcPct val="100000"/>
              </a:lnSpc>
              <a:spcAft>
                <a:spcPts val="100"/>
              </a:spcAft>
              <a:defRPr sz="2200" b="1">
                <a:solidFill>
                  <a:srgbClr val="0E7C86"/>
                </a:solidFill>
                <a:latin typeface="Calibri"/>
              </a:defRPr>
            </a:pPr>
            <a:r>
              <a:rPr sz="2200" b="1">
                <a:solidFill>
                  <a:srgbClr val="0E7C86"/>
                </a:solidFill>
                <a:latin typeface="Calibri"/>
              </a:rPr>
              <a:t>left = forward + turn            right = forward - turn</a:t>
            </a:r>
          </a:p>
        </p:txBody>
      </p:sp>
      <p:sp>
        <p:nvSpPr>
          <p:cNvPr id="7" name="Rounded Rectangle 6"/>
          <p:cNvSpPr/>
          <p:nvPr/>
        </p:nvSpPr>
        <p:spPr>
          <a:xfrm>
            <a:off x="502920" y="1874520"/>
            <a:ext cx="2606040" cy="4114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stick straight up</a:t>
            </a:r>
          </a:p>
        </p:txBody>
      </p:sp>
      <p:sp>
        <p:nvSpPr>
          <p:cNvPr id="8" name="Rectangle 7"/>
          <p:cNvSpPr/>
          <p:nvPr/>
        </p:nvSpPr>
        <p:spPr>
          <a:xfrm>
            <a:off x="502920"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200</a:t>
            </a:r>
          </a:p>
          <a:p>
            <a:pPr algn="ctr">
              <a:lnSpc>
                <a:spcPct val="100000"/>
              </a:lnSpc>
              <a:spcAft>
                <a:spcPts val="0"/>
              </a:spcAft>
              <a:defRPr sz="1400" b="0">
                <a:solidFill>
                  <a:srgbClr val="222222"/>
                </a:solidFill>
                <a:latin typeface="Consolas"/>
              </a:defRPr>
            </a:pPr>
            <a:r>
              <a:rPr sz="1400" b="0">
                <a:solidFill>
                  <a:srgbClr val="222222"/>
                </a:solidFill>
                <a:latin typeface="Consolas"/>
              </a:rPr>
              <a:t>turn 0</a:t>
            </a:r>
          </a:p>
        </p:txBody>
      </p:sp>
      <p:cxnSp>
        <p:nvCxnSpPr>
          <p:cNvPr id="9" name="Connector 8"/>
          <p:cNvCxnSpPr/>
          <p:nvPr/>
        </p:nvCxnSpPr>
        <p:spPr>
          <a:xfrm>
            <a:off x="1805940"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02920"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200</a:t>
            </a:r>
          </a:p>
          <a:p>
            <a:pPr algn="ctr">
              <a:lnSpc>
                <a:spcPct val="100000"/>
              </a:lnSpc>
              <a:spcAft>
                <a:spcPts val="0"/>
              </a:spcAft>
              <a:defRPr sz="1400" b="0">
                <a:solidFill>
                  <a:srgbClr val="222222"/>
                </a:solidFill>
                <a:latin typeface="Consolas"/>
              </a:defRPr>
            </a:pPr>
            <a:r>
              <a:rPr sz="1400" b="0">
                <a:solidFill>
                  <a:srgbClr val="222222"/>
                </a:solidFill>
                <a:latin typeface="Consolas"/>
              </a:rPr>
              <a:t>right 200</a:t>
            </a:r>
          </a:p>
        </p:txBody>
      </p:sp>
      <p:sp>
        <p:nvSpPr>
          <p:cNvPr id="11" name="TextBox 10"/>
          <p:cNvSpPr txBox="1"/>
          <p:nvPr/>
        </p:nvSpPr>
        <p:spPr>
          <a:xfrm>
            <a:off x="502920"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straight ahead</a:t>
            </a:r>
          </a:p>
        </p:txBody>
      </p:sp>
      <p:sp>
        <p:nvSpPr>
          <p:cNvPr id="12" name="Rounded Rectangle 11"/>
          <p:cNvSpPr/>
          <p:nvPr/>
        </p:nvSpPr>
        <p:spPr>
          <a:xfrm>
            <a:off x="3364992" y="1874520"/>
            <a:ext cx="2606040" cy="4114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up and right</a:t>
            </a:r>
          </a:p>
        </p:txBody>
      </p:sp>
      <p:sp>
        <p:nvSpPr>
          <p:cNvPr id="13" name="Rectangle 12"/>
          <p:cNvSpPr/>
          <p:nvPr/>
        </p:nvSpPr>
        <p:spPr>
          <a:xfrm>
            <a:off x="3364992"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200</a:t>
            </a:r>
          </a:p>
          <a:p>
            <a:pPr algn="ctr">
              <a:lnSpc>
                <a:spcPct val="100000"/>
              </a:lnSpc>
              <a:spcAft>
                <a:spcPts val="0"/>
              </a:spcAft>
              <a:defRPr sz="1400" b="0">
                <a:solidFill>
                  <a:srgbClr val="222222"/>
                </a:solidFill>
                <a:latin typeface="Consolas"/>
              </a:defRPr>
            </a:pPr>
            <a:r>
              <a:rPr sz="1400" b="0">
                <a:solidFill>
                  <a:srgbClr val="222222"/>
                </a:solidFill>
                <a:latin typeface="Consolas"/>
              </a:rPr>
              <a:t>turn 60</a:t>
            </a:r>
          </a:p>
        </p:txBody>
      </p:sp>
      <p:cxnSp>
        <p:nvCxnSpPr>
          <p:cNvPr id="14" name="Connector 13"/>
          <p:cNvCxnSpPr/>
          <p:nvPr/>
        </p:nvCxnSpPr>
        <p:spPr>
          <a:xfrm>
            <a:off x="4668012"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3364992"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260 -&gt; 255</a:t>
            </a:r>
          </a:p>
          <a:p>
            <a:pPr algn="ctr">
              <a:lnSpc>
                <a:spcPct val="100000"/>
              </a:lnSpc>
              <a:spcAft>
                <a:spcPts val="0"/>
              </a:spcAft>
              <a:defRPr sz="1400" b="0">
                <a:solidFill>
                  <a:srgbClr val="222222"/>
                </a:solidFill>
                <a:latin typeface="Consolas"/>
              </a:defRPr>
            </a:pPr>
            <a:r>
              <a:rPr sz="1400" b="0">
                <a:solidFill>
                  <a:srgbClr val="222222"/>
                </a:solidFill>
                <a:latin typeface="Consolas"/>
              </a:rPr>
              <a:t>right 140</a:t>
            </a:r>
          </a:p>
        </p:txBody>
      </p:sp>
      <p:sp>
        <p:nvSpPr>
          <p:cNvPr id="16" name="TextBox 15"/>
          <p:cNvSpPr txBox="1"/>
          <p:nvPr/>
        </p:nvSpPr>
        <p:spPr>
          <a:xfrm>
            <a:off x="3364992" y="452628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curves right</a:t>
            </a:r>
          </a:p>
          <a:p>
            <a:pPr algn="ctr">
              <a:lnSpc>
                <a:spcPct val="100000"/>
              </a:lnSpc>
              <a:spcAft>
                <a:spcPts val="0"/>
              </a:spcAft>
              <a:defRPr sz="1800" b="0">
                <a:solidFill>
                  <a:srgbClr val="222222"/>
                </a:solidFill>
                <a:latin typeface="Calibri"/>
              </a:defRPr>
            </a:pPr>
            <a:r>
              <a:rPr sz="1800" b="0">
                <a:solidFill>
                  <a:srgbClr val="222222"/>
                </a:solidFill>
                <a:latin typeface="Calibri"/>
              </a:rPr>
              <a:t>while moving</a:t>
            </a:r>
          </a:p>
        </p:txBody>
      </p:sp>
      <p:sp>
        <p:nvSpPr>
          <p:cNvPr id="17" name="Rounded Rectangle 16"/>
          <p:cNvSpPr/>
          <p:nvPr/>
        </p:nvSpPr>
        <p:spPr>
          <a:xfrm>
            <a:off x="6227064" y="1874520"/>
            <a:ext cx="2606040" cy="411480"/>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hard right only</a:t>
            </a:r>
          </a:p>
        </p:txBody>
      </p:sp>
      <p:sp>
        <p:nvSpPr>
          <p:cNvPr id="18" name="Rectangle 17"/>
          <p:cNvSpPr/>
          <p:nvPr/>
        </p:nvSpPr>
        <p:spPr>
          <a:xfrm>
            <a:off x="6227064"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0</a:t>
            </a:r>
          </a:p>
          <a:p>
            <a:pPr algn="ctr">
              <a:lnSpc>
                <a:spcPct val="100000"/>
              </a:lnSpc>
              <a:spcAft>
                <a:spcPts val="0"/>
              </a:spcAft>
              <a:defRPr sz="1400" b="0">
                <a:solidFill>
                  <a:srgbClr val="222222"/>
                </a:solidFill>
                <a:latin typeface="Consolas"/>
              </a:defRPr>
            </a:pPr>
            <a:r>
              <a:rPr sz="1400" b="0">
                <a:solidFill>
                  <a:srgbClr val="222222"/>
                </a:solidFill>
                <a:latin typeface="Consolas"/>
              </a:rPr>
              <a:t>turn 127</a:t>
            </a:r>
          </a:p>
        </p:txBody>
      </p:sp>
      <p:cxnSp>
        <p:nvCxnSpPr>
          <p:cNvPr id="19" name="Connector 18"/>
          <p:cNvCxnSpPr/>
          <p:nvPr/>
        </p:nvCxnSpPr>
        <p:spPr>
          <a:xfrm>
            <a:off x="7530084"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6227064"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127</a:t>
            </a:r>
          </a:p>
          <a:p>
            <a:pPr algn="ctr">
              <a:lnSpc>
                <a:spcPct val="100000"/>
              </a:lnSpc>
              <a:spcAft>
                <a:spcPts val="0"/>
              </a:spcAft>
              <a:defRPr sz="1400" b="0">
                <a:solidFill>
                  <a:srgbClr val="222222"/>
                </a:solidFill>
                <a:latin typeface="Consolas"/>
              </a:defRPr>
            </a:pPr>
            <a:r>
              <a:rPr sz="1400" b="0">
                <a:solidFill>
                  <a:srgbClr val="222222"/>
                </a:solidFill>
                <a:latin typeface="Consolas"/>
              </a:rPr>
              <a:t>right -127</a:t>
            </a:r>
          </a:p>
        </p:txBody>
      </p:sp>
      <p:sp>
        <p:nvSpPr>
          <p:cNvPr id="21" name="TextBox 20"/>
          <p:cNvSpPr txBox="1"/>
          <p:nvPr/>
        </p:nvSpPr>
        <p:spPr>
          <a:xfrm>
            <a:off x="6227064"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spins on the spot</a:t>
            </a:r>
          </a:p>
        </p:txBody>
      </p:sp>
      <p:sp>
        <p:nvSpPr>
          <p:cNvPr id="22" name="Rounded Rectangle 21"/>
          <p:cNvSpPr/>
          <p:nvPr/>
        </p:nvSpPr>
        <p:spPr>
          <a:xfrm>
            <a:off x="9089136" y="1874520"/>
            <a:ext cx="2606040" cy="411480"/>
          </a:xfrm>
          <a:prstGeom prst="roundRect">
            <a:avLst>
              <a:gd name="adj" fmla="val 12000"/>
            </a:avLst>
          </a:prstGeom>
          <a:solidFill>
            <a:srgbClr val="E8ECF0"/>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stick centred</a:t>
            </a:r>
          </a:p>
        </p:txBody>
      </p:sp>
      <p:sp>
        <p:nvSpPr>
          <p:cNvPr id="23" name="Rectangle 22"/>
          <p:cNvSpPr/>
          <p:nvPr/>
        </p:nvSpPr>
        <p:spPr>
          <a:xfrm>
            <a:off x="9089136"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0</a:t>
            </a:r>
          </a:p>
          <a:p>
            <a:pPr algn="ctr">
              <a:lnSpc>
                <a:spcPct val="100000"/>
              </a:lnSpc>
              <a:spcAft>
                <a:spcPts val="0"/>
              </a:spcAft>
              <a:defRPr sz="1400" b="0">
                <a:solidFill>
                  <a:srgbClr val="222222"/>
                </a:solidFill>
                <a:latin typeface="Consolas"/>
              </a:defRPr>
            </a:pPr>
            <a:r>
              <a:rPr sz="1400" b="0">
                <a:solidFill>
                  <a:srgbClr val="222222"/>
                </a:solidFill>
                <a:latin typeface="Consolas"/>
              </a:rPr>
              <a:t>turn 0</a:t>
            </a:r>
          </a:p>
        </p:txBody>
      </p:sp>
      <p:cxnSp>
        <p:nvCxnSpPr>
          <p:cNvPr id="24" name="Connector 23"/>
          <p:cNvCxnSpPr/>
          <p:nvPr/>
        </p:nvCxnSpPr>
        <p:spPr>
          <a:xfrm>
            <a:off x="10392156"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9089136"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0</a:t>
            </a:r>
          </a:p>
          <a:p>
            <a:pPr algn="ctr">
              <a:lnSpc>
                <a:spcPct val="100000"/>
              </a:lnSpc>
              <a:spcAft>
                <a:spcPts val="0"/>
              </a:spcAft>
              <a:defRPr sz="1400" b="0">
                <a:solidFill>
                  <a:srgbClr val="222222"/>
                </a:solidFill>
                <a:latin typeface="Consolas"/>
              </a:defRPr>
            </a:pPr>
            <a:r>
              <a:rPr sz="1400" b="0">
                <a:solidFill>
                  <a:srgbClr val="222222"/>
                </a:solidFill>
                <a:latin typeface="Consolas"/>
              </a:rPr>
              <a:t>right 0</a:t>
            </a:r>
          </a:p>
        </p:txBody>
      </p:sp>
      <p:sp>
        <p:nvSpPr>
          <p:cNvPr id="26" name="TextBox 25"/>
          <p:cNvSpPr txBox="1"/>
          <p:nvPr/>
        </p:nvSpPr>
        <p:spPr>
          <a:xfrm>
            <a:off x="9089136"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both sides coast</a:t>
            </a:r>
          </a:p>
        </p:txBody>
      </p:sp>
      <p:sp>
        <p:nvSpPr>
          <p:cNvPr id="27" name="Rounded Rectangle 2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260 is over the maximum, which is exactly what constrain() is there to catch. Steering also has its own lower cap, turnMax, so the vehicle stays easy to aim.</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maths you need to predict where it ends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32</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Wheel diameter is 3.0 inches.</a:t>
            </a:r>
          </a:p>
          <a:p>
            <a:pPr lvl="1" algn="l">
              <a:lnSpc>
                <a:spcPct val="100000"/>
              </a:lnSpc>
              <a:spcAft>
                <a:spcPts val="900"/>
              </a:spcAft>
              <a:defRPr sz="1800" b="0">
                <a:solidFill>
                  <a:srgbClr val="222222"/>
                </a:solidFill>
                <a:latin typeface="Calibri"/>
              </a:defRPr>
            </a:pPr>
            <a:r>
              <a:rPr sz="1800" b="0">
                <a:solidFill>
                  <a:srgbClr val="222222"/>
                </a:solidFill>
                <a:latin typeface="Calibri"/>
              </a:rPr>
              <a:t>Circumference = pi x diameter = 3.1416 x 3.0 = 9.42 inches</a:t>
            </a:r>
          </a:p>
          <a:p>
            <a:pPr lvl="1" algn="l">
              <a:lnSpc>
                <a:spcPct val="100000"/>
              </a:lnSpc>
              <a:spcAft>
                <a:spcPts val="900"/>
              </a:spcAft>
              <a:defRPr sz="1800" b="0">
                <a:solidFill>
                  <a:srgbClr val="222222"/>
                </a:solidFill>
                <a:latin typeface="Calibri"/>
              </a:defRPr>
            </a:pPr>
            <a:r>
              <a:rPr sz="1800" b="0">
                <a:solidFill>
                  <a:srgbClr val="222222"/>
                </a:solidFill>
                <a:latin typeface="Calibri"/>
              </a:rPr>
              <a:t>Distance per wheel turn = 9.42 / 12 = 0.79 feet</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Speed = revolutions per second x distance per revolution</a:t>
            </a:r>
          </a:p>
          <a:p>
            <a:pPr algn="l">
              <a:lnSpc>
                <a:spcPct val="100000"/>
              </a:lnSpc>
              <a:spcAft>
                <a:spcPts val="900"/>
              </a:spcAft>
              <a:defRPr sz="1800" b="0">
                <a:solidFill>
                  <a:srgbClr val="222222"/>
                </a:solidFill>
                <a:latin typeface="Calibri"/>
              </a:defRPr>
            </a:pPr>
            <a:r>
              <a:rPr sz="1800" b="0">
                <a:solidFill>
                  <a:srgbClr val="222222"/>
                </a:solidFill>
                <a:latin typeface="Calibri"/>
              </a:rPr>
              <a:t>Distance = speed x time</a:t>
            </a:r>
          </a:p>
          <a:p>
            <a:pPr algn="l">
              <a:lnSpc>
                <a:spcPct val="100000"/>
              </a:lnSpc>
              <a:spcAft>
                <a:spcPts val="900"/>
              </a:spcAft>
              <a:defRPr sz="1800" b="0">
                <a:solidFill>
                  <a:srgbClr val="222222"/>
                </a:solidFill>
                <a:latin typeface="Calibri"/>
              </a:defRPr>
            </a:pPr>
            <a:r>
              <a:rPr sz="1800" b="0">
                <a:solidFill>
                  <a:srgbClr val="222222"/>
                </a:solidFill>
                <a:latin typeface="Calibri"/>
              </a:rPr>
              <a:t>Degrees turned = turn rate x time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You know the time - you wrote it in the delay(). You have to MEASURE the speed and the turn rate, because they depend on your motors, your floor and your battery.</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Worked example: at 3.34 feet per second, 100 feet takes 29.94 seconds. At a turn rate of 30 degrees per second, a 90 degree corner takes 3 seconds.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the vehicle has no idea where it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33</a:t>
            </a:r>
          </a:p>
        </p:txBody>
      </p:sp>
      <p:cxnSp>
        <p:nvCxnSpPr>
          <p:cNvPr id="6" name="Connector 5"/>
          <p:cNvCxnSpPr/>
          <p:nvPr/>
        </p:nvCxnSpPr>
        <p:spPr>
          <a:xfrm flipV="1">
            <a:off x="1874520" y="2240280"/>
            <a:ext cx="0" cy="265176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874520" y="2240280"/>
            <a:ext cx="2651760" cy="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526280" y="2240280"/>
            <a:ext cx="0" cy="265176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1874520" y="4892040"/>
            <a:ext cx="2651760" cy="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274320" y="338328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1  forward</a:t>
            </a:r>
          </a:p>
        </p:txBody>
      </p:sp>
      <p:sp>
        <p:nvSpPr>
          <p:cNvPr id="11" name="TextBox 10"/>
          <p:cNvSpPr txBox="1"/>
          <p:nvPr/>
        </p:nvSpPr>
        <p:spPr>
          <a:xfrm>
            <a:off x="2468880" y="155448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2  forward</a:t>
            </a:r>
          </a:p>
        </p:txBody>
      </p:sp>
      <p:sp>
        <p:nvSpPr>
          <p:cNvPr id="12" name="TextBox 11"/>
          <p:cNvSpPr txBox="1"/>
          <p:nvPr/>
        </p:nvSpPr>
        <p:spPr>
          <a:xfrm>
            <a:off x="4800600" y="338328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3  forward</a:t>
            </a:r>
          </a:p>
        </p:txBody>
      </p:sp>
      <p:sp>
        <p:nvSpPr>
          <p:cNvPr id="13" name="TextBox 12"/>
          <p:cNvSpPr txBox="1"/>
          <p:nvPr/>
        </p:nvSpPr>
        <p:spPr>
          <a:xfrm>
            <a:off x="2468880" y="521208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4  forward</a:t>
            </a:r>
          </a:p>
        </p:txBody>
      </p:sp>
      <p:sp>
        <p:nvSpPr>
          <p:cNvPr id="14" name="Oval 13"/>
          <p:cNvSpPr/>
          <p:nvPr/>
        </p:nvSpPr>
        <p:spPr>
          <a:xfrm>
            <a:off x="1755648" y="477316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5" name="Oval 14"/>
          <p:cNvSpPr/>
          <p:nvPr/>
        </p:nvSpPr>
        <p:spPr>
          <a:xfrm>
            <a:off x="1755648" y="212140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6" name="Oval 15"/>
          <p:cNvSpPr/>
          <p:nvPr/>
        </p:nvSpPr>
        <p:spPr>
          <a:xfrm>
            <a:off x="4407408" y="212140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7" name="Oval 16"/>
          <p:cNvSpPr/>
          <p:nvPr/>
        </p:nvSpPr>
        <p:spPr>
          <a:xfrm>
            <a:off x="4407408" y="477316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8" name="TextBox 17"/>
          <p:cNvSpPr txBox="1"/>
          <p:nvPr/>
        </p:nvSpPr>
        <p:spPr>
          <a:xfrm>
            <a:off x="137160" y="5166360"/>
            <a:ext cx="1554480" cy="367792"/>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START</a:t>
            </a:r>
          </a:p>
        </p:txBody>
      </p:sp>
      <p:sp>
        <p:nvSpPr>
          <p:cNvPr id="19" name="TextBox 18"/>
          <p:cNvSpPr txBox="1"/>
          <p:nvPr/>
        </p:nvSpPr>
        <p:spPr>
          <a:xfrm>
            <a:off x="137160" y="5550408"/>
            <a:ext cx="1554480" cy="367792"/>
          </a:xfrm>
          <a:prstGeom prst="rect">
            <a:avLst/>
          </a:prstGeom>
          <a:noFill/>
        </p:spPr>
        <p:txBody>
          <a:bodyPr wrap="square" lIns="0" tIns="0" rIns="0" bIns="0">
            <a:spAutoFit/>
          </a:bodyPr>
          <a:lstStyle/>
          <a:p>
            <a:pPr algn="r">
              <a:lnSpc>
                <a:spcPct val="100000"/>
              </a:lnSpc>
              <a:spcAft>
                <a:spcPts val="0"/>
              </a:spcAft>
              <a:defRPr sz="1800" b="0">
                <a:solidFill>
                  <a:srgbClr val="B46A0F"/>
                </a:solidFill>
                <a:latin typeface="Calibri"/>
              </a:defRPr>
            </a:pPr>
            <a:r>
              <a:rPr sz="1800" b="0">
                <a:solidFill>
                  <a:srgbClr val="B46A0F"/>
                </a:solidFill>
                <a:latin typeface="Calibri"/>
              </a:rPr>
              <a:t>each dot is a</a:t>
            </a:r>
          </a:p>
        </p:txBody>
      </p:sp>
      <p:sp>
        <p:nvSpPr>
          <p:cNvPr id="20" name="TextBox 19"/>
          <p:cNvSpPr txBox="1"/>
          <p:nvPr/>
        </p:nvSpPr>
        <p:spPr>
          <a:xfrm>
            <a:off x="137160" y="5897880"/>
            <a:ext cx="1554480" cy="646684"/>
          </a:xfrm>
          <a:prstGeom prst="rect">
            <a:avLst/>
          </a:prstGeom>
          <a:noFill/>
        </p:spPr>
        <p:txBody>
          <a:bodyPr wrap="square" lIns="0" tIns="0" rIns="0" bIns="0">
            <a:spAutoFit/>
          </a:bodyPr>
          <a:lstStyle/>
          <a:p>
            <a:pPr algn="r">
              <a:lnSpc>
                <a:spcPct val="100000"/>
              </a:lnSpc>
              <a:spcAft>
                <a:spcPts val="0"/>
              </a:spcAft>
              <a:defRPr sz="1800" b="0">
                <a:solidFill>
                  <a:srgbClr val="B46A0F"/>
                </a:solidFill>
                <a:latin typeface="Calibri"/>
              </a:defRPr>
            </a:pPr>
            <a:r>
              <a:rPr sz="1800" b="0">
                <a:solidFill>
                  <a:srgbClr val="B46A0F"/>
                </a:solidFill>
                <a:latin typeface="Calibri"/>
              </a:rPr>
              <a:t>90 degree turn</a:t>
            </a:r>
          </a:p>
        </p:txBody>
      </p:sp>
      <p:sp>
        <p:nvSpPr>
          <p:cNvPr id="21" name="TextBox 20"/>
          <p:cNvSpPr txBox="1"/>
          <p:nvPr/>
        </p:nvSpPr>
        <p:spPr>
          <a:xfrm>
            <a:off x="6537960" y="1188720"/>
            <a:ext cx="5120640" cy="383286"/>
          </a:xfrm>
          <a:prstGeom prst="rect">
            <a:avLst/>
          </a:prstGeom>
          <a:noFill/>
        </p:spPr>
        <p:txBody>
          <a:bodyPr wrap="square" lIns="0" tIns="0" rIns="0" bIns="0">
            <a:spAutoFit/>
          </a:bodyPr>
          <a:lstStyle/>
          <a:p>
            <a:pPr algn="l">
              <a:lnSpc>
                <a:spcPct val="100000"/>
              </a:lnSpc>
              <a:spcAft>
                <a:spcPts val="100"/>
              </a:spcAft>
              <a:defRPr sz="1900" b="1">
                <a:solidFill>
                  <a:srgbClr val="0E7C86"/>
                </a:solidFill>
                <a:latin typeface="Calibri"/>
              </a:defRPr>
            </a:pPr>
            <a:r>
              <a:rPr sz="1900" b="1">
                <a:solidFill>
                  <a:srgbClr val="0E7C86"/>
                </a:solidFill>
                <a:latin typeface="Calibri"/>
              </a:rPr>
              <a:t>The two equations</a:t>
            </a:r>
          </a:p>
        </p:txBody>
      </p:sp>
      <p:sp>
        <p:nvSpPr>
          <p:cNvPr id="22" name="Rectangle 21"/>
          <p:cNvSpPr/>
          <p:nvPr/>
        </p:nvSpPr>
        <p:spPr>
          <a:xfrm>
            <a:off x="6537960" y="1645920"/>
            <a:ext cx="5120640" cy="105156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500" b="0">
                <a:solidFill>
                  <a:srgbClr val="222222"/>
                </a:solidFill>
                <a:latin typeface="Consolas"/>
              </a:defRPr>
            </a:pPr>
            <a:r>
              <a:rPr sz="1500" b="0">
                <a:solidFill>
                  <a:srgbClr val="222222"/>
                </a:solidFill>
                <a:latin typeface="Consolas"/>
              </a:rPr>
              <a:t>distance = speed x time</a:t>
            </a:r>
          </a:p>
          <a:p>
            <a:pPr algn="l">
              <a:lnSpc>
                <a:spcPct val="100000"/>
              </a:lnSpc>
              <a:spcAft>
                <a:spcPts val="0"/>
              </a:spcAft>
              <a:defRPr sz="1500" b="0">
                <a:solidFill>
                  <a:srgbClr val="222222"/>
                </a:solidFill>
                <a:latin typeface="Consolas"/>
              </a:defRPr>
            </a:pPr>
            <a:r>
              <a:rPr sz="1500" b="0">
                <a:solidFill>
                  <a:srgbClr val="222222"/>
                </a:solidFill>
                <a:latin typeface="Consolas"/>
              </a:rPr>
              <a:t>degrees turned = turn rate x time</a:t>
            </a:r>
          </a:p>
        </p:txBody>
      </p:sp>
      <p:sp>
        <p:nvSpPr>
          <p:cNvPr id="23" name="TextBox 22"/>
          <p:cNvSpPr txBox="1"/>
          <p:nvPr/>
        </p:nvSpPr>
        <p:spPr>
          <a:xfrm>
            <a:off x="6537960" y="2880360"/>
            <a:ext cx="5120640" cy="3816096"/>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You know the TIME - you wrote it in the delay().</a:t>
            </a:r>
          </a:p>
          <a:p>
            <a:pPr algn="l">
              <a:lnSpc>
                <a:spcPct val="100000"/>
              </a:lnSpc>
              <a:spcAft>
                <a:spcPts val="0"/>
              </a:spcAft>
              <a:defRPr sz="1800" b="0">
                <a:solidFill>
                  <a:srgbClr val="222222"/>
                </a:solidFill>
                <a:latin typeface="Calibri"/>
              </a:defRPr>
            </a:pPr>
            <a:r>
              <a:rPr sz="1800" b="0">
                <a:solidFill>
                  <a:srgbClr val="222222"/>
                </a:solidFill>
                <a:latin typeface="Calibri"/>
              </a:rPr>
              <a:t>You have to MEASURE the speed and the turn rate.</a:t>
            </a:r>
          </a:p>
          <a:p>
            <a:pPr algn="l">
              <a:lnSpc>
                <a:spcPct val="100000"/>
              </a:lnSpc>
              <a:spcAft>
                <a:spcPts val="0"/>
              </a:spcAft>
              <a:defRPr sz="18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wheel circumference = pi x 3.0 in = 9.42 in</a:t>
            </a:r>
          </a:p>
          <a:p>
            <a:pPr algn="l">
              <a:lnSpc>
                <a:spcPct val="100000"/>
              </a:lnSpc>
              <a:spcAft>
                <a:spcPts val="0"/>
              </a:spcAft>
              <a:defRPr sz="1800" b="0">
                <a:solidFill>
                  <a:srgbClr val="222222"/>
                </a:solidFill>
                <a:latin typeface="Calibri"/>
              </a:defRPr>
            </a:pPr>
            <a:r>
              <a:rPr sz="1800" b="0">
                <a:solidFill>
                  <a:srgbClr val="222222"/>
                </a:solidFill>
                <a:latin typeface="Calibri"/>
              </a:rPr>
              <a:t>one wheel turn = 9.42 / 12 = 0.79 ft</a:t>
            </a:r>
          </a:p>
          <a:p>
            <a:pPr algn="l">
              <a:lnSpc>
                <a:spcPct val="100000"/>
              </a:lnSpc>
              <a:spcAft>
                <a:spcPts val="0"/>
              </a:spcAft>
              <a:defRPr sz="18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Drive it, measure one side, divide by the time, and</a:t>
            </a:r>
          </a:p>
          <a:p>
            <a:pPr algn="l">
              <a:lnSpc>
                <a:spcPct val="100000"/>
              </a:lnSpc>
              <a:spcAft>
                <a:spcPts val="0"/>
              </a:spcAft>
              <a:defRPr sz="1800" b="0">
                <a:solidFill>
                  <a:srgbClr val="222222"/>
                </a:solidFill>
                <a:latin typeface="Calibri"/>
              </a:defRPr>
            </a:pPr>
            <a:r>
              <a:rPr sz="1800" b="0">
                <a:solidFill>
                  <a:srgbClr val="222222"/>
                </a:solidFill>
                <a:latin typeface="Calibri"/>
              </a:rPr>
              <a:t>you have feet per second for YOUR vehicle on THIS</a:t>
            </a:r>
          </a:p>
          <a:p>
            <a:pPr algn="l">
              <a:lnSpc>
                <a:spcPct val="100000"/>
              </a:lnSpc>
              <a:spcAft>
                <a:spcPts val="0"/>
              </a:spcAft>
              <a:defRPr sz="1800" b="0">
                <a:solidFill>
                  <a:srgbClr val="222222"/>
                </a:solidFill>
                <a:latin typeface="Calibri"/>
              </a:defRPr>
            </a:pPr>
            <a:r>
              <a:rPr sz="1800" b="0">
                <a:solidFill>
                  <a:srgbClr val="222222"/>
                </a:solidFill>
                <a:latin typeface="Calibri"/>
              </a:rPr>
              <a:t>floor with THIS battery charge.</a:t>
            </a:r>
          </a:p>
        </p:txBody>
      </p:sp>
      <p:sp>
        <p:nvSpPr>
          <p:cNvPr id="24" name="Rounded Rectangle 23"/>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Recharge the battery and the same numbers give a bigger square. That drift is why dead reckoning is a starting point, not an answer.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three kinds of loop in C</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34</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300"/>
              </a:spcAft>
              <a:defRPr sz="1300" b="0">
                <a:solidFill>
                  <a:srgbClr val="222222"/>
                </a:solidFill>
                <a:latin typeface="Calibri"/>
              </a:defRPr>
            </a:pPr>
            <a:r>
              <a:rPr sz="1300" b="0">
                <a:solidFill>
                  <a:srgbClr val="222222"/>
                </a:solidFill>
                <a:latin typeface="Calibri"/>
              </a:rPr>
              <a:t>You have been using for loops all lesson. There are two more, and between them they turn up in almost every program you will ever read.</a:t>
            </a:r>
          </a:p>
        </p:txBody>
      </p:sp>
      <p:graphicFrame>
        <p:nvGraphicFramePr>
          <p:cNvPr id="7" name="Table 6"/>
          <p:cNvGraphicFramePr>
            <a:graphicFrameLocks noGrp="1"/>
          </p:cNvGraphicFramePr>
          <p:nvPr/>
        </p:nvGraphicFramePr>
        <p:xfrm>
          <a:off x="502920" y="1691640"/>
          <a:ext cx="11185854" cy="1638300"/>
        </p:xfrm>
        <a:graphic>
          <a:graphicData uri="http://schemas.openxmlformats.org/drawingml/2006/table">
            <a:tbl>
              <a:tblPr firstRow="1" bandRow="1">
                <a:tableStyleId>{5C22544A-7EE6-4342-B048-85BDC9FD1C3A}</a:tableStyleId>
              </a:tblPr>
              <a:tblGrid>
                <a:gridCol w="1423654"/>
                <a:gridCol w="2643929"/>
                <a:gridCol w="7118271"/>
              </a:tblGrid>
              <a:tr h="409575">
                <a:tc>
                  <a:txBody>
                    <a:bodyPr/>
                    <a:lstStyle/>
                    <a:p>
                      <a:r>
                        <a:rPr sz="1400" b="1">
                          <a:solidFill>
                            <a:srgbClr val="FFFFFF"/>
                          </a:solidFill>
                          <a:latin typeface="Calibri"/>
                        </a:rPr>
                        <a:t>Loop</a:t>
                      </a:r>
                    </a:p>
                  </a:txBody>
                  <a:tcPr marL="73152" marT="18288" marB="18288">
                    <a:solidFill>
                      <a:srgbClr val="1F3A5F"/>
                    </a:solidFill>
                  </a:tcPr>
                </a:tc>
                <a:tc>
                  <a:txBody>
                    <a:bodyPr/>
                    <a:lstStyle/>
                    <a:p>
                      <a:r>
                        <a:rPr sz="1400" b="1">
                          <a:solidFill>
                            <a:srgbClr val="FFFFFF"/>
                          </a:solidFill>
                          <a:latin typeface="Calibri"/>
                        </a:rPr>
                        <a:t>When the test happens</a:t>
                      </a:r>
                    </a:p>
                  </a:txBody>
                  <a:tcPr marL="73152" marT="18288" marB="18288">
                    <a:solidFill>
                      <a:srgbClr val="1F3A5F"/>
                    </a:solidFill>
                  </a:tcPr>
                </a:tc>
                <a:tc>
                  <a:txBody>
                    <a:bodyPr/>
                    <a:lstStyle/>
                    <a:p>
                      <a:r>
                        <a:rPr sz="1400" b="1">
                          <a:solidFill>
                            <a:srgbClr val="FFFFFF"/>
                          </a:solidFill>
                          <a:latin typeface="Calibri"/>
                        </a:rPr>
                        <a:t>Use it when</a:t>
                      </a:r>
                    </a:p>
                  </a:txBody>
                  <a:tcPr marL="73152" marT="18288" marB="18288">
                    <a:solidFill>
                      <a:srgbClr val="1F3A5F"/>
                    </a:solidFill>
                  </a:tcPr>
                </a:tc>
              </a:tr>
              <a:tr h="409575">
                <a:tc>
                  <a:txBody>
                    <a:bodyPr/>
                    <a:lstStyle/>
                    <a:p>
                      <a:r>
                        <a:rPr sz="1400">
                          <a:solidFill>
                            <a:srgbClr val="222222"/>
                          </a:solidFill>
                          <a:latin typeface="Calibri"/>
                        </a:rPr>
                        <a:t>for</a:t>
                      </a:r>
                    </a:p>
                  </a:txBody>
                  <a:tcPr marL="73152" marT="18288" marB="18288">
                    <a:solidFill>
                      <a:srgbClr val="FFFFFF"/>
                    </a:solidFill>
                  </a:tcPr>
                </a:tc>
                <a:tc>
                  <a:txBody>
                    <a:bodyPr/>
                    <a:lstStyle/>
                    <a:p>
                      <a:r>
                        <a:rPr sz="1400">
                          <a:solidFill>
                            <a:srgbClr val="222222"/>
                          </a:solidFill>
                          <a:latin typeface="Calibri"/>
                        </a:rPr>
                        <a:t>Before each pass</a:t>
                      </a:r>
                    </a:p>
                  </a:txBody>
                  <a:tcPr marL="73152" marT="18288" marB="18288">
                    <a:solidFill>
                      <a:srgbClr val="FFFFFF"/>
                    </a:solidFill>
                  </a:tcPr>
                </a:tc>
                <a:tc>
                  <a:txBody>
                    <a:bodyPr/>
                    <a:lstStyle/>
                    <a:p>
                      <a:r>
                        <a:rPr sz="1400">
                          <a:solidFill>
                            <a:srgbClr val="222222"/>
                          </a:solidFill>
                          <a:latin typeface="Calibri"/>
                        </a:rPr>
                        <a:t>You know how many times. Stepping through the 32 LEDs, or four sides of a square.</a:t>
                      </a:r>
                    </a:p>
                  </a:txBody>
                  <a:tcPr marL="73152" marT="18288" marB="18288">
                    <a:solidFill>
                      <a:srgbClr val="FFFFFF"/>
                    </a:solidFill>
                  </a:tcPr>
                </a:tc>
              </a:tr>
              <a:tr h="409575">
                <a:tc>
                  <a:txBody>
                    <a:bodyPr/>
                    <a:lstStyle/>
                    <a:p>
                      <a:r>
                        <a:rPr sz="1400">
                          <a:solidFill>
                            <a:srgbClr val="222222"/>
                          </a:solidFill>
                          <a:latin typeface="Calibri"/>
                        </a:rPr>
                        <a:t>while</a:t>
                      </a:r>
                    </a:p>
                  </a:txBody>
                  <a:tcPr marL="73152" marT="18288" marB="18288">
                    <a:solidFill>
                      <a:srgbClr val="EEF3F8"/>
                    </a:solidFill>
                  </a:tcPr>
                </a:tc>
                <a:tc>
                  <a:txBody>
                    <a:bodyPr/>
                    <a:lstStyle/>
                    <a:p>
                      <a:r>
                        <a:rPr sz="1400">
                          <a:solidFill>
                            <a:srgbClr val="222222"/>
                          </a:solidFill>
                          <a:latin typeface="Calibri"/>
                        </a:rPr>
                        <a:t>Before each pass</a:t>
                      </a:r>
                    </a:p>
                  </a:txBody>
                  <a:tcPr marL="73152" marT="18288" marB="18288">
                    <a:solidFill>
                      <a:srgbClr val="EEF3F8"/>
                    </a:solidFill>
                  </a:tcPr>
                </a:tc>
                <a:tc>
                  <a:txBody>
                    <a:bodyPr/>
                    <a:lstStyle/>
                    <a:p>
                      <a:r>
                        <a:rPr sz="1400">
                          <a:solidFill>
                            <a:srgbClr val="222222"/>
                          </a:solidFill>
                          <a:latin typeface="Calibri"/>
                        </a:rPr>
                        <a:t>You do not know how many times. It depends on a condition, and it might not run at all.</a:t>
                      </a:r>
                    </a:p>
                  </a:txBody>
                  <a:tcPr marL="73152" marT="18288" marB="18288">
                    <a:solidFill>
                      <a:srgbClr val="EEF3F8"/>
                    </a:solidFill>
                  </a:tcPr>
                </a:tc>
              </a:tr>
              <a:tr h="409575">
                <a:tc>
                  <a:txBody>
                    <a:bodyPr/>
                    <a:lstStyle/>
                    <a:p>
                      <a:r>
                        <a:rPr sz="1400">
                          <a:solidFill>
                            <a:srgbClr val="222222"/>
                          </a:solidFill>
                          <a:latin typeface="Calibri"/>
                        </a:rPr>
                        <a:t>do-while</a:t>
                      </a:r>
                    </a:p>
                  </a:txBody>
                  <a:tcPr marL="73152" marT="18288" marB="18288">
                    <a:solidFill>
                      <a:srgbClr val="FFFFFF"/>
                    </a:solidFill>
                  </a:tcPr>
                </a:tc>
                <a:tc>
                  <a:txBody>
                    <a:bodyPr/>
                    <a:lstStyle/>
                    <a:p>
                      <a:r>
                        <a:rPr sz="1400">
                          <a:solidFill>
                            <a:srgbClr val="222222"/>
                          </a:solidFill>
                          <a:latin typeface="Calibri"/>
                        </a:rPr>
                        <a:t>After each pass</a:t>
                      </a:r>
                    </a:p>
                  </a:txBody>
                  <a:tcPr marL="73152" marT="18288" marB="18288">
                    <a:solidFill>
                      <a:srgbClr val="FFFFFF"/>
                    </a:solidFill>
                  </a:tcPr>
                </a:tc>
                <a:tc>
                  <a:txBody>
                    <a:bodyPr/>
                    <a:lstStyle/>
                    <a:p>
                      <a:r>
                        <a:rPr sz="1400">
                          <a:solidFill>
                            <a:srgbClr val="222222"/>
                          </a:solidFill>
                          <a:latin typeface="Calibri"/>
                        </a:rPr>
                        <a:t>The body must run at least once, whatever the condition says.</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Study these three properly. If you genuinely understand when to reach for each one, you are already a better programmer than the syntax alone would make you.</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same job, written three ways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35</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three loop forms</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300">
                <a:latin typeface="Consolas"/>
              </a:defRPr>
            </a:pPr>
            <a:r>
              <a:rPr sz="1300">
                <a:solidFill>
                  <a:srgbClr val="666666"/>
                </a:solidFill>
                <a:latin typeface="Consolas"/>
              </a:rPr>
              <a:t>// for  -  a known number of passes</a:t>
            </a:r>
          </a:p>
          <a:p>
            <a:pPr algn="l">
              <a:lnSpc>
                <a:spcPct val="100000"/>
              </a:lnSpc>
              <a:spcAft>
                <a:spcPts val="0"/>
              </a:spcAft>
              <a:defRPr sz="1300">
                <a:latin typeface="Consolas"/>
              </a:defRPr>
            </a:pPr>
            <a:r>
              <a:rPr sz="1300" b="1">
                <a:solidFill>
                  <a:srgbClr val="0E7C86"/>
                </a:solidFill>
                <a:latin typeface="Consolas"/>
              </a:rPr>
              <a:t>for (int i = 0; i &lt; 32; i++) {</a:t>
            </a:r>
          </a:p>
          <a:p>
            <a:pPr algn="l">
              <a:lnSpc>
                <a:spcPct val="100000"/>
              </a:lnSpc>
              <a:spcAft>
                <a:spcPts val="0"/>
              </a:spcAft>
              <a:defRPr sz="1300">
                <a:latin typeface="Consolas"/>
              </a:defRPr>
            </a:pPr>
            <a:r>
              <a:rPr sz="1300">
                <a:solidFill>
                  <a:srgbClr val="222222"/>
                </a:solidFill>
                <a:latin typeface="Consolas"/>
              </a:rPr>
              <a:t>  strip.setPixelColor(i, colour);</a:t>
            </a:r>
          </a:p>
          <a:p>
            <a:pPr algn="l">
              <a:lnSpc>
                <a:spcPct val="100000"/>
              </a:lnSpc>
              <a:spcAft>
                <a:spcPts val="0"/>
              </a:spcAft>
              <a:defRPr sz="1300">
                <a:latin typeface="Consolas"/>
              </a:defRPr>
            </a:pPr>
            <a:r>
              <a:rPr sz="1300">
                <a:solidFill>
                  <a:srgbClr val="222222"/>
                </a:solidFill>
                <a:latin typeface="Consolas"/>
              </a:rPr>
              <a:t>}</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666666"/>
                </a:solidFill>
                <a:latin typeface="Consolas"/>
              </a:rPr>
              <a:t>// while  -  keep going until something changes</a:t>
            </a:r>
          </a:p>
          <a:p>
            <a:pPr algn="l">
              <a:lnSpc>
                <a:spcPct val="100000"/>
              </a:lnSpc>
              <a:spcAft>
                <a:spcPts val="0"/>
              </a:spcAft>
              <a:defRPr sz="1300">
                <a:latin typeface="Consolas"/>
              </a:defRPr>
            </a:pPr>
            <a:r>
              <a:rPr sz="1300" b="1">
                <a:solidFill>
                  <a:srgbClr val="0E7C86"/>
                </a:solidFill>
                <a:latin typeface="Consolas"/>
              </a:rPr>
              <a:t>while (!Ps3.isConnected()) {</a:t>
            </a:r>
          </a:p>
          <a:p>
            <a:pPr algn="l">
              <a:lnSpc>
                <a:spcPct val="100000"/>
              </a:lnSpc>
              <a:spcAft>
                <a:spcPts val="0"/>
              </a:spcAft>
              <a:defRPr sz="1300">
                <a:latin typeface="Consolas"/>
              </a:defRPr>
            </a:pPr>
            <a:r>
              <a:rPr sz="1300">
                <a:solidFill>
                  <a:srgbClr val="222222"/>
                </a:solidFill>
                <a:latin typeface="Consolas"/>
              </a:rPr>
              <a:t>  showWaitingLights();        // may never run at all</a:t>
            </a:r>
          </a:p>
          <a:p>
            <a:pPr algn="l">
              <a:lnSpc>
                <a:spcPct val="100000"/>
              </a:lnSpc>
              <a:spcAft>
                <a:spcPts val="0"/>
              </a:spcAft>
              <a:defRPr sz="1300">
                <a:latin typeface="Consolas"/>
              </a:defRPr>
            </a:pPr>
            <a:r>
              <a:rPr sz="1300">
                <a:solidFill>
                  <a:srgbClr val="222222"/>
                </a:solidFill>
                <a:latin typeface="Consolas"/>
              </a:rPr>
              <a:t>}</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666666"/>
                </a:solidFill>
                <a:latin typeface="Consolas"/>
              </a:rPr>
              <a:t>// do-while  -  always at least one pass</a:t>
            </a:r>
          </a:p>
          <a:p>
            <a:pPr algn="l">
              <a:lnSpc>
                <a:spcPct val="100000"/>
              </a:lnSpc>
              <a:spcAft>
                <a:spcPts val="0"/>
              </a:spcAft>
              <a:defRPr sz="1300">
                <a:latin typeface="Consolas"/>
              </a:defRPr>
            </a:pPr>
            <a:r>
              <a:rPr sz="1300" b="1">
                <a:solidFill>
                  <a:srgbClr val="0E7C86"/>
                </a:solidFill>
                <a:latin typeface="Consolas"/>
              </a:rPr>
              <a:t>do {</a:t>
            </a:r>
          </a:p>
          <a:p>
            <a:pPr algn="l">
              <a:lnSpc>
                <a:spcPct val="100000"/>
              </a:lnSpc>
              <a:spcAft>
                <a:spcPts val="0"/>
              </a:spcAft>
              <a:defRPr sz="1300">
                <a:latin typeface="Consolas"/>
              </a:defRPr>
            </a:pPr>
            <a:r>
              <a:rPr sz="1300">
                <a:solidFill>
                  <a:srgbClr val="222222"/>
                </a:solidFill>
                <a:latin typeface="Consolas"/>
              </a:rPr>
              <a:t>  reading = analogRead(PIN);  // take a reading FIRST,</a:t>
            </a:r>
          </a:p>
          <a:p>
            <a:pPr algn="l">
              <a:lnSpc>
                <a:spcPct val="100000"/>
              </a:lnSpc>
              <a:spcAft>
                <a:spcPts val="0"/>
              </a:spcAft>
              <a:defRPr sz="1300">
                <a:latin typeface="Consolas"/>
              </a:defRPr>
            </a:pPr>
            <a:r>
              <a:rPr sz="1300">
                <a:solidFill>
                  <a:srgbClr val="222222"/>
                </a:solidFill>
                <a:latin typeface="Consolas"/>
              </a:rPr>
              <a:t>} while (reading &gt; LIMIT);    // then decide whether to repeat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for loop is three things in one line: where to start, when to keep going, and what to change each pass.</a:t>
            </a:r>
          </a:p>
          <a:p>
            <a:pPr algn="l">
              <a:lnSpc>
                <a:spcPct val="100000"/>
              </a:lnSpc>
              <a:spcAft>
                <a:spcPts val="600"/>
              </a:spcAft>
              <a:defRPr sz="1800" b="0">
                <a:solidFill>
                  <a:srgbClr val="222222"/>
                </a:solidFill>
                <a:latin typeface="Calibri"/>
              </a:defRPr>
            </a:pPr>
            <a:r>
              <a:rPr sz="1800" b="0">
                <a:solidFill>
                  <a:srgbClr val="222222"/>
                </a:solidFill>
                <a:latin typeface="Calibri"/>
              </a:rPr>
              <a:t>A while loop can run zero times. That is usually what you want when you are waiting for something.</a:t>
            </a:r>
          </a:p>
          <a:p>
            <a:pPr algn="l">
              <a:lnSpc>
                <a:spcPct val="100000"/>
              </a:lnSpc>
              <a:spcAft>
                <a:spcPts val="600"/>
              </a:spcAft>
              <a:defRPr sz="1800" b="0">
                <a:solidFill>
                  <a:srgbClr val="222222"/>
                </a:solidFill>
                <a:latin typeface="Calibri"/>
              </a:defRPr>
            </a:pPr>
            <a:r>
              <a:rPr sz="1800" b="0">
                <a:solidFill>
                  <a:srgbClr val="222222"/>
                </a:solidFill>
                <a:latin typeface="Calibri"/>
              </a:rPr>
              <a:t>A do-while always runs once before it checks. Useful when the test needs a value you have not got yet.</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loop() itself is really a while(true) that the Arduino framework writes for you.</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l2c_maneuver_square  -  the loop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36</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l2c_maneuver_square.ino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void loop() {</a:t>
            </a:r>
          </a:p>
          <a:p>
            <a:pPr algn="l">
              <a:lnSpc>
                <a:spcPct val="100000"/>
              </a:lnSpc>
              <a:spcAft>
                <a:spcPts val="0"/>
              </a:spcAft>
              <a:defRPr sz="1400">
                <a:latin typeface="Consolas"/>
              </a:defRPr>
            </a:pPr>
            <a:r>
              <a:rPr sz="1400">
                <a:solidFill>
                  <a:srgbClr val="666666"/>
                </a:solidFill>
                <a:latin typeface="Consolas"/>
              </a:rPr>
              <a:t>  // Four sides and four corners makes a square.</a:t>
            </a:r>
          </a:p>
          <a:p>
            <a:pPr algn="l">
              <a:lnSpc>
                <a:spcPct val="100000"/>
              </a:lnSpc>
              <a:spcAft>
                <a:spcPts val="0"/>
              </a:spcAft>
              <a:defRPr sz="1400">
                <a:latin typeface="Consolas"/>
              </a:defRPr>
            </a:pPr>
            <a:r>
              <a:rPr sz="1400">
                <a:solidFill>
                  <a:srgbClr val="222222"/>
                </a:solidFill>
                <a:latin typeface="Consolas"/>
              </a:rPr>
              <a:t>  for (int corner = 0; corner &lt; 4; corner++) {</a:t>
            </a:r>
          </a:p>
          <a:p>
            <a:pPr algn="l">
              <a:lnSpc>
                <a:spcPct val="100000"/>
              </a:lnSpc>
              <a:spcAft>
                <a:spcPts val="0"/>
              </a:spcAft>
              <a:defRPr sz="1400">
                <a:latin typeface="Consolas"/>
              </a:defRPr>
            </a:pPr>
            <a:r>
              <a:rPr sz="1400">
                <a:solidFill>
                  <a:srgbClr val="222222"/>
                </a:solidFill>
                <a:latin typeface="Consolas"/>
              </a:rPr>
              <a:t>    goForward();</a:t>
            </a:r>
          </a:p>
          <a:p>
            <a:pPr algn="l">
              <a:lnSpc>
                <a:spcPct val="100000"/>
              </a:lnSpc>
              <a:spcAft>
                <a:spcPts val="0"/>
              </a:spcAft>
              <a:defRPr sz="1400">
                <a:latin typeface="Consolas"/>
              </a:defRPr>
            </a:pPr>
            <a:r>
              <a:rPr sz="1400" b="1">
                <a:solidFill>
                  <a:srgbClr val="0E7C86"/>
                </a:solidFill>
                <a:latin typeface="Consolas"/>
              </a:rPr>
              <a:t>    delay(FORWARD_MS);</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spinRight();</a:t>
            </a:r>
          </a:p>
          <a:p>
            <a:pPr algn="l">
              <a:lnSpc>
                <a:spcPct val="100000"/>
              </a:lnSpc>
              <a:spcAft>
                <a:spcPts val="0"/>
              </a:spcAft>
              <a:defRPr sz="1400">
                <a:latin typeface="Consolas"/>
              </a:defRPr>
            </a:pPr>
            <a:r>
              <a:rPr sz="1400" b="1">
                <a:solidFill>
                  <a:srgbClr val="0E7C86"/>
                </a:solidFill>
                <a:latin typeface="Consolas"/>
              </a:rPr>
              <a:t>    delay(TURN_MS);</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stopMoving();</a:t>
            </a:r>
          </a:p>
          <a:p>
            <a:pPr algn="l">
              <a:lnSpc>
                <a:spcPct val="100000"/>
              </a:lnSpc>
              <a:spcAft>
                <a:spcPts val="0"/>
              </a:spcAft>
              <a:defRPr sz="1400">
                <a:latin typeface="Consolas"/>
              </a:defRPr>
            </a:pPr>
            <a:r>
              <a:rPr sz="1400">
                <a:solidFill>
                  <a:srgbClr val="222222"/>
                </a:solidFill>
                <a:latin typeface="Consolas"/>
              </a:rPr>
              <a:t>  delay(20000);   // pick your vehicle up</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A for loop repeats a block a fixed number of times. Four sides, four corners.</a:t>
            </a:r>
          </a:p>
          <a:p>
            <a:pPr algn="l">
              <a:lnSpc>
                <a:spcPct val="100000"/>
              </a:lnSpc>
              <a:spcAft>
                <a:spcPts val="600"/>
              </a:spcAft>
              <a:defRPr sz="1800" b="0">
                <a:solidFill>
                  <a:srgbClr val="222222"/>
                </a:solidFill>
                <a:latin typeface="Calibri"/>
              </a:defRPr>
            </a:pPr>
            <a:r>
              <a:rPr sz="1800" b="0">
                <a:solidFill>
                  <a:srgbClr val="222222"/>
                </a:solidFill>
                <a:latin typeface="Calibri"/>
              </a:rPr>
              <a:t>The whole shape is four numbers: DRIVE_SPEED, TURN_SPEED, FORWARD_MS and TURN_MS.</a:t>
            </a:r>
          </a:p>
          <a:p>
            <a:pPr algn="l">
              <a:lnSpc>
                <a:spcPct val="100000"/>
              </a:lnSpc>
              <a:spcAft>
                <a:spcPts val="600"/>
              </a:spcAft>
              <a:defRPr sz="1800" b="0">
                <a:solidFill>
                  <a:srgbClr val="222222"/>
                </a:solidFill>
                <a:latin typeface="Calibri"/>
              </a:defRPr>
            </a:pPr>
            <a:r>
              <a:rPr sz="1800" b="0">
                <a:solidFill>
                  <a:srgbClr val="222222"/>
                </a:solidFill>
                <a:latin typeface="Calibri"/>
              </a:rPr>
              <a:t>TURN_MS is the one you will spend most of your time on. It sets how far round each corner goes.</a:t>
            </a:r>
          </a:p>
          <a:p>
            <a:pPr algn="l">
              <a:lnSpc>
                <a:spcPct val="100000"/>
              </a:lnSpc>
              <a:spcAft>
                <a:spcPts val="600"/>
              </a:spcAft>
              <a:defRPr sz="1800" b="0">
                <a:solidFill>
                  <a:srgbClr val="222222"/>
                </a:solidFill>
                <a:latin typeface="Calibri"/>
              </a:defRPr>
            </a:pPr>
            <a:r>
              <a:rPr sz="1800" b="0">
                <a:solidFill>
                  <a:srgbClr val="222222"/>
                </a:solidFill>
                <a:latin typeface="Calibri"/>
              </a:rPr>
              <a:t>Note the twenty second stop at the end. That is so the program does not immediately start a second square while you are walking towards it.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37</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One motor</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5035782"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Duty against speed</a:t>
            </a:r>
          </a:p>
        </p:txBody>
      </p:sp>
      <p:sp>
        <p:nvSpPr>
          <p:cNvPr id="11" name="TextBox 10"/>
          <p:cNvSpPr txBox="1"/>
          <p:nvPr/>
        </p:nvSpPr>
        <p:spPr>
          <a:xfrm>
            <a:off x="5035782"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2" name="Rounded Rectangle 11"/>
          <p:cNvSpPr/>
          <p:nvPr/>
        </p:nvSpPr>
        <p:spPr>
          <a:xfrm>
            <a:off x="7302213"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Ohm's law and circuits</a:t>
            </a:r>
          </a:p>
        </p:txBody>
      </p:sp>
      <p:sp>
        <p:nvSpPr>
          <p:cNvPr id="13" name="TextBox 12"/>
          <p:cNvSpPr txBox="1"/>
          <p:nvPr/>
        </p:nvSpPr>
        <p:spPr>
          <a:xfrm>
            <a:off x="7302213"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4" name="Rounded Rectangle 13"/>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a square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38</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l2c_maneuver_square</a:t>
            </a:r>
            <a:r>
              <a:rPr sz="1200">
                <a:solidFill>
                  <a:srgbClr val="FFFFFF"/>
                </a:solidFill>
                <a:latin typeface="Calibri"/>
              </a:rPr>
              <a:t>     (30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Clear a space about three metres square. Bags and feet out.</a:t>
            </a:r>
          </a:p>
          <a:p>
            <a:pPr algn="l">
              <a:lnSpc>
                <a:spcPct val="100000"/>
              </a:lnSpc>
              <a:spcAft>
                <a:spcPts val="400"/>
              </a:spcAft>
              <a:defRPr sz="1800" b="0">
                <a:solidFill>
                  <a:srgbClr val="222222"/>
                </a:solidFill>
                <a:latin typeface="Calibri"/>
              </a:defRPr>
            </a:pPr>
            <a:r>
              <a:rPr sz="1800" b="0">
                <a:solidFill>
                  <a:srgbClr val="222222"/>
                </a:solidFill>
                <a:latin typeface="Calibri"/>
              </a:rPr>
              <a:t>2.  Mark the starting point with a piece of tape.</a:t>
            </a:r>
          </a:p>
          <a:p>
            <a:pPr algn="l">
              <a:lnSpc>
                <a:spcPct val="100000"/>
              </a:lnSpc>
              <a:spcAft>
                <a:spcPts val="400"/>
              </a:spcAft>
              <a:defRPr sz="1800" b="0">
                <a:solidFill>
                  <a:srgbClr val="222222"/>
                </a:solidFill>
                <a:latin typeface="Calibri"/>
              </a:defRPr>
            </a:pPr>
            <a:r>
              <a:rPr sz="1800" b="0">
                <a:solidFill>
                  <a:srgbClr val="222222"/>
                </a:solidFill>
                <a:latin typeface="Calibri"/>
              </a:rPr>
              <a:t>3.  Upload. It waits five seconds, then goes.</a:t>
            </a:r>
          </a:p>
          <a:p>
            <a:pPr algn="l">
              <a:lnSpc>
                <a:spcPct val="100000"/>
              </a:lnSpc>
              <a:spcAft>
                <a:spcPts val="400"/>
              </a:spcAft>
              <a:defRPr sz="1800" b="0">
                <a:solidFill>
                  <a:srgbClr val="222222"/>
                </a:solidFill>
                <a:latin typeface="Calibri"/>
              </a:defRPr>
            </a:pPr>
            <a:r>
              <a:rPr sz="1800" b="0">
                <a:solidFill>
                  <a:srgbClr val="222222"/>
                </a:solidFill>
                <a:latin typeface="Calibri"/>
              </a:rPr>
              <a:t>4.  MEASURE one side of the square it actually drove.</a:t>
            </a:r>
          </a:p>
          <a:p>
            <a:pPr algn="l">
              <a:lnSpc>
                <a:spcPct val="100000"/>
              </a:lnSpc>
              <a:spcAft>
                <a:spcPts val="400"/>
              </a:spcAft>
              <a:defRPr sz="1800" b="0">
                <a:solidFill>
                  <a:srgbClr val="222222"/>
                </a:solidFill>
                <a:latin typeface="Calibri"/>
              </a:defRPr>
            </a:pPr>
            <a:r>
              <a:rPr sz="1800" b="0">
                <a:solidFill>
                  <a:srgbClr val="222222"/>
                </a:solidFill>
                <a:latin typeface="Calibri"/>
              </a:rPr>
              <a:t>5.  Work out the speed:  side length / (FORWARD_MS / 1000)</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Roughly a square. Roughly.</a:t>
            </a:r>
          </a:p>
          <a:p>
            <a:pPr algn="l">
              <a:lnSpc>
                <a:spcPct val="100000"/>
              </a:lnSpc>
              <a:spcAft>
                <a:spcPts val="200"/>
              </a:spcAft>
              <a:defRPr sz="1800" b="0">
                <a:solidFill>
                  <a:srgbClr val="222222"/>
                </a:solidFill>
                <a:latin typeface="Calibri"/>
              </a:defRPr>
            </a:pPr>
            <a:r>
              <a:rPr sz="1800" b="0">
                <a:solidFill>
                  <a:srgbClr val="222222"/>
                </a:solidFill>
                <a:latin typeface="Calibri"/>
              </a:rPr>
              <a:t>It will not close perfectly on the first attempt. That is the point of the exercise, not a failure.</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What is your vehicle's speed in feet per second?</a:t>
            </a:r>
          </a:p>
          <a:p>
            <a:pPr algn="l">
              <a:lnSpc>
                <a:spcPct val="100000"/>
              </a:lnSpc>
              <a:spcAft>
                <a:spcPts val="200"/>
              </a:spcAft>
              <a:defRPr sz="1800" b="0">
                <a:solidFill>
                  <a:srgbClr val="222222"/>
                </a:solidFill>
                <a:latin typeface="Calibri"/>
              </a:defRPr>
            </a:pPr>
            <a:r>
              <a:rPr sz="1800" b="0">
                <a:solidFill>
                  <a:srgbClr val="222222"/>
                </a:solidFill>
                <a:latin typeface="Calibri"/>
              </a:rPr>
              <a:t>What is its turn rate in degrees per second?</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a square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39</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l2c_maneuver_square</a:t>
            </a:r>
          </a:p>
        </p:txBody>
      </p:sp>
      <p:sp>
        <p:nvSpPr>
          <p:cNvPr id="7" name="TextBox 6"/>
          <p:cNvSpPr txBox="1"/>
          <p:nvPr/>
        </p:nvSpPr>
        <p:spPr>
          <a:xfrm>
            <a:off x="502920" y="1901952"/>
            <a:ext cx="5387187" cy="317296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6.  The corners will not be 90 degrees. Adjust TURN_MS by 25 ms at a time until the vehicle comes back to its tape.</a:t>
            </a:r>
          </a:p>
          <a:p>
            <a:pPr algn="l">
              <a:lnSpc>
                <a:spcPct val="100000"/>
              </a:lnSpc>
              <a:spcAft>
                <a:spcPts val="400"/>
              </a:spcAft>
              <a:defRPr sz="1800" b="0">
                <a:solidFill>
                  <a:srgbClr val="222222"/>
                </a:solidFill>
                <a:latin typeface="Calibri"/>
              </a:defRPr>
            </a:pPr>
            <a:r>
              <a:rPr sz="1800" b="0">
                <a:solidFill>
                  <a:srgbClr val="222222"/>
                </a:solidFill>
                <a:latin typeface="Calibri"/>
              </a:rPr>
              <a:t>7.  Now change FORWARD_MS and PREDICT the new square before running it. How close were you?</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This one drives on the floor. Know where your power switch is before you upload.</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and what it cannot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40</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DEAD RECKONING is working out where you are from your speed, your heading and the time - with no outside reference at all.</a:t>
            </a:r>
          </a:p>
          <a:p>
            <a:pPr algn="l">
              <a:lnSpc>
                <a:spcPct val="100000"/>
              </a:lnSpc>
              <a:spcAft>
                <a:spcPts val="900"/>
              </a:spcAft>
              <a:defRPr sz="1800" b="0">
                <a:solidFill>
                  <a:srgbClr val="222222"/>
                </a:solidFill>
                <a:latin typeface="Calibri"/>
              </a:defRPr>
            </a:pPr>
            <a:r>
              <a:rPr sz="1800" b="0">
                <a:solidFill>
                  <a:srgbClr val="222222"/>
                </a:solidFill>
                <a:latin typeface="Calibri"/>
              </a:rPr>
              <a:t>Ships and aircraft navigated this way for centuries. Submersibles still fall back on it, because GPS does not work underwater.</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It DRIFTS. Every small error accumulates, and nothing ever corrects it. Errors in your square come from:</a:t>
            </a:r>
          </a:p>
          <a:p>
            <a:pPr lvl="1" algn="l">
              <a:lnSpc>
                <a:spcPct val="100000"/>
              </a:lnSpc>
              <a:spcAft>
                <a:spcPts val="900"/>
              </a:spcAft>
              <a:defRPr sz="1800" b="0">
                <a:solidFill>
                  <a:srgbClr val="222222"/>
                </a:solidFill>
                <a:latin typeface="Calibri"/>
              </a:defRPr>
            </a:pPr>
            <a:r>
              <a:rPr sz="1800" b="0">
                <a:solidFill>
                  <a:srgbClr val="222222"/>
                </a:solidFill>
                <a:latin typeface="Calibri"/>
              </a:rPr>
              <a:t>Battery charge - a fresher pack drives further in the same time</a:t>
            </a:r>
          </a:p>
          <a:p>
            <a:pPr lvl="1" algn="l">
              <a:lnSpc>
                <a:spcPct val="100000"/>
              </a:lnSpc>
              <a:spcAft>
                <a:spcPts val="900"/>
              </a:spcAft>
              <a:defRPr sz="1800" b="0">
                <a:solidFill>
                  <a:srgbClr val="222222"/>
                </a:solidFill>
                <a:latin typeface="Calibri"/>
              </a:defRPr>
            </a:pPr>
            <a:r>
              <a:rPr sz="1800" b="0">
                <a:solidFill>
                  <a:srgbClr val="222222"/>
                </a:solidFill>
                <a:latin typeface="Calibri"/>
              </a:rPr>
              <a:t>Floor surface - carpet, tile and concrete all differ</a:t>
            </a:r>
          </a:p>
          <a:p>
            <a:pPr lvl="1" algn="l">
              <a:lnSpc>
                <a:spcPct val="100000"/>
              </a:lnSpc>
              <a:spcAft>
                <a:spcPts val="900"/>
              </a:spcAft>
              <a:defRPr sz="1800" b="0">
                <a:solidFill>
                  <a:srgbClr val="222222"/>
                </a:solidFill>
                <a:latin typeface="Calibri"/>
              </a:defRPr>
            </a:pPr>
            <a:r>
              <a:rPr sz="1800" b="0">
                <a:solidFill>
                  <a:srgbClr val="222222"/>
                </a:solidFill>
                <a:latin typeface="Calibri"/>
              </a:rPr>
              <a:t>Wheel slip during the turns, which skid steering guarantees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and what it cannot do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41</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lvl="1" algn="l">
              <a:lnSpc>
                <a:spcPct val="100000"/>
              </a:lnSpc>
              <a:spcAft>
                <a:spcPts val="900"/>
              </a:spcAft>
              <a:defRPr sz="1800" b="0">
                <a:solidFill>
                  <a:srgbClr val="222222"/>
                </a:solidFill>
                <a:latin typeface="Calibri"/>
              </a:defRPr>
            </a:pPr>
            <a:r>
              <a:rPr sz="1800" b="0">
                <a:solidFill>
                  <a:srgbClr val="222222"/>
                </a:solidFill>
                <a:latin typeface="Calibri"/>
              </a:rPr>
              <a:t>Motors that are not perfectly matched to each other</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and what it cannot do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42</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fix is a SENSOR that tells you something true about the outside world. That is where the course goes after this one.</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Recharge the battery and run the same numbers again. The square gets bigger. Nothing in the program changed.</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same ideas, underwater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43</a:t>
            </a:r>
          </a:p>
        </p:txBody>
      </p:sp>
      <p:sp>
        <p:nvSpPr>
          <p:cNvPr id="6" name="TextBox 5"/>
          <p:cNvSpPr txBox="1"/>
          <p:nvPr/>
        </p:nvSpPr>
        <p:spPr>
          <a:xfrm>
            <a:off x="502920" y="1188720"/>
            <a:ext cx="5227168" cy="3931920"/>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The Explorer Gen 2 ROV is built from the pieces you just met:</a:t>
            </a:r>
          </a:p>
          <a:p>
            <a:pPr algn="l">
              <a:lnSpc>
                <a:spcPct val="100000"/>
              </a:lnSpc>
              <a:spcAft>
                <a:spcPts val="500"/>
              </a:spcAft>
              <a:defRPr sz="18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An ESP32, like the one on your desk</a:t>
            </a:r>
          </a:p>
          <a:p>
            <a:pPr algn="l">
              <a:lnSpc>
                <a:spcPct val="100000"/>
              </a:lnSpc>
              <a:spcAft>
                <a:spcPts val="500"/>
              </a:spcAft>
              <a:defRPr sz="1800" b="0">
                <a:solidFill>
                  <a:srgbClr val="222222"/>
                </a:solidFill>
                <a:latin typeface="Calibri"/>
              </a:defRPr>
            </a:pPr>
            <a:r>
              <a:rPr sz="1800" b="0">
                <a:solidFill>
                  <a:srgbClr val="222222"/>
                </a:solidFill>
                <a:latin typeface="Calibri"/>
              </a:rPr>
              <a:t>Brushless motors on ESCs, not brushed on H-bridges - more thrust for the weight</a:t>
            </a:r>
          </a:p>
          <a:p>
            <a:pPr algn="l">
              <a:lnSpc>
                <a:spcPct val="100000"/>
              </a:lnSpc>
              <a:spcAft>
                <a:spcPts val="500"/>
              </a:spcAft>
              <a:defRPr sz="1800" b="0">
                <a:solidFill>
                  <a:srgbClr val="222222"/>
                </a:solidFill>
                <a:latin typeface="Calibri"/>
              </a:defRPr>
            </a:pPr>
            <a:r>
              <a:rPr sz="1800" b="0">
                <a:solidFill>
                  <a:srgbClr val="222222"/>
                </a:solidFill>
                <a:latin typeface="Calibri"/>
              </a:rPr>
              <a:t>A pressure sensor and an IMU on an I2C bus</a:t>
            </a:r>
          </a:p>
          <a:p>
            <a:pPr algn="l">
              <a:lnSpc>
                <a:spcPct val="100000"/>
              </a:lnSpc>
              <a:spcAft>
                <a:spcPts val="500"/>
              </a:spcAft>
              <a:defRPr sz="1800" b="0">
                <a:solidFill>
                  <a:srgbClr val="222222"/>
                </a:solidFill>
                <a:latin typeface="Calibri"/>
              </a:defRPr>
            </a:pPr>
            <a:r>
              <a:rPr sz="1800" b="0">
                <a:solidFill>
                  <a:srgbClr val="222222"/>
                </a:solidFill>
                <a:latin typeface="Calibri"/>
              </a:rPr>
              <a:t>A CAN bus tying it together</a:t>
            </a:r>
          </a:p>
          <a:p>
            <a:pPr algn="l">
              <a:lnSpc>
                <a:spcPct val="100000"/>
              </a:lnSpc>
              <a:spcAft>
                <a:spcPts val="500"/>
              </a:spcAft>
              <a:defRPr sz="18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Different vehicle, same engineering.</a:t>
            </a:r>
          </a:p>
        </p:txBody>
      </p:sp>
      <p:pic>
        <p:nvPicPr>
          <p:cNvPr id="7" name="Picture 6" descr="rov-can-bus.jpg"/>
          <p:cNvPicPr>
            <a:picLocks noChangeAspect="1"/>
          </p:cNvPicPr>
          <p:nvPr/>
        </p:nvPicPr>
        <p:blipFill>
          <a:blip r:embed="rId2"/>
          <a:stretch>
            <a:fillRect/>
          </a:stretch>
        </p:blipFill>
        <p:spPr>
          <a:xfrm>
            <a:off x="6095848" y="1188720"/>
            <a:ext cx="5592927" cy="2326000"/>
          </a:xfrm>
          <a:prstGeom prst="rect">
            <a:avLst/>
          </a:prstGeom>
        </p:spPr>
      </p:pic>
      <p:sp>
        <p:nvSpPr>
          <p:cNvPr id="8" name="TextBox 7"/>
          <p:cNvSpPr txBox="1"/>
          <p:nvPr/>
        </p:nvSpPr>
        <p:spPr>
          <a:xfrm>
            <a:off x="6095848" y="3587872"/>
            <a:ext cx="5592927" cy="868680"/>
          </a:xfrm>
          <a:prstGeom prst="rect">
            <a:avLst/>
          </a:prstGeom>
          <a:noFill/>
        </p:spPr>
        <p:txBody>
          <a:bodyPr wrap="square" lIns="0" tIns="0" rIns="0" bIns="0">
            <a:spAutoFit/>
          </a:bodyPr>
          <a:lstStyle/>
          <a:p>
            <a:pPr algn="l">
              <a:lnSpc>
                <a:spcPct val="100000"/>
              </a:lnSpc>
              <a:spcAft>
                <a:spcPts val="600"/>
              </a:spcAft>
              <a:defRPr sz="1800" b="0">
                <a:solidFill>
                  <a:srgbClr val="666666"/>
                </a:solidFill>
                <a:latin typeface="Calibri"/>
              </a:defRPr>
            </a:pPr>
            <a:r>
              <a:rPr sz="1800" b="0">
                <a:solidFill>
                  <a:srgbClr val="666666"/>
                </a:solidFill>
                <a:latin typeface="Calibri"/>
              </a:rPr>
              <a:t>Explorer Gen 2 ROV: ESP32, ESC, sensors, CAN bus</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If this looks interesting, there is a whole ROV course. The ground vehicle is the easiest place to learn the ideas; the submersible is where they get hard.</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Drag race  -  next lesson and the one after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Calibrate first, then race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Mark a start line and a finish line with tape. Measure the distance.</a:t>
            </a:r>
          </a:p>
          <a:p>
            <a:pPr algn="l">
              <a:lnSpc>
                <a:spcPct val="100000"/>
              </a:lnSpc>
              <a:spcAft>
                <a:spcPts val="900"/>
              </a:spcAft>
              <a:defRPr sz="1800" b="0">
                <a:solidFill>
                  <a:srgbClr val="222222"/>
                </a:solidFill>
                <a:latin typeface="Calibri"/>
              </a:defRPr>
            </a:pPr>
            <a:r>
              <a:rPr sz="1800" b="0">
                <a:solidFill>
                  <a:srgbClr val="222222"/>
                </a:solidFill>
                <a:latin typeface="Calibri"/>
              </a:rPr>
              <a:t>Line up two or three vehicles. Hold the reset button until the start signal, then let go.</a:t>
            </a:r>
          </a:p>
          <a:p>
            <a:pPr algn="l">
              <a:lnSpc>
                <a:spcPct val="100000"/>
              </a:lnSpc>
              <a:spcAft>
                <a:spcPts val="900"/>
              </a:spcAft>
              <a:defRPr sz="1800" b="0">
                <a:solidFill>
                  <a:srgbClr val="222222"/>
                </a:solidFill>
                <a:latin typeface="Calibri"/>
              </a:defRPr>
            </a:pPr>
            <a:r>
              <a:rPr sz="1800" b="0">
                <a:solidFill>
                  <a:srgbClr val="222222"/>
                </a:solidFill>
                <a:latin typeface="Calibri"/>
              </a:rPr>
              <a:t>Time from start to crossing the line. Speed = distance / time.</a:t>
            </a:r>
          </a:p>
          <a:p>
            <a:pPr algn="l">
              <a:lnSpc>
                <a:spcPct val="100000"/>
              </a:lnSpc>
              <a:spcAft>
                <a:spcPts val="900"/>
              </a:spcAft>
              <a:defRPr sz="1800" b="0">
                <a:solidFill>
                  <a:srgbClr val="222222"/>
                </a:solidFill>
                <a:latin typeface="Calibri"/>
              </a:defRPr>
            </a:pPr>
            <a:r>
              <a:rPr sz="1800" b="0">
                <a:solidFill>
                  <a:srgbClr val="222222"/>
                </a:solidFill>
                <a:latin typeface="Calibri"/>
              </a:rPr>
              <a:t>First across the line INSIDE the lane wins. Leaving the lane does not.</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Calibrate: you now know what duty value 255 gives you in feet per second. Try 200 and 150 as well. Is it a straight line?</a:t>
            </a:r>
          </a:p>
          <a:p>
            <a:pPr algn="l">
              <a:lnSpc>
                <a:spcPct val="100000"/>
              </a:lnSpc>
              <a:spcAft>
                <a:spcPts val="900"/>
              </a:spcAft>
              <a:defRPr sz="1800" b="0">
                <a:solidFill>
                  <a:srgbClr val="222222"/>
                </a:solidFill>
                <a:latin typeface="Calibri"/>
              </a:defRPr>
            </a:pPr>
            <a:r>
              <a:rPr sz="1800" b="0">
                <a:solidFill>
                  <a:srgbClr val="222222"/>
                </a:solidFill>
                <a:latin typeface="Calibri"/>
              </a:rPr>
              <a:t>If your vehicle pulls to one side, you can add a short turn correction into the program to straighten it.</a:t>
            </a:r>
          </a:p>
          <a:p>
            <a:pPr algn="l">
              <a:lnSpc>
                <a:spcPct val="100000"/>
              </a:lnSpc>
              <a:spcAft>
                <a:spcPts val="900"/>
              </a:spcAft>
              <a:defRPr sz="1800" b="0">
                <a:solidFill>
                  <a:srgbClr val="222222"/>
                </a:solidFill>
                <a:latin typeface="Calibri"/>
              </a:defRPr>
            </a:pPr>
            <a:r>
              <a:rPr sz="1800" b="0">
                <a:solidFill>
                  <a:srgbClr val="222222"/>
                </a:solidFill>
                <a:latin typeface="Calibri"/>
              </a:rPr>
              <a:t>You can only brake by driving in reverse - try half speed for a short time and see how far it slides.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If you want to go further before the next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45</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Watch</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How PWM works, controlling a motor   (10:10)</a:t>
            </a:r>
          </a:p>
          <a:p>
            <a:pPr lvl="1" algn="l">
              <a:lnSpc>
                <a:spcPct val="100000"/>
              </a:lnSpc>
              <a:spcAft>
                <a:spcPts val="400"/>
              </a:spcAft>
              <a:defRPr sz="1800" b="0">
                <a:solidFill>
                  <a:srgbClr val="222222"/>
                </a:solidFill>
                <a:latin typeface="Calibri"/>
              </a:defRPr>
            </a:pPr>
            <a:r>
              <a:rPr sz="1800" b="0">
                <a:solidFill>
                  <a:srgbClr val="222222"/>
                </a:solidFill>
                <a:latin typeface="Calibri"/>
              </a:rPr>
              <a:t>youtube.com/watch?v=5nwNKPs2gco</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Arduino DC motor control   (11:44)</a:t>
            </a:r>
          </a:p>
          <a:p>
            <a:pPr lvl="1" algn="l">
              <a:lnSpc>
                <a:spcPct val="100000"/>
              </a:lnSpc>
              <a:spcAft>
                <a:spcPts val="400"/>
              </a:spcAft>
              <a:defRPr sz="1800" b="0">
                <a:solidFill>
                  <a:srgbClr val="222222"/>
                </a:solidFill>
                <a:latin typeface="Calibri"/>
              </a:defRPr>
            </a:pPr>
            <a:r>
              <a:rPr sz="1800" b="0">
                <a:solidFill>
                  <a:srgbClr val="222222"/>
                </a:solidFill>
                <a:latin typeface="Calibri"/>
              </a:rPr>
              <a:t>youtube.com/watch?v=HtbCL2NruUY</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Motor speed tutorial with PWM motors   (17:33)</a:t>
            </a:r>
          </a:p>
          <a:p>
            <a:pPr lvl="1" algn="l">
              <a:lnSpc>
                <a:spcPct val="100000"/>
              </a:lnSpc>
              <a:spcAft>
                <a:spcPts val="400"/>
              </a:spcAft>
              <a:defRPr sz="1800" b="0">
                <a:solidFill>
                  <a:srgbClr val="222222"/>
                </a:solidFill>
                <a:latin typeface="Calibri"/>
              </a:defRPr>
            </a:pPr>
            <a:r>
              <a:rPr sz="1800" b="0">
                <a:solidFill>
                  <a:srgbClr val="222222"/>
                </a:solidFill>
                <a:latin typeface="Calibri"/>
              </a:rPr>
              <a:t>youtube.com/watch?v=UPTU6nYSaMo</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Read</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Loops in C, worked through properly</a:t>
            </a:r>
          </a:p>
          <a:p>
            <a:pPr lvl="1" algn="l">
              <a:lnSpc>
                <a:spcPct val="100000"/>
              </a:lnSpc>
              <a:spcAft>
                <a:spcPts val="400"/>
              </a:spcAft>
              <a:defRPr sz="1800" b="0">
                <a:solidFill>
                  <a:srgbClr val="222222"/>
                </a:solidFill>
                <a:latin typeface="Calibri"/>
              </a:defRPr>
            </a:pPr>
            <a:r>
              <a:rPr sz="1800" b="0">
                <a:solidFill>
                  <a:srgbClr val="222222"/>
                </a:solidFill>
                <a:latin typeface="Calibri"/>
              </a:rPr>
              <a:t>geeksforgeeks.org/c/c-loops/</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Control structures - loops and conditionals</a:t>
            </a:r>
          </a:p>
          <a:p>
            <a:pPr lvl="1" algn="l">
              <a:lnSpc>
                <a:spcPct val="100000"/>
              </a:lnSpc>
              <a:spcAft>
                <a:spcPts val="400"/>
              </a:spcAft>
              <a:defRPr sz="1800" b="0">
                <a:solidFill>
                  <a:srgbClr val="222222"/>
                </a:solidFill>
                <a:latin typeface="Calibri"/>
              </a:defRPr>
            </a:pPr>
            <a:r>
              <a:rPr sz="1800" b="0">
                <a:solidFill>
                  <a:srgbClr val="222222"/>
                </a:solidFill>
                <a:latin typeface="Calibri"/>
              </a:rPr>
              <a:t>cplusplus.com/doc/tutorial/control/</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Functions</a:t>
            </a:r>
          </a:p>
          <a:p>
            <a:pPr lvl="1" algn="l">
              <a:lnSpc>
                <a:spcPct val="100000"/>
              </a:lnSpc>
              <a:spcAft>
                <a:spcPts val="400"/>
              </a:spcAft>
              <a:defRPr sz="1800" b="0">
                <a:solidFill>
                  <a:srgbClr val="222222"/>
                </a:solidFill>
                <a:latin typeface="Calibri"/>
              </a:defRPr>
            </a:pPr>
            <a:r>
              <a:rPr sz="1800" b="0">
                <a:solidFill>
                  <a:srgbClr val="222222"/>
                </a:solidFill>
                <a:latin typeface="Calibri"/>
              </a:rPr>
              <a:t>cplusplus.com/doc/tutorial/functions/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If you want to go further before the next lesson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46</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Watch (cont.)</a:t>
            </a:r>
          </a:p>
        </p:txBody>
      </p:sp>
      <p:sp>
        <p:nvSpPr>
          <p:cNvPr id="7" name="TextBox 6"/>
          <p:cNvSpPr txBox="1"/>
          <p:nvPr/>
        </p:nvSpPr>
        <p:spPr>
          <a:xfrm>
            <a:off x="502920"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Loops in C   (video)</a:t>
            </a:r>
          </a:p>
          <a:p>
            <a:pPr lvl="1" algn="l">
              <a:lnSpc>
                <a:spcPct val="100000"/>
              </a:lnSpc>
              <a:spcAft>
                <a:spcPts val="400"/>
              </a:spcAft>
              <a:defRPr sz="1800" b="0">
                <a:solidFill>
                  <a:srgbClr val="222222"/>
                </a:solidFill>
                <a:latin typeface="Calibri"/>
              </a:defRPr>
            </a:pPr>
            <a:r>
              <a:rPr sz="1800" b="0">
                <a:solidFill>
                  <a:srgbClr val="222222"/>
                </a:solidFill>
                <a:latin typeface="Calibri"/>
              </a:rPr>
              <a:t>youtube.com/watch?v=b4DPj0XAfSg</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Read (cont.)</a:t>
            </a:r>
          </a:p>
        </p:txBody>
      </p:sp>
      <p:sp>
        <p:nvSpPr>
          <p:cNvPr id="9" name="TextBox 8"/>
          <p:cNvSpPr txBox="1"/>
          <p:nvPr/>
        </p:nvSpPr>
        <p:spPr>
          <a:xfrm>
            <a:off x="6324447"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Everything above is optional and none of it is examined.</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Watch the PWM video before Lesson 3 if today felt fast. It covers the same ground more slowly, and with an oscilloscope.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47</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you get to drive it yourself.</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000"/>
              </a:spcAft>
              <a:defRPr sz="1800" b="0">
                <a:solidFill>
                  <a:srgbClr val="222222"/>
                </a:solidFill>
                <a:latin typeface="Calibri"/>
              </a:defRPr>
            </a:pPr>
            <a:r>
              <a:rPr sz="1800" b="0">
                <a:solidFill>
                  <a:srgbClr val="222222"/>
                </a:solidFill>
                <a:latin typeface="Calibri"/>
              </a:rPr>
              <a:t>1.  Why does each motor need two pins instead of one?</a:t>
            </a:r>
          </a:p>
          <a:p>
            <a:pPr algn="l">
              <a:lnSpc>
                <a:spcPct val="100000"/>
              </a:lnSpc>
              <a:spcAft>
                <a:spcPts val="1000"/>
              </a:spcAft>
              <a:defRPr sz="1800" b="0">
                <a:solidFill>
                  <a:srgbClr val="222222"/>
                </a:solidFill>
                <a:latin typeface="Calibri"/>
              </a:defRPr>
            </a:pPr>
            <a:r>
              <a:rPr sz="1800" b="0">
                <a:solidFill>
                  <a:srgbClr val="222222"/>
                </a:solidFill>
                <a:latin typeface="Calibri"/>
              </a:rPr>
              <a:t>2.  A pin can only be on or off. Explain in one sentence how the vehicle gets a half speed.</a:t>
            </a:r>
          </a:p>
          <a:p>
            <a:pPr algn="l">
              <a:lnSpc>
                <a:spcPct val="100000"/>
              </a:lnSpc>
              <a:spcAft>
                <a:spcPts val="1000"/>
              </a:spcAft>
              <a:defRPr sz="1800" b="0">
                <a:solidFill>
                  <a:srgbClr val="222222"/>
                </a:solidFill>
                <a:latin typeface="Calibri"/>
              </a:defRPr>
            </a:pPr>
            <a:r>
              <a:rPr sz="1800" b="0">
                <a:solidFill>
                  <a:srgbClr val="222222"/>
                </a:solidFill>
                <a:latin typeface="Calibri"/>
              </a:rPr>
              <a:t>3.  What duty value is 25% of full power at 8-bit resolution?</a:t>
            </a:r>
          </a:p>
          <a:p>
            <a:pPr algn="l">
              <a:lnSpc>
                <a:spcPct val="100000"/>
              </a:lnSpc>
              <a:spcAft>
                <a:spcPts val="1000"/>
              </a:spcAft>
              <a:defRPr sz="1800" b="0">
                <a:solidFill>
                  <a:srgbClr val="222222"/>
                </a:solidFill>
                <a:latin typeface="Calibri"/>
              </a:defRPr>
            </a:pPr>
            <a:r>
              <a:rPr sz="1800" b="0">
                <a:solidFill>
                  <a:srgbClr val="222222"/>
                </a:solidFill>
                <a:latin typeface="Calibri"/>
              </a:rPr>
              <a:t>4.  Why do we switch at 20 kHz rather than 300 Hz?</a:t>
            </a:r>
          </a:p>
          <a:p>
            <a:pPr algn="l">
              <a:lnSpc>
                <a:spcPct val="100000"/>
              </a:lnSpc>
              <a:spcAft>
                <a:spcPts val="1000"/>
              </a:spcAft>
              <a:defRPr sz="1800" b="0">
                <a:solidFill>
                  <a:srgbClr val="222222"/>
                </a:solidFill>
                <a:latin typeface="Calibri"/>
              </a:defRPr>
            </a:pPr>
            <a:r>
              <a:rPr sz="1800" b="0">
                <a:solidFill>
                  <a:srgbClr val="222222"/>
                </a:solidFill>
                <a:latin typeface="Calibri"/>
              </a:rPr>
              <a:t>5.  The left wheels get 200 and the right wheels get -200. What does the vehicle do?</a:t>
            </a:r>
          </a:p>
          <a:p>
            <a:pPr algn="l">
              <a:lnSpc>
                <a:spcPct val="100000"/>
              </a:lnSpc>
              <a:spcAft>
                <a:spcPts val="1000"/>
              </a:spcAft>
              <a:defRPr sz="1800" b="0">
                <a:solidFill>
                  <a:srgbClr val="222222"/>
                </a:solidFill>
                <a:latin typeface="Calibri"/>
              </a:defRPr>
            </a:pPr>
            <a:r>
              <a:rPr sz="1800" b="0">
                <a:solidFill>
                  <a:srgbClr val="222222"/>
                </a:solidFill>
                <a:latin typeface="Calibri"/>
              </a:rPr>
              <a:t>6.  Your wheel is 3 inches across. How far does the vehicle travel in one wheel turn?</a:t>
            </a:r>
          </a:p>
          <a:p>
            <a:pPr algn="l">
              <a:lnSpc>
                <a:spcPct val="100000"/>
              </a:lnSpc>
              <a:spcAft>
                <a:spcPts val="1000"/>
              </a:spcAft>
              <a:defRPr sz="1800" b="0">
                <a:solidFill>
                  <a:srgbClr val="222222"/>
                </a:solidFill>
                <a:latin typeface="Calibri"/>
              </a:defRPr>
            </a:pPr>
            <a:r>
              <a:rPr sz="1800" b="0">
                <a:solidFill>
                  <a:srgbClr val="222222"/>
                </a:solidFill>
                <a:latin typeface="Calibri"/>
              </a:rPr>
              <a:t>7.  Your square comes out as a rectangle. Which number is wrong, and which way should you change it?</a:t>
            </a:r>
          </a:p>
          <a:p>
            <a:pPr algn="l">
              <a:lnSpc>
                <a:spcPct val="100000"/>
              </a:lnSpc>
              <a:spcAft>
                <a:spcPts val="1000"/>
              </a:spcAft>
              <a:defRPr sz="1800" b="0">
                <a:solidFill>
                  <a:srgbClr val="222222"/>
                </a:solidFill>
                <a:latin typeface="Calibri"/>
              </a:defRPr>
            </a:pPr>
            <a:r>
              <a:rPr sz="1800" b="0">
                <a:solidFill>
                  <a:srgbClr val="222222"/>
                </a:solidFill>
                <a:latin typeface="Calibri"/>
              </a:rPr>
              <a:t>8.  Give two reasons the same program gives a different square today than it did yesterday.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