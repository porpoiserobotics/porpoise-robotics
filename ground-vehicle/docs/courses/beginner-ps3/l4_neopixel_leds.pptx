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Nothing moves today, so the blocks can stay in the box and the vehicles can sit on the desks.</a:t>
            </a:r>
          </a:p>
          <a:p>
            <a:r>
              <a:rPr sz="1200">
                <a:latin typeface="Calibri"/>
              </a:rPr>
              <a:t>Dim the room if you can. Everything today is easier to see with the lights down.</a:t>
            </a:r>
          </a:p>
          <a:p>
            <a:r>
              <a:rPr sz="1200">
                <a:latin typeface="Calibri"/>
              </a:rPr>
              <a:t>Ask for the LED drawings they made in Lesson 1. Today is the day they get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Objective three - working out the current a pattern draws - is the one that connects this lesson back to Ohm's law in Lesson 2.</a:t>
            </a:r>
          </a:p>
          <a:p>
            <a:r>
              <a:rPr sz="1200">
                <a:latin typeface="Calibri"/>
              </a:rPr>
              <a:t>The last objective is the twenty-minute design exercise at the end. Flag it now so they start thinking early.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Sixty seconds.</a:t>
            </a:r>
          </a:p>
          <a:p>
            <a:r>
              <a:rPr sz="1200">
                <a:latin typeface="Calibri"/>
              </a:rPr>
              <a:t>Say clearly that nothing moves today. It changes how the room behaves.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breaks, and the design exercise at 2:30. Tell them the best pattern gets used in the race next lesson - that is worth ten minutes of extra effort from everybody.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chain idea is the whole lesson. Draw it on the board: data in, keep the first message, pass the rest out.</a:t>
            </a:r>
          </a:p>
          <a:p>
            <a:r>
              <a:rPr sz="1200">
                <a:latin typeface="Calibri"/>
              </a:rPr>
              <a:t>That is why one wire drives thirty-two lights, and why the numbering runs in data order rather than in any order that looks tidy.</a:t>
            </a:r>
          </a:p>
          <a:p>
            <a:r>
              <a:rPr sz="1200">
                <a:latin typeface="Calibri"/>
              </a:rPr>
              <a:t>The 350-pixel practical limit answers the question somebody always asks about how long a chain can be.</a:t>
            </a:r>
          </a:p>
          <a:p>
            <a:r>
              <a:rPr sz="1200">
                <a:latin typeface="Calibri"/>
              </a:rPr>
              <a:t>WS2812B is the part number. Worth saying once - they will meet it everywhere.</a:t>
            </a:r>
          </a:p>
          <a:p>
            <a:r>
              <a:rPr sz="1200">
                <a:latin typeface="Calibri"/>
              </a:rPr>
              <a:t>The photograph is a stick of eight rather than a single pixel, and the back is worth pointing at: DI at one end, DO at the other, and 5 V and ground shared down the whole strip. That is the chain, in one picture.</a:t>
            </a:r>
          </a:p>
          <a:p>
            <a:r>
              <a:rPr sz="1200">
                <a:latin typeface="Calibri"/>
              </a:rPr>
              <a:t>The next slide is the same thing as a drawing, which is where the wiring becomes obvious. Do not explain the chain twice - say it here and prove it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Draw this on the board before you show the slide. Three wires in at the left, three wires out at the right, and eight identical parts in between.</a:t>
            </a:r>
          </a:p>
          <a:p>
            <a:r>
              <a:rPr sz="1200">
                <a:latin typeface="Calibri"/>
              </a:rPr>
              <a:t>Ask which of the three wires is different from the other two, and why. Power and ground go to every pixel the same way; the data wire does not.</a:t>
            </a:r>
          </a:p>
          <a:p>
            <a:r>
              <a:rPr sz="1200">
                <a:latin typeface="Calibri"/>
              </a:rPr>
              <a:t>Then walk a message along it with your finger: the first pixel keeps the first color and passes the rest out of DATA OUT, which is the next pixel's DATA IN.</a:t>
            </a:r>
          </a:p>
          <a:p>
            <a:r>
              <a:rPr sz="1200">
                <a:latin typeface="Calibri"/>
              </a:rPr>
              <a:t>That is the whole reason one pin can drive thirty-two lights, and the reason the numbering runs in data order rather than in whatever order looks tidy from outside.</a:t>
            </a:r>
          </a:p>
          <a:p>
            <a:r>
              <a:rPr sz="1200">
                <a:latin typeface="Calibri"/>
              </a:rPr>
              <a:t>Worth saying out loud: unplug the data lead going into pixel 4 and pixels 4 to 31 all go dark, while 0 to 3 carry on. Power and ground are a rail; data is a chain.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Nine calls, and everything in this lesson and in the vehicle program is built from them. Tell them to photograph this slide.</a:t>
            </a:r>
          </a:p>
          <a:p>
            <a:r>
              <a:rPr sz="1200">
                <a:latin typeface="Calibri"/>
              </a:rPr>
              <a:t>The note is the thing to land: six of the nine only touch memory. Nothing reaches the vehicle until show().</a:t>
            </a:r>
          </a:p>
          <a:p>
            <a:r>
              <a:rPr sz="1200">
                <a:latin typeface="Calibri"/>
              </a:rPr>
              <a:t>gamma32 is on the list for completeness. One sentence - it makes fades look even to your eye -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Additive mixing, not the subtractive kind they learned with paint. Red and green light make yellow; red and green paint make mud. Say it, because it genuinely surprises people.</a:t>
            </a:r>
          </a:p>
          <a:p>
            <a:r>
              <a:rPr sz="1200">
                <a:latin typeface="Calibri"/>
              </a:rPr>
              <a:t>strip.Color(r, g, b) is this picture in three numbers. Point at the overlaps and give the call for each one.</a:t>
            </a:r>
          </a:p>
          <a:p>
            <a:r>
              <a:rPr sz="1200">
                <a:latin typeface="Calibri"/>
              </a:rPr>
              <a:t>Ask for the numbers that make yellow before you show them. 255, 255, 0 - and somebody will guess it.</a:t>
            </a:r>
          </a:p>
          <a:p>
            <a:r>
              <a:rPr sz="1200">
                <a:latin typeface="Calibri"/>
              </a:rPr>
              <a:t>White costs three channels, which is the whole of the power budget slide two on from here.</a:t>
            </a:r>
          </a:p>
          <a:p>
            <a:r>
              <a:rPr sz="1200">
                <a:latin typeface="Calibri"/>
              </a:rPr>
              <a:t>Do not read the table on the next slide out. Put it up, give them a minute, and ask for the two that surprise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the starting points, not the answer. Say that first, or somebody will copy the table and never change a number.</a:t>
            </a:r>
          </a:p>
          <a:p>
            <a:r>
              <a:rPr sz="1200">
                <a:latin typeface="Calibri"/>
              </a:rPr>
              <a:t>Orange is the interesting row. Ask why it is not (255, 128, 0) - it can be, and 100 just looks better on these LEDs. Color is judged by eye, not calculated.</a:t>
            </a:r>
          </a:p>
          <a:p>
            <a:r>
              <a:rPr sz="1200">
                <a:latin typeface="Calibri"/>
              </a:rPr>
              <a:t>Purple and magenta are worth a moment. Neither is a wavelength; they only exist as mixtures, which is the point of the wavelength slide before this one.</a:t>
            </a:r>
          </a:p>
          <a:p>
            <a:r>
              <a:rPr sz="1200">
                <a:latin typeface="Calibri"/>
              </a:rPr>
              <a:t>The Channels lit column is the bridge to the power budget two slides on. White costs three times what red costs, and that is an ampere question, not an aesthetic one.</a:t>
            </a:r>
          </a:p>
          <a:p>
            <a:r>
              <a:rPr sz="1200">
                <a:latin typeface="Calibri"/>
              </a:rPr>
              <a:t>Warm white is the practical one for headlights. Straight white looks blue-ish next to daylight.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science half of the lesson and it is genuinely interesting. Do not rush it because it is not code.</a:t>
            </a:r>
          </a:p>
          <a:p>
            <a:r>
              <a:rPr sz="1200">
                <a:latin typeface="Calibri"/>
              </a:rPr>
              <a:t>The key idea: three LEDs can fake every color because your eye only has three kinds of sensor to fool.</a:t>
            </a:r>
          </a:p>
          <a:p>
            <a:r>
              <a:rPr sz="1200">
                <a:latin typeface="Calibri"/>
              </a:rPr>
              <a:t>Yellow light and red-plus-green light are physically different and look identical. That surprises people, and it should.</a:t>
            </a:r>
          </a:p>
          <a:p>
            <a:r>
              <a:rPr sz="1200">
                <a:latin typeface="Calibri"/>
              </a:rPr>
              <a:t>If somebody asks why a rainbow on the strip does not look even: that is gamma, and it is the last row of the API 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distinction confuses people for years. Ten minutes here saves hours later.</a:t>
            </a:r>
          </a:p>
          <a:p>
            <a:r>
              <a:rPr sz="1200">
                <a:latin typeface="Calibri"/>
              </a:rPr>
              <a:t>Color value changes WHAT you asked for. Brightness scales EVERYTHING on the way out.</a:t>
            </a:r>
          </a:p>
          <a:p>
            <a:r>
              <a:rPr sz="1200">
                <a:latin typeface="Calibri"/>
              </a:rPr>
              <a:t>The lossy point explains a real bug they will hit: a fade that ends abruptly instead of going smoothly to black.</a:t>
            </a:r>
          </a:p>
          <a:p>
            <a:r>
              <a:rPr sz="1200">
                <a:latin typeface="Calibri"/>
              </a:rPr>
              <a:t>Rule of thumb worth repeating: set brightness once in setup, then work in color values.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the arithmetic on the board with them. It is four multiplications and it makes the constraint real.</a:t>
            </a:r>
          </a:p>
          <a:p>
            <a:r>
              <a:rPr sz="1200">
                <a:latin typeface="Calibri"/>
              </a:rPr>
              <a:t>Nearly two amps and nearly ten watts through a small board. That is why the number in the program is 120 and not 255.</a:t>
            </a:r>
          </a:p>
          <a:p>
            <a:r>
              <a:rPr sz="1200">
                <a:latin typeface="Calibri"/>
              </a:rPr>
              <a:t>Colored light is cheaper than white - pure red lights one of the three channels instead of all three. Ask them to work out yellow before you tell them.</a:t>
            </a:r>
          </a:p>
          <a:p>
            <a:r>
              <a:rPr sz="1200">
                <a:latin typeface="Calibri"/>
              </a:rPr>
              <a:t>This is Ohm's law from Lesson 2, used for something real. Point back at it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relationships, and between them they explain every resistor and every current budget on this vehicle.</a:t>
            </a:r>
          </a:p>
          <a:p>
            <a:r>
              <a:rPr sz="1200">
                <a:latin typeface="Calibri"/>
              </a:rPr>
              <a:t>Do one worked example on the board before they look at the slide, and make them tell you which quantity is the unknown.</a:t>
            </a:r>
          </a:p>
          <a:p>
            <a:r>
              <a:rPr sz="1200">
                <a:latin typeface="Calibri"/>
              </a:rPr>
              <a:t>Units matter more than the algebra here. Volts, amps, ohms, watts - keep saying them.</a:t>
            </a:r>
          </a:p>
          <a:p>
            <a:r>
              <a:rPr sz="1200">
                <a:latin typeface="Calibri"/>
              </a:rPr>
              <a:t>The reason this is in a robotics course: the LED resistor and the 32-LED current budget are both this, and getting them wrong smells of hot plastic.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First of three.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3 is a deliberate, supervised look at what full brightness costs. Say carefully, and do not let anybody hold a hand against the bars.</a:t>
            </a:r>
          </a:p>
          <a:p>
            <a:r>
              <a:rPr sz="1200">
                <a:latin typeface="Calibri"/>
              </a:rPr>
              <a:t>Yellow costs about twice red because it lights two channels rather than one. Get that answer from the room.</a:t>
            </a:r>
          </a:p>
          <a:p>
            <a:r>
              <a:rPr sz="1200">
                <a:latin typeface="Calibri"/>
              </a:rPr>
              <a:t>Step 6 is the one to make a point of. They have just written a for loop, and strip.fill() does the same job in one line. The lesson is not that loops are bad - it is that when every pixel gets the SAME color, the library already has a call for it, and reaching for the loop first is a habit worth noticing.</a:t>
            </a:r>
          </a:p>
          <a:p>
            <a:r>
              <a:rPr sz="1200">
                <a:latin typeface="Calibri"/>
              </a:rPr>
              <a:t>Have somebody read both versions out. Six lines against one, identical on the vehicle.</a:t>
            </a:r>
          </a:p>
          <a:p>
            <a:r>
              <a:rPr sz="1200">
                <a:latin typeface="Calibri"/>
              </a:rPr>
              <a:t>At brightness 60 the worst case is roughly a quarter of two amps, so about 450 mA.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a vehicle on the desk in the same orientation as the diagram before you say anything. Students who cannot match the picture to the object will guess for the rest of the lesson.</a:t>
            </a:r>
          </a:p>
          <a:p>
            <a:r>
              <a:rPr sz="1200">
                <a:latin typeface="Calibri"/>
              </a:rPr>
              <a:t>The numbers run in the order the data flows, not in any order that looks tidy from outside. Say so - it is the answer to the question they are about to ask.</a:t>
            </a:r>
          </a:p>
          <a:p>
            <a:r>
              <a:rPr sz="1200">
                <a:latin typeface="Calibri"/>
              </a:rPr>
              <a:t>Get them to point at LED 0 and LED 31 on a real vehicle before moving on.</a:t>
            </a:r>
          </a:p>
          <a:p>
            <a:r>
              <a:rPr sz="1200">
                <a:latin typeface="Calibri"/>
              </a:rPr>
              <a:t>This map is worth printing. They will use it in every lighting exercise from here to the end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Two of three.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activity that pays off for the rest of the course. Make sure every group finishes with a labeled drawing they keep.</a:t>
            </a:r>
          </a:p>
          <a:p>
            <a:r>
              <a:rPr sz="1200">
                <a:latin typeface="Calibri"/>
              </a:rPr>
              <a:t>Vehicles all facing the same way, or the left-and-right conversation gets confusing fast.</a:t>
            </a:r>
          </a:p>
          <a:p>
            <a:r>
              <a:rPr sz="1200">
                <a:latin typeface="Calibri"/>
              </a:rPr>
              <a:t>Steps 6 and 7 are the real work. The middle four of the front bar and the four corners both need them to reason about the numbering rather than read it off.</a:t>
            </a:r>
          </a:p>
          <a:p>
            <a:r>
              <a:rPr sz="1200">
                <a:latin typeface="Calibri"/>
              </a:rPr>
              <a:t>The LED directly behind number 3 is the one the mirror section shows them. Let the program answer it, not you.</a:t>
            </a:r>
          </a:p>
          <a:p>
            <a:r>
              <a:rPr sz="1200">
                <a:latin typeface="Calibri"/>
              </a:rPr>
              <a:t>ANSWERS. Behind 3 is 28, because 31 - 3 = 28. The whole right side is two ranges, 8 to 15 on the front and 16 to 23 on the rear - the loop splits each side in two. Step 6: the middle four of the front bar are 6, 7, 8 and 9. Step 7: the four corners are 0 (front left), 15 (front right), 16 (rear right) and 31 (rear left).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Show the long way first and let somebody groan. That is the motivation for the loop.</a:t>
            </a:r>
          </a:p>
          <a:p>
            <a:r>
              <a:rPr sz="1200">
                <a:latin typeface="Calibri"/>
              </a:rPr>
              <a:t>Then land strip.fill(): if every pixel gets the same color, the loop is not needed either. The rule is that the loop earns its place when the pixels DIFFER, which is exactly what the last example shows.</a:t>
            </a:r>
          </a:p>
          <a:p>
            <a:r>
              <a:rPr sz="1200">
                <a:latin typeface="Calibri"/>
              </a:rPr>
              <a:t>Read the three parts of the for header out loud as a sentence: start here, keep going while this is true, add one each time.</a:t>
            </a:r>
          </a:p>
          <a:p>
            <a:r>
              <a:rPr sz="1200">
                <a:latin typeface="Calibri"/>
              </a:rPr>
              <a:t>The &lt; versus &lt;= point is worth a full minute. With FRONT_LAST at 15 they need &lt;= or they lose LED 15.</a:t>
            </a:r>
          </a:p>
          <a:p>
            <a:r>
              <a:rPr sz="1200">
                <a:latin typeface="Calibri"/>
              </a:rPr>
              <a:t>Say out loud that off-by-one is the most common bug in programming and that this is where they meet it. It normalizes getting it wrong.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Four patterns, four different ideas. Do not read all the detail - name the idea behind each and let the code teach the rest.</a:t>
            </a:r>
          </a:p>
          <a:p>
            <a:r>
              <a:rPr sz="1200">
                <a:latin typeface="Calibri"/>
              </a:rPr>
              <a:t>theaterChase is the one with three nested loops. If anybody is going to get lost today it is here, so slow down.</a:t>
            </a:r>
          </a:p>
          <a:p>
            <a:r>
              <a:rPr sz="1200">
                <a:latin typeface="Calibri"/>
              </a:rPr>
              <a:t>Hue is the interesting one: a single number that goes all the way round the color wheel, instead of three separate channels.</a:t>
            </a:r>
          </a:p>
          <a:p>
            <a:r>
              <a:rPr sz="1200">
                <a:latin typeface="Calibri"/>
              </a:rPr>
              <a:t>The scanner is the one they will remember. Mention that it comes back in Lesson 5, done properly without delay().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Last activity before the design exercise.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Every step here is change-one-thing-and-look. Keep them to one change at a time.</a:t>
            </a:r>
          </a:p>
          <a:p>
            <a:r>
              <a:rPr sz="1200">
                <a:latin typeface="Calibri"/>
              </a:rPr>
              <a:t>Step 6 - copying a function, renaming it and running it backwards - is the first time they write something rather than adjust it. Give it time.</a:t>
            </a:r>
          </a:p>
          <a:p>
            <a:r>
              <a:rPr sz="1200">
                <a:latin typeface="Calibri"/>
              </a:rPr>
              <a:t>The inner loop steps in threes because only every third LED is lit at once. Get that from the room.</a:t>
            </a:r>
          </a:p>
          <a:p>
            <a:r>
              <a:rPr sz="1200">
                <a:latin typeface="Calibri"/>
              </a:rPr>
              <a:t>&gt;&gt; 1 halves a number by shifting its bits right, which is a cheap way to dim a color. Show it on the board if they have not met bit shifts.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minutes, hands off, let them build. Circulate but do not solve.</a:t>
            </a:r>
          </a:p>
          <a:p>
            <a:r>
              <a:rPr sz="1200">
                <a:latin typeface="Calibri"/>
              </a:rPr>
              <a:t>The two rules matter: it has to be a function called from loop(), and it has to use a for loop. Those are the two things this lesson taught.</a:t>
            </a:r>
          </a:p>
          <a:p>
            <a:r>
              <a:rPr sz="1200">
                <a:latin typeface="Calibri"/>
              </a:rPr>
              <a:t>Leave five minutes at the end for showing. Every group demonstrates, even if it half works.</a:t>
            </a:r>
          </a:p>
          <a:p>
            <a:r>
              <a:rPr sz="1200">
                <a:latin typeface="Calibri"/>
              </a:rPr>
              <a:t>Pick a winner and mean it - it gets used in the race next lesson.</a:t>
            </a:r>
          </a:p>
          <a:p>
            <a:r>
              <a:rPr sz="1200">
                <a:latin typeface="Calibri"/>
              </a:rPr>
              <a:t>The stoplight and the D-pad quadrants are the two easiest starting points if a group is stuck - both are for loops over a known range, which is exactly what they just practiced.</a:t>
            </a:r>
          </a:p>
          <a:p>
            <a:r>
              <a:rPr sz="1200">
                <a:latin typeface="Calibri"/>
              </a:rPr>
              <a:t>When a group asks how to write something, ask what their cheat sheet says before you answer. Functions, for loops, the LED map and every NeoPixel call they need are all on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not read this out. Point at it and tell them to work down it before changing any code.</a:t>
            </a:r>
          </a:p>
          <a:p>
            <a:r>
              <a:rPr sz="1200">
                <a:latin typeface="Calibri"/>
              </a:rPr>
              <a:t>Row one will happen to somebody in the next ten minutes.</a:t>
            </a:r>
          </a:p>
          <a:p>
            <a:r>
              <a:rPr sz="1200">
                <a:latin typeface="Calibri"/>
              </a:rPr>
              <a:t>The last two rows are the chain idea again, from both sides. A pixel whose LED dies usually still passes the data on, so only that one is dark. A break in the data line darkens everything after it and nothing before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Conversation, not a test.</a:t>
            </a:r>
          </a:p>
          <a:p>
            <a:r>
              <a:rPr sz="1200">
                <a:latin typeface="Calibri"/>
              </a:rPr>
              <a:t>Answers, in order: each pixel keeps the first message and passes the rest along; 5 V, ground, data in, data out; you forgot strip.show(); yellow, because red and green together look yellow to your eye; about 1.9 amps.</a:t>
            </a:r>
          </a:p>
          <a:p>
            <a:r>
              <a:rPr sz="1200">
                <a:latin typeface="Calibri"/>
              </a:rPr>
              <a:t>Questions 6 and 7 they should answer from their own drawing, not from memory. Question 6: 0 to 7 on the front and 24 to 31 on the rear. Question 7: 31 - 6 = 25.</a:t>
            </a:r>
          </a:p>
          <a:p>
            <a:r>
              <a:rPr sz="1200">
                <a:latin typeface="Calibri"/>
              </a:rPr>
              <a:t>Question 8 should be written out. Check a few. One answer:  for (int i = 16; i &lt;= 31; i++) { strip.setPixelColor(i, strip.Color(255, 0, 0)); }  then strip.show(). Watch for &lt; 31, which misses LED 31, and for a missing show().</a:t>
            </a:r>
          </a:p>
          <a:p>
            <a:r>
              <a:rPr sz="1200">
                <a:latin typeface="Calibri"/>
              </a:rPr>
              <a:t>Tell them next lesson is everything at once, and a race.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4</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NeoPixel LEDs</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Addressable LEDs, color, power budgets, and making 32 lights do what you tell them.</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Nothing moves today.</a:t>
            </a:r>
          </a:p>
        </p:txBody>
      </p:sp>
      <p:pic>
        <p:nvPicPr>
          <p:cNvPr id="8" name="Picture 7" descr="vehicle-green-leds.jpg"/>
          <p:cNvPicPr>
            <a:picLocks noChangeAspect="1"/>
          </p:cNvPicPr>
          <p:nvPr/>
        </p:nvPicPr>
        <p:blipFill>
          <a:blip r:embed="rId3"/>
          <a:stretch>
            <a:fillRect/>
          </a:stretch>
        </p:blipFill>
        <p:spPr>
          <a:xfrm>
            <a:off x="7223760" y="2023797"/>
            <a:ext cx="4480560" cy="3359046"/>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Explain how 32 LEDs are controlled independently over one wire</a:t>
            </a:r>
          </a:p>
          <a:p>
            <a:pPr algn="l">
              <a:lnSpc>
                <a:spcPct val="100000"/>
              </a:lnSpc>
              <a:spcAft>
                <a:spcPts val="1300"/>
              </a:spcAft>
              <a:defRPr sz="1900" b="0">
                <a:solidFill>
                  <a:srgbClr val="222222"/>
                </a:solidFill>
                <a:latin typeface="Calibri"/>
              </a:defRPr>
            </a:pPr>
            <a:r>
              <a:rPr sz="1900" b="0">
                <a:solidFill>
                  <a:srgbClr val="222222"/>
                </a:solidFill>
                <a:latin typeface="Calibri"/>
              </a:rPr>
              <a:t>2.   Mix any color from red, green and blue values</a:t>
            </a:r>
          </a:p>
          <a:p>
            <a:pPr algn="l">
              <a:lnSpc>
                <a:spcPct val="100000"/>
              </a:lnSpc>
              <a:spcAft>
                <a:spcPts val="1300"/>
              </a:spcAft>
              <a:defRPr sz="1900" b="0">
                <a:solidFill>
                  <a:srgbClr val="222222"/>
                </a:solidFill>
                <a:latin typeface="Calibri"/>
              </a:defRPr>
            </a:pPr>
            <a:r>
              <a:rPr sz="1900" b="0">
                <a:solidFill>
                  <a:srgbClr val="222222"/>
                </a:solidFill>
                <a:latin typeface="Calibri"/>
              </a:rPr>
              <a:t>3.   Work out the current a lighting pattern will draw, and say whether the battery can afford it</a:t>
            </a:r>
          </a:p>
          <a:p>
            <a:pPr algn="l">
              <a:lnSpc>
                <a:spcPct val="100000"/>
              </a:lnSpc>
              <a:spcAft>
                <a:spcPts val="1300"/>
              </a:spcAft>
              <a:defRPr sz="1900" b="0">
                <a:solidFill>
                  <a:srgbClr val="222222"/>
                </a:solidFill>
                <a:latin typeface="Calibri"/>
              </a:defRPr>
            </a:pPr>
            <a:r>
              <a:rPr sz="1900" b="0">
                <a:solidFill>
                  <a:srgbClr val="222222"/>
                </a:solidFill>
                <a:latin typeface="Calibri"/>
              </a:rPr>
              <a:t>4.   Find any LED on the vehicle from its number, and the LED opposite it</a:t>
            </a:r>
          </a:p>
          <a:p>
            <a:pPr algn="l">
              <a:lnSpc>
                <a:spcPct val="100000"/>
              </a:lnSpc>
              <a:spcAft>
                <a:spcPts val="1300"/>
              </a:spcAft>
              <a:defRPr sz="1900" b="0">
                <a:solidFill>
                  <a:srgbClr val="222222"/>
                </a:solidFill>
                <a:latin typeface="Calibri"/>
              </a:defRPr>
            </a:pPr>
            <a:r>
              <a:rPr sz="1900" b="0">
                <a:solidFill>
                  <a:srgbClr val="222222"/>
                </a:solidFill>
                <a:latin typeface="Calibri"/>
              </a:rPr>
              <a:t>5.   Write a for loop that lights a chosen run of LEDs</a:t>
            </a:r>
          </a:p>
          <a:p>
            <a:pPr algn="l">
              <a:lnSpc>
                <a:spcPct val="100000"/>
              </a:lnSpc>
              <a:spcAft>
                <a:spcPts val="1300"/>
              </a:spcAft>
              <a:defRPr sz="1900" b="0">
                <a:solidFill>
                  <a:srgbClr val="222222"/>
                </a:solidFill>
                <a:latin typeface="Calibri"/>
              </a:defRPr>
            </a:pPr>
            <a:r>
              <a:rPr sz="1900" b="0">
                <a:solidFill>
                  <a:srgbClr val="222222"/>
                </a:solidFill>
                <a:latin typeface="Calibri"/>
              </a:rPr>
              <a:t>6.   Write a lighting pattern of your own as a function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 got to last lesson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600" b="0">
                <a:solidFill>
                  <a:srgbClr val="222222"/>
                </a:solidFill>
                <a:latin typeface="Calibri"/>
              </a:defRPr>
            </a:pPr>
            <a:r>
              <a:rPr sz="2600" b="0">
                <a:solidFill>
                  <a:srgbClr val="222222"/>
                </a:solidFill>
                <a:latin typeface="Calibri"/>
              </a:rPr>
              <a:t>You know how a controller reaches the vehicle, and why every vehicle needs its own address.</a:t>
            </a:r>
          </a:p>
          <a:p>
            <a:pPr algn="l">
              <a:lnSpc>
                <a:spcPct val="100000"/>
              </a:lnSpc>
              <a:spcAft>
                <a:spcPts val="600"/>
              </a:spcAft>
              <a:defRPr sz="2600" b="0">
                <a:solidFill>
                  <a:srgbClr val="222222"/>
                </a:solidFill>
                <a:latin typeface="Calibri"/>
              </a:defRPr>
            </a:pPr>
            <a:r>
              <a:rPr sz="2600" b="0">
                <a:solidFill>
                  <a:srgbClr val="222222"/>
                </a:solidFill>
                <a:latin typeface="Calibri"/>
              </a:rPr>
              <a:t>You know what a deadzone is and why it exists.</a:t>
            </a:r>
          </a:p>
          <a:p>
            <a:pPr algn="l">
              <a:lnSpc>
                <a:spcPct val="100000"/>
              </a:lnSpc>
              <a:spcAft>
                <a:spcPts val="600"/>
              </a:spcAft>
              <a:defRPr sz="2600" b="0">
                <a:solidFill>
                  <a:srgbClr val="222222"/>
                </a:solidFill>
                <a:latin typeface="Calibri"/>
              </a:defRPr>
            </a:pPr>
            <a:r>
              <a:rPr sz="2600" b="0">
                <a:solidFill>
                  <a:srgbClr val="222222"/>
                </a:solidFill>
                <a:latin typeface="Calibri"/>
              </a:rPr>
              <a:t>You can turn a stick reading into a motor speed, and mix forward with turn.</a:t>
            </a:r>
          </a:p>
          <a:p>
            <a:pPr algn="l">
              <a:lnSpc>
                <a:spcPct val="100000"/>
              </a:lnSpc>
              <a:spcAft>
                <a:spcPts val="600"/>
              </a:spcAft>
              <a:defRPr sz="2600" b="0">
                <a:solidFill>
                  <a:srgbClr val="222222"/>
                </a:solidFill>
                <a:latin typeface="Calibri"/>
              </a:defRPr>
            </a:pPr>
            <a:r>
              <a:rPr sz="2600" b="0">
                <a:solidFill>
                  <a:srgbClr val="222222"/>
                </a:solidFill>
                <a:latin typeface="Calibri"/>
              </a:rPr>
              <a:t>You can drive.</a:t>
            </a:r>
          </a:p>
          <a:p>
            <a:pPr algn="l">
              <a:lnSpc>
                <a:spcPct val="100000"/>
              </a:lnSpc>
              <a:spcAft>
                <a:spcPts val="600"/>
              </a:spcAft>
              <a:defRPr sz="1300" b="0">
                <a:solidFill>
                  <a:srgbClr val="222222"/>
                </a:solidFill>
                <a:latin typeface="Calibri"/>
              </a:defRPr>
            </a:pPr>
          </a:p>
          <a:p>
            <a:pPr algn="l">
              <a:lnSpc>
                <a:spcPct val="100000"/>
              </a:lnSpc>
              <a:spcAft>
                <a:spcPts val="600"/>
              </a:spcAft>
              <a:defRPr sz="2600" b="0">
                <a:solidFill>
                  <a:srgbClr val="222222"/>
                </a:solidFill>
                <a:latin typeface="Calibri"/>
              </a:defRPr>
            </a:pPr>
            <a:r>
              <a:rPr sz="2600" b="0">
                <a:solidFill>
                  <a:srgbClr val="222222"/>
                </a:solidFill>
                <a:latin typeface="Calibri"/>
              </a:rPr>
              <a:t>Today: the 32 lights. Nothing on the vehicle moves, so the wheels can stay on the desk.</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Next lesson everything comes together and we race.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5048250"/>
        </p:xfrm>
        <a:graphic>
          <a:graphicData uri="http://schemas.openxmlformats.org/drawingml/2006/table">
            <a:tbl>
              <a:tblPr firstRow="1" bandRow="1">
                <a:tableStyleId>{5C22544A-7EE6-4342-B048-85BDC9FD1C3A}</a:tableStyleId>
              </a:tblPr>
              <a:tblGrid>
                <a:gridCol w="1118585"/>
                <a:gridCol w="10067269"/>
              </a:tblGrid>
              <a:tr h="504825">
                <a:tc>
                  <a:txBody>
                    <a:bodyPr/>
                    <a:lstStyle/>
                    <a:p>
                      <a:r>
                        <a:rPr sz="2700" b="1">
                          <a:solidFill>
                            <a:srgbClr val="FFFFFF"/>
                          </a:solidFill>
                          <a:latin typeface="Calibri"/>
                        </a:rPr>
                        <a:t>Time</a:t>
                      </a:r>
                    </a:p>
                  </a:txBody>
                  <a:tcPr marL="73152" marT="18288" marB="18288">
                    <a:solidFill>
                      <a:srgbClr val="1F3A5F"/>
                    </a:solidFill>
                  </a:tcPr>
                </a:tc>
                <a:tc>
                  <a:txBody>
                    <a:bodyPr/>
                    <a:lstStyle/>
                    <a:p>
                      <a:r>
                        <a:rPr sz="2700" b="1">
                          <a:solidFill>
                            <a:srgbClr val="FFFFFF"/>
                          </a:solidFill>
                          <a:latin typeface="Calibri"/>
                        </a:rPr>
                        <a:t>What we do</a:t>
                      </a:r>
                    </a:p>
                  </a:txBody>
                  <a:tcPr marL="73152" marT="18288" marB="18288">
                    <a:solidFill>
                      <a:srgbClr val="1F3A5F"/>
                    </a:solidFill>
                  </a:tcPr>
                </a:tc>
              </a:tr>
              <a:tr h="504825">
                <a:tc>
                  <a:txBody>
                    <a:bodyPr/>
                    <a:lstStyle/>
                    <a:p>
                      <a:r>
                        <a:rPr sz="2700">
                          <a:solidFill>
                            <a:srgbClr val="222222"/>
                          </a:solidFill>
                          <a:latin typeface="Calibri"/>
                        </a:rPr>
                        <a:t>0:00</a:t>
                      </a:r>
                    </a:p>
                  </a:txBody>
                  <a:tcPr marL="73152" marT="18288" marB="18288">
                    <a:solidFill>
                      <a:srgbClr val="FFFFFF"/>
                    </a:solidFill>
                  </a:tcPr>
                </a:tc>
                <a:tc>
                  <a:txBody>
                    <a:bodyPr/>
                    <a:lstStyle/>
                    <a:p>
                      <a:r>
                        <a:rPr sz="2700">
                          <a:solidFill>
                            <a:srgbClr val="222222"/>
                          </a:solidFill>
                          <a:latin typeface="Calibri"/>
                        </a:rPr>
                        <a:t>Recap. What an addressable LED is</a:t>
                      </a:r>
                    </a:p>
                  </a:txBody>
                  <a:tcPr marL="73152" marT="18288" marB="18288">
                    <a:solidFill>
                      <a:srgbClr val="FFFFFF"/>
                    </a:solidFill>
                  </a:tcPr>
                </a:tc>
              </a:tr>
              <a:tr h="504825">
                <a:tc>
                  <a:txBody>
                    <a:bodyPr/>
                    <a:lstStyle/>
                    <a:p>
                      <a:r>
                        <a:rPr sz="2700">
                          <a:solidFill>
                            <a:srgbClr val="222222"/>
                          </a:solidFill>
                          <a:latin typeface="Calibri"/>
                        </a:rPr>
                        <a:t>0:25</a:t>
                      </a:r>
                    </a:p>
                  </a:txBody>
                  <a:tcPr marL="73152" marT="18288" marB="18288">
                    <a:solidFill>
                      <a:srgbClr val="EEF3F8"/>
                    </a:solidFill>
                  </a:tcPr>
                </a:tc>
                <a:tc>
                  <a:txBody>
                    <a:bodyPr/>
                    <a:lstStyle/>
                    <a:p>
                      <a:r>
                        <a:rPr sz="2700">
                          <a:solidFill>
                            <a:srgbClr val="222222"/>
                          </a:solidFill>
                          <a:latin typeface="Calibri"/>
                        </a:rPr>
                        <a:t>Color: RGB, wavelength, and how your eye works</a:t>
                      </a:r>
                    </a:p>
                  </a:txBody>
                  <a:tcPr marL="73152" marT="18288" marB="18288">
                    <a:solidFill>
                      <a:srgbClr val="EEF3F8"/>
                    </a:solidFill>
                  </a:tcPr>
                </a:tc>
              </a:tr>
              <a:tr h="504825">
                <a:tc>
                  <a:txBody>
                    <a:bodyPr/>
                    <a:lstStyle/>
                    <a:p>
                      <a:r>
                        <a:rPr sz="2700">
                          <a:solidFill>
                            <a:srgbClr val="222222"/>
                          </a:solidFill>
                          <a:latin typeface="Calibri"/>
                        </a:rPr>
                        <a:t>0:50</a:t>
                      </a:r>
                    </a:p>
                  </a:txBody>
                  <a:tcPr marL="73152" marT="18288" marB="18288">
                    <a:solidFill>
                      <a:srgbClr val="FFFFFF"/>
                    </a:solidFill>
                  </a:tcPr>
                </a:tc>
                <a:tc>
                  <a:txBody>
                    <a:bodyPr/>
                    <a:lstStyle/>
                    <a:p>
                      <a:r>
                        <a:rPr sz="2700">
                          <a:solidFill>
                            <a:srgbClr val="222222"/>
                          </a:solidFill>
                          <a:latin typeface="Calibri"/>
                        </a:rPr>
                        <a:t>The power budget. Upload l4a_all_one_color</a:t>
                      </a:r>
                    </a:p>
                  </a:txBody>
                  <a:tcPr marL="73152" marT="18288" marB="18288">
                    <a:solidFill>
                      <a:srgbClr val="FFFFFF"/>
                    </a:solidFill>
                  </a:tcPr>
                </a:tc>
              </a:tr>
              <a:tr h="504825">
                <a:tc>
                  <a:txBody>
                    <a:bodyPr/>
                    <a:lstStyle/>
                    <a:p>
                      <a:r>
                        <a:rPr sz="2700">
                          <a:solidFill>
                            <a:srgbClr val="222222"/>
                          </a:solidFill>
                          <a:latin typeface="Calibri"/>
                        </a:rPr>
                        <a:t>1:15</a:t>
                      </a:r>
                    </a:p>
                  </a:txBody>
                  <a:tcPr marL="73152" marT="18288" marB="18288">
                    <a:solidFill>
                      <a:srgbClr val="EEF3F8"/>
                    </a:solidFill>
                  </a:tcPr>
                </a:tc>
                <a:tc>
                  <a:txBody>
                    <a:bodyPr/>
                    <a:lstStyle/>
                    <a:p>
                      <a:r>
                        <a:rPr sz="2700">
                          <a:solidFill>
                            <a:srgbClr val="222222"/>
                          </a:solidFill>
                          <a:latin typeface="Calibri"/>
                        </a:rPr>
                        <a:t>BREAK  (10 minutes)</a:t>
                      </a:r>
                    </a:p>
                  </a:txBody>
                  <a:tcPr marL="73152" marT="18288" marB="18288">
                    <a:solidFill>
                      <a:srgbClr val="EEF3F8"/>
                    </a:solidFill>
                  </a:tcPr>
                </a:tc>
              </a:tr>
              <a:tr h="504825">
                <a:tc>
                  <a:txBody>
                    <a:bodyPr/>
                    <a:lstStyle/>
                    <a:p>
                      <a:r>
                        <a:rPr sz="2700">
                          <a:solidFill>
                            <a:srgbClr val="222222"/>
                          </a:solidFill>
                          <a:latin typeface="Calibri"/>
                        </a:rPr>
                        <a:t>1:25</a:t>
                      </a:r>
                    </a:p>
                  </a:txBody>
                  <a:tcPr marL="73152" marT="18288" marB="18288">
                    <a:solidFill>
                      <a:srgbClr val="FFFFFF"/>
                    </a:solidFill>
                  </a:tcPr>
                </a:tc>
                <a:tc>
                  <a:txBody>
                    <a:bodyPr/>
                    <a:lstStyle/>
                    <a:p>
                      <a:r>
                        <a:rPr sz="2700">
                          <a:solidFill>
                            <a:srgbClr val="222222"/>
                          </a:solidFill>
                          <a:latin typeface="Calibri"/>
                        </a:rPr>
                        <a:t>Mapping the loop. Upload l4b_led_map</a:t>
                      </a:r>
                    </a:p>
                  </a:txBody>
                  <a:tcPr marL="73152" marT="18288" marB="18288">
                    <a:solidFill>
                      <a:srgbClr val="FFFFFF"/>
                    </a:solidFill>
                  </a:tcPr>
                </a:tc>
              </a:tr>
              <a:tr h="504825">
                <a:tc>
                  <a:txBody>
                    <a:bodyPr/>
                    <a:lstStyle/>
                    <a:p>
                      <a:r>
                        <a:rPr sz="2700">
                          <a:solidFill>
                            <a:srgbClr val="222222"/>
                          </a:solidFill>
                          <a:latin typeface="Calibri"/>
                        </a:rPr>
                        <a:t>1:55</a:t>
                      </a:r>
                    </a:p>
                  </a:txBody>
                  <a:tcPr marL="73152" marT="18288" marB="18288">
                    <a:solidFill>
                      <a:srgbClr val="EEF3F8"/>
                    </a:solidFill>
                  </a:tcPr>
                </a:tc>
                <a:tc>
                  <a:txBody>
                    <a:bodyPr/>
                    <a:lstStyle/>
                    <a:p>
                      <a:r>
                        <a:rPr sz="2700">
                          <a:solidFill>
                            <a:srgbClr val="222222"/>
                          </a:solidFill>
                          <a:latin typeface="Calibri"/>
                        </a:rPr>
                        <a:t>for loops, and four patterns. Upload l4c_patterns</a:t>
                      </a:r>
                    </a:p>
                  </a:txBody>
                  <a:tcPr marL="73152" marT="18288" marB="18288">
                    <a:solidFill>
                      <a:srgbClr val="EEF3F8"/>
                    </a:solidFill>
                  </a:tcPr>
                </a:tc>
              </a:tr>
              <a:tr h="504825">
                <a:tc>
                  <a:txBody>
                    <a:bodyPr/>
                    <a:lstStyle/>
                    <a:p>
                      <a:r>
                        <a:rPr sz="2700">
                          <a:solidFill>
                            <a:srgbClr val="222222"/>
                          </a:solidFill>
                          <a:latin typeface="Calibri"/>
                        </a:rPr>
                        <a:t>2:20</a:t>
                      </a:r>
                    </a:p>
                  </a:txBody>
                  <a:tcPr marL="73152" marT="18288" marB="18288">
                    <a:solidFill>
                      <a:srgbClr val="FFFFFF"/>
                    </a:solidFill>
                  </a:tcPr>
                </a:tc>
                <a:tc>
                  <a:txBody>
                    <a:bodyPr/>
                    <a:lstStyle/>
                    <a:p>
                      <a:r>
                        <a:rPr sz="2700">
                          <a:solidFill>
                            <a:srgbClr val="222222"/>
                          </a:solidFill>
                          <a:latin typeface="Calibri"/>
                        </a:rPr>
                        <a:t>BREAK  (10 minutes)</a:t>
                      </a:r>
                    </a:p>
                  </a:txBody>
                  <a:tcPr marL="73152" marT="18288" marB="18288">
                    <a:solidFill>
                      <a:srgbClr val="FFFFFF"/>
                    </a:solidFill>
                  </a:tcPr>
                </a:tc>
              </a:tr>
              <a:tr h="504825">
                <a:tc>
                  <a:txBody>
                    <a:bodyPr/>
                    <a:lstStyle/>
                    <a:p>
                      <a:r>
                        <a:rPr sz="2700">
                          <a:solidFill>
                            <a:srgbClr val="222222"/>
                          </a:solidFill>
                          <a:latin typeface="Calibri"/>
                        </a:rPr>
                        <a:t>2:30</a:t>
                      </a:r>
                    </a:p>
                  </a:txBody>
                  <a:tcPr marL="73152" marT="18288" marB="18288">
                    <a:solidFill>
                      <a:srgbClr val="EEF3F8"/>
                    </a:solidFill>
                  </a:tcPr>
                </a:tc>
                <a:tc>
                  <a:txBody>
                    <a:bodyPr/>
                    <a:lstStyle/>
                    <a:p>
                      <a:r>
                        <a:rPr sz="2700">
                          <a:solidFill>
                            <a:srgbClr val="222222"/>
                          </a:solidFill>
                          <a:latin typeface="Calibri"/>
                        </a:rPr>
                        <a:t>Design a pattern of your own</a:t>
                      </a:r>
                    </a:p>
                  </a:txBody>
                  <a:tcPr marL="73152" marT="18288" marB="18288">
                    <a:solidFill>
                      <a:srgbClr val="EEF3F8"/>
                    </a:solidFill>
                  </a:tcPr>
                </a:tc>
              </a:tr>
              <a:tr h="504825">
                <a:tc>
                  <a:txBody>
                    <a:bodyPr/>
                    <a:lstStyle/>
                    <a:p>
                      <a:r>
                        <a:rPr sz="2700">
                          <a:solidFill>
                            <a:srgbClr val="222222"/>
                          </a:solidFill>
                          <a:latin typeface="Calibri"/>
                        </a:rPr>
                        <a:t>2:55</a:t>
                      </a:r>
                    </a:p>
                  </a:txBody>
                  <a:tcPr marL="73152" marT="18288" marB="18288">
                    <a:solidFill>
                      <a:srgbClr val="FFFFFF"/>
                    </a:solidFill>
                  </a:tcPr>
                </a:tc>
                <a:tc>
                  <a:txBody>
                    <a:bodyPr/>
                    <a:lstStyle/>
                    <a:p>
                      <a:r>
                        <a:rPr sz="2700">
                          <a:solidFill>
                            <a:srgbClr val="222222"/>
                          </a:solidFill>
                          <a:latin typeface="Calibri"/>
                        </a:rPr>
                        <a:t>Recap</a:t>
                      </a:r>
                    </a:p>
                  </a:txBody>
                  <a:tcPr marL="73152" marT="18288" marB="18288">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makes a NeoPixel different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TextBox 5"/>
          <p:cNvSpPr txBox="1"/>
          <p:nvPr/>
        </p:nvSpPr>
        <p:spPr>
          <a:xfrm>
            <a:off x="502920" y="1188720"/>
            <a:ext cx="701690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An ordinary LED has two legs, is on or off, and needs a pin of its own.</a:t>
            </a:r>
          </a:p>
          <a:p>
            <a:pPr algn="l">
              <a:lnSpc>
                <a:spcPct val="100000"/>
              </a:lnSpc>
              <a:spcAft>
                <a:spcPts val="600"/>
              </a:spcAft>
              <a:defRPr sz="2100" b="0">
                <a:solidFill>
                  <a:srgbClr val="222222"/>
                </a:solidFill>
                <a:latin typeface="Calibri"/>
              </a:defRPr>
            </a:pPr>
            <a:r>
              <a:rPr sz="2100" b="0">
                <a:solidFill>
                  <a:srgbClr val="222222"/>
                </a:solidFill>
                <a:latin typeface="Calibri"/>
              </a:rPr>
              <a:t>A NeoPixel - the part is a WS2812B - has FOUR connections: 5 volts, ground, DATA IN and DATA OUT. Inside are a tiny controller chip and three LEDs, one red, one green, one blue.</a:t>
            </a:r>
          </a:p>
          <a:p>
            <a:pPr algn="l">
              <a:lnSpc>
                <a:spcPct val="100000"/>
              </a:lnSpc>
              <a:spcAft>
                <a:spcPts val="600"/>
              </a:spcAft>
              <a:defRPr sz="2100" b="0">
                <a:solidFill>
                  <a:srgbClr val="222222"/>
                </a:solidFill>
                <a:latin typeface="Calibri"/>
              </a:defRPr>
            </a:pPr>
            <a:r>
              <a:rPr sz="2100" b="0">
                <a:solidFill>
                  <a:srgbClr val="222222"/>
                </a:solidFill>
                <a:latin typeface="Calibri"/>
              </a:rPr>
              <a:t>Send a stream of color messages into the first pixel. It keeps the FIRST message and passes the rest out to the next one, which does the same.</a:t>
            </a:r>
          </a:p>
          <a:p>
            <a:pPr algn="l">
              <a:lnSpc>
                <a:spcPct val="100000"/>
              </a:lnSpc>
              <a:spcAft>
                <a:spcPts val="600"/>
              </a:spcAft>
              <a:defRPr sz="2100" b="0">
                <a:solidFill>
                  <a:srgbClr val="222222"/>
                </a:solidFill>
                <a:latin typeface="Calibri"/>
              </a:defRPr>
            </a:pPr>
            <a:r>
              <a:rPr sz="2100" b="0">
                <a:solidFill>
                  <a:srgbClr val="222222"/>
                </a:solidFill>
                <a:latin typeface="Calibri"/>
              </a:rPr>
              <a:t>So ONE WIRE drives the whole chain. Our vehicle has 32 on GPIO 5, numbered in the order the data flows.</a:t>
            </a:r>
          </a:p>
        </p:txBody>
      </p:sp>
      <p:pic>
        <p:nvPicPr>
          <p:cNvPr id="7" name="Picture 6" descr="ws2812b-stick-8.jpg"/>
          <p:cNvPicPr>
            <a:picLocks noChangeAspect="1"/>
          </p:cNvPicPr>
          <p:nvPr/>
        </p:nvPicPr>
        <p:blipFill>
          <a:blip r:embed="rId2"/>
          <a:stretch>
            <a:fillRect/>
          </a:stretch>
        </p:blipFill>
        <p:spPr>
          <a:xfrm>
            <a:off x="8130587" y="1188720"/>
            <a:ext cx="3313185" cy="3291840"/>
          </a:xfrm>
          <a:prstGeom prst="rect">
            <a:avLst/>
          </a:prstGeom>
        </p:spPr>
      </p:pic>
      <p:sp>
        <p:nvSpPr>
          <p:cNvPr id="8" name="TextBox 7"/>
          <p:cNvSpPr txBox="1"/>
          <p:nvPr/>
        </p:nvSpPr>
        <p:spPr>
          <a:xfrm>
            <a:off x="8130587" y="4535424"/>
            <a:ext cx="3313185" cy="566928"/>
          </a:xfrm>
          <a:prstGeom prst="rect">
            <a:avLst/>
          </a:prstGeom>
          <a:noFill/>
        </p:spPr>
        <p:txBody>
          <a:bodyPr wrap="square" lIns="0" tIns="0" rIns="0" bIns="0">
            <a:spAutoFit/>
          </a:bodyPr>
          <a:lstStyle/>
          <a:p>
            <a:pPr algn="l">
              <a:lnSpc>
                <a:spcPct val="100000"/>
              </a:lnSpc>
              <a:spcAft>
                <a:spcPts val="200"/>
              </a:spcAft>
              <a:defRPr sz="1800" b="0">
                <a:solidFill>
                  <a:srgbClr val="666666"/>
                </a:solidFill>
                <a:latin typeface="Calibri"/>
              </a:defRPr>
            </a:pPr>
            <a:r>
              <a:rPr sz="1800" b="0">
                <a:solidFill>
                  <a:srgbClr val="666666"/>
                </a:solidFill>
                <a:latin typeface="Calibri"/>
              </a:rPr>
              <a:t>Eight WS2812Bs, front and back: 5 V, ground, DI, DO</a:t>
            </a:r>
          </a:p>
        </p:txBody>
      </p:sp>
      <p:sp>
        <p:nvSpPr>
          <p:cNvPr id="9" name="Rounded Rectangle 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In theory a chain can be any length. In practice the whole chain is refreshed every frame, so about 350 pixels is the limit before the refresh rate drops below 40 Hz.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wire, thirty-two lights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pic>
        <p:nvPicPr>
          <p:cNvPr id="6" name="Picture 5" descr="neopixel-chain-eight.png"/>
          <p:cNvPicPr>
            <a:picLocks noChangeAspect="1"/>
          </p:cNvPicPr>
          <p:nvPr/>
        </p:nvPicPr>
        <p:blipFill>
          <a:blip r:embed="rId3"/>
          <a:stretch>
            <a:fillRect/>
          </a:stretch>
        </p:blipFill>
        <p:spPr>
          <a:xfrm>
            <a:off x="502920" y="1963089"/>
            <a:ext cx="11185855" cy="1651661"/>
          </a:xfrm>
          <a:prstGeom prst="rect">
            <a:avLst/>
          </a:prstGeom>
        </p:spPr>
      </p:pic>
      <p:sp>
        <p:nvSpPr>
          <p:cNvPr id="7" name="TextBox 6"/>
          <p:cNvSpPr txBox="1"/>
          <p:nvPr/>
        </p:nvSpPr>
        <p:spPr>
          <a:xfrm>
            <a:off x="502920" y="3840480"/>
            <a:ext cx="11185855"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Each box is one NeoPixel: a controller chip and three LEDs, one red, one green and one blue. Eight are drawn here; your vehicle has 32.</a:t>
            </a:r>
          </a:p>
        </p:txBody>
      </p:sp>
      <p:sp>
        <p:nvSpPr>
          <p:cNvPr id="8" name="Rounded Rectangle 7"/>
          <p:cNvSpPr/>
          <p:nvPr/>
        </p:nvSpPr>
        <p:spPr>
          <a:xfrm>
            <a:off x="502920" y="4919472"/>
            <a:ext cx="11185855" cy="1344168"/>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Power and ground are RAILS - every pixel taps the same two wires. Data is a CHAIN - each pixel keeps the first message and passes the rest out to the next one. That is why one pin drives the whole strip, and why a break in the data line puts out every pixel after it and none before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whole NeoPixel API you need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Nine calls. Everything in Lesson 4 and everything in the vehicle program is built from these.</a:t>
            </a:r>
          </a:p>
        </p:txBody>
      </p:sp>
      <p:graphicFrame>
        <p:nvGraphicFramePr>
          <p:cNvPr id="7" name="Table 6"/>
          <p:cNvGraphicFramePr>
            <a:graphicFrameLocks noGrp="1"/>
          </p:cNvGraphicFramePr>
          <p:nvPr/>
        </p:nvGraphicFramePr>
        <p:xfrm>
          <a:off x="502920" y="1691640"/>
          <a:ext cx="11185854" cy="3381375"/>
        </p:xfrm>
        <a:graphic>
          <a:graphicData uri="http://schemas.openxmlformats.org/drawingml/2006/table">
            <a:tbl>
              <a:tblPr firstRow="1" bandRow="1">
                <a:tableStyleId>{5C22544A-7EE6-4342-B048-85BDC9FD1C3A}</a:tableStyleId>
              </a:tblPr>
              <a:tblGrid>
                <a:gridCol w="3457446"/>
                <a:gridCol w="7728408"/>
              </a:tblGrid>
              <a:tr h="338137">
                <a:tc>
                  <a:txBody>
                    <a:bodyPr/>
                    <a:lstStyle/>
                    <a:p>
                      <a:r>
                        <a:rPr sz="1650" b="1">
                          <a:solidFill>
                            <a:srgbClr val="FFFFFF"/>
                          </a:solidFill>
                          <a:latin typeface="Calibri"/>
                        </a:rPr>
                        <a:t>Call</a:t>
                      </a:r>
                    </a:p>
                  </a:txBody>
                  <a:tcPr marL="73152" marT="18288" marB="18288">
                    <a:solidFill>
                      <a:srgbClr val="1F3A5F"/>
                    </a:solidFill>
                  </a:tcPr>
                </a:tc>
                <a:tc>
                  <a:txBody>
                    <a:bodyPr/>
                    <a:lstStyle/>
                    <a:p>
                      <a:r>
                        <a:rPr sz="1650" b="1">
                          <a:solidFill>
                            <a:srgbClr val="FFFFFF"/>
                          </a:solidFill>
                          <a:latin typeface="Calibri"/>
                        </a:rPr>
                        <a:t>What it does</a:t>
                      </a:r>
                    </a:p>
                  </a:txBody>
                  <a:tcPr marL="73152" marT="18288" marB="18288">
                    <a:solidFill>
                      <a:srgbClr val="1F3A5F"/>
                    </a:solidFill>
                  </a:tcPr>
                </a:tc>
              </a:tr>
              <a:tr h="338137">
                <a:tc>
                  <a:txBody>
                    <a:bodyPr/>
                    <a:lstStyle/>
                    <a:p>
                      <a:r>
                        <a:rPr sz="1650">
                          <a:solidFill>
                            <a:srgbClr val="222222"/>
                          </a:solidFill>
                          <a:latin typeface="Consolas"/>
                        </a:rPr>
                        <a:t>strip.begin()</a:t>
                      </a:r>
                    </a:p>
                  </a:txBody>
                  <a:tcPr marL="73152" marT="18288" marB="18288">
                    <a:solidFill>
                      <a:srgbClr val="FFFFFF"/>
                    </a:solidFill>
                  </a:tcPr>
                </a:tc>
                <a:tc>
                  <a:txBody>
                    <a:bodyPr/>
                    <a:lstStyle/>
                    <a:p>
                      <a:r>
                        <a:rPr sz="1650">
                          <a:solidFill>
                            <a:srgbClr val="222222"/>
                          </a:solidFill>
                          <a:latin typeface="Calibri"/>
                        </a:rPr>
                        <a:t>Wakes the strip up. Once, in setup(). Always required.</a:t>
                      </a:r>
                    </a:p>
                  </a:txBody>
                  <a:tcPr marL="73152" marT="18288" marB="18288">
                    <a:solidFill>
                      <a:srgbClr val="FFFFFF"/>
                    </a:solidFill>
                  </a:tcPr>
                </a:tc>
              </a:tr>
              <a:tr h="338137">
                <a:tc>
                  <a:txBody>
                    <a:bodyPr/>
                    <a:lstStyle/>
                    <a:p>
                      <a:r>
                        <a:rPr sz="1650">
                          <a:solidFill>
                            <a:srgbClr val="222222"/>
                          </a:solidFill>
                          <a:latin typeface="Consolas"/>
                        </a:rPr>
                        <a:t>strip.setBrightness(n)</a:t>
                      </a:r>
                    </a:p>
                  </a:txBody>
                  <a:tcPr marL="73152" marT="18288" marB="18288">
                    <a:solidFill>
                      <a:srgbClr val="EEF3F8"/>
                    </a:solidFill>
                  </a:tcPr>
                </a:tc>
                <a:tc>
                  <a:txBody>
                    <a:bodyPr/>
                    <a:lstStyle/>
                    <a:p>
                      <a:r>
                        <a:rPr sz="1650">
                          <a:solidFill>
                            <a:srgbClr val="222222"/>
                          </a:solidFill>
                          <a:latin typeface="Calibri"/>
                        </a:rPr>
                        <a:t>Master scale, 0 to 255, applied to every pixel</a:t>
                      </a:r>
                    </a:p>
                  </a:txBody>
                  <a:tcPr marL="73152" marT="18288" marB="18288">
                    <a:solidFill>
                      <a:srgbClr val="EEF3F8"/>
                    </a:solidFill>
                  </a:tcPr>
                </a:tc>
              </a:tr>
              <a:tr h="338137">
                <a:tc>
                  <a:txBody>
                    <a:bodyPr/>
                    <a:lstStyle/>
                    <a:p>
                      <a:r>
                        <a:rPr sz="1650">
                          <a:solidFill>
                            <a:srgbClr val="222222"/>
                          </a:solidFill>
                          <a:latin typeface="Consolas"/>
                        </a:rPr>
                        <a:t>strip.Color(r, g, b)</a:t>
                      </a:r>
                    </a:p>
                  </a:txBody>
                  <a:tcPr marL="73152" marT="18288" marB="18288">
                    <a:solidFill>
                      <a:srgbClr val="FFFFFF"/>
                    </a:solidFill>
                  </a:tcPr>
                </a:tc>
                <a:tc>
                  <a:txBody>
                    <a:bodyPr/>
                    <a:lstStyle/>
                    <a:p>
                      <a:r>
                        <a:rPr sz="1650">
                          <a:solidFill>
                            <a:srgbClr val="222222"/>
                          </a:solidFill>
                          <a:latin typeface="Calibri"/>
                        </a:rPr>
                        <a:t>Packs three 0-255 numbers into one color value</a:t>
                      </a:r>
                    </a:p>
                  </a:txBody>
                  <a:tcPr marL="73152" marT="18288" marB="18288">
                    <a:solidFill>
                      <a:srgbClr val="FFFFFF"/>
                    </a:solidFill>
                  </a:tcPr>
                </a:tc>
              </a:tr>
              <a:tr h="338137">
                <a:tc>
                  <a:txBody>
                    <a:bodyPr/>
                    <a:lstStyle/>
                    <a:p>
                      <a:r>
                        <a:rPr sz="1650">
                          <a:solidFill>
                            <a:srgbClr val="222222"/>
                          </a:solidFill>
                          <a:latin typeface="Consolas"/>
                        </a:rPr>
                        <a:t>strip.setPixelColor(i, c)</a:t>
                      </a:r>
                    </a:p>
                  </a:txBody>
                  <a:tcPr marL="73152" marT="18288" marB="18288">
                    <a:solidFill>
                      <a:srgbClr val="EEF3F8"/>
                    </a:solidFill>
                  </a:tcPr>
                </a:tc>
                <a:tc>
                  <a:txBody>
                    <a:bodyPr/>
                    <a:lstStyle/>
                    <a:p>
                      <a:r>
                        <a:rPr sz="1650">
                          <a:solidFill>
                            <a:srgbClr val="222222"/>
                          </a:solidFill>
                          <a:latin typeface="Calibri"/>
                        </a:rPr>
                        <a:t>Sets pixel i - IN MEMORY ONLY</a:t>
                      </a:r>
                    </a:p>
                  </a:txBody>
                  <a:tcPr marL="73152" marT="18288" marB="18288">
                    <a:solidFill>
                      <a:srgbClr val="EEF3F8"/>
                    </a:solidFill>
                  </a:tcPr>
                </a:tc>
              </a:tr>
              <a:tr h="338137">
                <a:tc>
                  <a:txBody>
                    <a:bodyPr/>
                    <a:lstStyle/>
                    <a:p>
                      <a:r>
                        <a:rPr sz="1650">
                          <a:solidFill>
                            <a:srgbClr val="222222"/>
                          </a:solidFill>
                          <a:latin typeface="Consolas"/>
                        </a:rPr>
                        <a:t>strip.fill(c)</a:t>
                      </a:r>
                    </a:p>
                  </a:txBody>
                  <a:tcPr marL="73152" marT="18288" marB="18288">
                    <a:solidFill>
                      <a:srgbClr val="FFFFFF"/>
                    </a:solidFill>
                  </a:tcPr>
                </a:tc>
                <a:tc>
                  <a:txBody>
                    <a:bodyPr/>
                    <a:lstStyle/>
                    <a:p>
                      <a:r>
                        <a:rPr sz="1650">
                          <a:solidFill>
                            <a:srgbClr val="222222"/>
                          </a:solidFill>
                          <a:latin typeface="Calibri"/>
                        </a:rPr>
                        <a:t>Sets every pixel to the same color, in memory</a:t>
                      </a:r>
                    </a:p>
                  </a:txBody>
                  <a:tcPr marL="73152" marT="18288" marB="18288">
                    <a:solidFill>
                      <a:srgbClr val="FFFFFF"/>
                    </a:solidFill>
                  </a:tcPr>
                </a:tc>
              </a:tr>
              <a:tr h="338137">
                <a:tc>
                  <a:txBody>
                    <a:bodyPr/>
                    <a:lstStyle/>
                    <a:p>
                      <a:r>
                        <a:rPr sz="1650">
                          <a:solidFill>
                            <a:srgbClr val="222222"/>
                          </a:solidFill>
                          <a:latin typeface="Consolas"/>
                        </a:rPr>
                        <a:t>strip.clear()</a:t>
                      </a:r>
                    </a:p>
                  </a:txBody>
                  <a:tcPr marL="73152" marT="18288" marB="18288">
                    <a:solidFill>
                      <a:srgbClr val="EEF3F8"/>
                    </a:solidFill>
                  </a:tcPr>
                </a:tc>
                <a:tc>
                  <a:txBody>
                    <a:bodyPr/>
                    <a:lstStyle/>
                    <a:p>
                      <a:r>
                        <a:rPr sz="1650">
                          <a:solidFill>
                            <a:srgbClr val="222222"/>
                          </a:solidFill>
                          <a:latin typeface="Calibri"/>
                        </a:rPr>
                        <a:t>Sets every pixel to off, in memory</a:t>
                      </a:r>
                    </a:p>
                  </a:txBody>
                  <a:tcPr marL="73152" marT="18288" marB="18288">
                    <a:solidFill>
                      <a:srgbClr val="EEF3F8"/>
                    </a:solidFill>
                  </a:tcPr>
                </a:tc>
              </a:tr>
              <a:tr h="338137">
                <a:tc>
                  <a:txBody>
                    <a:bodyPr/>
                    <a:lstStyle/>
                    <a:p>
                      <a:r>
                        <a:rPr sz="1650">
                          <a:solidFill>
                            <a:srgbClr val="222222"/>
                          </a:solidFill>
                          <a:latin typeface="Consolas"/>
                        </a:rPr>
                        <a:t>strip.show()</a:t>
                      </a:r>
                    </a:p>
                  </a:txBody>
                  <a:tcPr marL="73152" marT="18288" marB="18288">
                    <a:solidFill>
                      <a:srgbClr val="FFFFFF"/>
                    </a:solidFill>
                  </a:tcPr>
                </a:tc>
                <a:tc>
                  <a:txBody>
                    <a:bodyPr/>
                    <a:lstStyle/>
                    <a:p>
                      <a:r>
                        <a:rPr sz="1650">
                          <a:solidFill>
                            <a:srgbClr val="222222"/>
                          </a:solidFill>
                          <a:latin typeface="Calibri"/>
                        </a:rPr>
                        <a:t>Sends the memory to the hardware. Nothing happens without it.</a:t>
                      </a:r>
                    </a:p>
                  </a:txBody>
                  <a:tcPr marL="73152" marT="18288" marB="18288">
                    <a:solidFill>
                      <a:srgbClr val="FFFFFF"/>
                    </a:solidFill>
                  </a:tcPr>
                </a:tc>
              </a:tr>
              <a:tr h="338137">
                <a:tc>
                  <a:txBody>
                    <a:bodyPr/>
                    <a:lstStyle/>
                    <a:p>
                      <a:r>
                        <a:rPr sz="1650">
                          <a:solidFill>
                            <a:srgbClr val="222222"/>
                          </a:solidFill>
                          <a:latin typeface="Consolas"/>
                        </a:rPr>
                        <a:t>strip.numPixels()</a:t>
                      </a:r>
                    </a:p>
                  </a:txBody>
                  <a:tcPr marL="73152" marT="18288" marB="18288">
                    <a:solidFill>
                      <a:srgbClr val="EEF3F8"/>
                    </a:solidFill>
                  </a:tcPr>
                </a:tc>
                <a:tc>
                  <a:txBody>
                    <a:bodyPr/>
                    <a:lstStyle/>
                    <a:p>
                      <a:r>
                        <a:rPr sz="1650">
                          <a:solidFill>
                            <a:srgbClr val="222222"/>
                          </a:solidFill>
                          <a:latin typeface="Calibri"/>
                        </a:rPr>
                        <a:t>How many there are - 32 here</a:t>
                      </a:r>
                    </a:p>
                  </a:txBody>
                  <a:tcPr marL="73152" marT="18288" marB="18288">
                    <a:solidFill>
                      <a:srgbClr val="EEF3F8"/>
                    </a:solidFill>
                  </a:tcPr>
                </a:tc>
              </a:tr>
              <a:tr h="338142">
                <a:tc>
                  <a:txBody>
                    <a:bodyPr/>
                    <a:lstStyle/>
                    <a:p>
                      <a:r>
                        <a:rPr sz="1650">
                          <a:solidFill>
                            <a:srgbClr val="222222"/>
                          </a:solidFill>
                          <a:latin typeface="Consolas"/>
                        </a:rPr>
                        <a:t>strip.gamma32(c)</a:t>
                      </a:r>
                    </a:p>
                  </a:txBody>
                  <a:tcPr marL="73152" marT="18288" marB="18288">
                    <a:solidFill>
                      <a:srgbClr val="FFFFFF"/>
                    </a:solidFill>
                  </a:tcPr>
                </a:tc>
                <a:tc>
                  <a:txBody>
                    <a:bodyPr/>
                    <a:lstStyle/>
                    <a:p>
                      <a:r>
                        <a:rPr sz="1650">
                          <a:solidFill>
                            <a:srgbClr val="222222"/>
                          </a:solidFill>
                          <a:latin typeface="Calibri"/>
                        </a:rPr>
                        <a:t>Corrects a color so fades look even to your eye</a:t>
                      </a:r>
                    </a:p>
                  </a:txBody>
                  <a:tcPr marL="73152" marT="18288" marB="18288">
                    <a:solidFill>
                      <a:srgbClr val="FFFFFF"/>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Six of those nine only touch memory. Exactly one of them, show(), changes what you can see.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pixel is three LEDs, and color is a mixture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pic>
        <p:nvPicPr>
          <p:cNvPr id="6" name="Picture 5" descr="rgb-additive-mixing.png"/>
          <p:cNvPicPr>
            <a:picLocks noChangeAspect="1"/>
          </p:cNvPicPr>
          <p:nvPr/>
        </p:nvPicPr>
        <p:blipFill>
          <a:blip r:embed="rId2"/>
          <a:stretch>
            <a:fillRect/>
          </a:stretch>
        </p:blipFill>
        <p:spPr>
          <a:xfrm>
            <a:off x="3924147" y="1188720"/>
            <a:ext cx="4343400" cy="4343400"/>
          </a:xfrm>
          <a:prstGeom prst="rect">
            <a:avLst/>
          </a:prstGeom>
        </p:spPr>
      </p:pic>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Red + green = yellow. All three at full = white. This is ADDITIVE mixing, and it is not how paint behaves.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colors, and what to write for each one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200"/>
              </a:spcAft>
              <a:defRPr sz="1200" b="0">
                <a:solidFill>
                  <a:srgbClr val="222222"/>
                </a:solidFill>
                <a:latin typeface="Calibri"/>
              </a:defRPr>
            </a:pPr>
            <a:r>
              <a:rPr sz="1200" b="0">
                <a:solidFill>
                  <a:srgbClr val="222222"/>
                </a:solidFill>
                <a:latin typeface="Calibri"/>
              </a:rPr>
              <a:t>Start from these, then change one number at a time and watch what it does. Nothing here is a magic value - every one is three numbers between 0 and 255.</a:t>
            </a:r>
          </a:p>
        </p:txBody>
      </p:sp>
      <p:graphicFrame>
        <p:nvGraphicFramePr>
          <p:cNvPr id="7" name="Table 6"/>
          <p:cNvGraphicFramePr>
            <a:graphicFrameLocks noGrp="1"/>
          </p:cNvGraphicFramePr>
          <p:nvPr/>
        </p:nvGraphicFramePr>
        <p:xfrm>
          <a:off x="502920" y="1691640"/>
          <a:ext cx="11185853" cy="3363912"/>
        </p:xfrm>
        <a:graphic>
          <a:graphicData uri="http://schemas.openxmlformats.org/drawingml/2006/table">
            <a:tbl>
              <a:tblPr firstRow="1" bandRow="1">
                <a:tableStyleId>{5C22544A-7EE6-4342-B048-85BDC9FD1C3A}</a:tableStyleId>
              </a:tblPr>
              <a:tblGrid>
                <a:gridCol w="3050687"/>
                <a:gridCol w="5592927"/>
                <a:gridCol w="2542239"/>
              </a:tblGrid>
              <a:tr h="258762">
                <a:tc>
                  <a:txBody>
                    <a:bodyPr/>
                    <a:lstStyle/>
                    <a:p>
                      <a:r>
                        <a:rPr sz="1150" b="1">
                          <a:solidFill>
                            <a:srgbClr val="FFFFFF"/>
                          </a:solidFill>
                          <a:latin typeface="Calibri"/>
                        </a:rPr>
                        <a:t>Color</a:t>
                      </a:r>
                    </a:p>
                  </a:txBody>
                  <a:tcPr marL="73152" marT="18288" marB="18288">
                    <a:solidFill>
                      <a:srgbClr val="1F3A5F"/>
                    </a:solidFill>
                  </a:tcPr>
                </a:tc>
                <a:tc>
                  <a:txBody>
                    <a:bodyPr/>
                    <a:lstStyle/>
                    <a:p>
                      <a:r>
                        <a:rPr sz="1150" b="1">
                          <a:solidFill>
                            <a:srgbClr val="FFFFFF"/>
                          </a:solidFill>
                          <a:latin typeface="Calibri"/>
                        </a:rPr>
                        <a:t>The call</a:t>
                      </a:r>
                    </a:p>
                  </a:txBody>
                  <a:tcPr marL="73152" marT="18288" marB="18288">
                    <a:solidFill>
                      <a:srgbClr val="1F3A5F"/>
                    </a:solidFill>
                  </a:tcPr>
                </a:tc>
                <a:tc>
                  <a:txBody>
                    <a:bodyPr/>
                    <a:lstStyle/>
                    <a:p>
                      <a:r>
                        <a:rPr sz="1150" b="1">
                          <a:solidFill>
                            <a:srgbClr val="FFFFFF"/>
                          </a:solidFill>
                          <a:latin typeface="Calibri"/>
                        </a:rPr>
                        <a:t>Channels lit</a:t>
                      </a:r>
                    </a:p>
                  </a:txBody>
                  <a:tcPr marL="73152" marT="18288" marB="18288">
                    <a:solidFill>
                      <a:srgbClr val="1F3A5F"/>
                    </a:solidFill>
                  </a:tcPr>
                </a:tc>
              </a:tr>
              <a:tr h="258762">
                <a:tc>
                  <a:txBody>
                    <a:bodyPr/>
                    <a:lstStyle/>
                    <a:p>
                      <a:r>
                        <a:rPr sz="1150">
                          <a:solidFill>
                            <a:srgbClr val="222222"/>
                          </a:solidFill>
                          <a:latin typeface="Calibri"/>
                        </a:rPr>
                        <a:t>Red</a:t>
                      </a:r>
                    </a:p>
                  </a:txBody>
                  <a:tcPr marL="73152" marT="18288" marB="18288">
                    <a:solidFill>
                      <a:srgbClr val="FFFFFF"/>
                    </a:solidFill>
                  </a:tcPr>
                </a:tc>
                <a:tc>
                  <a:txBody>
                    <a:bodyPr/>
                    <a:lstStyle/>
                    <a:p>
                      <a:r>
                        <a:rPr sz="1150">
                          <a:solidFill>
                            <a:srgbClr val="222222"/>
                          </a:solidFill>
                          <a:latin typeface="Calibri"/>
                        </a:rPr>
                        <a:t>strip.Color(255, 0, 0)</a:t>
                      </a:r>
                    </a:p>
                  </a:txBody>
                  <a:tcPr marL="73152" marT="18288" marB="18288">
                    <a:solidFill>
                      <a:srgbClr val="FFFFFF"/>
                    </a:solidFill>
                  </a:tcPr>
                </a:tc>
                <a:tc>
                  <a:txBody>
                    <a:bodyPr/>
                    <a:lstStyle/>
                    <a:p>
                      <a:r>
                        <a:rPr sz="1150">
                          <a:solidFill>
                            <a:srgbClr val="222222"/>
                          </a:solidFill>
                          <a:latin typeface="Calibri"/>
                        </a:rPr>
                        <a:t>1</a:t>
                      </a:r>
                    </a:p>
                  </a:txBody>
                  <a:tcPr marL="73152" marT="18288" marB="18288">
                    <a:solidFill>
                      <a:srgbClr val="FFFFFF"/>
                    </a:solidFill>
                  </a:tcPr>
                </a:tc>
              </a:tr>
              <a:tr h="258762">
                <a:tc>
                  <a:txBody>
                    <a:bodyPr/>
                    <a:lstStyle/>
                    <a:p>
                      <a:r>
                        <a:rPr sz="1150">
                          <a:solidFill>
                            <a:srgbClr val="222222"/>
                          </a:solidFill>
                          <a:latin typeface="Calibri"/>
                        </a:rPr>
                        <a:t>Green</a:t>
                      </a:r>
                    </a:p>
                  </a:txBody>
                  <a:tcPr marL="73152" marT="18288" marB="18288">
                    <a:solidFill>
                      <a:srgbClr val="EEF3F8"/>
                    </a:solidFill>
                  </a:tcPr>
                </a:tc>
                <a:tc>
                  <a:txBody>
                    <a:bodyPr/>
                    <a:lstStyle/>
                    <a:p>
                      <a:r>
                        <a:rPr sz="1150">
                          <a:solidFill>
                            <a:srgbClr val="222222"/>
                          </a:solidFill>
                          <a:latin typeface="Calibri"/>
                        </a:rPr>
                        <a:t>strip.Color(0, 255, 0)</a:t>
                      </a:r>
                    </a:p>
                  </a:txBody>
                  <a:tcPr marL="73152" marT="18288" marB="18288">
                    <a:solidFill>
                      <a:srgbClr val="EEF3F8"/>
                    </a:solidFill>
                  </a:tcPr>
                </a:tc>
                <a:tc>
                  <a:txBody>
                    <a:bodyPr/>
                    <a:lstStyle/>
                    <a:p>
                      <a:r>
                        <a:rPr sz="1150">
                          <a:solidFill>
                            <a:srgbClr val="222222"/>
                          </a:solidFill>
                          <a:latin typeface="Calibri"/>
                        </a:rPr>
                        <a:t>1</a:t>
                      </a:r>
                    </a:p>
                  </a:txBody>
                  <a:tcPr marL="73152" marT="18288" marB="18288">
                    <a:solidFill>
                      <a:srgbClr val="EEF3F8"/>
                    </a:solidFill>
                  </a:tcPr>
                </a:tc>
              </a:tr>
              <a:tr h="258762">
                <a:tc>
                  <a:txBody>
                    <a:bodyPr/>
                    <a:lstStyle/>
                    <a:p>
                      <a:r>
                        <a:rPr sz="1150">
                          <a:solidFill>
                            <a:srgbClr val="222222"/>
                          </a:solidFill>
                          <a:latin typeface="Calibri"/>
                        </a:rPr>
                        <a:t>Blue</a:t>
                      </a:r>
                    </a:p>
                  </a:txBody>
                  <a:tcPr marL="73152" marT="18288" marB="18288">
                    <a:solidFill>
                      <a:srgbClr val="FFFFFF"/>
                    </a:solidFill>
                  </a:tcPr>
                </a:tc>
                <a:tc>
                  <a:txBody>
                    <a:bodyPr/>
                    <a:lstStyle/>
                    <a:p>
                      <a:r>
                        <a:rPr sz="1150">
                          <a:solidFill>
                            <a:srgbClr val="222222"/>
                          </a:solidFill>
                          <a:latin typeface="Calibri"/>
                        </a:rPr>
                        <a:t>strip.Color(0, 0, 255)</a:t>
                      </a:r>
                    </a:p>
                  </a:txBody>
                  <a:tcPr marL="73152" marT="18288" marB="18288">
                    <a:solidFill>
                      <a:srgbClr val="FFFFFF"/>
                    </a:solidFill>
                  </a:tcPr>
                </a:tc>
                <a:tc>
                  <a:txBody>
                    <a:bodyPr/>
                    <a:lstStyle/>
                    <a:p>
                      <a:r>
                        <a:rPr sz="1150">
                          <a:solidFill>
                            <a:srgbClr val="222222"/>
                          </a:solidFill>
                          <a:latin typeface="Calibri"/>
                        </a:rPr>
                        <a:t>1</a:t>
                      </a:r>
                    </a:p>
                  </a:txBody>
                  <a:tcPr marL="73152" marT="18288" marB="18288">
                    <a:solidFill>
                      <a:srgbClr val="FFFFFF"/>
                    </a:solidFill>
                  </a:tcPr>
                </a:tc>
              </a:tr>
              <a:tr h="258762">
                <a:tc>
                  <a:txBody>
                    <a:bodyPr/>
                    <a:lstStyle/>
                    <a:p>
                      <a:r>
                        <a:rPr sz="1150">
                          <a:solidFill>
                            <a:srgbClr val="222222"/>
                          </a:solidFill>
                          <a:latin typeface="Calibri"/>
                        </a:rPr>
                        <a:t>Yellow</a:t>
                      </a:r>
                    </a:p>
                  </a:txBody>
                  <a:tcPr marL="73152" marT="18288" marB="18288">
                    <a:solidFill>
                      <a:srgbClr val="EEF3F8"/>
                    </a:solidFill>
                  </a:tcPr>
                </a:tc>
                <a:tc>
                  <a:txBody>
                    <a:bodyPr/>
                    <a:lstStyle/>
                    <a:p>
                      <a:r>
                        <a:rPr sz="1150">
                          <a:solidFill>
                            <a:srgbClr val="222222"/>
                          </a:solidFill>
                          <a:latin typeface="Calibri"/>
                        </a:rPr>
                        <a:t>strip.Color(255, 255, 0)</a:t>
                      </a:r>
                    </a:p>
                  </a:txBody>
                  <a:tcPr marL="73152" marT="18288" marB="18288">
                    <a:solidFill>
                      <a:srgbClr val="EEF3F8"/>
                    </a:solidFill>
                  </a:tcPr>
                </a:tc>
                <a:tc>
                  <a:txBody>
                    <a:bodyPr/>
                    <a:lstStyle/>
                    <a:p>
                      <a:r>
                        <a:rPr sz="1150">
                          <a:solidFill>
                            <a:srgbClr val="222222"/>
                          </a:solidFill>
                          <a:latin typeface="Calibri"/>
                        </a:rPr>
                        <a:t>2</a:t>
                      </a:r>
                    </a:p>
                  </a:txBody>
                  <a:tcPr marL="73152" marT="18288" marB="18288">
                    <a:solidFill>
                      <a:srgbClr val="EEF3F8"/>
                    </a:solidFill>
                  </a:tcPr>
                </a:tc>
              </a:tr>
              <a:tr h="258762">
                <a:tc>
                  <a:txBody>
                    <a:bodyPr/>
                    <a:lstStyle/>
                    <a:p>
                      <a:r>
                        <a:rPr sz="1150">
                          <a:solidFill>
                            <a:srgbClr val="222222"/>
                          </a:solidFill>
                          <a:latin typeface="Calibri"/>
                        </a:rPr>
                        <a:t>Cyan</a:t>
                      </a:r>
                    </a:p>
                  </a:txBody>
                  <a:tcPr marL="73152" marT="18288" marB="18288">
                    <a:solidFill>
                      <a:srgbClr val="FFFFFF"/>
                    </a:solidFill>
                  </a:tcPr>
                </a:tc>
                <a:tc>
                  <a:txBody>
                    <a:bodyPr/>
                    <a:lstStyle/>
                    <a:p>
                      <a:r>
                        <a:rPr sz="1150">
                          <a:solidFill>
                            <a:srgbClr val="222222"/>
                          </a:solidFill>
                          <a:latin typeface="Calibri"/>
                        </a:rPr>
                        <a:t>strip.Color(0, 255, 255)</a:t>
                      </a:r>
                    </a:p>
                  </a:txBody>
                  <a:tcPr marL="73152" marT="18288" marB="18288">
                    <a:solidFill>
                      <a:srgbClr val="FFFFFF"/>
                    </a:solidFill>
                  </a:tcPr>
                </a:tc>
                <a:tc>
                  <a:txBody>
                    <a:bodyPr/>
                    <a:lstStyle/>
                    <a:p>
                      <a:r>
                        <a:rPr sz="1150">
                          <a:solidFill>
                            <a:srgbClr val="222222"/>
                          </a:solidFill>
                          <a:latin typeface="Calibri"/>
                        </a:rPr>
                        <a:t>2</a:t>
                      </a:r>
                    </a:p>
                  </a:txBody>
                  <a:tcPr marL="73152" marT="18288" marB="18288">
                    <a:solidFill>
                      <a:srgbClr val="FFFFFF"/>
                    </a:solidFill>
                  </a:tcPr>
                </a:tc>
              </a:tr>
              <a:tr h="258762">
                <a:tc>
                  <a:txBody>
                    <a:bodyPr/>
                    <a:lstStyle/>
                    <a:p>
                      <a:r>
                        <a:rPr sz="1150">
                          <a:solidFill>
                            <a:srgbClr val="222222"/>
                          </a:solidFill>
                          <a:latin typeface="Calibri"/>
                        </a:rPr>
                        <a:t>Magenta</a:t>
                      </a:r>
                    </a:p>
                  </a:txBody>
                  <a:tcPr marL="73152" marT="18288" marB="18288">
                    <a:solidFill>
                      <a:srgbClr val="EEF3F8"/>
                    </a:solidFill>
                  </a:tcPr>
                </a:tc>
                <a:tc>
                  <a:txBody>
                    <a:bodyPr/>
                    <a:lstStyle/>
                    <a:p>
                      <a:r>
                        <a:rPr sz="1150">
                          <a:solidFill>
                            <a:srgbClr val="222222"/>
                          </a:solidFill>
                          <a:latin typeface="Calibri"/>
                        </a:rPr>
                        <a:t>strip.Color(255, 0, 255)</a:t>
                      </a:r>
                    </a:p>
                  </a:txBody>
                  <a:tcPr marL="73152" marT="18288" marB="18288">
                    <a:solidFill>
                      <a:srgbClr val="EEF3F8"/>
                    </a:solidFill>
                  </a:tcPr>
                </a:tc>
                <a:tc>
                  <a:txBody>
                    <a:bodyPr/>
                    <a:lstStyle/>
                    <a:p>
                      <a:r>
                        <a:rPr sz="1150">
                          <a:solidFill>
                            <a:srgbClr val="222222"/>
                          </a:solidFill>
                          <a:latin typeface="Calibri"/>
                        </a:rPr>
                        <a:t>2</a:t>
                      </a:r>
                    </a:p>
                  </a:txBody>
                  <a:tcPr marL="73152" marT="18288" marB="18288">
                    <a:solidFill>
                      <a:srgbClr val="EEF3F8"/>
                    </a:solidFill>
                  </a:tcPr>
                </a:tc>
              </a:tr>
              <a:tr h="258762">
                <a:tc>
                  <a:txBody>
                    <a:bodyPr/>
                    <a:lstStyle/>
                    <a:p>
                      <a:r>
                        <a:rPr sz="1150">
                          <a:solidFill>
                            <a:srgbClr val="222222"/>
                          </a:solidFill>
                          <a:latin typeface="Calibri"/>
                        </a:rPr>
                        <a:t>Orange</a:t>
                      </a:r>
                    </a:p>
                  </a:txBody>
                  <a:tcPr marL="73152" marT="18288" marB="18288">
                    <a:solidFill>
                      <a:srgbClr val="FFFFFF"/>
                    </a:solidFill>
                  </a:tcPr>
                </a:tc>
                <a:tc>
                  <a:txBody>
                    <a:bodyPr/>
                    <a:lstStyle/>
                    <a:p>
                      <a:r>
                        <a:rPr sz="1150">
                          <a:solidFill>
                            <a:srgbClr val="222222"/>
                          </a:solidFill>
                          <a:latin typeface="Calibri"/>
                        </a:rPr>
                        <a:t>strip.Color(255, 100, 0)</a:t>
                      </a:r>
                    </a:p>
                  </a:txBody>
                  <a:tcPr marL="73152" marT="18288" marB="18288">
                    <a:solidFill>
                      <a:srgbClr val="FFFFFF"/>
                    </a:solidFill>
                  </a:tcPr>
                </a:tc>
                <a:tc>
                  <a:txBody>
                    <a:bodyPr/>
                    <a:lstStyle/>
                    <a:p>
                      <a:r>
                        <a:rPr sz="1150">
                          <a:solidFill>
                            <a:srgbClr val="222222"/>
                          </a:solidFill>
                          <a:latin typeface="Calibri"/>
                        </a:rPr>
                        <a:t>2</a:t>
                      </a:r>
                    </a:p>
                  </a:txBody>
                  <a:tcPr marL="73152" marT="18288" marB="18288">
                    <a:solidFill>
                      <a:srgbClr val="FFFFFF"/>
                    </a:solidFill>
                  </a:tcPr>
                </a:tc>
              </a:tr>
              <a:tr h="258762">
                <a:tc>
                  <a:txBody>
                    <a:bodyPr/>
                    <a:lstStyle/>
                    <a:p>
                      <a:r>
                        <a:rPr sz="1150">
                          <a:solidFill>
                            <a:srgbClr val="222222"/>
                          </a:solidFill>
                          <a:latin typeface="Calibri"/>
                        </a:rPr>
                        <a:t>Purple</a:t>
                      </a:r>
                    </a:p>
                  </a:txBody>
                  <a:tcPr marL="73152" marT="18288" marB="18288">
                    <a:solidFill>
                      <a:srgbClr val="EEF3F8"/>
                    </a:solidFill>
                  </a:tcPr>
                </a:tc>
                <a:tc>
                  <a:txBody>
                    <a:bodyPr/>
                    <a:lstStyle/>
                    <a:p>
                      <a:r>
                        <a:rPr sz="1150">
                          <a:solidFill>
                            <a:srgbClr val="222222"/>
                          </a:solidFill>
                          <a:latin typeface="Calibri"/>
                        </a:rPr>
                        <a:t>strip.Color(128, 0, 255)</a:t>
                      </a:r>
                    </a:p>
                  </a:txBody>
                  <a:tcPr marL="73152" marT="18288" marB="18288">
                    <a:solidFill>
                      <a:srgbClr val="EEF3F8"/>
                    </a:solidFill>
                  </a:tcPr>
                </a:tc>
                <a:tc>
                  <a:txBody>
                    <a:bodyPr/>
                    <a:lstStyle/>
                    <a:p>
                      <a:r>
                        <a:rPr sz="1150">
                          <a:solidFill>
                            <a:srgbClr val="222222"/>
                          </a:solidFill>
                          <a:latin typeface="Calibri"/>
                        </a:rPr>
                        <a:t>2</a:t>
                      </a:r>
                    </a:p>
                  </a:txBody>
                  <a:tcPr marL="73152" marT="18288" marB="18288">
                    <a:solidFill>
                      <a:srgbClr val="EEF3F8"/>
                    </a:solidFill>
                  </a:tcPr>
                </a:tc>
              </a:tr>
              <a:tr h="258762">
                <a:tc>
                  <a:txBody>
                    <a:bodyPr/>
                    <a:lstStyle/>
                    <a:p>
                      <a:r>
                        <a:rPr sz="1150">
                          <a:solidFill>
                            <a:srgbClr val="222222"/>
                          </a:solidFill>
                          <a:latin typeface="Calibri"/>
                        </a:rPr>
                        <a:t>Pink</a:t>
                      </a:r>
                    </a:p>
                  </a:txBody>
                  <a:tcPr marL="73152" marT="18288" marB="18288">
                    <a:solidFill>
                      <a:srgbClr val="FFFFFF"/>
                    </a:solidFill>
                  </a:tcPr>
                </a:tc>
                <a:tc>
                  <a:txBody>
                    <a:bodyPr/>
                    <a:lstStyle/>
                    <a:p>
                      <a:r>
                        <a:rPr sz="1150">
                          <a:solidFill>
                            <a:srgbClr val="222222"/>
                          </a:solidFill>
                          <a:latin typeface="Calibri"/>
                        </a:rPr>
                        <a:t>strip.Color(255, 100, 100)</a:t>
                      </a:r>
                    </a:p>
                  </a:txBody>
                  <a:tcPr marL="73152" marT="18288" marB="18288">
                    <a:solidFill>
                      <a:srgbClr val="FFFFFF"/>
                    </a:solidFill>
                  </a:tcPr>
                </a:tc>
                <a:tc>
                  <a:txBody>
                    <a:bodyPr/>
                    <a:lstStyle/>
                    <a:p>
                      <a:r>
                        <a:rPr sz="1150">
                          <a:solidFill>
                            <a:srgbClr val="222222"/>
                          </a:solidFill>
                          <a:latin typeface="Calibri"/>
                        </a:rPr>
                        <a:t>3</a:t>
                      </a:r>
                    </a:p>
                  </a:txBody>
                  <a:tcPr marL="73152" marT="18288" marB="18288">
                    <a:solidFill>
                      <a:srgbClr val="FFFFFF"/>
                    </a:solidFill>
                  </a:tcPr>
                </a:tc>
              </a:tr>
              <a:tr h="258762">
                <a:tc>
                  <a:txBody>
                    <a:bodyPr/>
                    <a:lstStyle/>
                    <a:p>
                      <a:r>
                        <a:rPr sz="1150">
                          <a:solidFill>
                            <a:srgbClr val="222222"/>
                          </a:solidFill>
                          <a:latin typeface="Calibri"/>
                        </a:rPr>
                        <a:t>White</a:t>
                      </a:r>
                    </a:p>
                  </a:txBody>
                  <a:tcPr marL="73152" marT="18288" marB="18288">
                    <a:solidFill>
                      <a:srgbClr val="EEF3F8"/>
                    </a:solidFill>
                  </a:tcPr>
                </a:tc>
                <a:tc>
                  <a:txBody>
                    <a:bodyPr/>
                    <a:lstStyle/>
                    <a:p>
                      <a:r>
                        <a:rPr sz="1150">
                          <a:solidFill>
                            <a:srgbClr val="222222"/>
                          </a:solidFill>
                          <a:latin typeface="Calibri"/>
                        </a:rPr>
                        <a:t>strip.Color(255, 255, 255)</a:t>
                      </a:r>
                    </a:p>
                  </a:txBody>
                  <a:tcPr marL="73152" marT="18288" marB="18288">
                    <a:solidFill>
                      <a:srgbClr val="EEF3F8"/>
                    </a:solidFill>
                  </a:tcPr>
                </a:tc>
                <a:tc>
                  <a:txBody>
                    <a:bodyPr/>
                    <a:lstStyle/>
                    <a:p>
                      <a:r>
                        <a:rPr sz="1150">
                          <a:solidFill>
                            <a:srgbClr val="222222"/>
                          </a:solidFill>
                          <a:latin typeface="Calibri"/>
                        </a:rPr>
                        <a:t>3</a:t>
                      </a:r>
                    </a:p>
                  </a:txBody>
                  <a:tcPr marL="73152" marT="18288" marB="18288">
                    <a:solidFill>
                      <a:srgbClr val="EEF3F8"/>
                    </a:solidFill>
                  </a:tcPr>
                </a:tc>
              </a:tr>
              <a:tr h="258762">
                <a:tc>
                  <a:txBody>
                    <a:bodyPr/>
                    <a:lstStyle/>
                    <a:p>
                      <a:r>
                        <a:rPr sz="1150">
                          <a:solidFill>
                            <a:srgbClr val="222222"/>
                          </a:solidFill>
                          <a:latin typeface="Calibri"/>
                        </a:rPr>
                        <a:t>Warm white</a:t>
                      </a:r>
                    </a:p>
                  </a:txBody>
                  <a:tcPr marL="73152" marT="18288" marB="18288">
                    <a:solidFill>
                      <a:srgbClr val="FFFFFF"/>
                    </a:solidFill>
                  </a:tcPr>
                </a:tc>
                <a:tc>
                  <a:txBody>
                    <a:bodyPr/>
                    <a:lstStyle/>
                    <a:p>
                      <a:r>
                        <a:rPr sz="1150">
                          <a:solidFill>
                            <a:srgbClr val="222222"/>
                          </a:solidFill>
                          <a:latin typeface="Calibri"/>
                        </a:rPr>
                        <a:t>strip.Color(255, 160, 80)</a:t>
                      </a:r>
                    </a:p>
                  </a:txBody>
                  <a:tcPr marL="73152" marT="18288" marB="18288">
                    <a:solidFill>
                      <a:srgbClr val="FFFFFF"/>
                    </a:solidFill>
                  </a:tcPr>
                </a:tc>
                <a:tc>
                  <a:txBody>
                    <a:bodyPr/>
                    <a:lstStyle/>
                    <a:p>
                      <a:r>
                        <a:rPr sz="1150">
                          <a:solidFill>
                            <a:srgbClr val="222222"/>
                          </a:solidFill>
                          <a:latin typeface="Calibri"/>
                        </a:rPr>
                        <a:t>3</a:t>
                      </a:r>
                    </a:p>
                  </a:txBody>
                  <a:tcPr marL="73152" marT="18288" marB="18288">
                    <a:solidFill>
                      <a:srgbClr val="FFFFFF"/>
                    </a:solidFill>
                  </a:tcPr>
                </a:tc>
              </a:tr>
              <a:tr h="258768">
                <a:tc>
                  <a:txBody>
                    <a:bodyPr/>
                    <a:lstStyle/>
                    <a:p>
                      <a:r>
                        <a:rPr sz="1150">
                          <a:solidFill>
                            <a:srgbClr val="222222"/>
                          </a:solidFill>
                          <a:latin typeface="Calibri"/>
                        </a:rPr>
                        <a:t>Off</a:t>
                      </a:r>
                    </a:p>
                  </a:txBody>
                  <a:tcPr marL="73152" marT="18288" marB="18288">
                    <a:solidFill>
                      <a:srgbClr val="EEF3F8"/>
                    </a:solidFill>
                  </a:tcPr>
                </a:tc>
                <a:tc>
                  <a:txBody>
                    <a:bodyPr/>
                    <a:lstStyle/>
                    <a:p>
                      <a:r>
                        <a:rPr sz="1150">
                          <a:solidFill>
                            <a:srgbClr val="222222"/>
                          </a:solidFill>
                          <a:latin typeface="Calibri"/>
                        </a:rPr>
                        <a:t>strip.Color(0, 0, 0)</a:t>
                      </a:r>
                    </a:p>
                  </a:txBody>
                  <a:tcPr marL="73152" marT="18288" marB="18288">
                    <a:solidFill>
                      <a:srgbClr val="EEF3F8"/>
                    </a:solidFill>
                  </a:tcPr>
                </a:tc>
                <a:tc>
                  <a:txBody>
                    <a:bodyPr/>
                    <a:lstStyle/>
                    <a:p>
                      <a:r>
                        <a:rPr sz="1150">
                          <a:solidFill>
                            <a:srgbClr val="222222"/>
                          </a:solidFill>
                          <a:latin typeface="Calibri"/>
                        </a:rPr>
                        <a:t>0</a:t>
                      </a:r>
                    </a:p>
                  </a:txBody>
                  <a:tcPr marL="73152" marT="18288" marB="18288">
                    <a:solidFill>
                      <a:srgbClr val="EEF3F8"/>
                    </a:solidFill>
                  </a:tcPr>
                </a:tc>
              </a:tr>
            </a:tbl>
          </a:graphicData>
        </a:graphic>
      </p:graphicFrame>
      <p:sp>
        <p:nvSpPr>
          <p:cNvPr id="8" name="Rounded Rectangle 7"/>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third column is the power budget in disguise. Orange costs twice what red does, and white costs three times - which is why a strip set to white is the one that browns out a battery.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How your eye turns wavelengths into color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5050413"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physics</a:t>
            </a:r>
          </a:p>
        </p:txBody>
      </p:sp>
      <p:sp>
        <p:nvSpPr>
          <p:cNvPr id="7" name="TextBox 6"/>
          <p:cNvSpPr txBox="1"/>
          <p:nvPr/>
        </p:nvSpPr>
        <p:spPr>
          <a:xfrm>
            <a:off x="502920" y="1700784"/>
            <a:ext cx="5050413" cy="3369564"/>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Visible light runs from about 380 nanometers, which you see as violet, to about 750, which you see as deep red.</a:t>
            </a:r>
          </a:p>
          <a:p>
            <a:pPr lvl="1" algn="l">
              <a:lnSpc>
                <a:spcPct val="100000"/>
              </a:lnSpc>
              <a:spcAft>
                <a:spcPts val="800"/>
              </a:spcAft>
              <a:defRPr sz="1800" b="0">
                <a:solidFill>
                  <a:srgbClr val="222222"/>
                </a:solidFill>
                <a:latin typeface="Calibri"/>
              </a:defRPr>
            </a:pPr>
            <a:r>
              <a:rPr sz="1800" b="0">
                <a:solidFill>
                  <a:srgbClr val="222222"/>
                </a:solidFill>
                <a:latin typeface="Calibri"/>
              </a:rPr>
              <a:t>Red      625 - 740 nm</a:t>
            </a:r>
          </a:p>
          <a:p>
            <a:pPr lvl="1" algn="l">
              <a:lnSpc>
                <a:spcPct val="100000"/>
              </a:lnSpc>
              <a:spcAft>
                <a:spcPts val="800"/>
              </a:spcAft>
              <a:defRPr sz="1800" b="0">
                <a:solidFill>
                  <a:srgbClr val="222222"/>
                </a:solidFill>
                <a:latin typeface="Calibri"/>
              </a:defRPr>
            </a:pPr>
            <a:r>
              <a:rPr sz="1800" b="0">
                <a:solidFill>
                  <a:srgbClr val="222222"/>
                </a:solidFill>
                <a:latin typeface="Calibri"/>
              </a:rPr>
              <a:t>Yellow   565 - 590 nm</a:t>
            </a:r>
          </a:p>
          <a:p>
            <a:pPr lvl="1" algn="l">
              <a:lnSpc>
                <a:spcPct val="100000"/>
              </a:lnSpc>
              <a:spcAft>
                <a:spcPts val="800"/>
              </a:spcAft>
              <a:defRPr sz="1800" b="0">
                <a:solidFill>
                  <a:srgbClr val="222222"/>
                </a:solidFill>
                <a:latin typeface="Calibri"/>
              </a:defRPr>
            </a:pPr>
            <a:r>
              <a:rPr sz="1800" b="0">
                <a:solidFill>
                  <a:srgbClr val="222222"/>
                </a:solidFill>
                <a:latin typeface="Calibri"/>
              </a:rPr>
              <a:t>Green    500 - 565 nm</a:t>
            </a:r>
          </a:p>
          <a:p>
            <a:pPr lvl="1" algn="l">
              <a:lnSpc>
                <a:spcPct val="100000"/>
              </a:lnSpc>
              <a:spcAft>
                <a:spcPts val="800"/>
              </a:spcAft>
              <a:defRPr sz="1800" b="0">
                <a:solidFill>
                  <a:srgbClr val="222222"/>
                </a:solidFill>
                <a:latin typeface="Calibri"/>
              </a:defRPr>
            </a:pPr>
            <a:r>
              <a:rPr sz="1800" b="0">
                <a:solidFill>
                  <a:srgbClr val="222222"/>
                </a:solidFill>
                <a:latin typeface="Calibri"/>
              </a:rPr>
              <a:t>Blue     440 - 485 nm</a:t>
            </a:r>
          </a:p>
          <a:p>
            <a:pPr lvl="1" algn="l">
              <a:lnSpc>
                <a:spcPct val="100000"/>
              </a:lnSpc>
              <a:spcAft>
                <a:spcPts val="800"/>
              </a:spcAft>
              <a:defRPr sz="1800" b="0">
                <a:solidFill>
                  <a:srgbClr val="222222"/>
                </a:solidFill>
                <a:latin typeface="Calibri"/>
              </a:defRPr>
            </a:pPr>
            <a:r>
              <a:rPr sz="1800" b="0">
                <a:solidFill>
                  <a:srgbClr val="222222"/>
                </a:solidFill>
                <a:latin typeface="Calibri"/>
              </a:rPr>
              <a:t>Violet   380 - 440 nm</a:t>
            </a:r>
          </a:p>
          <a:p>
            <a:pPr algn="l">
              <a:lnSpc>
                <a:spcPct val="100000"/>
              </a:lnSpc>
              <a:spcAft>
                <a:spcPts val="800"/>
              </a:spcAft>
              <a:defRPr sz="1800" b="0">
                <a:solidFill>
                  <a:srgbClr val="222222"/>
                </a:solidFill>
                <a:latin typeface="Calibri"/>
              </a:defRPr>
            </a:pPr>
            <a:r>
              <a:rPr sz="1800" b="0">
                <a:solidFill>
                  <a:srgbClr val="222222"/>
                </a:solidFill>
                <a:latin typeface="Calibri"/>
              </a:rPr>
              <a:t>A single LED emits one narrow band.</a:t>
            </a:r>
          </a:p>
        </p:txBody>
      </p:sp>
      <p:sp>
        <p:nvSpPr>
          <p:cNvPr id="8" name="TextBox 7"/>
          <p:cNvSpPr txBox="1"/>
          <p:nvPr/>
        </p:nvSpPr>
        <p:spPr>
          <a:xfrm>
            <a:off x="6010533" y="1188720"/>
            <a:ext cx="5678242"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biology</a:t>
            </a:r>
          </a:p>
        </p:txBody>
      </p:sp>
      <p:sp>
        <p:nvSpPr>
          <p:cNvPr id="9" name="TextBox 8"/>
          <p:cNvSpPr txBox="1"/>
          <p:nvPr/>
        </p:nvSpPr>
        <p:spPr>
          <a:xfrm>
            <a:off x="6010533" y="1700784"/>
            <a:ext cx="5678242" cy="3369564"/>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Your retina has three kinds of cone cell, each most sensitive to a different wavelength: long, medium and short - or red, green and blue.</a:t>
            </a:r>
          </a:p>
          <a:p>
            <a:pPr algn="l">
              <a:lnSpc>
                <a:spcPct val="100000"/>
              </a:lnSpc>
              <a:spcAft>
                <a:spcPts val="800"/>
              </a:spcAft>
              <a:defRPr sz="1800" b="0">
                <a:solidFill>
                  <a:srgbClr val="222222"/>
                </a:solidFill>
                <a:latin typeface="Calibri"/>
              </a:defRPr>
            </a:pPr>
            <a:r>
              <a:rPr sz="1800" b="0">
                <a:solidFill>
                  <a:srgbClr val="222222"/>
                </a:solidFill>
                <a:latin typeface="Calibri"/>
              </a:rPr>
              <a:t>Your brain compares them, which is called OPPONENCY.</a:t>
            </a:r>
          </a:p>
          <a:p>
            <a:pPr algn="l">
              <a:lnSpc>
                <a:spcPct val="100000"/>
              </a:lnSpc>
              <a:spcAft>
                <a:spcPts val="800"/>
              </a:spcAft>
              <a:defRPr sz="1800" b="0">
                <a:solidFill>
                  <a:srgbClr val="222222"/>
                </a:solidFill>
                <a:latin typeface="Calibri"/>
              </a:defRPr>
            </a:pPr>
            <a:r>
              <a:rPr sz="1800" b="0">
                <a:solidFill>
                  <a:srgbClr val="222222"/>
                </a:solidFill>
                <a:latin typeface="Calibri"/>
              </a:rPr>
              <a:t>So three LEDs can fake every color you can see. They do not make yellow light - they make red and green light in the ratio that makes your cones report yellow.</a:t>
            </a:r>
          </a:p>
          <a:p>
            <a:pPr algn="l">
              <a:lnSpc>
                <a:spcPct val="100000"/>
              </a:lnSpc>
              <a:spcAft>
                <a:spcPts val="800"/>
              </a:spcAft>
              <a:defRPr sz="1800" b="0">
                <a:solidFill>
                  <a:srgbClr val="222222"/>
                </a:solidFill>
                <a:latin typeface="Calibri"/>
              </a:defRPr>
            </a:pPr>
            <a:r>
              <a:rPr sz="1800" b="0">
                <a:solidFill>
                  <a:srgbClr val="222222"/>
                </a:solidFill>
                <a:latin typeface="Calibri"/>
              </a:rPr>
              <a:t>Dogs have two cone types. Some birds have four.</a:t>
            </a:r>
          </a:p>
        </p:txBody>
      </p:sp>
      <p:sp>
        <p:nvSpPr>
          <p:cNvPr id="10" name="Rounded Rectangle 9"/>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Magenta and pink are not on the spectrum at all. There is no single wavelength for them - they exist only as mixtures, which means they are made by your brain rather than by the light.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setBrightness is not the same as a smaller color value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Two different dimmers</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There are two ways to make an LED dimmer, and they are not interchangeable.</a:t>
            </a:r>
          </a:p>
          <a:p>
            <a:pPr algn="l">
              <a:lnSpc>
                <a:spcPct val="100000"/>
              </a:lnSpc>
              <a:spcAft>
                <a:spcPts val="900"/>
              </a:spcAft>
              <a:defRPr sz="95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strip.Color(60, 0, 0) sets the RED channel to a quarter. The green and blue channels are untouched. This changes the COLOR you asked for.</a:t>
            </a:r>
          </a:p>
          <a:p>
            <a:pPr algn="l">
              <a:lnSpc>
                <a:spcPct val="100000"/>
              </a:lnSpc>
              <a:spcAft>
                <a:spcPts val="900"/>
              </a:spcAft>
              <a:defRPr sz="95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strip.setBrightness(60) scales EVERY channel of EVERY pixel on the way out. It changes how bright the whole strip is without changing any of the colors you set.</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1800" b="0">
                <a:solidFill>
                  <a:srgbClr val="222222"/>
                </a:solidFill>
                <a:latin typeface="Calibri"/>
              </a:defRPr>
            </a:pPr>
            <a:r>
              <a:rPr sz="1800" b="0">
                <a:solidFill>
                  <a:srgbClr val="222222"/>
                </a:solidFill>
                <a:latin typeface="Calibri"/>
              </a:rPr>
              <a:t>Two things worth knowing about setBrightness:</a:t>
            </a:r>
          </a:p>
          <a:p>
            <a:pPr lvl="1" algn="l">
              <a:lnSpc>
                <a:spcPct val="100000"/>
              </a:lnSpc>
              <a:spcAft>
                <a:spcPts val="900"/>
              </a:spcAft>
              <a:defRPr sz="1800" b="0">
                <a:solidFill>
                  <a:srgbClr val="222222"/>
                </a:solidFill>
                <a:latin typeface="Calibri"/>
              </a:defRPr>
            </a:pPr>
            <a:r>
              <a:rPr sz="1800" b="0">
                <a:solidFill>
                  <a:srgbClr val="222222"/>
                </a:solidFill>
                <a:latin typeface="Calibri"/>
              </a:rPr>
              <a:t>It is applied when show() is called, so changing it does nothing until the next show().</a:t>
            </a:r>
          </a:p>
          <a:p>
            <a:pPr lvl="1" algn="l">
              <a:lnSpc>
                <a:spcPct val="100000"/>
              </a:lnSpc>
              <a:spcAft>
                <a:spcPts val="900"/>
              </a:spcAft>
              <a:defRPr sz="1800" b="0">
                <a:solidFill>
                  <a:srgbClr val="222222"/>
                </a:solidFill>
                <a:latin typeface="Calibri"/>
              </a:defRPr>
            </a:pPr>
            <a:r>
              <a:rPr sz="1800" b="0">
                <a:solidFill>
                  <a:srgbClr val="222222"/>
                </a:solidFill>
                <a:latin typeface="Calibri"/>
              </a:rPr>
              <a:t>It is LOSSY. Set a pixel to 4, scale by 60/255, and it rounds to 0. Very dim colors disappear rather than getting dimmer, which is why a fade can end abruptly.</a:t>
            </a:r>
          </a:p>
          <a:p>
            <a:pPr algn="l">
              <a:lnSpc>
                <a:spcPct val="100000"/>
              </a:lnSpc>
              <a:spcAft>
                <a:spcPts val="900"/>
              </a:spcAft>
              <a:defRPr sz="900" b="0">
                <a:solidFill>
                  <a:srgbClr val="222222"/>
                </a:solidFill>
                <a:latin typeface="Calibri"/>
              </a:defRPr>
            </a:pPr>
          </a:p>
          <a:p>
            <a:pPr algn="l">
              <a:lnSpc>
                <a:spcPct val="100000"/>
              </a:lnSpc>
              <a:spcAft>
                <a:spcPts val="900"/>
              </a:spcAft>
              <a:defRPr sz="1800" b="0">
                <a:solidFill>
                  <a:srgbClr val="222222"/>
                </a:solidFill>
                <a:latin typeface="Calibri"/>
              </a:defRPr>
            </a:pPr>
            <a:r>
              <a:rPr sz="1800" b="0">
                <a:solidFill>
                  <a:srgbClr val="222222"/>
                </a:solidFill>
                <a:latin typeface="Calibri"/>
              </a:rPr>
              <a:t>Rule of thumb: use setBrightness once, in setup(), to fix the overall level for the room and the power budget. Use the color values for everything else.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700" b="1">
                <a:solidFill>
                  <a:srgbClr val="1F3A5F"/>
                </a:solidFill>
                <a:latin typeface="Calibri"/>
              </a:defRPr>
            </a:pPr>
            <a:r>
              <a:rPr sz="2700" b="1">
                <a:solidFill>
                  <a:srgbClr val="1F3A5F"/>
                </a:solidFill>
                <a:latin typeface="Calibri"/>
              </a:rPr>
              <a:t>The power budget  -  read this before turning the brightness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TextBox 5"/>
          <p:cNvSpPr txBox="1"/>
          <p:nvPr/>
        </p:nvSpPr>
        <p:spPr>
          <a:xfrm>
            <a:off x="502920" y="1188720"/>
            <a:ext cx="4972924"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arithmetic</a:t>
            </a:r>
          </a:p>
        </p:txBody>
      </p:sp>
      <p:sp>
        <p:nvSpPr>
          <p:cNvPr id="7" name="TextBox 6"/>
          <p:cNvSpPr txBox="1"/>
          <p:nvPr/>
        </p:nvSpPr>
        <p:spPr>
          <a:xfrm>
            <a:off x="502920" y="1700784"/>
            <a:ext cx="4972924"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Each of the three LEDs inside a pixel draws about 20 mA at full brightness.</a:t>
            </a:r>
          </a:p>
          <a:p>
            <a:pPr lvl="1" algn="l">
              <a:lnSpc>
                <a:spcPct val="100000"/>
              </a:lnSpc>
              <a:spcAft>
                <a:spcPts val="800"/>
              </a:spcAft>
              <a:defRPr sz="1900" b="0">
                <a:solidFill>
                  <a:srgbClr val="222222"/>
                </a:solidFill>
                <a:latin typeface="Calibri"/>
              </a:defRPr>
            </a:pPr>
            <a:r>
              <a:rPr sz="1900" b="0">
                <a:solidFill>
                  <a:srgbClr val="222222"/>
                </a:solidFill>
                <a:latin typeface="Calibri"/>
              </a:rPr>
              <a:t>One pixel, full white:  3 x 20 = 60 mA</a:t>
            </a:r>
          </a:p>
          <a:p>
            <a:pPr lvl="1" algn="l">
              <a:lnSpc>
                <a:spcPct val="100000"/>
              </a:lnSpc>
              <a:spcAft>
                <a:spcPts val="800"/>
              </a:spcAft>
              <a:defRPr sz="1900" b="0">
                <a:solidFill>
                  <a:srgbClr val="222222"/>
                </a:solidFill>
                <a:latin typeface="Calibri"/>
              </a:defRPr>
            </a:pPr>
            <a:r>
              <a:rPr sz="1900" b="0">
                <a:solidFill>
                  <a:srgbClr val="222222"/>
                </a:solidFill>
                <a:latin typeface="Calibri"/>
              </a:rPr>
              <a:t>All 32, full white:  32 x 60 = 1920 mA</a:t>
            </a:r>
          </a:p>
          <a:p>
            <a:pPr lvl="1" algn="l">
              <a:lnSpc>
                <a:spcPct val="100000"/>
              </a:lnSpc>
              <a:spcAft>
                <a:spcPts val="800"/>
              </a:spcAft>
              <a:defRPr sz="1900" b="0">
                <a:solidFill>
                  <a:srgbClr val="222222"/>
                </a:solidFill>
                <a:latin typeface="Calibri"/>
              </a:defRPr>
            </a:pPr>
            <a:r>
              <a:rPr sz="1900" b="0">
                <a:solidFill>
                  <a:srgbClr val="222222"/>
                </a:solidFill>
                <a:latin typeface="Calibri"/>
              </a:rPr>
              <a:t>Nearly two amps.</a:t>
            </a:r>
          </a:p>
          <a:p>
            <a:pPr lvl="1" algn="l">
              <a:lnSpc>
                <a:spcPct val="100000"/>
              </a:lnSpc>
              <a:spcAft>
                <a:spcPts val="800"/>
              </a:spcAft>
              <a:defRPr sz="1900" b="0">
                <a:solidFill>
                  <a:srgbClr val="222222"/>
                </a:solidFill>
                <a:latin typeface="Calibri"/>
              </a:defRPr>
            </a:pPr>
            <a:r>
              <a:rPr sz="1900" b="0">
                <a:solidFill>
                  <a:srgbClr val="222222"/>
                </a:solidFill>
                <a:latin typeface="Calibri"/>
              </a:rPr>
              <a:t>At 5 volts:  1920 mA x 5 V = 9.6 watts</a:t>
            </a:r>
          </a:p>
          <a:p>
            <a:pPr algn="l">
              <a:lnSpc>
                <a:spcPct val="100000"/>
              </a:lnSpc>
              <a:spcAft>
                <a:spcPts val="800"/>
              </a:spcAft>
              <a:defRPr sz="1900" b="0">
                <a:solidFill>
                  <a:srgbClr val="222222"/>
                </a:solidFill>
                <a:latin typeface="Calibri"/>
              </a:defRPr>
            </a:pPr>
            <a:r>
              <a:rPr sz="1900" b="0">
                <a:solidFill>
                  <a:srgbClr val="222222"/>
                </a:solidFill>
                <a:latin typeface="Calibri"/>
              </a:rPr>
              <a:t>That is real heat through a small board.</a:t>
            </a:r>
          </a:p>
        </p:txBody>
      </p:sp>
      <p:sp>
        <p:nvSpPr>
          <p:cNvPr id="8" name="TextBox 7"/>
          <p:cNvSpPr txBox="1"/>
          <p:nvPr/>
        </p:nvSpPr>
        <p:spPr>
          <a:xfrm>
            <a:off x="5933044" y="1188720"/>
            <a:ext cx="5755731"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keeps it sane</a:t>
            </a:r>
          </a:p>
        </p:txBody>
      </p:sp>
      <p:sp>
        <p:nvSpPr>
          <p:cNvPr id="9" name="TextBox 8"/>
          <p:cNvSpPr txBox="1"/>
          <p:nvPr/>
        </p:nvSpPr>
        <p:spPr>
          <a:xfrm>
            <a:off x="5933044" y="1700784"/>
            <a:ext cx="5755731"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setBrightness() scales EVERY pixel before it is sent. At 60 out of 255 you draw about a quarter of the worst case.</a:t>
            </a:r>
          </a:p>
          <a:p>
            <a:pPr algn="l">
              <a:lnSpc>
                <a:spcPct val="100000"/>
              </a:lnSpc>
              <a:spcAft>
                <a:spcPts val="800"/>
              </a:spcAft>
              <a:defRPr sz="1900" b="0">
                <a:solidFill>
                  <a:srgbClr val="222222"/>
                </a:solidFill>
                <a:latin typeface="Calibri"/>
              </a:defRPr>
            </a:pPr>
            <a:r>
              <a:rPr sz="1900" b="0">
                <a:solidFill>
                  <a:srgbClr val="222222"/>
                </a:solidFill>
                <a:latin typeface="Calibri"/>
              </a:rPr>
              <a:t>Colored light is cheaper than white. Pure red lights one channel of the three, so it costs about a third.</a:t>
            </a:r>
          </a:p>
          <a:p>
            <a:pPr algn="l">
              <a:lnSpc>
                <a:spcPct val="100000"/>
              </a:lnSpc>
              <a:spcAft>
                <a:spcPts val="800"/>
              </a:spcAft>
              <a:defRPr sz="1900" b="0">
                <a:solidFill>
                  <a:srgbClr val="222222"/>
                </a:solidFill>
                <a:latin typeface="Calibri"/>
              </a:defRPr>
            </a:pPr>
            <a:r>
              <a:rPr sz="1900" b="0">
                <a:solidFill>
                  <a:srgbClr val="222222"/>
                </a:solidFill>
                <a:latin typeface="Calibri"/>
              </a:rPr>
              <a:t>Which is why the vehicle programs run at about 120 rather than 255, and why full white across all 32 is used for a moment and never held.</a:t>
            </a:r>
          </a:p>
        </p:txBody>
      </p:sp>
      <p:sp>
        <p:nvSpPr>
          <p:cNvPr id="10" name="Rounded Rectangle 9"/>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Power = voltage x current. Energy from the battery becomes light and heat, and the ratio is not as favorable as you would hope.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Ohm's law, and the power law you need for the LEDs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TextBox 5"/>
          <p:cNvSpPr txBox="1"/>
          <p:nvPr/>
        </p:nvSpPr>
        <p:spPr>
          <a:xfrm>
            <a:off x="1143000" y="1124712"/>
            <a:ext cx="274320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OHM'S LAW</a:t>
            </a:r>
          </a:p>
        </p:txBody>
      </p:sp>
      <p:sp>
        <p:nvSpPr>
          <p:cNvPr id="7" name="Isosceles Triangle 6"/>
          <p:cNvSpPr/>
          <p:nvPr/>
        </p:nvSpPr>
        <p:spPr>
          <a:xfrm>
            <a:off x="1143000" y="1508760"/>
            <a:ext cx="2743200" cy="2011680"/>
          </a:xfrm>
          <a:prstGeom prst="triangle">
            <a:avLst/>
          </a:prstGeom>
          <a:solidFill>
            <a:srgbClr val="D6ECEE"/>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200"/>
              </a:spcAft>
              <a:defRPr sz="900" b="0">
                <a:solidFill>
                  <a:srgbClr val="222222"/>
                </a:solidFill>
                <a:latin typeface="Calibri"/>
              </a:defRPr>
            </a:pPr>
          </a:p>
        </p:txBody>
      </p:sp>
      <p:cxnSp>
        <p:nvCxnSpPr>
          <p:cNvPr id="8" name="Connector 7"/>
          <p:cNvCxnSpPr/>
          <p:nvPr/>
        </p:nvCxnSpPr>
        <p:spPr>
          <a:xfrm>
            <a:off x="1709928" y="2635300"/>
            <a:ext cx="1609344" cy="0"/>
          </a:xfrm>
          <a:prstGeom prst="line">
            <a:avLst/>
          </a:prstGeom>
          <a:ln w="22225">
            <a:solidFill>
              <a:srgbClr val="0E7C8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43000" y="1892808"/>
            <a:ext cx="2743200" cy="491744"/>
          </a:xfrm>
          <a:prstGeom prst="rect">
            <a:avLst/>
          </a:prstGeom>
          <a:noFill/>
        </p:spPr>
        <p:txBody>
          <a:bodyPr wrap="square" lIns="0" tIns="0" rIns="0" bIns="0">
            <a:spAutoFit/>
          </a:bodyPr>
          <a:lstStyle/>
          <a:p>
            <a:pPr algn="ctr">
              <a:lnSpc>
                <a:spcPct val="100000"/>
              </a:lnSpc>
              <a:spcAft>
                <a:spcPts val="100"/>
              </a:spcAft>
              <a:defRPr sz="2600" b="1">
                <a:solidFill>
                  <a:srgbClr val="1F3A5F"/>
                </a:solidFill>
                <a:latin typeface="Calibri"/>
              </a:defRPr>
            </a:pPr>
            <a:r>
              <a:rPr sz="2600" b="1">
                <a:solidFill>
                  <a:srgbClr val="1F3A5F"/>
                </a:solidFill>
                <a:latin typeface="Calibri"/>
              </a:rPr>
              <a:t>V</a:t>
            </a:r>
          </a:p>
        </p:txBody>
      </p:sp>
      <p:sp>
        <p:nvSpPr>
          <p:cNvPr id="10" name="TextBox 9"/>
          <p:cNvSpPr txBox="1"/>
          <p:nvPr/>
        </p:nvSpPr>
        <p:spPr>
          <a:xfrm>
            <a:off x="146304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I</a:t>
            </a:r>
          </a:p>
        </p:txBody>
      </p:sp>
      <p:sp>
        <p:nvSpPr>
          <p:cNvPr id="11" name="TextBox 10"/>
          <p:cNvSpPr txBox="1"/>
          <p:nvPr/>
        </p:nvSpPr>
        <p:spPr>
          <a:xfrm>
            <a:off x="274320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R</a:t>
            </a:r>
          </a:p>
        </p:txBody>
      </p:sp>
      <p:sp>
        <p:nvSpPr>
          <p:cNvPr id="12" name="Rectangle 11"/>
          <p:cNvSpPr/>
          <p:nvPr/>
        </p:nvSpPr>
        <p:spPr>
          <a:xfrm>
            <a:off x="1005840" y="3794760"/>
            <a:ext cx="3017520" cy="9144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V = I x R</a:t>
            </a:r>
          </a:p>
          <a:p>
            <a:pPr algn="ctr">
              <a:lnSpc>
                <a:spcPct val="100000"/>
              </a:lnSpc>
              <a:spcAft>
                <a:spcPts val="0"/>
              </a:spcAft>
              <a:defRPr sz="1400" b="0">
                <a:solidFill>
                  <a:srgbClr val="222222"/>
                </a:solidFill>
                <a:latin typeface="Consolas"/>
              </a:defRPr>
            </a:pPr>
            <a:r>
              <a:rPr sz="1400" b="0">
                <a:solidFill>
                  <a:srgbClr val="222222"/>
                </a:solidFill>
                <a:latin typeface="Consolas"/>
              </a:rPr>
              <a:t>I = V / R</a:t>
            </a:r>
          </a:p>
          <a:p>
            <a:pPr algn="ctr">
              <a:lnSpc>
                <a:spcPct val="100000"/>
              </a:lnSpc>
              <a:spcAft>
                <a:spcPts val="0"/>
              </a:spcAft>
              <a:defRPr sz="1400" b="0">
                <a:solidFill>
                  <a:srgbClr val="222222"/>
                </a:solidFill>
                <a:latin typeface="Consolas"/>
              </a:defRPr>
            </a:pPr>
            <a:r>
              <a:rPr sz="1400" b="0">
                <a:solidFill>
                  <a:srgbClr val="222222"/>
                </a:solidFill>
                <a:latin typeface="Consolas"/>
              </a:rPr>
              <a:t>R = V / I</a:t>
            </a:r>
          </a:p>
        </p:txBody>
      </p:sp>
      <p:sp>
        <p:nvSpPr>
          <p:cNvPr id="13" name="TextBox 12"/>
          <p:cNvSpPr txBox="1"/>
          <p:nvPr/>
        </p:nvSpPr>
        <p:spPr>
          <a:xfrm>
            <a:off x="1005840" y="4818888"/>
            <a:ext cx="301752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V  volts     I  amps     R  ohms</a:t>
            </a:r>
          </a:p>
        </p:txBody>
      </p:sp>
      <p:sp>
        <p:nvSpPr>
          <p:cNvPr id="14" name="TextBox 13"/>
          <p:cNvSpPr txBox="1"/>
          <p:nvPr/>
        </p:nvSpPr>
        <p:spPr>
          <a:xfrm>
            <a:off x="6812280" y="1124712"/>
            <a:ext cx="2743200" cy="367792"/>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POWER LAW</a:t>
            </a:r>
          </a:p>
        </p:txBody>
      </p:sp>
      <p:sp>
        <p:nvSpPr>
          <p:cNvPr id="15" name="Isosceles Triangle 14"/>
          <p:cNvSpPr/>
          <p:nvPr/>
        </p:nvSpPr>
        <p:spPr>
          <a:xfrm>
            <a:off x="6812280" y="1508760"/>
            <a:ext cx="2743200" cy="2011680"/>
          </a:xfrm>
          <a:prstGeom prst="triangl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200"/>
              </a:spcAft>
              <a:defRPr sz="900" b="0">
                <a:solidFill>
                  <a:srgbClr val="222222"/>
                </a:solidFill>
                <a:latin typeface="Calibri"/>
              </a:defRPr>
            </a:pPr>
          </a:p>
        </p:txBody>
      </p:sp>
      <p:cxnSp>
        <p:nvCxnSpPr>
          <p:cNvPr id="16" name="Connector 15"/>
          <p:cNvCxnSpPr/>
          <p:nvPr/>
        </p:nvCxnSpPr>
        <p:spPr>
          <a:xfrm>
            <a:off x="7379208" y="2635300"/>
            <a:ext cx="1609344" cy="0"/>
          </a:xfrm>
          <a:prstGeom prst="line">
            <a:avLst/>
          </a:prstGeom>
          <a:ln w="22225">
            <a:solidFill>
              <a:srgbClr val="B46A0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12280" y="1892808"/>
            <a:ext cx="2743200" cy="491744"/>
          </a:xfrm>
          <a:prstGeom prst="rect">
            <a:avLst/>
          </a:prstGeom>
          <a:noFill/>
        </p:spPr>
        <p:txBody>
          <a:bodyPr wrap="square" lIns="0" tIns="0" rIns="0" bIns="0">
            <a:spAutoFit/>
          </a:bodyPr>
          <a:lstStyle/>
          <a:p>
            <a:pPr algn="ctr">
              <a:lnSpc>
                <a:spcPct val="100000"/>
              </a:lnSpc>
              <a:spcAft>
                <a:spcPts val="100"/>
              </a:spcAft>
              <a:defRPr sz="2600" b="1">
                <a:solidFill>
                  <a:srgbClr val="1F3A5F"/>
                </a:solidFill>
                <a:latin typeface="Calibri"/>
              </a:defRPr>
            </a:pPr>
            <a:r>
              <a:rPr sz="2600" b="1">
                <a:solidFill>
                  <a:srgbClr val="1F3A5F"/>
                </a:solidFill>
                <a:latin typeface="Calibri"/>
              </a:rPr>
              <a:t>P</a:t>
            </a:r>
          </a:p>
        </p:txBody>
      </p:sp>
      <p:sp>
        <p:nvSpPr>
          <p:cNvPr id="18" name="TextBox 17"/>
          <p:cNvSpPr txBox="1"/>
          <p:nvPr/>
        </p:nvSpPr>
        <p:spPr>
          <a:xfrm>
            <a:off x="713232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I</a:t>
            </a:r>
          </a:p>
        </p:txBody>
      </p:sp>
      <p:sp>
        <p:nvSpPr>
          <p:cNvPr id="19" name="TextBox 18"/>
          <p:cNvSpPr txBox="1"/>
          <p:nvPr/>
        </p:nvSpPr>
        <p:spPr>
          <a:xfrm>
            <a:off x="841248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V</a:t>
            </a:r>
          </a:p>
        </p:txBody>
      </p:sp>
      <p:sp>
        <p:nvSpPr>
          <p:cNvPr id="20" name="Rectangle 19"/>
          <p:cNvSpPr/>
          <p:nvPr/>
        </p:nvSpPr>
        <p:spPr>
          <a:xfrm>
            <a:off x="6675120" y="3794760"/>
            <a:ext cx="3017520" cy="9144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P = I x V</a:t>
            </a:r>
          </a:p>
          <a:p>
            <a:pPr algn="ctr">
              <a:lnSpc>
                <a:spcPct val="100000"/>
              </a:lnSpc>
              <a:spcAft>
                <a:spcPts val="0"/>
              </a:spcAft>
              <a:defRPr sz="1400" b="0">
                <a:solidFill>
                  <a:srgbClr val="222222"/>
                </a:solidFill>
                <a:latin typeface="Consolas"/>
              </a:defRPr>
            </a:pPr>
            <a:r>
              <a:rPr sz="1400" b="0">
                <a:solidFill>
                  <a:srgbClr val="222222"/>
                </a:solidFill>
                <a:latin typeface="Consolas"/>
              </a:rPr>
              <a:t>I = P / V</a:t>
            </a:r>
          </a:p>
          <a:p>
            <a:pPr algn="ctr">
              <a:lnSpc>
                <a:spcPct val="100000"/>
              </a:lnSpc>
              <a:spcAft>
                <a:spcPts val="0"/>
              </a:spcAft>
              <a:defRPr sz="1400" b="0">
                <a:solidFill>
                  <a:srgbClr val="222222"/>
                </a:solidFill>
                <a:latin typeface="Consolas"/>
              </a:defRPr>
            </a:pPr>
            <a:r>
              <a:rPr sz="1400" b="0">
                <a:solidFill>
                  <a:srgbClr val="222222"/>
                </a:solidFill>
                <a:latin typeface="Consolas"/>
              </a:rPr>
              <a:t>V = P / I</a:t>
            </a:r>
          </a:p>
        </p:txBody>
      </p:sp>
      <p:sp>
        <p:nvSpPr>
          <p:cNvPr id="21" name="TextBox 20"/>
          <p:cNvSpPr txBox="1"/>
          <p:nvPr/>
        </p:nvSpPr>
        <p:spPr>
          <a:xfrm>
            <a:off x="6675120" y="4818888"/>
            <a:ext cx="301752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P  watts     I  amps     V  volts</a:t>
            </a:r>
          </a:p>
        </p:txBody>
      </p:sp>
      <p:sp>
        <p:nvSpPr>
          <p:cNvPr id="22" name="Rectangle 21"/>
          <p:cNvSpPr/>
          <p:nvPr/>
        </p:nvSpPr>
        <p:spPr>
          <a:xfrm>
            <a:off x="4297680" y="1325880"/>
            <a:ext cx="2194560" cy="3657600"/>
          </a:xfrm>
          <a:prstGeom prst="rect">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ONE NEOPIXEL</a:t>
            </a:r>
          </a:p>
          <a:p>
            <a:pPr algn="ctr">
              <a:lnSpc>
                <a:spcPct val="100000"/>
              </a:lnSpc>
              <a:spcAft>
                <a:spcPts val="0"/>
              </a:spcAft>
              <a:defRPr sz="1800" b="0">
                <a:solidFill>
                  <a:srgbClr val="222222"/>
                </a:solidFill>
                <a:latin typeface="Calibri"/>
              </a:defRPr>
            </a:pPr>
            <a:r>
              <a:rPr sz="1800" b="0">
                <a:solidFill>
                  <a:srgbClr val="222222"/>
                </a:solidFill>
                <a:latin typeface="Calibri"/>
              </a:rPr>
              <a:t>at full white</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3 LEDs x 20 mA</a:t>
            </a:r>
          </a:p>
          <a:p>
            <a:pPr algn="ctr">
              <a:lnSpc>
                <a:spcPct val="100000"/>
              </a:lnSpc>
              <a:spcAft>
                <a:spcPts val="0"/>
              </a:spcAft>
              <a:defRPr sz="1800" b="0">
                <a:solidFill>
                  <a:srgbClr val="222222"/>
                </a:solidFill>
                <a:latin typeface="Calibri"/>
              </a:defRPr>
            </a:pPr>
            <a:r>
              <a:rPr sz="1800" b="0">
                <a:solidFill>
                  <a:srgbClr val="222222"/>
                </a:solidFill>
                <a:latin typeface="Calibri"/>
              </a:rPr>
              <a:t>= 60 mA</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P = I x V</a:t>
            </a:r>
          </a:p>
          <a:p>
            <a:pPr algn="ctr">
              <a:lnSpc>
                <a:spcPct val="100000"/>
              </a:lnSpc>
              <a:spcAft>
                <a:spcPts val="0"/>
              </a:spcAft>
              <a:defRPr sz="1800" b="0">
                <a:solidFill>
                  <a:srgbClr val="222222"/>
                </a:solidFill>
                <a:latin typeface="Calibri"/>
              </a:defRPr>
            </a:pPr>
            <a:r>
              <a:rPr sz="1800" b="0">
                <a:solidFill>
                  <a:srgbClr val="222222"/>
                </a:solidFill>
                <a:latin typeface="Calibri"/>
              </a:rPr>
              <a:t>= 0.06 x 5</a:t>
            </a:r>
          </a:p>
          <a:p>
            <a:pPr algn="ctr">
              <a:lnSpc>
                <a:spcPct val="100000"/>
              </a:lnSpc>
              <a:spcAft>
                <a:spcPts val="0"/>
              </a:spcAft>
              <a:defRPr sz="1800" b="0">
                <a:solidFill>
                  <a:srgbClr val="222222"/>
                </a:solidFill>
                <a:latin typeface="Calibri"/>
              </a:defRPr>
            </a:pPr>
            <a:r>
              <a:rPr sz="1800" b="0">
                <a:solidFill>
                  <a:srgbClr val="222222"/>
                </a:solidFill>
                <a:latin typeface="Calibri"/>
              </a:rPr>
              <a:t>= 0.3 W</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x 32 pixels</a:t>
            </a:r>
          </a:p>
          <a:p>
            <a:pPr algn="ctr">
              <a:lnSpc>
                <a:spcPct val="100000"/>
              </a:lnSpc>
              <a:spcAft>
                <a:spcPts val="0"/>
              </a:spcAft>
              <a:defRPr sz="1800" b="0">
                <a:solidFill>
                  <a:srgbClr val="222222"/>
                </a:solidFill>
                <a:latin typeface="Calibri"/>
              </a:defRPr>
            </a:pPr>
            <a:r>
              <a:rPr sz="1800" b="0">
                <a:solidFill>
                  <a:srgbClr val="222222"/>
                </a:solidFill>
                <a:latin typeface="Calibri"/>
              </a:rPr>
              <a:t>= 1.92 A</a:t>
            </a:r>
          </a:p>
          <a:p>
            <a:pPr algn="ctr">
              <a:lnSpc>
                <a:spcPct val="100000"/>
              </a:lnSpc>
              <a:spcAft>
                <a:spcPts val="0"/>
              </a:spcAft>
              <a:defRPr sz="1800" b="0">
                <a:solidFill>
                  <a:srgbClr val="222222"/>
                </a:solidFill>
                <a:latin typeface="Calibri"/>
              </a:defRPr>
            </a:pPr>
            <a:r>
              <a:rPr sz="1800" b="0">
                <a:solidFill>
                  <a:srgbClr val="222222"/>
                </a:solidFill>
                <a:latin typeface="Calibri"/>
              </a:rPr>
              <a:t>= 9.6 W</a:t>
            </a:r>
          </a:p>
        </p:txBody>
      </p:sp>
      <p:sp>
        <p:nvSpPr>
          <p:cNvPr id="23" name="Rounded Rectangle 22"/>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Cover the quantity you want with your thumb and the triangle shows you the sum. These two turn up again in the LED budget, the shunt resistor, and how long your battery lasts.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The power budget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Addressable LEDs</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The power budget</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6168998"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LED map</a:t>
            </a:r>
          </a:p>
        </p:txBody>
      </p:sp>
      <p:sp>
        <p:nvSpPr>
          <p:cNvPr id="12" name="Rounded Rectangle 11"/>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Patterns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all 32, one color at a time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l4a_all_one_color</a:t>
            </a:r>
            <a:r>
              <a:rPr sz="1200">
                <a:solidFill>
                  <a:srgbClr val="FFFFFF"/>
                </a:solidFill>
                <a:latin typeface="Calibri"/>
              </a:rPr>
              <a:t>     (20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1.  Upload it. Watch both the vehicle and the Serial Monitor.</a:t>
            </a:r>
          </a:p>
          <a:p>
            <a:pPr algn="l">
              <a:lnSpc>
                <a:spcPct val="100000"/>
              </a:lnSpc>
              <a:spcAft>
                <a:spcPts val="800"/>
              </a:spcAft>
              <a:defRPr sz="1800" b="0">
                <a:solidFill>
                  <a:srgbClr val="222222"/>
                </a:solidFill>
                <a:latin typeface="Calibri"/>
              </a:defRPr>
            </a:pPr>
            <a:r>
              <a:rPr sz="1800" b="0">
                <a:solidFill>
                  <a:srgbClr val="222222"/>
                </a:solidFill>
                <a:latin typeface="Calibri"/>
              </a:rPr>
              <a:t>2.  Note the estimated current for each color. Which is cheapest? Which is most expensive? Why?</a:t>
            </a:r>
          </a:p>
          <a:p>
            <a:pPr algn="l">
              <a:lnSpc>
                <a:spcPct val="100000"/>
              </a:lnSpc>
              <a:spcAft>
                <a:spcPts val="800"/>
              </a:spcAft>
              <a:defRPr sz="1800" b="0">
                <a:solidFill>
                  <a:srgbClr val="222222"/>
                </a:solidFill>
                <a:latin typeface="Calibri"/>
              </a:defRPr>
            </a:pPr>
            <a:r>
              <a:rPr sz="1800" b="0">
                <a:solidFill>
                  <a:srgbClr val="222222"/>
                </a:solidFill>
                <a:latin typeface="Calibri"/>
              </a:rPr>
              <a:t>3.  Change BRIGHTNESS to 255 and upload. After a minute of white, put your hand near the LED bars - carefully.</a:t>
            </a:r>
          </a:p>
          <a:p>
            <a:pPr algn="l">
              <a:lnSpc>
                <a:spcPct val="100000"/>
              </a:lnSpc>
              <a:spcAft>
                <a:spcPts val="800"/>
              </a:spcAft>
              <a:defRPr sz="1800" b="0">
                <a:solidFill>
                  <a:srgbClr val="222222"/>
                </a:solidFill>
                <a:latin typeface="Calibri"/>
              </a:defRPr>
            </a:pPr>
            <a:r>
              <a:rPr sz="1800" b="0">
                <a:solidFill>
                  <a:srgbClr val="222222"/>
                </a:solidFill>
                <a:latin typeface="Calibri"/>
              </a:rPr>
              <a:t>4.  Put it back to 60.</a:t>
            </a:r>
          </a:p>
          <a:p>
            <a:pPr algn="l">
              <a:lnSpc>
                <a:spcPct val="100000"/>
              </a:lnSpc>
              <a:spcAft>
                <a:spcPts val="800"/>
              </a:spcAft>
              <a:defRPr sz="1800" b="0">
                <a:solidFill>
                  <a:srgbClr val="222222"/>
                </a:solidFill>
                <a:latin typeface="Calibri"/>
              </a:defRPr>
            </a:pPr>
            <a:r>
              <a:rPr sz="1800" b="0">
                <a:solidFill>
                  <a:srgbClr val="222222"/>
                </a:solidFill>
                <a:latin typeface="Calibri"/>
              </a:rPr>
              <a:t>5.  Change the for loop to  i = i + 2. What happens, and why?</a:t>
            </a:r>
          </a:p>
          <a:p>
            <a:pPr algn="l">
              <a:lnSpc>
                <a:spcPct val="100000"/>
              </a:lnSpc>
              <a:spcAft>
                <a:spcPts val="800"/>
              </a:spcAft>
              <a:defRPr sz="1800" b="0">
                <a:solidFill>
                  <a:srgbClr val="222222"/>
                </a:solidFill>
                <a:latin typeface="Calibri"/>
              </a:defRPr>
            </a:pPr>
            <a:r>
              <a:rPr sz="1800" b="0">
                <a:solidFill>
                  <a:srgbClr val="222222"/>
                </a:solidFill>
                <a:latin typeface="Calibri"/>
              </a:rPr>
              <a:t>6.  Replace the whole loop with ONE line:  strip.fill(c);  then strip.show(). Same result, six lines shorter.</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458305"/>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All 32 LEDs cycling through seven colors and off, with the estimated current printed for each.</a:t>
            </a:r>
          </a:p>
        </p:txBody>
      </p:sp>
      <p:sp>
        <p:nvSpPr>
          <p:cNvPr id="10" name="TextBox 9"/>
          <p:cNvSpPr txBox="1"/>
          <p:nvPr/>
        </p:nvSpPr>
        <p:spPr>
          <a:xfrm>
            <a:off x="7163537" y="3835745"/>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238081"/>
            <a:ext cx="4525238" cy="2025558"/>
          </a:xfrm>
          <a:prstGeom prst="rect">
            <a:avLst/>
          </a:prstGeom>
          <a:noFill/>
        </p:spPr>
        <p:txBody>
          <a:bodyPr wrap="square" lIns="0" tIns="0" rIns="0" bIns="0">
            <a:spAutoFit/>
          </a:bodyPr>
          <a:lstStyle/>
          <a:p>
            <a:pPr algn="l">
              <a:lnSpc>
                <a:spcPct val="100000"/>
              </a:lnSpc>
              <a:spcAft>
                <a:spcPts val="600"/>
              </a:spcAft>
              <a:defRPr sz="2800" b="0">
                <a:solidFill>
                  <a:srgbClr val="222222"/>
                </a:solidFill>
                <a:latin typeface="Calibri"/>
              </a:defRPr>
            </a:pPr>
            <a:r>
              <a:rPr sz="2800" b="0">
                <a:solidFill>
                  <a:srgbClr val="222222"/>
                </a:solidFill>
                <a:latin typeface="Calibri"/>
              </a:rPr>
              <a:t>Yellow costs about twice what red costs. Why?</a:t>
            </a:r>
          </a:p>
          <a:p>
            <a:pPr algn="l">
              <a:lnSpc>
                <a:spcPct val="100000"/>
              </a:lnSpc>
              <a:spcAft>
                <a:spcPts val="600"/>
              </a:spcAft>
              <a:defRPr sz="2800" b="0">
                <a:solidFill>
                  <a:srgbClr val="222222"/>
                </a:solidFill>
                <a:latin typeface="Calibri"/>
              </a:defRPr>
            </a:pPr>
            <a:r>
              <a:rPr sz="2800" b="0">
                <a:solidFill>
                  <a:srgbClr val="222222"/>
                </a:solidFill>
                <a:latin typeface="Calibri"/>
              </a:rPr>
              <a:t>At brightness 60, what is the worst-case current?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every LED number is on the vehicle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TextBox 5"/>
          <p:cNvSpPr txBox="1"/>
          <p:nvPr/>
        </p:nvSpPr>
        <p:spPr>
          <a:xfrm>
            <a:off x="1325880" y="1508760"/>
            <a:ext cx="96926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FRONT   -   data goes in at LED 0</a:t>
            </a:r>
          </a:p>
        </p:txBody>
      </p:sp>
      <p:sp>
        <p:nvSpPr>
          <p:cNvPr id="7" name="TextBox 6"/>
          <p:cNvSpPr txBox="1"/>
          <p:nvPr/>
        </p:nvSpPr>
        <p:spPr>
          <a:xfrm>
            <a:off x="1325880" y="4270248"/>
            <a:ext cx="96926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REAR   -   numbering runs the other way, right to left</a:t>
            </a:r>
          </a:p>
        </p:txBody>
      </p:sp>
      <p:sp>
        <p:nvSpPr>
          <p:cNvPr id="8" name="Rectangle 7"/>
          <p:cNvSpPr/>
          <p:nvPr/>
        </p:nvSpPr>
        <p:spPr>
          <a:xfrm>
            <a:off x="132588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0</a:t>
            </a:r>
          </a:p>
        </p:txBody>
      </p:sp>
      <p:sp>
        <p:nvSpPr>
          <p:cNvPr id="9" name="Rectangle 8"/>
          <p:cNvSpPr/>
          <p:nvPr/>
        </p:nvSpPr>
        <p:spPr>
          <a:xfrm>
            <a:off x="193167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a:t>
            </a:r>
          </a:p>
        </p:txBody>
      </p:sp>
      <p:sp>
        <p:nvSpPr>
          <p:cNvPr id="10" name="Rectangle 9"/>
          <p:cNvSpPr/>
          <p:nvPr/>
        </p:nvSpPr>
        <p:spPr>
          <a:xfrm>
            <a:off x="253746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a:t>
            </a:r>
          </a:p>
        </p:txBody>
      </p:sp>
      <p:sp>
        <p:nvSpPr>
          <p:cNvPr id="11" name="Rectangle 10"/>
          <p:cNvSpPr/>
          <p:nvPr/>
        </p:nvSpPr>
        <p:spPr>
          <a:xfrm>
            <a:off x="314325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3</a:t>
            </a:r>
          </a:p>
        </p:txBody>
      </p:sp>
      <p:sp>
        <p:nvSpPr>
          <p:cNvPr id="12" name="Rectangle 11"/>
          <p:cNvSpPr/>
          <p:nvPr/>
        </p:nvSpPr>
        <p:spPr>
          <a:xfrm>
            <a:off x="374904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4</a:t>
            </a:r>
          </a:p>
        </p:txBody>
      </p:sp>
      <p:sp>
        <p:nvSpPr>
          <p:cNvPr id="13" name="Rectangle 12"/>
          <p:cNvSpPr/>
          <p:nvPr/>
        </p:nvSpPr>
        <p:spPr>
          <a:xfrm>
            <a:off x="435483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5</a:t>
            </a:r>
          </a:p>
        </p:txBody>
      </p:sp>
      <p:sp>
        <p:nvSpPr>
          <p:cNvPr id="14" name="Rectangle 13"/>
          <p:cNvSpPr/>
          <p:nvPr/>
        </p:nvSpPr>
        <p:spPr>
          <a:xfrm>
            <a:off x="496062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6</a:t>
            </a:r>
          </a:p>
        </p:txBody>
      </p:sp>
      <p:sp>
        <p:nvSpPr>
          <p:cNvPr id="15" name="Rectangle 14"/>
          <p:cNvSpPr/>
          <p:nvPr/>
        </p:nvSpPr>
        <p:spPr>
          <a:xfrm>
            <a:off x="5566410" y="187452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7</a:t>
            </a:r>
          </a:p>
        </p:txBody>
      </p:sp>
      <p:sp>
        <p:nvSpPr>
          <p:cNvPr id="16" name="Rectangle 15"/>
          <p:cNvSpPr/>
          <p:nvPr/>
        </p:nvSpPr>
        <p:spPr>
          <a:xfrm>
            <a:off x="617220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8</a:t>
            </a:r>
          </a:p>
        </p:txBody>
      </p:sp>
      <p:sp>
        <p:nvSpPr>
          <p:cNvPr id="17" name="Rectangle 16"/>
          <p:cNvSpPr/>
          <p:nvPr/>
        </p:nvSpPr>
        <p:spPr>
          <a:xfrm>
            <a:off x="677799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9</a:t>
            </a:r>
          </a:p>
        </p:txBody>
      </p:sp>
      <p:sp>
        <p:nvSpPr>
          <p:cNvPr id="18" name="Rectangle 17"/>
          <p:cNvSpPr/>
          <p:nvPr/>
        </p:nvSpPr>
        <p:spPr>
          <a:xfrm>
            <a:off x="738378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10</a:t>
            </a:r>
          </a:p>
        </p:txBody>
      </p:sp>
      <p:sp>
        <p:nvSpPr>
          <p:cNvPr id="19" name="Rectangle 18"/>
          <p:cNvSpPr/>
          <p:nvPr/>
        </p:nvSpPr>
        <p:spPr>
          <a:xfrm>
            <a:off x="798957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11</a:t>
            </a:r>
          </a:p>
        </p:txBody>
      </p:sp>
      <p:sp>
        <p:nvSpPr>
          <p:cNvPr id="20" name="Rectangle 19"/>
          <p:cNvSpPr/>
          <p:nvPr/>
        </p:nvSpPr>
        <p:spPr>
          <a:xfrm>
            <a:off x="859536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12</a:t>
            </a:r>
          </a:p>
        </p:txBody>
      </p:sp>
      <p:sp>
        <p:nvSpPr>
          <p:cNvPr id="21" name="Rectangle 20"/>
          <p:cNvSpPr/>
          <p:nvPr/>
        </p:nvSpPr>
        <p:spPr>
          <a:xfrm>
            <a:off x="920115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13</a:t>
            </a:r>
          </a:p>
        </p:txBody>
      </p:sp>
      <p:sp>
        <p:nvSpPr>
          <p:cNvPr id="22" name="Rectangle 21"/>
          <p:cNvSpPr/>
          <p:nvPr/>
        </p:nvSpPr>
        <p:spPr>
          <a:xfrm>
            <a:off x="980694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14</a:t>
            </a:r>
          </a:p>
        </p:txBody>
      </p:sp>
      <p:sp>
        <p:nvSpPr>
          <p:cNvPr id="23" name="Rectangle 22"/>
          <p:cNvSpPr/>
          <p:nvPr/>
        </p:nvSpPr>
        <p:spPr>
          <a:xfrm>
            <a:off x="10412730" y="187452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15</a:t>
            </a:r>
          </a:p>
        </p:txBody>
      </p:sp>
      <p:sp>
        <p:nvSpPr>
          <p:cNvPr id="24" name="Rectangle 23"/>
          <p:cNvSpPr/>
          <p:nvPr/>
        </p:nvSpPr>
        <p:spPr>
          <a:xfrm>
            <a:off x="1041273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16</a:t>
            </a:r>
          </a:p>
        </p:txBody>
      </p:sp>
      <p:sp>
        <p:nvSpPr>
          <p:cNvPr id="25" name="Rectangle 24"/>
          <p:cNvSpPr/>
          <p:nvPr/>
        </p:nvSpPr>
        <p:spPr>
          <a:xfrm>
            <a:off x="980694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17</a:t>
            </a:r>
          </a:p>
        </p:txBody>
      </p:sp>
      <p:sp>
        <p:nvSpPr>
          <p:cNvPr id="26" name="Rectangle 25"/>
          <p:cNvSpPr/>
          <p:nvPr/>
        </p:nvSpPr>
        <p:spPr>
          <a:xfrm>
            <a:off x="920115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18</a:t>
            </a:r>
          </a:p>
        </p:txBody>
      </p:sp>
      <p:sp>
        <p:nvSpPr>
          <p:cNvPr id="27" name="Rectangle 26"/>
          <p:cNvSpPr/>
          <p:nvPr/>
        </p:nvSpPr>
        <p:spPr>
          <a:xfrm>
            <a:off x="859536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19</a:t>
            </a:r>
          </a:p>
        </p:txBody>
      </p:sp>
      <p:sp>
        <p:nvSpPr>
          <p:cNvPr id="28" name="Rectangle 27"/>
          <p:cNvSpPr/>
          <p:nvPr/>
        </p:nvSpPr>
        <p:spPr>
          <a:xfrm>
            <a:off x="798957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20</a:t>
            </a:r>
          </a:p>
        </p:txBody>
      </p:sp>
      <p:sp>
        <p:nvSpPr>
          <p:cNvPr id="29" name="Rectangle 28"/>
          <p:cNvSpPr/>
          <p:nvPr/>
        </p:nvSpPr>
        <p:spPr>
          <a:xfrm>
            <a:off x="738378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21</a:t>
            </a:r>
          </a:p>
        </p:txBody>
      </p:sp>
      <p:sp>
        <p:nvSpPr>
          <p:cNvPr id="30" name="Rectangle 29"/>
          <p:cNvSpPr/>
          <p:nvPr/>
        </p:nvSpPr>
        <p:spPr>
          <a:xfrm>
            <a:off x="677799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22</a:t>
            </a:r>
          </a:p>
        </p:txBody>
      </p:sp>
      <p:sp>
        <p:nvSpPr>
          <p:cNvPr id="31" name="Rectangle 30"/>
          <p:cNvSpPr/>
          <p:nvPr/>
        </p:nvSpPr>
        <p:spPr>
          <a:xfrm>
            <a:off x="6172200" y="3794760"/>
            <a:ext cx="605790" cy="384048"/>
          </a:xfrm>
          <a:prstGeom prst="rect">
            <a:avLst/>
          </a:prstGeom>
          <a:solidFill>
            <a:srgbClr val="D6ECEE"/>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23</a:t>
            </a:r>
          </a:p>
        </p:txBody>
      </p:sp>
      <p:sp>
        <p:nvSpPr>
          <p:cNvPr id="32" name="Rectangle 31"/>
          <p:cNvSpPr/>
          <p:nvPr/>
        </p:nvSpPr>
        <p:spPr>
          <a:xfrm>
            <a:off x="556641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24</a:t>
            </a:r>
          </a:p>
        </p:txBody>
      </p:sp>
      <p:sp>
        <p:nvSpPr>
          <p:cNvPr id="33" name="Rectangle 32"/>
          <p:cNvSpPr/>
          <p:nvPr/>
        </p:nvSpPr>
        <p:spPr>
          <a:xfrm>
            <a:off x="496062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25</a:t>
            </a:r>
          </a:p>
        </p:txBody>
      </p:sp>
      <p:sp>
        <p:nvSpPr>
          <p:cNvPr id="34" name="Rectangle 33"/>
          <p:cNvSpPr/>
          <p:nvPr/>
        </p:nvSpPr>
        <p:spPr>
          <a:xfrm>
            <a:off x="435483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26</a:t>
            </a:r>
          </a:p>
        </p:txBody>
      </p:sp>
      <p:sp>
        <p:nvSpPr>
          <p:cNvPr id="35" name="Rectangle 34"/>
          <p:cNvSpPr/>
          <p:nvPr/>
        </p:nvSpPr>
        <p:spPr>
          <a:xfrm>
            <a:off x="374904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27</a:t>
            </a:r>
          </a:p>
        </p:txBody>
      </p:sp>
      <p:sp>
        <p:nvSpPr>
          <p:cNvPr id="36" name="Rectangle 35"/>
          <p:cNvSpPr/>
          <p:nvPr/>
        </p:nvSpPr>
        <p:spPr>
          <a:xfrm>
            <a:off x="314325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28</a:t>
            </a:r>
          </a:p>
        </p:txBody>
      </p:sp>
      <p:sp>
        <p:nvSpPr>
          <p:cNvPr id="37" name="Rectangle 36"/>
          <p:cNvSpPr/>
          <p:nvPr/>
        </p:nvSpPr>
        <p:spPr>
          <a:xfrm>
            <a:off x="253746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29</a:t>
            </a:r>
          </a:p>
        </p:txBody>
      </p:sp>
      <p:sp>
        <p:nvSpPr>
          <p:cNvPr id="38" name="Rectangle 37"/>
          <p:cNvSpPr/>
          <p:nvPr/>
        </p:nvSpPr>
        <p:spPr>
          <a:xfrm>
            <a:off x="193167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30</a:t>
            </a:r>
          </a:p>
        </p:txBody>
      </p:sp>
      <p:sp>
        <p:nvSpPr>
          <p:cNvPr id="39" name="Rectangle 38"/>
          <p:cNvSpPr/>
          <p:nvPr/>
        </p:nvSpPr>
        <p:spPr>
          <a:xfrm>
            <a:off x="1325880" y="3794760"/>
            <a:ext cx="605790" cy="384048"/>
          </a:xfrm>
          <a:prstGeom prst="rect">
            <a:avLst/>
          </a:prstGeom>
          <a:solidFill>
            <a:srgbClr val="FAE6C8"/>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31</a:t>
            </a:r>
          </a:p>
        </p:txBody>
      </p:sp>
      <p:sp>
        <p:nvSpPr>
          <p:cNvPr id="40" name="TextBox 39"/>
          <p:cNvSpPr txBox="1"/>
          <p:nvPr/>
        </p:nvSpPr>
        <p:spPr>
          <a:xfrm>
            <a:off x="457200" y="2651760"/>
            <a:ext cx="822960" cy="659384"/>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LEFT</a:t>
            </a:r>
          </a:p>
          <a:p>
            <a:pPr algn="ctr">
              <a:lnSpc>
                <a:spcPct val="100000"/>
              </a:lnSpc>
              <a:spcAft>
                <a:spcPts val="0"/>
              </a:spcAft>
              <a:defRPr sz="1800" b="1">
                <a:solidFill>
                  <a:srgbClr val="B46A0F"/>
                </a:solidFill>
                <a:latin typeface="Calibri"/>
              </a:defRPr>
            </a:pPr>
            <a:r>
              <a:rPr sz="1800" b="1">
                <a:solidFill>
                  <a:srgbClr val="B46A0F"/>
                </a:solidFill>
                <a:latin typeface="Calibri"/>
              </a:rPr>
              <a:t>side</a:t>
            </a:r>
          </a:p>
        </p:txBody>
      </p:sp>
      <p:sp>
        <p:nvSpPr>
          <p:cNvPr id="41" name="TextBox 40"/>
          <p:cNvSpPr txBox="1"/>
          <p:nvPr/>
        </p:nvSpPr>
        <p:spPr>
          <a:xfrm>
            <a:off x="11073384" y="2651760"/>
            <a:ext cx="914400" cy="659384"/>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RIGHT</a:t>
            </a:r>
          </a:p>
          <a:p>
            <a:pPr algn="ctr">
              <a:lnSpc>
                <a:spcPct val="100000"/>
              </a:lnSpc>
              <a:spcAft>
                <a:spcPts val="0"/>
              </a:spcAft>
              <a:defRPr sz="1800" b="1">
                <a:solidFill>
                  <a:srgbClr val="0E7C86"/>
                </a:solidFill>
                <a:latin typeface="Calibri"/>
              </a:defRPr>
            </a:pPr>
            <a:r>
              <a:rPr sz="1800" b="1">
                <a:solidFill>
                  <a:srgbClr val="0E7C86"/>
                </a:solidFill>
                <a:latin typeface="Calibri"/>
              </a:rPr>
              <a:t>side</a:t>
            </a:r>
          </a:p>
        </p:txBody>
      </p:sp>
      <p:cxnSp>
        <p:nvCxnSpPr>
          <p:cNvPr id="42" name="Connector 41"/>
          <p:cNvCxnSpPr/>
          <p:nvPr/>
        </p:nvCxnSpPr>
        <p:spPr>
          <a:xfrm>
            <a:off x="1628775" y="2258568"/>
            <a:ext cx="0" cy="1536192"/>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657725" y="2258568"/>
            <a:ext cx="0" cy="1536192"/>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686675" y="2258568"/>
            <a:ext cx="0" cy="1536192"/>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715625" y="2258568"/>
            <a:ext cx="0" cy="1536192"/>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325880" y="2834640"/>
            <a:ext cx="969264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front LED p  and  rear LED 31 - p  are directly opposite each other</a:t>
            </a:r>
          </a:p>
        </p:txBody>
      </p:sp>
      <p:sp>
        <p:nvSpPr>
          <p:cNvPr id="47" name="TextBox 46"/>
          <p:cNvSpPr txBox="1"/>
          <p:nvPr/>
        </p:nvSpPr>
        <p:spPr>
          <a:xfrm>
            <a:off x="1325880" y="3136392"/>
            <a:ext cx="969264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onsolas"/>
              </a:defRPr>
            </a:pPr>
            <a:r>
              <a:rPr sz="1800" b="0">
                <a:solidFill>
                  <a:srgbClr val="666666"/>
                </a:solidFill>
                <a:latin typeface="Consolas"/>
              </a:rPr>
              <a:t>0 pairs with 31      5 pairs with 26      10 pairs with 21      15 pairs with 16</a:t>
            </a:r>
          </a:p>
        </p:txBody>
      </p:sp>
      <p:sp>
        <p:nvSpPr>
          <p:cNvPr id="48" name="Rounded Rectangle 4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LEFT is 0-7 and 24-31.  RIGHT is 8-15 and 16-23.  The strip is one loop, so each side is in two pieces.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The LED map</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30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Addressable LEDs</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power budget</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The LED map</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9002037" y="3886200"/>
            <a:ext cx="2686735"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Patterns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learn the map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l4b_led_map</a:t>
            </a:r>
            <a:r>
              <a:rPr sz="1200">
                <a:solidFill>
                  <a:srgbClr val="FFFFFF"/>
                </a:solidFill>
                <a:latin typeface="Calibri"/>
              </a:rPr>
              <a:t>     (25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Sit the vehicle in front of you where you can see all four bars.</a:t>
            </a:r>
          </a:p>
          <a:p>
            <a:pPr algn="l">
              <a:lnSpc>
                <a:spcPct val="100000"/>
              </a:lnSpc>
              <a:spcAft>
                <a:spcPts val="400"/>
              </a:spcAft>
              <a:defRPr sz="1800" b="0">
                <a:solidFill>
                  <a:srgbClr val="222222"/>
                </a:solidFill>
                <a:latin typeface="Calibri"/>
              </a:defRPr>
            </a:pPr>
            <a:r>
              <a:rPr sz="1800" b="0">
                <a:solidFill>
                  <a:srgbClr val="222222"/>
                </a:solidFill>
                <a:latin typeface="Calibri"/>
              </a:rPr>
              <a:t>2.  Upload it. Follow the walking dot with your finger.</a:t>
            </a:r>
          </a:p>
          <a:p>
            <a:pPr algn="l">
              <a:lnSpc>
                <a:spcPct val="100000"/>
              </a:lnSpc>
              <a:spcAft>
                <a:spcPts val="400"/>
              </a:spcAft>
              <a:defRPr sz="1800" b="0">
                <a:solidFill>
                  <a:srgbClr val="222222"/>
                </a:solidFill>
                <a:latin typeface="Calibri"/>
              </a:defRPr>
            </a:pPr>
            <a:r>
              <a:rPr sz="1800" b="0">
                <a:solidFill>
                  <a:srgbClr val="222222"/>
                </a:solidFill>
                <a:latin typeface="Calibri"/>
              </a:rPr>
              <a:t>3.  Write the numbers onto a sketch of the vehicle. Keep it.</a:t>
            </a:r>
          </a:p>
          <a:p>
            <a:pPr algn="l">
              <a:lnSpc>
                <a:spcPct val="100000"/>
              </a:lnSpc>
              <a:spcAft>
                <a:spcPts val="400"/>
              </a:spcAft>
              <a:defRPr sz="1800" b="0">
                <a:solidFill>
                  <a:srgbClr val="222222"/>
                </a:solidFill>
                <a:latin typeface="Calibri"/>
              </a:defRPr>
            </a:pPr>
            <a:r>
              <a:rPr sz="1800" b="0">
                <a:solidFill>
                  <a:srgbClr val="222222"/>
                </a:solidFill>
                <a:latin typeface="Calibri"/>
              </a:rPr>
              <a:t>4.  During the four-sides section, check that LEFT really is 0-7 and 24-31.</a:t>
            </a:r>
          </a:p>
          <a:p>
            <a:pPr algn="l">
              <a:lnSpc>
                <a:spcPct val="100000"/>
              </a:lnSpc>
              <a:spcAft>
                <a:spcPts val="400"/>
              </a:spcAft>
              <a:defRPr sz="1800" b="0">
                <a:solidFill>
                  <a:srgbClr val="222222"/>
                </a:solidFill>
                <a:latin typeface="Calibri"/>
              </a:defRPr>
            </a:pPr>
            <a:r>
              <a:rPr sz="1800" b="0">
                <a:solidFill>
                  <a:srgbClr val="222222"/>
                </a:solidFill>
                <a:latin typeface="Calibri"/>
              </a:rPr>
              <a:t>5.  During the mirror section, check that the two lit LEDs really are opposite each other.</a:t>
            </a:r>
          </a:p>
          <a:p>
            <a:pPr algn="l">
              <a:lnSpc>
                <a:spcPct val="100000"/>
              </a:lnSpc>
              <a:spcAft>
                <a:spcPts val="400"/>
              </a:spcAft>
              <a:defRPr sz="1800" b="0">
                <a:solidFill>
                  <a:srgbClr val="222222"/>
                </a:solidFill>
                <a:latin typeface="Calibri"/>
              </a:defRPr>
            </a:pPr>
            <a:r>
              <a:rPr sz="1800" b="0">
                <a:solidFill>
                  <a:srgbClr val="222222"/>
                </a:solidFill>
                <a:latin typeface="Calibri"/>
              </a:rPr>
              <a:t>6.  Change showSide so that FRONT lights only the middle four LEDs. Which numbers are those?</a:t>
            </a:r>
          </a:p>
          <a:p>
            <a:pPr algn="l">
              <a:lnSpc>
                <a:spcPct val="100000"/>
              </a:lnSpc>
              <a:spcAft>
                <a:spcPts val="400"/>
              </a:spcAft>
              <a:defRPr sz="1800" b="0">
                <a:solidFill>
                  <a:srgbClr val="222222"/>
                </a:solidFill>
                <a:latin typeface="Calibri"/>
              </a:defRPr>
            </a:pPr>
            <a:r>
              <a:rPr sz="1800" b="0">
                <a:solidFill>
                  <a:srgbClr val="222222"/>
                </a:solidFill>
                <a:latin typeface="Calibri"/>
              </a:rPr>
              <a:t>7.  Add a section that lights the four CORNERS.</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672143"/>
          </a:xfrm>
          <a:prstGeom prst="rect">
            <a:avLst/>
          </a:prstGeom>
          <a:noFill/>
        </p:spPr>
        <p:txBody>
          <a:bodyPr wrap="square" lIns="0" tIns="0" rIns="0" bIns="0">
            <a:spAutoFit/>
          </a:bodyPr>
          <a:lstStyle/>
          <a:p>
            <a:pPr algn="l">
              <a:lnSpc>
                <a:spcPct val="100000"/>
              </a:lnSpc>
              <a:spcAft>
                <a:spcPts val="300"/>
              </a:spcAft>
              <a:defRPr sz="2500" b="0">
                <a:solidFill>
                  <a:srgbClr val="222222"/>
                </a:solidFill>
                <a:latin typeface="Calibri"/>
              </a:defRPr>
            </a:pPr>
            <a:r>
              <a:rPr sz="2500" b="0">
                <a:solidFill>
                  <a:srgbClr val="222222"/>
                </a:solidFill>
                <a:latin typeface="Calibri"/>
              </a:rPr>
              <a:t>A dot walking all the way round, then each side in turn, then front and rear LEDs lighting in matched pairs.</a:t>
            </a:r>
          </a:p>
        </p:txBody>
      </p:sp>
      <p:sp>
        <p:nvSpPr>
          <p:cNvPr id="10" name="TextBox 9"/>
          <p:cNvSpPr txBox="1"/>
          <p:nvPr/>
        </p:nvSpPr>
        <p:spPr>
          <a:xfrm>
            <a:off x="7163537" y="4049583"/>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451919"/>
            <a:ext cx="4525238" cy="1811720"/>
          </a:xfrm>
          <a:prstGeom prst="rect">
            <a:avLst/>
          </a:prstGeom>
          <a:noFill/>
        </p:spPr>
        <p:txBody>
          <a:bodyPr wrap="square" lIns="0" tIns="0" rIns="0" bIns="0">
            <a:spAutoFit/>
          </a:bodyPr>
          <a:lstStyle/>
          <a:p>
            <a:pPr algn="l">
              <a:lnSpc>
                <a:spcPct val="100000"/>
              </a:lnSpc>
              <a:spcAft>
                <a:spcPts val="300"/>
              </a:spcAft>
              <a:defRPr sz="2400" b="0">
                <a:solidFill>
                  <a:srgbClr val="222222"/>
                </a:solidFill>
                <a:latin typeface="Calibri"/>
              </a:defRPr>
            </a:pPr>
            <a:r>
              <a:rPr sz="2400" b="0">
                <a:solidFill>
                  <a:srgbClr val="222222"/>
                </a:solidFill>
                <a:latin typeface="Calibri"/>
              </a:rPr>
              <a:t>Which LED is directly behind number 3?</a:t>
            </a:r>
          </a:p>
          <a:p>
            <a:pPr algn="l">
              <a:lnSpc>
                <a:spcPct val="100000"/>
              </a:lnSpc>
              <a:spcAft>
                <a:spcPts val="300"/>
              </a:spcAft>
              <a:defRPr sz="2400" b="0">
                <a:solidFill>
                  <a:srgbClr val="222222"/>
                </a:solidFill>
                <a:latin typeface="Calibri"/>
              </a:defRPr>
            </a:pPr>
            <a:r>
              <a:rPr sz="2400" b="0">
                <a:solidFill>
                  <a:srgbClr val="222222"/>
                </a:solidFill>
                <a:latin typeface="Calibri"/>
              </a:rPr>
              <a:t>You want to light the whole right side. Which two ranges?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700" b="1">
                <a:solidFill>
                  <a:srgbClr val="1F3A5F"/>
                </a:solidFill>
                <a:latin typeface="Calibri"/>
              </a:defRPr>
            </a:pPr>
            <a:r>
              <a:rPr sz="2700" b="1">
                <a:solidFill>
                  <a:srgbClr val="1F3A5F"/>
                </a:solidFill>
                <a:latin typeface="Calibri"/>
              </a:rPr>
              <a:t>for loops: doing something 32 times without writing it 32 times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the pattern you will use all day</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600">
                <a:latin typeface="Consolas"/>
              </a:defRPr>
            </a:pPr>
            <a:r>
              <a:rPr sz="1600">
                <a:solidFill>
                  <a:srgbClr val="666666"/>
                </a:solidFill>
                <a:latin typeface="Consolas"/>
              </a:rPr>
              <a:t>// The long way. Nobody writes this.</a:t>
            </a:r>
          </a:p>
          <a:p>
            <a:pPr algn="l">
              <a:lnSpc>
                <a:spcPct val="100000"/>
              </a:lnSpc>
              <a:spcAft>
                <a:spcPts val="0"/>
              </a:spcAft>
              <a:defRPr sz="1600">
                <a:latin typeface="Consolas"/>
              </a:defRPr>
            </a:pPr>
            <a:r>
              <a:rPr sz="1600">
                <a:solidFill>
                  <a:srgbClr val="222222"/>
                </a:solidFill>
                <a:latin typeface="Consolas"/>
              </a:rPr>
              <a:t>strip.setPixelColor(0, white);</a:t>
            </a:r>
          </a:p>
          <a:p>
            <a:pPr algn="l">
              <a:lnSpc>
                <a:spcPct val="100000"/>
              </a:lnSpc>
              <a:spcAft>
                <a:spcPts val="0"/>
              </a:spcAft>
              <a:defRPr sz="1600">
                <a:latin typeface="Consolas"/>
              </a:defRPr>
            </a:pPr>
            <a:r>
              <a:rPr sz="1600">
                <a:solidFill>
                  <a:srgbClr val="222222"/>
                </a:solidFill>
                <a:latin typeface="Consolas"/>
              </a:rPr>
              <a:t>strip.setPixelColor(1, white);</a:t>
            </a:r>
          </a:p>
          <a:p>
            <a:pPr algn="l">
              <a:lnSpc>
                <a:spcPct val="100000"/>
              </a:lnSpc>
              <a:spcAft>
                <a:spcPts val="0"/>
              </a:spcAft>
              <a:defRPr sz="1600">
                <a:latin typeface="Consolas"/>
              </a:defRPr>
            </a:pPr>
            <a:r>
              <a:rPr sz="1600">
                <a:solidFill>
                  <a:srgbClr val="222222"/>
                </a:solidFill>
                <a:latin typeface="Consolas"/>
              </a:rPr>
              <a:t>strip.setPixelColor(2, white);      // ...and 29 more</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666666"/>
                </a:solidFill>
                <a:latin typeface="Consolas"/>
              </a:rPr>
              <a:t>// The for loop. Same thing.</a:t>
            </a:r>
          </a:p>
          <a:p>
            <a:pPr algn="l">
              <a:lnSpc>
                <a:spcPct val="100000"/>
              </a:lnSpc>
              <a:spcAft>
                <a:spcPts val="0"/>
              </a:spcAft>
              <a:defRPr sz="1600">
                <a:latin typeface="Consolas"/>
              </a:defRPr>
            </a:pPr>
            <a:r>
              <a:rPr sz="1600" b="1">
                <a:solidFill>
                  <a:srgbClr val="0E7C86"/>
                </a:solidFill>
                <a:latin typeface="Consolas"/>
              </a:rPr>
              <a:t>for (int i = 0; i &lt; 32; i++) {</a:t>
            </a:r>
          </a:p>
          <a:p>
            <a:pPr algn="l">
              <a:lnSpc>
                <a:spcPct val="100000"/>
              </a:lnSpc>
              <a:spcAft>
                <a:spcPts val="0"/>
              </a:spcAft>
              <a:defRPr sz="1600">
                <a:latin typeface="Consolas"/>
              </a:defRPr>
            </a:pPr>
            <a:r>
              <a:rPr sz="1600" b="1">
                <a:solidFill>
                  <a:srgbClr val="0E7C86"/>
                </a:solidFill>
                <a:latin typeface="Consolas"/>
              </a:rPr>
              <a:t>  strip.setPixelColor(i, white);</a:t>
            </a:r>
          </a:p>
          <a:p>
            <a:pPr algn="l">
              <a:lnSpc>
                <a:spcPct val="100000"/>
              </a:lnSpc>
              <a:spcAft>
                <a:spcPts val="0"/>
              </a:spcAft>
              <a:defRPr sz="1600">
                <a:latin typeface="Consolas"/>
              </a:defRPr>
            </a:pPr>
            <a:r>
              <a:rPr sz="1600" b="1">
                <a:solidFill>
                  <a:srgbClr val="0E7C86"/>
                </a:solidFill>
                <a:latin typeface="Consolas"/>
              </a:rPr>
              <a:t>}</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666666"/>
                </a:solidFill>
                <a:latin typeface="Consolas"/>
              </a:rPr>
              <a:t>// ALL of them the same color? Do not write a loop at all.</a:t>
            </a:r>
          </a:p>
          <a:p>
            <a:pPr algn="l">
              <a:lnSpc>
                <a:spcPct val="100000"/>
              </a:lnSpc>
              <a:spcAft>
                <a:spcPts val="0"/>
              </a:spcAft>
              <a:defRPr sz="1600">
                <a:latin typeface="Consolas"/>
              </a:defRPr>
            </a:pPr>
            <a:r>
              <a:rPr sz="1600" b="1">
                <a:solidFill>
                  <a:srgbClr val="0E7C86"/>
                </a:solidFill>
                <a:latin typeface="Consolas"/>
              </a:rPr>
              <a:t>strip.fill(white);</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666666"/>
                </a:solidFill>
                <a:latin typeface="Consolas"/>
              </a:rPr>
              <a:t>// Just the front. Here you do need the loop:</a:t>
            </a:r>
          </a:p>
          <a:p>
            <a:pPr algn="l">
              <a:lnSpc>
                <a:spcPct val="100000"/>
              </a:lnSpc>
              <a:spcAft>
                <a:spcPts val="0"/>
              </a:spcAft>
              <a:defRPr sz="1600">
                <a:latin typeface="Consolas"/>
              </a:defRPr>
            </a:pPr>
            <a:r>
              <a:rPr sz="1600">
                <a:solidFill>
                  <a:srgbClr val="222222"/>
                </a:solidFill>
                <a:latin typeface="Consolas"/>
              </a:rPr>
              <a:t>for (int i = FRONT_FIRST; i &lt;= FRONT_LAST; i++) {</a:t>
            </a:r>
          </a:p>
          <a:p>
            <a:pPr algn="l">
              <a:lnSpc>
                <a:spcPct val="100000"/>
              </a:lnSpc>
              <a:spcAft>
                <a:spcPts val="0"/>
              </a:spcAft>
              <a:defRPr sz="1600">
                <a:latin typeface="Consolas"/>
              </a:defRPr>
            </a:pPr>
            <a:r>
              <a:rPr sz="1600">
                <a:solidFill>
                  <a:srgbClr val="222222"/>
                </a:solidFill>
                <a:latin typeface="Consolas"/>
              </a:rPr>
              <a:t>  strip.setPixelColor(i, headlight);</a:t>
            </a:r>
          </a:p>
          <a:p>
            <a:pPr algn="l">
              <a:lnSpc>
                <a:spcPct val="100000"/>
              </a:lnSpc>
              <a:spcAft>
                <a:spcPts val="0"/>
              </a:spcAft>
              <a:defRPr sz="1600">
                <a:latin typeface="Consolas"/>
              </a:defRPr>
            </a:pPr>
            <a:r>
              <a:rPr sz="16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int i = 0     start here</a:t>
            </a:r>
          </a:p>
          <a:p>
            <a:pPr algn="l">
              <a:lnSpc>
                <a:spcPct val="100000"/>
              </a:lnSpc>
              <a:spcAft>
                <a:spcPts val="700"/>
              </a:spcAft>
              <a:defRPr sz="1800" b="0">
                <a:solidFill>
                  <a:srgbClr val="222222"/>
                </a:solidFill>
                <a:latin typeface="Calibri"/>
              </a:defRPr>
            </a:pPr>
            <a:r>
              <a:rPr sz="1800" b="0">
                <a:solidFill>
                  <a:srgbClr val="222222"/>
                </a:solidFill>
                <a:latin typeface="Calibri"/>
              </a:rPr>
              <a:t>i &lt; 32        keep going while this is true</a:t>
            </a:r>
          </a:p>
          <a:p>
            <a:pPr algn="l">
              <a:lnSpc>
                <a:spcPct val="100000"/>
              </a:lnSpc>
              <a:spcAft>
                <a:spcPts val="700"/>
              </a:spcAft>
              <a:defRPr sz="1800" b="0">
                <a:solidFill>
                  <a:srgbClr val="222222"/>
                </a:solidFill>
                <a:latin typeface="Calibri"/>
              </a:defRPr>
            </a:pPr>
            <a:r>
              <a:rPr sz="1800" b="0">
                <a:solidFill>
                  <a:srgbClr val="222222"/>
                </a:solidFill>
                <a:latin typeface="Calibri"/>
              </a:rPr>
              <a:t>i++           add one each time round</a:t>
            </a:r>
          </a:p>
          <a:p>
            <a:pPr algn="l">
              <a:lnSpc>
                <a:spcPct val="100000"/>
              </a:lnSpc>
              <a:spcAft>
                <a:spcPts val="700"/>
              </a:spcAft>
              <a:defRPr sz="900" b="0">
                <a:solidFill>
                  <a:srgbClr val="222222"/>
                </a:solidFill>
                <a:latin typeface="Calibri"/>
              </a:defRPr>
            </a:pPr>
          </a:p>
          <a:p>
            <a:pPr algn="l">
              <a:lnSpc>
                <a:spcPct val="100000"/>
              </a:lnSpc>
              <a:spcAft>
                <a:spcPts val="700"/>
              </a:spcAft>
              <a:defRPr sz="1800" b="0">
                <a:solidFill>
                  <a:srgbClr val="222222"/>
                </a:solidFill>
                <a:latin typeface="Calibri"/>
              </a:defRPr>
            </a:pPr>
            <a:r>
              <a:rPr sz="1800" b="0">
                <a:solidFill>
                  <a:srgbClr val="222222"/>
                </a:solidFill>
                <a:latin typeface="Calibri"/>
              </a:rPr>
              <a:t>EVERY pixel the same? strip.fill() already does it. Save the loop for when the pixels differ.</a:t>
            </a:r>
          </a:p>
          <a:p>
            <a:pPr algn="l">
              <a:lnSpc>
                <a:spcPct val="100000"/>
              </a:lnSpc>
              <a:spcAft>
                <a:spcPts val="700"/>
              </a:spcAft>
              <a:defRPr sz="900" b="0">
                <a:solidFill>
                  <a:srgbClr val="222222"/>
                </a:solidFill>
                <a:latin typeface="Calibri"/>
              </a:defRPr>
            </a:pPr>
          </a:p>
          <a:p>
            <a:pPr algn="l">
              <a:lnSpc>
                <a:spcPct val="100000"/>
              </a:lnSpc>
              <a:spcAft>
                <a:spcPts val="700"/>
              </a:spcAft>
              <a:defRPr sz="1800" b="0">
                <a:solidFill>
                  <a:srgbClr val="222222"/>
                </a:solidFill>
                <a:latin typeface="Calibri"/>
              </a:defRPr>
            </a:pPr>
            <a:r>
              <a:rPr sz="1800" b="0">
                <a:solidFill>
                  <a:srgbClr val="222222"/>
                </a:solidFill>
                <a:latin typeface="Calibri"/>
              </a:rPr>
              <a:t>Watch  &lt;  against  &lt;=. With FRONT_LAST = 15 you want &lt;= or you will miss LED 15. Off-by-one is the most common bug in programming, and this is where you meet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Four patterns, four ideas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188720"/>
            <a:ext cx="5106693"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colorWipe  and  theaterChase</a:t>
            </a:r>
          </a:p>
        </p:txBody>
      </p:sp>
      <p:sp>
        <p:nvSpPr>
          <p:cNvPr id="7" name="TextBox 6"/>
          <p:cNvSpPr txBox="1"/>
          <p:nvPr/>
        </p:nvSpPr>
        <p:spPr>
          <a:xfrm>
            <a:off x="502920" y="1700784"/>
            <a:ext cx="5106693"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colorWipe fills the strip one LED at a time, in order, so the color sweeps along it.</a:t>
            </a:r>
          </a:p>
          <a:p>
            <a:pPr lvl="1" algn="l">
              <a:lnSpc>
                <a:spcPct val="100000"/>
              </a:lnSpc>
              <a:spcAft>
                <a:spcPts val="800"/>
              </a:spcAft>
              <a:defRPr sz="1900" b="0">
                <a:solidFill>
                  <a:srgbClr val="222222"/>
                </a:solidFill>
                <a:latin typeface="Calibri"/>
              </a:defRPr>
            </a:pPr>
            <a:r>
              <a:rPr sz="1900" b="0">
                <a:solidFill>
                  <a:srgbClr val="222222"/>
                </a:solidFill>
                <a:latin typeface="Calibri"/>
              </a:rPr>
              <a:t>One loop, one delay per LED.</a:t>
            </a:r>
          </a:p>
          <a:p>
            <a:pPr algn="l">
              <a:lnSpc>
                <a:spcPct val="100000"/>
              </a:lnSpc>
              <a:spcAft>
                <a:spcPts val="800"/>
              </a:spcAft>
              <a:defRPr sz="1900" b="0">
                <a:solidFill>
                  <a:srgbClr val="222222"/>
                </a:solidFill>
                <a:latin typeface="Calibri"/>
              </a:defRPr>
            </a:pPr>
            <a:r>
              <a:rPr sz="1900" b="0">
                <a:solidFill>
                  <a:srgbClr val="222222"/>
                </a:solidFill>
                <a:latin typeface="Calibri"/>
              </a:rPr>
              <a:t>theaterChase lights every third LED and shuffles the pattern along by one each frame, so they chase each other.</a:t>
            </a:r>
          </a:p>
          <a:p>
            <a:pPr lvl="1" algn="l">
              <a:lnSpc>
                <a:spcPct val="100000"/>
              </a:lnSpc>
              <a:spcAft>
                <a:spcPts val="800"/>
              </a:spcAft>
              <a:defRPr sz="1900" b="0">
                <a:solidFill>
                  <a:srgbClr val="222222"/>
                </a:solidFill>
                <a:latin typeface="Calibri"/>
              </a:defRPr>
            </a:pPr>
            <a:r>
              <a:rPr sz="1900" b="0">
                <a:solidFill>
                  <a:srgbClr val="222222"/>
                </a:solidFill>
                <a:latin typeface="Calibri"/>
              </a:rPr>
              <a:t>Three nested loops: how many repeats, which of the three positions is lit, and stepping along in threes.</a:t>
            </a:r>
          </a:p>
        </p:txBody>
      </p:sp>
      <p:sp>
        <p:nvSpPr>
          <p:cNvPr id="8" name="TextBox 7"/>
          <p:cNvSpPr txBox="1"/>
          <p:nvPr/>
        </p:nvSpPr>
        <p:spPr>
          <a:xfrm>
            <a:off x="6066813" y="1188720"/>
            <a:ext cx="5621962"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rainbow  and  scanner</a:t>
            </a:r>
          </a:p>
        </p:txBody>
      </p:sp>
      <p:sp>
        <p:nvSpPr>
          <p:cNvPr id="9" name="TextBox 8"/>
          <p:cNvSpPr txBox="1"/>
          <p:nvPr/>
        </p:nvSpPr>
        <p:spPr>
          <a:xfrm>
            <a:off x="6066813" y="1700784"/>
            <a:ext cx="5621962"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rainbow uses HUE instead of red, green and blue - one number all the way round the color wheel, 0 to 65535.</a:t>
            </a:r>
          </a:p>
          <a:p>
            <a:pPr lvl="1" algn="l">
              <a:lnSpc>
                <a:spcPct val="100000"/>
              </a:lnSpc>
              <a:spcAft>
                <a:spcPts val="800"/>
              </a:spcAft>
              <a:defRPr sz="1900" b="0">
                <a:solidFill>
                  <a:srgbClr val="222222"/>
                </a:solidFill>
                <a:latin typeface="Calibri"/>
              </a:defRPr>
            </a:pPr>
            <a:r>
              <a:rPr sz="1900" b="0">
                <a:solidFill>
                  <a:srgbClr val="222222"/>
                </a:solidFill>
                <a:latin typeface="Calibri"/>
              </a:rPr>
              <a:t>Each LED gets a hue further round, and the start point creeps forward so it flows.</a:t>
            </a:r>
          </a:p>
          <a:p>
            <a:pPr algn="l">
              <a:lnSpc>
                <a:spcPct val="100000"/>
              </a:lnSpc>
              <a:spcAft>
                <a:spcPts val="800"/>
              </a:spcAft>
              <a:defRPr sz="1900" b="0">
                <a:solidFill>
                  <a:srgbClr val="222222"/>
                </a:solidFill>
                <a:latin typeface="Calibri"/>
              </a:defRPr>
            </a:pPr>
            <a:r>
              <a:rPr sz="1900" b="0">
                <a:solidFill>
                  <a:srgbClr val="222222"/>
                </a:solidFill>
                <a:latin typeface="Calibri"/>
              </a:rPr>
              <a:t>scanner is the KITT effect: one bright dot with a fading tail, and the rear LED at 31 - p to stay lined up.</a:t>
            </a:r>
          </a:p>
          <a:p>
            <a:pPr lvl="1" algn="l">
              <a:lnSpc>
                <a:spcPct val="100000"/>
              </a:lnSpc>
              <a:spcAft>
                <a:spcPts val="800"/>
              </a:spcAft>
              <a:defRPr sz="1900" b="0">
                <a:solidFill>
                  <a:srgbClr val="222222"/>
                </a:solidFill>
                <a:latin typeface="Calibri"/>
              </a:defRPr>
            </a:pPr>
            <a:r>
              <a:rPr sz="1900" b="0">
                <a:solidFill>
                  <a:srgbClr val="222222"/>
                </a:solidFill>
                <a:latin typeface="Calibri"/>
              </a:rPr>
              <a:t>The tail uses  &gt;&gt; tail  to halve each step: 255, 127, 63.</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gamma32() corrects for the fact that your eye does not see brightness in a straight line. Without it, the middle of a fade looks too bright.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Patterns</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50 minutes</a:t>
            </a:r>
          </a:p>
        </p:txBody>
      </p:sp>
      <p:sp>
        <p:nvSpPr>
          <p:cNvPr id="7" name="Rounded Rectangle 6"/>
          <p:cNvSpPr/>
          <p:nvPr/>
        </p:nvSpPr>
        <p:spPr>
          <a:xfrm>
            <a:off x="502920"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Addressable LEDs</a:t>
            </a:r>
          </a:p>
        </p:txBody>
      </p:sp>
      <p:sp>
        <p:nvSpPr>
          <p:cNvPr id="8" name="TextBox 7"/>
          <p:cNvSpPr txBox="1"/>
          <p:nvPr/>
        </p:nvSpPr>
        <p:spPr>
          <a:xfrm>
            <a:off x="502920"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3335959"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power budget</a:t>
            </a:r>
          </a:p>
        </p:txBody>
      </p:sp>
      <p:sp>
        <p:nvSpPr>
          <p:cNvPr id="10" name="TextBox 9"/>
          <p:cNvSpPr txBox="1"/>
          <p:nvPr/>
        </p:nvSpPr>
        <p:spPr>
          <a:xfrm>
            <a:off x="3335959"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6168998" y="3886200"/>
            <a:ext cx="2686735"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The LED map</a:t>
            </a:r>
          </a:p>
        </p:txBody>
      </p:sp>
      <p:sp>
        <p:nvSpPr>
          <p:cNvPr id="12" name="TextBox 11"/>
          <p:cNvSpPr txBox="1"/>
          <p:nvPr/>
        </p:nvSpPr>
        <p:spPr>
          <a:xfrm>
            <a:off x="6168998"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9002037" y="3886200"/>
            <a:ext cx="2686735"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Patterns</a:t>
            </a:r>
          </a:p>
        </p:txBody>
      </p:sp>
      <p:sp>
        <p:nvSpPr>
          <p:cNvPr id="14" name="TextBox 13"/>
          <p:cNvSpPr txBox="1"/>
          <p:nvPr/>
        </p:nvSpPr>
        <p:spPr>
          <a:xfrm>
            <a:off x="9002037" y="3520440"/>
            <a:ext cx="2686735"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four patterns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l4c_patterns</a:t>
            </a:r>
            <a:r>
              <a:rPr sz="1200">
                <a:solidFill>
                  <a:srgbClr val="FFFFFF"/>
                </a:solidFill>
                <a:latin typeface="Calibri"/>
              </a:rPr>
              <a:t>     (25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100" b="0">
                <a:solidFill>
                  <a:srgbClr val="222222"/>
                </a:solidFill>
                <a:latin typeface="Calibri"/>
              </a:defRPr>
            </a:pPr>
            <a:r>
              <a:rPr sz="2100" b="0">
                <a:solidFill>
                  <a:srgbClr val="222222"/>
                </a:solidFill>
                <a:latin typeface="Calibri"/>
              </a:rPr>
              <a:t>1.  Upload it and watch all four run.</a:t>
            </a:r>
          </a:p>
          <a:p>
            <a:pPr algn="l">
              <a:lnSpc>
                <a:spcPct val="100000"/>
              </a:lnSpc>
              <a:spcAft>
                <a:spcPts val="800"/>
              </a:spcAft>
              <a:defRPr sz="2100" b="0">
                <a:solidFill>
                  <a:srgbClr val="222222"/>
                </a:solidFill>
                <a:latin typeface="Calibri"/>
              </a:defRPr>
            </a:pPr>
            <a:r>
              <a:rPr sz="2100" b="0">
                <a:solidFill>
                  <a:srgbClr val="222222"/>
                </a:solidFill>
                <a:latin typeface="Calibri"/>
              </a:rPr>
              <a:t>2.  In colorWipe, change the wait from 30 to 5, then to 150.</a:t>
            </a:r>
          </a:p>
          <a:p>
            <a:pPr algn="l">
              <a:lnSpc>
                <a:spcPct val="100000"/>
              </a:lnSpc>
              <a:spcAft>
                <a:spcPts val="800"/>
              </a:spcAft>
              <a:defRPr sz="2100" b="0">
                <a:solidFill>
                  <a:srgbClr val="222222"/>
                </a:solidFill>
                <a:latin typeface="Calibri"/>
              </a:defRPr>
            </a:pPr>
            <a:r>
              <a:rPr sz="2100" b="0">
                <a:solidFill>
                  <a:srgbClr val="222222"/>
                </a:solidFill>
                <a:latin typeface="Calibri"/>
              </a:rPr>
              <a:t>3.  In theaterChase, change BOTH 3s to 4s. What changes?</a:t>
            </a:r>
          </a:p>
          <a:p>
            <a:pPr algn="l">
              <a:lnSpc>
                <a:spcPct val="100000"/>
              </a:lnSpc>
              <a:spcAft>
                <a:spcPts val="800"/>
              </a:spcAft>
              <a:defRPr sz="2100" b="0">
                <a:solidFill>
                  <a:srgbClr val="222222"/>
                </a:solidFill>
                <a:latin typeface="Calibri"/>
              </a:defRPr>
            </a:pPr>
            <a:r>
              <a:rPr sz="2100" b="0">
                <a:solidFill>
                  <a:srgbClr val="222222"/>
                </a:solidFill>
                <a:latin typeface="Calibri"/>
              </a:rPr>
              <a:t>4.  Change SCANNER_TAIL from 3 to 0, then to 8.</a:t>
            </a:r>
          </a:p>
          <a:p>
            <a:pPr algn="l">
              <a:lnSpc>
                <a:spcPct val="100000"/>
              </a:lnSpc>
              <a:spcAft>
                <a:spcPts val="800"/>
              </a:spcAft>
              <a:defRPr sz="2100" b="0">
                <a:solidFill>
                  <a:srgbClr val="222222"/>
                </a:solidFill>
                <a:latin typeface="Calibri"/>
              </a:defRPr>
            </a:pPr>
            <a:r>
              <a:rPr sz="2100" b="0">
                <a:solidFill>
                  <a:srgbClr val="222222"/>
                </a:solidFill>
                <a:latin typeface="Calibri"/>
              </a:rPr>
              <a:t>5.  Change the scanner color to blue. You now have a Cylon instead of KITT.</a:t>
            </a:r>
          </a:p>
          <a:p>
            <a:pPr algn="l">
              <a:lnSpc>
                <a:spcPct val="100000"/>
              </a:lnSpc>
              <a:spcAft>
                <a:spcPts val="800"/>
              </a:spcAft>
              <a:defRPr sz="2100" b="0">
                <a:solidFill>
                  <a:srgbClr val="222222"/>
                </a:solidFill>
                <a:latin typeface="Calibri"/>
              </a:defRPr>
            </a:pPr>
            <a:r>
              <a:rPr sz="2100" b="0">
                <a:solidFill>
                  <a:srgbClr val="222222"/>
                </a:solidFill>
                <a:latin typeface="Calibri"/>
              </a:rPr>
              <a:t>6.  Copy colorWipe, rename it, and make it run BACKWARDS. Call it from loop().</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458305"/>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Color wipe, theater chase, a flowing rainbow, then the scanner sweeping front and rear together.</a:t>
            </a:r>
          </a:p>
        </p:txBody>
      </p:sp>
      <p:sp>
        <p:nvSpPr>
          <p:cNvPr id="10" name="TextBox 9"/>
          <p:cNvSpPr txBox="1"/>
          <p:nvPr/>
        </p:nvSpPr>
        <p:spPr>
          <a:xfrm>
            <a:off x="7163537" y="3835745"/>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238081"/>
            <a:ext cx="4525238" cy="2025558"/>
          </a:xfrm>
          <a:prstGeom prst="rect">
            <a:avLst/>
          </a:prstGeom>
          <a:noFill/>
        </p:spPr>
        <p:txBody>
          <a:bodyPr wrap="square" lIns="0" tIns="0" rIns="0" bIns="0">
            <a:spAutoFit/>
          </a:bodyPr>
          <a:lstStyle/>
          <a:p>
            <a:pPr algn="l">
              <a:lnSpc>
                <a:spcPct val="100000"/>
              </a:lnSpc>
              <a:spcAft>
                <a:spcPts val="300"/>
              </a:spcAft>
              <a:defRPr sz="2500" b="0">
                <a:solidFill>
                  <a:srgbClr val="222222"/>
                </a:solidFill>
                <a:latin typeface="Calibri"/>
              </a:defRPr>
            </a:pPr>
            <a:r>
              <a:rPr sz="2500" b="0">
                <a:solidFill>
                  <a:srgbClr val="222222"/>
                </a:solidFill>
                <a:latin typeface="Calibri"/>
              </a:rPr>
              <a:t>In theaterChase, why does the inner loop step in threes?</a:t>
            </a:r>
          </a:p>
          <a:p>
            <a:pPr algn="l">
              <a:lnSpc>
                <a:spcPct val="100000"/>
              </a:lnSpc>
              <a:spcAft>
                <a:spcPts val="300"/>
              </a:spcAft>
              <a:defRPr sz="2500" b="0">
                <a:solidFill>
                  <a:srgbClr val="222222"/>
                </a:solidFill>
                <a:latin typeface="Calibri"/>
              </a:defRPr>
            </a:pPr>
            <a:r>
              <a:rPr sz="2500" b="0">
                <a:solidFill>
                  <a:srgbClr val="222222"/>
                </a:solidFill>
                <a:latin typeface="Calibri"/>
              </a:rPr>
              <a:t>What does &gt;&gt; 1 do to a number? Why does that dim an LED?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Design a pattern of your own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Twenty minutes, in your groups</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Invent a lighting pattern for your vehicle and write it as a function. Some starting points:</a:t>
            </a:r>
          </a:p>
          <a:p>
            <a:pPr lvl="1" algn="l">
              <a:lnSpc>
                <a:spcPct val="100000"/>
              </a:lnSpc>
              <a:spcAft>
                <a:spcPts val="600"/>
              </a:spcAft>
              <a:defRPr sz="1900" b="0">
                <a:solidFill>
                  <a:srgbClr val="222222"/>
                </a:solidFill>
                <a:latin typeface="Calibri"/>
              </a:defRPr>
            </a:pPr>
            <a:r>
              <a:rPr sz="1900" b="0">
                <a:solidFill>
                  <a:srgbClr val="222222"/>
                </a:solidFill>
                <a:latin typeface="Calibri"/>
              </a:rPr>
              <a:t>Police lights - left red, right blue, alternating</a:t>
            </a:r>
          </a:p>
          <a:p>
            <a:pPr lvl="1" algn="l">
              <a:lnSpc>
                <a:spcPct val="100000"/>
              </a:lnSpc>
              <a:spcAft>
                <a:spcPts val="600"/>
              </a:spcAft>
              <a:defRPr sz="1900" b="0">
                <a:solidFill>
                  <a:srgbClr val="222222"/>
                </a:solidFill>
                <a:latin typeface="Calibri"/>
              </a:defRPr>
            </a:pPr>
            <a:r>
              <a:rPr sz="1900" b="0">
                <a:solidFill>
                  <a:srgbClr val="222222"/>
                </a:solidFill>
                <a:latin typeface="Calibri"/>
              </a:rPr>
              <a:t>A countdown - all 32 red, then fewer, then green</a:t>
            </a:r>
          </a:p>
          <a:p>
            <a:pPr lvl="1" algn="l">
              <a:lnSpc>
                <a:spcPct val="100000"/>
              </a:lnSpc>
              <a:spcAft>
                <a:spcPts val="600"/>
              </a:spcAft>
              <a:defRPr sz="1900" b="0">
                <a:solidFill>
                  <a:srgbClr val="222222"/>
                </a:solidFill>
                <a:latin typeface="Calibri"/>
              </a:defRPr>
            </a:pPr>
            <a:r>
              <a:rPr sz="1900" b="0">
                <a:solidFill>
                  <a:srgbClr val="222222"/>
                </a:solidFill>
                <a:latin typeface="Calibri"/>
              </a:rPr>
              <a:t>A battery gauge - green to amber to red across the front</a:t>
            </a:r>
          </a:p>
          <a:p>
            <a:pPr lvl="1" algn="l">
              <a:lnSpc>
                <a:spcPct val="100000"/>
              </a:lnSpc>
              <a:spcAft>
                <a:spcPts val="600"/>
              </a:spcAft>
              <a:defRPr sz="1900" b="0">
                <a:solidFill>
                  <a:srgbClr val="222222"/>
                </a:solidFill>
                <a:latin typeface="Calibri"/>
              </a:defRPr>
            </a:pPr>
            <a:r>
              <a:rPr sz="1900" b="0">
                <a:solidFill>
                  <a:srgbClr val="222222"/>
                </a:solidFill>
                <a:latin typeface="Calibri"/>
              </a:rPr>
              <a:t>Breathing - all 32 fading smoothly up and down</a:t>
            </a:r>
          </a:p>
          <a:p>
            <a:pPr lvl="1" algn="l">
              <a:lnSpc>
                <a:spcPct val="100000"/>
              </a:lnSpc>
              <a:spcAft>
                <a:spcPts val="600"/>
              </a:spcAft>
              <a:defRPr sz="1900" b="0">
                <a:solidFill>
                  <a:srgbClr val="222222"/>
                </a:solidFill>
                <a:latin typeface="Calibri"/>
              </a:defRPr>
            </a:pPr>
            <a:r>
              <a:rPr sz="1900" b="0">
                <a:solidFill>
                  <a:srgbClr val="222222"/>
                </a:solidFill>
                <a:latin typeface="Calibri"/>
              </a:rPr>
              <a:t>A collision warning that flashes faster as you close in</a:t>
            </a:r>
          </a:p>
          <a:p>
            <a:pPr lvl="1" algn="l">
              <a:lnSpc>
                <a:spcPct val="100000"/>
              </a:lnSpc>
              <a:spcAft>
                <a:spcPts val="600"/>
              </a:spcAft>
              <a:defRPr sz="1900" b="0">
                <a:solidFill>
                  <a:srgbClr val="222222"/>
                </a:solidFill>
                <a:latin typeface="Calibri"/>
              </a:defRPr>
            </a:pPr>
            <a:r>
              <a:rPr sz="1900" b="0">
                <a:solidFill>
                  <a:srgbClr val="222222"/>
                </a:solidFill>
                <a:latin typeface="Calibri"/>
              </a:rPr>
              <a:t>A stoplight - front bar red, amber, green, on a timer, with the rear bar matching</a:t>
            </a:r>
          </a:p>
          <a:p>
            <a:pPr lvl="1" algn="l">
              <a:lnSpc>
                <a:spcPct val="100000"/>
              </a:lnSpc>
              <a:spcAft>
                <a:spcPts val="600"/>
              </a:spcAft>
              <a:defRPr sz="1900" b="0">
                <a:solidFill>
                  <a:srgbClr val="222222"/>
                </a:solidFill>
                <a:latin typeface="Calibri"/>
              </a:defRPr>
            </a:pPr>
            <a:r>
              <a:rPr sz="1900" b="0">
                <a:solidFill>
                  <a:srgbClr val="222222"/>
                </a:solidFill>
                <a:latin typeface="Calibri"/>
              </a:rPr>
              <a:t>D-pad quadrants - light only the quarter you press</a:t>
            </a:r>
          </a:p>
          <a:p>
            <a:pPr algn="l">
              <a:lnSpc>
                <a:spcPct val="100000"/>
              </a:lnSpc>
              <a:spcAft>
                <a:spcPts val="600"/>
              </a:spcAft>
              <a:defRPr sz="1900" b="0">
                <a:solidFill>
                  <a:srgbClr val="222222"/>
                </a:solidFill>
                <a:latin typeface="Calibri"/>
              </a:defRPr>
            </a:pPr>
            <a:r>
              <a:rPr sz="1900" b="0">
                <a:solidFill>
                  <a:srgbClr val="222222"/>
                </a:solidFill>
                <a:latin typeface="Calibri"/>
              </a:rPr>
              <a:t>Rules: a function you call from loop(), using at least one for loop. Then show the class - the best one gets used in the race next lesson.</a:t>
            </a:r>
          </a:p>
          <a:p>
            <a:pPr algn="l">
              <a:lnSpc>
                <a:spcPct val="100000"/>
              </a:lnSpc>
              <a:spcAft>
                <a:spcPts val="600"/>
              </a:spcAft>
              <a:defRPr sz="1900" b="0">
                <a:solidFill>
                  <a:srgbClr val="222222"/>
                </a:solidFill>
                <a:latin typeface="Calibri"/>
              </a:defRPr>
            </a:pPr>
            <a:r>
              <a:rPr sz="1900" b="0">
                <a:solidFill>
                  <a:srgbClr val="222222"/>
                </a:solidFill>
                <a:latin typeface="Calibri"/>
              </a:rPr>
              <a:t>Stuck on how to write something? It is on your cheat sheet.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When the lights will not do what you want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Work down this list before you change any code.</a:t>
            </a:r>
          </a:p>
        </p:txBody>
      </p:sp>
      <p:graphicFrame>
        <p:nvGraphicFramePr>
          <p:cNvPr id="7" name="Table 6"/>
          <p:cNvGraphicFramePr>
            <a:graphicFrameLocks noGrp="1"/>
          </p:cNvGraphicFramePr>
          <p:nvPr/>
        </p:nvGraphicFramePr>
        <p:xfrm>
          <a:off x="502920" y="1691640"/>
          <a:ext cx="11185854" cy="4495800"/>
        </p:xfrm>
        <a:graphic>
          <a:graphicData uri="http://schemas.openxmlformats.org/drawingml/2006/table">
            <a:tbl>
              <a:tblPr firstRow="1" bandRow="1">
                <a:tableStyleId>{5C22544A-7EE6-4342-B048-85BDC9FD1C3A}</a:tableStyleId>
              </a:tblPr>
              <a:tblGrid>
                <a:gridCol w="3457446"/>
                <a:gridCol w="3254066"/>
                <a:gridCol w="4474342"/>
              </a:tblGrid>
              <a:tr h="499533">
                <a:tc>
                  <a:txBody>
                    <a:bodyPr/>
                    <a:lstStyle/>
                    <a:p>
                      <a:r>
                        <a:rPr sz="1600" b="1">
                          <a:solidFill>
                            <a:srgbClr val="FFFFFF"/>
                          </a:solidFill>
                          <a:latin typeface="Calibri"/>
                        </a:rPr>
                        <a:t>Symptom</a:t>
                      </a:r>
                    </a:p>
                  </a:txBody>
                  <a:tcPr marL="73152" marT="18288" marB="18288">
                    <a:solidFill>
                      <a:srgbClr val="1F3A5F"/>
                    </a:solidFill>
                  </a:tcPr>
                </a:tc>
                <a:tc>
                  <a:txBody>
                    <a:bodyPr/>
                    <a:lstStyle/>
                    <a:p>
                      <a:r>
                        <a:rPr sz="1600" b="1">
                          <a:solidFill>
                            <a:srgbClr val="FFFFFF"/>
                          </a:solidFill>
                          <a:latin typeface="Calibri"/>
                        </a:rPr>
                        <a:t>Most likely cause</a:t>
                      </a:r>
                    </a:p>
                  </a:txBody>
                  <a:tcPr marL="73152" marT="18288" marB="18288">
                    <a:solidFill>
                      <a:srgbClr val="1F3A5F"/>
                    </a:solidFill>
                  </a:tcPr>
                </a:tc>
                <a:tc>
                  <a:txBody>
                    <a:bodyPr/>
                    <a:lstStyle/>
                    <a:p>
                      <a:r>
                        <a:rPr sz="1600" b="1">
                          <a:solidFill>
                            <a:srgbClr val="FFFFFF"/>
                          </a:solidFill>
                          <a:latin typeface="Calibri"/>
                        </a:rPr>
                        <a:t>What to do</a:t>
                      </a:r>
                    </a:p>
                  </a:txBody>
                  <a:tcPr marL="73152" marT="18288" marB="18288">
                    <a:solidFill>
                      <a:srgbClr val="1F3A5F"/>
                    </a:solidFill>
                  </a:tcPr>
                </a:tc>
              </a:tr>
              <a:tr h="499533">
                <a:tc>
                  <a:txBody>
                    <a:bodyPr/>
                    <a:lstStyle/>
                    <a:p>
                      <a:r>
                        <a:rPr sz="1600">
                          <a:solidFill>
                            <a:srgbClr val="222222"/>
                          </a:solidFill>
                          <a:latin typeface="Calibri"/>
                        </a:rPr>
                        <a:t>Nothing lights at all</a:t>
                      </a:r>
                    </a:p>
                  </a:txBody>
                  <a:tcPr marL="73152" marT="18288" marB="18288">
                    <a:solidFill>
                      <a:srgbClr val="FFFFFF"/>
                    </a:solidFill>
                  </a:tcPr>
                </a:tc>
                <a:tc>
                  <a:txBody>
                    <a:bodyPr/>
                    <a:lstStyle/>
                    <a:p>
                      <a:r>
                        <a:rPr sz="1600">
                          <a:solidFill>
                            <a:srgbClr val="222222"/>
                          </a:solidFill>
                          <a:latin typeface="Calibri"/>
                        </a:rPr>
                        <a:t>No show() call</a:t>
                      </a:r>
                    </a:p>
                  </a:txBody>
                  <a:tcPr marL="73152" marT="18288" marB="18288">
                    <a:solidFill>
                      <a:srgbClr val="FFFFFF"/>
                    </a:solidFill>
                  </a:tcPr>
                </a:tc>
                <a:tc>
                  <a:txBody>
                    <a:bodyPr/>
                    <a:lstStyle/>
                    <a:p>
                      <a:r>
                        <a:rPr sz="1600">
                          <a:solidFill>
                            <a:srgbClr val="222222"/>
                          </a:solidFill>
                          <a:latin typeface="Calibri"/>
                        </a:rPr>
                        <a:t>Add strip.show() after the setPixelColor calls</a:t>
                      </a:r>
                    </a:p>
                  </a:txBody>
                  <a:tcPr marL="73152" marT="18288" marB="18288">
                    <a:solidFill>
                      <a:srgbClr val="FFFFFF"/>
                    </a:solidFill>
                  </a:tcPr>
                </a:tc>
              </a:tr>
              <a:tr h="499533">
                <a:tc>
                  <a:txBody>
                    <a:bodyPr/>
                    <a:lstStyle/>
                    <a:p>
                      <a:r>
                        <a:rPr sz="1600">
                          <a:solidFill>
                            <a:srgbClr val="222222"/>
                          </a:solidFill>
                          <a:latin typeface="Calibri"/>
                        </a:rPr>
                        <a:t>Only the first few light</a:t>
                      </a:r>
                    </a:p>
                  </a:txBody>
                  <a:tcPr marL="73152" marT="18288" marB="18288">
                    <a:solidFill>
                      <a:srgbClr val="EEF3F8"/>
                    </a:solidFill>
                  </a:tcPr>
                </a:tc>
                <a:tc>
                  <a:txBody>
                    <a:bodyPr/>
                    <a:lstStyle/>
                    <a:p>
                      <a:r>
                        <a:rPr sz="1600">
                          <a:solidFill>
                            <a:srgbClr val="222222"/>
                          </a:solidFill>
                          <a:latin typeface="Calibri"/>
                        </a:rPr>
                        <a:t>LED_COUNT too small</a:t>
                      </a:r>
                    </a:p>
                  </a:txBody>
                  <a:tcPr marL="73152" marT="18288" marB="18288">
                    <a:solidFill>
                      <a:srgbClr val="EEF3F8"/>
                    </a:solidFill>
                  </a:tcPr>
                </a:tc>
                <a:tc>
                  <a:txBody>
                    <a:bodyPr/>
                    <a:lstStyle/>
                    <a:p>
                      <a:r>
                        <a:rPr sz="1600">
                          <a:solidFill>
                            <a:srgbClr val="222222"/>
                          </a:solidFill>
                          <a:latin typeface="Calibri"/>
                        </a:rPr>
                        <a:t>It must be 32, not 12 or 16</a:t>
                      </a:r>
                    </a:p>
                  </a:txBody>
                  <a:tcPr marL="73152" marT="18288" marB="18288">
                    <a:solidFill>
                      <a:srgbClr val="EEF3F8"/>
                    </a:solidFill>
                  </a:tcPr>
                </a:tc>
              </a:tr>
              <a:tr h="499533">
                <a:tc>
                  <a:txBody>
                    <a:bodyPr/>
                    <a:lstStyle/>
                    <a:p>
                      <a:r>
                        <a:rPr sz="1600">
                          <a:solidFill>
                            <a:srgbClr val="222222"/>
                          </a:solidFill>
                          <a:latin typeface="Calibri"/>
                        </a:rPr>
                        <a:t>Colors are wrong - red shows green</a:t>
                      </a:r>
                    </a:p>
                  </a:txBody>
                  <a:tcPr marL="73152" marT="18288" marB="18288">
                    <a:solidFill>
                      <a:srgbClr val="FFFFFF"/>
                    </a:solidFill>
                  </a:tcPr>
                </a:tc>
                <a:tc>
                  <a:txBody>
                    <a:bodyPr/>
                    <a:lstStyle/>
                    <a:p>
                      <a:r>
                        <a:rPr sz="1600">
                          <a:solidFill>
                            <a:srgbClr val="222222"/>
                          </a:solidFill>
                          <a:latin typeface="Calibri"/>
                        </a:rPr>
                        <a:t>Wrong color order</a:t>
                      </a:r>
                    </a:p>
                  </a:txBody>
                  <a:tcPr marL="73152" marT="18288" marB="18288">
                    <a:solidFill>
                      <a:srgbClr val="FFFFFF"/>
                    </a:solidFill>
                  </a:tcPr>
                </a:tc>
                <a:tc>
                  <a:txBody>
                    <a:bodyPr/>
                    <a:lstStyle/>
                    <a:p>
                      <a:r>
                        <a:rPr sz="1600">
                          <a:solidFill>
                            <a:srgbClr val="222222"/>
                          </a:solidFill>
                          <a:latin typeface="Calibri"/>
                        </a:rPr>
                        <a:t>Check NEO_GRB in the constructor</a:t>
                      </a:r>
                    </a:p>
                  </a:txBody>
                  <a:tcPr marL="73152" marT="18288" marB="18288">
                    <a:solidFill>
                      <a:srgbClr val="FFFFFF"/>
                    </a:solidFill>
                  </a:tcPr>
                </a:tc>
              </a:tr>
              <a:tr h="499533">
                <a:tc>
                  <a:txBody>
                    <a:bodyPr/>
                    <a:lstStyle/>
                    <a:p>
                      <a:r>
                        <a:rPr sz="1600">
                          <a:solidFill>
                            <a:srgbClr val="222222"/>
                          </a:solidFill>
                          <a:latin typeface="Calibri"/>
                        </a:rPr>
                        <a:t>The last few flicker</a:t>
                      </a:r>
                    </a:p>
                  </a:txBody>
                  <a:tcPr marL="73152" marT="18288" marB="18288">
                    <a:solidFill>
                      <a:srgbClr val="EEF3F8"/>
                    </a:solidFill>
                  </a:tcPr>
                </a:tc>
                <a:tc>
                  <a:txBody>
                    <a:bodyPr/>
                    <a:lstStyle/>
                    <a:p>
                      <a:r>
                        <a:rPr sz="1600">
                          <a:solidFill>
                            <a:srgbClr val="222222"/>
                          </a:solidFill>
                          <a:latin typeface="Calibri"/>
                        </a:rPr>
                        <a:t>Not enough power, or a long data run</a:t>
                      </a:r>
                    </a:p>
                  </a:txBody>
                  <a:tcPr marL="73152" marT="18288" marB="18288">
                    <a:solidFill>
                      <a:srgbClr val="EEF3F8"/>
                    </a:solidFill>
                  </a:tcPr>
                </a:tc>
                <a:tc>
                  <a:txBody>
                    <a:bodyPr/>
                    <a:lstStyle/>
                    <a:p>
                      <a:r>
                        <a:rPr sz="1600">
                          <a:solidFill>
                            <a:srgbClr val="222222"/>
                          </a:solidFill>
                          <a:latin typeface="Calibri"/>
                        </a:rPr>
                        <a:t>Lower the brightness and try again</a:t>
                      </a:r>
                    </a:p>
                  </a:txBody>
                  <a:tcPr marL="73152" marT="18288" marB="18288">
                    <a:solidFill>
                      <a:srgbClr val="EEF3F8"/>
                    </a:solidFill>
                  </a:tcPr>
                </a:tc>
              </a:tr>
              <a:tr h="499533">
                <a:tc>
                  <a:txBody>
                    <a:bodyPr/>
                    <a:lstStyle/>
                    <a:p>
                      <a:r>
                        <a:rPr sz="1600">
                          <a:solidFill>
                            <a:srgbClr val="222222"/>
                          </a:solidFill>
                          <a:latin typeface="Calibri"/>
                        </a:rPr>
                        <a:t>A pattern leaves a trail behind it</a:t>
                      </a:r>
                    </a:p>
                  </a:txBody>
                  <a:tcPr marL="73152" marT="18288" marB="18288">
                    <a:solidFill>
                      <a:srgbClr val="FFFFFF"/>
                    </a:solidFill>
                  </a:tcPr>
                </a:tc>
                <a:tc>
                  <a:txBody>
                    <a:bodyPr/>
                    <a:lstStyle/>
                    <a:p>
                      <a:r>
                        <a:rPr sz="1600">
                          <a:solidFill>
                            <a:srgbClr val="222222"/>
                          </a:solidFill>
                          <a:latin typeface="Calibri"/>
                        </a:rPr>
                        <a:t>The strip was not cleared</a:t>
                      </a:r>
                    </a:p>
                  </a:txBody>
                  <a:tcPr marL="73152" marT="18288" marB="18288">
                    <a:solidFill>
                      <a:srgbClr val="FFFFFF"/>
                    </a:solidFill>
                  </a:tcPr>
                </a:tc>
                <a:tc>
                  <a:txBody>
                    <a:bodyPr/>
                    <a:lstStyle/>
                    <a:p>
                      <a:r>
                        <a:rPr sz="1600">
                          <a:solidFill>
                            <a:srgbClr val="222222"/>
                          </a:solidFill>
                          <a:latin typeface="Calibri"/>
                        </a:rPr>
                        <a:t>strip.clear() at the start of each frame</a:t>
                      </a:r>
                    </a:p>
                  </a:txBody>
                  <a:tcPr marL="73152" marT="18288" marB="18288">
                    <a:solidFill>
                      <a:srgbClr val="FFFFFF"/>
                    </a:solidFill>
                  </a:tcPr>
                </a:tc>
              </a:tr>
              <a:tr h="499533">
                <a:tc>
                  <a:txBody>
                    <a:bodyPr/>
                    <a:lstStyle/>
                    <a:p>
                      <a:r>
                        <a:rPr sz="1600">
                          <a:solidFill>
                            <a:srgbClr val="222222"/>
                          </a:solidFill>
                          <a:latin typeface="Calibri"/>
                        </a:rPr>
                        <a:t>Lights work, vehicle stutters</a:t>
                      </a:r>
                    </a:p>
                  </a:txBody>
                  <a:tcPr marL="73152" marT="18288" marB="18288">
                    <a:solidFill>
                      <a:srgbClr val="EEF3F8"/>
                    </a:solidFill>
                  </a:tcPr>
                </a:tc>
                <a:tc>
                  <a:txBody>
                    <a:bodyPr/>
                    <a:lstStyle/>
                    <a:p>
                      <a:r>
                        <a:rPr sz="1600">
                          <a:solidFill>
                            <a:srgbClr val="222222"/>
                          </a:solidFill>
                          <a:latin typeface="Calibri"/>
                        </a:rPr>
                        <a:t>delay() inside an animation</a:t>
                      </a:r>
                    </a:p>
                  </a:txBody>
                  <a:tcPr marL="73152" marT="18288" marB="18288">
                    <a:solidFill>
                      <a:srgbClr val="EEF3F8"/>
                    </a:solidFill>
                  </a:tcPr>
                </a:tc>
                <a:tc>
                  <a:txBody>
                    <a:bodyPr/>
                    <a:lstStyle/>
                    <a:p>
                      <a:r>
                        <a:rPr sz="1600">
                          <a:solidFill>
                            <a:srgbClr val="222222"/>
                          </a:solidFill>
                          <a:latin typeface="Calibri"/>
                        </a:rPr>
                        <a:t>Lesson 5 - use millis() instead</a:t>
                      </a:r>
                    </a:p>
                  </a:txBody>
                  <a:tcPr marL="73152" marT="18288" marB="18288">
                    <a:solidFill>
                      <a:srgbClr val="EEF3F8"/>
                    </a:solidFill>
                  </a:tcPr>
                </a:tc>
              </a:tr>
              <a:tr h="499533">
                <a:tc>
                  <a:txBody>
                    <a:bodyPr/>
                    <a:lstStyle/>
                    <a:p>
                      <a:r>
                        <a:rPr sz="1600">
                          <a:solidFill>
                            <a:srgbClr val="222222"/>
                          </a:solidFill>
                          <a:latin typeface="Calibri"/>
                        </a:rPr>
                        <a:t>One LED stays dark, the rest work</a:t>
                      </a:r>
                    </a:p>
                  </a:txBody>
                  <a:tcPr marL="73152" marT="18288" marB="18288">
                    <a:solidFill>
                      <a:srgbClr val="FFFFFF"/>
                    </a:solidFill>
                  </a:tcPr>
                </a:tc>
                <a:tc>
                  <a:txBody>
                    <a:bodyPr/>
                    <a:lstStyle/>
                    <a:p>
                      <a:r>
                        <a:rPr sz="1600">
                          <a:solidFill>
                            <a:srgbClr val="222222"/>
                          </a:solidFill>
                          <a:latin typeface="Calibri"/>
                        </a:rPr>
                        <a:t>That pixel's LED has failed</a:t>
                      </a:r>
                    </a:p>
                  </a:txBody>
                  <a:tcPr marL="73152" marT="18288" marB="18288">
                    <a:solidFill>
                      <a:srgbClr val="FFFFFF"/>
                    </a:solidFill>
                  </a:tcPr>
                </a:tc>
                <a:tc>
                  <a:txBody>
                    <a:bodyPr/>
                    <a:lstStyle/>
                    <a:p>
                      <a:r>
                        <a:rPr sz="1600">
                          <a:solidFill>
                            <a:srgbClr val="222222"/>
                          </a:solidFill>
                          <a:latin typeface="Calibri"/>
                        </a:rPr>
                        <a:t>Its chip still passes the data on - replace it when you can</a:t>
                      </a:r>
                    </a:p>
                  </a:txBody>
                  <a:tcPr marL="73152" marT="18288" marB="18288">
                    <a:solidFill>
                      <a:srgbClr val="FFFFFF"/>
                    </a:solidFill>
                  </a:tcPr>
                </a:tc>
              </a:tr>
              <a:tr h="499536">
                <a:tc>
                  <a:txBody>
                    <a:bodyPr/>
                    <a:lstStyle/>
                    <a:p>
                      <a:r>
                        <a:rPr sz="1600">
                          <a:solidFill>
                            <a:srgbClr val="222222"/>
                          </a:solidFill>
                          <a:latin typeface="Calibri"/>
                        </a:rPr>
                        <a:t>Every LED after one point is dark</a:t>
                      </a:r>
                    </a:p>
                  </a:txBody>
                  <a:tcPr marL="73152" marT="18288" marB="18288">
                    <a:solidFill>
                      <a:srgbClr val="EEF3F8"/>
                    </a:solidFill>
                  </a:tcPr>
                </a:tc>
                <a:tc>
                  <a:txBody>
                    <a:bodyPr/>
                    <a:lstStyle/>
                    <a:p>
                      <a:r>
                        <a:rPr sz="1600">
                          <a:solidFill>
                            <a:srgbClr val="222222"/>
                          </a:solidFill>
                          <a:latin typeface="Calibri"/>
                        </a:rPr>
                        <a:t>The data chain is broken at that pixel</a:t>
                      </a:r>
                    </a:p>
                  </a:txBody>
                  <a:tcPr marL="73152" marT="18288" marB="18288">
                    <a:solidFill>
                      <a:srgbClr val="EEF3F8"/>
                    </a:solidFill>
                  </a:tcPr>
                </a:tc>
                <a:tc>
                  <a:txBody>
                    <a:bodyPr/>
                    <a:lstStyle/>
                    <a:p>
                      <a:r>
                        <a:rPr sz="1600">
                          <a:solidFill>
                            <a:srgbClr val="222222"/>
                          </a:solidFill>
                          <a:latin typeface="Calibri"/>
                        </a:rPr>
                        <a:t>Check its DATA IN and DATA OUT joints</a:t>
                      </a:r>
                    </a:p>
                  </a:txBody>
                  <a:tcPr marL="73152" marT="18288" marB="18288">
                    <a:solidFill>
                      <a:srgbClr val="EEF3F8"/>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Next lesson: everything at once, and a race.</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400" b="0">
                <a:solidFill>
                  <a:srgbClr val="222222"/>
                </a:solidFill>
                <a:latin typeface="Calibri"/>
              </a:defRPr>
            </a:pPr>
            <a:r>
              <a:rPr sz="2400" b="0">
                <a:solidFill>
                  <a:srgbClr val="222222"/>
                </a:solidFill>
                <a:latin typeface="Calibri"/>
              </a:rPr>
              <a:t>1.  How can 32 LEDs be controlled independently over one wire?</a:t>
            </a:r>
          </a:p>
          <a:p>
            <a:pPr algn="l">
              <a:lnSpc>
                <a:spcPct val="100000"/>
              </a:lnSpc>
              <a:spcAft>
                <a:spcPts val="1100"/>
              </a:spcAft>
              <a:defRPr sz="2400" b="0">
                <a:solidFill>
                  <a:srgbClr val="222222"/>
                </a:solidFill>
                <a:latin typeface="Calibri"/>
              </a:defRPr>
            </a:pPr>
            <a:r>
              <a:rPr sz="2400" b="0">
                <a:solidFill>
                  <a:srgbClr val="222222"/>
                </a:solidFill>
                <a:latin typeface="Calibri"/>
              </a:rPr>
              <a:t>2.  What are the four connections on a NeoPixel?</a:t>
            </a:r>
          </a:p>
          <a:p>
            <a:pPr algn="l">
              <a:lnSpc>
                <a:spcPct val="100000"/>
              </a:lnSpc>
              <a:spcAft>
                <a:spcPts val="1100"/>
              </a:spcAft>
              <a:defRPr sz="2400" b="0">
                <a:solidFill>
                  <a:srgbClr val="222222"/>
                </a:solidFill>
                <a:latin typeface="Calibri"/>
              </a:defRPr>
            </a:pPr>
            <a:r>
              <a:rPr sz="2400" b="0">
                <a:solidFill>
                  <a:srgbClr val="222222"/>
                </a:solidFill>
                <a:latin typeface="Calibri"/>
              </a:rPr>
              <a:t>3.  You call setPixelColor for LEDs 0 to 15 but nothing lights up. What did you forget?</a:t>
            </a:r>
          </a:p>
          <a:p>
            <a:pPr algn="l">
              <a:lnSpc>
                <a:spcPct val="100000"/>
              </a:lnSpc>
              <a:spcAft>
                <a:spcPts val="1100"/>
              </a:spcAft>
              <a:defRPr sz="2400" b="0">
                <a:solidFill>
                  <a:srgbClr val="222222"/>
                </a:solidFill>
                <a:latin typeface="Calibri"/>
              </a:defRPr>
            </a:pPr>
            <a:r>
              <a:rPr sz="2400" b="0">
                <a:solidFill>
                  <a:srgbClr val="222222"/>
                </a:solidFill>
                <a:latin typeface="Calibri"/>
              </a:rPr>
              <a:t>4.  What color is strip.Color(255, 255, 0)? Why?</a:t>
            </a:r>
          </a:p>
          <a:p>
            <a:pPr algn="l">
              <a:lnSpc>
                <a:spcPct val="100000"/>
              </a:lnSpc>
              <a:spcAft>
                <a:spcPts val="1100"/>
              </a:spcAft>
              <a:defRPr sz="2400" b="0">
                <a:solidFill>
                  <a:srgbClr val="222222"/>
                </a:solidFill>
                <a:latin typeface="Calibri"/>
              </a:defRPr>
            </a:pPr>
            <a:r>
              <a:rPr sz="2400" b="0">
                <a:solidFill>
                  <a:srgbClr val="222222"/>
                </a:solidFill>
                <a:latin typeface="Calibri"/>
              </a:rPr>
              <a:t>5.  32 pixels of full white draw about how much current?</a:t>
            </a:r>
          </a:p>
          <a:p>
            <a:pPr algn="l">
              <a:lnSpc>
                <a:spcPct val="100000"/>
              </a:lnSpc>
              <a:spcAft>
                <a:spcPts val="1100"/>
              </a:spcAft>
              <a:defRPr sz="2400" b="0">
                <a:solidFill>
                  <a:srgbClr val="222222"/>
                </a:solidFill>
                <a:latin typeface="Calibri"/>
              </a:defRPr>
            </a:pPr>
            <a:r>
              <a:rPr sz="2400" b="0">
                <a:solidFill>
                  <a:srgbClr val="222222"/>
                </a:solidFill>
                <a:latin typeface="Calibri"/>
              </a:rPr>
              <a:t>6.  Which LEDs are on the LEFT side of the vehicle?</a:t>
            </a:r>
          </a:p>
          <a:p>
            <a:pPr algn="l">
              <a:lnSpc>
                <a:spcPct val="100000"/>
              </a:lnSpc>
              <a:spcAft>
                <a:spcPts val="1100"/>
              </a:spcAft>
              <a:defRPr sz="2400" b="0">
                <a:solidFill>
                  <a:srgbClr val="222222"/>
                </a:solidFill>
                <a:latin typeface="Calibri"/>
              </a:defRPr>
            </a:pPr>
            <a:r>
              <a:rPr sz="2400" b="0">
                <a:solidFill>
                  <a:srgbClr val="222222"/>
                </a:solidFill>
                <a:latin typeface="Calibri"/>
              </a:rPr>
              <a:t>7.  Which LED is directly opposite front LED 6?</a:t>
            </a:r>
          </a:p>
          <a:p>
            <a:pPr algn="l">
              <a:lnSpc>
                <a:spcPct val="100000"/>
              </a:lnSpc>
              <a:spcAft>
                <a:spcPts val="1100"/>
              </a:spcAft>
              <a:defRPr sz="2400" b="0">
                <a:solidFill>
                  <a:srgbClr val="222222"/>
                </a:solidFill>
                <a:latin typeface="Calibri"/>
              </a:defRPr>
            </a:pPr>
            <a:r>
              <a:rPr sz="2400" b="0">
                <a:solidFill>
                  <a:srgbClr val="222222"/>
                </a:solidFill>
                <a:latin typeface="Calibri"/>
              </a:rPr>
              <a:t>8.  Write a for loop that lights only the rear bar in 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