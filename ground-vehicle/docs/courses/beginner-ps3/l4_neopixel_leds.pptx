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pixel is three tiny LEDs behind one lens. Hold a vehicle close enough that somebody in the front row can see them.</a:t>
            </a:r>
          </a:p>
          <a:p>
            <a:r>
              <a:rPr sz="1200">
                <a:latin typeface="Calibri"/>
              </a:rPr>
              <a:t>Three numbers, 0 to 255 each, is 16.7 million colours. Worth doing the multiplication on the board.</a:t>
            </a:r>
          </a:p>
          <a:p>
            <a:r>
              <a:rPr sz="1200">
                <a:latin typeface="Calibri"/>
              </a:rPr>
              <a:t>Warn them now: 255, 255, 255 is every LED at full, and it is both blinding and expensive in current. The power budget slide follows for a reason.</a:t>
            </a:r>
          </a:p>
          <a:p>
            <a:r>
              <a:rPr sz="1200">
                <a:latin typeface="Calibri"/>
              </a:rPr>
              <a:t>If time allows, get them to predict a colour before they type it, then check. Predicting is what makes it stick.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Colour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colour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colour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science half of the lesson and it is genuinely interesting. Do not rush it because it is not code.</a:t>
            </a:r>
          </a:p>
          <a:p>
            <a:r>
              <a:rPr sz="1200">
                <a:latin typeface="Calibri"/>
              </a:rPr>
              <a:t>The key idea: three LEDs can fake every colour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5 lighting every other LED is a nice cheap surprise. Step 6 gets them to replace their own loop with strip.fill().</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colour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colour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colour.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colour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You know how a controller reaches the vehicle, and why every vehicle needs its own address.</a:t>
            </a:r>
          </a:p>
          <a:p>
            <a:pPr algn="l">
              <a:lnSpc>
                <a:spcPct val="100000"/>
              </a:lnSpc>
              <a:spcAft>
                <a:spcPts val="600"/>
              </a:spcAft>
              <a:defRPr sz="2400" b="0">
                <a:solidFill>
                  <a:srgbClr val="222222"/>
                </a:solidFill>
                <a:latin typeface="Calibri"/>
              </a:defRPr>
            </a:pPr>
            <a:r>
              <a:rPr sz="2400" b="0">
                <a:solidFill>
                  <a:srgbClr val="222222"/>
                </a:solidFill>
                <a:latin typeface="Calibri"/>
              </a:rPr>
              <a:t>You know what a deadzone is and why it exists.</a:t>
            </a:r>
          </a:p>
          <a:p>
            <a:pPr algn="l">
              <a:lnSpc>
                <a:spcPct val="100000"/>
              </a:lnSpc>
              <a:spcAft>
                <a:spcPts val="600"/>
              </a:spcAft>
              <a:defRPr sz="2400" b="0">
                <a:solidFill>
                  <a:srgbClr val="222222"/>
                </a:solidFill>
                <a:latin typeface="Calibri"/>
              </a:defRPr>
            </a:pPr>
            <a:r>
              <a:rPr sz="2400" b="0">
                <a:solidFill>
                  <a:srgbClr val="222222"/>
                </a:solidFill>
                <a:latin typeface="Calibri"/>
              </a:rPr>
              <a:t>You can turn a stick reading into a motor speed, and mix forward with turn.</a:t>
            </a:r>
          </a:p>
          <a:p>
            <a:pPr algn="l">
              <a:lnSpc>
                <a:spcPct val="100000"/>
              </a:lnSpc>
              <a:spcAft>
                <a:spcPts val="600"/>
              </a:spcAft>
              <a:defRPr sz="2400" b="0">
                <a:solidFill>
                  <a:srgbClr val="222222"/>
                </a:solidFill>
                <a:latin typeface="Calibri"/>
              </a:defRPr>
            </a:pPr>
            <a:r>
              <a:rPr sz="2400" b="0">
                <a:solidFill>
                  <a:srgbClr val="222222"/>
                </a:solidFill>
                <a:latin typeface="Calibri"/>
              </a:rPr>
              <a:t>You can drive.</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Colour: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l4a_all_one_colour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colour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colour,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038344"/>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colours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colours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nanometres,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Each of the three LEDs inside a pixel draws about 20 mA at full brightness.</a:t>
            </a:r>
          </a:p>
          <a:p>
            <a:pPr lvl="1" algn="l">
              <a:lnSpc>
                <a:spcPct val="100000"/>
              </a:lnSpc>
              <a:spcAft>
                <a:spcPts val="900"/>
              </a:spcAft>
              <a:defRPr sz="3000" b="0">
                <a:solidFill>
                  <a:srgbClr val="222222"/>
                </a:solidFill>
                <a:latin typeface="Calibri"/>
              </a:defRPr>
            </a:pPr>
            <a:r>
              <a:rPr sz="3000" b="0">
                <a:solidFill>
                  <a:srgbClr val="222222"/>
                </a:solidFill>
                <a:latin typeface="Calibri"/>
              </a:rPr>
              <a:t>One pixel showing full white:  3 x 20 = 60 mA</a:t>
            </a:r>
          </a:p>
          <a:p>
            <a:pPr lvl="1" algn="l">
              <a:lnSpc>
                <a:spcPct val="100000"/>
              </a:lnSpc>
              <a:spcAft>
                <a:spcPts val="900"/>
              </a:spcAft>
              <a:defRPr sz="3000" b="0">
                <a:solidFill>
                  <a:srgbClr val="222222"/>
                </a:solidFill>
                <a:latin typeface="Calibri"/>
              </a:defRPr>
            </a:pPr>
            <a:r>
              <a:rPr sz="3000" b="0">
                <a:solidFill>
                  <a:srgbClr val="222222"/>
                </a:solidFill>
                <a:latin typeface="Calibri"/>
              </a:rPr>
              <a:t>32 pixels of full white:  32 x 60 = 1920 mA, nearly 2 amps</a:t>
            </a:r>
          </a:p>
          <a:p>
            <a:pPr lvl="1" algn="l">
              <a:lnSpc>
                <a:spcPct val="100000"/>
              </a:lnSpc>
              <a:spcAft>
                <a:spcPts val="900"/>
              </a:spcAft>
              <a:defRPr sz="3000" b="0">
                <a:solidFill>
                  <a:srgbClr val="222222"/>
                </a:solidFill>
                <a:latin typeface="Calibri"/>
              </a:defRPr>
            </a:pPr>
            <a:r>
              <a:rPr sz="3000" b="0">
                <a:solidFill>
                  <a:srgbClr val="222222"/>
                </a:solidFill>
                <a:latin typeface="Calibri"/>
              </a:rPr>
              <a:t>At 5 volts:  1920 mA x 5 V = 9600 mW = 9.6 watts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That is a lot of power through a small board, and it makes real heat. Two things keep it sane:</a:t>
            </a:r>
          </a:p>
          <a:p>
            <a:pPr lvl="1" algn="l">
              <a:lnSpc>
                <a:spcPct val="100000"/>
              </a:lnSpc>
              <a:spcAft>
                <a:spcPts val="900"/>
              </a:spcAft>
              <a:defRPr sz="3000" b="0">
                <a:solidFill>
                  <a:srgbClr val="222222"/>
                </a:solidFill>
                <a:latin typeface="Calibri"/>
              </a:defRPr>
            </a:pPr>
            <a:r>
              <a:rPr sz="3000" b="0">
                <a:solidFill>
                  <a:srgbClr val="222222"/>
                </a:solidFill>
                <a:latin typeface="Calibri"/>
              </a:rPr>
              <a:t>setBrightness() scales EVERY pixel before it is sent. At 60 out of 255 you draw roughly a quarter of the worst case.</a:t>
            </a:r>
          </a:p>
          <a:p>
            <a:pPr lvl="1" algn="l">
              <a:lnSpc>
                <a:spcPct val="100000"/>
              </a:lnSpc>
              <a:spcAft>
                <a:spcPts val="900"/>
              </a:spcAft>
              <a:defRPr sz="3000" b="0">
                <a:solidFill>
                  <a:srgbClr val="222222"/>
                </a:solidFill>
                <a:latin typeface="Calibri"/>
              </a:defRPr>
            </a:pPr>
            <a:r>
              <a:rPr sz="3000" b="0">
                <a:solidFill>
                  <a:srgbClr val="222222"/>
                </a:solidFill>
                <a:latin typeface="Calibri"/>
              </a:rPr>
              <a:t>Coloured light is cheaper than white. Pure red only lights one of the three, so it costs about a third of what white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colour.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Yellow costs about twice what red costs. Why?</a:t>
            </a:r>
          </a:p>
          <a:p>
            <a:pPr algn="l">
              <a:lnSpc>
                <a:spcPct val="100000"/>
              </a:lnSpc>
              <a:spcAft>
                <a:spcPts val="300"/>
              </a:spcAft>
              <a:defRPr sz="2600" b="0">
                <a:solidFill>
                  <a:srgbClr val="222222"/>
                </a:solidFill>
                <a:latin typeface="Calibri"/>
              </a:defRPr>
            </a:pPr>
            <a:r>
              <a:rPr sz="2600" b="0">
                <a:solidFill>
                  <a:srgbClr val="222222"/>
                </a:solidFill>
                <a:latin typeface="Calibri"/>
              </a:rPr>
              <a:t>At brightness 60, what is the worst-case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Which LED is directly behind number 3?</a:t>
            </a:r>
          </a:p>
          <a:p>
            <a:pPr algn="l">
              <a:lnSpc>
                <a:spcPct val="100000"/>
              </a:lnSpc>
              <a:spcAft>
                <a:spcPts val="300"/>
              </a:spcAft>
              <a:defRPr sz="2600" b="0">
                <a:solidFill>
                  <a:srgbClr val="222222"/>
                </a:solidFill>
                <a:latin typeface="Calibri"/>
              </a:defRPr>
            </a:pPr>
            <a:r>
              <a:rPr sz="2600" b="0">
                <a:solidFill>
                  <a:srgbClr val="222222"/>
                </a:solidFill>
                <a:latin typeface="Calibri"/>
              </a:rPr>
              <a:t>You want to light the whole right side. Which two ranges?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666666"/>
                </a:solidFill>
                <a:latin typeface="Consolas"/>
              </a:rPr>
              <a:t>// The long way. Nobody writes this.</a:t>
            </a:r>
          </a:p>
          <a:p>
            <a:pPr algn="l">
              <a:lnSpc>
                <a:spcPct val="100000"/>
              </a:lnSpc>
              <a:spcAft>
                <a:spcPts val="0"/>
              </a:spcAft>
              <a:defRPr sz="1800">
                <a:latin typeface="Consolas"/>
              </a:defRPr>
            </a:pPr>
            <a:r>
              <a:rPr sz="1800">
                <a:solidFill>
                  <a:srgbClr val="222222"/>
                </a:solidFill>
                <a:latin typeface="Consolas"/>
              </a:rPr>
              <a:t>strip.setPixelColor(0, white);</a:t>
            </a:r>
          </a:p>
          <a:p>
            <a:pPr algn="l">
              <a:lnSpc>
                <a:spcPct val="100000"/>
              </a:lnSpc>
              <a:spcAft>
                <a:spcPts val="0"/>
              </a:spcAft>
              <a:defRPr sz="1800">
                <a:latin typeface="Consolas"/>
              </a:defRPr>
            </a:pPr>
            <a:r>
              <a:rPr sz="1800">
                <a:solidFill>
                  <a:srgbClr val="222222"/>
                </a:solidFill>
                <a:latin typeface="Consolas"/>
              </a:rPr>
              <a:t>strip.setPixelColor(1, white);</a:t>
            </a:r>
          </a:p>
          <a:p>
            <a:pPr algn="l">
              <a:lnSpc>
                <a:spcPct val="100000"/>
              </a:lnSpc>
              <a:spcAft>
                <a:spcPts val="0"/>
              </a:spcAft>
              <a:defRPr sz="1800">
                <a:latin typeface="Consolas"/>
              </a:defRPr>
            </a:pPr>
            <a:r>
              <a:rPr sz="1800">
                <a:solidFill>
                  <a:srgbClr val="222222"/>
                </a:solidFill>
                <a:latin typeface="Consolas"/>
              </a:rPr>
              <a:t>strip.setPixelColor(2, white);      // ...and 29 more</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The for loop. Same thing.</a:t>
            </a:r>
          </a:p>
          <a:p>
            <a:pPr algn="l">
              <a:lnSpc>
                <a:spcPct val="100000"/>
              </a:lnSpc>
              <a:spcAft>
                <a:spcPts val="0"/>
              </a:spcAft>
              <a:defRPr sz="1800">
                <a:latin typeface="Consolas"/>
              </a:defRPr>
            </a:pPr>
            <a:r>
              <a:rPr sz="1800" b="1">
                <a:solidFill>
                  <a:srgbClr val="0E7C86"/>
                </a:solidFill>
                <a:latin typeface="Consolas"/>
              </a:rPr>
              <a:t>for (int i = 0; i &lt; 32; i++) {</a:t>
            </a:r>
          </a:p>
          <a:p>
            <a:pPr algn="l">
              <a:lnSpc>
                <a:spcPct val="100000"/>
              </a:lnSpc>
              <a:spcAft>
                <a:spcPts val="0"/>
              </a:spcAft>
              <a:defRPr sz="1800">
                <a:latin typeface="Consolas"/>
              </a:defRPr>
            </a:pPr>
            <a:r>
              <a:rPr sz="1800" b="1">
                <a:solidFill>
                  <a:srgbClr val="0E7C86"/>
                </a:solidFill>
                <a:latin typeface="Consolas"/>
              </a:rPr>
              <a:t>  strip.setPixelColor(i, white);</a:t>
            </a:r>
          </a:p>
          <a:p>
            <a:pPr algn="l">
              <a:lnSpc>
                <a:spcPct val="100000"/>
              </a:lnSpc>
              <a:spcAft>
                <a:spcPts val="0"/>
              </a:spcAft>
              <a:defRPr sz="1800">
                <a:latin typeface="Consolas"/>
              </a:defRPr>
            </a:pPr>
            <a:r>
              <a:rPr sz="1800" b="1">
                <a:solidFill>
                  <a:srgbClr val="0E7C86"/>
                </a:solidFill>
                <a:latin typeface="Consolas"/>
              </a:rPr>
              <a:t>}</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Just the front:</a:t>
            </a:r>
          </a:p>
          <a:p>
            <a:pPr algn="l">
              <a:lnSpc>
                <a:spcPct val="100000"/>
              </a:lnSpc>
              <a:spcAft>
                <a:spcPts val="0"/>
              </a:spcAft>
              <a:defRPr sz="1800">
                <a:latin typeface="Consolas"/>
              </a:defRPr>
            </a:pPr>
            <a:r>
              <a:rPr sz="1800">
                <a:solidFill>
                  <a:srgbClr val="222222"/>
                </a:solidFill>
                <a:latin typeface="Consolas"/>
              </a:rPr>
              <a:t>for (int i = FRONT_FIRST; i &lt;= FRONT_LAST; i++) {</a:t>
            </a:r>
          </a:p>
          <a:p>
            <a:pPr algn="l">
              <a:lnSpc>
                <a:spcPct val="100000"/>
              </a:lnSpc>
              <a:spcAft>
                <a:spcPts val="0"/>
              </a:spcAft>
              <a:defRPr sz="1800">
                <a:latin typeface="Consolas"/>
              </a:defRPr>
            </a:pPr>
            <a:r>
              <a:rPr sz="1800">
                <a:solidFill>
                  <a:srgbClr val="222222"/>
                </a:solidFill>
                <a:latin typeface="Consolas"/>
              </a:rPr>
              <a:t>  strip.setPixelColor(i, headlight);</a:t>
            </a:r>
          </a:p>
          <a:p>
            <a:pPr algn="l">
              <a:lnSpc>
                <a:spcPct val="100000"/>
              </a:lnSpc>
              <a:spcAft>
                <a:spcPts val="0"/>
              </a:spcAft>
              <a:defRPr sz="1800">
                <a:latin typeface="Consolas"/>
              </a:defRPr>
            </a:pPr>
            <a:r>
              <a:rPr sz="18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int i = 0     start here</a:t>
            </a:r>
          </a:p>
          <a:p>
            <a:pPr algn="l">
              <a:lnSpc>
                <a:spcPct val="100000"/>
              </a:lnSpc>
              <a:spcAft>
                <a:spcPts val="700"/>
              </a:spcAft>
              <a:defRPr sz="1900" b="0">
                <a:solidFill>
                  <a:srgbClr val="222222"/>
                </a:solidFill>
                <a:latin typeface="Calibri"/>
              </a:defRPr>
            </a:pPr>
            <a:r>
              <a:rPr sz="1900" b="0">
                <a:solidFill>
                  <a:srgbClr val="222222"/>
                </a:solidFill>
                <a:latin typeface="Calibri"/>
              </a:rPr>
              <a:t>i &lt; 32        keep going while this is true</a:t>
            </a:r>
          </a:p>
          <a:p>
            <a:pPr algn="l">
              <a:lnSpc>
                <a:spcPct val="100000"/>
              </a:lnSpc>
              <a:spcAft>
                <a:spcPts val="700"/>
              </a:spcAft>
              <a:defRPr sz="1900" b="0">
                <a:solidFill>
                  <a:srgbClr val="222222"/>
                </a:solidFill>
                <a:latin typeface="Calibri"/>
              </a:defRPr>
            </a:pPr>
            <a:r>
              <a:rPr sz="1900" b="0">
                <a:solidFill>
                  <a:srgbClr val="222222"/>
                </a:solidFill>
                <a:latin typeface="Calibri"/>
              </a:rPr>
              <a:t>i++           add one each time round</a:t>
            </a:r>
          </a:p>
          <a:p>
            <a:pPr algn="l">
              <a:lnSpc>
                <a:spcPct val="100000"/>
              </a:lnSpc>
              <a:spcAft>
                <a:spcPts val="700"/>
              </a:spcAft>
              <a:defRPr sz="1900" b="0">
                <a:solidFill>
                  <a:srgbClr val="222222"/>
                </a:solidFill>
                <a:latin typeface="Calibri"/>
              </a:defRPr>
            </a:pPr>
          </a:p>
          <a:p>
            <a:pPr algn="l">
              <a:lnSpc>
                <a:spcPct val="100000"/>
              </a:lnSpc>
              <a:spcAft>
                <a:spcPts val="700"/>
              </a:spcAft>
              <a:defRPr sz="1900" b="0">
                <a:solidFill>
                  <a:srgbClr val="222222"/>
                </a:solidFill>
                <a:latin typeface="Calibri"/>
              </a:defRPr>
            </a:pPr>
            <a:r>
              <a:rPr sz="1900" b="0">
                <a:solidFill>
                  <a:srgbClr val="222222"/>
                </a:solidFill>
                <a:latin typeface="Calibri"/>
              </a:rPr>
              <a:t>Watch the difference between  &lt;  and  &lt;=. With FRONT_LAST = 15, you want &lt;= or you will miss LED 15.</a:t>
            </a:r>
          </a:p>
          <a:p>
            <a:pPr algn="l">
              <a:lnSpc>
                <a:spcPct val="100000"/>
              </a:lnSpc>
              <a:spcAft>
                <a:spcPts val="700"/>
              </a:spcAft>
              <a:defRPr sz="1900" b="0">
                <a:solidFill>
                  <a:srgbClr val="222222"/>
                </a:solidFill>
                <a:latin typeface="Calibri"/>
              </a:defRPr>
            </a:pPr>
            <a:r>
              <a:rPr sz="19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colorWipe fills the strip one LED at a time, in order, so the colour appears to sweep along it.</a:t>
            </a:r>
          </a:p>
          <a:p>
            <a:pPr lvl="1" algn="l">
              <a:lnSpc>
                <a:spcPct val="100000"/>
              </a:lnSpc>
              <a:spcAft>
                <a:spcPts val="800"/>
              </a:spcAft>
              <a:defRPr sz="1800" b="0">
                <a:solidFill>
                  <a:srgbClr val="222222"/>
                </a:solidFill>
                <a:latin typeface="Calibri"/>
              </a:defRPr>
            </a:pPr>
            <a:r>
              <a:rPr sz="1800" b="0">
                <a:solidFill>
                  <a:srgbClr val="222222"/>
                </a:solidFill>
                <a:latin typeface="Calibri"/>
              </a:rPr>
              <a:t>One loop, one delay per LED.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colour wheel, 0 to 65535.</a:t>
            </a:r>
          </a:p>
          <a:p>
            <a:pPr lvl="1" algn="l">
              <a:lnSpc>
                <a:spcPct val="100000"/>
              </a:lnSpc>
              <a:spcAft>
                <a:spcPts val="8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colour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In theaterChase, why does the inner loop step in threes?</a:t>
            </a:r>
          </a:p>
          <a:p>
            <a:pPr algn="l">
              <a:lnSpc>
                <a:spcPct val="100000"/>
              </a:lnSpc>
              <a:spcAft>
                <a:spcPts val="300"/>
              </a:spcAft>
              <a:defRPr sz="2600" b="0">
                <a:solidFill>
                  <a:srgbClr val="222222"/>
                </a:solidFill>
                <a:latin typeface="Calibri"/>
              </a:defRPr>
            </a:pPr>
            <a:r>
              <a:rPr sz="2600" b="0">
                <a:solidFill>
                  <a:srgbClr val="222222"/>
                </a:solidFill>
                <a:latin typeface="Calibri"/>
              </a:rPr>
              <a:t>What does &gt;&gt; 1 do to a number? Why does that dim an LED?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Twenty minutes. Working in your group, invent a lighting pattern for your vehicle and write it as a function.</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Some starting points:</a:t>
            </a:r>
          </a:p>
          <a:p>
            <a:pPr lvl="1" algn="l">
              <a:lnSpc>
                <a:spcPct val="100000"/>
              </a:lnSpc>
              <a:spcAft>
                <a:spcPts val="600"/>
              </a:spcAft>
              <a:defRPr sz="1900" b="0">
                <a:solidFill>
                  <a:srgbClr val="222222"/>
                </a:solidFill>
                <a:latin typeface="Calibri"/>
              </a:defRPr>
            </a:pPr>
            <a:r>
              <a:rPr sz="1900" b="0">
                <a:solidFill>
                  <a:srgbClr val="222222"/>
                </a:solidFill>
                <a:latin typeface="Calibri"/>
              </a:rPr>
              <a:t>Police lights - left side red, right side blue, alternating</a:t>
            </a:r>
          </a:p>
          <a:p>
            <a:pPr lvl="1" algn="l">
              <a:lnSpc>
                <a:spcPct val="100000"/>
              </a:lnSpc>
              <a:spcAft>
                <a:spcPts val="600"/>
              </a:spcAft>
              <a:defRPr sz="1900" b="0">
                <a:solidFill>
                  <a:srgbClr val="222222"/>
                </a:solidFill>
                <a:latin typeface="Calibri"/>
              </a:defRPr>
            </a:pPr>
            <a:r>
              <a:rPr sz="1900" b="0">
                <a:solidFill>
                  <a:srgbClr val="222222"/>
                </a:solidFill>
                <a:latin typeface="Calibri"/>
              </a:rPr>
              <a:t>A countdown - all 32 red, then fewer and fewer, then green</a:t>
            </a:r>
          </a:p>
          <a:p>
            <a:pPr lvl="1" algn="l">
              <a:lnSpc>
                <a:spcPct val="100000"/>
              </a:lnSpc>
              <a:spcAft>
                <a:spcPts val="600"/>
              </a:spcAft>
              <a:defRPr sz="1900" b="0">
                <a:solidFill>
                  <a:srgbClr val="222222"/>
                </a:solidFill>
                <a:latin typeface="Calibri"/>
              </a:defRPr>
            </a:pPr>
            <a:r>
              <a:rPr sz="1900" b="0">
                <a:solidFill>
                  <a:srgbClr val="222222"/>
                </a:solidFill>
                <a:latin typeface="Calibri"/>
              </a:rPr>
              <a:t>A battery gauge - green through amber to red across the front bar</a:t>
            </a:r>
          </a:p>
          <a:p>
            <a:pPr lvl="1" algn="l">
              <a:lnSpc>
                <a:spcPct val="100000"/>
              </a:lnSpc>
              <a:spcAft>
                <a:spcPts val="600"/>
              </a:spcAft>
              <a:defRPr sz="1900" b="0">
                <a:solidFill>
                  <a:srgbClr val="222222"/>
                </a:solidFill>
                <a:latin typeface="Calibri"/>
              </a:defRPr>
            </a:pPr>
            <a:r>
              <a:rPr sz="1900" b="0">
                <a:solidFill>
                  <a:srgbClr val="222222"/>
                </a:solidFill>
                <a:latin typeface="Calibri"/>
              </a:rPr>
              <a:t>Breathing - all 32 fading smoothly up and down</a:t>
            </a:r>
          </a:p>
          <a:p>
            <a:pPr lvl="1" algn="l">
              <a:lnSpc>
                <a:spcPct val="100000"/>
              </a:lnSpc>
              <a:spcAft>
                <a:spcPts val="600"/>
              </a:spcAft>
              <a:defRPr sz="1900" b="0">
                <a:solidFill>
                  <a:srgbClr val="222222"/>
                </a:solidFill>
                <a:latin typeface="Calibri"/>
              </a:defRPr>
            </a:pPr>
            <a:r>
              <a:rPr sz="1900" b="0">
                <a:solidFill>
                  <a:srgbClr val="222222"/>
                </a:solidFill>
                <a:latin typeface="Calibri"/>
              </a:rPr>
              <a:t>A collision warning that flashes faster as something gets closer</a:t>
            </a:r>
          </a:p>
          <a:p>
            <a:pPr lvl="1" algn="l">
              <a:lnSpc>
                <a:spcPct val="100000"/>
              </a:lnSpc>
              <a:spcAft>
                <a:spcPts val="600"/>
              </a:spcAft>
              <a:defRPr sz="1900" b="0">
                <a:solidFill>
                  <a:srgbClr val="222222"/>
                </a:solidFill>
                <a:latin typeface="Calibri"/>
              </a:defRPr>
            </a:pPr>
            <a:r>
              <a:rPr sz="1900" b="0">
                <a:solidFill>
                  <a:srgbClr val="222222"/>
                </a:solidFill>
                <a:latin typeface="Calibri"/>
              </a:rPr>
              <a:t>A stoplight - the front bar red, then amber, then green, on a timer, with the rear bar showing the same thing</a:t>
            </a:r>
          </a:p>
          <a:p>
            <a:pPr lvl="1" algn="l">
              <a:lnSpc>
                <a:spcPct val="100000"/>
              </a:lnSpc>
              <a:spcAft>
                <a:spcPts val="600"/>
              </a:spcAft>
              <a:defRPr sz="1900" b="0">
                <a:solidFill>
                  <a:srgbClr val="222222"/>
                </a:solidFill>
                <a:latin typeface="Calibri"/>
              </a:defRPr>
            </a:pPr>
            <a:r>
              <a:rPr sz="1900" b="0">
                <a:solidFill>
                  <a:srgbClr val="222222"/>
                </a:solidFill>
                <a:latin typeface="Calibri"/>
              </a:rPr>
              <a:t>D-pad quadrants - press up, right, down or left and light only that quarter of the vehicle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Rules: it must be a function you call from loop(), and it must use at least one for loop.</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Then show the class. Best one gets used in the race next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Colours are wrong - red shows green</a:t>
                      </a:r>
                    </a:p>
                  </a:txBody>
                  <a:tcPr marL="73152" marT="18288" marB="18288">
                    <a:solidFill>
                      <a:srgbClr val="FFFFFF"/>
                    </a:solidFill>
                  </a:tcPr>
                </a:tc>
                <a:tc>
                  <a:txBody>
                    <a:bodyPr/>
                    <a:lstStyle/>
                    <a:p>
                      <a:r>
                        <a:rPr sz="1800">
                          <a:solidFill>
                            <a:srgbClr val="222222"/>
                          </a:solidFill>
                          <a:latin typeface="Calibri"/>
                        </a:rPr>
                        <a:t>Wrong colour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colour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