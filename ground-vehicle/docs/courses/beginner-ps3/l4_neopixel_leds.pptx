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sp>
        <p:nvSpPr>
          <p:cNvPr id="7" name="Rectangle 6"/>
          <p:cNvSpPr/>
          <p:nvPr/>
        </p:nvSpPr>
        <p:spPr>
          <a:xfrm>
            <a:off x="7885585" y="1188720"/>
            <a:ext cx="3803190"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single NeoPixel,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One WS2812B on its own, big enough to see the four pads and the three dies inside the package.</a:t>
            </a:r>
          </a:p>
        </p:txBody>
      </p:sp>
      <p:sp>
        <p:nvSpPr>
          <p:cNvPr id="8" name="TextBox 7"/>
          <p:cNvSpPr txBox="1"/>
          <p:nvPr/>
        </p:nvSpPr>
        <p:spPr>
          <a:xfrm>
            <a:off x="7885585" y="4535424"/>
            <a:ext cx="3803190"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One WS2812B: 5 V, ground, data in, data out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FIGURE: additive RGB mixing</a:t>
            </a:r>
          </a:p>
          <a:p>
            <a:pPr algn="ctr">
              <a:lnSpc>
                <a:spcPct val="100000"/>
              </a:lnSpc>
              <a:spcAft>
                <a:spcPts val="700"/>
              </a:spcAft>
              <a:defRPr sz="1600" b="0">
                <a:solidFill>
                  <a:srgbClr val="0E7C86"/>
                </a:solidFill>
                <a:latin typeface="Calibri"/>
              </a:defRPr>
            </a:pPr>
            <a:r>
              <a:rPr sz="1600" b="0">
                <a:solidFill>
                  <a:srgbClr val="0E7C86"/>
                </a:solidFill>
                <a:latin typeface="Calibri"/>
              </a:rPr>
              <a:t>Three overlapping circles - red, green, blue - with yellow, cyan and magenta where two meet and white where all three do. Kevin is supplying this one.</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05041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05041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900" b="0">
                <a:solidFill>
                  <a:srgbClr val="222222"/>
                </a:solidFill>
                <a:latin typeface="Calibri"/>
              </a:defRPr>
            </a:pPr>
            <a:r>
              <a:rPr sz="1900" b="0">
                <a:solidFill>
                  <a:srgbClr val="222222"/>
                </a:solidFill>
                <a:latin typeface="Calibri"/>
              </a:rPr>
              <a:t>Red      625 - 740 nm</a:t>
            </a:r>
          </a:p>
          <a:p>
            <a:pPr lvl="1" algn="l">
              <a:lnSpc>
                <a:spcPct val="100000"/>
              </a:lnSpc>
              <a:spcAft>
                <a:spcPts val="800"/>
              </a:spcAft>
              <a:defRPr sz="1900" b="0">
                <a:solidFill>
                  <a:srgbClr val="222222"/>
                </a:solidFill>
                <a:latin typeface="Calibri"/>
              </a:defRPr>
            </a:pPr>
            <a:r>
              <a:rPr sz="1900" b="0">
                <a:solidFill>
                  <a:srgbClr val="222222"/>
                </a:solidFill>
                <a:latin typeface="Calibri"/>
              </a:rPr>
              <a:t>Yellow   565 - 590 nm</a:t>
            </a:r>
          </a:p>
          <a:p>
            <a:pPr lvl="1" algn="l">
              <a:lnSpc>
                <a:spcPct val="100000"/>
              </a:lnSpc>
              <a:spcAft>
                <a:spcPts val="800"/>
              </a:spcAft>
              <a:defRPr sz="1900" b="0">
                <a:solidFill>
                  <a:srgbClr val="222222"/>
                </a:solidFill>
                <a:latin typeface="Calibri"/>
              </a:defRPr>
            </a:pPr>
            <a:r>
              <a:rPr sz="1900" b="0">
                <a:solidFill>
                  <a:srgbClr val="222222"/>
                </a:solidFill>
                <a:latin typeface="Calibri"/>
              </a:rPr>
              <a:t>Green    500 - 565 nm</a:t>
            </a:r>
          </a:p>
          <a:p>
            <a:pPr lvl="1" algn="l">
              <a:lnSpc>
                <a:spcPct val="100000"/>
              </a:lnSpc>
              <a:spcAft>
                <a:spcPts val="800"/>
              </a:spcAft>
              <a:defRPr sz="1900" b="0">
                <a:solidFill>
                  <a:srgbClr val="222222"/>
                </a:solidFill>
                <a:latin typeface="Calibri"/>
              </a:defRPr>
            </a:pPr>
            <a:r>
              <a:rPr sz="1900" b="0">
                <a:solidFill>
                  <a:srgbClr val="222222"/>
                </a:solidFill>
                <a:latin typeface="Calibri"/>
              </a:rPr>
              <a:t>Blue     440 - 485 nm</a:t>
            </a:r>
          </a:p>
          <a:p>
            <a:pPr lvl="1" algn="l">
              <a:lnSpc>
                <a:spcPct val="100000"/>
              </a:lnSpc>
              <a:spcAft>
                <a:spcPts val="800"/>
              </a:spcAft>
              <a:defRPr sz="1900" b="0">
                <a:solidFill>
                  <a:srgbClr val="222222"/>
                </a:solidFill>
                <a:latin typeface="Calibri"/>
              </a:defRPr>
            </a:pPr>
            <a:r>
              <a:rPr sz="1900" b="0">
                <a:solidFill>
                  <a:srgbClr val="222222"/>
                </a:solidFill>
                <a:latin typeface="Calibri"/>
              </a:rPr>
              <a:t>Violet   380 - 440 nm</a:t>
            </a:r>
          </a:p>
          <a:p>
            <a:pPr algn="l">
              <a:lnSpc>
                <a:spcPct val="100000"/>
              </a:lnSpc>
              <a:spcAft>
                <a:spcPts val="800"/>
              </a:spcAft>
              <a:defRPr sz="1900" b="0">
                <a:solidFill>
                  <a:srgbClr val="222222"/>
                </a:solidFill>
                <a:latin typeface="Calibri"/>
              </a:defRPr>
            </a:pPr>
            <a:r>
              <a:rPr sz="1900" b="0">
                <a:solidFill>
                  <a:srgbClr val="222222"/>
                </a:solidFill>
                <a:latin typeface="Calibri"/>
              </a:rPr>
              <a:t>A single LED emits one narrow band.</a:t>
            </a:r>
          </a:p>
        </p:txBody>
      </p:sp>
      <p:sp>
        <p:nvSpPr>
          <p:cNvPr id="8" name="TextBox 7"/>
          <p:cNvSpPr txBox="1"/>
          <p:nvPr/>
        </p:nvSpPr>
        <p:spPr>
          <a:xfrm>
            <a:off x="6010533" y="1188720"/>
            <a:ext cx="567824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010533" y="1700784"/>
            <a:ext cx="567824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800"/>
              </a:spcAft>
              <a:defRPr sz="1900" b="0">
                <a:solidFill>
                  <a:srgbClr val="222222"/>
                </a:solidFill>
                <a:latin typeface="Calibri"/>
              </a:defRPr>
            </a:pPr>
            <a:r>
              <a:rPr sz="1900" b="0">
                <a:solidFill>
                  <a:srgbClr val="222222"/>
                </a:solidFill>
                <a:latin typeface="Calibri"/>
              </a:rPr>
              <a:t>Your brain compares them, which is called OPPONENCY.</a:t>
            </a:r>
          </a:p>
          <a:p>
            <a:pPr algn="l">
              <a:lnSpc>
                <a:spcPct val="100000"/>
              </a:lnSpc>
              <a:spcAft>
                <a:spcPts val="800"/>
              </a:spcAft>
              <a:defRPr sz="1900" b="0">
                <a:solidFill>
                  <a:srgbClr val="222222"/>
                </a:solidFill>
                <a:latin typeface="Calibri"/>
              </a:defRPr>
            </a:pPr>
            <a:r>
              <a:rPr sz="19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800"/>
              </a:spcAft>
              <a:defRPr sz="1900" b="0">
                <a:solidFill>
                  <a:srgbClr val="222222"/>
                </a:solidFill>
                <a:latin typeface="Calibri"/>
              </a:defRPr>
            </a:pPr>
            <a:r>
              <a:rPr sz="19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497292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4972924"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Each of the three LEDs inside a pixel draws about 20 mA at full brightness.</a:t>
            </a:r>
          </a:p>
          <a:p>
            <a:pPr lvl="1" algn="l">
              <a:lnSpc>
                <a:spcPct val="100000"/>
              </a:lnSpc>
              <a:spcAft>
                <a:spcPts val="800"/>
              </a:spcAft>
              <a:defRPr sz="1900" b="0">
                <a:solidFill>
                  <a:srgbClr val="222222"/>
                </a:solidFill>
                <a:latin typeface="Calibri"/>
              </a:defRPr>
            </a:pPr>
            <a:r>
              <a:rPr sz="1900" b="0">
                <a:solidFill>
                  <a:srgbClr val="222222"/>
                </a:solidFill>
                <a:latin typeface="Calibri"/>
              </a:rPr>
              <a:t>One pixel, full white:  3 x 20 = 60 mA</a:t>
            </a:r>
          </a:p>
          <a:p>
            <a:pPr lvl="1" algn="l">
              <a:lnSpc>
                <a:spcPct val="100000"/>
              </a:lnSpc>
              <a:spcAft>
                <a:spcPts val="800"/>
              </a:spcAft>
              <a:defRPr sz="1900" b="0">
                <a:solidFill>
                  <a:srgbClr val="222222"/>
                </a:solidFill>
                <a:latin typeface="Calibri"/>
              </a:defRPr>
            </a:pPr>
            <a:r>
              <a:rPr sz="1900" b="0">
                <a:solidFill>
                  <a:srgbClr val="222222"/>
                </a:solidFill>
                <a:latin typeface="Calibri"/>
              </a:rPr>
              <a:t>All 32, full white:  32 x 60 = 1920 mA</a:t>
            </a:r>
          </a:p>
          <a:p>
            <a:pPr lvl="1" algn="l">
              <a:lnSpc>
                <a:spcPct val="100000"/>
              </a:lnSpc>
              <a:spcAft>
                <a:spcPts val="800"/>
              </a:spcAft>
              <a:defRPr sz="1900" b="0">
                <a:solidFill>
                  <a:srgbClr val="222222"/>
                </a:solidFill>
                <a:latin typeface="Calibri"/>
              </a:defRPr>
            </a:pPr>
            <a:r>
              <a:rPr sz="1900" b="0">
                <a:solidFill>
                  <a:srgbClr val="222222"/>
                </a:solidFill>
                <a:latin typeface="Calibri"/>
              </a:rPr>
              <a:t>Nearly two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5 volts:  1920 mA x 5 V = 9.6 watts</a:t>
            </a:r>
          </a:p>
          <a:p>
            <a:pPr algn="l">
              <a:lnSpc>
                <a:spcPct val="100000"/>
              </a:lnSpc>
              <a:spcAft>
                <a:spcPts val="800"/>
              </a:spcAft>
              <a:defRPr sz="1900" b="0">
                <a:solidFill>
                  <a:srgbClr val="222222"/>
                </a:solidFill>
                <a:latin typeface="Calibri"/>
              </a:defRPr>
            </a:pPr>
            <a:r>
              <a:rPr sz="1900" b="0">
                <a:solidFill>
                  <a:srgbClr val="222222"/>
                </a:solidFill>
                <a:latin typeface="Calibri"/>
              </a:rPr>
              <a:t>That is real heat through a small board.</a:t>
            </a:r>
          </a:p>
        </p:txBody>
      </p:sp>
      <p:sp>
        <p:nvSpPr>
          <p:cNvPr id="8" name="TextBox 7"/>
          <p:cNvSpPr txBox="1"/>
          <p:nvPr/>
        </p:nvSpPr>
        <p:spPr>
          <a:xfrm>
            <a:off x="5933044" y="1188720"/>
            <a:ext cx="575573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5933044" y="1700784"/>
            <a:ext cx="575573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power budget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LED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10669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10669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066813" y="1188720"/>
            <a:ext cx="562196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066813" y="1700784"/>
            <a:ext cx="562196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Patterns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