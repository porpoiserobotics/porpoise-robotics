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a:p>
            <a:r>
              <a:rPr sz="1200">
                <a:latin typeface="Calibri"/>
              </a:rPr>
              <a:t>The next slide is the same thing as a drawing, which is where the wiring becomes obvious. Do not explain the chain twice - say it here and prove it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this on the board before you show the slide. Three wires in at the left, three wires out at the right, and eight identical parts in between.</a:t>
            </a:r>
          </a:p>
          <a:p>
            <a:r>
              <a:rPr sz="1200">
                <a:latin typeface="Calibri"/>
              </a:rPr>
              <a:t>Power and ground go to every pixel the same way. Ask which of the three wires is different, and why that one is drawn as a chain rather than as a rail.</a:t>
            </a:r>
          </a:p>
          <a:p>
            <a:r>
              <a:rPr sz="1200">
                <a:latin typeface="Calibri"/>
              </a:rPr>
              <a:t>Then walk a message along it with your finger: the first pixel keeps the first color and passes the rest out of DATA OUT, which is the next pixel's DATA IN.</a:t>
            </a:r>
          </a:p>
          <a:p>
            <a:r>
              <a:rPr sz="1200">
                <a:latin typeface="Calibri"/>
              </a:rPr>
              <a:t>That is the whole reason one GPIO can drive thirty-two lights, and the reason the numbering runs in data order rather than in whatever order looks tidy from outside.</a:t>
            </a:r>
          </a:p>
          <a:p>
            <a:r>
              <a:rPr sz="1200">
                <a:latin typeface="Calibri"/>
              </a:rPr>
              <a:t>Worth saying out loud: unplug the data lead of pixel 4 and pixels 4 to 31 all go dark, while 0 to 3 carry on. Power and ground are a rail; data is a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a:p>
            <a:r>
              <a:rPr sz="1200">
                <a:latin typeface="Calibri"/>
              </a:rPr>
              <a:t>Do not read the table on the next slide out. Put it up, give them a minute, and ask for the two that surprise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the starting points, not the answer. Say that first, or somebody will copy the table and never change a number.</a:t>
            </a:r>
          </a:p>
          <a:p>
            <a:r>
              <a:rPr sz="1200">
                <a:latin typeface="Calibri"/>
              </a:rPr>
              <a:t>Orange is the interesting row. Ask why it is not (255, 128, 0) - it can be, and 100 just looks better on these LEDs. Color is judged by eye, not calculated.</a:t>
            </a:r>
          </a:p>
          <a:p>
            <a:r>
              <a:rPr sz="1200">
                <a:latin typeface="Calibri"/>
              </a:rPr>
              <a:t>Purple and magenta are worth a moment. Neither is a wavelength; they only exist as mixtures, which is the point of the wavelength slide before this one.</a:t>
            </a:r>
          </a:p>
          <a:p>
            <a:r>
              <a:rPr sz="1200">
                <a:latin typeface="Calibri"/>
              </a:rPr>
              <a:t>The Channels lit column is the bridge to the power budget two slides on. White costs three times what red costs, and that is an ampere question, not an aesthetic one.</a:t>
            </a:r>
          </a:p>
          <a:p>
            <a:r>
              <a:rPr sz="1200">
                <a:latin typeface="Calibri"/>
              </a:rPr>
              <a:t>Warm white is the practical one for headlights. Straight white looks blue-ish next to daylight.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wire, thirty-two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cxnSp>
        <p:nvCxnSpPr>
          <p:cNvPr id="6" name="Connector 5"/>
          <p:cNvCxnSpPr/>
          <p:nvPr/>
        </p:nvCxnSpPr>
        <p:spPr>
          <a:xfrm>
            <a:off x="1554480" y="1645920"/>
            <a:ext cx="85953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99339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04495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9651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4807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9963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25119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30275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354312" y="164592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54480" y="3840480"/>
            <a:ext cx="85953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9339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4495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09651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807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9963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25119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30275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354312" y="3337560"/>
            <a:ext cx="0" cy="50292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618488" y="2743200"/>
            <a:ext cx="118872"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5760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70916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6072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1228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6384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915400" y="2743200"/>
            <a:ext cx="18288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66960" y="2743200"/>
            <a:ext cx="32004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73736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4" name="Oval 33"/>
          <p:cNvSpPr/>
          <p:nvPr/>
        </p:nvSpPr>
        <p:spPr>
          <a:xfrm>
            <a:off x="183794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5" name="Oval 34"/>
          <p:cNvSpPr/>
          <p:nvPr/>
        </p:nvSpPr>
        <p:spPr>
          <a:xfrm>
            <a:off x="224942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6" name="Oval 35"/>
          <p:cNvSpPr/>
          <p:nvPr/>
        </p:nvSpPr>
        <p:spPr>
          <a:xfrm>
            <a:off x="204825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7" name="Rectangle 36"/>
          <p:cNvSpPr/>
          <p:nvPr/>
        </p:nvSpPr>
        <p:spPr>
          <a:xfrm>
            <a:off x="278892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8" name="Oval 37"/>
          <p:cNvSpPr/>
          <p:nvPr/>
        </p:nvSpPr>
        <p:spPr>
          <a:xfrm>
            <a:off x="288950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39" name="Oval 38"/>
          <p:cNvSpPr/>
          <p:nvPr/>
        </p:nvSpPr>
        <p:spPr>
          <a:xfrm>
            <a:off x="330098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0" name="Oval 39"/>
          <p:cNvSpPr/>
          <p:nvPr/>
        </p:nvSpPr>
        <p:spPr>
          <a:xfrm>
            <a:off x="309981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1" name="Rectangle 40"/>
          <p:cNvSpPr/>
          <p:nvPr/>
        </p:nvSpPr>
        <p:spPr>
          <a:xfrm>
            <a:off x="384048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2" name="Oval 41"/>
          <p:cNvSpPr/>
          <p:nvPr/>
        </p:nvSpPr>
        <p:spPr>
          <a:xfrm>
            <a:off x="394106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3" name="Oval 42"/>
          <p:cNvSpPr/>
          <p:nvPr/>
        </p:nvSpPr>
        <p:spPr>
          <a:xfrm>
            <a:off x="435254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4" name="Oval 43"/>
          <p:cNvSpPr/>
          <p:nvPr/>
        </p:nvSpPr>
        <p:spPr>
          <a:xfrm>
            <a:off x="415137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5" name="Rectangle 44"/>
          <p:cNvSpPr/>
          <p:nvPr/>
        </p:nvSpPr>
        <p:spPr>
          <a:xfrm>
            <a:off x="489204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6" name="Oval 45"/>
          <p:cNvSpPr/>
          <p:nvPr/>
        </p:nvSpPr>
        <p:spPr>
          <a:xfrm>
            <a:off x="499262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7" name="Oval 46"/>
          <p:cNvSpPr/>
          <p:nvPr/>
        </p:nvSpPr>
        <p:spPr>
          <a:xfrm>
            <a:off x="540410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8" name="Oval 47"/>
          <p:cNvSpPr/>
          <p:nvPr/>
        </p:nvSpPr>
        <p:spPr>
          <a:xfrm>
            <a:off x="520293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49" name="Rectangle 48"/>
          <p:cNvSpPr/>
          <p:nvPr/>
        </p:nvSpPr>
        <p:spPr>
          <a:xfrm>
            <a:off x="594360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0" name="Oval 49"/>
          <p:cNvSpPr/>
          <p:nvPr/>
        </p:nvSpPr>
        <p:spPr>
          <a:xfrm>
            <a:off x="604418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1" name="Oval 50"/>
          <p:cNvSpPr/>
          <p:nvPr/>
        </p:nvSpPr>
        <p:spPr>
          <a:xfrm>
            <a:off x="645566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2" name="Oval 51"/>
          <p:cNvSpPr/>
          <p:nvPr/>
        </p:nvSpPr>
        <p:spPr>
          <a:xfrm>
            <a:off x="625449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3" name="Rectangle 52"/>
          <p:cNvSpPr/>
          <p:nvPr/>
        </p:nvSpPr>
        <p:spPr>
          <a:xfrm>
            <a:off x="699516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4" name="Oval 53"/>
          <p:cNvSpPr/>
          <p:nvPr/>
        </p:nvSpPr>
        <p:spPr>
          <a:xfrm>
            <a:off x="709574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5" name="Oval 54"/>
          <p:cNvSpPr/>
          <p:nvPr/>
        </p:nvSpPr>
        <p:spPr>
          <a:xfrm>
            <a:off x="750722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6" name="Oval 55"/>
          <p:cNvSpPr/>
          <p:nvPr/>
        </p:nvSpPr>
        <p:spPr>
          <a:xfrm>
            <a:off x="730605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7" name="Rectangle 56"/>
          <p:cNvSpPr/>
          <p:nvPr/>
        </p:nvSpPr>
        <p:spPr>
          <a:xfrm>
            <a:off x="804672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8" name="Oval 57"/>
          <p:cNvSpPr/>
          <p:nvPr/>
        </p:nvSpPr>
        <p:spPr>
          <a:xfrm>
            <a:off x="814730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59" name="Oval 58"/>
          <p:cNvSpPr/>
          <p:nvPr/>
        </p:nvSpPr>
        <p:spPr>
          <a:xfrm>
            <a:off x="855878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0" name="Oval 59"/>
          <p:cNvSpPr/>
          <p:nvPr/>
        </p:nvSpPr>
        <p:spPr>
          <a:xfrm>
            <a:off x="835761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1" name="Rectangle 60"/>
          <p:cNvSpPr/>
          <p:nvPr/>
        </p:nvSpPr>
        <p:spPr>
          <a:xfrm>
            <a:off x="9098280" y="2148840"/>
            <a:ext cx="868680" cy="1188720"/>
          </a:xfrm>
          <a:prstGeom prst="rect">
            <a:avLst/>
          </a:prstGeom>
          <a:solidFill>
            <a:srgbClr val="FFFFF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2" name="Oval 61"/>
          <p:cNvSpPr/>
          <p:nvPr/>
        </p:nvSpPr>
        <p:spPr>
          <a:xfrm>
            <a:off x="9198864" y="2331720"/>
            <a:ext cx="256032" cy="256032"/>
          </a:xfrm>
          <a:prstGeom prst="ellipse">
            <a:avLst/>
          </a:prstGeom>
          <a:solidFill>
            <a:srgbClr val="3CA95C"/>
          </a:solidFill>
          <a:ln w="9525">
            <a:solidFill>
              <a:srgbClr val="3CA9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3" name="Oval 62"/>
          <p:cNvSpPr/>
          <p:nvPr/>
        </p:nvSpPr>
        <p:spPr>
          <a:xfrm>
            <a:off x="9610344" y="2331720"/>
            <a:ext cx="256032" cy="256032"/>
          </a:xfrm>
          <a:prstGeom prst="ellipse">
            <a:avLst/>
          </a:prstGeom>
          <a:solidFill>
            <a:srgbClr val="2CA6DF"/>
          </a:solidFill>
          <a:ln w="9525">
            <a:solidFill>
              <a:srgbClr val="2CA6D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4" name="Oval 63"/>
          <p:cNvSpPr/>
          <p:nvPr/>
        </p:nvSpPr>
        <p:spPr>
          <a:xfrm>
            <a:off x="9409176" y="2715768"/>
            <a:ext cx="256032" cy="256032"/>
          </a:xfrm>
          <a:prstGeom prst="ellipse">
            <a:avLst/>
          </a:prstGeom>
          <a:solidFill>
            <a:srgbClr val="E03C31"/>
          </a:solidFill>
          <a:ln w="9525">
            <a:solidFill>
              <a:srgbClr val="E03C3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65" name="TextBox 64"/>
          <p:cNvSpPr txBox="1"/>
          <p:nvPr/>
        </p:nvSpPr>
        <p:spPr>
          <a:xfrm>
            <a:off x="502920" y="1517904"/>
            <a:ext cx="777240" cy="367792"/>
          </a:xfrm>
          <a:prstGeom prst="rect">
            <a:avLst/>
          </a:prstGeom>
          <a:noFill/>
        </p:spPr>
        <p:txBody>
          <a:bodyPr wrap="square" lIns="0" tIns="0" rIns="0" bIns="0">
            <a:spAutoFit/>
          </a:bodyPr>
          <a:lstStyle/>
          <a:p>
            <a:pPr algn="r">
              <a:lnSpc>
                <a:spcPct val="100000"/>
              </a:lnSpc>
              <a:spcAft>
                <a:spcPts val="0"/>
              </a:spcAft>
              <a:defRPr sz="1800" b="1">
                <a:solidFill>
                  <a:srgbClr val="666666"/>
                </a:solidFill>
                <a:latin typeface="Calibri"/>
              </a:defRPr>
            </a:pPr>
            <a:r>
              <a:rPr sz="1800" b="1">
                <a:solidFill>
                  <a:srgbClr val="666666"/>
                </a:solidFill>
                <a:latin typeface="Calibri"/>
              </a:rPr>
              <a:t>Power</a:t>
            </a:r>
          </a:p>
        </p:txBody>
      </p:sp>
      <p:sp>
        <p:nvSpPr>
          <p:cNvPr id="66" name="TextBox 65"/>
          <p:cNvSpPr txBox="1"/>
          <p:nvPr/>
        </p:nvSpPr>
        <p:spPr>
          <a:xfrm>
            <a:off x="502920" y="2615184"/>
            <a:ext cx="77724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Data In</a:t>
            </a:r>
          </a:p>
        </p:txBody>
      </p:sp>
      <p:sp>
        <p:nvSpPr>
          <p:cNvPr id="67" name="TextBox 66"/>
          <p:cNvSpPr txBox="1"/>
          <p:nvPr/>
        </p:nvSpPr>
        <p:spPr>
          <a:xfrm>
            <a:off x="502920" y="3712464"/>
            <a:ext cx="777240" cy="367792"/>
          </a:xfrm>
          <a:prstGeom prst="rect">
            <a:avLst/>
          </a:prstGeom>
          <a:noFill/>
        </p:spPr>
        <p:txBody>
          <a:bodyPr wrap="square" lIns="0" tIns="0" rIns="0" bIns="0">
            <a:spAutoFit/>
          </a:bodyPr>
          <a:lstStyle/>
          <a:p>
            <a:pPr algn="r">
              <a:lnSpc>
                <a:spcPct val="100000"/>
              </a:lnSpc>
              <a:spcAft>
                <a:spcPts val="0"/>
              </a:spcAft>
              <a:defRPr sz="1800" b="1">
                <a:solidFill>
                  <a:srgbClr val="666666"/>
                </a:solidFill>
                <a:latin typeface="Calibri"/>
              </a:defRPr>
            </a:pPr>
            <a:r>
              <a:rPr sz="1800" b="1">
                <a:solidFill>
                  <a:srgbClr val="666666"/>
                </a:solidFill>
                <a:latin typeface="Calibri"/>
              </a:rPr>
              <a:t>GND</a:t>
            </a:r>
          </a:p>
        </p:txBody>
      </p:sp>
      <p:sp>
        <p:nvSpPr>
          <p:cNvPr id="68" name="TextBox 67"/>
          <p:cNvSpPr txBox="1"/>
          <p:nvPr/>
        </p:nvSpPr>
        <p:spPr>
          <a:xfrm>
            <a:off x="10332720" y="2615184"/>
            <a:ext cx="1353312"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Data out</a:t>
            </a:r>
          </a:p>
        </p:txBody>
      </p:sp>
      <p:sp>
        <p:nvSpPr>
          <p:cNvPr id="69" name="TextBox 68"/>
          <p:cNvSpPr txBox="1"/>
          <p:nvPr/>
        </p:nvSpPr>
        <p:spPr>
          <a:xfrm>
            <a:off x="502920" y="4133088"/>
            <a:ext cx="11185855"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Inside each box: a controller chip and three LEDs. Eight are drawn here; the vehicle has 32.</a:t>
            </a:r>
          </a:p>
        </p:txBody>
      </p:sp>
      <p:sp>
        <p:nvSpPr>
          <p:cNvPr id="70" name="Rounded Rectangle 69"/>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Power and ground are RAILS - every pixel taps the same two wires. Data is a CHAIN - each pixel keeps the first message and passes the rest out to the next one. That is why one GPIO drives the whole strip, and why a break in the data line puts out every pixel after it and none before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colors, and what to write for each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200"/>
              </a:spcAft>
              <a:defRPr sz="1200" b="0">
                <a:solidFill>
                  <a:srgbClr val="222222"/>
                </a:solidFill>
                <a:latin typeface="Calibri"/>
              </a:defRPr>
            </a:pPr>
            <a:r>
              <a:rPr sz="1200" b="0">
                <a:solidFill>
                  <a:srgbClr val="222222"/>
                </a:solidFill>
                <a:latin typeface="Calibri"/>
              </a:rPr>
              <a:t>Start from these, then change one number at a time and watch what it does. Nothing here is a magic value - every one is three numbers between 0 and 255.</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3050687"/>
                <a:gridCol w="5592927"/>
                <a:gridCol w="2542239"/>
              </a:tblGrid>
              <a:tr h="258762">
                <a:tc>
                  <a:txBody>
                    <a:bodyPr/>
                    <a:lstStyle/>
                    <a:p>
                      <a:r>
                        <a:rPr sz="1150" b="1">
                          <a:solidFill>
                            <a:srgbClr val="FFFFFF"/>
                          </a:solidFill>
                          <a:latin typeface="Calibri"/>
                        </a:rPr>
                        <a:t>Color</a:t>
                      </a:r>
                    </a:p>
                  </a:txBody>
                  <a:tcPr marL="73152" marT="18288" marB="18288">
                    <a:solidFill>
                      <a:srgbClr val="1F3A5F"/>
                    </a:solidFill>
                  </a:tcPr>
                </a:tc>
                <a:tc>
                  <a:txBody>
                    <a:bodyPr/>
                    <a:lstStyle/>
                    <a:p>
                      <a:r>
                        <a:rPr sz="1150" b="1">
                          <a:solidFill>
                            <a:srgbClr val="FFFFFF"/>
                          </a:solidFill>
                          <a:latin typeface="Calibri"/>
                        </a:rPr>
                        <a:t>The call</a:t>
                      </a:r>
                    </a:p>
                  </a:txBody>
                  <a:tcPr marL="73152" marT="18288" marB="18288">
                    <a:solidFill>
                      <a:srgbClr val="1F3A5F"/>
                    </a:solidFill>
                  </a:tcPr>
                </a:tc>
                <a:tc>
                  <a:txBody>
                    <a:bodyPr/>
                    <a:lstStyle/>
                    <a:p>
                      <a:r>
                        <a:rPr sz="1150" b="1">
                          <a:solidFill>
                            <a:srgbClr val="FFFFFF"/>
                          </a:solidFill>
                          <a:latin typeface="Calibri"/>
                        </a:rPr>
                        <a:t>Channels lit</a:t>
                      </a:r>
                    </a:p>
                  </a:txBody>
                  <a:tcPr marL="73152" marT="18288" marB="18288">
                    <a:solidFill>
                      <a:srgbClr val="1F3A5F"/>
                    </a:solidFill>
                  </a:tcPr>
                </a:tc>
              </a:tr>
              <a:tr h="258762">
                <a:tc>
                  <a:txBody>
                    <a:bodyPr/>
                    <a:lstStyle/>
                    <a:p>
                      <a:r>
                        <a:rPr sz="1150">
                          <a:solidFill>
                            <a:srgbClr val="222222"/>
                          </a:solidFill>
                          <a:latin typeface="Calibri"/>
                        </a:rPr>
                        <a:t>Red</a:t>
                      </a:r>
                    </a:p>
                  </a:txBody>
                  <a:tcPr marL="73152" marT="18288" marB="18288">
                    <a:solidFill>
                      <a:srgbClr val="FFFFFF"/>
                    </a:solidFill>
                  </a:tcPr>
                </a:tc>
                <a:tc>
                  <a:txBody>
                    <a:bodyPr/>
                    <a:lstStyle/>
                    <a:p>
                      <a:r>
                        <a:rPr sz="1150">
                          <a:solidFill>
                            <a:srgbClr val="222222"/>
                          </a:solidFill>
                          <a:latin typeface="Calibri"/>
                        </a:rPr>
                        <a:t>strip.Color(255, 0, 0)</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Green</a:t>
                      </a:r>
                    </a:p>
                  </a:txBody>
                  <a:tcPr marL="73152" marT="18288" marB="18288">
                    <a:solidFill>
                      <a:srgbClr val="EEF3F8"/>
                    </a:solidFill>
                  </a:tcPr>
                </a:tc>
                <a:tc>
                  <a:txBody>
                    <a:bodyPr/>
                    <a:lstStyle/>
                    <a:p>
                      <a:r>
                        <a:rPr sz="1150">
                          <a:solidFill>
                            <a:srgbClr val="222222"/>
                          </a:solidFill>
                          <a:latin typeface="Calibri"/>
                        </a:rPr>
                        <a:t>strip.Color(0, 255, 0)</a:t>
                      </a:r>
                    </a:p>
                  </a:txBody>
                  <a:tcPr marL="73152" marT="18288" marB="18288">
                    <a:solidFill>
                      <a:srgbClr val="EEF3F8"/>
                    </a:solidFill>
                  </a:tcPr>
                </a:tc>
                <a:tc>
                  <a:txBody>
                    <a:bodyPr/>
                    <a:lstStyle/>
                    <a:p>
                      <a:r>
                        <a:rPr sz="1150">
                          <a:solidFill>
                            <a:srgbClr val="222222"/>
                          </a:solidFill>
                          <a:latin typeface="Calibri"/>
                        </a:rPr>
                        <a:t>1</a:t>
                      </a:r>
                    </a:p>
                  </a:txBody>
                  <a:tcPr marL="73152" marT="18288" marB="18288">
                    <a:solidFill>
                      <a:srgbClr val="EEF3F8"/>
                    </a:solidFill>
                  </a:tcPr>
                </a:tc>
              </a:tr>
              <a:tr h="258762">
                <a:tc>
                  <a:txBody>
                    <a:bodyPr/>
                    <a:lstStyle/>
                    <a:p>
                      <a:r>
                        <a:rPr sz="1150">
                          <a:solidFill>
                            <a:srgbClr val="222222"/>
                          </a:solidFill>
                          <a:latin typeface="Calibri"/>
                        </a:rPr>
                        <a:t>Blue</a:t>
                      </a:r>
                    </a:p>
                  </a:txBody>
                  <a:tcPr marL="73152" marT="18288" marB="18288">
                    <a:solidFill>
                      <a:srgbClr val="FFFFFF"/>
                    </a:solidFill>
                  </a:tcPr>
                </a:tc>
                <a:tc>
                  <a:txBody>
                    <a:bodyPr/>
                    <a:lstStyle/>
                    <a:p>
                      <a:r>
                        <a:rPr sz="1150">
                          <a:solidFill>
                            <a:srgbClr val="222222"/>
                          </a:solidFill>
                          <a:latin typeface="Calibri"/>
                        </a:rPr>
                        <a:t>strip.Color(0, 0, 255)</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Yellow</a:t>
                      </a:r>
                    </a:p>
                  </a:txBody>
                  <a:tcPr marL="73152" marT="18288" marB="18288">
                    <a:solidFill>
                      <a:srgbClr val="EEF3F8"/>
                    </a:solidFill>
                  </a:tcPr>
                </a:tc>
                <a:tc>
                  <a:txBody>
                    <a:bodyPr/>
                    <a:lstStyle/>
                    <a:p>
                      <a:r>
                        <a:rPr sz="1150">
                          <a:solidFill>
                            <a:srgbClr val="222222"/>
                          </a:solidFill>
                          <a:latin typeface="Calibri"/>
                        </a:rPr>
                        <a:t>strip.Color(255, 255, 0)</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Cyan</a:t>
                      </a:r>
                    </a:p>
                  </a:txBody>
                  <a:tcPr marL="73152" marT="18288" marB="18288">
                    <a:solidFill>
                      <a:srgbClr val="FFFFFF"/>
                    </a:solidFill>
                  </a:tcPr>
                </a:tc>
                <a:tc>
                  <a:txBody>
                    <a:bodyPr/>
                    <a:lstStyle/>
                    <a:p>
                      <a:r>
                        <a:rPr sz="1150">
                          <a:solidFill>
                            <a:srgbClr val="222222"/>
                          </a:solidFill>
                          <a:latin typeface="Calibri"/>
                        </a:rPr>
                        <a:t>strip.Color(0, 255, 255)</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Magenta</a:t>
                      </a:r>
                    </a:p>
                  </a:txBody>
                  <a:tcPr marL="73152" marT="18288" marB="18288">
                    <a:solidFill>
                      <a:srgbClr val="EEF3F8"/>
                    </a:solidFill>
                  </a:tcPr>
                </a:tc>
                <a:tc>
                  <a:txBody>
                    <a:bodyPr/>
                    <a:lstStyle/>
                    <a:p>
                      <a:r>
                        <a:rPr sz="1150">
                          <a:solidFill>
                            <a:srgbClr val="222222"/>
                          </a:solidFill>
                          <a:latin typeface="Calibri"/>
                        </a:rPr>
                        <a:t>strip.Color(255,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Orange</a:t>
                      </a:r>
                    </a:p>
                  </a:txBody>
                  <a:tcPr marL="73152" marT="18288" marB="18288">
                    <a:solidFill>
                      <a:srgbClr val="FFFFFF"/>
                    </a:solidFill>
                  </a:tcPr>
                </a:tc>
                <a:tc>
                  <a:txBody>
                    <a:bodyPr/>
                    <a:lstStyle/>
                    <a:p>
                      <a:r>
                        <a:rPr sz="1150">
                          <a:solidFill>
                            <a:srgbClr val="222222"/>
                          </a:solidFill>
                          <a:latin typeface="Calibri"/>
                        </a:rPr>
                        <a:t>strip.Color(255, 100, 0)</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Purple</a:t>
                      </a:r>
                    </a:p>
                  </a:txBody>
                  <a:tcPr marL="73152" marT="18288" marB="18288">
                    <a:solidFill>
                      <a:srgbClr val="EEF3F8"/>
                    </a:solidFill>
                  </a:tcPr>
                </a:tc>
                <a:tc>
                  <a:txBody>
                    <a:bodyPr/>
                    <a:lstStyle/>
                    <a:p>
                      <a:r>
                        <a:rPr sz="1150">
                          <a:solidFill>
                            <a:srgbClr val="222222"/>
                          </a:solidFill>
                          <a:latin typeface="Calibri"/>
                        </a:rPr>
                        <a:t>strip.Color(128,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Pink</a:t>
                      </a:r>
                    </a:p>
                  </a:txBody>
                  <a:tcPr marL="73152" marT="18288" marB="18288">
                    <a:solidFill>
                      <a:srgbClr val="FFFFFF"/>
                    </a:solidFill>
                  </a:tcPr>
                </a:tc>
                <a:tc>
                  <a:txBody>
                    <a:bodyPr/>
                    <a:lstStyle/>
                    <a:p>
                      <a:r>
                        <a:rPr sz="1150">
                          <a:solidFill>
                            <a:srgbClr val="222222"/>
                          </a:solidFill>
                          <a:latin typeface="Calibri"/>
                        </a:rPr>
                        <a:t>strip.Color(255, 100, 100)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2">
                <a:tc>
                  <a:txBody>
                    <a:bodyPr/>
                    <a:lstStyle/>
                    <a:p>
                      <a:r>
                        <a:rPr sz="1150">
                          <a:solidFill>
                            <a:srgbClr val="222222"/>
                          </a:solidFill>
                          <a:latin typeface="Calibri"/>
                        </a:rPr>
                        <a:t>White</a:t>
                      </a:r>
                    </a:p>
                  </a:txBody>
                  <a:tcPr marL="73152" marT="18288" marB="18288">
                    <a:solidFill>
                      <a:srgbClr val="EEF3F8"/>
                    </a:solidFill>
                  </a:tcPr>
                </a:tc>
                <a:tc>
                  <a:txBody>
                    <a:bodyPr/>
                    <a:lstStyle/>
                    <a:p>
                      <a:r>
                        <a:rPr sz="1150">
                          <a:solidFill>
                            <a:srgbClr val="222222"/>
                          </a:solidFill>
                          <a:latin typeface="Calibri"/>
                        </a:rPr>
                        <a:t>strip.Color(255, 255, 255)</a:t>
                      </a:r>
                    </a:p>
                  </a:txBody>
                  <a:tcPr marL="73152" marT="18288" marB="18288">
                    <a:solidFill>
                      <a:srgbClr val="EEF3F8"/>
                    </a:solidFill>
                  </a:tcPr>
                </a:tc>
                <a:tc>
                  <a:txBody>
                    <a:bodyPr/>
                    <a:lstStyle/>
                    <a:p>
                      <a:r>
                        <a:rPr sz="1150">
                          <a:solidFill>
                            <a:srgbClr val="222222"/>
                          </a:solidFill>
                          <a:latin typeface="Calibri"/>
                        </a:rPr>
                        <a:t>3</a:t>
                      </a:r>
                    </a:p>
                  </a:txBody>
                  <a:tcPr marL="73152" marT="18288" marB="18288">
                    <a:solidFill>
                      <a:srgbClr val="EEF3F8"/>
                    </a:solidFill>
                  </a:tcPr>
                </a:tc>
              </a:tr>
              <a:tr h="258762">
                <a:tc>
                  <a:txBody>
                    <a:bodyPr/>
                    <a:lstStyle/>
                    <a:p>
                      <a:r>
                        <a:rPr sz="1150">
                          <a:solidFill>
                            <a:srgbClr val="222222"/>
                          </a:solidFill>
                          <a:latin typeface="Calibri"/>
                        </a:rPr>
                        <a:t>Warm white</a:t>
                      </a:r>
                    </a:p>
                  </a:txBody>
                  <a:tcPr marL="73152" marT="18288" marB="18288">
                    <a:solidFill>
                      <a:srgbClr val="FFFFFF"/>
                    </a:solidFill>
                  </a:tcPr>
                </a:tc>
                <a:tc>
                  <a:txBody>
                    <a:bodyPr/>
                    <a:lstStyle/>
                    <a:p>
                      <a:r>
                        <a:rPr sz="1150">
                          <a:solidFill>
                            <a:srgbClr val="222222"/>
                          </a:solidFill>
                          <a:latin typeface="Calibri"/>
                        </a:rPr>
                        <a:t>strip.Color(255, 160, 80)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8">
                <a:tc>
                  <a:txBody>
                    <a:bodyPr/>
                    <a:lstStyle/>
                    <a:p>
                      <a:r>
                        <a:rPr sz="1150">
                          <a:solidFill>
                            <a:srgbClr val="222222"/>
                          </a:solidFill>
                          <a:latin typeface="Calibri"/>
                        </a:rPr>
                        <a:t>Off</a:t>
                      </a:r>
                    </a:p>
                  </a:txBody>
                  <a:tcPr marL="73152" marT="18288" marB="18288">
                    <a:solidFill>
                      <a:srgbClr val="EEF3F8"/>
                    </a:solidFill>
                  </a:tcPr>
                </a:tc>
                <a:tc>
                  <a:txBody>
                    <a:bodyPr/>
                    <a:lstStyle/>
                    <a:p>
                      <a:r>
                        <a:rPr sz="1150">
                          <a:solidFill>
                            <a:srgbClr val="222222"/>
                          </a:solidFill>
                          <a:latin typeface="Calibri"/>
                        </a:rPr>
                        <a:t>strip.Color(0, 0, 0)</a:t>
                      </a:r>
                    </a:p>
                  </a:txBody>
                  <a:tcPr marL="73152" marT="18288" marB="18288">
                    <a:solidFill>
                      <a:srgbClr val="EEF3F8"/>
                    </a:solidFill>
                  </a:tcPr>
                </a:tc>
                <a:tc>
                  <a:txBody>
                    <a:bodyPr/>
                    <a:lstStyle/>
                    <a:p>
                      <a:r>
                        <a:rPr sz="1150">
                          <a:solidFill>
                            <a:srgbClr val="222222"/>
                          </a:solidFill>
                          <a:latin typeface="Calibri"/>
                        </a:rPr>
                        <a:t>0</a:t>
                      </a:r>
                    </a:p>
                  </a:txBody>
                  <a:tcPr marL="73152" marT="18288" marB="18288">
                    <a:solidFill>
                      <a:srgbClr val="EEF3F8"/>
                    </a:solidFill>
                  </a:tcPr>
                </a:tc>
              </a:tr>
            </a:tbl>
          </a:graphicData>
        </a:graphic>
      </p:graphicFrame>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third column is the power budget in disguise. Orange costs twice what red does, and white costs three times - which is why a strip set to white is the one that browns out a battery.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