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Where we have been, where we are, what is left.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down, three to go.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One to go, and it is the one with the lights.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3" cy="3314700"/>
        </p:xfrm>
        <a:graphic>
          <a:graphicData uri="http://schemas.openxmlformats.org/drawingml/2006/table">
            <a:tbl>
              <a:tblPr firstRow="1" bandRow="1">
                <a:tableStyleId>{5C22544A-7EE6-4342-B048-85BDC9FD1C3A}</a:tableStyleId>
              </a:tblPr>
              <a:tblGrid>
                <a:gridCol w="828581"/>
                <a:gridCol w="4142909"/>
                <a:gridCol w="6214363"/>
              </a:tblGrid>
              <a:tr h="552450">
                <a:tc>
                  <a:txBody>
                    <a:bodyPr/>
                    <a:lstStyle/>
                    <a:p>
                      <a:r>
                        <a:rPr sz="2250" b="1">
                          <a:solidFill>
                            <a:srgbClr val="FFFFFF"/>
                          </a:solidFill>
                          <a:latin typeface="Calibri"/>
                        </a:rPr>
                        <a:t>Lesson</a:t>
                      </a:r>
                    </a:p>
                  </a:txBody>
                  <a:tcPr marL="73152" marT="18288" marB="18288">
                    <a:solidFill>
                      <a:srgbClr val="1F3A5F"/>
                    </a:solidFill>
                  </a:tcPr>
                </a:tc>
                <a:tc>
                  <a:txBody>
                    <a:bodyPr/>
                    <a:lstStyle/>
                    <a:p>
                      <a:r>
                        <a:rPr sz="2250" b="1">
                          <a:solidFill>
                            <a:srgbClr val="FFFFFF"/>
                          </a:solidFill>
                          <a:latin typeface="Calibri"/>
                        </a:rPr>
                        <a:t>Subject</a:t>
                      </a:r>
                    </a:p>
                  </a:txBody>
                  <a:tcPr marL="73152" marT="18288" marB="18288">
                    <a:solidFill>
                      <a:srgbClr val="1F3A5F"/>
                    </a:solidFill>
                  </a:tcPr>
                </a:tc>
                <a:tc>
                  <a:txBody>
                    <a:bodyPr/>
                    <a:lstStyle/>
                    <a:p>
                      <a:r>
                        <a:rPr sz="2250" b="1">
                          <a:solidFill>
                            <a:srgbClr val="FFFFFF"/>
                          </a:solidFill>
                          <a:latin typeface="Calibri"/>
                        </a:rPr>
                        <a:t>What your vehicle can do by the end</a:t>
                      </a:r>
                    </a:p>
                  </a:txBody>
                  <a:tcPr marL="73152" marT="18288" marB="18288">
                    <a:solidFill>
                      <a:srgbClr val="1F3A5F"/>
                    </a:solidFill>
                  </a:tcPr>
                </a:tc>
              </a:tr>
              <a:tr h="552450">
                <a:tc>
                  <a:txBody>
                    <a:bodyPr/>
                    <a:lstStyle/>
                    <a:p>
                      <a:r>
                        <a:rPr sz="2250">
                          <a:solidFill>
                            <a:srgbClr val="222222"/>
                          </a:solidFill>
                          <a:latin typeface="Calibri"/>
                        </a:rPr>
                        <a:t>1</a:t>
                      </a:r>
                    </a:p>
                  </a:txBody>
                  <a:tcPr marL="73152" marT="18288" marB="18288">
                    <a:solidFill>
                      <a:srgbClr val="FFFFFF"/>
                    </a:solidFill>
                  </a:tcPr>
                </a:tc>
                <a:tc>
                  <a:txBody>
                    <a:bodyPr/>
                    <a:lstStyle/>
                    <a:p>
                      <a:r>
                        <a:rPr sz="2250">
                          <a:solidFill>
                            <a:srgbClr val="222222"/>
                          </a:solidFill>
                          <a:latin typeface="Calibri"/>
                        </a:rPr>
                        <a:t>Introduction and the toolchain</a:t>
                      </a:r>
                    </a:p>
                  </a:txBody>
                  <a:tcPr marL="73152" marT="18288" marB="18288">
                    <a:solidFill>
                      <a:srgbClr val="FFFFFF"/>
                    </a:solidFill>
                  </a:tcPr>
                </a:tc>
                <a:tc>
                  <a:txBody>
                    <a:bodyPr/>
                    <a:lstStyle/>
                    <a:p>
                      <a:r>
                        <a:rPr sz="2250">
                          <a:solidFill>
                            <a:srgbClr val="222222"/>
                          </a:solidFill>
                          <a:latin typeface="Calibri"/>
                        </a:rPr>
                        <a:t>Blink an LED, print to the screen, light one pixel</a:t>
                      </a:r>
                    </a:p>
                  </a:txBody>
                  <a:tcPr marL="73152" marT="18288" marB="18288">
                    <a:solidFill>
                      <a:srgbClr val="FFFFFF"/>
                    </a:solidFill>
                  </a:tcPr>
                </a:tc>
              </a:tr>
              <a:tr h="552450">
                <a:tc>
                  <a:txBody>
                    <a:bodyPr/>
                    <a:lstStyle/>
                    <a:p>
                      <a:r>
                        <a:rPr sz="2250">
                          <a:solidFill>
                            <a:srgbClr val="222222"/>
                          </a:solidFill>
                          <a:latin typeface="Calibri"/>
                        </a:rPr>
                        <a:t>2</a:t>
                      </a:r>
                    </a:p>
                  </a:txBody>
                  <a:tcPr marL="73152" marT="18288" marB="18288">
                    <a:solidFill>
                      <a:srgbClr val="EEF3F8"/>
                    </a:solidFill>
                  </a:tcPr>
                </a:tc>
                <a:tc>
                  <a:txBody>
                    <a:bodyPr/>
                    <a:lstStyle/>
                    <a:p>
                      <a:r>
                        <a:rPr sz="2250">
                          <a:solidFill>
                            <a:srgbClr val="222222"/>
                          </a:solidFill>
                          <a:latin typeface="Calibri"/>
                        </a:rPr>
                        <a:t>Motor control</a:t>
                      </a:r>
                    </a:p>
                  </a:txBody>
                  <a:tcPr marL="73152" marT="18288" marB="18288">
                    <a:solidFill>
                      <a:srgbClr val="EEF3F8"/>
                    </a:solidFill>
                  </a:tcPr>
                </a:tc>
                <a:tc>
                  <a:txBody>
                    <a:bodyPr/>
                    <a:lstStyle/>
                    <a:p>
                      <a:r>
                        <a:rPr sz="2250">
                          <a:solidFill>
                            <a:srgbClr val="222222"/>
                          </a:solidFill>
                          <a:latin typeface="Calibri"/>
                        </a:rPr>
                        <a:t>Drive itself round a square you calculated</a:t>
                      </a:r>
                    </a:p>
                  </a:txBody>
                  <a:tcPr marL="73152" marT="18288" marB="18288">
                    <a:solidFill>
                      <a:srgbClr val="EEF3F8"/>
                    </a:solidFill>
                  </a:tcPr>
                </a:tc>
              </a:tr>
              <a:tr h="552450">
                <a:tc>
                  <a:txBody>
                    <a:bodyPr/>
                    <a:lstStyle/>
                    <a:p>
                      <a:r>
                        <a:rPr sz="2250">
                          <a:solidFill>
                            <a:srgbClr val="222222"/>
                          </a:solidFill>
                          <a:latin typeface="Calibri"/>
                        </a:rPr>
                        <a:t>3</a:t>
                      </a:r>
                    </a:p>
                  </a:txBody>
                  <a:tcPr marL="73152" marT="18288" marB="18288">
                    <a:solidFill>
                      <a:srgbClr val="FFFFFF"/>
                    </a:solidFill>
                  </a:tcPr>
                </a:tc>
                <a:tc>
                  <a:txBody>
                    <a:bodyPr/>
                    <a:lstStyle/>
                    <a:p>
                      <a:r>
                        <a:rPr sz="2250">
                          <a:solidFill>
                            <a:srgbClr val="222222"/>
                          </a:solidFill>
                          <a:latin typeface="Calibri"/>
                        </a:rPr>
                        <a:t>Controller programming</a:t>
                      </a:r>
                    </a:p>
                  </a:txBody>
                  <a:tcPr marL="73152" marT="18288" marB="18288">
                    <a:solidFill>
                      <a:srgbClr val="FFFFFF"/>
                    </a:solidFill>
                  </a:tcPr>
                </a:tc>
                <a:tc>
                  <a:txBody>
                    <a:bodyPr/>
                    <a:lstStyle/>
                    <a:p>
                      <a:r>
                        <a:rPr sz="2250">
                          <a:solidFill>
                            <a:srgbClr val="222222"/>
                          </a:solidFill>
                          <a:latin typeface="Calibri"/>
                        </a:rPr>
                        <a:t>Be driven by you, with a thumbstick</a:t>
                      </a:r>
                    </a:p>
                  </a:txBody>
                  <a:tcPr marL="73152" marT="18288" marB="18288">
                    <a:solidFill>
                      <a:srgbClr val="FFFFFF"/>
                    </a:solidFill>
                  </a:tcPr>
                </a:tc>
              </a:tr>
              <a:tr h="552450">
                <a:tc>
                  <a:txBody>
                    <a:bodyPr/>
                    <a:lstStyle/>
                    <a:p>
                      <a:r>
                        <a:rPr sz="2250">
                          <a:solidFill>
                            <a:srgbClr val="222222"/>
                          </a:solidFill>
                          <a:latin typeface="Calibri"/>
                        </a:rPr>
                        <a:t>4</a:t>
                      </a:r>
                    </a:p>
                  </a:txBody>
                  <a:tcPr marL="73152" marT="18288" marB="18288">
                    <a:solidFill>
                      <a:srgbClr val="EEF3F8"/>
                    </a:solidFill>
                  </a:tcPr>
                </a:tc>
                <a:tc>
                  <a:txBody>
                    <a:bodyPr/>
                    <a:lstStyle/>
                    <a:p>
                      <a:r>
                        <a:rPr sz="2250">
                          <a:solidFill>
                            <a:srgbClr val="222222"/>
                          </a:solidFill>
                          <a:latin typeface="Calibri"/>
                        </a:rPr>
                        <a:t>NeoPixel LEDs</a:t>
                      </a:r>
                    </a:p>
                  </a:txBody>
                  <a:tcPr marL="73152" marT="18288" marB="18288">
                    <a:solidFill>
                      <a:srgbClr val="EEF3F8"/>
                    </a:solidFill>
                  </a:tcPr>
                </a:tc>
                <a:tc>
                  <a:txBody>
                    <a:bodyPr/>
                    <a:lstStyle/>
                    <a:p>
                      <a:r>
                        <a:rPr sz="2250">
                          <a:solidFill>
                            <a:srgbClr val="222222"/>
                          </a:solidFill>
                          <a:latin typeface="Calibri"/>
                        </a:rPr>
                        <a:t>Run headlights, signals and light patterns</a:t>
                      </a:r>
                    </a:p>
                  </a:txBody>
                  <a:tcPr marL="73152" marT="18288" marB="18288">
                    <a:solidFill>
                      <a:srgbClr val="EEF3F8"/>
                    </a:solidFill>
                  </a:tcPr>
                </a:tc>
              </a:tr>
              <a:tr h="552450">
                <a:tc>
                  <a:txBody>
                    <a:bodyPr/>
                    <a:lstStyle/>
                    <a:p>
                      <a:r>
                        <a:rPr sz="2250">
                          <a:solidFill>
                            <a:srgbClr val="222222"/>
                          </a:solidFill>
                          <a:latin typeface="Calibri"/>
                        </a:rPr>
                        <a:t>5</a:t>
                      </a:r>
                    </a:p>
                  </a:txBody>
                  <a:tcPr marL="73152" marT="18288" marB="18288">
                    <a:solidFill>
                      <a:srgbClr val="FFFFFF"/>
                    </a:solidFill>
                  </a:tcPr>
                </a:tc>
                <a:tc>
                  <a:txBody>
                    <a:bodyPr/>
                    <a:lstStyle/>
                    <a:p>
                      <a:r>
                        <a:rPr sz="2250">
                          <a:solidFill>
                            <a:srgbClr val="222222"/>
                          </a:solidFill>
                          <a:latin typeface="Calibri"/>
                        </a:rPr>
                        <a:t>Maneuvers with lights</a:t>
                      </a:r>
                    </a:p>
                  </a:txBody>
                  <a:tcPr marL="73152" marT="18288" marB="18288">
                    <a:solidFill>
                      <a:srgbClr val="FFFFFF"/>
                    </a:solidFill>
                  </a:tcPr>
                </a:tc>
                <a:tc>
                  <a:txBody>
                    <a:bodyPr/>
                    <a:lstStyle/>
                    <a:p>
                      <a:r>
                        <a:rPr sz="225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PS3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https://espressif.github.io/arduino-esp32/package_esp32_index.json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"esp32".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  by Espressif Systems,  version 3.0.7</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3.0.7 -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Version 3.0.7 specifically. Newer versions changed the way PWM is set up, and every motor program on this track uses the 3.0.7 spelling.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"PS3 Controller Host" by Jeffrey van Pernis  -  talks to the controller.</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Searching Library Manager for "Ps3Controller" finds nothing. The display name is the longer one.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PS3 Controller Host</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 + PS3 Controller Host</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pathfinder_ps3</a:t>
                      </a:r>
                    </a:p>
                  </a:txBody>
                  <a:tcPr marL="73152" marT="18288" marB="18288">
                    <a:solidFill>
                      <a:srgbClr val="EEF3F8"/>
                    </a:solidFill>
                  </a:tcPr>
                </a:tc>
                <a:tc>
                  <a:txBody>
                    <a:bodyPr/>
                    <a:lstStyle/>
                    <a:p>
                      <a:r>
                        <a:rPr sz="1150">
                          <a:solidFill>
                            <a:srgbClr val="222222"/>
                          </a:solidFill>
                          <a:latin typeface="Calibri"/>
                        </a:rPr>
                        <a:t>Adafruit NeoPixel + PS3 Controller Host</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