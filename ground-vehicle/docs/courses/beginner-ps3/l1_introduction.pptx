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Start the clock here. Three hours, two ten-minute breaks, and by the end every group has uploaded three programs.</a:t>
            </a:r>
          </a:p>
          <a:p>
            <a:r>
              <a:rPr sz="1200">
                <a:latin typeface="Calibri"/>
              </a:rPr>
              <a:t>Introduce yourself and get their names. Ask who has written any code before - the answer shapes how fast you can go through the IDE section.</a:t>
            </a:r>
          </a:p>
          <a:p>
            <a:r>
              <a:rPr sz="1200">
                <a:latin typeface="Calibri"/>
              </a:rPr>
              <a:t>Have the vehicles out on the desks already, switched off. People settle faster when there is something in front of them.</a:t>
            </a:r>
          </a:p>
          <a:p>
            <a:r>
              <a:rPr sz="1200">
                <a:latin typeface="Calibri"/>
              </a:rPr>
              <a:t>Say what today is NOT: nothing drives today. Motors are next lesson.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Read these out. It takes forty seconds and it tells the room what success looks like.</a:t>
            </a:r>
          </a:p>
          <a:p>
            <a:r>
              <a:rPr sz="1200">
                <a:latin typeface="Calibri"/>
              </a:rPr>
              <a:t>Come back to this slide in the last five minutes and ask them to score themselves against it. Anything nobody can do is what you open with next lesson.</a:t>
            </a:r>
          </a:p>
          <a:p>
            <a:r>
              <a:rPr sz="1200">
                <a:latin typeface="Calibri"/>
              </a:rPr>
              <a:t>Ask first, before any of this: hands up for anybody who has met Arduino, the ESP-32, C++ or Ohm's law before. It changes who you pair with whom, and it tells you which of the seven objectives is going to be the slow one.</a:t>
            </a:r>
          </a:p>
          <a:p>
            <a:r>
              <a:rPr sz="1200">
                <a:latin typeface="Calibri"/>
              </a:rPr>
              <a:t>Objective four - saying why the resistor is there - is the one that separates following instructions from understanding. Watch for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 tone of the whole course is set in the next two minutes. Interruptions are wanted, not tolerated.</a:t>
            </a:r>
          </a:p>
          <a:p>
            <a:r>
              <a:rPr sz="1200">
                <a:latin typeface="Calibri"/>
              </a:rPr>
              <a:t>Groups of three: one driving the laptop, one reading the slide out, one on the vehicle. Tell them to swap roles every activity, and mean it.</a:t>
            </a:r>
          </a:p>
          <a:p>
            <a:r>
              <a:rPr sz="1200">
                <a:latin typeface="Calibri"/>
              </a:rPr>
              <a:t>The last bullet is the important one. Say it slowly. Students who think a misbehaving vehicle means they are bad at this will give up in Lesson 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One line each, no more. This is a map, not a syllabus.</a:t>
            </a:r>
          </a:p>
          <a:p>
            <a:r>
              <a:rPr sz="1200">
                <a:latin typeface="Calibri"/>
              </a:rPr>
              <a:t>Point at Lesson 5 and say that the program they end on is the same one that leaves the factory on a finished vehicle. That lands.</a:t>
            </a:r>
          </a:p>
          <a:p>
            <a:r>
              <a:rPr sz="1200">
                <a:latin typeface="Calibri"/>
              </a:rPr>
              <a:t>If somebody asks about the advanced course, hold it - it is on the last slide of Lesson 5.</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Put the two break times on the whiteboard as well. People relax when they know when the next one is.</a:t>
            </a:r>
          </a:p>
          <a:p>
            <a:r>
              <a:rPr sz="1200">
                <a:latin typeface="Calibri"/>
              </a:rPr>
              <a:t>The timings are a guide. The IDE install is the one that runs over; if it does, take it out of the Serial Monitor section, not out of the blink activity.</a:t>
            </a:r>
          </a:p>
          <a:p>
            <a:r>
              <a:rPr sz="1200">
                <a:latin typeface="Calibri"/>
              </a:rPr>
              <a:t>If the whole room is installed and ready early, go straight to the breadboards. Never fill time.</a:t>
            </a:r>
          </a:p>
          <a:p>
            <a:r>
              <a:rPr sz="1200">
                <a:latin typeface="Calibri"/>
              </a:rPr>
              <a:t>Breaks are about every hour, or wherever the work reaches a natural stop. Say so at the start, so nobody is wondering.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Get the word MECHATRONICS said out loud by somebody other than you.</a:t>
            </a:r>
          </a:p>
          <a:p>
            <a:r>
              <a:rPr sz="1200">
                <a:latin typeface="Calibri"/>
              </a:rPr>
              <a:t>The figure narrows from all of engineering down to what is on the desk. Walk it inwards with a finger.</a:t>
            </a:r>
          </a:p>
          <a:p>
            <a:r>
              <a:rPr sz="1200">
                <a:latin typeface="Calibri"/>
              </a:rPr>
              <a:t>Ask for three mechatronic things in the room. Printer, car, washing machine, lift, and the vehicle in front of them all count.</a:t>
            </a:r>
          </a:p>
          <a:p>
            <a:r>
              <a:rPr sz="1200">
                <a:latin typeface="Calibri"/>
              </a:rPr>
              <a:t>Do not get drawn into a definitions argument. The point is that the three disciplines are one job, not three.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This is the slide to point at when somebody asks why they are doing math in a robotics class.</a:t>
            </a:r>
          </a:p>
          <a:p>
            <a:r>
              <a:rPr sz="1200">
                <a:latin typeface="Calibri"/>
              </a:rPr>
              <a:t>Every item on the left is used in a specific lesson, not in general, and the slide is deliberately terse so you can say which. Circumference and trigonometry in Lesson 2, linear mapping in Lesson 3, Ohm's law in Lessons 2 and 4, wavelength and color perception in Lesson 4.</a:t>
            </a:r>
          </a:p>
          <a:p>
            <a:r>
              <a:rPr sz="1200">
                <a:latin typeface="Calibri"/>
              </a:rPr>
              <a:t>"Mechanical, electrical or software?" is the diagnostic question of the whole course. Ask it out loud every time something does not work, and they will start asking it themselves by Lesson 3.</a:t>
            </a:r>
          </a:p>
          <a:p>
            <a:r>
              <a:rPr sz="1200">
                <a:latin typeface="Calibri"/>
              </a:rPr>
              <a:t>The right-hand column is what actually gets people hired. Read it as a list of habits, and tell them you will be marking those habits all term.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Pass a vehicle round while you talk over this slide. Let them pick it up - it is built to be handled.</a:t>
            </a:r>
          </a:p>
          <a:p>
            <a:r>
              <a:rPr sz="1200">
                <a:latin typeface="Calibri"/>
              </a:rPr>
              <a:t>Both pictures are the same vehicle running the SAME PROGRAM. Nobody reprogrammed anything between them - somebody pushed the D-pad the other way. Say that explicitly, because it is easy to assume two pictures mean two programs.</a:t>
            </a:r>
          </a:p>
          <a:p>
            <a:r>
              <a:rPr sz="1200">
                <a:latin typeface="Calibri"/>
              </a:rPr>
              <a:t>Both photographs are taken from the front, so you can only see the front bar. Say what the camera cannot show: the rear bar is indicating on the same side at the same time, the way a car does. It is one SIDE of the vehicle lighting up, not one end.</a:t>
            </a:r>
          </a:p>
          <a:p>
            <a:r>
              <a:rPr sz="1200">
                <a:latin typeface="Calibri"/>
              </a:rPr>
              <a:t>That is the through-line of the whole course: the hardware is fixed, one program covers every behavior, and what changes is the input it is given.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Name each part while holding a vehicle, then put the labeled picture up on the next slide and let them match the two.</a:t>
            </a:r>
          </a:p>
          <a:p>
            <a:r>
              <a:rPr sz="1200">
                <a:latin typeface="Calibri"/>
              </a:rPr>
              <a:t>The tank-steering point is the one to land. Everything in Lesson 2 follows from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Give them a minute to find each part on a real vehicle.</a:t>
            </a:r>
          </a:p>
          <a:p>
            <a:r>
              <a:rPr sz="1200">
                <a:latin typeface="Calibri"/>
              </a:rPr>
              <a:t>Worth pointing out the two LED bars are 16 each, front and rear - that becomes important in Lesson 4.</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This is the same vehicle as the photograph before it, drawn flat so you can see what is under the battery.</a:t>
            </a:r>
          </a:p>
          <a:p>
            <a:r>
              <a:rPr sz="1200">
                <a:latin typeface="Calibri"/>
              </a:rPr>
              <a:t>The four corners each carry a turn signal, a headlight or brights at the front, and a tail light and backup light at the rear. That naming comes back in Lesson 4 when they light them.</a:t>
            </a:r>
          </a:p>
          <a:p>
            <a:r>
              <a:rPr sz="1200">
                <a:latin typeface="Calibri"/>
              </a:rPr>
              <a:t>Get them to find the power switch and the 16 V socket on a real vehicle before moving on.</a:t>
            </a:r>
          </a:p>
          <a:p>
            <a:r>
              <a:rPr sz="1200">
                <a:latin typeface="Calibri"/>
              </a:rPr>
              <a:t>Note there are FOUR motor drive connectors, numbered 1 to 4, and the numbering is not the order you would guess. Lesson 2 has the pin table.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 top plate is not a lid. It is the development area, and it is why this vehicle can grow.</a:t>
            </a:r>
          </a:p>
          <a:p>
            <a:r>
              <a:rPr sz="1200">
                <a:latin typeface="Calibri"/>
              </a:rPr>
              <a:t>The cutout gives you access to the ESP32 pins without taking anything apart. That is where the breadboard circuit later in this lesson connects.</a:t>
            </a:r>
          </a:p>
          <a:p>
            <a:r>
              <a:rPr sz="1200">
                <a:latin typeface="Calibri"/>
              </a:rPr>
              <a:t>Everything in the advanced course - the range finder, the extra sensors - lands here.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Slow down here. They have just had their hands on a vehicle, and this is the page that stops somebody getting hurt next lesson. It comes now, before anybody plugs a vehicle in.</a:t>
            </a:r>
          </a:p>
          <a:p>
            <a:r>
              <a:rPr sz="1200">
                <a:latin typeface="Calibri"/>
              </a:rPr>
              <a:t>Show them a real pack, and show them the swelling you are describing. Words alone do not do it.</a:t>
            </a:r>
          </a:p>
          <a:p>
            <a:r>
              <a:rPr sz="1200">
                <a:latin typeface="Calibri"/>
              </a:rPr>
              <a:t>Wheels off the ground is the rule they will be tempted to break in Lesson 2. Make it a habit today, while nothing moves.</a:t>
            </a:r>
          </a:p>
          <a:p>
            <a:r>
              <a:rPr sz="1200">
                <a:latin typeface="Calibri"/>
              </a:rPr>
              <a:t>Ask each group to find their power switch now and point at it. They found it on the board drawing a few slides ago.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Thirty seconds of history, no more. The point is that the vehicle is a real product line that has been revised, not a kit somebody assembled once.</a:t>
            </a:r>
          </a:p>
          <a:p>
            <a:r>
              <a:rPr sz="1200">
                <a:latin typeface="Calibri"/>
              </a:rPr>
              <a:t>Gen 1 was the proof that the idea worked. Gen 2 is most of the fleet. Gen 3 is what new vehicles are built as.</a:t>
            </a:r>
          </a:p>
          <a:p>
            <a:r>
              <a:rPr sz="1200">
                <a:latin typeface="Calibri"/>
              </a:rPr>
              <a:t>Do not let this run long. The slide they actually need is the next one, which tells them which vehicle is in front of them.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Ask first: hands up who has the frame in one piece? Then let them work out which generation they are holding.</a:t>
            </a:r>
          </a:p>
          <a:p>
            <a:r>
              <a:rPr sz="1200">
                <a:latin typeface="Calibri"/>
              </a:rPr>
              <a:t>Nothing in these five lessons needs a Gen 3. Say so plainly, so nobody with a Gen 2 thinks they are missing out.</a:t>
            </a:r>
          </a:p>
          <a:p>
            <a:r>
              <a:rPr sz="1200">
                <a:latin typeface="Calibri"/>
              </a:rPr>
              <a:t>The upside-down point is worth demonstrating if you have a Gen 3 handy. Flip it over on the desk and let it drive.</a:t>
            </a:r>
          </a:p>
          <a:p>
            <a:r>
              <a:rPr sz="1200">
                <a:latin typeface="Calibri"/>
              </a:rPr>
              <a:t>The INA219 is only mentioned here. It comes back properly in the advanced course, so do not go down that road now.</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Pass a Gen 3 round if you have one. The unibody frame is obvious the moment somebody picks it up.</a:t>
            </a:r>
          </a:p>
          <a:p>
            <a:r>
              <a:rPr sz="1200">
                <a:latin typeface="Calibri"/>
              </a:rPr>
              <a:t>The upside-down trick is the one they will remember. If you have a Gen 3 to hand, do it live rather than showing a picture.</a:t>
            </a:r>
          </a:p>
          <a:p>
            <a:r>
              <a:rPr sz="1200">
                <a:latin typeface="Calibri"/>
              </a:rPr>
              <a:t>The photograph is the vehicle sitting on its back. What it shows is why it works: the wheels stand proud of the frame on both faces, so there is no wrong way up.</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DO THIS LIVE if you have a Gen 3 and the jumper. Two minutes of watching beats a slide, and it is the first time they see the vehicle check itself.</a:t>
            </a:r>
          </a:p>
          <a:p>
            <a:r>
              <a:rPr sz="1200">
                <a:latin typeface="Calibri"/>
              </a:rPr>
              <a:t>Put the Serial Monitor on the projector while it runs. The per-motor PASS and FAIL lines are the interesting part.</a:t>
            </a:r>
          </a:p>
          <a:p>
            <a:r>
              <a:rPr sz="1200">
                <a:latin typeface="Calibri"/>
              </a:rPr>
              <a:t>Unplug one motor first if you want a FAIL to show. It is worth doing - a test that only ever passes teaches nothing.</a:t>
            </a:r>
          </a:p>
          <a:p>
            <a:r>
              <a:rPr sz="1200">
                <a:latin typeface="Calibri"/>
              </a:rPr>
              <a:t>Head off the obvious question: no, they are not writing this today. It is the advanced course. Today it is a promise of where the five lessons lead.</a:t>
            </a:r>
          </a:p>
          <a:p>
            <a:r>
              <a:rPr sz="1200">
                <a:latin typeface="Calibri"/>
              </a:rPr>
              <a:t>A Gen 2 has no current sensor and will simply skip the test. Say so, so nobody thinks their vehicle is broken.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 contrast with a laptop is what makes this land. Most of them have never used a machine that runs exactly one program.</a:t>
            </a:r>
          </a:p>
          <a:p>
            <a:r>
              <a:rPr sz="1200">
                <a:latin typeface="Calibri"/>
              </a:rPr>
              <a:t>Nothing interrupts you, and nothing rescues you either. That sentence is the whole slide.</a:t>
            </a:r>
          </a:p>
          <a:p>
            <a:r>
              <a:rPr sz="1200">
                <a:latin typeface="Calibri"/>
              </a:rPr>
              <a:t>This sets up two later ideas: why the Serial Monitor matters (there is no error window) and why delay() is fatal (nothing else is running).</a:t>
            </a:r>
          </a:p>
          <a:p>
            <a:r>
              <a:rPr sz="1200">
                <a:latin typeface="Calibri"/>
              </a:rPr>
              <a:t>If somebody asks about the second core: yes, it has one, and no, we do not use it in this course.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Walk it left to right with a real vehicle in your hand, touching each box as you name it.</a:t>
            </a:r>
          </a:p>
          <a:p>
            <a:r>
              <a:rPr sz="1200">
                <a:latin typeface="Calibri"/>
              </a:rPr>
              <a:t>The point of the diagram is that nothing here is magic - every arrow is a wire or a radio link you can point at.</a:t>
            </a:r>
          </a:p>
          <a:p>
            <a:r>
              <a:rPr sz="1200">
                <a:latin typeface="Calibri"/>
              </a:rPr>
              <a:t>Ask where THEIR program sits. The answer is the ESP32 box, and everything either side of it is fixed hardware they inherit.</a:t>
            </a:r>
          </a:p>
          <a:p>
            <a:r>
              <a:rPr sz="1200">
                <a:latin typeface="Calibri"/>
              </a:rPr>
              <a:t>Come back to this slide whenever somebody is stuck: naming which box the fault is in is most of the debugging.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This is a reference page, not a teaching slide. Point at it and tell them where to find it again.</a:t>
            </a:r>
          </a:p>
          <a:p>
            <a:r>
              <a:rPr sz="1200">
                <a:latin typeface="Calibri"/>
              </a:rPr>
              <a:t>The full ESP32 has 38 pins. These are the ones wired to something on this board, which is the only list they need.</a:t>
            </a:r>
          </a:p>
          <a:p>
            <a:r>
              <a:rPr sz="1200">
                <a:latin typeface="Calibri"/>
              </a:rPr>
              <a:t>The motor pin numbers come straight out of the sketch, so the slide cannot disagree with the file.</a:t>
            </a:r>
          </a:p>
          <a:p>
            <a:r>
              <a:rPr sz="1200">
                <a:latin typeface="Calibri"/>
              </a:rPr>
              <a:t>The two facts worth saying out loud: GPIO 34 to 39 are INPUT ONLY and have no internal pull-up, and GPIO 0 is the BOOT button, so holding it down at reset does something special.</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Show it, say what it is, and move on. Fifteen seconds.</a:t>
            </a:r>
          </a:p>
          <a:p>
            <a:r>
              <a:rPr sz="1200">
                <a:latin typeface="Calibri"/>
              </a:rPr>
              <a:t>The reason it is in the deck is that somebody always asks what is actually on the board, and "there is a drawing, here it is" is a better answer than a description.</a:t>
            </a:r>
          </a:p>
          <a:p>
            <a:r>
              <a:rPr sz="1200">
                <a:latin typeface="Calibri"/>
              </a:rPr>
              <a:t>Point out that everything on the previous slide - the motor pins, the LED pin, the I2C pins - is somewhere on this sheet. That is the connection worth making.</a:t>
            </a:r>
          </a:p>
          <a:p>
            <a:r>
              <a:rPr sz="1200">
                <a:latin typeface="Calibri"/>
              </a:rPr>
              <a:t>Anybody who wants to follow it properly should be pointed at the advanced course.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Make the two-machine point explicitly. A surprising number of students assume the laptop is still driving the vehicle.</a:t>
            </a:r>
          </a:p>
          <a:p>
            <a:r>
              <a:rPr sz="1200">
                <a:latin typeface="Calibri"/>
              </a:rPr>
              <a:t>Once a program is uploaded it stays in flash. Unplug the cable, switch the vehicle on tomorrow, and it runs the same program.</a:t>
            </a:r>
          </a:p>
          <a:p>
            <a:r>
              <a:rPr sz="1200">
                <a:latin typeface="Calibri"/>
              </a:rPr>
              <a:t>The left photograph is a vehicle being worked on in the field, which is where this kit is actually used.</a:t>
            </a:r>
          </a:p>
          <a:p>
            <a:r>
              <a:rPr sz="1200">
                <a:latin typeface="Calibri"/>
              </a:rPr>
              <a:t>Point at the ESP32 on a real vehicle before moving on. It is smaller than most people expect.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 next thirty-five minutes are the least fun part of the whole course. Say so, and promise them something blinking at the end of it.</a:t>
            </a:r>
          </a:p>
          <a:p>
            <a:r>
              <a:rPr sz="1200">
                <a:latin typeface="Calibri"/>
              </a:rPr>
              <a:t>Get the fast finishers helping their neighbors rather than sitting idle.</a:t>
            </a:r>
          </a:p>
          <a:p>
            <a:r>
              <a:rPr sz="1200">
                <a:latin typeface="Calibri"/>
              </a:rPr>
              <a:t>Have a spare laptop set up and working, so a machine that will not cooperate never blocks a whole group.</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Do this one step at a time with the room, not as a slide to read.</a:t>
            </a:r>
          </a:p>
          <a:p>
            <a:r>
              <a:rPr sz="1200">
                <a:latin typeface="Calibri"/>
              </a:rPr>
              <a:t>Anybody on a school-managed laptop may need an administrator. Find that out now rather than at the upload step.</a:t>
            </a:r>
          </a:p>
          <a:p>
            <a:r>
              <a:rPr sz="1200">
                <a:latin typeface="Calibri"/>
              </a:rPr>
              <a:t>The download is large. Start it, then talk over the top of it - do not watch a progress bar with thirty people.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This is the step that goes wrong most often. Do it together, one line at a time, and do not let the fast groups run ahead.</a:t>
            </a:r>
          </a:p>
          <a:p>
            <a:r>
              <a:rPr sz="1200">
                <a:latin typeface="Calibri"/>
              </a:rPr>
              <a:t>The URL is the part everybody mistypes. Have it ready to paste into the chat, or written on the board, rather than reading it out.</a:t>
            </a:r>
          </a:p>
          <a:p>
            <a:r>
              <a:rPr sz="1200">
                <a:latin typeface="Calibri"/>
              </a:rPr>
              <a:t>The screenshot is the real dialog. Point at the bottom row - the box is easy to miss, and it is the one field on the page that matters today.</a:t>
            </a:r>
          </a:p>
          <a:p>
            <a:r>
              <a:rPr sz="1200">
                <a:latin typeface="Calibri"/>
              </a:rPr>
              <a:t>The board package is a large download. Start everybody off, then talk over it rather than watching a progress bar with thirty people.</a:t>
            </a:r>
          </a:p>
          <a:p>
            <a:r>
              <a:rPr sz="1200">
                <a:latin typeface="Calibri"/>
              </a:rPr>
              <a:t>If a download fails halfway, close the IDE completely and start it again before retrying.</a:t>
            </a:r>
          </a:p>
          <a:p>
            <a:r>
              <a:rPr sz="1200">
                <a:latin typeface="Calibri"/>
              </a:rPr>
              <a:t>Nobody moves on until Boards Manager shows the package as INSTALLED. Check screens rather than taking their word for it.</a:t>
            </a:r>
          </a:p>
          <a:p>
            <a:r>
              <a:rPr sz="1200">
                <a:latin typeface="Calibri"/>
              </a:rPr>
              <a:t>The version number matters more than they think. A different version is the cause of most compile errors that make no sense.</a:t>
            </a:r>
          </a:p>
          <a:p>
            <a:r>
              <a:rPr sz="1200">
                <a:latin typeface="Calibri"/>
              </a:rPr>
              <a:t>Anybody who did this course before has 3.0.7 installed. Boards Manager updates it in place: pick 3.3.12 from the version list and click Install.</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Two menus, and both are easy to get wrong. Walk round and check every screen before anybody tries to upload.</a:t>
            </a:r>
          </a:p>
          <a:p>
            <a:r>
              <a:rPr sz="1200">
                <a:latin typeface="Calibri"/>
              </a:rPr>
              <a:t>The charge-only cable is the single most common failure in this room. Have two known-good cables in your pocket.</a:t>
            </a:r>
          </a:p>
          <a:p>
            <a:r>
              <a:rPr sz="1200">
                <a:latin typeface="Calibri"/>
              </a:rPr>
              <a:t>If no port appears: is the vehicle switched on? Is it the right cable? In that order, every time.</a:t>
            </a:r>
          </a:p>
          <a:p>
            <a:r>
              <a:rPr sz="1200">
                <a:latin typeface="Calibri"/>
              </a:rPr>
              <a:t>On Windows a missing driver can also do it. That is a CP210x or CH340 install, and it is worth having the file on a memory stick.</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Define LIBRARY properly here, out loud: code somebody else already wrote and tested, which your program can call instead of you writing it again. It is the first time the word has meant anything to most of the room, and it does not need to be on the slide.</a:t>
            </a:r>
          </a:p>
          <a:p>
            <a:r>
              <a:rPr sz="1200">
                <a:latin typeface="Calibri"/>
              </a:rPr>
              <a:t>Both libraries go in now, even though nothing needs them until Lesson 4. Doing it once saves a whole class of upload failures later.</a:t>
            </a:r>
          </a:p>
          <a:p>
            <a:r>
              <a:rPr sz="1200">
                <a:latin typeface="Calibri"/>
              </a:rPr>
              <a:t>The PS3 library is a FORK of the original, which stopped compiling at board package 3.3. Both appear in the search, so check that every screen says Fork of. An error that mentions esp_base_mac_addr_set means the original is still installed - with both present the IDE picks the old one. Uninstall it and compile again.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This is the reference page. Tell students to photograph it.</a:t>
            </a:r>
          </a:p>
          <a:p>
            <a:r>
              <a:rPr sz="1200">
                <a:latin typeface="Calibri"/>
              </a:rPr>
              <a:t>The sketches are grouped by lesson because they need the same things. The one row worth pointing at is l1c_first_pixel: Lesson 1 is the only lesson where the three sketches do not all need the same library.</a:t>
            </a:r>
          </a:p>
          <a:p>
            <a:r>
              <a:rPr sz="1200">
                <a:latin typeface="Calibri"/>
              </a:rPr>
              <a:t>Worth saying out loud: the board package is not a library. The board package teaches the IDE what an ESP32 is; a library is code your program calls.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Do this together. It is the single most common place a beginner gets stuck, and it costs ten minutes now against forty later.</a:t>
            </a:r>
          </a:p>
          <a:p>
            <a:r>
              <a:rPr sz="1200">
                <a:latin typeface="Calibri"/>
              </a:rPr>
              <a:t>Say plainly that the drive holds programs only. Anybody who did an earlier version of this course will remember copying libraries off it, and that is no longer how it works. Library Manager is the one route in, and it gets them the version we tested against.</a:t>
            </a:r>
          </a:p>
          <a:p>
            <a:r>
              <a:rPr sz="1200">
                <a:latin typeface="Calibri"/>
              </a:rPr>
              <a:t>Walk the room. Check File &gt; Sketchbook actually lists the lessons before you move 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Hand the cheat sheet out now, one per student rather than one per group. It is beginner-ps3/handouts/coding_cheat_sheet.pdf in the repository - print it double-sided.</a:t>
            </a:r>
          </a:p>
          <a:p>
            <a:r>
              <a:rPr sz="1200">
                <a:latin typeface="Calibri"/>
              </a:rPr>
              <a:t>Do not walk through it. Point at the four pages so they know what is where, and come back to it whenever somebody asks a question it answers: "what does your cheat sheet say?"</a:t>
            </a:r>
          </a:p>
          <a:p>
            <a:r>
              <a:rPr sz="1200">
                <a:latin typeface="Calibri"/>
              </a:rPr>
              <a:t>Every challenge in the course, including the Lesson 4 pattern and the Lesson 5 projects, can be done with what is on it. If a student needs something that is not, tell whoever maintains the course - the sheet should grow.</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From here on they are building rather than installing. The energy in the room should go up.</a:t>
            </a:r>
          </a:p>
          <a:p>
            <a:r>
              <a:rPr sz="1200">
                <a:latin typeface="Calibri"/>
              </a:rPr>
              <a:t>Hand out the breadboards, LEDs, resistors and jumper wires now, one set per group, while you talk.</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Hold up the four parts as you name them.</a:t>
            </a:r>
          </a:p>
          <a:p>
            <a:r>
              <a:rPr sz="1200">
                <a:latin typeface="Calibri"/>
              </a:rPr>
              <a:t>If anyone asks why the resistor: tell them to wait ninety seconds, it is the next slide but one.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Get them to look down into the holes. The metal clips are visible.</a:t>
            </a:r>
          </a:p>
          <a:p>
            <a:r>
              <a:rPr sz="1200">
                <a:latin typeface="Calibri"/>
              </a:rPr>
              <a:t>The row-of-five rule is the single fact that makes breadboards make sense. Say it twice.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Trace the loop with a finger: out of the pin, through the resistor, through the LED, back to ground. A circuit that is not a loop does nothing.</a:t>
            </a:r>
          </a:p>
          <a:p>
            <a:r>
              <a:rPr sz="1200">
                <a:latin typeface="Calibri"/>
              </a:rPr>
              <a:t>Ask what the resistor is for BEFORE you say. The answer is that the LED will take as much current as you let it, and then stop being an LED.</a:t>
            </a:r>
          </a:p>
          <a:p>
            <a:r>
              <a:rPr sz="1200">
                <a:latin typeface="Calibri"/>
              </a:rPr>
              <a:t>The long leg is the anode and goes toward the pin. Backwards means no light and no damage, so let them find out.</a:t>
            </a:r>
          </a:p>
          <a:p>
            <a:r>
              <a:rPr sz="1200">
                <a:latin typeface="Calibri"/>
              </a:rPr>
              <a:t>This is a SCHEMATIC, and for most of the room it is the first one they have read. Name the two symbols out loud - a zigzag is a resistor, a triangle pointing at a bar is a diode - and say that the bar is the side current cannot come back through.</a:t>
            </a:r>
          </a:p>
          <a:p>
            <a:r>
              <a:rPr sz="1200">
                <a:latin typeface="Calibri"/>
              </a:rPr>
              <a:t>The three-bar symbol at the bottom is ground. They will see it on every circuit diagram for the rest of their lives.</a:t>
            </a:r>
          </a:p>
          <a:p>
            <a:r>
              <a:rPr sz="1200">
                <a:latin typeface="Calibri"/>
              </a:rPr>
              <a:t>Ground is not optional. Half the circuits that do not work are missing the return path.</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Circulate. The two failures you will see are the LED in backwards and legs in different rows so nothing is connected.</a:t>
            </a:r>
          </a:p>
          <a:p>
            <a:r>
              <a:rPr sz="1200">
                <a:latin typeface="Calibri"/>
              </a:rPr>
              <a:t>Nobody uploads anything until their circuit is built and checked.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This is the step that turns a circuit into a computer-controlled circuit. Make the distinction explicit.</a:t>
            </a:r>
          </a:p>
          <a:p>
            <a:r>
              <a:rPr sz="1200">
                <a:latin typeface="Calibri"/>
              </a:rPr>
              <a:t>Point at the top-plate cutout on a real vehicle and show them where the two wires go.</a:t>
            </a:r>
          </a:p>
          <a:p>
            <a:r>
              <a:rPr sz="1200">
                <a:latin typeface="Calibri"/>
              </a:rPr>
              <a:t>The 12 milliamp figure is worth saying: it is why an LED is fine straight off a pin and a motor never is. That is what the H-bridge in Lesson 2 is for.</a:t>
            </a:r>
          </a:p>
          <a:p>
            <a:r>
              <a:rPr sz="1200">
                <a:latin typeface="Calibri"/>
              </a:rPr>
              <a:t>Walk the photograph with them: red into pin 2 on the dev module, yellow into a GND socket on the expansion header. Two wires, and the breadboard is running off the vehicle.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Hold this shape up for the whole course. Every program they ever open has these three parts, and knowing which part a line lives in tells you WHEN it runs.</a:t>
            </a:r>
          </a:p>
          <a:p>
            <a:r>
              <a:rPr sz="1200">
                <a:latin typeface="Calibri"/>
              </a:rPr>
              <a:t>Ask before you explain: which of these three runs more than once? Let somebody get it wrong first - the answer sticks better.</a:t>
            </a:r>
          </a:p>
          <a:p>
            <a:r>
              <a:rPr sz="1200">
                <a:latin typeface="Calibri"/>
              </a:rPr>
              <a:t>The first part has no keyword in C++. It is just the top of the file. Naming it anyway gives them somewhere to file #includes and constants.</a:t>
            </a:r>
          </a:p>
          <a:p>
            <a:r>
              <a:rPr sz="1200">
                <a:latin typeface="Calibri"/>
              </a:rPr>
              <a:t>Common misunderstanding: students think setup() runs every time round. Say plainly that it runs once, at power-up, and never again until reset.</a:t>
            </a:r>
          </a:p>
          <a:p>
            <a:r>
              <a:rPr sz="1200">
                <a:latin typeface="Calibri"/>
              </a:rPr>
              <a:t>Every line in the three boxes is from l1a_blink, which is the next slide in full. They are about to read the same program twice: once as a shape, once line by line.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Eighteen lines, and every one of them is worth a sentence. This is the first program they read, so read it properly.</a:t>
            </a:r>
          </a:p>
          <a:p>
            <a:r>
              <a:rPr sz="1200">
                <a:latin typeface="Calibri"/>
              </a:rPr>
              <a:t>Ask which lines are initialization, which are setup, which are loop, and point back to the three-part diagram.</a:t>
            </a:r>
          </a:p>
          <a:p>
            <a:r>
              <a:rPr sz="1200">
                <a:latin typeface="Calibri"/>
              </a:rPr>
              <a:t>The four Serial lines are a first look, not the lesson on it. Say only this: Serial.begin opens a line back to the laptop, and println sends one line of text down it. The Serial Monitor gets its own section after the break.</a:t>
            </a:r>
          </a:p>
          <a:p>
            <a:r>
              <a:rPr sz="1200">
                <a:latin typeface="Calibri"/>
              </a:rPr>
              <a:t>Ask what happens when loop() reaches the bottom. The answer - it starts again immediately - is not obvious to everybody.</a:t>
            </a:r>
          </a:p>
          <a:p>
            <a:r>
              <a:rPr sz="1200">
                <a:latin typeface="Calibri"/>
              </a:rPr>
              <a:t>Flag the two delay() calls. Tell them these come out in Lesson 5 and that there is a good reason.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Circuits checked before anybody uploads. Say it once, then enforce it.</a:t>
            </a:r>
          </a:p>
          <a:p>
            <a:r>
              <a:rPr sz="1200">
                <a:latin typeface="Calibri"/>
              </a:rPr>
              <a:t>Steps 1 to 5 are following instructions. Steps 6 and 7 are the actual lesson - do not let a group stop at step 5.</a:t>
            </a:r>
          </a:p>
          <a:p>
            <a:r>
              <a:rPr sz="1200">
                <a:latin typeface="Calibri"/>
              </a:rPr>
              <a:t>Step 5 is a first look at the Serial Monitor, not the lesson on it. If the window fills with nonsense characters, the box at the bottom is not on 115200.</a:t>
            </a:r>
          </a:p>
          <a:p>
            <a:r>
              <a:rPr sz="1200">
                <a:latin typeface="Calibri"/>
              </a:rPr>
              <a:t>ANSWER, faster: a SMALLER number. BLINK_MS is how long each half of the blink lasts, so a smaller wait means less time on and less time off.</a:t>
            </a:r>
          </a:p>
          <a:p>
            <a:r>
              <a:rPr sz="1200">
                <a:latin typeface="Calibri"/>
              </a:rPr>
              <a:t>ANSWER, deleted delay: the loop is still running - the Serial Monitor proves it. Delete the SECOND delay and the LED is on for BLINK_MS, then off for a few millionths of a second before loop() turns it straight back on, so it looks permanently lit. Delete the FIRST and it is the other way round, so it looks dark. Either way it is still blinking; one half is just too short to see. This is the good question - make them explain it.</a:t>
            </a:r>
          </a:p>
          <a:p>
            <a:r>
              <a:rPr sz="1200">
                <a:latin typeface="Calibri"/>
              </a:rPr>
              <a:t>ANSWER, red LED: the same sum as the circuit slide. R = (3.3 - 1.8) / 0.020 = 75 ohms, the SMALLEST safe resistor. The 220 in the kit still works: (3.3 - 1.8) / 220 is about 7 mA, a little brighter than the green one. Lesson 2 does Ohm's law properly.</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Frame this as giving the vehicle a voice. It is the only way it can tell them anything.</a:t>
            </a:r>
          </a:p>
          <a:p>
            <a:r>
              <a:rPr sz="1200">
                <a:latin typeface="Calibri"/>
              </a:rPr>
              <a:t>Twenty-five minutes, and most of it should be them typing.</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 baud rate mismatch is the thing that will happen to somebody in the next ten minutes. Show them the nonsense characters deliberately so they recognize it.</a:t>
            </a:r>
          </a:p>
          <a:p>
            <a:r>
              <a:rPr sz="1200">
                <a:latin typeface="Calibri"/>
              </a:rPr>
              <a:t>print versus println is worth ten seconds with a marker on the board.</a:t>
            </a:r>
          </a:p>
          <a:p>
            <a:r>
              <a:rPr sz="1200">
                <a:latin typeface="Calibri"/>
              </a:rPr>
              <a:t>The last bullet is the debugging habit the whole course rests on: print the numbers, do not stare at the code.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Do not lecture types. Read the table, then get them to tell you which type they would use for a battery voltage and which for a pin number.</a:t>
            </a:r>
          </a:p>
          <a:p>
            <a:r>
              <a:rPr sz="1200">
                <a:latin typeface="Calibri"/>
              </a:rPr>
              <a:t>unsigned long is on the table now purely so it is not a surprise in Lesson 5. Say that and move on.</a:t>
            </a:r>
          </a:p>
          <a:p>
            <a:r>
              <a:rPr sz="1200">
                <a:latin typeface="Calibri"/>
              </a:rPr>
              <a:t>The const point is worth making twice: it is not about the computer, it is about stopping YOU from changing a setting by accident.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Make them predict all three answers before you reveal anything.</a:t>
            </a:r>
          </a:p>
          <a:p>
            <a:r>
              <a:rPr sz="1200">
                <a:latin typeface="Calibri"/>
              </a:rPr>
              <a:t>The 7 / 2 result is genuinely surprising, and being surprised is the point. It does not round - it throws the remainder away.</a:t>
            </a:r>
          </a:p>
          <a:p>
            <a:r>
              <a:rPr sz="1200">
                <a:latin typeface="Calibri"/>
              </a:rPr>
              <a:t>This exact trap turns up in Lesson 2 when a speed calculation comes out as zero. Tell them now, so they remember it then.</a:t>
            </a:r>
          </a:p>
          <a:p>
            <a:r>
              <a:rPr sz="1200">
                <a:latin typeface="Calibri"/>
              </a:rPr>
              <a:t>The % operator is new to most. One example is enough.</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Step 5 is the one that matters: predict, then check. Do not let anybody upload before writing down what they expect.</a:t>
            </a:r>
          </a:p>
          <a:p>
            <a:r>
              <a:rPr sz="1200">
                <a:latin typeface="Calibri"/>
              </a:rPr>
              <a:t>The reset button is on the ESP32 itself and is marked EN. Show them where before they hunt for it.</a:t>
            </a:r>
          </a:p>
          <a:p>
            <a:r>
              <a:rPr sz="1200">
                <a:latin typeface="Calibri"/>
              </a:rPr>
              <a:t>ANSWER, 9 / 10: it is 0. Both are whole numbers, so the remainder is thrown away - the trap from the slide before. Most people expect 0.9, or 1 if they think it rounds. It does not round.</a:t>
            </a:r>
          </a:p>
          <a:p>
            <a:r>
              <a:rPr sz="1200">
                <a:latin typeface="Calibri"/>
              </a:rPr>
              <a:t>ANSWER, millis() / 1000: the number of whole seconds since the board powered up or was reset. millis() counts milliseconds, and whole-number division by 1000 turns that into seconds. That is the first time millis() appears, and it is deliberate groundwork for Lesson 5.</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Last twenty minutes. This is the one they will tell people about.</a:t>
            </a:r>
          </a:p>
          <a:p>
            <a:r>
              <a:rPr sz="1200">
                <a:latin typeface="Calibri"/>
              </a:rPr>
              <a:t>Have a vehicle switched on and connected to your laptop, ready to demonstrate if a group is stuck.</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 chain idea is the whole slide: each LED keeps the first message and passes the rest along.</a:t>
            </a:r>
          </a:p>
          <a:p>
            <a:r>
              <a:rPr sz="1200">
                <a:latin typeface="Calibri"/>
              </a:rPr>
              <a:t>That is why one wire drives thirty-two lights, and why they are numbered in the order the data flows rather than in any tidy order.</a:t>
            </a:r>
          </a:p>
          <a:p>
            <a:r>
              <a:rPr sz="1200">
                <a:latin typeface="Calibri"/>
              </a:rPr>
              <a:t>Say the show() rule now and say it again during the activity. It is the single most common NeoPixel mistake and it looks exactly like broken hardware.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Do not read all twenty lines. Read the constants block, the strip declaration, and the two lines in loop() that actually do something.</a:t>
            </a:r>
          </a:p>
          <a:p>
            <a:r>
              <a:rPr sz="1200">
                <a:latin typeface="Calibri"/>
              </a:rPr>
              <a:t>NEO_GRB catches people out: these parts want green first. It is not a mistake on the slide.</a:t>
            </a:r>
          </a:p>
          <a:p>
            <a:r>
              <a:rPr sz="1200">
                <a:latin typeface="Calibri"/>
              </a:rPr>
              <a:t>setBrightness is a master dimmer for the whole strip and is set once. setPixelColor is per LED. Keep those two apart.</a:t>
            </a:r>
          </a:p>
          <a:p>
            <a:r>
              <a:rPr sz="1200">
                <a:latin typeface="Calibri"/>
              </a:rPr>
              <a:t>Point at strip.show() and say that nothing reaches the vehicle without it.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Step 3 - the paper drawing - is homework for Lesson 4. Make sure every group actually does it and keeps it.</a:t>
            </a:r>
          </a:p>
          <a:p>
            <a:r>
              <a:rPr sz="1200">
                <a:latin typeface="Calibri"/>
              </a:rPr>
              <a:t>Walk round with the LED numbers in your head: 0 to 15 is one bar, 16 to 31 is the other. Do not just tell them - let them find it.</a:t>
            </a:r>
          </a:p>
          <a:p>
            <a:r>
              <a:rPr sz="1200">
                <a:latin typeface="Calibri"/>
              </a:rPr>
              <a:t>(255, 255, 0) is yellow and (128, 0, 128) is a dim purple. Let them predict first.</a:t>
            </a:r>
          </a:p>
          <a:p>
            <a:r>
              <a:rPr sz="1200">
                <a:latin typeface="Calibri"/>
              </a:rPr>
              <a:t>Deleting show() is a deliberate failure. Make everybody do it, so the symptom is familiar before it happens by accident.</a:t>
            </a:r>
          </a:p>
          <a:p>
            <a:r>
              <a:rPr sz="1200">
                <a:latin typeface="Calibri"/>
              </a:rPr>
              <a:t>ANSWER, where: LED 0 is the LEFT end of the FRONT bar, and LED 31 is the LEFT end of the REAR bar. The numbers run left to right across the front, then come back right to left across the rear, so 0 and 31 sit on the same side. Lesson 4 maps the rest.</a:t>
            </a:r>
          </a:p>
          <a:p>
            <a:r>
              <a:rPr sz="1200">
                <a:latin typeface="Calibri"/>
              </a:rPr>
              <a:t>ANSWER, show(): setPixelColor only changes the color stored in the ESP32's memory. show() is what sends that memory down the wire to the LEDs, so without it the strip never hears about the change.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Run this as a conversation, not a test. Ask the room, take a wrong answer first, then get to the right one.</a:t>
            </a:r>
          </a:p>
          <a:p>
            <a:r>
              <a:rPr sz="1200">
                <a:latin typeface="Calibri"/>
              </a:rPr>
              <a:t>Answers, in order: initialization once at the top / setup once at power-up / loop forever; pinMode makes the pin an output, and without it digitalWrite does nothing; the baud rate does not match Serial.begin; 7 / 2 is 3 and 7.0 / 2 is 3.5; the data is passed down the chain and each LED keeps the first message it sees; you forgot strip.show().</a:t>
            </a:r>
          </a:p>
          <a:p>
            <a:r>
              <a:rPr sz="1200">
                <a:latin typeface="Calibri"/>
              </a:rPr>
              <a:t>Remind them to bring the LED drawing next lesson, and that next lesson things move - the safety page applies from the very first upload.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jpg"/><Relationship Id="rId3" Type="http://schemas.openxmlformats.org/officeDocument/2006/relationships/image" Target="../media/image5.jp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jpg"/><Relationship Id="rId3" Type="http://schemas.openxmlformats.org/officeDocument/2006/relationships/image" Target="../media/image10.jp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jpg"/><Relationship Id="rId3" Type="http://schemas.openxmlformats.org/officeDocument/2006/relationships/image" Target="../media/image11.jp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jpg"/><Relationship Id="rId3" Type="http://schemas.openxmlformats.org/officeDocument/2006/relationships/image" Target="../media/image14.jp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jpg"/><Relationship Id="rId3" Type="http://schemas.openxmlformats.org/officeDocument/2006/relationships/image" Target="../media/image17.jp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jpg"/><Relationship Id="rId3" Type="http://schemas.openxmlformats.org/officeDocument/2006/relationships/image" Target="../media/image19.jp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jp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0116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porpoise-logo.png"/>
          <p:cNvPicPr>
            <a:picLocks noChangeAspect="1"/>
          </p:cNvPicPr>
          <p:nvPr/>
        </p:nvPicPr>
        <p:blipFill>
          <a:blip r:embed="rId2"/>
          <a:stretch>
            <a:fillRect/>
          </a:stretch>
        </p:blipFill>
        <p:spPr>
          <a:xfrm>
            <a:off x="10922762" y="457200"/>
            <a:ext cx="766013" cy="777240"/>
          </a:xfrm>
          <a:prstGeom prst="rect">
            <a:avLst/>
          </a:prstGeom>
        </p:spPr>
      </p:pic>
      <p:sp>
        <p:nvSpPr>
          <p:cNvPr id="4" name="TextBox 3"/>
          <p:cNvSpPr txBox="1"/>
          <p:nvPr/>
        </p:nvSpPr>
        <p:spPr>
          <a:xfrm>
            <a:off x="502920" y="1051560"/>
            <a:ext cx="6492240" cy="365760"/>
          </a:xfrm>
          <a:prstGeom prst="rect">
            <a:avLst/>
          </a:prstGeom>
          <a:noFill/>
        </p:spPr>
        <p:txBody>
          <a:bodyPr wrap="square" lIns="0" tIns="0" rIns="0" bIns="0">
            <a:spAutoFit/>
          </a:bodyPr>
          <a:lstStyle/>
          <a:p>
            <a:pPr algn="l">
              <a:lnSpc>
                <a:spcPct val="100000"/>
              </a:lnSpc>
              <a:spcAft>
                <a:spcPts val="0"/>
              </a:spcAft>
              <a:defRPr sz="1600" b="1">
                <a:solidFill>
                  <a:srgbClr val="0E7C86"/>
                </a:solidFill>
                <a:latin typeface="Calibri"/>
              </a:defRPr>
            </a:pPr>
            <a:r>
              <a:rPr sz="1600" b="1">
                <a:solidFill>
                  <a:srgbClr val="0E7C86"/>
                </a:solidFill>
                <a:latin typeface="Calibri"/>
              </a:rPr>
              <a:t>LESSON 1</a:t>
            </a:r>
          </a:p>
        </p:txBody>
      </p:sp>
      <p:sp>
        <p:nvSpPr>
          <p:cNvPr id="5" name="TextBox 4"/>
          <p:cNvSpPr txBox="1"/>
          <p:nvPr/>
        </p:nvSpPr>
        <p:spPr>
          <a:xfrm>
            <a:off x="502920" y="1481328"/>
            <a:ext cx="6492240" cy="1554480"/>
          </a:xfrm>
          <a:prstGeom prst="rect">
            <a:avLst/>
          </a:prstGeom>
          <a:noFill/>
        </p:spPr>
        <p:txBody>
          <a:bodyPr wrap="square" lIns="0" tIns="0" rIns="0" bIns="0">
            <a:spAutoFit/>
          </a:bodyPr>
          <a:lstStyle/>
          <a:p>
            <a:pPr algn="l">
              <a:lnSpc>
                <a:spcPct val="95000"/>
              </a:lnSpc>
              <a:spcAft>
                <a:spcPts val="0"/>
              </a:spcAft>
              <a:defRPr sz="4000" b="1">
                <a:solidFill>
                  <a:srgbClr val="1F3A5F"/>
                </a:solidFill>
                <a:latin typeface="Calibri"/>
              </a:defRPr>
            </a:pPr>
            <a:r>
              <a:rPr sz="4000" b="1">
                <a:solidFill>
                  <a:srgbClr val="1F3A5F"/>
                </a:solidFill>
                <a:latin typeface="Calibri"/>
              </a:rPr>
              <a:t>Introduction</a:t>
            </a:r>
          </a:p>
        </p:txBody>
      </p:sp>
      <p:sp>
        <p:nvSpPr>
          <p:cNvPr id="6" name="TextBox 5"/>
          <p:cNvSpPr txBox="1"/>
          <p:nvPr/>
        </p:nvSpPr>
        <p:spPr>
          <a:xfrm>
            <a:off x="502920" y="3154680"/>
            <a:ext cx="6492240" cy="960120"/>
          </a:xfrm>
          <a:prstGeom prst="rect">
            <a:avLst/>
          </a:prstGeom>
          <a:noFill/>
        </p:spPr>
        <p:txBody>
          <a:bodyPr wrap="square" lIns="0" tIns="0" rIns="0" bIns="0">
            <a:spAutoFit/>
          </a:bodyPr>
          <a:lstStyle/>
          <a:p>
            <a:pPr algn="l">
              <a:lnSpc>
                <a:spcPct val="100000"/>
              </a:lnSpc>
              <a:spcAft>
                <a:spcPts val="0"/>
              </a:spcAft>
              <a:defRPr sz="1700" b="0">
                <a:solidFill>
                  <a:srgbClr val="222222"/>
                </a:solidFill>
                <a:latin typeface="Calibri"/>
              </a:defRPr>
            </a:pPr>
            <a:r>
              <a:rPr sz="1700" b="0">
                <a:solidFill>
                  <a:srgbClr val="222222"/>
                </a:solidFill>
                <a:latin typeface="Calibri"/>
              </a:rPr>
              <a:t>Mechatronics, the Pathfinder vehicle, the Arduino IDE, and your first three programs.</a:t>
            </a:r>
          </a:p>
        </p:txBody>
      </p:sp>
      <p:sp>
        <p:nvSpPr>
          <p:cNvPr id="7" name="TextBox 6"/>
          <p:cNvSpPr txBox="1"/>
          <p:nvPr/>
        </p:nvSpPr>
        <p:spPr>
          <a:xfrm>
            <a:off x="502920" y="3931920"/>
            <a:ext cx="6492240" cy="2148840"/>
          </a:xfrm>
          <a:prstGeom prst="rect">
            <a:avLst/>
          </a:prstGeom>
          <a:noFill/>
        </p:spPr>
        <p:txBody>
          <a:bodyPr wrap="square" lIns="0" tIns="0" rIns="0" bIns="0">
            <a:spAutoFit/>
          </a:bodyPr>
          <a:lstStyle/>
          <a:p>
            <a:pPr algn="l">
              <a:lnSpc>
                <a:spcPct val="100000"/>
              </a:lnSpc>
              <a:spcAft>
                <a:spcPts val="100"/>
              </a:spcAft>
              <a:defRPr sz="1200" b="0">
                <a:solidFill>
                  <a:srgbClr val="666666"/>
                </a:solidFill>
                <a:latin typeface="Calibri"/>
              </a:defRPr>
            </a:pPr>
            <a:r>
              <a:rPr sz="1200" b="0">
                <a:solidFill>
                  <a:srgbClr val="666666"/>
                </a:solidFill>
                <a:latin typeface="Calibri"/>
              </a:rPr>
              <a:t>PORPOISE ROBOTICS  -  Precision Oceanographic Program On and In the Sea Environment</a:t>
            </a:r>
          </a:p>
          <a:p>
            <a:pPr algn="l">
              <a:lnSpc>
                <a:spcPct val="100000"/>
              </a:lnSpc>
              <a:spcAft>
                <a:spcPts val="100"/>
              </a:spcAft>
              <a:defRPr sz="1200" b="0">
                <a:solidFill>
                  <a:srgbClr val="666666"/>
                </a:solidFill>
                <a:latin typeface="Calibri"/>
              </a:defRPr>
            </a:pPr>
            <a:r>
              <a:rPr sz="1200" b="0">
                <a:solidFill>
                  <a:srgbClr val="666666"/>
                </a:solidFill>
                <a:latin typeface="Calibri"/>
              </a:rPr>
              <a:t>porpoiserobotics.org</a:t>
            </a:r>
          </a:p>
          <a:p>
            <a:pPr algn="l">
              <a:lnSpc>
                <a:spcPct val="100000"/>
              </a:lnSpc>
              <a:spcAft>
                <a:spcPts val="100"/>
              </a:spcAft>
              <a:defRPr sz="600" b="0">
                <a:solidFill>
                  <a:srgbClr val="666666"/>
                </a:solidFill>
                <a:latin typeface="Calibri"/>
              </a:defRPr>
            </a:pPr>
          </a:p>
          <a:p>
            <a:pPr algn="l">
              <a:lnSpc>
                <a:spcPct val="100000"/>
              </a:lnSpc>
              <a:spcAft>
                <a:spcPts val="100"/>
              </a:spcAft>
              <a:defRPr sz="1200" b="0">
                <a:solidFill>
                  <a:srgbClr val="666666"/>
                </a:solidFill>
                <a:latin typeface="Calibri"/>
              </a:defRPr>
            </a:pPr>
            <a:r>
              <a:rPr sz="1200" b="0">
                <a:solidFill>
                  <a:srgbClr val="666666"/>
                </a:solidFill>
                <a:latin typeface="Calibri"/>
              </a:rPr>
              <a:t>Kevin Bowen, President  -  kbowen6@icloud.com</a:t>
            </a:r>
          </a:p>
          <a:p>
            <a:pPr algn="l">
              <a:lnSpc>
                <a:spcPct val="100000"/>
              </a:lnSpc>
              <a:spcAft>
                <a:spcPts val="100"/>
              </a:spcAft>
              <a:defRPr sz="1200" b="0">
                <a:solidFill>
                  <a:srgbClr val="666666"/>
                </a:solidFill>
                <a:latin typeface="Calibri"/>
              </a:defRPr>
            </a:pPr>
            <a:r>
              <a:rPr sz="1200" b="0">
                <a:solidFill>
                  <a:srgbClr val="666666"/>
                </a:solidFill>
                <a:latin typeface="Calibri"/>
              </a:rPr>
              <a:t>Malcom Graham, VP Education      Louis Parker, VP Technology</a:t>
            </a:r>
          </a:p>
          <a:p>
            <a:pPr algn="l">
              <a:lnSpc>
                <a:spcPct val="100000"/>
              </a:lnSpc>
              <a:spcAft>
                <a:spcPts val="100"/>
              </a:spcAft>
              <a:defRPr sz="1200" b="0">
                <a:solidFill>
                  <a:srgbClr val="666666"/>
                </a:solidFill>
                <a:latin typeface="Calibri"/>
              </a:defRPr>
            </a:pPr>
            <a:r>
              <a:rPr sz="1200" b="0">
                <a:solidFill>
                  <a:srgbClr val="666666"/>
                </a:solidFill>
                <a:latin typeface="Calibri"/>
              </a:rPr>
              <a:t>Valen Farre, System Engineer      Gary Howland, Animation</a:t>
            </a:r>
          </a:p>
          <a:p>
            <a:pPr algn="l">
              <a:lnSpc>
                <a:spcPct val="100000"/>
              </a:lnSpc>
              <a:spcAft>
                <a:spcPts val="100"/>
              </a:spcAft>
              <a:defRPr sz="1200" b="0">
                <a:solidFill>
                  <a:srgbClr val="666666"/>
                </a:solidFill>
                <a:latin typeface="Calibri"/>
              </a:defRPr>
            </a:pPr>
            <a:r>
              <a:rPr sz="1200" b="0">
                <a:solidFill>
                  <a:srgbClr val="666666"/>
                </a:solidFill>
                <a:latin typeface="Calibri"/>
              </a:rPr>
              <a:t>Eddie Revollo, Artificial Intelligence</a:t>
            </a:r>
          </a:p>
          <a:p>
            <a:pPr algn="l">
              <a:lnSpc>
                <a:spcPct val="100000"/>
              </a:lnSpc>
              <a:spcAft>
                <a:spcPts val="100"/>
              </a:spcAft>
              <a:defRPr sz="1200" b="0">
                <a:solidFill>
                  <a:srgbClr val="666666"/>
                </a:solidFill>
                <a:latin typeface="Calibri"/>
              </a:defRPr>
            </a:pPr>
            <a:r>
              <a:rPr sz="1200" b="0">
                <a:solidFill>
                  <a:srgbClr val="666666"/>
                </a:solidFill>
                <a:latin typeface="Calibri"/>
              </a:rPr>
              <a:t>Interns: Oscar Canazales, Krishnansh Vemulapalli, Soham Gangal, Erik Olsen</a:t>
            </a:r>
          </a:p>
          <a:p>
            <a:pPr algn="l">
              <a:lnSpc>
                <a:spcPct val="100000"/>
              </a:lnSpc>
              <a:spcAft>
                <a:spcPts val="100"/>
              </a:spcAft>
              <a:defRPr sz="600" b="0">
                <a:solidFill>
                  <a:srgbClr val="666666"/>
                </a:solidFill>
                <a:latin typeface="Calibri"/>
              </a:defRPr>
            </a:pPr>
          </a:p>
          <a:p>
            <a:pPr algn="l">
              <a:lnSpc>
                <a:spcPct val="100000"/>
              </a:lnSpc>
              <a:spcAft>
                <a:spcPts val="100"/>
              </a:spcAft>
              <a:defRPr sz="1200" b="0">
                <a:solidFill>
                  <a:srgbClr val="666666"/>
                </a:solidFill>
                <a:latin typeface="Calibri"/>
              </a:defRPr>
            </a:pPr>
            <a:r>
              <a:rPr sz="1200" b="0">
                <a:solidFill>
                  <a:srgbClr val="666666"/>
                </a:solidFill>
                <a:latin typeface="Calibri"/>
              </a:rPr>
              <a:t>Three hours.  Work in groups of three.</a:t>
            </a:r>
          </a:p>
        </p:txBody>
      </p:sp>
      <p:pic>
        <p:nvPicPr>
          <p:cNvPr id="8" name="Picture 7" descr="vehicle-with-ps3-controller.jpg"/>
          <p:cNvPicPr>
            <a:picLocks noChangeAspect="1"/>
          </p:cNvPicPr>
          <p:nvPr/>
        </p:nvPicPr>
        <p:blipFill>
          <a:blip r:embed="rId3"/>
          <a:stretch>
            <a:fillRect/>
          </a:stretch>
        </p:blipFill>
        <p:spPr>
          <a:xfrm>
            <a:off x="7223760" y="2023110"/>
            <a:ext cx="4480560" cy="3360420"/>
          </a:xfrm>
          <a:prstGeom prst="rect">
            <a:avLst/>
          </a:prstGeom>
        </p:spPr>
      </p:pic>
      <p:sp>
        <p:nvSpPr>
          <p:cNvPr id="9" name="TextBox 8"/>
          <p:cNvSpPr txBox="1"/>
          <p:nvPr/>
        </p:nvSpPr>
        <p:spPr>
          <a:xfrm>
            <a:off x="502920" y="6144768"/>
            <a:ext cx="11185855" cy="502920"/>
          </a:xfrm>
          <a:prstGeom prst="rect">
            <a:avLst/>
          </a:prstGeom>
          <a:noFill/>
        </p:spPr>
        <p:txBody>
          <a:bodyPr wrap="square" lIns="0" tIns="0" rIns="0" bIns="0">
            <a:spAutoFit/>
          </a:bodyPr>
          <a:lstStyle/>
          <a:p>
            <a:pPr algn="l">
              <a:lnSpc>
                <a:spcPct val="100000"/>
              </a:lnSpc>
              <a:spcAft>
                <a:spcPts val="0"/>
              </a:spcAft>
              <a:defRPr sz="900" b="0">
                <a:solidFill>
                  <a:srgbClr val="666666"/>
                </a:solidFill>
                <a:latin typeface="Calibri"/>
              </a:defRPr>
            </a:pPr>
            <a:r>
              <a:rPr sz="900" b="0">
                <a:solidFill>
                  <a:srgbClr val="666666"/>
                </a:solidFill>
                <a:latin typeface="Calibri"/>
              </a:rPr>
              <a:t>Porpoise Robotics - proprietary. For use with Porpoise Robotics lessons.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What you will be able to do by the end</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a:t>
            </a:r>
          </a:p>
        </p:txBody>
      </p:sp>
      <p:sp>
        <p:nvSpPr>
          <p:cNvPr id="6" name="TextBox 5"/>
          <p:cNvSpPr txBox="1"/>
          <p:nvPr/>
        </p:nvSpPr>
        <p:spPr>
          <a:xfrm>
            <a:off x="502920" y="1188720"/>
            <a:ext cx="11185855" cy="502920"/>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By the end of this lesson you will be able to:</a:t>
            </a:r>
          </a:p>
        </p:txBody>
      </p:sp>
      <p:sp>
        <p:nvSpPr>
          <p:cNvPr id="7" name="TextBox 6"/>
          <p:cNvSpPr txBox="1"/>
          <p:nvPr/>
        </p:nvSpPr>
        <p:spPr>
          <a:xfrm>
            <a:off x="502920" y="1737360"/>
            <a:ext cx="11185855" cy="4526280"/>
          </a:xfrm>
          <a:prstGeom prst="rect">
            <a:avLst/>
          </a:prstGeom>
          <a:noFill/>
        </p:spPr>
        <p:txBody>
          <a:bodyPr wrap="square" lIns="0" tIns="0" rIns="0" bIns="0">
            <a:spAutoFit/>
          </a:bodyPr>
          <a:lstStyle/>
          <a:p>
            <a:pPr algn="l">
              <a:lnSpc>
                <a:spcPct val="100000"/>
              </a:lnSpc>
              <a:spcAft>
                <a:spcPts val="1300"/>
              </a:spcAft>
              <a:defRPr sz="1900" b="0">
                <a:solidFill>
                  <a:srgbClr val="222222"/>
                </a:solidFill>
                <a:latin typeface="Calibri"/>
              </a:defRPr>
            </a:pPr>
            <a:r>
              <a:rPr sz="1900" b="0">
                <a:solidFill>
                  <a:srgbClr val="222222"/>
                </a:solidFill>
                <a:latin typeface="Calibri"/>
              </a:rPr>
              <a:t>1.   Say what mechatronics is, and point to three parts of the Pathfinder that are mechanical, electrical and software</a:t>
            </a:r>
          </a:p>
          <a:p>
            <a:pPr algn="l">
              <a:lnSpc>
                <a:spcPct val="100000"/>
              </a:lnSpc>
              <a:spcAft>
                <a:spcPts val="1300"/>
              </a:spcAft>
              <a:defRPr sz="1900" b="0">
                <a:solidFill>
                  <a:srgbClr val="222222"/>
                </a:solidFill>
                <a:latin typeface="Calibri"/>
              </a:defRPr>
            </a:pPr>
            <a:r>
              <a:rPr sz="1900" b="0">
                <a:solidFill>
                  <a:srgbClr val="222222"/>
                </a:solidFill>
                <a:latin typeface="Calibri"/>
              </a:rPr>
              <a:t>2.   Set up the Arduino IDE, the board package and the libraries, and get the course files into your Arduino folder</a:t>
            </a:r>
          </a:p>
          <a:p>
            <a:pPr algn="l">
              <a:lnSpc>
                <a:spcPct val="100000"/>
              </a:lnSpc>
              <a:spcAft>
                <a:spcPts val="1300"/>
              </a:spcAft>
              <a:defRPr sz="1900" b="0">
                <a:solidFill>
                  <a:srgbClr val="222222"/>
                </a:solidFill>
                <a:latin typeface="Calibri"/>
              </a:defRPr>
            </a:pPr>
            <a:r>
              <a:rPr sz="1900" b="0">
                <a:solidFill>
                  <a:srgbClr val="222222"/>
                </a:solidFill>
                <a:latin typeface="Calibri"/>
              </a:rPr>
              <a:t>3.   Name the three parts of every Arduino program and say when each runs</a:t>
            </a:r>
          </a:p>
          <a:p>
            <a:pPr algn="l">
              <a:lnSpc>
                <a:spcPct val="100000"/>
              </a:lnSpc>
              <a:spcAft>
                <a:spcPts val="1300"/>
              </a:spcAft>
              <a:defRPr sz="1900" b="0">
                <a:solidFill>
                  <a:srgbClr val="222222"/>
                </a:solidFill>
                <a:latin typeface="Calibri"/>
              </a:defRPr>
            </a:pPr>
            <a:r>
              <a:rPr sz="1900" b="0">
                <a:solidFill>
                  <a:srgbClr val="222222"/>
                </a:solidFill>
                <a:latin typeface="Calibri"/>
              </a:rPr>
              <a:t>4.   Build a working LED circuit on a breadboard, and say why the resistor is there</a:t>
            </a:r>
          </a:p>
          <a:p>
            <a:pPr algn="l">
              <a:lnSpc>
                <a:spcPct val="100000"/>
              </a:lnSpc>
              <a:spcAft>
                <a:spcPts val="1300"/>
              </a:spcAft>
              <a:defRPr sz="1900" b="0">
                <a:solidFill>
                  <a:srgbClr val="222222"/>
                </a:solidFill>
                <a:latin typeface="Calibri"/>
              </a:defRPr>
            </a:pPr>
            <a:r>
              <a:rPr sz="1900" b="0">
                <a:solidFill>
                  <a:srgbClr val="222222"/>
                </a:solidFill>
                <a:latin typeface="Calibri"/>
              </a:rPr>
              <a:t>5.   Upload a program to the vehicle and change it</a:t>
            </a:r>
          </a:p>
          <a:p>
            <a:pPr algn="l">
              <a:lnSpc>
                <a:spcPct val="100000"/>
              </a:lnSpc>
              <a:spcAft>
                <a:spcPts val="1300"/>
              </a:spcAft>
              <a:defRPr sz="1900" b="0">
                <a:solidFill>
                  <a:srgbClr val="222222"/>
                </a:solidFill>
                <a:latin typeface="Calibri"/>
              </a:defRPr>
            </a:pPr>
            <a:r>
              <a:rPr sz="1900" b="0">
                <a:solidFill>
                  <a:srgbClr val="222222"/>
                </a:solidFill>
                <a:latin typeface="Calibri"/>
              </a:rPr>
              <a:t>6.   Read what the vehicle prints back on the Serial Monitor</a:t>
            </a:r>
          </a:p>
          <a:p>
            <a:pPr algn="l">
              <a:lnSpc>
                <a:spcPct val="100000"/>
              </a:lnSpc>
              <a:spcAft>
                <a:spcPts val="1300"/>
              </a:spcAft>
              <a:defRPr sz="1900" b="0">
                <a:solidFill>
                  <a:srgbClr val="222222"/>
                </a:solidFill>
                <a:latin typeface="Calibri"/>
              </a:defRPr>
            </a:pPr>
            <a:r>
              <a:rPr sz="1900" b="0">
                <a:solidFill>
                  <a:srgbClr val="222222"/>
                </a:solidFill>
                <a:latin typeface="Calibri"/>
              </a:rPr>
              <a:t>7.   Light any one of the 32 LEDs, in any color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Welcome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3</a:t>
            </a:r>
          </a:p>
        </p:txBody>
      </p:sp>
      <p:sp>
        <p:nvSpPr>
          <p:cNvPr id="6" name="TextBox 5"/>
          <p:cNvSpPr txBox="1"/>
          <p:nvPr/>
        </p:nvSpPr>
        <p:spPr>
          <a:xfrm>
            <a:off x="502920" y="1188720"/>
            <a:ext cx="11185855" cy="3986784"/>
          </a:xfrm>
          <a:prstGeom prst="rect">
            <a:avLst/>
          </a:prstGeom>
          <a:noFill/>
        </p:spPr>
        <p:txBody>
          <a:bodyPr wrap="square" lIns="0" tIns="0" rIns="0" bIns="0">
            <a:spAutoFit/>
          </a:bodyPr>
          <a:lstStyle/>
          <a:p>
            <a:pPr algn="l">
              <a:lnSpc>
                <a:spcPct val="100000"/>
              </a:lnSpc>
              <a:spcAft>
                <a:spcPts val="600"/>
              </a:spcAft>
              <a:defRPr sz="2200" b="0">
                <a:solidFill>
                  <a:srgbClr val="222222"/>
                </a:solidFill>
                <a:latin typeface="Calibri"/>
              </a:defRPr>
            </a:pPr>
            <a:r>
              <a:rPr sz="2200" b="0">
                <a:solidFill>
                  <a:srgbClr val="222222"/>
                </a:solidFill>
                <a:latin typeface="Calibri"/>
              </a:rPr>
              <a:t>This is a five-lesson course. Each lesson is three hours, and each one ends with your vehicle doing something it could not do at the start.</a:t>
            </a:r>
          </a:p>
          <a:p>
            <a:pPr algn="l">
              <a:lnSpc>
                <a:spcPct val="100000"/>
              </a:lnSpc>
              <a:spcAft>
                <a:spcPts val="600"/>
              </a:spcAft>
              <a:defRPr sz="2200" b="0">
                <a:solidFill>
                  <a:srgbClr val="222222"/>
                </a:solidFill>
                <a:latin typeface="Calibri"/>
              </a:defRPr>
            </a:pPr>
            <a:r>
              <a:rPr sz="2200" b="0">
                <a:solidFill>
                  <a:srgbClr val="222222"/>
                </a:solidFill>
                <a:latin typeface="Calibri"/>
              </a:rPr>
              <a:t>Please make it interactive. Questions, comments and better ideas are all welcome, and the best ones usually come from somebody who has just broken something.</a:t>
            </a:r>
          </a:p>
          <a:p>
            <a:pPr algn="l">
              <a:lnSpc>
                <a:spcPct val="100000"/>
              </a:lnSpc>
              <a:spcAft>
                <a:spcPts val="600"/>
              </a:spcAft>
              <a:defRPr sz="2200" b="0">
                <a:solidFill>
                  <a:srgbClr val="222222"/>
                </a:solidFill>
                <a:latin typeface="Calibri"/>
              </a:defRPr>
            </a:pPr>
            <a:r>
              <a:rPr sz="2200" b="0">
                <a:solidFill>
                  <a:srgbClr val="222222"/>
                </a:solidFill>
                <a:latin typeface="Calibri"/>
              </a:rPr>
              <a:t>You work in groups of three and share a vehicle. There are more vehicles if your group wants one each.</a:t>
            </a:r>
          </a:p>
          <a:p>
            <a:pPr algn="l">
              <a:lnSpc>
                <a:spcPct val="100000"/>
              </a:lnSpc>
              <a:spcAft>
                <a:spcPts val="600"/>
              </a:spcAft>
              <a:defRPr sz="2200" b="0">
                <a:solidFill>
                  <a:srgbClr val="222222"/>
                </a:solidFill>
                <a:latin typeface="Calibri"/>
              </a:defRPr>
            </a:pPr>
            <a:r>
              <a:rPr sz="2200" b="0">
                <a:solidFill>
                  <a:srgbClr val="222222"/>
                </a:solidFill>
                <a:latin typeface="Calibri"/>
              </a:rPr>
              <a:t>You will read programs, change them, upload them, and see what happens. Modifying a working program is the fastest way to learn to write one.</a:t>
            </a:r>
          </a:p>
          <a:p>
            <a:pPr algn="l">
              <a:lnSpc>
                <a:spcPct val="100000"/>
              </a:lnSpc>
              <a:spcAft>
                <a:spcPts val="600"/>
              </a:spcAft>
              <a:defRPr sz="2200" b="0">
                <a:solidFill>
                  <a:srgbClr val="222222"/>
                </a:solidFill>
                <a:latin typeface="Calibri"/>
              </a:defRPr>
            </a:pPr>
            <a:r>
              <a:rPr sz="2200" b="0">
                <a:solidFill>
                  <a:srgbClr val="222222"/>
                </a:solidFill>
                <a:latin typeface="Calibri"/>
              </a:rPr>
              <a:t>Very often the vehicle will do exactly what you told it to do, and not at all what you meant. That is not a setback. That is the job.</a:t>
            </a:r>
          </a:p>
        </p:txBody>
      </p:sp>
      <p:sp>
        <p:nvSpPr>
          <p:cNvPr id="7" name="Rounded Rectangle 6"/>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By the end of Lesson 5 you will be driving a vehicle you understand line by line, and racing 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Where this course goes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4</a:t>
            </a:r>
          </a:p>
        </p:txBody>
      </p:sp>
      <p:graphicFrame>
        <p:nvGraphicFramePr>
          <p:cNvPr id="6" name="Table 5"/>
          <p:cNvGraphicFramePr>
            <a:graphicFrameLocks noGrp="1"/>
          </p:cNvGraphicFramePr>
          <p:nvPr/>
        </p:nvGraphicFramePr>
        <p:xfrm>
          <a:off x="502920" y="1188720"/>
          <a:ext cx="11185854" cy="3886200"/>
        </p:xfrm>
        <a:graphic>
          <a:graphicData uri="http://schemas.openxmlformats.org/drawingml/2006/table">
            <a:tbl>
              <a:tblPr firstRow="1" bandRow="1">
                <a:tableStyleId>{5C22544A-7EE6-4342-B048-85BDC9FD1C3A}</a:tableStyleId>
              </a:tblPr>
              <a:tblGrid>
                <a:gridCol w="1092200"/>
                <a:gridCol w="4056220"/>
                <a:gridCol w="6037434"/>
              </a:tblGrid>
              <a:tr h="647700">
                <a:tc>
                  <a:txBody>
                    <a:bodyPr/>
                    <a:lstStyle/>
                    <a:p>
                      <a:r>
                        <a:rPr sz="2400" b="1">
                          <a:solidFill>
                            <a:srgbClr val="FFFFFF"/>
                          </a:solidFill>
                          <a:latin typeface="Calibri"/>
                        </a:rPr>
                        <a:t>Lesson</a:t>
                      </a:r>
                    </a:p>
                  </a:txBody>
                  <a:tcPr marL="73152" marT="18288" marB="18288">
                    <a:solidFill>
                      <a:srgbClr val="1F3A5F"/>
                    </a:solidFill>
                  </a:tcPr>
                </a:tc>
                <a:tc>
                  <a:txBody>
                    <a:bodyPr/>
                    <a:lstStyle/>
                    <a:p>
                      <a:r>
                        <a:rPr sz="2400" b="1">
                          <a:solidFill>
                            <a:srgbClr val="FFFFFF"/>
                          </a:solidFill>
                          <a:latin typeface="Calibri"/>
                        </a:rPr>
                        <a:t>Subject</a:t>
                      </a:r>
                    </a:p>
                  </a:txBody>
                  <a:tcPr marL="73152" marT="18288" marB="18288">
                    <a:solidFill>
                      <a:srgbClr val="1F3A5F"/>
                    </a:solidFill>
                  </a:tcPr>
                </a:tc>
                <a:tc>
                  <a:txBody>
                    <a:bodyPr/>
                    <a:lstStyle/>
                    <a:p>
                      <a:r>
                        <a:rPr sz="2400" b="1">
                          <a:solidFill>
                            <a:srgbClr val="FFFFFF"/>
                          </a:solidFill>
                          <a:latin typeface="Calibri"/>
                        </a:rPr>
                        <a:t>What your vehicle can do by the end</a:t>
                      </a:r>
                    </a:p>
                  </a:txBody>
                  <a:tcPr marL="73152" marT="18288" marB="18288">
                    <a:solidFill>
                      <a:srgbClr val="1F3A5F"/>
                    </a:solidFill>
                  </a:tcPr>
                </a:tc>
              </a:tr>
              <a:tr h="647700">
                <a:tc>
                  <a:txBody>
                    <a:bodyPr/>
                    <a:lstStyle/>
                    <a:p>
                      <a:r>
                        <a:rPr sz="2400">
                          <a:solidFill>
                            <a:srgbClr val="222222"/>
                          </a:solidFill>
                          <a:latin typeface="Calibri"/>
                        </a:rPr>
                        <a:t>1</a:t>
                      </a:r>
                    </a:p>
                  </a:txBody>
                  <a:tcPr marL="73152" marT="18288" marB="18288">
                    <a:solidFill>
                      <a:srgbClr val="FFFFFF"/>
                    </a:solidFill>
                  </a:tcPr>
                </a:tc>
                <a:tc>
                  <a:txBody>
                    <a:bodyPr/>
                    <a:lstStyle/>
                    <a:p>
                      <a:r>
                        <a:rPr sz="2400">
                          <a:solidFill>
                            <a:srgbClr val="222222"/>
                          </a:solidFill>
                          <a:latin typeface="Calibri"/>
                        </a:rPr>
                        <a:t>Introduction and the toolchain</a:t>
                      </a:r>
                    </a:p>
                  </a:txBody>
                  <a:tcPr marL="73152" marT="18288" marB="18288">
                    <a:solidFill>
                      <a:srgbClr val="FFFFFF"/>
                    </a:solidFill>
                  </a:tcPr>
                </a:tc>
                <a:tc>
                  <a:txBody>
                    <a:bodyPr/>
                    <a:lstStyle/>
                    <a:p>
                      <a:r>
                        <a:rPr sz="2400">
                          <a:solidFill>
                            <a:srgbClr val="222222"/>
                          </a:solidFill>
                          <a:latin typeface="Calibri"/>
                        </a:rPr>
                        <a:t>Blink an LED, print to the screen, light one pixel</a:t>
                      </a:r>
                    </a:p>
                  </a:txBody>
                  <a:tcPr marL="73152" marT="18288" marB="18288">
                    <a:solidFill>
                      <a:srgbClr val="FFFFFF"/>
                    </a:solidFill>
                  </a:tcPr>
                </a:tc>
              </a:tr>
              <a:tr h="647700">
                <a:tc>
                  <a:txBody>
                    <a:bodyPr/>
                    <a:lstStyle/>
                    <a:p>
                      <a:r>
                        <a:rPr sz="2400">
                          <a:solidFill>
                            <a:srgbClr val="222222"/>
                          </a:solidFill>
                          <a:latin typeface="Calibri"/>
                        </a:rPr>
                        <a:t>2</a:t>
                      </a:r>
                    </a:p>
                  </a:txBody>
                  <a:tcPr marL="73152" marT="18288" marB="18288">
                    <a:solidFill>
                      <a:srgbClr val="EEF3F8"/>
                    </a:solidFill>
                  </a:tcPr>
                </a:tc>
                <a:tc>
                  <a:txBody>
                    <a:bodyPr/>
                    <a:lstStyle/>
                    <a:p>
                      <a:r>
                        <a:rPr sz="2400">
                          <a:solidFill>
                            <a:srgbClr val="222222"/>
                          </a:solidFill>
                          <a:latin typeface="Calibri"/>
                        </a:rPr>
                        <a:t>Motor control</a:t>
                      </a:r>
                    </a:p>
                  </a:txBody>
                  <a:tcPr marL="73152" marT="18288" marB="18288">
                    <a:solidFill>
                      <a:srgbClr val="EEF3F8"/>
                    </a:solidFill>
                  </a:tcPr>
                </a:tc>
                <a:tc>
                  <a:txBody>
                    <a:bodyPr/>
                    <a:lstStyle/>
                    <a:p>
                      <a:r>
                        <a:rPr sz="2400">
                          <a:solidFill>
                            <a:srgbClr val="222222"/>
                          </a:solidFill>
                          <a:latin typeface="Calibri"/>
                        </a:rPr>
                        <a:t>Drive itself round a square you calculated</a:t>
                      </a:r>
                    </a:p>
                  </a:txBody>
                  <a:tcPr marL="73152" marT="18288" marB="18288">
                    <a:solidFill>
                      <a:srgbClr val="EEF3F8"/>
                    </a:solidFill>
                  </a:tcPr>
                </a:tc>
              </a:tr>
              <a:tr h="647700">
                <a:tc>
                  <a:txBody>
                    <a:bodyPr/>
                    <a:lstStyle/>
                    <a:p>
                      <a:r>
                        <a:rPr sz="2400">
                          <a:solidFill>
                            <a:srgbClr val="222222"/>
                          </a:solidFill>
                          <a:latin typeface="Calibri"/>
                        </a:rPr>
                        <a:t>3</a:t>
                      </a:r>
                    </a:p>
                  </a:txBody>
                  <a:tcPr marL="73152" marT="18288" marB="18288">
                    <a:solidFill>
                      <a:srgbClr val="FFFFFF"/>
                    </a:solidFill>
                  </a:tcPr>
                </a:tc>
                <a:tc>
                  <a:txBody>
                    <a:bodyPr/>
                    <a:lstStyle/>
                    <a:p>
                      <a:r>
                        <a:rPr sz="2400">
                          <a:solidFill>
                            <a:srgbClr val="222222"/>
                          </a:solidFill>
                          <a:latin typeface="Calibri"/>
                        </a:rPr>
                        <a:t>Controller programming</a:t>
                      </a:r>
                    </a:p>
                  </a:txBody>
                  <a:tcPr marL="73152" marT="18288" marB="18288">
                    <a:solidFill>
                      <a:srgbClr val="FFFFFF"/>
                    </a:solidFill>
                  </a:tcPr>
                </a:tc>
                <a:tc>
                  <a:txBody>
                    <a:bodyPr/>
                    <a:lstStyle/>
                    <a:p>
                      <a:r>
                        <a:rPr sz="2400">
                          <a:solidFill>
                            <a:srgbClr val="222222"/>
                          </a:solidFill>
                          <a:latin typeface="Calibri"/>
                        </a:rPr>
                        <a:t>Be driven by you, with a thumbstick</a:t>
                      </a:r>
                    </a:p>
                  </a:txBody>
                  <a:tcPr marL="73152" marT="18288" marB="18288">
                    <a:solidFill>
                      <a:srgbClr val="FFFFFF"/>
                    </a:solidFill>
                  </a:tcPr>
                </a:tc>
              </a:tr>
              <a:tr h="647700">
                <a:tc>
                  <a:txBody>
                    <a:bodyPr/>
                    <a:lstStyle/>
                    <a:p>
                      <a:r>
                        <a:rPr sz="2400">
                          <a:solidFill>
                            <a:srgbClr val="222222"/>
                          </a:solidFill>
                          <a:latin typeface="Calibri"/>
                        </a:rPr>
                        <a:t>4</a:t>
                      </a:r>
                    </a:p>
                  </a:txBody>
                  <a:tcPr marL="73152" marT="18288" marB="18288">
                    <a:solidFill>
                      <a:srgbClr val="EEF3F8"/>
                    </a:solidFill>
                  </a:tcPr>
                </a:tc>
                <a:tc>
                  <a:txBody>
                    <a:bodyPr/>
                    <a:lstStyle/>
                    <a:p>
                      <a:r>
                        <a:rPr sz="2400">
                          <a:solidFill>
                            <a:srgbClr val="222222"/>
                          </a:solidFill>
                          <a:latin typeface="Calibri"/>
                        </a:rPr>
                        <a:t>NeoPixel LEDs</a:t>
                      </a:r>
                    </a:p>
                  </a:txBody>
                  <a:tcPr marL="73152" marT="18288" marB="18288">
                    <a:solidFill>
                      <a:srgbClr val="EEF3F8"/>
                    </a:solidFill>
                  </a:tcPr>
                </a:tc>
                <a:tc>
                  <a:txBody>
                    <a:bodyPr/>
                    <a:lstStyle/>
                    <a:p>
                      <a:r>
                        <a:rPr sz="2400">
                          <a:solidFill>
                            <a:srgbClr val="222222"/>
                          </a:solidFill>
                          <a:latin typeface="Calibri"/>
                        </a:rPr>
                        <a:t>Run headlights, signals and light patterns</a:t>
                      </a:r>
                    </a:p>
                  </a:txBody>
                  <a:tcPr marL="73152" marT="18288" marB="18288">
                    <a:solidFill>
                      <a:srgbClr val="EEF3F8"/>
                    </a:solidFill>
                  </a:tcPr>
                </a:tc>
              </a:tr>
              <a:tr h="647700">
                <a:tc>
                  <a:txBody>
                    <a:bodyPr/>
                    <a:lstStyle/>
                    <a:p>
                      <a:r>
                        <a:rPr sz="2400">
                          <a:solidFill>
                            <a:srgbClr val="222222"/>
                          </a:solidFill>
                          <a:latin typeface="Calibri"/>
                        </a:rPr>
                        <a:t>5</a:t>
                      </a:r>
                    </a:p>
                  </a:txBody>
                  <a:tcPr marL="73152" marT="18288" marB="18288">
                    <a:solidFill>
                      <a:srgbClr val="FFFFFF"/>
                    </a:solidFill>
                  </a:tcPr>
                </a:tc>
                <a:tc>
                  <a:txBody>
                    <a:bodyPr/>
                    <a:lstStyle/>
                    <a:p>
                      <a:r>
                        <a:rPr sz="2400">
                          <a:solidFill>
                            <a:srgbClr val="222222"/>
                          </a:solidFill>
                          <a:latin typeface="Calibri"/>
                        </a:rPr>
                        <a:t>Maneuvers with lights</a:t>
                      </a:r>
                    </a:p>
                  </a:txBody>
                  <a:tcPr marL="73152" marT="18288" marB="18288">
                    <a:solidFill>
                      <a:srgbClr val="FFFFFF"/>
                    </a:solidFill>
                  </a:tcPr>
                </a:tc>
                <a:tc>
                  <a:txBody>
                    <a:bodyPr/>
                    <a:lstStyle/>
                    <a:p>
                      <a:r>
                        <a:rPr sz="2400">
                          <a:solidFill>
                            <a:srgbClr val="222222"/>
                          </a:solidFill>
                          <a:latin typeface="Calibri"/>
                        </a:rPr>
                        <a:t>Everything at once - and race</a:t>
                      </a:r>
                    </a:p>
                  </a:txBody>
                  <a:tcPr marL="73152" marT="18288" marB="18288">
                    <a:solidFill>
                      <a:srgbClr val="FFFFFF"/>
                    </a:solidFill>
                  </a:tcPr>
                </a:tc>
              </a:tr>
            </a:tbl>
          </a:graphicData>
        </a:graphic>
      </p:graphicFrame>
      <p:sp>
        <p:nvSpPr>
          <p:cNvPr id="7" name="Rounded Rectangle 6"/>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Every lesson builds directly on the one before it. Nothing gets thrown away.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Today, in order</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5</a:t>
            </a:r>
          </a:p>
        </p:txBody>
      </p:sp>
      <p:graphicFrame>
        <p:nvGraphicFramePr>
          <p:cNvPr id="6" name="Table 5"/>
          <p:cNvGraphicFramePr>
            <a:graphicFrameLocks noGrp="1"/>
          </p:cNvGraphicFramePr>
          <p:nvPr/>
        </p:nvGraphicFramePr>
        <p:xfrm>
          <a:off x="502920" y="1188720"/>
          <a:ext cx="11185854" cy="4889500"/>
        </p:xfrm>
        <a:graphic>
          <a:graphicData uri="http://schemas.openxmlformats.org/drawingml/2006/table">
            <a:tbl>
              <a:tblPr firstRow="1" bandRow="1">
                <a:tableStyleId>{5C22544A-7EE6-4342-B048-85BDC9FD1C3A}</a:tableStyleId>
              </a:tblPr>
              <a:tblGrid>
                <a:gridCol w="1118585"/>
                <a:gridCol w="10067269"/>
              </a:tblGrid>
              <a:tr h="488950">
                <a:tc>
                  <a:txBody>
                    <a:bodyPr/>
                    <a:lstStyle/>
                    <a:p>
                      <a:r>
                        <a:rPr sz="2600" b="1">
                          <a:solidFill>
                            <a:srgbClr val="FFFFFF"/>
                          </a:solidFill>
                          <a:latin typeface="Calibri"/>
                        </a:rPr>
                        <a:t>Time</a:t>
                      </a:r>
                    </a:p>
                  </a:txBody>
                  <a:tcPr marL="73152" marT="18288" marB="18288">
                    <a:solidFill>
                      <a:srgbClr val="1F3A5F"/>
                    </a:solidFill>
                  </a:tcPr>
                </a:tc>
                <a:tc>
                  <a:txBody>
                    <a:bodyPr/>
                    <a:lstStyle/>
                    <a:p>
                      <a:r>
                        <a:rPr sz="2600" b="1">
                          <a:solidFill>
                            <a:srgbClr val="FFFFFF"/>
                          </a:solidFill>
                          <a:latin typeface="Calibri"/>
                        </a:rPr>
                        <a:t>What we do</a:t>
                      </a:r>
                    </a:p>
                  </a:txBody>
                  <a:tcPr marL="73152" marT="18288" marB="18288">
                    <a:solidFill>
                      <a:srgbClr val="1F3A5F"/>
                    </a:solidFill>
                  </a:tcPr>
                </a:tc>
              </a:tr>
              <a:tr h="488950">
                <a:tc>
                  <a:txBody>
                    <a:bodyPr/>
                    <a:lstStyle/>
                    <a:p>
                      <a:r>
                        <a:rPr sz="2600">
                          <a:solidFill>
                            <a:srgbClr val="222222"/>
                          </a:solidFill>
                          <a:latin typeface="Calibri"/>
                        </a:rPr>
                        <a:t>0:00</a:t>
                      </a:r>
                    </a:p>
                  </a:txBody>
                  <a:tcPr marL="73152" marT="18288" marB="18288">
                    <a:solidFill>
                      <a:srgbClr val="FFFFFF"/>
                    </a:solidFill>
                  </a:tcPr>
                </a:tc>
                <a:tc>
                  <a:txBody>
                    <a:bodyPr/>
                    <a:lstStyle/>
                    <a:p>
                      <a:r>
                        <a:rPr sz="2600">
                          <a:solidFill>
                            <a:srgbClr val="222222"/>
                          </a:solidFill>
                          <a:latin typeface="Calibri"/>
                        </a:rPr>
                        <a:t>What mechatronics is, and what a Pathfinder is</a:t>
                      </a:r>
                    </a:p>
                  </a:txBody>
                  <a:tcPr marL="73152" marT="18288" marB="18288">
                    <a:solidFill>
                      <a:srgbClr val="FFFFFF"/>
                    </a:solidFill>
                  </a:tcPr>
                </a:tc>
              </a:tr>
              <a:tr h="488950">
                <a:tc>
                  <a:txBody>
                    <a:bodyPr/>
                    <a:lstStyle/>
                    <a:p>
                      <a:r>
                        <a:rPr sz="2600">
                          <a:solidFill>
                            <a:srgbClr val="222222"/>
                          </a:solidFill>
                          <a:latin typeface="Calibri"/>
                        </a:rPr>
                        <a:t>0:30</a:t>
                      </a:r>
                    </a:p>
                  </a:txBody>
                  <a:tcPr marL="73152" marT="18288" marB="18288">
                    <a:solidFill>
                      <a:srgbClr val="EEF3F8"/>
                    </a:solidFill>
                  </a:tcPr>
                </a:tc>
                <a:tc>
                  <a:txBody>
                    <a:bodyPr/>
                    <a:lstStyle/>
                    <a:p>
                      <a:r>
                        <a:rPr sz="2600">
                          <a:solidFill>
                            <a:srgbClr val="222222"/>
                          </a:solidFill>
                          <a:latin typeface="Calibri"/>
                        </a:rPr>
                        <a:t>A tour of the vehicle, and how to handle it safely</a:t>
                      </a:r>
                    </a:p>
                  </a:txBody>
                  <a:tcPr marL="73152" marT="18288" marB="18288">
                    <a:solidFill>
                      <a:srgbClr val="EEF3F8"/>
                    </a:solidFill>
                  </a:tcPr>
                </a:tc>
              </a:tr>
              <a:tr h="488950">
                <a:tc>
                  <a:txBody>
                    <a:bodyPr/>
                    <a:lstStyle/>
                    <a:p>
                      <a:r>
                        <a:rPr sz="2600">
                          <a:solidFill>
                            <a:srgbClr val="222222"/>
                          </a:solidFill>
                          <a:latin typeface="Calibri"/>
                        </a:rPr>
                        <a:t>0:55</a:t>
                      </a:r>
                    </a:p>
                  </a:txBody>
                  <a:tcPr marL="73152" marT="18288" marB="18288">
                    <a:solidFill>
                      <a:srgbClr val="FFFFFF"/>
                    </a:solidFill>
                  </a:tcPr>
                </a:tc>
                <a:tc>
                  <a:txBody>
                    <a:bodyPr/>
                    <a:lstStyle/>
                    <a:p>
                      <a:r>
                        <a:rPr sz="2600">
                          <a:solidFill>
                            <a:srgbClr val="222222"/>
                          </a:solidFill>
                          <a:latin typeface="Calibri"/>
                        </a:rPr>
                        <a:t>BREAK  (10 minutes)</a:t>
                      </a:r>
                    </a:p>
                  </a:txBody>
                  <a:tcPr marL="73152" marT="18288" marB="18288">
                    <a:solidFill>
                      <a:srgbClr val="FFFFFF"/>
                    </a:solidFill>
                  </a:tcPr>
                </a:tc>
              </a:tr>
              <a:tr h="488950">
                <a:tc>
                  <a:txBody>
                    <a:bodyPr/>
                    <a:lstStyle/>
                    <a:p>
                      <a:r>
                        <a:rPr sz="2600">
                          <a:solidFill>
                            <a:srgbClr val="222222"/>
                          </a:solidFill>
                          <a:latin typeface="Calibri"/>
                        </a:rPr>
                        <a:t>1:05</a:t>
                      </a:r>
                    </a:p>
                  </a:txBody>
                  <a:tcPr marL="73152" marT="18288" marB="18288">
                    <a:solidFill>
                      <a:srgbClr val="EEF3F8"/>
                    </a:solidFill>
                  </a:tcPr>
                </a:tc>
                <a:tc>
                  <a:txBody>
                    <a:bodyPr/>
                    <a:lstStyle/>
                    <a:p>
                      <a:r>
                        <a:rPr sz="2600">
                          <a:solidFill>
                            <a:srgbClr val="222222"/>
                          </a:solidFill>
                          <a:latin typeface="Calibri"/>
                        </a:rPr>
                        <a:t>Install the Arduino IDE, the board package and the libraries</a:t>
                      </a:r>
                    </a:p>
                  </a:txBody>
                  <a:tcPr marL="73152" marT="18288" marB="18288">
                    <a:solidFill>
                      <a:srgbClr val="EEF3F8"/>
                    </a:solidFill>
                  </a:tcPr>
                </a:tc>
              </a:tr>
              <a:tr h="488950">
                <a:tc>
                  <a:txBody>
                    <a:bodyPr/>
                    <a:lstStyle/>
                    <a:p>
                      <a:r>
                        <a:rPr sz="2600">
                          <a:solidFill>
                            <a:srgbClr val="222222"/>
                          </a:solidFill>
                          <a:latin typeface="Calibri"/>
                        </a:rPr>
                        <a:t>1:40</a:t>
                      </a:r>
                    </a:p>
                  </a:txBody>
                  <a:tcPr marL="73152" marT="18288" marB="18288">
                    <a:solidFill>
                      <a:srgbClr val="FFFFFF"/>
                    </a:solidFill>
                  </a:tcPr>
                </a:tc>
                <a:tc>
                  <a:txBody>
                    <a:bodyPr/>
                    <a:lstStyle/>
                    <a:p>
                      <a:r>
                        <a:rPr sz="2600">
                          <a:solidFill>
                            <a:srgbClr val="222222"/>
                          </a:solidFill>
                          <a:latin typeface="Calibri"/>
                        </a:rPr>
                        <a:t>The three parts of every program.  Upload l1a_blink</a:t>
                      </a:r>
                    </a:p>
                  </a:txBody>
                  <a:tcPr marL="73152" marT="18288" marB="18288">
                    <a:solidFill>
                      <a:srgbClr val="FFFFFF"/>
                    </a:solidFill>
                  </a:tcPr>
                </a:tc>
              </a:tr>
              <a:tr h="488950">
                <a:tc>
                  <a:txBody>
                    <a:bodyPr/>
                    <a:lstStyle/>
                    <a:p>
                      <a:r>
                        <a:rPr sz="2600">
                          <a:solidFill>
                            <a:srgbClr val="222222"/>
                          </a:solidFill>
                          <a:latin typeface="Calibri"/>
                        </a:rPr>
                        <a:t>2:05</a:t>
                      </a:r>
                    </a:p>
                  </a:txBody>
                  <a:tcPr marL="73152" marT="18288" marB="18288">
                    <a:solidFill>
                      <a:srgbClr val="EEF3F8"/>
                    </a:solidFill>
                  </a:tcPr>
                </a:tc>
                <a:tc>
                  <a:txBody>
                    <a:bodyPr/>
                    <a:lstStyle/>
                    <a:p>
                      <a:r>
                        <a:rPr sz="2600">
                          <a:solidFill>
                            <a:srgbClr val="222222"/>
                          </a:solidFill>
                          <a:latin typeface="Calibri"/>
                        </a:rPr>
                        <a:t>BREAK  (10 minutes)</a:t>
                      </a:r>
                    </a:p>
                  </a:txBody>
                  <a:tcPr marL="73152" marT="18288" marB="18288">
                    <a:solidFill>
                      <a:srgbClr val="EEF3F8"/>
                    </a:solidFill>
                  </a:tcPr>
                </a:tc>
              </a:tr>
              <a:tr h="488950">
                <a:tc>
                  <a:txBody>
                    <a:bodyPr/>
                    <a:lstStyle/>
                    <a:p>
                      <a:r>
                        <a:rPr sz="2600">
                          <a:solidFill>
                            <a:srgbClr val="222222"/>
                          </a:solidFill>
                          <a:latin typeface="Calibri"/>
                        </a:rPr>
                        <a:t>2:15</a:t>
                      </a:r>
                    </a:p>
                  </a:txBody>
                  <a:tcPr marL="73152" marT="18288" marB="18288">
                    <a:solidFill>
                      <a:srgbClr val="FFFFFF"/>
                    </a:solidFill>
                  </a:tcPr>
                </a:tc>
                <a:tc>
                  <a:txBody>
                    <a:bodyPr/>
                    <a:lstStyle/>
                    <a:p>
                      <a:r>
                        <a:rPr sz="2600">
                          <a:solidFill>
                            <a:srgbClr val="222222"/>
                          </a:solidFill>
                          <a:latin typeface="Calibri"/>
                        </a:rPr>
                        <a:t>Talking back: the Serial Monitor.  Upload l1b_serial_monitor</a:t>
                      </a:r>
                    </a:p>
                  </a:txBody>
                  <a:tcPr marL="73152" marT="18288" marB="18288">
                    <a:solidFill>
                      <a:srgbClr val="FFFFFF"/>
                    </a:solidFill>
                  </a:tcPr>
                </a:tc>
              </a:tr>
              <a:tr h="488950">
                <a:tc>
                  <a:txBody>
                    <a:bodyPr/>
                    <a:lstStyle/>
                    <a:p>
                      <a:r>
                        <a:rPr sz="2600">
                          <a:solidFill>
                            <a:srgbClr val="222222"/>
                          </a:solidFill>
                          <a:latin typeface="Calibri"/>
                        </a:rPr>
                        <a:t>2:40</a:t>
                      </a:r>
                    </a:p>
                  </a:txBody>
                  <a:tcPr marL="73152" marT="18288" marB="18288">
                    <a:solidFill>
                      <a:srgbClr val="EEF3F8"/>
                    </a:solidFill>
                  </a:tcPr>
                </a:tc>
                <a:tc>
                  <a:txBody>
                    <a:bodyPr/>
                    <a:lstStyle/>
                    <a:p>
                      <a:r>
                        <a:rPr sz="2600">
                          <a:solidFill>
                            <a:srgbClr val="222222"/>
                          </a:solidFill>
                          <a:latin typeface="Calibri"/>
                        </a:rPr>
                        <a:t>Your first light.  Upload l1c_first_pixel</a:t>
                      </a:r>
                    </a:p>
                  </a:txBody>
                  <a:tcPr marL="73152" marT="18288" marB="18288">
                    <a:solidFill>
                      <a:srgbClr val="EEF3F8"/>
                    </a:solidFill>
                  </a:tcPr>
                </a:tc>
              </a:tr>
              <a:tr h="488950">
                <a:tc>
                  <a:txBody>
                    <a:bodyPr/>
                    <a:lstStyle/>
                    <a:p>
                      <a:r>
                        <a:rPr sz="2600">
                          <a:solidFill>
                            <a:srgbClr val="222222"/>
                          </a:solidFill>
                          <a:latin typeface="Calibri"/>
                        </a:rPr>
                        <a:t>2:55</a:t>
                      </a:r>
                    </a:p>
                  </a:txBody>
                  <a:tcPr marL="73152" marT="18288" marB="18288">
                    <a:solidFill>
                      <a:srgbClr val="FFFFFF"/>
                    </a:solidFill>
                  </a:tcPr>
                </a:tc>
                <a:tc>
                  <a:txBody>
                    <a:bodyPr/>
                    <a:lstStyle/>
                    <a:p>
                      <a:r>
                        <a:rPr sz="2600">
                          <a:solidFill>
                            <a:srgbClr val="222222"/>
                          </a:solidFill>
                          <a:latin typeface="Calibri"/>
                        </a:rPr>
                        <a:t>Check yourself, and what to expect next lesson</a:t>
                      </a:r>
                    </a:p>
                  </a:txBody>
                  <a:tcPr marL="73152" marT="18288" marB="18288">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Mechatronics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6</a:t>
            </a:r>
          </a:p>
        </p:txBody>
      </p:sp>
      <p:sp>
        <p:nvSpPr>
          <p:cNvPr id="6" name="TextBox 5"/>
          <p:cNvSpPr txBox="1"/>
          <p:nvPr/>
        </p:nvSpPr>
        <p:spPr>
          <a:xfrm>
            <a:off x="502920" y="1188720"/>
            <a:ext cx="4108582" cy="5074920"/>
          </a:xfrm>
          <a:prstGeom prst="rect">
            <a:avLst/>
          </a:prstGeom>
          <a:noFill/>
        </p:spPr>
        <p:txBody>
          <a:bodyPr wrap="square" lIns="0" tIns="0" rIns="0" bIns="0">
            <a:spAutoFit/>
          </a:bodyPr>
          <a:lstStyle/>
          <a:p>
            <a:pPr algn="l">
              <a:lnSpc>
                <a:spcPct val="100000"/>
              </a:lnSpc>
              <a:spcAft>
                <a:spcPts val="500"/>
              </a:spcAft>
              <a:defRPr sz="1800" b="0">
                <a:solidFill>
                  <a:srgbClr val="222222"/>
                </a:solidFill>
                <a:latin typeface="Calibri"/>
              </a:defRPr>
            </a:pPr>
            <a:r>
              <a:rPr sz="1800" b="0">
                <a:solidFill>
                  <a:srgbClr val="222222"/>
                </a:solidFill>
                <a:latin typeface="Calibri"/>
              </a:rPr>
              <a:t>Much of the design and building of robots belongs to a field called MECHATRONICS - mechanical systems, electrical systems, and the computers that control them, treated as one thing.</a:t>
            </a:r>
          </a:p>
          <a:p>
            <a:pPr algn="l">
              <a:lnSpc>
                <a:spcPct val="100000"/>
              </a:lnSpc>
              <a:spcAft>
                <a:spcPts val="500"/>
              </a:spcAft>
              <a:defRPr sz="1800" b="0">
                <a:solidFill>
                  <a:srgbClr val="222222"/>
                </a:solidFill>
                <a:latin typeface="Calibri"/>
              </a:defRPr>
            </a:pPr>
            <a:r>
              <a:rPr sz="1800" b="0">
                <a:solidFill>
                  <a:srgbClr val="222222"/>
                </a:solidFill>
                <a:latin typeface="Calibri"/>
              </a:rPr>
              <a:t>An unmanned ground vehicle is one small corner of it.</a:t>
            </a:r>
          </a:p>
          <a:p>
            <a:pPr algn="l">
              <a:lnSpc>
                <a:spcPct val="100000"/>
              </a:lnSpc>
              <a:spcAft>
                <a:spcPts val="500"/>
              </a:spcAft>
              <a:defRPr sz="1800" b="0">
                <a:solidFill>
                  <a:srgbClr val="222222"/>
                </a:solidFill>
                <a:latin typeface="Calibri"/>
              </a:defRPr>
            </a:pPr>
            <a:r>
              <a:rPr sz="1800" b="0">
                <a:solidFill>
                  <a:srgbClr val="222222"/>
                </a:solidFill>
                <a:latin typeface="Calibri"/>
              </a:rPr>
              <a:t>What you learn here applies to the rest: factory automation, appliances, printers, cars, aircraft, and undersea vehicles.</a:t>
            </a:r>
          </a:p>
          <a:p>
            <a:pPr algn="l">
              <a:lnSpc>
                <a:spcPct val="100000"/>
              </a:lnSpc>
              <a:spcAft>
                <a:spcPts val="500"/>
              </a:spcAft>
              <a:defRPr sz="1800" b="0">
                <a:solidFill>
                  <a:srgbClr val="222222"/>
                </a:solidFill>
                <a:latin typeface="Calibri"/>
              </a:defRPr>
            </a:pPr>
            <a:r>
              <a:rPr sz="1800" b="0">
                <a:solidFill>
                  <a:srgbClr val="222222"/>
                </a:solidFill>
                <a:latin typeface="Calibri"/>
              </a:rPr>
              <a:t>The reason we teach it with a rover is that you can watch a rover, reach it when it gets stuck, and a mistake means a bumped wall rather than a flooded electronics bay.</a:t>
            </a:r>
          </a:p>
        </p:txBody>
      </p:sp>
      <p:pic>
        <p:nvPicPr>
          <p:cNvPr id="7" name="Picture 6" descr="engineering-to-mechatronics.png"/>
          <p:cNvPicPr>
            <a:picLocks noChangeAspect="1"/>
          </p:cNvPicPr>
          <p:nvPr/>
        </p:nvPicPr>
        <p:blipFill>
          <a:blip r:embed="rId2"/>
          <a:stretch>
            <a:fillRect/>
          </a:stretch>
        </p:blipFill>
        <p:spPr>
          <a:xfrm>
            <a:off x="6380881" y="1188720"/>
            <a:ext cx="3904275" cy="3840480"/>
          </a:xfrm>
          <a:prstGeom prst="rect">
            <a:avLst/>
          </a:prstGeom>
        </p:spPr>
      </p:pic>
      <p:sp>
        <p:nvSpPr>
          <p:cNvPr id="8" name="TextBox 7"/>
          <p:cNvSpPr txBox="1"/>
          <p:nvPr/>
        </p:nvSpPr>
        <p:spPr>
          <a:xfrm>
            <a:off x="6380881" y="5084064"/>
            <a:ext cx="3904275" cy="566928"/>
          </a:xfrm>
          <a:prstGeom prst="rect">
            <a:avLst/>
          </a:prstGeom>
          <a:noFill/>
        </p:spPr>
        <p:txBody>
          <a:bodyPr wrap="square" lIns="0" tIns="0" rIns="0" bIns="0">
            <a:spAutoFit/>
          </a:bodyPr>
          <a:lstStyle/>
          <a:p>
            <a:pPr algn="l">
              <a:lnSpc>
                <a:spcPct val="100000"/>
              </a:lnSpc>
              <a:spcAft>
                <a:spcPts val="200"/>
              </a:spcAft>
              <a:defRPr sz="1800" b="0">
                <a:solidFill>
                  <a:srgbClr val="666666"/>
                </a:solidFill>
                <a:latin typeface="Calibri"/>
              </a:defRPr>
            </a:pPr>
            <a:r>
              <a:rPr sz="1800" b="0">
                <a:solidFill>
                  <a:srgbClr val="666666"/>
                </a:solidFill>
                <a:latin typeface="Calibri"/>
              </a:rPr>
              <a:t>Engineering, narrowing down to what you are about to build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STEM, and where it shows up in this course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7</a:t>
            </a:r>
          </a:p>
        </p:txBody>
      </p:sp>
      <p:sp>
        <p:nvSpPr>
          <p:cNvPr id="6" name="TextBox 5"/>
          <p:cNvSpPr txBox="1"/>
          <p:nvPr/>
        </p:nvSpPr>
        <p:spPr>
          <a:xfrm>
            <a:off x="502920" y="1188720"/>
            <a:ext cx="5776968" cy="457200"/>
          </a:xfrm>
          <a:prstGeom prst="rect">
            <a:avLst/>
          </a:prstGeom>
          <a:noFill/>
        </p:spPr>
        <p:txBody>
          <a:bodyPr wrap="square" lIns="0" tIns="0" rIns="0" bIns="0">
            <a:spAutoFit/>
          </a:bodyPr>
          <a:lstStyle/>
          <a:p>
            <a:pPr algn="l">
              <a:lnSpc>
                <a:spcPct val="100000"/>
              </a:lnSpc>
              <a:spcAft>
                <a:spcPts val="300"/>
              </a:spcAft>
              <a:defRPr sz="1900" b="1">
                <a:solidFill>
                  <a:srgbClr val="0E7C86"/>
                </a:solidFill>
                <a:latin typeface="Calibri"/>
              </a:defRPr>
            </a:pPr>
            <a:r>
              <a:rPr sz="1900" b="1">
                <a:solidFill>
                  <a:srgbClr val="0E7C86"/>
                </a:solidFill>
                <a:latin typeface="Calibri"/>
              </a:rPr>
              <a:t>Math and science you will actually use</a:t>
            </a:r>
          </a:p>
        </p:txBody>
      </p:sp>
      <p:sp>
        <p:nvSpPr>
          <p:cNvPr id="7" name="TextBox 6"/>
          <p:cNvSpPr txBox="1"/>
          <p:nvPr/>
        </p:nvSpPr>
        <p:spPr>
          <a:xfrm>
            <a:off x="502920" y="1700784"/>
            <a:ext cx="5776968" cy="3474720"/>
          </a:xfrm>
          <a:prstGeom prst="rect">
            <a:avLst/>
          </a:prstGeom>
          <a:noFill/>
        </p:spPr>
        <p:txBody>
          <a:bodyPr wrap="square" lIns="0" tIns="0" rIns="0" bIns="0">
            <a:spAutoFit/>
          </a:bodyPr>
          <a:lstStyle/>
          <a:p>
            <a:pPr algn="l">
              <a:lnSpc>
                <a:spcPct val="100000"/>
              </a:lnSpc>
              <a:spcAft>
                <a:spcPts val="800"/>
              </a:spcAft>
              <a:defRPr sz="2200" b="0">
                <a:solidFill>
                  <a:srgbClr val="222222"/>
                </a:solidFill>
                <a:latin typeface="Calibri"/>
              </a:defRPr>
            </a:pPr>
            <a:r>
              <a:rPr sz="2200" b="0">
                <a:solidFill>
                  <a:srgbClr val="222222"/>
                </a:solidFill>
                <a:latin typeface="Calibri"/>
              </a:rPr>
              <a:t>Circumference and pi, for wheel travel</a:t>
            </a:r>
          </a:p>
          <a:p>
            <a:pPr algn="l">
              <a:lnSpc>
                <a:spcPct val="100000"/>
              </a:lnSpc>
              <a:spcAft>
                <a:spcPts val="800"/>
              </a:spcAft>
              <a:defRPr sz="2200" b="0">
                <a:solidFill>
                  <a:srgbClr val="222222"/>
                </a:solidFill>
                <a:latin typeface="Calibri"/>
              </a:defRPr>
            </a:pPr>
            <a:r>
              <a:rPr sz="2200" b="0">
                <a:solidFill>
                  <a:srgbClr val="222222"/>
                </a:solidFill>
                <a:latin typeface="Calibri"/>
              </a:rPr>
              <a:t>Distance = speed x time, for maneuvers</a:t>
            </a:r>
          </a:p>
          <a:p>
            <a:pPr algn="l">
              <a:lnSpc>
                <a:spcPct val="100000"/>
              </a:lnSpc>
              <a:spcAft>
                <a:spcPts val="800"/>
              </a:spcAft>
              <a:defRPr sz="2200" b="0">
                <a:solidFill>
                  <a:srgbClr val="222222"/>
                </a:solidFill>
                <a:latin typeface="Calibri"/>
              </a:defRPr>
            </a:pPr>
            <a:r>
              <a:rPr sz="2200" b="0">
                <a:solidFill>
                  <a:srgbClr val="222222"/>
                </a:solidFill>
                <a:latin typeface="Calibri"/>
              </a:rPr>
              <a:t>Ratios and percentages, for duty cycle</a:t>
            </a:r>
          </a:p>
          <a:p>
            <a:pPr algn="l">
              <a:lnSpc>
                <a:spcPct val="100000"/>
              </a:lnSpc>
              <a:spcAft>
                <a:spcPts val="800"/>
              </a:spcAft>
              <a:defRPr sz="2200" b="0">
                <a:solidFill>
                  <a:srgbClr val="222222"/>
                </a:solidFill>
                <a:latin typeface="Calibri"/>
              </a:defRPr>
            </a:pPr>
            <a:r>
              <a:rPr sz="2200" b="0">
                <a:solidFill>
                  <a:srgbClr val="222222"/>
                </a:solidFill>
                <a:latin typeface="Calibri"/>
              </a:rPr>
              <a:t>Linear mapping, stick reading to speed</a:t>
            </a:r>
          </a:p>
          <a:p>
            <a:pPr algn="l">
              <a:lnSpc>
                <a:spcPct val="100000"/>
              </a:lnSpc>
              <a:spcAft>
                <a:spcPts val="800"/>
              </a:spcAft>
              <a:defRPr sz="2200" b="0">
                <a:solidFill>
                  <a:srgbClr val="222222"/>
                </a:solidFill>
                <a:latin typeface="Calibri"/>
              </a:defRPr>
            </a:pPr>
            <a:r>
              <a:rPr sz="2200" b="0">
                <a:solidFill>
                  <a:srgbClr val="222222"/>
                </a:solidFill>
                <a:latin typeface="Calibri"/>
              </a:rPr>
              <a:t>Ohm's law and power, for the LED budget</a:t>
            </a:r>
          </a:p>
          <a:p>
            <a:pPr algn="l">
              <a:lnSpc>
                <a:spcPct val="100000"/>
              </a:lnSpc>
              <a:spcAft>
                <a:spcPts val="800"/>
              </a:spcAft>
              <a:defRPr sz="2200" b="0">
                <a:solidFill>
                  <a:srgbClr val="222222"/>
                </a:solidFill>
                <a:latin typeface="Calibri"/>
              </a:defRPr>
            </a:pPr>
            <a:r>
              <a:rPr sz="2200" b="0">
                <a:solidFill>
                  <a:srgbClr val="222222"/>
                </a:solidFill>
                <a:latin typeface="Calibri"/>
              </a:rPr>
              <a:t>Wavelength and color, for the lighting</a:t>
            </a:r>
          </a:p>
          <a:p>
            <a:pPr algn="l">
              <a:lnSpc>
                <a:spcPct val="100000"/>
              </a:lnSpc>
              <a:spcAft>
                <a:spcPts val="800"/>
              </a:spcAft>
              <a:defRPr sz="2200" b="0">
                <a:solidFill>
                  <a:srgbClr val="222222"/>
                </a:solidFill>
                <a:latin typeface="Calibri"/>
              </a:defRPr>
            </a:pPr>
            <a:r>
              <a:rPr sz="2200" b="0">
                <a:solidFill>
                  <a:srgbClr val="222222"/>
                </a:solidFill>
                <a:latin typeface="Calibri"/>
              </a:rPr>
              <a:t>Trigonometry, to plot where you end up</a:t>
            </a:r>
          </a:p>
        </p:txBody>
      </p:sp>
      <p:sp>
        <p:nvSpPr>
          <p:cNvPr id="8" name="TextBox 7"/>
          <p:cNvSpPr txBox="1"/>
          <p:nvPr/>
        </p:nvSpPr>
        <p:spPr>
          <a:xfrm>
            <a:off x="6737088" y="1188720"/>
            <a:ext cx="4951687" cy="457200"/>
          </a:xfrm>
          <a:prstGeom prst="rect">
            <a:avLst/>
          </a:prstGeom>
          <a:noFill/>
        </p:spPr>
        <p:txBody>
          <a:bodyPr wrap="square" lIns="0" tIns="0" rIns="0" bIns="0">
            <a:spAutoFit/>
          </a:bodyPr>
          <a:lstStyle/>
          <a:p>
            <a:pPr algn="l">
              <a:lnSpc>
                <a:spcPct val="100000"/>
              </a:lnSpc>
              <a:spcAft>
                <a:spcPts val="300"/>
              </a:spcAft>
              <a:defRPr sz="1900" b="1">
                <a:solidFill>
                  <a:srgbClr val="0E7C86"/>
                </a:solidFill>
                <a:latin typeface="Calibri"/>
              </a:defRPr>
            </a:pPr>
            <a:r>
              <a:rPr sz="1900" b="1">
                <a:solidFill>
                  <a:srgbClr val="0E7C86"/>
                </a:solidFill>
                <a:latin typeface="Calibri"/>
              </a:rPr>
              <a:t>Engineering practice</a:t>
            </a:r>
          </a:p>
        </p:txBody>
      </p:sp>
      <p:sp>
        <p:nvSpPr>
          <p:cNvPr id="9" name="TextBox 8"/>
          <p:cNvSpPr txBox="1"/>
          <p:nvPr/>
        </p:nvSpPr>
        <p:spPr>
          <a:xfrm>
            <a:off x="6737088" y="1700784"/>
            <a:ext cx="4951687" cy="3474720"/>
          </a:xfrm>
          <a:prstGeom prst="rect">
            <a:avLst/>
          </a:prstGeom>
          <a:noFill/>
        </p:spPr>
        <p:txBody>
          <a:bodyPr wrap="square" lIns="0" tIns="0" rIns="0" bIns="0">
            <a:spAutoFit/>
          </a:bodyPr>
          <a:lstStyle/>
          <a:p>
            <a:pPr algn="l">
              <a:lnSpc>
                <a:spcPct val="100000"/>
              </a:lnSpc>
              <a:spcAft>
                <a:spcPts val="800"/>
              </a:spcAft>
              <a:defRPr sz="2200" b="0">
                <a:solidFill>
                  <a:srgbClr val="222222"/>
                </a:solidFill>
                <a:latin typeface="Calibri"/>
              </a:defRPr>
            </a:pPr>
            <a:r>
              <a:rPr sz="2200" b="0">
                <a:solidFill>
                  <a:srgbClr val="222222"/>
                </a:solidFill>
                <a:latin typeface="Calibri"/>
              </a:rPr>
              <a:t>Reading a program before changing it</a:t>
            </a:r>
          </a:p>
          <a:p>
            <a:pPr algn="l">
              <a:lnSpc>
                <a:spcPct val="100000"/>
              </a:lnSpc>
              <a:spcAft>
                <a:spcPts val="800"/>
              </a:spcAft>
              <a:defRPr sz="2200" b="0">
                <a:solidFill>
                  <a:srgbClr val="222222"/>
                </a:solidFill>
                <a:latin typeface="Calibri"/>
              </a:defRPr>
            </a:pPr>
            <a:r>
              <a:rPr sz="2200" b="0">
                <a:solidFill>
                  <a:srgbClr val="222222"/>
                </a:solidFill>
                <a:latin typeface="Calibri"/>
              </a:rPr>
              <a:t>Changing ONE thing at a time</a:t>
            </a:r>
          </a:p>
          <a:p>
            <a:pPr algn="l">
              <a:lnSpc>
                <a:spcPct val="100000"/>
              </a:lnSpc>
              <a:spcAft>
                <a:spcPts val="800"/>
              </a:spcAft>
              <a:defRPr sz="2200" b="0">
                <a:solidFill>
                  <a:srgbClr val="222222"/>
                </a:solidFill>
                <a:latin typeface="Calibri"/>
              </a:defRPr>
            </a:pPr>
            <a:r>
              <a:rPr sz="2200" b="0">
                <a:solidFill>
                  <a:srgbClr val="222222"/>
                </a:solidFill>
                <a:latin typeface="Calibri"/>
              </a:rPr>
              <a:t>Measuring rather than guessing</a:t>
            </a:r>
          </a:p>
          <a:p>
            <a:pPr algn="l">
              <a:lnSpc>
                <a:spcPct val="100000"/>
              </a:lnSpc>
              <a:spcAft>
                <a:spcPts val="800"/>
              </a:spcAft>
              <a:defRPr sz="2200" b="0">
                <a:solidFill>
                  <a:srgbClr val="222222"/>
                </a:solidFill>
                <a:latin typeface="Calibri"/>
              </a:defRPr>
            </a:pPr>
            <a:r>
              <a:rPr sz="2200" b="0">
                <a:solidFill>
                  <a:srgbClr val="222222"/>
                </a:solidFill>
                <a:latin typeface="Calibri"/>
              </a:rPr>
              <a:t>Writing down what you measured</a:t>
            </a:r>
          </a:p>
          <a:p>
            <a:pPr algn="l">
              <a:lnSpc>
                <a:spcPct val="100000"/>
              </a:lnSpc>
              <a:spcAft>
                <a:spcPts val="800"/>
              </a:spcAft>
              <a:defRPr sz="2200" b="0">
                <a:solidFill>
                  <a:srgbClr val="222222"/>
                </a:solidFill>
                <a:latin typeface="Calibri"/>
              </a:defRPr>
            </a:pPr>
            <a:r>
              <a:rPr sz="2200" b="0">
                <a:solidFill>
                  <a:srgbClr val="222222"/>
                </a:solidFill>
                <a:latin typeface="Calibri"/>
              </a:rPr>
              <a:t>Mechanical, electrical or software?</a:t>
            </a:r>
          </a:p>
          <a:p>
            <a:pPr algn="l">
              <a:lnSpc>
                <a:spcPct val="100000"/>
              </a:lnSpc>
              <a:spcAft>
                <a:spcPts val="800"/>
              </a:spcAft>
              <a:defRPr sz="2200" b="0">
                <a:solidFill>
                  <a:srgbClr val="222222"/>
                </a:solidFill>
                <a:latin typeface="Calibri"/>
              </a:defRPr>
            </a:pPr>
            <a:r>
              <a:rPr sz="2200" b="0">
                <a:solidFill>
                  <a:srgbClr val="222222"/>
                </a:solidFill>
                <a:latin typeface="Calibri"/>
              </a:rPr>
              <a:t>Version control, so work is never lost</a:t>
            </a:r>
          </a:p>
        </p:txBody>
      </p:sp>
      <p:sp>
        <p:nvSpPr>
          <p:cNvPr id="10" name="Rounded Rectangle 9"/>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STEM is not four subjects. It is using math and science to build something that has to actually work.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The Pathfinder</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8</a:t>
            </a:r>
          </a:p>
        </p:txBody>
      </p:sp>
      <p:sp>
        <p:nvSpPr>
          <p:cNvPr id="6" name="TextBox 5"/>
          <p:cNvSpPr txBox="1"/>
          <p:nvPr/>
        </p:nvSpPr>
        <p:spPr>
          <a:xfrm>
            <a:off x="502920" y="1188720"/>
            <a:ext cx="11185855" cy="548640"/>
          </a:xfrm>
          <a:prstGeom prst="rect">
            <a:avLst/>
          </a:prstGeom>
          <a:noFill/>
        </p:spPr>
        <p:txBody>
          <a:bodyPr wrap="square" lIns="0" tIns="0" rIns="0" bIns="0">
            <a:spAutoFit/>
          </a:bodyPr>
          <a:lstStyle/>
          <a:p>
            <a:pPr algn="l">
              <a:lnSpc>
                <a:spcPct val="100000"/>
              </a:lnSpc>
              <a:spcAft>
                <a:spcPts val="200"/>
              </a:spcAft>
              <a:defRPr sz="1800" b="0">
                <a:solidFill>
                  <a:srgbClr val="222222"/>
                </a:solidFill>
                <a:latin typeface="Calibri"/>
              </a:defRPr>
            </a:pPr>
            <a:r>
              <a:rPr sz="1800" b="0">
                <a:solidFill>
                  <a:srgbClr val="222222"/>
                </a:solidFill>
                <a:latin typeface="Calibri"/>
              </a:rPr>
              <a:t>A fast, rugged, four-wheel-drive vehicle with an ESP32 computer, four independently driven motors, 32 programmable LEDs, four servo outputs and a rechargeable lithium battery.</a:t>
            </a:r>
          </a:p>
        </p:txBody>
      </p:sp>
      <p:pic>
        <p:nvPicPr>
          <p:cNvPr id="7" name="Picture 6" descr="vehicle-turn-signal-left.jpg"/>
          <p:cNvPicPr>
            <a:picLocks noChangeAspect="1"/>
          </p:cNvPicPr>
          <p:nvPr/>
        </p:nvPicPr>
        <p:blipFill>
          <a:blip r:embed="rId2"/>
          <a:stretch>
            <a:fillRect/>
          </a:stretch>
        </p:blipFill>
        <p:spPr>
          <a:xfrm>
            <a:off x="757351" y="1810512"/>
            <a:ext cx="4901184" cy="3675888"/>
          </a:xfrm>
          <a:prstGeom prst="rect">
            <a:avLst/>
          </a:prstGeom>
        </p:spPr>
      </p:pic>
      <p:pic>
        <p:nvPicPr>
          <p:cNvPr id="8" name="Picture 7" descr="vehicle-turn-signal-right.jpg"/>
          <p:cNvPicPr>
            <a:picLocks noChangeAspect="1"/>
          </p:cNvPicPr>
          <p:nvPr/>
        </p:nvPicPr>
        <p:blipFill>
          <a:blip r:embed="rId3"/>
          <a:stretch>
            <a:fillRect/>
          </a:stretch>
        </p:blipFill>
        <p:spPr>
          <a:xfrm>
            <a:off x="6533158" y="1810512"/>
            <a:ext cx="4901184" cy="3675888"/>
          </a:xfrm>
          <a:prstGeom prst="rect">
            <a:avLst/>
          </a:prstGeom>
        </p:spPr>
      </p:pic>
      <p:sp>
        <p:nvSpPr>
          <p:cNvPr id="9" name="TextBox 8"/>
          <p:cNvSpPr txBox="1"/>
          <p:nvPr/>
        </p:nvSpPr>
        <p:spPr>
          <a:xfrm>
            <a:off x="502920" y="5559552"/>
            <a:ext cx="5410047" cy="658368"/>
          </a:xfrm>
          <a:prstGeom prst="rect">
            <a:avLst/>
          </a:prstGeom>
          <a:noFill/>
        </p:spPr>
        <p:txBody>
          <a:bodyPr wrap="square" lIns="0" tIns="0" rIns="0" bIns="0">
            <a:spAutoFit/>
          </a:bodyPr>
          <a:lstStyle/>
          <a:p>
            <a:pPr algn="ctr">
              <a:lnSpc>
                <a:spcPct val="100000"/>
              </a:lnSpc>
              <a:spcAft>
                <a:spcPts val="200"/>
              </a:spcAft>
              <a:defRPr sz="1800" b="0">
                <a:solidFill>
                  <a:srgbClr val="666666"/>
                </a:solidFill>
                <a:latin typeface="Calibri"/>
              </a:defRPr>
            </a:pPr>
            <a:r>
              <a:rPr sz="1800" b="0">
                <a:solidFill>
                  <a:srgbClr val="666666"/>
                </a:solidFill>
                <a:latin typeface="Calibri"/>
              </a:rPr>
              <a:t>LEFT turn signal, from the front. The rear bar is lit on the same side at the same time.</a:t>
            </a:r>
          </a:p>
        </p:txBody>
      </p:sp>
      <p:sp>
        <p:nvSpPr>
          <p:cNvPr id="10" name="TextBox 9"/>
          <p:cNvSpPr txBox="1"/>
          <p:nvPr/>
        </p:nvSpPr>
        <p:spPr>
          <a:xfrm>
            <a:off x="6278727" y="5559552"/>
            <a:ext cx="5410047" cy="658368"/>
          </a:xfrm>
          <a:prstGeom prst="rect">
            <a:avLst/>
          </a:prstGeom>
          <a:noFill/>
        </p:spPr>
        <p:txBody>
          <a:bodyPr wrap="square" lIns="0" tIns="0" rIns="0" bIns="0">
            <a:spAutoFit/>
          </a:bodyPr>
          <a:lstStyle/>
          <a:p>
            <a:pPr algn="ctr">
              <a:lnSpc>
                <a:spcPct val="100000"/>
              </a:lnSpc>
              <a:spcAft>
                <a:spcPts val="200"/>
              </a:spcAft>
              <a:defRPr sz="1800" b="0">
                <a:solidFill>
                  <a:srgbClr val="666666"/>
                </a:solidFill>
                <a:latin typeface="Calibri"/>
              </a:defRPr>
            </a:pPr>
            <a:r>
              <a:rPr sz="1800" b="0">
                <a:solidFill>
                  <a:srgbClr val="666666"/>
                </a:solidFill>
                <a:latin typeface="Calibri"/>
              </a:rPr>
              <a:t>RIGHT turn signal. Same vehicle, same program, same 32 LEDs - the D-pad just went the other way.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What is on the vehicle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9</a:t>
            </a:r>
          </a:p>
        </p:txBody>
      </p:sp>
      <p:sp>
        <p:nvSpPr>
          <p:cNvPr id="6" name="TextBox 5"/>
          <p:cNvSpPr txBox="1"/>
          <p:nvPr/>
        </p:nvSpPr>
        <p:spPr>
          <a:xfrm>
            <a:off x="502920" y="1188720"/>
            <a:ext cx="11185855" cy="3986784"/>
          </a:xfrm>
          <a:prstGeom prst="rect">
            <a:avLst/>
          </a:prstGeom>
          <a:noFill/>
        </p:spPr>
        <p:txBody>
          <a:bodyPr wrap="square" lIns="0" tIns="0" rIns="0" bIns="0">
            <a:spAutoFit/>
          </a:bodyPr>
          <a:lstStyle/>
          <a:p>
            <a:pPr algn="l">
              <a:lnSpc>
                <a:spcPct val="100000"/>
              </a:lnSpc>
              <a:spcAft>
                <a:spcPts val="600"/>
              </a:spcAft>
              <a:defRPr sz="2600" b="0">
                <a:solidFill>
                  <a:srgbClr val="222222"/>
                </a:solidFill>
                <a:latin typeface="Calibri"/>
              </a:defRPr>
            </a:pPr>
            <a:r>
              <a:rPr sz="2600" b="0">
                <a:solidFill>
                  <a:srgbClr val="222222"/>
                </a:solidFill>
                <a:latin typeface="Calibri"/>
              </a:rPr>
              <a:t>ESP32 computer - a small, fast microcontroller with Bluetooth and Wi-Fi built in. Your program runs here.</a:t>
            </a:r>
          </a:p>
          <a:p>
            <a:pPr algn="l">
              <a:lnSpc>
                <a:spcPct val="100000"/>
              </a:lnSpc>
              <a:spcAft>
                <a:spcPts val="600"/>
              </a:spcAft>
              <a:defRPr sz="2600" b="0">
                <a:solidFill>
                  <a:srgbClr val="222222"/>
                </a:solidFill>
                <a:latin typeface="Calibri"/>
              </a:defRPr>
            </a:pPr>
            <a:r>
              <a:rPr sz="2600" b="0">
                <a:solidFill>
                  <a:srgbClr val="222222"/>
                </a:solidFill>
                <a:latin typeface="Calibri"/>
              </a:rPr>
              <a:t>Four brushed DC motors, each with its own DRV8871 H-bridge driver.</a:t>
            </a:r>
          </a:p>
          <a:p>
            <a:pPr algn="l">
              <a:lnSpc>
                <a:spcPct val="100000"/>
              </a:lnSpc>
              <a:spcAft>
                <a:spcPts val="600"/>
              </a:spcAft>
              <a:defRPr sz="2600" b="0">
                <a:solidFill>
                  <a:srgbClr val="222222"/>
                </a:solidFill>
                <a:latin typeface="Calibri"/>
              </a:defRPr>
            </a:pPr>
            <a:r>
              <a:rPr sz="2600" b="0">
                <a:solidFill>
                  <a:srgbClr val="222222"/>
                </a:solidFill>
                <a:latin typeface="Calibri"/>
              </a:rPr>
              <a:t>32 WS2812B addressable LEDs, in two bars of 16.</a:t>
            </a:r>
          </a:p>
          <a:p>
            <a:pPr algn="l">
              <a:lnSpc>
                <a:spcPct val="100000"/>
              </a:lnSpc>
              <a:spcAft>
                <a:spcPts val="600"/>
              </a:spcAft>
              <a:defRPr sz="2600" b="0">
                <a:solidFill>
                  <a:srgbClr val="222222"/>
                </a:solidFill>
                <a:latin typeface="Calibri"/>
              </a:defRPr>
            </a:pPr>
            <a:r>
              <a:rPr sz="2600" b="0">
                <a:solidFill>
                  <a:srgbClr val="222222"/>
                </a:solidFill>
                <a:latin typeface="Calibri"/>
              </a:rPr>
              <a:t>Four servo outputs on the control board.</a:t>
            </a:r>
          </a:p>
          <a:p>
            <a:pPr algn="l">
              <a:lnSpc>
                <a:spcPct val="100000"/>
              </a:lnSpc>
              <a:spcAft>
                <a:spcPts val="600"/>
              </a:spcAft>
              <a:defRPr sz="2600" b="0">
                <a:solidFill>
                  <a:srgbClr val="222222"/>
                </a:solidFill>
                <a:latin typeface="Calibri"/>
              </a:defRPr>
            </a:pPr>
            <a:r>
              <a:rPr sz="2600" b="0">
                <a:solidFill>
                  <a:srgbClr val="222222"/>
                </a:solidFill>
                <a:latin typeface="Calibri"/>
              </a:rPr>
              <a:t>A 4S 3300 mAh lithium polymer battery, about 16 volts charged.</a:t>
            </a:r>
          </a:p>
          <a:p>
            <a:pPr algn="l">
              <a:lnSpc>
                <a:spcPct val="100000"/>
              </a:lnSpc>
              <a:spcAft>
                <a:spcPts val="600"/>
              </a:spcAft>
              <a:defRPr sz="2600" b="0">
                <a:solidFill>
                  <a:srgbClr val="222222"/>
                </a:solidFill>
                <a:latin typeface="Calibri"/>
              </a:defRPr>
            </a:pPr>
            <a:r>
              <a:rPr sz="2600" b="0">
                <a:solidFill>
                  <a:srgbClr val="222222"/>
                </a:solidFill>
                <a:latin typeface="Calibri"/>
              </a:rPr>
              <a:t>A top plate with a breadboard area, for the sensors you add later.</a:t>
            </a:r>
          </a:p>
        </p:txBody>
      </p:sp>
      <p:sp>
        <p:nvSpPr>
          <p:cNvPr id="7" name="Rounded Rectangle 6"/>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No steering rack. It turns by driving one side faster than the other, like a tank. That matters from Lesson 2 onwards.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Every part, called out</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10</a:t>
            </a:r>
          </a:p>
        </p:txBody>
      </p:sp>
      <p:pic>
        <p:nvPicPr>
          <p:cNvPr id="6" name="Picture 5" descr="vehicle-parts-labeled.jpg"/>
          <p:cNvPicPr>
            <a:picLocks noChangeAspect="1"/>
          </p:cNvPicPr>
          <p:nvPr/>
        </p:nvPicPr>
        <p:blipFill>
          <a:blip r:embed="rId2"/>
          <a:stretch>
            <a:fillRect/>
          </a:stretch>
        </p:blipFill>
        <p:spPr>
          <a:xfrm>
            <a:off x="1581373" y="1188720"/>
            <a:ext cx="9028949" cy="4343400"/>
          </a:xfrm>
          <a:prstGeom prst="rect">
            <a:avLst/>
          </a:prstGeom>
        </p:spPr>
      </p:pic>
      <p:sp>
        <p:nvSpPr>
          <p:cNvPr id="7" name="TextBox 6"/>
          <p:cNvSpPr txBox="1"/>
          <p:nvPr/>
        </p:nvSpPr>
        <p:spPr>
          <a:xfrm>
            <a:off x="502920" y="5586984"/>
            <a:ext cx="11185855" cy="676656"/>
          </a:xfrm>
          <a:prstGeom prst="rect">
            <a:avLst/>
          </a:prstGeom>
          <a:noFill/>
        </p:spPr>
        <p:txBody>
          <a:bodyPr wrap="square" lIns="0" tIns="0" rIns="0" bIns="0">
            <a:spAutoFit/>
          </a:bodyPr>
          <a:lstStyle/>
          <a:p>
            <a:pPr algn="ctr">
              <a:lnSpc>
                <a:spcPct val="100000"/>
              </a:lnSpc>
              <a:spcAft>
                <a:spcPts val="600"/>
              </a:spcAft>
              <a:defRPr sz="1800" b="0">
                <a:solidFill>
                  <a:srgbClr val="666666"/>
                </a:solidFill>
                <a:latin typeface="Calibri"/>
              </a:defRPr>
            </a:pPr>
            <a:r>
              <a:rPr sz="1800" b="0">
                <a:solidFill>
                  <a:srgbClr val="666666"/>
                </a:solidFill>
                <a:latin typeface="Calibri"/>
              </a:rPr>
              <a:t>Keep this page open for the rest of the lesson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The board, from above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11</a:t>
            </a:r>
          </a:p>
        </p:txBody>
      </p:sp>
      <p:sp>
        <p:nvSpPr>
          <p:cNvPr id="6" name="TextBox 5"/>
          <p:cNvSpPr txBox="1"/>
          <p:nvPr/>
        </p:nvSpPr>
        <p:spPr>
          <a:xfrm>
            <a:off x="502920" y="1188720"/>
            <a:ext cx="11185855" cy="1005840"/>
          </a:xfrm>
          <a:prstGeom prst="rect">
            <a:avLst/>
          </a:prstGeom>
          <a:noFill/>
        </p:spPr>
        <p:txBody>
          <a:bodyPr wrap="square" lIns="0" tIns="0" rIns="0" bIns="0">
            <a:spAutoFit/>
          </a:bodyPr>
          <a:lstStyle/>
          <a:p>
            <a:pPr algn="l">
              <a:lnSpc>
                <a:spcPct val="100000"/>
              </a:lnSpc>
              <a:spcAft>
                <a:spcPts val="200"/>
              </a:spcAft>
              <a:defRPr sz="1800" b="0">
                <a:solidFill>
                  <a:srgbClr val="222222"/>
                </a:solidFill>
                <a:latin typeface="Calibri"/>
              </a:defRPr>
            </a:pPr>
            <a:r>
              <a:rPr sz="1800" b="0">
                <a:solidFill>
                  <a:srgbClr val="222222"/>
                </a:solidFill>
                <a:latin typeface="Calibri"/>
              </a:rPr>
              <a:t>One board carries the computer, the four motor drivers, the servo outputs and the LED connectors. The battery sits in the middle of it.</a:t>
            </a:r>
          </a:p>
        </p:txBody>
      </p:sp>
      <p:pic>
        <p:nvPicPr>
          <p:cNvPr id="7" name="Picture 6" descr="vehicle-basic-layout.jpg"/>
          <p:cNvPicPr>
            <a:picLocks noChangeAspect="1"/>
          </p:cNvPicPr>
          <p:nvPr/>
        </p:nvPicPr>
        <p:blipFill>
          <a:blip r:embed="rId2"/>
          <a:stretch>
            <a:fillRect/>
          </a:stretch>
        </p:blipFill>
        <p:spPr>
          <a:xfrm>
            <a:off x="2702863" y="2267712"/>
            <a:ext cx="6785968" cy="3264408"/>
          </a:xfrm>
          <a:prstGeom prst="rect">
            <a:avLst/>
          </a:prstGeom>
        </p:spPr>
      </p:pic>
      <p:sp>
        <p:nvSpPr>
          <p:cNvPr id="8" name="TextBox 7"/>
          <p:cNvSpPr txBox="1"/>
          <p:nvPr/>
        </p:nvSpPr>
        <p:spPr>
          <a:xfrm>
            <a:off x="502920" y="5586984"/>
            <a:ext cx="11185855" cy="676656"/>
          </a:xfrm>
          <a:prstGeom prst="rect">
            <a:avLst/>
          </a:prstGeom>
          <a:noFill/>
        </p:spPr>
        <p:txBody>
          <a:bodyPr wrap="square" lIns="0" tIns="0" rIns="0" bIns="0">
            <a:spAutoFit/>
          </a:bodyPr>
          <a:lstStyle/>
          <a:p>
            <a:pPr algn="ctr">
              <a:lnSpc>
                <a:spcPct val="100000"/>
              </a:lnSpc>
              <a:spcAft>
                <a:spcPts val="600"/>
              </a:spcAft>
              <a:defRPr sz="1800" b="0">
                <a:solidFill>
                  <a:srgbClr val="666666"/>
                </a:solidFill>
                <a:latin typeface="Calibri"/>
              </a:defRPr>
            </a:pPr>
            <a:r>
              <a:rPr sz="1800" b="0">
                <a:solidFill>
                  <a:srgbClr val="666666"/>
                </a:solidFill>
                <a:latin typeface="Calibri"/>
              </a:rPr>
              <a:t>Every connector, and which lights sit at which corner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The top plate is where your own work goes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12</a:t>
            </a:r>
          </a:p>
        </p:txBody>
      </p:sp>
      <p:pic>
        <p:nvPicPr>
          <p:cNvPr id="6" name="Picture 5" descr="vehicle-dev-system-labeled.jpg"/>
          <p:cNvPicPr>
            <a:picLocks noChangeAspect="1"/>
          </p:cNvPicPr>
          <p:nvPr/>
        </p:nvPicPr>
        <p:blipFill>
          <a:blip r:embed="rId2"/>
          <a:stretch>
            <a:fillRect/>
          </a:stretch>
        </p:blipFill>
        <p:spPr>
          <a:xfrm>
            <a:off x="1154942" y="1188720"/>
            <a:ext cx="9881810" cy="4343400"/>
          </a:xfrm>
          <a:prstGeom prst="rect">
            <a:avLst/>
          </a:prstGeom>
        </p:spPr>
      </p:pic>
      <p:sp>
        <p:nvSpPr>
          <p:cNvPr id="7" name="TextBox 6"/>
          <p:cNvSpPr txBox="1"/>
          <p:nvPr/>
        </p:nvSpPr>
        <p:spPr>
          <a:xfrm>
            <a:off x="502920" y="5586984"/>
            <a:ext cx="11185855" cy="676656"/>
          </a:xfrm>
          <a:prstGeom prst="rect">
            <a:avLst/>
          </a:prstGeom>
          <a:noFill/>
        </p:spPr>
        <p:txBody>
          <a:bodyPr wrap="square" lIns="0" tIns="0" rIns="0" bIns="0">
            <a:spAutoFit/>
          </a:bodyPr>
          <a:lstStyle/>
          <a:p>
            <a:pPr algn="ctr">
              <a:lnSpc>
                <a:spcPct val="100000"/>
              </a:lnSpc>
              <a:spcAft>
                <a:spcPts val="600"/>
              </a:spcAft>
              <a:defRPr sz="1800" b="0">
                <a:solidFill>
                  <a:srgbClr val="666666"/>
                </a:solidFill>
                <a:latin typeface="Calibri"/>
              </a:defRPr>
            </a:pPr>
            <a:r>
              <a:rPr sz="1800" b="0">
                <a:solidFill>
                  <a:srgbClr val="666666"/>
                </a:solidFill>
                <a:latin typeface="Calibri"/>
              </a:rPr>
              <a:t>A cutout for the ESP32 pins, and clear space for a breadboard, sensors and servos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Safety, and looking after the vehicle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13</a:t>
            </a:r>
          </a:p>
        </p:txBody>
      </p:sp>
      <p:sp>
        <p:nvSpPr>
          <p:cNvPr id="6" name="TextBox 5"/>
          <p:cNvSpPr txBox="1"/>
          <p:nvPr/>
        </p:nvSpPr>
        <p:spPr>
          <a:xfrm>
            <a:off x="502920" y="1188720"/>
            <a:ext cx="11185855" cy="3986784"/>
          </a:xfrm>
          <a:prstGeom prst="rect">
            <a:avLst/>
          </a:prstGeom>
          <a:noFill/>
        </p:spPr>
        <p:txBody>
          <a:bodyPr wrap="square" lIns="0" tIns="0" rIns="0" bIns="0">
            <a:spAutoFit/>
          </a:bodyPr>
          <a:lstStyle/>
          <a:p>
            <a:pPr algn="l">
              <a:lnSpc>
                <a:spcPct val="100000"/>
              </a:lnSpc>
              <a:spcAft>
                <a:spcPts val="600"/>
              </a:spcAft>
              <a:defRPr sz="2000" b="0">
                <a:solidFill>
                  <a:srgbClr val="222222"/>
                </a:solidFill>
                <a:latin typeface="Calibri"/>
              </a:defRPr>
            </a:pPr>
            <a:r>
              <a:rPr sz="2000" b="0">
                <a:solidFill>
                  <a:srgbClr val="222222"/>
                </a:solidFill>
                <a:latin typeface="Calibri"/>
              </a:rPr>
              <a:t>LITHIUM BATTERIES. 4S, 3300 mAh, about 16 volts and a lot of stored energy. Never puncture, crush or short one. If a pack is swollen, hot, or has been dropped hard, stop and tell an instructor.</a:t>
            </a:r>
          </a:p>
          <a:p>
            <a:pPr algn="l">
              <a:lnSpc>
                <a:spcPct val="100000"/>
              </a:lnSpc>
              <a:spcAft>
                <a:spcPts val="600"/>
              </a:spcAft>
              <a:defRPr sz="2000" b="0">
                <a:solidFill>
                  <a:srgbClr val="222222"/>
                </a:solidFill>
                <a:latin typeface="Calibri"/>
              </a:defRPr>
            </a:pPr>
            <a:r>
              <a:rPr sz="2000" b="0">
                <a:solidFill>
                  <a:srgbClr val="222222"/>
                </a:solidFill>
                <a:latin typeface="Calibri"/>
              </a:rPr>
              <a:t>Charge only on the bench, only supervised, and never leave a charging pack unattended.</a:t>
            </a:r>
          </a:p>
          <a:p>
            <a:pPr algn="l">
              <a:lnSpc>
                <a:spcPct val="100000"/>
              </a:lnSpc>
              <a:spcAft>
                <a:spcPts val="600"/>
              </a:spcAft>
              <a:defRPr sz="2000" b="0">
                <a:solidFill>
                  <a:srgbClr val="222222"/>
                </a:solidFill>
                <a:latin typeface="Calibri"/>
              </a:defRPr>
            </a:pPr>
            <a:r>
              <a:rPr sz="2000" b="0">
                <a:solidFill>
                  <a:srgbClr val="222222"/>
                </a:solidFill>
                <a:latin typeface="Calibri"/>
              </a:rPr>
              <a:t>WHEELS OFF THE GROUND when you upload a change for the first time. A vehicle on a block cannot drive off the desk.</a:t>
            </a:r>
          </a:p>
          <a:p>
            <a:pPr algn="l">
              <a:lnSpc>
                <a:spcPct val="100000"/>
              </a:lnSpc>
              <a:spcAft>
                <a:spcPts val="600"/>
              </a:spcAft>
              <a:defRPr sz="2000" b="0">
                <a:solidFill>
                  <a:srgbClr val="222222"/>
                </a:solidFill>
                <a:latin typeface="Calibri"/>
              </a:defRPr>
            </a:pPr>
            <a:r>
              <a:rPr sz="2000" b="0">
                <a:solidFill>
                  <a:srgbClr val="222222"/>
                </a:solidFill>
                <a:latin typeface="Calibri"/>
              </a:rPr>
              <a:t>Keep fingers, hair, sleeves and USB cables away from the wheels.</a:t>
            </a:r>
          </a:p>
          <a:p>
            <a:pPr algn="l">
              <a:lnSpc>
                <a:spcPct val="100000"/>
              </a:lnSpc>
              <a:spcAft>
                <a:spcPts val="600"/>
              </a:spcAft>
              <a:defRPr sz="2000" b="0">
                <a:solidFill>
                  <a:srgbClr val="222222"/>
                </a:solidFill>
                <a:latin typeface="Calibri"/>
              </a:defRPr>
            </a:pPr>
            <a:r>
              <a:rPr sz="2000" b="0">
                <a:solidFill>
                  <a:srgbClr val="222222"/>
                </a:solidFill>
                <a:latin typeface="Calibri"/>
              </a:rPr>
              <a:t>Know where your power switch is BEFORE you start a program that drives.</a:t>
            </a:r>
          </a:p>
          <a:p>
            <a:pPr algn="l">
              <a:lnSpc>
                <a:spcPct val="100000"/>
              </a:lnSpc>
              <a:spcAft>
                <a:spcPts val="600"/>
              </a:spcAft>
              <a:defRPr sz="2000" b="0">
                <a:solidFill>
                  <a:srgbClr val="222222"/>
                </a:solidFill>
                <a:latin typeface="Calibri"/>
              </a:defRPr>
            </a:pPr>
            <a:r>
              <a:rPr sz="2000" b="0">
                <a:solidFill>
                  <a:srgbClr val="222222"/>
                </a:solidFill>
                <a:latin typeface="Calibri"/>
              </a:rPr>
              <a:t>Do not stare into the LEDs at full brightness from close up.</a:t>
            </a:r>
          </a:p>
          <a:p>
            <a:pPr algn="l">
              <a:lnSpc>
                <a:spcPct val="100000"/>
              </a:lnSpc>
              <a:spcAft>
                <a:spcPts val="600"/>
              </a:spcAft>
              <a:defRPr sz="2000" b="0">
                <a:solidFill>
                  <a:srgbClr val="222222"/>
                </a:solidFill>
                <a:latin typeface="Calibri"/>
              </a:defRPr>
            </a:pPr>
            <a:r>
              <a:rPr sz="2000" b="0">
                <a:solidFill>
                  <a:srgbClr val="222222"/>
                </a:solidFill>
                <a:latin typeface="Calibri"/>
              </a:rPr>
              <a:t>Carry the vehicle by the base plate, not by the top plate or the wires.</a:t>
            </a:r>
          </a:p>
        </p:txBody>
      </p:sp>
      <p:sp>
        <p:nvSpPr>
          <p:cNvPr id="7" name="Rounded Rectangle 6"/>
          <p:cNvSpPr/>
          <p:nvPr/>
        </p:nvSpPr>
        <p:spPr>
          <a:xfrm>
            <a:off x="502920" y="5303520"/>
            <a:ext cx="11185855" cy="960120"/>
          </a:xfrm>
          <a:prstGeom prst="roundRect">
            <a:avLst>
              <a:gd name="adj" fmla="val 4000"/>
            </a:avLst>
          </a:prstGeom>
          <a:solidFill>
            <a:srgbClr val="FBECEC"/>
          </a:solidFill>
          <a:ln w="12700">
            <a:solidFill>
              <a:srgbClr val="A32A2A"/>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A32A2A"/>
                </a:solidFill>
                <a:latin typeface="Calibri"/>
              </a:rPr>
              <a:t>SAFETY   </a:t>
            </a:r>
            <a:r>
              <a:rPr sz="1800">
                <a:solidFill>
                  <a:srgbClr val="222222"/>
                </a:solidFill>
                <a:latin typeface="Calibri"/>
              </a:rPr>
              <a:t>Everything in Lesson 2 onwards moves. This page stops being theoretical next lesson.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Three generations of Pathfinder</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14</a:t>
            </a:r>
          </a:p>
        </p:txBody>
      </p:sp>
      <p:sp>
        <p:nvSpPr>
          <p:cNvPr id="6" name="TextBox 5"/>
          <p:cNvSpPr txBox="1"/>
          <p:nvPr/>
        </p:nvSpPr>
        <p:spPr>
          <a:xfrm>
            <a:off x="502920" y="1188720"/>
            <a:ext cx="11185855" cy="548640"/>
          </a:xfrm>
          <a:prstGeom prst="rect">
            <a:avLst/>
          </a:prstGeom>
          <a:noFill/>
        </p:spPr>
        <p:txBody>
          <a:bodyPr wrap="square" lIns="0" tIns="0" rIns="0" bIns="0">
            <a:spAutoFit/>
          </a:bodyPr>
          <a:lstStyle/>
          <a:p>
            <a:pPr algn="l">
              <a:lnSpc>
                <a:spcPct val="100000"/>
              </a:lnSpc>
              <a:spcAft>
                <a:spcPts val="600"/>
              </a:spcAft>
              <a:defRPr sz="1800" b="0">
                <a:solidFill>
                  <a:srgbClr val="222222"/>
                </a:solidFill>
                <a:latin typeface="Calibri"/>
              </a:defRPr>
            </a:pPr>
            <a:r>
              <a:rPr sz="1800" b="0">
                <a:solidFill>
                  <a:srgbClr val="222222"/>
                </a:solidFill>
                <a:latin typeface="Calibri"/>
              </a:rPr>
              <a:t>The vehicle has been through three designs. The program you write today runs on the last two.</a:t>
            </a:r>
          </a:p>
        </p:txBody>
      </p:sp>
      <p:pic>
        <p:nvPicPr>
          <p:cNvPr id="7" name="Picture 6" descr="vehicle-gen1-and-gen2.jpg"/>
          <p:cNvPicPr>
            <a:picLocks noChangeAspect="1"/>
          </p:cNvPicPr>
          <p:nvPr/>
        </p:nvPicPr>
        <p:blipFill>
          <a:blip r:embed="rId2"/>
          <a:stretch>
            <a:fillRect/>
          </a:stretch>
        </p:blipFill>
        <p:spPr>
          <a:xfrm>
            <a:off x="502920" y="2421051"/>
            <a:ext cx="5410047" cy="2454809"/>
          </a:xfrm>
          <a:prstGeom prst="rect">
            <a:avLst/>
          </a:prstGeom>
        </p:spPr>
      </p:pic>
      <p:pic>
        <p:nvPicPr>
          <p:cNvPr id="8" name="Picture 7" descr="vehicle-gen3-top.jpg"/>
          <p:cNvPicPr>
            <a:picLocks noChangeAspect="1"/>
          </p:cNvPicPr>
          <p:nvPr/>
        </p:nvPicPr>
        <p:blipFill>
          <a:blip r:embed="rId3"/>
          <a:stretch>
            <a:fillRect/>
          </a:stretch>
        </p:blipFill>
        <p:spPr>
          <a:xfrm>
            <a:off x="6533158" y="1810512"/>
            <a:ext cx="4901184" cy="3675888"/>
          </a:xfrm>
          <a:prstGeom prst="rect">
            <a:avLst/>
          </a:prstGeom>
        </p:spPr>
      </p:pic>
      <p:sp>
        <p:nvSpPr>
          <p:cNvPr id="9" name="TextBox 8"/>
          <p:cNvSpPr txBox="1"/>
          <p:nvPr/>
        </p:nvSpPr>
        <p:spPr>
          <a:xfrm>
            <a:off x="502920" y="5559552"/>
            <a:ext cx="5410047" cy="658368"/>
          </a:xfrm>
          <a:prstGeom prst="rect">
            <a:avLst/>
          </a:prstGeom>
          <a:noFill/>
        </p:spPr>
        <p:txBody>
          <a:bodyPr wrap="square" lIns="0" tIns="0" rIns="0" bIns="0">
            <a:spAutoFit/>
          </a:bodyPr>
          <a:lstStyle/>
          <a:p>
            <a:pPr algn="ctr">
              <a:lnSpc>
                <a:spcPct val="100000"/>
              </a:lnSpc>
              <a:spcAft>
                <a:spcPts val="200"/>
              </a:spcAft>
              <a:defRPr sz="1800" b="0">
                <a:solidFill>
                  <a:srgbClr val="666666"/>
                </a:solidFill>
                <a:latin typeface="Calibri"/>
              </a:defRPr>
            </a:pPr>
            <a:r>
              <a:rPr sz="1800" b="0">
                <a:solidFill>
                  <a:srgbClr val="666666"/>
                </a:solidFill>
                <a:latin typeface="Calibri"/>
              </a:rPr>
              <a:t>Gen 1 and Gen 2  -  an open chassis, board and battery on top</a:t>
            </a:r>
          </a:p>
        </p:txBody>
      </p:sp>
      <p:sp>
        <p:nvSpPr>
          <p:cNvPr id="10" name="TextBox 9"/>
          <p:cNvSpPr txBox="1"/>
          <p:nvPr/>
        </p:nvSpPr>
        <p:spPr>
          <a:xfrm>
            <a:off x="6278727" y="5559552"/>
            <a:ext cx="5410047" cy="658368"/>
          </a:xfrm>
          <a:prstGeom prst="rect">
            <a:avLst/>
          </a:prstGeom>
          <a:noFill/>
        </p:spPr>
        <p:txBody>
          <a:bodyPr wrap="square" lIns="0" tIns="0" rIns="0" bIns="0">
            <a:spAutoFit/>
          </a:bodyPr>
          <a:lstStyle/>
          <a:p>
            <a:pPr algn="ctr">
              <a:lnSpc>
                <a:spcPct val="100000"/>
              </a:lnSpc>
              <a:spcAft>
                <a:spcPts val="200"/>
              </a:spcAft>
              <a:defRPr sz="1800" b="0">
                <a:solidFill>
                  <a:srgbClr val="666666"/>
                </a:solidFill>
                <a:latin typeface="Calibri"/>
              </a:defRPr>
            </a:pPr>
            <a:r>
              <a:rPr sz="1800" b="0">
                <a:solidFill>
                  <a:srgbClr val="666666"/>
                </a:solidFill>
                <a:latin typeface="Calibri"/>
              </a:rPr>
              <a:t>Gen 3  -  one piece, everything inside, a clear top plate to build 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Gen 2 and Gen 3  -  which vehicle are you holding?</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15</a:t>
            </a:r>
          </a:p>
        </p:txBody>
      </p:sp>
      <p:sp>
        <p:nvSpPr>
          <p:cNvPr id="6" name="TextBox 5"/>
          <p:cNvSpPr txBox="1"/>
          <p:nvPr/>
        </p:nvSpPr>
        <p:spPr>
          <a:xfrm>
            <a:off x="502920" y="1188720"/>
            <a:ext cx="4278540" cy="457200"/>
          </a:xfrm>
          <a:prstGeom prst="rect">
            <a:avLst/>
          </a:prstGeom>
          <a:noFill/>
        </p:spPr>
        <p:txBody>
          <a:bodyPr wrap="square" lIns="0" tIns="0" rIns="0" bIns="0">
            <a:spAutoFit/>
          </a:bodyPr>
          <a:lstStyle/>
          <a:p>
            <a:pPr algn="l">
              <a:lnSpc>
                <a:spcPct val="100000"/>
              </a:lnSpc>
              <a:spcAft>
                <a:spcPts val="300"/>
              </a:spcAft>
              <a:defRPr sz="1900" b="1">
                <a:solidFill>
                  <a:srgbClr val="0E7C86"/>
                </a:solidFill>
                <a:latin typeface="Calibri"/>
              </a:defRPr>
            </a:pPr>
            <a:r>
              <a:rPr sz="1900" b="1">
                <a:solidFill>
                  <a:srgbClr val="0E7C86"/>
                </a:solidFill>
                <a:latin typeface="Calibri"/>
              </a:rPr>
              <a:t>Gen 2</a:t>
            </a:r>
          </a:p>
        </p:txBody>
      </p:sp>
      <p:sp>
        <p:nvSpPr>
          <p:cNvPr id="7" name="TextBox 6"/>
          <p:cNvSpPr txBox="1"/>
          <p:nvPr/>
        </p:nvSpPr>
        <p:spPr>
          <a:xfrm>
            <a:off x="502920" y="1700784"/>
            <a:ext cx="4278540" cy="3474720"/>
          </a:xfrm>
          <a:prstGeom prst="rect">
            <a:avLst/>
          </a:prstGeom>
          <a:noFill/>
        </p:spPr>
        <p:txBody>
          <a:bodyPr wrap="square" lIns="0" tIns="0" rIns="0" bIns="0">
            <a:spAutoFit/>
          </a:bodyPr>
          <a:lstStyle/>
          <a:p>
            <a:pPr algn="l">
              <a:lnSpc>
                <a:spcPct val="100000"/>
              </a:lnSpc>
              <a:spcAft>
                <a:spcPts val="800"/>
              </a:spcAft>
              <a:defRPr sz="2200" b="0">
                <a:solidFill>
                  <a:srgbClr val="222222"/>
                </a:solidFill>
                <a:latin typeface="Calibri"/>
              </a:defRPr>
            </a:pPr>
            <a:r>
              <a:rPr sz="2200" b="0">
                <a:solidFill>
                  <a:srgbClr val="222222"/>
                </a:solidFill>
                <a:latin typeface="Calibri"/>
              </a:rPr>
              <a:t>Most of the fleet.</a:t>
            </a:r>
          </a:p>
          <a:p>
            <a:pPr algn="l">
              <a:lnSpc>
                <a:spcPct val="100000"/>
              </a:lnSpc>
              <a:spcAft>
                <a:spcPts val="800"/>
              </a:spcAft>
              <a:defRPr sz="2200" b="0">
                <a:solidFill>
                  <a:srgbClr val="222222"/>
                </a:solidFill>
                <a:latin typeface="Calibri"/>
              </a:defRPr>
            </a:pPr>
            <a:r>
              <a:rPr sz="2200" b="0">
                <a:solidFill>
                  <a:srgbClr val="222222"/>
                </a:solidFill>
                <a:latin typeface="Calibri"/>
              </a:rPr>
              <a:t>ESP32, four DRV8871 H-bridges, 32 LEDs, four servo outputs.</a:t>
            </a:r>
          </a:p>
          <a:p>
            <a:pPr algn="l">
              <a:lnSpc>
                <a:spcPct val="100000"/>
              </a:lnSpc>
              <a:spcAft>
                <a:spcPts val="800"/>
              </a:spcAft>
              <a:defRPr sz="2200" b="0">
                <a:solidFill>
                  <a:srgbClr val="222222"/>
                </a:solidFill>
                <a:latin typeface="Calibri"/>
              </a:defRPr>
            </a:pPr>
            <a:r>
              <a:rPr sz="2200" b="0">
                <a:solidFill>
                  <a:srgbClr val="222222"/>
                </a:solidFill>
                <a:latin typeface="Calibri"/>
              </a:rPr>
              <a:t>No current sensor.</a:t>
            </a:r>
          </a:p>
          <a:p>
            <a:pPr algn="l">
              <a:lnSpc>
                <a:spcPct val="100000"/>
              </a:lnSpc>
              <a:spcAft>
                <a:spcPts val="800"/>
              </a:spcAft>
              <a:defRPr sz="2200" b="0">
                <a:solidFill>
                  <a:srgbClr val="222222"/>
                </a:solidFill>
                <a:latin typeface="Calibri"/>
              </a:defRPr>
            </a:pPr>
            <a:r>
              <a:rPr sz="2200" b="0">
                <a:solidFill>
                  <a:srgbClr val="222222"/>
                </a:solidFill>
                <a:latin typeface="Calibri"/>
              </a:rPr>
              <a:t>Everything in this course works on it.</a:t>
            </a:r>
          </a:p>
        </p:txBody>
      </p:sp>
      <p:sp>
        <p:nvSpPr>
          <p:cNvPr id="8" name="TextBox 7"/>
          <p:cNvSpPr txBox="1"/>
          <p:nvPr/>
        </p:nvSpPr>
        <p:spPr>
          <a:xfrm>
            <a:off x="5238660" y="1188720"/>
            <a:ext cx="6450115" cy="457200"/>
          </a:xfrm>
          <a:prstGeom prst="rect">
            <a:avLst/>
          </a:prstGeom>
          <a:noFill/>
        </p:spPr>
        <p:txBody>
          <a:bodyPr wrap="square" lIns="0" tIns="0" rIns="0" bIns="0">
            <a:spAutoFit/>
          </a:bodyPr>
          <a:lstStyle/>
          <a:p>
            <a:pPr algn="l">
              <a:lnSpc>
                <a:spcPct val="100000"/>
              </a:lnSpc>
              <a:spcAft>
                <a:spcPts val="300"/>
              </a:spcAft>
              <a:defRPr sz="1900" b="1">
                <a:solidFill>
                  <a:srgbClr val="0E7C86"/>
                </a:solidFill>
                <a:latin typeface="Calibri"/>
              </a:defRPr>
            </a:pPr>
            <a:r>
              <a:rPr sz="1900" b="1">
                <a:solidFill>
                  <a:srgbClr val="0E7C86"/>
                </a:solidFill>
                <a:latin typeface="Calibri"/>
              </a:rPr>
              <a:t>Gen 3</a:t>
            </a:r>
          </a:p>
        </p:txBody>
      </p:sp>
      <p:sp>
        <p:nvSpPr>
          <p:cNvPr id="9" name="TextBox 8"/>
          <p:cNvSpPr txBox="1"/>
          <p:nvPr/>
        </p:nvSpPr>
        <p:spPr>
          <a:xfrm>
            <a:off x="5238660" y="1700784"/>
            <a:ext cx="6450115" cy="3474720"/>
          </a:xfrm>
          <a:prstGeom prst="rect">
            <a:avLst/>
          </a:prstGeom>
          <a:noFill/>
        </p:spPr>
        <p:txBody>
          <a:bodyPr wrap="square" lIns="0" tIns="0" rIns="0" bIns="0">
            <a:spAutoFit/>
          </a:bodyPr>
          <a:lstStyle/>
          <a:p>
            <a:pPr algn="l">
              <a:lnSpc>
                <a:spcPct val="100000"/>
              </a:lnSpc>
              <a:spcAft>
                <a:spcPts val="800"/>
              </a:spcAft>
              <a:defRPr sz="2200" b="0">
                <a:solidFill>
                  <a:srgbClr val="222222"/>
                </a:solidFill>
                <a:latin typeface="Calibri"/>
              </a:defRPr>
            </a:pPr>
            <a:r>
              <a:rPr sz="2200" b="0">
                <a:solidFill>
                  <a:srgbClr val="222222"/>
                </a:solidFill>
                <a:latin typeface="Calibri"/>
              </a:rPr>
              <a:t>A UNIBODY frame: one piece, with the board, battery and wiring inside it rather than on top.</a:t>
            </a:r>
          </a:p>
          <a:p>
            <a:pPr algn="l">
              <a:lnSpc>
                <a:spcPct val="100000"/>
              </a:lnSpc>
              <a:spcAft>
                <a:spcPts val="800"/>
              </a:spcAft>
              <a:defRPr sz="2200" b="0">
                <a:solidFill>
                  <a:srgbClr val="222222"/>
                </a:solidFill>
                <a:latin typeface="Calibri"/>
              </a:defRPr>
            </a:pPr>
            <a:r>
              <a:rPr sz="2200" b="0">
                <a:solidFill>
                  <a:srgbClr val="222222"/>
                </a:solidFill>
                <a:latin typeface="Calibri"/>
              </a:rPr>
              <a:t>Wheels at the vehicle's VERTICAL CENTER, so it drives just as well upside down.</a:t>
            </a:r>
          </a:p>
          <a:p>
            <a:pPr algn="l">
              <a:lnSpc>
                <a:spcPct val="100000"/>
              </a:lnSpc>
              <a:spcAft>
                <a:spcPts val="800"/>
              </a:spcAft>
              <a:defRPr sz="2200" b="0">
                <a:solidFill>
                  <a:srgbClr val="222222"/>
                </a:solidFill>
                <a:latin typeface="Calibri"/>
              </a:defRPr>
            </a:pPr>
            <a:r>
              <a:rPr sz="2200" b="0">
                <a:solidFill>
                  <a:srgbClr val="222222"/>
                </a:solidFill>
                <a:latin typeface="Calibri"/>
              </a:rPr>
              <a:t>A clear lexan TOP PLATE to mount sensors on.</a:t>
            </a:r>
          </a:p>
          <a:p>
            <a:pPr algn="l">
              <a:lnSpc>
                <a:spcPct val="100000"/>
              </a:lnSpc>
              <a:spcAft>
                <a:spcPts val="800"/>
              </a:spcAft>
              <a:defRPr sz="2200" b="0">
                <a:solidFill>
                  <a:srgbClr val="222222"/>
                </a:solidFill>
                <a:latin typeface="Calibri"/>
              </a:defRPr>
            </a:pPr>
            <a:r>
              <a:rPr sz="2200" b="0">
                <a:solidFill>
                  <a:srgbClr val="222222"/>
                </a:solidFill>
                <a:latin typeface="Calibri"/>
              </a:rPr>
              <a:t>An INA219 power monitor, so it can measure its own voltage and current - which is what makes a self-test possible.</a:t>
            </a:r>
          </a:p>
        </p:txBody>
      </p:sp>
      <p:sp>
        <p:nvSpPr>
          <p:cNvPr id="10" name="Rounded Rectangle 9"/>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The programs detect which one they are running on at boot, by looking for the sensor. One program, either vehicle - you do not have to know which you have before you upload.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Gen 3, in two pictures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16</a:t>
            </a:r>
          </a:p>
        </p:txBody>
      </p:sp>
      <p:sp>
        <p:nvSpPr>
          <p:cNvPr id="6" name="TextBox 5"/>
          <p:cNvSpPr txBox="1"/>
          <p:nvPr/>
        </p:nvSpPr>
        <p:spPr>
          <a:xfrm>
            <a:off x="502920" y="1188720"/>
            <a:ext cx="11185855" cy="548640"/>
          </a:xfrm>
          <a:prstGeom prst="rect">
            <a:avLst/>
          </a:prstGeom>
          <a:noFill/>
        </p:spPr>
        <p:txBody>
          <a:bodyPr wrap="square" lIns="0" tIns="0" rIns="0" bIns="0">
            <a:spAutoFit/>
          </a:bodyPr>
          <a:lstStyle/>
          <a:p>
            <a:pPr algn="l">
              <a:lnSpc>
                <a:spcPct val="100000"/>
              </a:lnSpc>
              <a:spcAft>
                <a:spcPts val="600"/>
              </a:spcAft>
              <a:defRPr sz="1800" b="0">
                <a:solidFill>
                  <a:srgbClr val="222222"/>
                </a:solidFill>
                <a:latin typeface="Calibri"/>
              </a:defRPr>
            </a:pPr>
            <a:r>
              <a:rPr sz="1800" b="0">
                <a:solidFill>
                  <a:srgbClr val="222222"/>
                </a:solidFill>
                <a:latin typeface="Calibri"/>
              </a:rPr>
              <a:t>The two things that make a Gen 3 different are easiest to show rather than describe.</a:t>
            </a:r>
          </a:p>
        </p:txBody>
      </p:sp>
      <p:pic>
        <p:nvPicPr>
          <p:cNvPr id="7" name="Picture 6" descr="vehicle-gen3-top.jpg"/>
          <p:cNvPicPr>
            <a:picLocks noChangeAspect="1"/>
          </p:cNvPicPr>
          <p:nvPr/>
        </p:nvPicPr>
        <p:blipFill>
          <a:blip r:embed="rId2"/>
          <a:stretch>
            <a:fillRect/>
          </a:stretch>
        </p:blipFill>
        <p:spPr>
          <a:xfrm>
            <a:off x="757351" y="1810512"/>
            <a:ext cx="4901184" cy="3675888"/>
          </a:xfrm>
          <a:prstGeom prst="rect">
            <a:avLst/>
          </a:prstGeom>
        </p:spPr>
      </p:pic>
      <p:pic>
        <p:nvPicPr>
          <p:cNvPr id="8" name="Picture 7" descr="vehicle-gen3-upside-down.jpg"/>
          <p:cNvPicPr>
            <a:picLocks noChangeAspect="1"/>
          </p:cNvPicPr>
          <p:nvPr/>
        </p:nvPicPr>
        <p:blipFill>
          <a:blip r:embed="rId3"/>
          <a:stretch>
            <a:fillRect/>
          </a:stretch>
        </p:blipFill>
        <p:spPr>
          <a:xfrm>
            <a:off x="6402886" y="1810512"/>
            <a:ext cx="5161728" cy="3675888"/>
          </a:xfrm>
          <a:prstGeom prst="rect">
            <a:avLst/>
          </a:prstGeom>
        </p:spPr>
      </p:pic>
      <p:sp>
        <p:nvSpPr>
          <p:cNvPr id="9" name="TextBox 8"/>
          <p:cNvSpPr txBox="1"/>
          <p:nvPr/>
        </p:nvSpPr>
        <p:spPr>
          <a:xfrm>
            <a:off x="502920" y="5559552"/>
            <a:ext cx="5410047" cy="658368"/>
          </a:xfrm>
          <a:prstGeom prst="rect">
            <a:avLst/>
          </a:prstGeom>
          <a:noFill/>
        </p:spPr>
        <p:txBody>
          <a:bodyPr wrap="square" lIns="0" tIns="0" rIns="0" bIns="0">
            <a:spAutoFit/>
          </a:bodyPr>
          <a:lstStyle/>
          <a:p>
            <a:pPr algn="ctr">
              <a:lnSpc>
                <a:spcPct val="100000"/>
              </a:lnSpc>
              <a:spcAft>
                <a:spcPts val="200"/>
              </a:spcAft>
              <a:defRPr sz="1800" b="0">
                <a:solidFill>
                  <a:srgbClr val="666666"/>
                </a:solidFill>
                <a:latin typeface="Calibri"/>
              </a:defRPr>
            </a:pPr>
            <a:r>
              <a:rPr sz="1800" b="0">
                <a:solidFill>
                  <a:srgbClr val="666666"/>
                </a:solidFill>
                <a:latin typeface="Calibri"/>
              </a:rPr>
              <a:t>Looking down through the lexan top plate: board, battery, and the four motors inside the frame</a:t>
            </a:r>
          </a:p>
        </p:txBody>
      </p:sp>
      <p:sp>
        <p:nvSpPr>
          <p:cNvPr id="10" name="TextBox 9"/>
          <p:cNvSpPr txBox="1"/>
          <p:nvPr/>
        </p:nvSpPr>
        <p:spPr>
          <a:xfrm>
            <a:off x="6278727" y="5559552"/>
            <a:ext cx="5410047" cy="658368"/>
          </a:xfrm>
          <a:prstGeom prst="rect">
            <a:avLst/>
          </a:prstGeom>
          <a:noFill/>
        </p:spPr>
        <p:txBody>
          <a:bodyPr wrap="square" lIns="0" tIns="0" rIns="0" bIns="0">
            <a:spAutoFit/>
          </a:bodyPr>
          <a:lstStyle/>
          <a:p>
            <a:pPr algn="ctr">
              <a:lnSpc>
                <a:spcPct val="100000"/>
              </a:lnSpc>
              <a:spcAft>
                <a:spcPts val="200"/>
              </a:spcAft>
              <a:defRPr sz="1800" b="0">
                <a:solidFill>
                  <a:srgbClr val="666666"/>
                </a:solidFill>
                <a:latin typeface="Calibri"/>
              </a:defRPr>
            </a:pPr>
            <a:r>
              <a:rPr sz="1800" b="0">
                <a:solidFill>
                  <a:srgbClr val="666666"/>
                </a:solidFill>
                <a:latin typeface="Calibri"/>
              </a:rPr>
              <a:t>Flip it over and it keeps going  -  the wheels reach past the frame on both sides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What a self-test looks like  -  a demonstration</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17</a:t>
            </a:r>
          </a:p>
        </p:txBody>
      </p:sp>
      <p:sp>
        <p:nvSpPr>
          <p:cNvPr id="6" name="TextBox 5"/>
          <p:cNvSpPr txBox="1"/>
          <p:nvPr/>
        </p:nvSpPr>
        <p:spPr>
          <a:xfrm>
            <a:off x="502920" y="1188720"/>
            <a:ext cx="6186894" cy="457200"/>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What it does</a:t>
            </a:r>
          </a:p>
        </p:txBody>
      </p:sp>
      <p:sp>
        <p:nvSpPr>
          <p:cNvPr id="7" name="TextBox 6"/>
          <p:cNvSpPr txBox="1"/>
          <p:nvPr/>
        </p:nvSpPr>
        <p:spPr>
          <a:xfrm>
            <a:off x="502920" y="1700784"/>
            <a:ext cx="6186894" cy="3474720"/>
          </a:xfrm>
          <a:prstGeom prst="rect">
            <a:avLst/>
          </a:prstGeom>
          <a:noFill/>
        </p:spPr>
        <p:txBody>
          <a:bodyPr wrap="square" lIns="0" tIns="0" rIns="0" bIns="0">
            <a:spAutoFit/>
          </a:bodyPr>
          <a:lstStyle/>
          <a:p>
            <a:pPr algn="l">
              <a:lnSpc>
                <a:spcPct val="100000"/>
              </a:lnSpc>
              <a:spcAft>
                <a:spcPts val="800"/>
              </a:spcAft>
              <a:defRPr sz="1800" b="0">
                <a:solidFill>
                  <a:srgbClr val="222222"/>
                </a:solidFill>
                <a:latin typeface="Calibri"/>
              </a:defRPr>
            </a:pPr>
            <a:r>
              <a:rPr sz="1800" b="0">
                <a:solidFill>
                  <a:srgbClr val="222222"/>
                </a:solidFill>
                <a:latin typeface="Calibri"/>
              </a:rPr>
              <a:t>Fit the jumper on GPIO 34 and switch the vehicle on.</a:t>
            </a:r>
          </a:p>
          <a:p>
            <a:pPr algn="l">
              <a:lnSpc>
                <a:spcPct val="100000"/>
              </a:lnSpc>
              <a:spcAft>
                <a:spcPts val="800"/>
              </a:spcAft>
              <a:defRPr sz="1800" b="0">
                <a:solidFill>
                  <a:srgbClr val="222222"/>
                </a:solidFill>
                <a:latin typeface="Calibri"/>
              </a:defRPr>
            </a:pPr>
            <a:r>
              <a:rPr sz="1800" b="0">
                <a:solidFill>
                  <a:srgbClr val="222222"/>
                </a:solidFill>
                <a:latin typeface="Calibri"/>
              </a:rPr>
              <a:t>It measures what the electronics draw with the motors stopped. That is the BASELINE.</a:t>
            </a:r>
          </a:p>
          <a:p>
            <a:pPr algn="l">
              <a:lnSpc>
                <a:spcPct val="100000"/>
              </a:lnSpc>
              <a:spcAft>
                <a:spcPts val="800"/>
              </a:spcAft>
              <a:defRPr sz="1800" b="0">
                <a:solidFill>
                  <a:srgbClr val="222222"/>
                </a:solidFill>
                <a:latin typeface="Calibri"/>
              </a:defRPr>
            </a:pPr>
            <a:r>
              <a:rPr sz="1800" b="0">
                <a:solidFill>
                  <a:srgbClr val="222222"/>
                </a:solidFill>
                <a:latin typeface="Calibri"/>
              </a:rPr>
              <a:t>Then it drives each motor forward, then in reverse, watching the current against that baseline.</a:t>
            </a:r>
          </a:p>
          <a:p>
            <a:pPr algn="l">
              <a:lnSpc>
                <a:spcPct val="100000"/>
              </a:lnSpc>
              <a:spcAft>
                <a:spcPts val="800"/>
              </a:spcAft>
              <a:defRPr sz="1800" b="0">
                <a:solidFill>
                  <a:srgbClr val="222222"/>
                </a:solidFill>
                <a:latin typeface="Calibri"/>
              </a:defRPr>
            </a:pPr>
            <a:r>
              <a:rPr sz="1800" b="0">
                <a:solidFill>
                  <a:srgbClr val="222222"/>
                </a:solidFill>
                <a:latin typeface="Calibri"/>
              </a:rPr>
              <a:t>The LEDs blink GREEN if every motor passed, RED if any failed.</a:t>
            </a:r>
          </a:p>
          <a:p>
            <a:pPr algn="l">
              <a:lnSpc>
                <a:spcPct val="100000"/>
              </a:lnSpc>
              <a:spcAft>
                <a:spcPts val="800"/>
              </a:spcAft>
              <a:defRPr sz="1800" b="0">
                <a:solidFill>
                  <a:srgbClr val="222222"/>
                </a:solidFill>
                <a:latin typeface="Calibri"/>
              </a:defRPr>
            </a:pPr>
            <a:r>
              <a:rPr sz="1800" b="0">
                <a:solidFill>
                  <a:srgbClr val="222222"/>
                </a:solidFill>
                <a:latin typeface="Calibri"/>
              </a:rPr>
              <a:t>Press any button on the controller to clear it and drive.</a:t>
            </a:r>
          </a:p>
        </p:txBody>
      </p:sp>
      <p:sp>
        <p:nvSpPr>
          <p:cNvPr id="8" name="TextBox 7"/>
          <p:cNvSpPr txBox="1"/>
          <p:nvPr/>
        </p:nvSpPr>
        <p:spPr>
          <a:xfrm>
            <a:off x="7147014" y="1188720"/>
            <a:ext cx="4541761" cy="457200"/>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What the current tells it</a:t>
            </a:r>
          </a:p>
        </p:txBody>
      </p:sp>
      <p:sp>
        <p:nvSpPr>
          <p:cNvPr id="9" name="TextBox 8"/>
          <p:cNvSpPr txBox="1"/>
          <p:nvPr/>
        </p:nvSpPr>
        <p:spPr>
          <a:xfrm>
            <a:off x="7147014" y="1700784"/>
            <a:ext cx="4541761" cy="3474720"/>
          </a:xfrm>
          <a:prstGeom prst="rect">
            <a:avLst/>
          </a:prstGeom>
          <a:noFill/>
        </p:spPr>
        <p:txBody>
          <a:bodyPr wrap="square" lIns="0" tIns="0" rIns="0" bIns="0">
            <a:spAutoFit/>
          </a:bodyPr>
          <a:lstStyle/>
          <a:p>
            <a:pPr algn="l">
              <a:lnSpc>
                <a:spcPct val="100000"/>
              </a:lnSpc>
              <a:spcAft>
                <a:spcPts val="800"/>
              </a:spcAft>
              <a:defRPr sz="1900" b="0">
                <a:solidFill>
                  <a:srgbClr val="222222"/>
                </a:solidFill>
                <a:latin typeface="Calibri"/>
              </a:defRPr>
            </a:pPr>
            <a:r>
              <a:rPr sz="1900" b="0">
                <a:solidFill>
                  <a:srgbClr val="222222"/>
                </a:solidFill>
                <a:latin typeface="Calibri"/>
              </a:rPr>
              <a:t>A healthy motor spikes as it breaks away, then settles.</a:t>
            </a:r>
          </a:p>
          <a:p>
            <a:pPr algn="l">
              <a:lnSpc>
                <a:spcPct val="100000"/>
              </a:lnSpc>
              <a:spcAft>
                <a:spcPts val="800"/>
              </a:spcAft>
              <a:defRPr sz="1900" b="0">
                <a:solidFill>
                  <a:srgbClr val="222222"/>
                </a:solidFill>
                <a:latin typeface="Calibri"/>
              </a:defRPr>
            </a:pPr>
            <a:r>
              <a:rPr sz="1900" b="0">
                <a:solidFill>
                  <a:srgbClr val="222222"/>
                </a:solidFill>
                <a:latin typeface="Calibri"/>
              </a:rPr>
              <a:t>A disconnected motor draws almost nothing.</a:t>
            </a:r>
          </a:p>
          <a:p>
            <a:pPr algn="l">
              <a:lnSpc>
                <a:spcPct val="100000"/>
              </a:lnSpc>
              <a:spcAft>
                <a:spcPts val="800"/>
              </a:spcAft>
              <a:defRPr sz="1900" b="0">
                <a:solidFill>
                  <a:srgbClr val="222222"/>
                </a:solidFill>
                <a:latin typeface="Calibri"/>
              </a:defRPr>
            </a:pPr>
            <a:r>
              <a:rPr sz="1900" b="0">
                <a:solidFill>
                  <a:srgbClr val="222222"/>
                </a:solidFill>
                <a:latin typeface="Calibri"/>
              </a:rPr>
              <a:t>A jammed motor draws a lot, and keeps drawing it.</a:t>
            </a:r>
          </a:p>
          <a:p>
            <a:pPr algn="l">
              <a:lnSpc>
                <a:spcPct val="100000"/>
              </a:lnSpc>
              <a:spcAft>
                <a:spcPts val="800"/>
              </a:spcAft>
              <a:defRPr sz="1900" b="0">
                <a:solidFill>
                  <a:srgbClr val="222222"/>
                </a:solidFill>
                <a:latin typeface="Calibri"/>
              </a:defRPr>
            </a:pPr>
            <a:r>
              <a:rPr sz="1900" b="0">
                <a:solidFill>
                  <a:srgbClr val="222222"/>
                </a:solidFill>
                <a:latin typeface="Calibri"/>
              </a:rPr>
              <a:t>The Serial Monitor prints a line per motor with the numbers it measured, and PASS or FAIL beside each one.</a:t>
            </a:r>
          </a:p>
        </p:txBody>
      </p:sp>
      <p:sp>
        <p:nvSpPr>
          <p:cNvPr id="10" name="Rounded Rectangle 9"/>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This is the advanced program, not today's. But every idea in it is one of yours: a current is a number, a number can be compared, and a comparison can drive an LED.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What a microcontroller actually is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18</a:t>
            </a:r>
          </a:p>
        </p:txBody>
      </p:sp>
      <p:sp>
        <p:nvSpPr>
          <p:cNvPr id="6" name="TextBox 5"/>
          <p:cNvSpPr txBox="1"/>
          <p:nvPr/>
        </p:nvSpPr>
        <p:spPr>
          <a:xfrm>
            <a:off x="502920" y="1188720"/>
            <a:ext cx="5415114" cy="457200"/>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The ESP32</a:t>
            </a:r>
          </a:p>
        </p:txBody>
      </p:sp>
      <p:sp>
        <p:nvSpPr>
          <p:cNvPr id="7" name="TextBox 6"/>
          <p:cNvSpPr txBox="1"/>
          <p:nvPr/>
        </p:nvSpPr>
        <p:spPr>
          <a:xfrm>
            <a:off x="502920" y="1700784"/>
            <a:ext cx="5415114" cy="4562856"/>
          </a:xfrm>
          <a:prstGeom prst="rect">
            <a:avLst/>
          </a:prstGeom>
          <a:noFill/>
        </p:spPr>
        <p:txBody>
          <a:bodyPr wrap="square" lIns="0" tIns="0" rIns="0" bIns="0">
            <a:spAutoFit/>
          </a:bodyPr>
          <a:lstStyle/>
          <a:p>
            <a:pPr algn="l">
              <a:lnSpc>
                <a:spcPct val="100000"/>
              </a:lnSpc>
              <a:spcAft>
                <a:spcPts val="800"/>
              </a:spcAft>
              <a:defRPr sz="2100" b="0">
                <a:solidFill>
                  <a:srgbClr val="222222"/>
                </a:solidFill>
                <a:latin typeface="Calibri"/>
              </a:defRPr>
            </a:pPr>
            <a:r>
              <a:rPr sz="2100" b="0">
                <a:solidFill>
                  <a:srgbClr val="222222"/>
                </a:solidFill>
                <a:latin typeface="Calibri"/>
              </a:rPr>
              <a:t>A whole computer on one chip: processor, memory, storage, and the hardware to drive pins.</a:t>
            </a:r>
          </a:p>
          <a:p>
            <a:pPr algn="l">
              <a:lnSpc>
                <a:spcPct val="100000"/>
              </a:lnSpc>
              <a:spcAft>
                <a:spcPts val="800"/>
              </a:spcAft>
              <a:defRPr sz="2100" b="0">
                <a:solidFill>
                  <a:srgbClr val="222222"/>
                </a:solidFill>
                <a:latin typeface="Calibri"/>
              </a:defRPr>
            </a:pPr>
            <a:r>
              <a:rPr sz="2100" b="0">
                <a:solidFill>
                  <a:srgbClr val="222222"/>
                </a:solidFill>
                <a:latin typeface="Calibri"/>
              </a:rPr>
              <a:t>240 MHz, dual core, with Wi-Fi and Bluetooth built in.</a:t>
            </a:r>
          </a:p>
          <a:p>
            <a:pPr algn="l">
              <a:lnSpc>
                <a:spcPct val="100000"/>
              </a:lnSpc>
              <a:spcAft>
                <a:spcPts val="800"/>
              </a:spcAft>
              <a:defRPr sz="2100" b="0">
                <a:solidFill>
                  <a:srgbClr val="222222"/>
                </a:solidFill>
                <a:latin typeface="Calibri"/>
              </a:defRPr>
            </a:pPr>
            <a:r>
              <a:rPr sz="2100" b="0">
                <a:solidFill>
                  <a:srgbClr val="222222"/>
                </a:solidFill>
                <a:latin typeface="Calibri"/>
              </a:rPr>
              <a:t>It runs ONE program. There is no desktop, no windows, no files.</a:t>
            </a:r>
          </a:p>
          <a:p>
            <a:pPr algn="l">
              <a:lnSpc>
                <a:spcPct val="100000"/>
              </a:lnSpc>
              <a:spcAft>
                <a:spcPts val="800"/>
              </a:spcAft>
              <a:defRPr sz="2100" b="0">
                <a:solidFill>
                  <a:srgbClr val="222222"/>
                </a:solidFill>
                <a:latin typeface="Calibri"/>
              </a:defRPr>
            </a:pPr>
            <a:r>
              <a:rPr sz="2100" b="0">
                <a:solidFill>
                  <a:srgbClr val="222222"/>
                </a:solidFill>
                <a:latin typeface="Calibri"/>
              </a:rPr>
              <a:t>It starts running the instant it has power, and stops when it does not.</a:t>
            </a:r>
          </a:p>
          <a:p>
            <a:pPr algn="l">
              <a:lnSpc>
                <a:spcPct val="100000"/>
              </a:lnSpc>
              <a:spcAft>
                <a:spcPts val="800"/>
              </a:spcAft>
              <a:defRPr sz="2100" b="0">
                <a:solidFill>
                  <a:srgbClr val="222222"/>
                </a:solidFill>
                <a:latin typeface="Calibri"/>
              </a:defRPr>
            </a:pPr>
            <a:r>
              <a:rPr sz="2100" b="0">
                <a:solidFill>
                  <a:srgbClr val="222222"/>
                </a:solidFill>
                <a:latin typeface="Calibri"/>
              </a:rPr>
              <a:t>We compile programs in C++ on a laptop and send them down the USB cable into its flash memory.</a:t>
            </a:r>
          </a:p>
        </p:txBody>
      </p:sp>
      <p:sp>
        <p:nvSpPr>
          <p:cNvPr id="8" name="TextBox 7"/>
          <p:cNvSpPr txBox="1"/>
          <p:nvPr/>
        </p:nvSpPr>
        <p:spPr>
          <a:xfrm>
            <a:off x="6375234" y="1188720"/>
            <a:ext cx="5313541" cy="457200"/>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How that differs from your laptop</a:t>
            </a:r>
          </a:p>
        </p:txBody>
      </p:sp>
      <p:sp>
        <p:nvSpPr>
          <p:cNvPr id="9" name="TextBox 8"/>
          <p:cNvSpPr txBox="1"/>
          <p:nvPr/>
        </p:nvSpPr>
        <p:spPr>
          <a:xfrm>
            <a:off x="6375234" y="1700784"/>
            <a:ext cx="5313541" cy="4562856"/>
          </a:xfrm>
          <a:prstGeom prst="rect">
            <a:avLst/>
          </a:prstGeom>
          <a:noFill/>
        </p:spPr>
        <p:txBody>
          <a:bodyPr wrap="square" lIns="0" tIns="0" rIns="0" bIns="0">
            <a:spAutoFit/>
          </a:bodyPr>
          <a:lstStyle/>
          <a:p>
            <a:pPr algn="l">
              <a:lnSpc>
                <a:spcPct val="100000"/>
              </a:lnSpc>
              <a:spcAft>
                <a:spcPts val="800"/>
              </a:spcAft>
              <a:defRPr sz="2000" b="0">
                <a:solidFill>
                  <a:srgbClr val="222222"/>
                </a:solidFill>
                <a:latin typeface="Calibri"/>
              </a:defRPr>
            </a:pPr>
            <a:r>
              <a:rPr sz="2000" b="0">
                <a:solidFill>
                  <a:srgbClr val="222222"/>
                </a:solidFill>
                <a:latin typeface="Calibri"/>
              </a:rPr>
              <a:t>Your laptop runs hundreds of programs at once and shares its processor between them.</a:t>
            </a:r>
          </a:p>
          <a:p>
            <a:pPr algn="l">
              <a:lnSpc>
                <a:spcPct val="100000"/>
              </a:lnSpc>
              <a:spcAft>
                <a:spcPts val="800"/>
              </a:spcAft>
              <a:defRPr sz="2000" b="0">
                <a:solidFill>
                  <a:srgbClr val="222222"/>
                </a:solidFill>
                <a:latin typeface="Calibri"/>
              </a:defRPr>
            </a:pPr>
            <a:r>
              <a:rPr sz="2000" b="0">
                <a:solidFill>
                  <a:srgbClr val="222222"/>
                </a:solidFill>
                <a:latin typeface="Calibri"/>
              </a:rPr>
              <a:t>The ESP32 gives your program the whole machine. Nothing interrupts you, and nothing rescues you either.</a:t>
            </a:r>
          </a:p>
          <a:p>
            <a:pPr algn="l">
              <a:lnSpc>
                <a:spcPct val="100000"/>
              </a:lnSpc>
              <a:spcAft>
                <a:spcPts val="800"/>
              </a:spcAft>
              <a:defRPr sz="2000" b="0">
                <a:solidFill>
                  <a:srgbClr val="222222"/>
                </a:solidFill>
                <a:latin typeface="Calibri"/>
              </a:defRPr>
            </a:pPr>
            <a:r>
              <a:rPr sz="2000" b="0">
                <a:solidFill>
                  <a:srgbClr val="222222"/>
                </a:solidFill>
                <a:latin typeface="Calibri"/>
              </a:rPr>
              <a:t>If your program stops, the vehicle stops. If your program waits, the vehicle waits. You will meet that head-on in Lesson 5.</a:t>
            </a:r>
          </a:p>
          <a:p>
            <a:pPr algn="l">
              <a:lnSpc>
                <a:spcPct val="100000"/>
              </a:lnSpc>
              <a:spcAft>
                <a:spcPts val="800"/>
              </a:spcAft>
              <a:defRPr sz="2000" b="0">
                <a:solidFill>
                  <a:srgbClr val="222222"/>
                </a:solidFill>
                <a:latin typeface="Calibri"/>
              </a:defRPr>
            </a:pPr>
            <a:r>
              <a:rPr sz="2000" b="0">
                <a:solidFill>
                  <a:srgbClr val="222222"/>
                </a:solidFill>
                <a:latin typeface="Calibri"/>
              </a:rPr>
              <a:t>There is no error message on a screen unless you print one. That is why the Serial Monitor matters so much.</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How a command gets from your thumb to a wheel</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19</a:t>
            </a:r>
          </a:p>
        </p:txBody>
      </p:sp>
      <p:sp>
        <p:nvSpPr>
          <p:cNvPr id="6" name="Rounded Rectangle 5"/>
          <p:cNvSpPr/>
          <p:nvPr/>
        </p:nvSpPr>
        <p:spPr>
          <a:xfrm>
            <a:off x="502920" y="1645920"/>
            <a:ext cx="1920240" cy="868680"/>
          </a:xfrm>
          <a:prstGeom prst="roundRect">
            <a:avLst>
              <a:gd name="adj" fmla="val 12000"/>
            </a:avLst>
          </a:prstGeom>
          <a:solidFill>
            <a:srgbClr val="D6ECEE"/>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PS3 controller</a:t>
            </a:r>
          </a:p>
        </p:txBody>
      </p:sp>
      <p:sp>
        <p:nvSpPr>
          <p:cNvPr id="7" name="TextBox 6"/>
          <p:cNvSpPr txBox="1"/>
          <p:nvPr/>
        </p:nvSpPr>
        <p:spPr>
          <a:xfrm>
            <a:off x="502920" y="2569464"/>
            <a:ext cx="1920240" cy="367792"/>
          </a:xfrm>
          <a:prstGeom prst="rect">
            <a:avLst/>
          </a:prstGeom>
          <a:noFill/>
        </p:spPr>
        <p:txBody>
          <a:bodyPr wrap="square" lIns="0" tIns="0" rIns="0" bIns="0">
            <a:spAutoFit/>
          </a:bodyPr>
          <a:lstStyle/>
          <a:p>
            <a:pPr algn="ctr">
              <a:lnSpc>
                <a:spcPct val="100000"/>
              </a:lnSpc>
              <a:spcAft>
                <a:spcPts val="0"/>
              </a:spcAft>
              <a:defRPr sz="1800" b="0">
                <a:solidFill>
                  <a:srgbClr val="666666"/>
                </a:solidFill>
                <a:latin typeface="Calibri"/>
              </a:defRPr>
            </a:pPr>
            <a:r>
              <a:rPr sz="1800" b="0">
                <a:solidFill>
                  <a:srgbClr val="666666"/>
                </a:solidFill>
                <a:latin typeface="Calibri"/>
              </a:rPr>
              <a:t>you move a stick</a:t>
            </a:r>
          </a:p>
        </p:txBody>
      </p:sp>
      <p:sp>
        <p:nvSpPr>
          <p:cNvPr id="8" name="Rounded Rectangle 7"/>
          <p:cNvSpPr/>
          <p:nvPr/>
        </p:nvSpPr>
        <p:spPr>
          <a:xfrm>
            <a:off x="2834640" y="1645920"/>
            <a:ext cx="1463040" cy="868680"/>
          </a:xfrm>
          <a:prstGeom prst="roundRect">
            <a:avLst>
              <a:gd name="adj" fmla="val 12000"/>
            </a:avLst>
          </a:prstGeom>
          <a:solidFill>
            <a:srgbClr val="FFFFFF"/>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Bluetooth</a:t>
            </a:r>
          </a:p>
        </p:txBody>
      </p:sp>
      <p:sp>
        <p:nvSpPr>
          <p:cNvPr id="9" name="TextBox 8"/>
          <p:cNvSpPr txBox="1"/>
          <p:nvPr/>
        </p:nvSpPr>
        <p:spPr>
          <a:xfrm>
            <a:off x="2834640" y="2569464"/>
            <a:ext cx="1463040" cy="646684"/>
          </a:xfrm>
          <a:prstGeom prst="rect">
            <a:avLst/>
          </a:prstGeom>
          <a:noFill/>
        </p:spPr>
        <p:txBody>
          <a:bodyPr wrap="square" lIns="0" tIns="0" rIns="0" bIns="0">
            <a:spAutoFit/>
          </a:bodyPr>
          <a:lstStyle/>
          <a:p>
            <a:pPr algn="ctr">
              <a:lnSpc>
                <a:spcPct val="100000"/>
              </a:lnSpc>
              <a:spcAft>
                <a:spcPts val="0"/>
              </a:spcAft>
              <a:defRPr sz="1800" b="0">
                <a:solidFill>
                  <a:srgbClr val="666666"/>
                </a:solidFill>
                <a:latin typeface="Calibri"/>
              </a:defRPr>
            </a:pPr>
            <a:r>
              <a:rPr sz="1800" b="0">
                <a:solidFill>
                  <a:srgbClr val="666666"/>
                </a:solidFill>
                <a:latin typeface="Calibri"/>
              </a:rPr>
              <a:t>radio, 2.4 GHz</a:t>
            </a:r>
          </a:p>
        </p:txBody>
      </p:sp>
      <p:sp>
        <p:nvSpPr>
          <p:cNvPr id="10" name="Rounded Rectangle 9"/>
          <p:cNvSpPr/>
          <p:nvPr/>
        </p:nvSpPr>
        <p:spPr>
          <a:xfrm>
            <a:off x="4709160" y="1645920"/>
            <a:ext cx="1737360" cy="868680"/>
          </a:xfrm>
          <a:prstGeom prst="roundRect">
            <a:avLst>
              <a:gd name="adj" fmla="val 12000"/>
            </a:avLst>
          </a:prstGeom>
          <a:solidFill>
            <a:srgbClr val="D6ECEE"/>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ESP32</a:t>
            </a:r>
          </a:p>
        </p:txBody>
      </p:sp>
      <p:sp>
        <p:nvSpPr>
          <p:cNvPr id="11" name="TextBox 10"/>
          <p:cNvSpPr txBox="1"/>
          <p:nvPr/>
        </p:nvSpPr>
        <p:spPr>
          <a:xfrm>
            <a:off x="4709160" y="2569464"/>
            <a:ext cx="1737360" cy="646684"/>
          </a:xfrm>
          <a:prstGeom prst="rect">
            <a:avLst/>
          </a:prstGeom>
          <a:noFill/>
        </p:spPr>
        <p:txBody>
          <a:bodyPr wrap="square" lIns="0" tIns="0" rIns="0" bIns="0">
            <a:spAutoFit/>
          </a:bodyPr>
          <a:lstStyle/>
          <a:p>
            <a:pPr algn="ctr">
              <a:lnSpc>
                <a:spcPct val="100000"/>
              </a:lnSpc>
              <a:spcAft>
                <a:spcPts val="0"/>
              </a:spcAft>
              <a:defRPr sz="1800" b="0">
                <a:solidFill>
                  <a:srgbClr val="666666"/>
                </a:solidFill>
                <a:latin typeface="Calibri"/>
              </a:defRPr>
            </a:pPr>
            <a:r>
              <a:rPr sz="1800" b="0">
                <a:solidFill>
                  <a:srgbClr val="666666"/>
                </a:solidFill>
                <a:latin typeface="Calibri"/>
              </a:rPr>
              <a:t>your program runs here</a:t>
            </a:r>
          </a:p>
        </p:txBody>
      </p:sp>
      <p:cxnSp>
        <p:nvCxnSpPr>
          <p:cNvPr id="12" name="Connector 11"/>
          <p:cNvCxnSpPr/>
          <p:nvPr/>
        </p:nvCxnSpPr>
        <p:spPr>
          <a:xfrm>
            <a:off x="2423160" y="2080260"/>
            <a:ext cx="411480" cy="0"/>
          </a:xfrm>
          <a:prstGeom prst="line">
            <a:avLst/>
          </a:prstGeom>
          <a:ln w="22225">
            <a:solidFill>
              <a:srgbClr val="1F3A5F"/>
            </a:solidFill>
            <a:headEnd/>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297680" y="2080260"/>
            <a:ext cx="411480" cy="0"/>
          </a:xfrm>
          <a:prstGeom prst="line">
            <a:avLst/>
          </a:prstGeom>
          <a:ln w="22225">
            <a:solidFill>
              <a:srgbClr val="1F3A5F"/>
            </a:solidFill>
            <a:headEnd/>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269480" y="1280160"/>
            <a:ext cx="3017520" cy="749808"/>
          </a:xfrm>
          <a:prstGeom prst="roundRect">
            <a:avLst>
              <a:gd name="adj" fmla="val 12000"/>
            </a:avLst>
          </a:prstGeom>
          <a:solidFill>
            <a:srgbClr val="FAE6C8"/>
          </a:solidFill>
          <a:ln w="15875">
            <a:solidFill>
              <a:srgbClr val="B46A0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DRV8871 drivers</a:t>
            </a:r>
          </a:p>
          <a:p>
            <a:pPr algn="ctr">
              <a:lnSpc>
                <a:spcPct val="100000"/>
              </a:lnSpc>
              <a:spcAft>
                <a:spcPts val="0"/>
              </a:spcAft>
              <a:defRPr sz="1800" b="1">
                <a:solidFill>
                  <a:srgbClr val="1F3A5F"/>
                </a:solidFill>
                <a:latin typeface="Calibri"/>
              </a:defRPr>
            </a:pPr>
            <a:r>
              <a:rPr sz="1800" b="1">
                <a:solidFill>
                  <a:srgbClr val="1F3A5F"/>
                </a:solidFill>
                <a:latin typeface="Calibri"/>
              </a:rPr>
              <a:t>4 motors</a:t>
            </a:r>
          </a:p>
        </p:txBody>
      </p:sp>
      <p:sp>
        <p:nvSpPr>
          <p:cNvPr id="15" name="TextBox 14"/>
          <p:cNvSpPr txBox="1"/>
          <p:nvPr/>
        </p:nvSpPr>
        <p:spPr>
          <a:xfrm>
            <a:off x="7269480" y="2057400"/>
            <a:ext cx="3017520" cy="367792"/>
          </a:xfrm>
          <a:prstGeom prst="rect">
            <a:avLst/>
          </a:prstGeom>
          <a:noFill/>
        </p:spPr>
        <p:txBody>
          <a:bodyPr wrap="square" lIns="0" tIns="0" rIns="0" bIns="0">
            <a:spAutoFit/>
          </a:bodyPr>
          <a:lstStyle/>
          <a:p>
            <a:pPr algn="ctr">
              <a:lnSpc>
                <a:spcPct val="100000"/>
              </a:lnSpc>
              <a:spcAft>
                <a:spcPts val="0"/>
              </a:spcAft>
              <a:defRPr sz="1800" b="0">
                <a:solidFill>
                  <a:srgbClr val="666666"/>
                </a:solidFill>
                <a:latin typeface="Consolas"/>
              </a:defRPr>
            </a:pPr>
            <a:r>
              <a:rPr sz="1800" b="0">
                <a:solidFill>
                  <a:srgbClr val="666666"/>
                </a:solidFill>
                <a:latin typeface="Consolas"/>
              </a:rPr>
              <a:t>12 13 16 17 18 19 22 23</a:t>
            </a:r>
          </a:p>
        </p:txBody>
      </p:sp>
      <p:cxnSp>
        <p:nvCxnSpPr>
          <p:cNvPr id="16" name="Connector 15"/>
          <p:cNvCxnSpPr/>
          <p:nvPr/>
        </p:nvCxnSpPr>
        <p:spPr>
          <a:xfrm flipV="1">
            <a:off x="6858000" y="1655064"/>
            <a:ext cx="411480" cy="425196"/>
          </a:xfrm>
          <a:prstGeom prst="line">
            <a:avLst/>
          </a:prstGeom>
          <a:ln w="22225">
            <a:solidFill>
              <a:srgbClr val="B46A0F"/>
            </a:solidFill>
            <a:headEnd/>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269480" y="2414016"/>
            <a:ext cx="3017520" cy="749808"/>
          </a:xfrm>
          <a:prstGeom prst="roundRect">
            <a:avLst>
              <a:gd name="adj" fmla="val 12000"/>
            </a:avLst>
          </a:prstGeom>
          <a:solidFill>
            <a:srgbClr val="FAE6C8"/>
          </a:solidFill>
          <a:ln w="15875">
            <a:solidFill>
              <a:srgbClr val="B46A0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WS2812B strip</a:t>
            </a:r>
          </a:p>
          <a:p>
            <a:pPr algn="ctr">
              <a:lnSpc>
                <a:spcPct val="100000"/>
              </a:lnSpc>
              <a:spcAft>
                <a:spcPts val="0"/>
              </a:spcAft>
              <a:defRPr sz="1800" b="1">
                <a:solidFill>
                  <a:srgbClr val="1F3A5F"/>
                </a:solidFill>
                <a:latin typeface="Calibri"/>
              </a:defRPr>
            </a:pPr>
            <a:r>
              <a:rPr sz="1800" b="1">
                <a:solidFill>
                  <a:srgbClr val="1F3A5F"/>
                </a:solidFill>
                <a:latin typeface="Calibri"/>
              </a:rPr>
              <a:t>32 LEDs</a:t>
            </a:r>
          </a:p>
        </p:txBody>
      </p:sp>
      <p:sp>
        <p:nvSpPr>
          <p:cNvPr id="18" name="TextBox 17"/>
          <p:cNvSpPr txBox="1"/>
          <p:nvPr/>
        </p:nvSpPr>
        <p:spPr>
          <a:xfrm>
            <a:off x="7269480" y="3191256"/>
            <a:ext cx="3017520" cy="367792"/>
          </a:xfrm>
          <a:prstGeom prst="rect">
            <a:avLst/>
          </a:prstGeom>
          <a:noFill/>
        </p:spPr>
        <p:txBody>
          <a:bodyPr wrap="square" lIns="0" tIns="0" rIns="0" bIns="0">
            <a:spAutoFit/>
          </a:bodyPr>
          <a:lstStyle/>
          <a:p>
            <a:pPr algn="ctr">
              <a:lnSpc>
                <a:spcPct val="100000"/>
              </a:lnSpc>
              <a:spcAft>
                <a:spcPts val="0"/>
              </a:spcAft>
              <a:defRPr sz="1800" b="0">
                <a:solidFill>
                  <a:srgbClr val="666666"/>
                </a:solidFill>
                <a:latin typeface="Consolas"/>
              </a:defRPr>
            </a:pPr>
            <a:r>
              <a:rPr sz="1800" b="0">
                <a:solidFill>
                  <a:srgbClr val="666666"/>
                </a:solidFill>
                <a:latin typeface="Consolas"/>
              </a:rPr>
              <a:t>GPIO 5</a:t>
            </a:r>
          </a:p>
        </p:txBody>
      </p:sp>
      <p:cxnSp>
        <p:nvCxnSpPr>
          <p:cNvPr id="19" name="Connector 18"/>
          <p:cNvCxnSpPr/>
          <p:nvPr/>
        </p:nvCxnSpPr>
        <p:spPr>
          <a:xfrm>
            <a:off x="6858000" y="2080260"/>
            <a:ext cx="411480" cy="708660"/>
          </a:xfrm>
          <a:prstGeom prst="line">
            <a:avLst/>
          </a:prstGeom>
          <a:ln w="22225">
            <a:solidFill>
              <a:srgbClr val="B46A0F"/>
            </a:solidFill>
            <a:headEnd/>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269480" y="3547872"/>
            <a:ext cx="3017520" cy="749808"/>
          </a:xfrm>
          <a:prstGeom prst="roundRect">
            <a:avLst>
              <a:gd name="adj" fmla="val 12000"/>
            </a:avLst>
          </a:prstGeom>
          <a:solidFill>
            <a:srgbClr val="FAE6C8"/>
          </a:solidFill>
          <a:ln w="15875">
            <a:solidFill>
              <a:srgbClr val="B46A0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Servo headers</a:t>
            </a:r>
          </a:p>
          <a:p>
            <a:pPr algn="ctr">
              <a:lnSpc>
                <a:spcPct val="100000"/>
              </a:lnSpc>
              <a:spcAft>
                <a:spcPts val="0"/>
              </a:spcAft>
              <a:defRPr sz="1800" b="1">
                <a:solidFill>
                  <a:srgbClr val="1F3A5F"/>
                </a:solidFill>
                <a:latin typeface="Calibri"/>
              </a:defRPr>
            </a:pPr>
            <a:r>
              <a:rPr sz="1800" b="1">
                <a:solidFill>
                  <a:srgbClr val="1F3A5F"/>
                </a:solidFill>
                <a:latin typeface="Calibri"/>
              </a:rPr>
              <a:t>up to 4 servos</a:t>
            </a:r>
          </a:p>
        </p:txBody>
      </p:sp>
      <p:sp>
        <p:nvSpPr>
          <p:cNvPr id="21" name="TextBox 20"/>
          <p:cNvSpPr txBox="1"/>
          <p:nvPr/>
        </p:nvSpPr>
        <p:spPr>
          <a:xfrm>
            <a:off x="7269480" y="4325112"/>
            <a:ext cx="3017520" cy="367792"/>
          </a:xfrm>
          <a:prstGeom prst="rect">
            <a:avLst/>
          </a:prstGeom>
          <a:noFill/>
        </p:spPr>
        <p:txBody>
          <a:bodyPr wrap="square" lIns="0" tIns="0" rIns="0" bIns="0">
            <a:spAutoFit/>
          </a:bodyPr>
          <a:lstStyle/>
          <a:p>
            <a:pPr algn="ctr">
              <a:lnSpc>
                <a:spcPct val="100000"/>
              </a:lnSpc>
              <a:spcAft>
                <a:spcPts val="0"/>
              </a:spcAft>
              <a:defRPr sz="1800" b="0">
                <a:solidFill>
                  <a:srgbClr val="666666"/>
                </a:solidFill>
                <a:latin typeface="Consolas"/>
              </a:defRPr>
            </a:pPr>
            <a:r>
              <a:rPr sz="1800" b="0">
                <a:solidFill>
                  <a:srgbClr val="666666"/>
                </a:solidFill>
                <a:latin typeface="Consolas"/>
              </a:rPr>
              <a:t>25 26 27 14</a:t>
            </a:r>
          </a:p>
        </p:txBody>
      </p:sp>
      <p:cxnSp>
        <p:nvCxnSpPr>
          <p:cNvPr id="22" name="Connector 21"/>
          <p:cNvCxnSpPr/>
          <p:nvPr/>
        </p:nvCxnSpPr>
        <p:spPr>
          <a:xfrm>
            <a:off x="6858000" y="2080260"/>
            <a:ext cx="411480" cy="1842516"/>
          </a:xfrm>
          <a:prstGeom prst="line">
            <a:avLst/>
          </a:prstGeom>
          <a:ln w="22225">
            <a:solidFill>
              <a:srgbClr val="B46A0F"/>
            </a:solidFill>
            <a:headEnd/>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Everything the vehicle can do happens on one of those three outputs. The rest of the program is deciding what to send.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The ESP32 pins this vehicle actually uses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20</a:t>
            </a:r>
          </a:p>
        </p:txBody>
      </p:sp>
      <p:sp>
        <p:nvSpPr>
          <p:cNvPr id="6" name="Rectangle 5"/>
          <p:cNvSpPr/>
          <p:nvPr/>
        </p:nvSpPr>
        <p:spPr>
          <a:xfrm>
            <a:off x="502920" y="1325880"/>
            <a:ext cx="3611880" cy="475488"/>
          </a:xfrm>
          <a:prstGeom prst="rect">
            <a:avLst/>
          </a:prstGeom>
          <a:solidFill>
            <a:srgbClr val="FAE6C8"/>
          </a:solidFill>
          <a:ln w="19050">
            <a:solidFill>
              <a:srgbClr val="B46A0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MOTORS</a:t>
            </a:r>
          </a:p>
        </p:txBody>
      </p:sp>
      <p:sp>
        <p:nvSpPr>
          <p:cNvPr id="7" name="TextBox 6"/>
          <p:cNvSpPr txBox="1"/>
          <p:nvPr/>
        </p:nvSpPr>
        <p:spPr>
          <a:xfrm>
            <a:off x="557784" y="1929384"/>
            <a:ext cx="2468880" cy="367792"/>
          </a:xfrm>
          <a:prstGeom prst="rect">
            <a:avLst/>
          </a:prstGeom>
          <a:noFill/>
        </p:spPr>
        <p:txBody>
          <a:bodyPr wrap="square" lIns="0" tIns="0" rIns="0" bIns="0">
            <a:spAutoFit/>
          </a:bodyPr>
          <a:lstStyle/>
          <a:p>
            <a:pPr algn="l">
              <a:lnSpc>
                <a:spcPct val="100000"/>
              </a:lnSpc>
              <a:spcAft>
                <a:spcPts val="0"/>
              </a:spcAft>
              <a:defRPr sz="1800" b="0">
                <a:solidFill>
                  <a:srgbClr val="222222"/>
                </a:solidFill>
                <a:latin typeface="Calibri"/>
              </a:defRPr>
            </a:pPr>
            <a:r>
              <a:rPr sz="1800" b="0">
                <a:solidFill>
                  <a:srgbClr val="222222"/>
                </a:solidFill>
                <a:latin typeface="Calibri"/>
              </a:rPr>
              <a:t>Front left</a:t>
            </a:r>
          </a:p>
        </p:txBody>
      </p:sp>
      <p:sp>
        <p:nvSpPr>
          <p:cNvPr id="8" name="TextBox 7"/>
          <p:cNvSpPr txBox="1"/>
          <p:nvPr/>
        </p:nvSpPr>
        <p:spPr>
          <a:xfrm>
            <a:off x="3063240" y="1929384"/>
            <a:ext cx="1005840" cy="367792"/>
          </a:xfrm>
          <a:prstGeom prst="rect">
            <a:avLst/>
          </a:prstGeom>
          <a:noFill/>
        </p:spPr>
        <p:txBody>
          <a:bodyPr wrap="square" lIns="0" tIns="0" rIns="0" bIns="0">
            <a:spAutoFit/>
          </a:bodyPr>
          <a:lstStyle/>
          <a:p>
            <a:pPr algn="r">
              <a:lnSpc>
                <a:spcPct val="100000"/>
              </a:lnSpc>
              <a:spcAft>
                <a:spcPts val="0"/>
              </a:spcAft>
              <a:defRPr sz="1800" b="1">
                <a:solidFill>
                  <a:srgbClr val="1F3A5F"/>
                </a:solidFill>
                <a:latin typeface="Consolas"/>
              </a:defRPr>
            </a:pPr>
            <a:r>
              <a:rPr sz="1800" b="1">
                <a:solidFill>
                  <a:srgbClr val="1F3A5F"/>
                </a:solidFill>
                <a:latin typeface="Consolas"/>
              </a:rPr>
              <a:t>12 / 13</a:t>
            </a:r>
          </a:p>
        </p:txBody>
      </p:sp>
      <p:sp>
        <p:nvSpPr>
          <p:cNvPr id="9" name="TextBox 8"/>
          <p:cNvSpPr txBox="1"/>
          <p:nvPr/>
        </p:nvSpPr>
        <p:spPr>
          <a:xfrm>
            <a:off x="557784" y="2587752"/>
            <a:ext cx="2468880" cy="367792"/>
          </a:xfrm>
          <a:prstGeom prst="rect">
            <a:avLst/>
          </a:prstGeom>
          <a:noFill/>
        </p:spPr>
        <p:txBody>
          <a:bodyPr wrap="square" lIns="0" tIns="0" rIns="0" bIns="0">
            <a:spAutoFit/>
          </a:bodyPr>
          <a:lstStyle/>
          <a:p>
            <a:pPr algn="l">
              <a:lnSpc>
                <a:spcPct val="100000"/>
              </a:lnSpc>
              <a:spcAft>
                <a:spcPts val="0"/>
              </a:spcAft>
              <a:defRPr sz="1800" b="0">
                <a:solidFill>
                  <a:srgbClr val="222222"/>
                </a:solidFill>
                <a:latin typeface="Calibri"/>
              </a:defRPr>
            </a:pPr>
            <a:r>
              <a:rPr sz="1800" b="0">
                <a:solidFill>
                  <a:srgbClr val="222222"/>
                </a:solidFill>
                <a:latin typeface="Calibri"/>
              </a:rPr>
              <a:t>Rear left</a:t>
            </a:r>
          </a:p>
        </p:txBody>
      </p:sp>
      <p:sp>
        <p:nvSpPr>
          <p:cNvPr id="10" name="TextBox 9"/>
          <p:cNvSpPr txBox="1"/>
          <p:nvPr/>
        </p:nvSpPr>
        <p:spPr>
          <a:xfrm>
            <a:off x="3063240" y="2587752"/>
            <a:ext cx="1005840" cy="367792"/>
          </a:xfrm>
          <a:prstGeom prst="rect">
            <a:avLst/>
          </a:prstGeom>
          <a:noFill/>
        </p:spPr>
        <p:txBody>
          <a:bodyPr wrap="square" lIns="0" tIns="0" rIns="0" bIns="0">
            <a:spAutoFit/>
          </a:bodyPr>
          <a:lstStyle/>
          <a:p>
            <a:pPr algn="r">
              <a:lnSpc>
                <a:spcPct val="100000"/>
              </a:lnSpc>
              <a:spcAft>
                <a:spcPts val="0"/>
              </a:spcAft>
              <a:defRPr sz="1800" b="1">
                <a:solidFill>
                  <a:srgbClr val="1F3A5F"/>
                </a:solidFill>
                <a:latin typeface="Consolas"/>
              </a:defRPr>
            </a:pPr>
            <a:r>
              <a:rPr sz="1800" b="1">
                <a:solidFill>
                  <a:srgbClr val="1F3A5F"/>
                </a:solidFill>
                <a:latin typeface="Consolas"/>
              </a:rPr>
              <a:t>18 / 19</a:t>
            </a:r>
          </a:p>
        </p:txBody>
      </p:sp>
      <p:sp>
        <p:nvSpPr>
          <p:cNvPr id="11" name="TextBox 10"/>
          <p:cNvSpPr txBox="1"/>
          <p:nvPr/>
        </p:nvSpPr>
        <p:spPr>
          <a:xfrm>
            <a:off x="557784" y="3246120"/>
            <a:ext cx="2468880" cy="367792"/>
          </a:xfrm>
          <a:prstGeom prst="rect">
            <a:avLst/>
          </a:prstGeom>
          <a:noFill/>
        </p:spPr>
        <p:txBody>
          <a:bodyPr wrap="square" lIns="0" tIns="0" rIns="0" bIns="0">
            <a:spAutoFit/>
          </a:bodyPr>
          <a:lstStyle/>
          <a:p>
            <a:pPr algn="l">
              <a:lnSpc>
                <a:spcPct val="100000"/>
              </a:lnSpc>
              <a:spcAft>
                <a:spcPts val="0"/>
              </a:spcAft>
              <a:defRPr sz="1800" b="0">
                <a:solidFill>
                  <a:srgbClr val="222222"/>
                </a:solidFill>
                <a:latin typeface="Calibri"/>
              </a:defRPr>
            </a:pPr>
            <a:r>
              <a:rPr sz="1800" b="0">
                <a:solidFill>
                  <a:srgbClr val="222222"/>
                </a:solidFill>
                <a:latin typeface="Calibri"/>
              </a:rPr>
              <a:t>Front right</a:t>
            </a:r>
          </a:p>
        </p:txBody>
      </p:sp>
      <p:sp>
        <p:nvSpPr>
          <p:cNvPr id="12" name="TextBox 11"/>
          <p:cNvSpPr txBox="1"/>
          <p:nvPr/>
        </p:nvSpPr>
        <p:spPr>
          <a:xfrm>
            <a:off x="3063240" y="3246120"/>
            <a:ext cx="1005840" cy="367792"/>
          </a:xfrm>
          <a:prstGeom prst="rect">
            <a:avLst/>
          </a:prstGeom>
          <a:noFill/>
        </p:spPr>
        <p:txBody>
          <a:bodyPr wrap="square" lIns="0" tIns="0" rIns="0" bIns="0">
            <a:spAutoFit/>
          </a:bodyPr>
          <a:lstStyle/>
          <a:p>
            <a:pPr algn="r">
              <a:lnSpc>
                <a:spcPct val="100000"/>
              </a:lnSpc>
              <a:spcAft>
                <a:spcPts val="0"/>
              </a:spcAft>
              <a:defRPr sz="1800" b="1">
                <a:solidFill>
                  <a:srgbClr val="1F3A5F"/>
                </a:solidFill>
                <a:latin typeface="Consolas"/>
              </a:defRPr>
            </a:pPr>
            <a:r>
              <a:rPr sz="1800" b="1">
                <a:solidFill>
                  <a:srgbClr val="1F3A5F"/>
                </a:solidFill>
                <a:latin typeface="Consolas"/>
              </a:rPr>
              <a:t>22 / 23</a:t>
            </a:r>
          </a:p>
        </p:txBody>
      </p:sp>
      <p:sp>
        <p:nvSpPr>
          <p:cNvPr id="13" name="TextBox 12"/>
          <p:cNvSpPr txBox="1"/>
          <p:nvPr/>
        </p:nvSpPr>
        <p:spPr>
          <a:xfrm>
            <a:off x="557784" y="3904488"/>
            <a:ext cx="2468880" cy="367792"/>
          </a:xfrm>
          <a:prstGeom prst="rect">
            <a:avLst/>
          </a:prstGeom>
          <a:noFill/>
        </p:spPr>
        <p:txBody>
          <a:bodyPr wrap="square" lIns="0" tIns="0" rIns="0" bIns="0">
            <a:spAutoFit/>
          </a:bodyPr>
          <a:lstStyle/>
          <a:p>
            <a:pPr algn="l">
              <a:lnSpc>
                <a:spcPct val="100000"/>
              </a:lnSpc>
              <a:spcAft>
                <a:spcPts val="0"/>
              </a:spcAft>
              <a:defRPr sz="1800" b="0">
                <a:solidFill>
                  <a:srgbClr val="222222"/>
                </a:solidFill>
                <a:latin typeface="Calibri"/>
              </a:defRPr>
            </a:pPr>
            <a:r>
              <a:rPr sz="1800" b="0">
                <a:solidFill>
                  <a:srgbClr val="222222"/>
                </a:solidFill>
                <a:latin typeface="Calibri"/>
              </a:rPr>
              <a:t>Rear right</a:t>
            </a:r>
          </a:p>
        </p:txBody>
      </p:sp>
      <p:sp>
        <p:nvSpPr>
          <p:cNvPr id="14" name="TextBox 13"/>
          <p:cNvSpPr txBox="1"/>
          <p:nvPr/>
        </p:nvSpPr>
        <p:spPr>
          <a:xfrm>
            <a:off x="3063240" y="3904488"/>
            <a:ext cx="1005840" cy="367792"/>
          </a:xfrm>
          <a:prstGeom prst="rect">
            <a:avLst/>
          </a:prstGeom>
          <a:noFill/>
        </p:spPr>
        <p:txBody>
          <a:bodyPr wrap="square" lIns="0" tIns="0" rIns="0" bIns="0">
            <a:spAutoFit/>
          </a:bodyPr>
          <a:lstStyle/>
          <a:p>
            <a:pPr algn="r">
              <a:lnSpc>
                <a:spcPct val="100000"/>
              </a:lnSpc>
              <a:spcAft>
                <a:spcPts val="0"/>
              </a:spcAft>
              <a:defRPr sz="1800" b="1">
                <a:solidFill>
                  <a:srgbClr val="1F3A5F"/>
                </a:solidFill>
                <a:latin typeface="Consolas"/>
              </a:defRPr>
            </a:pPr>
            <a:r>
              <a:rPr sz="1800" b="1">
                <a:solidFill>
                  <a:srgbClr val="1F3A5F"/>
                </a:solidFill>
                <a:latin typeface="Consolas"/>
              </a:rPr>
              <a:t>16 / 17</a:t>
            </a:r>
          </a:p>
        </p:txBody>
      </p:sp>
      <p:sp>
        <p:nvSpPr>
          <p:cNvPr id="15" name="TextBox 14"/>
          <p:cNvSpPr txBox="1"/>
          <p:nvPr/>
        </p:nvSpPr>
        <p:spPr>
          <a:xfrm>
            <a:off x="557784" y="4816327"/>
            <a:ext cx="3502152" cy="367792"/>
          </a:xfrm>
          <a:prstGeom prst="rect">
            <a:avLst/>
          </a:prstGeom>
          <a:noFill/>
        </p:spPr>
        <p:txBody>
          <a:bodyPr wrap="square" lIns="0" tIns="0" rIns="0" bIns="0">
            <a:spAutoFit/>
          </a:bodyPr>
          <a:lstStyle/>
          <a:p>
            <a:pPr algn="l">
              <a:lnSpc>
                <a:spcPct val="100000"/>
              </a:lnSpc>
              <a:spcAft>
                <a:spcPts val="0"/>
              </a:spcAft>
              <a:defRPr sz="1800" b="0">
                <a:solidFill>
                  <a:srgbClr val="666666"/>
                </a:solidFill>
                <a:latin typeface="Calibri"/>
              </a:defRPr>
            </a:pPr>
            <a:r>
              <a:rPr sz="1800" b="0">
                <a:solidFill>
                  <a:srgbClr val="666666"/>
                </a:solidFill>
                <a:latin typeface="Calibri"/>
              </a:rPr>
              <a:t>two pins each: drive one for</a:t>
            </a:r>
          </a:p>
        </p:txBody>
      </p:sp>
      <p:sp>
        <p:nvSpPr>
          <p:cNvPr id="16" name="TextBox 15"/>
          <p:cNvSpPr txBox="1"/>
          <p:nvPr/>
        </p:nvSpPr>
        <p:spPr>
          <a:xfrm>
            <a:off x="557784" y="5246899"/>
            <a:ext cx="3502152" cy="367792"/>
          </a:xfrm>
          <a:prstGeom prst="rect">
            <a:avLst/>
          </a:prstGeom>
          <a:noFill/>
        </p:spPr>
        <p:txBody>
          <a:bodyPr wrap="square" lIns="0" tIns="0" rIns="0" bIns="0">
            <a:spAutoFit/>
          </a:bodyPr>
          <a:lstStyle/>
          <a:p>
            <a:pPr algn="l">
              <a:lnSpc>
                <a:spcPct val="100000"/>
              </a:lnSpc>
              <a:spcAft>
                <a:spcPts val="0"/>
              </a:spcAft>
              <a:defRPr sz="1800" b="0">
                <a:solidFill>
                  <a:srgbClr val="666666"/>
                </a:solidFill>
                <a:latin typeface="Calibri"/>
              </a:defRPr>
            </a:pPr>
            <a:r>
              <a:rPr sz="1800" b="0">
                <a:solidFill>
                  <a:srgbClr val="666666"/>
                </a:solidFill>
                <a:latin typeface="Calibri"/>
              </a:rPr>
              <a:t>forward, the other for reverse</a:t>
            </a:r>
          </a:p>
        </p:txBody>
      </p:sp>
      <p:sp>
        <p:nvSpPr>
          <p:cNvPr id="17" name="Rectangle 16"/>
          <p:cNvSpPr/>
          <p:nvPr/>
        </p:nvSpPr>
        <p:spPr>
          <a:xfrm>
            <a:off x="4370832" y="1325880"/>
            <a:ext cx="3611880" cy="475488"/>
          </a:xfrm>
          <a:prstGeom prst="rect">
            <a:avLst/>
          </a:prstGeom>
          <a:solidFill>
            <a:srgbClr val="D6ECEE"/>
          </a:solidFill>
          <a:ln w="1905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LIGHTS AND SERVOS</a:t>
            </a:r>
          </a:p>
        </p:txBody>
      </p:sp>
      <p:sp>
        <p:nvSpPr>
          <p:cNvPr id="18" name="TextBox 17"/>
          <p:cNvSpPr txBox="1"/>
          <p:nvPr/>
        </p:nvSpPr>
        <p:spPr>
          <a:xfrm>
            <a:off x="4425696" y="1929384"/>
            <a:ext cx="2468880" cy="367792"/>
          </a:xfrm>
          <a:prstGeom prst="rect">
            <a:avLst/>
          </a:prstGeom>
          <a:noFill/>
        </p:spPr>
        <p:txBody>
          <a:bodyPr wrap="square" lIns="0" tIns="0" rIns="0" bIns="0">
            <a:spAutoFit/>
          </a:bodyPr>
          <a:lstStyle/>
          <a:p>
            <a:pPr algn="l">
              <a:lnSpc>
                <a:spcPct val="100000"/>
              </a:lnSpc>
              <a:spcAft>
                <a:spcPts val="0"/>
              </a:spcAft>
              <a:defRPr sz="1800" b="0">
                <a:solidFill>
                  <a:srgbClr val="222222"/>
                </a:solidFill>
                <a:latin typeface="Calibri"/>
              </a:defRPr>
            </a:pPr>
            <a:r>
              <a:rPr sz="1800" b="0">
                <a:solidFill>
                  <a:srgbClr val="222222"/>
                </a:solidFill>
                <a:latin typeface="Calibri"/>
              </a:rPr>
              <a:t>32 NeoPixels</a:t>
            </a:r>
          </a:p>
        </p:txBody>
      </p:sp>
      <p:sp>
        <p:nvSpPr>
          <p:cNvPr id="19" name="TextBox 18"/>
          <p:cNvSpPr txBox="1"/>
          <p:nvPr/>
        </p:nvSpPr>
        <p:spPr>
          <a:xfrm>
            <a:off x="6931152" y="1929384"/>
            <a:ext cx="1005840" cy="367792"/>
          </a:xfrm>
          <a:prstGeom prst="rect">
            <a:avLst/>
          </a:prstGeom>
          <a:noFill/>
        </p:spPr>
        <p:txBody>
          <a:bodyPr wrap="square" lIns="0" tIns="0" rIns="0" bIns="0">
            <a:spAutoFit/>
          </a:bodyPr>
          <a:lstStyle/>
          <a:p>
            <a:pPr algn="r">
              <a:lnSpc>
                <a:spcPct val="100000"/>
              </a:lnSpc>
              <a:spcAft>
                <a:spcPts val="0"/>
              </a:spcAft>
              <a:defRPr sz="1800" b="1">
                <a:solidFill>
                  <a:srgbClr val="1F3A5F"/>
                </a:solidFill>
                <a:latin typeface="Consolas"/>
              </a:defRPr>
            </a:pPr>
            <a:r>
              <a:rPr sz="1800" b="1">
                <a:solidFill>
                  <a:srgbClr val="1F3A5F"/>
                </a:solidFill>
                <a:latin typeface="Consolas"/>
              </a:rPr>
              <a:t>5</a:t>
            </a:r>
          </a:p>
        </p:txBody>
      </p:sp>
      <p:sp>
        <p:nvSpPr>
          <p:cNvPr id="20" name="TextBox 19"/>
          <p:cNvSpPr txBox="1"/>
          <p:nvPr/>
        </p:nvSpPr>
        <p:spPr>
          <a:xfrm>
            <a:off x="4425696" y="2587752"/>
            <a:ext cx="2468880" cy="367792"/>
          </a:xfrm>
          <a:prstGeom prst="rect">
            <a:avLst/>
          </a:prstGeom>
          <a:noFill/>
        </p:spPr>
        <p:txBody>
          <a:bodyPr wrap="square" lIns="0" tIns="0" rIns="0" bIns="0">
            <a:spAutoFit/>
          </a:bodyPr>
          <a:lstStyle/>
          <a:p>
            <a:pPr algn="l">
              <a:lnSpc>
                <a:spcPct val="100000"/>
              </a:lnSpc>
              <a:spcAft>
                <a:spcPts val="0"/>
              </a:spcAft>
              <a:defRPr sz="1800" b="0">
                <a:solidFill>
                  <a:srgbClr val="222222"/>
                </a:solidFill>
                <a:latin typeface="Calibri"/>
              </a:defRPr>
            </a:pPr>
            <a:r>
              <a:rPr sz="1800" b="0">
                <a:solidFill>
                  <a:srgbClr val="222222"/>
                </a:solidFill>
                <a:latin typeface="Calibri"/>
              </a:rPr>
              <a:t>Servo 1 / 2</a:t>
            </a:r>
          </a:p>
        </p:txBody>
      </p:sp>
      <p:sp>
        <p:nvSpPr>
          <p:cNvPr id="21" name="TextBox 20"/>
          <p:cNvSpPr txBox="1"/>
          <p:nvPr/>
        </p:nvSpPr>
        <p:spPr>
          <a:xfrm>
            <a:off x="6931152" y="2587752"/>
            <a:ext cx="1005840" cy="367792"/>
          </a:xfrm>
          <a:prstGeom prst="rect">
            <a:avLst/>
          </a:prstGeom>
          <a:noFill/>
        </p:spPr>
        <p:txBody>
          <a:bodyPr wrap="square" lIns="0" tIns="0" rIns="0" bIns="0">
            <a:spAutoFit/>
          </a:bodyPr>
          <a:lstStyle/>
          <a:p>
            <a:pPr algn="r">
              <a:lnSpc>
                <a:spcPct val="100000"/>
              </a:lnSpc>
              <a:spcAft>
                <a:spcPts val="0"/>
              </a:spcAft>
              <a:defRPr sz="1800" b="1">
                <a:solidFill>
                  <a:srgbClr val="1F3A5F"/>
                </a:solidFill>
                <a:latin typeface="Consolas"/>
              </a:defRPr>
            </a:pPr>
            <a:r>
              <a:rPr sz="1800" b="1">
                <a:solidFill>
                  <a:srgbClr val="1F3A5F"/>
                </a:solidFill>
                <a:latin typeface="Consolas"/>
              </a:rPr>
              <a:t>25 / 26</a:t>
            </a:r>
          </a:p>
        </p:txBody>
      </p:sp>
      <p:sp>
        <p:nvSpPr>
          <p:cNvPr id="22" name="TextBox 21"/>
          <p:cNvSpPr txBox="1"/>
          <p:nvPr/>
        </p:nvSpPr>
        <p:spPr>
          <a:xfrm>
            <a:off x="4425696" y="3246120"/>
            <a:ext cx="2468880" cy="367792"/>
          </a:xfrm>
          <a:prstGeom prst="rect">
            <a:avLst/>
          </a:prstGeom>
          <a:noFill/>
        </p:spPr>
        <p:txBody>
          <a:bodyPr wrap="square" lIns="0" tIns="0" rIns="0" bIns="0">
            <a:spAutoFit/>
          </a:bodyPr>
          <a:lstStyle/>
          <a:p>
            <a:pPr algn="l">
              <a:lnSpc>
                <a:spcPct val="100000"/>
              </a:lnSpc>
              <a:spcAft>
                <a:spcPts val="0"/>
              </a:spcAft>
              <a:defRPr sz="1800" b="0">
                <a:solidFill>
                  <a:srgbClr val="222222"/>
                </a:solidFill>
                <a:latin typeface="Calibri"/>
              </a:defRPr>
            </a:pPr>
            <a:r>
              <a:rPr sz="1800" b="0">
                <a:solidFill>
                  <a:srgbClr val="222222"/>
                </a:solidFill>
                <a:latin typeface="Calibri"/>
              </a:rPr>
              <a:t>Servo 3 / 4</a:t>
            </a:r>
          </a:p>
        </p:txBody>
      </p:sp>
      <p:sp>
        <p:nvSpPr>
          <p:cNvPr id="23" name="TextBox 22"/>
          <p:cNvSpPr txBox="1"/>
          <p:nvPr/>
        </p:nvSpPr>
        <p:spPr>
          <a:xfrm>
            <a:off x="6931152" y="3246120"/>
            <a:ext cx="1005840" cy="367792"/>
          </a:xfrm>
          <a:prstGeom prst="rect">
            <a:avLst/>
          </a:prstGeom>
          <a:noFill/>
        </p:spPr>
        <p:txBody>
          <a:bodyPr wrap="square" lIns="0" tIns="0" rIns="0" bIns="0">
            <a:spAutoFit/>
          </a:bodyPr>
          <a:lstStyle/>
          <a:p>
            <a:pPr algn="r">
              <a:lnSpc>
                <a:spcPct val="100000"/>
              </a:lnSpc>
              <a:spcAft>
                <a:spcPts val="0"/>
              </a:spcAft>
              <a:defRPr sz="1800" b="1">
                <a:solidFill>
                  <a:srgbClr val="1F3A5F"/>
                </a:solidFill>
                <a:latin typeface="Consolas"/>
              </a:defRPr>
            </a:pPr>
            <a:r>
              <a:rPr sz="1800" b="1">
                <a:solidFill>
                  <a:srgbClr val="1F3A5F"/>
                </a:solidFill>
                <a:latin typeface="Consolas"/>
              </a:rPr>
              <a:t>27 / 14</a:t>
            </a:r>
          </a:p>
        </p:txBody>
      </p:sp>
      <p:sp>
        <p:nvSpPr>
          <p:cNvPr id="24" name="TextBox 23"/>
          <p:cNvSpPr txBox="1"/>
          <p:nvPr/>
        </p:nvSpPr>
        <p:spPr>
          <a:xfrm>
            <a:off x="4425696" y="4157959"/>
            <a:ext cx="3502152" cy="367792"/>
          </a:xfrm>
          <a:prstGeom prst="rect">
            <a:avLst/>
          </a:prstGeom>
          <a:noFill/>
        </p:spPr>
        <p:txBody>
          <a:bodyPr wrap="square" lIns="0" tIns="0" rIns="0" bIns="0">
            <a:spAutoFit/>
          </a:bodyPr>
          <a:lstStyle/>
          <a:p>
            <a:pPr algn="l">
              <a:lnSpc>
                <a:spcPct val="100000"/>
              </a:lnSpc>
              <a:spcAft>
                <a:spcPts val="0"/>
              </a:spcAft>
              <a:defRPr sz="1800" b="0">
                <a:solidFill>
                  <a:srgbClr val="666666"/>
                </a:solidFill>
                <a:latin typeface="Calibri"/>
              </a:defRPr>
            </a:pPr>
            <a:r>
              <a:rPr sz="1800" b="0">
                <a:solidFill>
                  <a:srgbClr val="666666"/>
                </a:solidFill>
                <a:latin typeface="Calibri"/>
              </a:rPr>
              <a:t>one data wire drives all 32</a:t>
            </a:r>
          </a:p>
        </p:txBody>
      </p:sp>
      <p:sp>
        <p:nvSpPr>
          <p:cNvPr id="25" name="TextBox 24"/>
          <p:cNvSpPr txBox="1"/>
          <p:nvPr/>
        </p:nvSpPr>
        <p:spPr>
          <a:xfrm>
            <a:off x="4425696" y="4588531"/>
            <a:ext cx="3502152" cy="367792"/>
          </a:xfrm>
          <a:prstGeom prst="rect">
            <a:avLst/>
          </a:prstGeom>
          <a:noFill/>
        </p:spPr>
        <p:txBody>
          <a:bodyPr wrap="square" lIns="0" tIns="0" rIns="0" bIns="0">
            <a:spAutoFit/>
          </a:bodyPr>
          <a:lstStyle/>
          <a:p>
            <a:pPr algn="l">
              <a:lnSpc>
                <a:spcPct val="100000"/>
              </a:lnSpc>
              <a:spcAft>
                <a:spcPts val="0"/>
              </a:spcAft>
              <a:defRPr sz="1800" b="0">
                <a:solidFill>
                  <a:srgbClr val="666666"/>
                </a:solidFill>
                <a:latin typeface="Calibri"/>
              </a:defRPr>
            </a:pPr>
            <a:r>
              <a:rPr sz="1800" b="0">
                <a:solidFill>
                  <a:srgbClr val="666666"/>
                </a:solidFill>
                <a:latin typeface="Calibri"/>
              </a:rPr>
              <a:t>LEDs, in one chain</a:t>
            </a:r>
          </a:p>
        </p:txBody>
      </p:sp>
      <p:sp>
        <p:nvSpPr>
          <p:cNvPr id="26" name="Rectangle 25"/>
          <p:cNvSpPr/>
          <p:nvPr/>
        </p:nvSpPr>
        <p:spPr>
          <a:xfrm>
            <a:off x="8238744" y="1325880"/>
            <a:ext cx="3611880" cy="475488"/>
          </a:xfrm>
          <a:prstGeom prst="rect">
            <a:avLst/>
          </a:prstGeom>
          <a:solidFill>
            <a:srgbClr val="E8ECF0"/>
          </a:solidFill>
          <a:ln w="1905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EVERYTHING ELSE</a:t>
            </a:r>
          </a:p>
        </p:txBody>
      </p:sp>
      <p:sp>
        <p:nvSpPr>
          <p:cNvPr id="27" name="TextBox 26"/>
          <p:cNvSpPr txBox="1"/>
          <p:nvPr/>
        </p:nvSpPr>
        <p:spPr>
          <a:xfrm>
            <a:off x="8293608" y="1929384"/>
            <a:ext cx="2468880" cy="367792"/>
          </a:xfrm>
          <a:prstGeom prst="rect">
            <a:avLst/>
          </a:prstGeom>
          <a:noFill/>
        </p:spPr>
        <p:txBody>
          <a:bodyPr wrap="square" lIns="0" tIns="0" rIns="0" bIns="0">
            <a:spAutoFit/>
          </a:bodyPr>
          <a:lstStyle/>
          <a:p>
            <a:pPr algn="l">
              <a:lnSpc>
                <a:spcPct val="100000"/>
              </a:lnSpc>
              <a:spcAft>
                <a:spcPts val="0"/>
              </a:spcAft>
              <a:defRPr sz="1800" b="0">
                <a:solidFill>
                  <a:srgbClr val="222222"/>
                </a:solidFill>
                <a:latin typeface="Calibri"/>
              </a:defRPr>
            </a:pPr>
            <a:r>
              <a:rPr sz="1800" b="0">
                <a:solidFill>
                  <a:srgbClr val="222222"/>
                </a:solidFill>
                <a:latin typeface="Calibri"/>
              </a:rPr>
              <a:t>I2C  SDA / SCL</a:t>
            </a:r>
          </a:p>
        </p:txBody>
      </p:sp>
      <p:sp>
        <p:nvSpPr>
          <p:cNvPr id="28" name="TextBox 27"/>
          <p:cNvSpPr txBox="1"/>
          <p:nvPr/>
        </p:nvSpPr>
        <p:spPr>
          <a:xfrm>
            <a:off x="10799064" y="1929384"/>
            <a:ext cx="1005840" cy="367792"/>
          </a:xfrm>
          <a:prstGeom prst="rect">
            <a:avLst/>
          </a:prstGeom>
          <a:noFill/>
        </p:spPr>
        <p:txBody>
          <a:bodyPr wrap="square" lIns="0" tIns="0" rIns="0" bIns="0">
            <a:spAutoFit/>
          </a:bodyPr>
          <a:lstStyle/>
          <a:p>
            <a:pPr algn="r">
              <a:lnSpc>
                <a:spcPct val="100000"/>
              </a:lnSpc>
              <a:spcAft>
                <a:spcPts val="0"/>
              </a:spcAft>
              <a:defRPr sz="1800" b="1">
                <a:solidFill>
                  <a:srgbClr val="1F3A5F"/>
                </a:solidFill>
                <a:latin typeface="Consolas"/>
              </a:defRPr>
            </a:pPr>
            <a:r>
              <a:rPr sz="1800" b="1">
                <a:solidFill>
                  <a:srgbClr val="1F3A5F"/>
                </a:solidFill>
                <a:latin typeface="Consolas"/>
              </a:rPr>
              <a:t>32 / 33</a:t>
            </a:r>
          </a:p>
        </p:txBody>
      </p:sp>
      <p:sp>
        <p:nvSpPr>
          <p:cNvPr id="29" name="TextBox 28"/>
          <p:cNvSpPr txBox="1"/>
          <p:nvPr/>
        </p:nvSpPr>
        <p:spPr>
          <a:xfrm>
            <a:off x="8293608" y="2587752"/>
            <a:ext cx="2468880" cy="367792"/>
          </a:xfrm>
          <a:prstGeom prst="rect">
            <a:avLst/>
          </a:prstGeom>
          <a:noFill/>
        </p:spPr>
        <p:txBody>
          <a:bodyPr wrap="square" lIns="0" tIns="0" rIns="0" bIns="0">
            <a:spAutoFit/>
          </a:bodyPr>
          <a:lstStyle/>
          <a:p>
            <a:pPr algn="l">
              <a:lnSpc>
                <a:spcPct val="100000"/>
              </a:lnSpc>
              <a:spcAft>
                <a:spcPts val="0"/>
              </a:spcAft>
              <a:defRPr sz="1800" b="0">
                <a:solidFill>
                  <a:srgbClr val="222222"/>
                </a:solidFill>
                <a:latin typeface="Calibri"/>
              </a:defRPr>
            </a:pPr>
            <a:r>
              <a:rPr sz="1800" b="0">
                <a:solidFill>
                  <a:srgbClr val="222222"/>
                </a:solidFill>
                <a:latin typeface="Calibri"/>
              </a:rPr>
              <a:t>BOOT button</a:t>
            </a:r>
          </a:p>
        </p:txBody>
      </p:sp>
      <p:sp>
        <p:nvSpPr>
          <p:cNvPr id="30" name="TextBox 29"/>
          <p:cNvSpPr txBox="1"/>
          <p:nvPr/>
        </p:nvSpPr>
        <p:spPr>
          <a:xfrm>
            <a:off x="10799064" y="2587752"/>
            <a:ext cx="1005840" cy="367792"/>
          </a:xfrm>
          <a:prstGeom prst="rect">
            <a:avLst/>
          </a:prstGeom>
          <a:noFill/>
        </p:spPr>
        <p:txBody>
          <a:bodyPr wrap="square" lIns="0" tIns="0" rIns="0" bIns="0">
            <a:spAutoFit/>
          </a:bodyPr>
          <a:lstStyle/>
          <a:p>
            <a:pPr algn="r">
              <a:lnSpc>
                <a:spcPct val="100000"/>
              </a:lnSpc>
              <a:spcAft>
                <a:spcPts val="0"/>
              </a:spcAft>
              <a:defRPr sz="1800" b="1">
                <a:solidFill>
                  <a:srgbClr val="1F3A5F"/>
                </a:solidFill>
                <a:latin typeface="Consolas"/>
              </a:defRPr>
            </a:pPr>
            <a:r>
              <a:rPr sz="1800" b="1">
                <a:solidFill>
                  <a:srgbClr val="1F3A5F"/>
                </a:solidFill>
                <a:latin typeface="Consolas"/>
              </a:rPr>
              <a:t>0</a:t>
            </a:r>
          </a:p>
        </p:txBody>
      </p:sp>
      <p:sp>
        <p:nvSpPr>
          <p:cNvPr id="31" name="TextBox 30"/>
          <p:cNvSpPr txBox="1"/>
          <p:nvPr/>
        </p:nvSpPr>
        <p:spPr>
          <a:xfrm>
            <a:off x="8293608" y="3246120"/>
            <a:ext cx="2468880" cy="367792"/>
          </a:xfrm>
          <a:prstGeom prst="rect">
            <a:avLst/>
          </a:prstGeom>
          <a:noFill/>
        </p:spPr>
        <p:txBody>
          <a:bodyPr wrap="square" lIns="0" tIns="0" rIns="0" bIns="0">
            <a:spAutoFit/>
          </a:bodyPr>
          <a:lstStyle/>
          <a:p>
            <a:pPr algn="l">
              <a:lnSpc>
                <a:spcPct val="100000"/>
              </a:lnSpc>
              <a:spcAft>
                <a:spcPts val="0"/>
              </a:spcAft>
              <a:defRPr sz="1800" b="0">
                <a:solidFill>
                  <a:srgbClr val="222222"/>
                </a:solidFill>
                <a:latin typeface="Calibri"/>
              </a:defRPr>
            </a:pPr>
            <a:r>
              <a:rPr sz="1800" b="0">
                <a:solidFill>
                  <a:srgbClr val="222222"/>
                </a:solidFill>
                <a:latin typeface="Calibri"/>
              </a:rPr>
              <a:t>Self-test jumper</a:t>
            </a:r>
          </a:p>
        </p:txBody>
      </p:sp>
      <p:sp>
        <p:nvSpPr>
          <p:cNvPr id="32" name="TextBox 31"/>
          <p:cNvSpPr txBox="1"/>
          <p:nvPr/>
        </p:nvSpPr>
        <p:spPr>
          <a:xfrm>
            <a:off x="10799064" y="3246120"/>
            <a:ext cx="1005840" cy="367792"/>
          </a:xfrm>
          <a:prstGeom prst="rect">
            <a:avLst/>
          </a:prstGeom>
          <a:noFill/>
        </p:spPr>
        <p:txBody>
          <a:bodyPr wrap="square" lIns="0" tIns="0" rIns="0" bIns="0">
            <a:spAutoFit/>
          </a:bodyPr>
          <a:lstStyle/>
          <a:p>
            <a:pPr algn="r">
              <a:lnSpc>
                <a:spcPct val="100000"/>
              </a:lnSpc>
              <a:spcAft>
                <a:spcPts val="0"/>
              </a:spcAft>
              <a:defRPr sz="1800" b="1">
                <a:solidFill>
                  <a:srgbClr val="1F3A5F"/>
                </a:solidFill>
                <a:latin typeface="Consolas"/>
              </a:defRPr>
            </a:pPr>
            <a:r>
              <a:rPr sz="1800" b="1">
                <a:solidFill>
                  <a:srgbClr val="1F3A5F"/>
                </a:solidFill>
                <a:latin typeface="Consolas"/>
              </a:rPr>
              <a:t>34</a:t>
            </a:r>
          </a:p>
        </p:txBody>
      </p:sp>
      <p:sp>
        <p:nvSpPr>
          <p:cNvPr id="33" name="TextBox 32"/>
          <p:cNvSpPr txBox="1"/>
          <p:nvPr/>
        </p:nvSpPr>
        <p:spPr>
          <a:xfrm>
            <a:off x="8293608" y="3904488"/>
            <a:ext cx="2468880" cy="367792"/>
          </a:xfrm>
          <a:prstGeom prst="rect">
            <a:avLst/>
          </a:prstGeom>
          <a:noFill/>
        </p:spPr>
        <p:txBody>
          <a:bodyPr wrap="square" lIns="0" tIns="0" rIns="0" bIns="0">
            <a:spAutoFit/>
          </a:bodyPr>
          <a:lstStyle/>
          <a:p>
            <a:pPr algn="l">
              <a:lnSpc>
                <a:spcPct val="100000"/>
              </a:lnSpc>
              <a:spcAft>
                <a:spcPts val="0"/>
              </a:spcAft>
              <a:defRPr sz="1800" b="0">
                <a:solidFill>
                  <a:srgbClr val="222222"/>
                </a:solidFill>
                <a:latin typeface="Calibri"/>
              </a:defRPr>
            </a:pPr>
            <a:r>
              <a:rPr sz="1800" b="0">
                <a:solidFill>
                  <a:srgbClr val="222222"/>
                </a:solidFill>
                <a:latin typeface="Calibri"/>
              </a:rPr>
              <a:t>Blink LED, Lesson 1</a:t>
            </a:r>
          </a:p>
        </p:txBody>
      </p:sp>
      <p:sp>
        <p:nvSpPr>
          <p:cNvPr id="34" name="TextBox 33"/>
          <p:cNvSpPr txBox="1"/>
          <p:nvPr/>
        </p:nvSpPr>
        <p:spPr>
          <a:xfrm>
            <a:off x="10799064" y="3904488"/>
            <a:ext cx="1005840" cy="367792"/>
          </a:xfrm>
          <a:prstGeom prst="rect">
            <a:avLst/>
          </a:prstGeom>
          <a:noFill/>
        </p:spPr>
        <p:txBody>
          <a:bodyPr wrap="square" lIns="0" tIns="0" rIns="0" bIns="0">
            <a:spAutoFit/>
          </a:bodyPr>
          <a:lstStyle/>
          <a:p>
            <a:pPr algn="r">
              <a:lnSpc>
                <a:spcPct val="100000"/>
              </a:lnSpc>
              <a:spcAft>
                <a:spcPts val="0"/>
              </a:spcAft>
              <a:defRPr sz="1800" b="1">
                <a:solidFill>
                  <a:srgbClr val="1F3A5F"/>
                </a:solidFill>
                <a:latin typeface="Consolas"/>
              </a:defRPr>
            </a:pPr>
            <a:r>
              <a:rPr sz="1800" b="1">
                <a:solidFill>
                  <a:srgbClr val="1F3A5F"/>
                </a:solidFill>
                <a:latin typeface="Consolas"/>
              </a:rPr>
              <a:t>2</a:t>
            </a:r>
          </a:p>
        </p:txBody>
      </p:sp>
      <p:sp>
        <p:nvSpPr>
          <p:cNvPr id="35" name="TextBox 34"/>
          <p:cNvSpPr txBox="1"/>
          <p:nvPr/>
        </p:nvSpPr>
        <p:spPr>
          <a:xfrm>
            <a:off x="8293608" y="4816327"/>
            <a:ext cx="3502152" cy="367792"/>
          </a:xfrm>
          <a:prstGeom prst="rect">
            <a:avLst/>
          </a:prstGeom>
          <a:noFill/>
        </p:spPr>
        <p:txBody>
          <a:bodyPr wrap="square" lIns="0" tIns="0" rIns="0" bIns="0">
            <a:spAutoFit/>
          </a:bodyPr>
          <a:lstStyle/>
          <a:p>
            <a:pPr algn="l">
              <a:lnSpc>
                <a:spcPct val="100000"/>
              </a:lnSpc>
              <a:spcAft>
                <a:spcPts val="0"/>
              </a:spcAft>
              <a:defRPr sz="1800" b="0">
                <a:solidFill>
                  <a:srgbClr val="666666"/>
                </a:solidFill>
                <a:latin typeface="Calibri"/>
              </a:defRPr>
            </a:pPr>
            <a:r>
              <a:rPr sz="1800" b="0">
                <a:solidFill>
                  <a:srgbClr val="666666"/>
                </a:solidFill>
                <a:latin typeface="Calibri"/>
              </a:rPr>
              <a:t>34 to 39 are INPUT ONLY</a:t>
            </a:r>
          </a:p>
        </p:txBody>
      </p:sp>
      <p:sp>
        <p:nvSpPr>
          <p:cNvPr id="36" name="TextBox 35"/>
          <p:cNvSpPr txBox="1"/>
          <p:nvPr/>
        </p:nvSpPr>
        <p:spPr>
          <a:xfrm>
            <a:off x="8293608" y="5246899"/>
            <a:ext cx="3502152" cy="367792"/>
          </a:xfrm>
          <a:prstGeom prst="rect">
            <a:avLst/>
          </a:prstGeom>
          <a:noFill/>
        </p:spPr>
        <p:txBody>
          <a:bodyPr wrap="square" lIns="0" tIns="0" rIns="0" bIns="0">
            <a:spAutoFit/>
          </a:bodyPr>
          <a:lstStyle/>
          <a:p>
            <a:pPr algn="l">
              <a:lnSpc>
                <a:spcPct val="100000"/>
              </a:lnSpc>
              <a:spcAft>
                <a:spcPts val="0"/>
              </a:spcAft>
              <a:defRPr sz="1800" b="0">
                <a:solidFill>
                  <a:srgbClr val="666666"/>
                </a:solidFill>
                <a:latin typeface="Calibri"/>
              </a:defRPr>
            </a:pPr>
            <a:r>
              <a:rPr sz="1800" b="0">
                <a:solidFill>
                  <a:srgbClr val="666666"/>
                </a:solidFill>
                <a:latin typeface="Calibri"/>
              </a:rPr>
              <a:t>and have no pull-ups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The Gen 3 control board, drawn out</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21</a:t>
            </a:r>
          </a:p>
        </p:txBody>
      </p:sp>
      <p:pic>
        <p:nvPicPr>
          <p:cNvPr id="6" name="Picture 5" descr="control-board-schematic.jpg"/>
          <p:cNvPicPr>
            <a:picLocks noChangeAspect="1"/>
          </p:cNvPicPr>
          <p:nvPr/>
        </p:nvPicPr>
        <p:blipFill>
          <a:blip r:embed="rId2"/>
          <a:stretch>
            <a:fillRect/>
          </a:stretch>
        </p:blipFill>
        <p:spPr>
          <a:xfrm>
            <a:off x="2782646" y="1188720"/>
            <a:ext cx="6626403" cy="4343400"/>
          </a:xfrm>
          <a:prstGeom prst="rect">
            <a:avLst/>
          </a:prstGeom>
        </p:spPr>
      </p:pic>
      <p:sp>
        <p:nvSpPr>
          <p:cNvPr id="7" name="TextBox 6"/>
          <p:cNvSpPr txBox="1"/>
          <p:nvPr/>
        </p:nvSpPr>
        <p:spPr>
          <a:xfrm>
            <a:off x="502920" y="5586984"/>
            <a:ext cx="11185855" cy="676656"/>
          </a:xfrm>
          <a:prstGeom prst="rect">
            <a:avLst/>
          </a:prstGeom>
          <a:noFill/>
        </p:spPr>
        <p:txBody>
          <a:bodyPr wrap="square" lIns="0" tIns="0" rIns="0" bIns="0">
            <a:spAutoFit/>
          </a:bodyPr>
          <a:lstStyle/>
          <a:p>
            <a:pPr algn="ctr">
              <a:lnSpc>
                <a:spcPct val="100000"/>
              </a:lnSpc>
              <a:spcAft>
                <a:spcPts val="200"/>
              </a:spcAft>
              <a:defRPr sz="1800" b="0">
                <a:solidFill>
                  <a:srgbClr val="666666"/>
                </a:solidFill>
                <a:latin typeface="Calibri"/>
              </a:defRPr>
            </a:pPr>
            <a:r>
              <a:rPr sz="1800" b="0">
                <a:solidFill>
                  <a:srgbClr val="666666"/>
                </a:solidFill>
                <a:latin typeface="Calibri"/>
              </a:rPr>
              <a:t>You are not expected to read this today. It is here so you know it exists, and so you can come back to it.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The development system is two machines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22</a:t>
            </a:r>
          </a:p>
        </p:txBody>
      </p:sp>
      <p:sp>
        <p:nvSpPr>
          <p:cNvPr id="6" name="TextBox 5"/>
          <p:cNvSpPr txBox="1"/>
          <p:nvPr/>
        </p:nvSpPr>
        <p:spPr>
          <a:xfrm>
            <a:off x="502920" y="1188720"/>
            <a:ext cx="11185855" cy="548640"/>
          </a:xfrm>
          <a:prstGeom prst="rect">
            <a:avLst/>
          </a:prstGeom>
          <a:noFill/>
        </p:spPr>
        <p:txBody>
          <a:bodyPr wrap="square" lIns="0" tIns="0" rIns="0" bIns="0">
            <a:spAutoFit/>
          </a:bodyPr>
          <a:lstStyle/>
          <a:p>
            <a:pPr algn="l">
              <a:lnSpc>
                <a:spcPct val="100000"/>
              </a:lnSpc>
              <a:spcAft>
                <a:spcPts val="200"/>
              </a:spcAft>
              <a:defRPr sz="1800" b="0">
                <a:solidFill>
                  <a:srgbClr val="222222"/>
                </a:solidFill>
                <a:latin typeface="Calibri"/>
              </a:defRPr>
            </a:pPr>
            <a:r>
              <a:rPr sz="1800" b="0">
                <a:solidFill>
                  <a:srgbClr val="222222"/>
                </a:solidFill>
                <a:latin typeface="Calibri"/>
              </a:rPr>
              <a:t>Your program is written and compiled on a laptop, then sent down a USB cable into the ESP32, where it runs on its own with the laptop unplugged.</a:t>
            </a:r>
          </a:p>
        </p:txBody>
      </p:sp>
      <p:pic>
        <p:nvPicPr>
          <p:cNvPr id="7" name="Picture 6" descr="vehicle-and-laptop.jpg"/>
          <p:cNvPicPr>
            <a:picLocks noChangeAspect="1"/>
          </p:cNvPicPr>
          <p:nvPr/>
        </p:nvPicPr>
        <p:blipFill>
          <a:blip r:embed="rId2"/>
          <a:stretch>
            <a:fillRect/>
          </a:stretch>
        </p:blipFill>
        <p:spPr>
          <a:xfrm>
            <a:off x="1549831" y="1810512"/>
            <a:ext cx="3316224" cy="2487168"/>
          </a:xfrm>
          <a:prstGeom prst="rect">
            <a:avLst/>
          </a:prstGeom>
        </p:spPr>
      </p:pic>
      <p:pic>
        <p:nvPicPr>
          <p:cNvPr id="8" name="Picture 7" descr="vehicle-top-esp32.jpg"/>
          <p:cNvPicPr>
            <a:picLocks noChangeAspect="1"/>
          </p:cNvPicPr>
          <p:nvPr/>
        </p:nvPicPr>
        <p:blipFill>
          <a:blip r:embed="rId3"/>
          <a:stretch>
            <a:fillRect/>
          </a:stretch>
        </p:blipFill>
        <p:spPr>
          <a:xfrm>
            <a:off x="7427991" y="1810512"/>
            <a:ext cx="3111519" cy="2487168"/>
          </a:xfrm>
          <a:prstGeom prst="rect">
            <a:avLst/>
          </a:prstGeom>
        </p:spPr>
      </p:pic>
      <p:sp>
        <p:nvSpPr>
          <p:cNvPr id="9" name="TextBox 8"/>
          <p:cNvSpPr txBox="1"/>
          <p:nvPr/>
        </p:nvSpPr>
        <p:spPr>
          <a:xfrm>
            <a:off x="502920" y="4370832"/>
            <a:ext cx="5410047" cy="658368"/>
          </a:xfrm>
          <a:prstGeom prst="rect">
            <a:avLst/>
          </a:prstGeom>
          <a:noFill/>
        </p:spPr>
        <p:txBody>
          <a:bodyPr wrap="square" lIns="0" tIns="0" rIns="0" bIns="0">
            <a:spAutoFit/>
          </a:bodyPr>
          <a:lstStyle/>
          <a:p>
            <a:pPr algn="ctr">
              <a:lnSpc>
                <a:spcPct val="100000"/>
              </a:lnSpc>
              <a:spcAft>
                <a:spcPts val="600"/>
              </a:spcAft>
              <a:defRPr sz="1800" b="0">
                <a:solidFill>
                  <a:srgbClr val="666666"/>
                </a:solidFill>
                <a:latin typeface="Calibri"/>
              </a:defRPr>
            </a:pPr>
            <a:r>
              <a:rPr sz="1800" b="0">
                <a:solidFill>
                  <a:srgbClr val="666666"/>
                </a:solidFill>
                <a:latin typeface="Calibri"/>
              </a:rPr>
              <a:t>The laptop compiles. The vehicle runs.</a:t>
            </a:r>
          </a:p>
        </p:txBody>
      </p:sp>
      <p:sp>
        <p:nvSpPr>
          <p:cNvPr id="10" name="TextBox 9"/>
          <p:cNvSpPr txBox="1"/>
          <p:nvPr/>
        </p:nvSpPr>
        <p:spPr>
          <a:xfrm>
            <a:off x="6278727" y="4370832"/>
            <a:ext cx="5410047" cy="658368"/>
          </a:xfrm>
          <a:prstGeom prst="rect">
            <a:avLst/>
          </a:prstGeom>
          <a:noFill/>
        </p:spPr>
        <p:txBody>
          <a:bodyPr wrap="square" lIns="0" tIns="0" rIns="0" bIns="0">
            <a:spAutoFit/>
          </a:bodyPr>
          <a:lstStyle/>
          <a:p>
            <a:pPr algn="ctr">
              <a:lnSpc>
                <a:spcPct val="100000"/>
              </a:lnSpc>
              <a:spcAft>
                <a:spcPts val="200"/>
              </a:spcAft>
              <a:defRPr sz="1800" b="0">
                <a:solidFill>
                  <a:srgbClr val="666666"/>
                </a:solidFill>
                <a:latin typeface="Calibri"/>
              </a:defRPr>
            </a:pPr>
            <a:r>
              <a:rPr sz="1800" b="0">
                <a:solidFill>
                  <a:srgbClr val="666666"/>
                </a:solidFill>
                <a:latin typeface="Calibri"/>
              </a:rPr>
              <a:t>The ESP32 sits on the control board, under the top plate</a:t>
            </a:r>
          </a:p>
        </p:txBody>
      </p:sp>
      <p:sp>
        <p:nvSpPr>
          <p:cNvPr id="11" name="Rounded Rectangle 10"/>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That is the whole toolchain: edit here, compile here, upload there, run there. Everything in the next half hour is setting up the first two.</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1</a:t>
            </a:r>
          </a:p>
        </p:txBody>
      </p:sp>
      <p:sp>
        <p:nvSpPr>
          <p:cNvPr id="3" name="TextBox 2"/>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23</a:t>
            </a:r>
          </a:p>
        </p:txBody>
      </p:sp>
      <p:sp>
        <p:nvSpPr>
          <p:cNvPr id="4" name="Rectangle 3"/>
          <p:cNvSpPr/>
          <p:nvPr/>
        </p:nvSpPr>
        <p:spPr>
          <a:xfrm>
            <a:off x="0" y="1234440"/>
            <a:ext cx="256032" cy="155448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325880"/>
            <a:ext cx="10515600" cy="1051560"/>
          </a:xfrm>
          <a:prstGeom prst="rect">
            <a:avLst/>
          </a:prstGeom>
          <a:noFill/>
        </p:spPr>
        <p:txBody>
          <a:bodyPr wrap="square" lIns="0" tIns="0" rIns="0" bIns="0">
            <a:spAutoFit/>
          </a:bodyPr>
          <a:lstStyle/>
          <a:p>
            <a:pPr algn="l">
              <a:lnSpc>
                <a:spcPct val="100000"/>
              </a:lnSpc>
              <a:spcAft>
                <a:spcPts val="0"/>
              </a:spcAft>
              <a:defRPr sz="3600" b="1">
                <a:solidFill>
                  <a:srgbClr val="1F3A5F"/>
                </a:solidFill>
                <a:latin typeface="Calibri"/>
              </a:defRPr>
            </a:pPr>
            <a:r>
              <a:rPr sz="3600" b="1">
                <a:solidFill>
                  <a:srgbClr val="1F3A5F"/>
                </a:solidFill>
                <a:latin typeface="Calibri"/>
              </a:rPr>
              <a:t>Setting up the Arduino IDE</a:t>
            </a:r>
          </a:p>
        </p:txBody>
      </p:sp>
      <p:sp>
        <p:nvSpPr>
          <p:cNvPr id="6" name="TextBox 5"/>
          <p:cNvSpPr txBox="1"/>
          <p:nvPr/>
        </p:nvSpPr>
        <p:spPr>
          <a:xfrm>
            <a:off x="777240" y="2423160"/>
            <a:ext cx="10515600" cy="685800"/>
          </a:xfrm>
          <a:prstGeom prst="rect">
            <a:avLst/>
          </a:prstGeom>
          <a:noFill/>
        </p:spPr>
        <p:txBody>
          <a:bodyPr wrap="square" lIns="0" tIns="0" rIns="0" bIns="0">
            <a:spAutoFit/>
          </a:bodyPr>
          <a:lstStyle/>
          <a:p>
            <a:pPr algn="l">
              <a:lnSpc>
                <a:spcPct val="100000"/>
              </a:lnSpc>
              <a:spcAft>
                <a:spcPts val="400"/>
              </a:spcAft>
              <a:defRPr sz="1600" b="0">
                <a:solidFill>
                  <a:srgbClr val="666666"/>
                </a:solidFill>
                <a:latin typeface="Calibri"/>
              </a:defRPr>
            </a:pPr>
            <a:r>
              <a:rPr sz="1600" b="0">
                <a:solidFill>
                  <a:srgbClr val="666666"/>
                </a:solidFill>
                <a:latin typeface="Calibri"/>
              </a:rPr>
              <a:t>About 35 minutes</a:t>
            </a:r>
          </a:p>
        </p:txBody>
      </p:sp>
      <p:sp>
        <p:nvSpPr>
          <p:cNvPr id="7" name="Rounded Rectangle 6"/>
          <p:cNvSpPr/>
          <p:nvPr/>
        </p:nvSpPr>
        <p:spPr>
          <a:xfrm>
            <a:off x="502920" y="3886200"/>
            <a:ext cx="2120127"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The vehicle</a:t>
            </a:r>
          </a:p>
        </p:txBody>
      </p:sp>
      <p:sp>
        <p:nvSpPr>
          <p:cNvPr id="8" name="TextBox 7"/>
          <p:cNvSpPr txBox="1"/>
          <p:nvPr/>
        </p:nvSpPr>
        <p:spPr>
          <a:xfrm>
            <a:off x="502920"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9" name="Rounded Rectangle 8"/>
          <p:cNvSpPr/>
          <p:nvPr/>
        </p:nvSpPr>
        <p:spPr>
          <a:xfrm>
            <a:off x="2769351" y="3886200"/>
            <a:ext cx="2120127" cy="1325880"/>
          </a:xfrm>
          <a:prstGeom prst="roundRect">
            <a:avLst>
              <a:gd name="adj" fmla="val 8000"/>
            </a:avLst>
          </a:prstGeom>
          <a:solidFill>
            <a:srgbClr val="D6ECEE"/>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1">
                <a:solidFill>
                  <a:srgbClr val="1F3A5F"/>
                </a:solidFill>
                <a:latin typeface="Calibri"/>
              </a:defRPr>
            </a:pPr>
            <a:r>
              <a:rPr sz="1700" b="1">
                <a:solidFill>
                  <a:srgbClr val="1F3A5F"/>
                </a:solidFill>
                <a:latin typeface="Calibri"/>
              </a:rPr>
              <a:t>Setting up the IDE</a:t>
            </a:r>
          </a:p>
        </p:txBody>
      </p:sp>
      <p:sp>
        <p:nvSpPr>
          <p:cNvPr id="10" name="TextBox 9"/>
          <p:cNvSpPr txBox="1"/>
          <p:nvPr/>
        </p:nvSpPr>
        <p:spPr>
          <a:xfrm>
            <a:off x="2769351"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NOW</a:t>
            </a:r>
          </a:p>
        </p:txBody>
      </p:sp>
      <p:sp>
        <p:nvSpPr>
          <p:cNvPr id="11" name="Rounded Rectangle 10"/>
          <p:cNvSpPr/>
          <p:nvPr/>
        </p:nvSpPr>
        <p:spPr>
          <a:xfrm>
            <a:off x="5035782" y="3886200"/>
            <a:ext cx="2120127" cy="132588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Your first circuit and program</a:t>
            </a:r>
          </a:p>
        </p:txBody>
      </p:sp>
      <p:sp>
        <p:nvSpPr>
          <p:cNvPr id="12" name="Rounded Rectangle 11"/>
          <p:cNvSpPr/>
          <p:nvPr/>
        </p:nvSpPr>
        <p:spPr>
          <a:xfrm>
            <a:off x="7302213" y="3886200"/>
            <a:ext cx="2120127" cy="132588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Talking back</a:t>
            </a:r>
          </a:p>
        </p:txBody>
      </p:sp>
      <p:sp>
        <p:nvSpPr>
          <p:cNvPr id="13" name="Rounded Rectangle 12"/>
          <p:cNvSpPr/>
          <p:nvPr/>
        </p:nvSpPr>
        <p:spPr>
          <a:xfrm>
            <a:off x="9568644" y="3886200"/>
            <a:ext cx="2120127" cy="132588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Your first light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Step 1  -  install the Arduino IDE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24</a:t>
            </a:r>
          </a:p>
        </p:txBody>
      </p:sp>
      <p:sp>
        <p:nvSpPr>
          <p:cNvPr id="6" name="TextBox 5"/>
          <p:cNvSpPr txBox="1"/>
          <p:nvPr/>
        </p:nvSpPr>
        <p:spPr>
          <a:xfrm>
            <a:off x="502920" y="1188720"/>
            <a:ext cx="11185855" cy="3986784"/>
          </a:xfrm>
          <a:prstGeom prst="rect">
            <a:avLst/>
          </a:prstGeom>
          <a:noFill/>
        </p:spPr>
        <p:txBody>
          <a:bodyPr wrap="square" lIns="0" tIns="0" rIns="0" bIns="0">
            <a:spAutoFit/>
          </a:bodyPr>
          <a:lstStyle/>
          <a:p>
            <a:pPr algn="l">
              <a:lnSpc>
                <a:spcPct val="100000"/>
              </a:lnSpc>
              <a:spcAft>
                <a:spcPts val="600"/>
              </a:spcAft>
              <a:defRPr sz="2100" b="0">
                <a:solidFill>
                  <a:srgbClr val="222222"/>
                </a:solidFill>
                <a:latin typeface="Calibri"/>
              </a:defRPr>
            </a:pPr>
            <a:r>
              <a:rPr sz="2100" b="0">
                <a:solidFill>
                  <a:srgbClr val="222222"/>
                </a:solidFill>
                <a:latin typeface="Calibri"/>
              </a:rPr>
              <a:t>Go to arduino.cc/en/software and download the Arduino IDE, version 2.3.10 or newer.</a:t>
            </a:r>
          </a:p>
          <a:p>
            <a:pPr lvl="1" algn="l">
              <a:lnSpc>
                <a:spcPct val="100000"/>
              </a:lnSpc>
              <a:spcAft>
                <a:spcPts val="600"/>
              </a:spcAft>
              <a:defRPr sz="2100" b="0">
                <a:solidFill>
                  <a:srgbClr val="222222"/>
                </a:solidFill>
                <a:latin typeface="Calibri"/>
              </a:defRPr>
            </a:pPr>
            <a:r>
              <a:rPr sz="2100" b="0">
                <a:solidFill>
                  <a:srgbClr val="222222"/>
                </a:solidFill>
                <a:latin typeface="Calibri"/>
              </a:rPr>
              <a:t>Windows: install it and sign in to your Microsoft account if it asks. You can ignore the donation and newsletter prompts.</a:t>
            </a:r>
          </a:p>
          <a:p>
            <a:pPr lvl="1" algn="l">
              <a:lnSpc>
                <a:spcPct val="100000"/>
              </a:lnSpc>
              <a:spcAft>
                <a:spcPts val="600"/>
              </a:spcAft>
              <a:defRPr sz="2100" b="0">
                <a:solidFill>
                  <a:srgbClr val="222222"/>
                </a:solidFill>
                <a:latin typeface="Calibri"/>
              </a:defRPr>
            </a:pPr>
            <a:r>
              <a:rPr sz="2100" b="0">
                <a:solidFill>
                  <a:srgbClr val="222222"/>
                </a:solidFill>
                <a:latin typeface="Calibri"/>
              </a:rPr>
              <a:t>Mac: open the downloaded .zip and drag Arduino.app into your Applications folder.</a:t>
            </a:r>
          </a:p>
          <a:p>
            <a:pPr lvl="1" algn="l">
              <a:lnSpc>
                <a:spcPct val="100000"/>
              </a:lnSpc>
              <a:spcAft>
                <a:spcPts val="600"/>
              </a:spcAft>
              <a:defRPr sz="2100" b="0">
                <a:solidFill>
                  <a:srgbClr val="222222"/>
                </a:solidFill>
                <a:latin typeface="Calibri"/>
              </a:defRPr>
            </a:pPr>
            <a:r>
              <a:rPr sz="2100" b="0">
                <a:solidFill>
                  <a:srgbClr val="222222"/>
                </a:solidFill>
                <a:latin typeface="Calibri"/>
              </a:rPr>
              <a:t>It needs about 500 MB of disk space.</a:t>
            </a:r>
          </a:p>
          <a:p>
            <a:pPr algn="l">
              <a:lnSpc>
                <a:spcPct val="100000"/>
              </a:lnSpc>
              <a:spcAft>
                <a:spcPts val="600"/>
              </a:spcAft>
              <a:defRPr sz="1050" b="0">
                <a:solidFill>
                  <a:srgbClr val="222222"/>
                </a:solidFill>
                <a:latin typeface="Calibri"/>
              </a:defRPr>
            </a:pPr>
          </a:p>
          <a:p>
            <a:pPr algn="l">
              <a:lnSpc>
                <a:spcPct val="100000"/>
              </a:lnSpc>
              <a:spcAft>
                <a:spcPts val="600"/>
              </a:spcAft>
              <a:defRPr sz="2100" b="0">
                <a:solidFill>
                  <a:srgbClr val="222222"/>
                </a:solidFill>
                <a:latin typeface="Calibri"/>
              </a:defRPr>
            </a:pPr>
            <a:r>
              <a:rPr sz="2100" b="0">
                <a:solidFill>
                  <a:srgbClr val="222222"/>
                </a:solidFill>
                <a:latin typeface="Calibri"/>
              </a:rPr>
              <a:t>The IDE is where you will write code, compile it, upload it to the vehicle, and read what the vehicle prints back.</a:t>
            </a:r>
          </a:p>
          <a:p>
            <a:pPr algn="l">
              <a:lnSpc>
                <a:spcPct val="100000"/>
              </a:lnSpc>
              <a:spcAft>
                <a:spcPts val="600"/>
              </a:spcAft>
              <a:defRPr sz="2100" b="0">
                <a:solidFill>
                  <a:srgbClr val="222222"/>
                </a:solidFill>
                <a:latin typeface="Calibri"/>
              </a:defRPr>
            </a:pPr>
            <a:r>
              <a:rPr sz="2100" b="0">
                <a:solidFill>
                  <a:srgbClr val="222222"/>
                </a:solidFill>
                <a:latin typeface="Calibri"/>
              </a:rPr>
              <a:t>"Compile" means turn your C++ into the machine language the ESP32 runs. "Upload" means send that down the USB cable.</a:t>
            </a:r>
          </a:p>
        </p:txBody>
      </p:sp>
      <p:sp>
        <p:nvSpPr>
          <p:cNvPr id="7" name="Rounded Rectangle 6"/>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If the install will not go through, pair up with a neighbor and carry on - you lose nothing today. Note down the error and we will sort the machine out afterwards.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Step 2  -  install the board package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25</a:t>
            </a:r>
          </a:p>
        </p:txBody>
      </p:sp>
      <p:sp>
        <p:nvSpPr>
          <p:cNvPr id="6" name="TextBox 5"/>
          <p:cNvSpPr txBox="1"/>
          <p:nvPr/>
        </p:nvSpPr>
        <p:spPr>
          <a:xfrm>
            <a:off x="502920" y="1188720"/>
            <a:ext cx="7240622" cy="3986784"/>
          </a:xfrm>
          <a:prstGeom prst="rect">
            <a:avLst/>
          </a:prstGeom>
          <a:noFill/>
        </p:spPr>
        <p:txBody>
          <a:bodyPr wrap="square" lIns="0" tIns="0" rIns="0" bIns="0">
            <a:spAutoFit/>
          </a:bodyPr>
          <a:lstStyle/>
          <a:p>
            <a:pPr algn="l">
              <a:lnSpc>
                <a:spcPct val="100000"/>
              </a:lnSpc>
              <a:spcAft>
                <a:spcPts val="500"/>
              </a:spcAft>
              <a:defRPr sz="1800" b="0">
                <a:solidFill>
                  <a:srgbClr val="222222"/>
                </a:solidFill>
                <a:latin typeface="Calibri"/>
              </a:defRPr>
            </a:pPr>
            <a:r>
              <a:rPr sz="1800" b="0">
                <a:solidFill>
                  <a:srgbClr val="222222"/>
                </a:solidFill>
                <a:latin typeface="Calibri"/>
              </a:rPr>
              <a:t>The Arduino IDE does not know what an ESP32 is until you tell it.</a:t>
            </a:r>
          </a:p>
          <a:p>
            <a:pPr algn="l">
              <a:lnSpc>
                <a:spcPct val="100000"/>
              </a:lnSpc>
              <a:spcAft>
                <a:spcPts val="500"/>
              </a:spcAft>
              <a:defRPr sz="1800" b="0">
                <a:solidFill>
                  <a:srgbClr val="222222"/>
                </a:solidFill>
                <a:latin typeface="Calibri"/>
              </a:defRPr>
            </a:pPr>
            <a:r>
              <a:rPr sz="1800" b="0">
                <a:solidFill>
                  <a:srgbClr val="222222"/>
                </a:solidFill>
                <a:latin typeface="Calibri"/>
              </a:rPr>
              <a:t>1.  File &gt; Preferences.</a:t>
            </a:r>
          </a:p>
          <a:p>
            <a:pPr algn="l">
              <a:lnSpc>
                <a:spcPct val="100000"/>
              </a:lnSpc>
              <a:spcAft>
                <a:spcPts val="500"/>
              </a:spcAft>
              <a:defRPr sz="1800" b="0">
                <a:solidFill>
                  <a:srgbClr val="222222"/>
                </a:solidFill>
                <a:latin typeface="Calibri"/>
              </a:defRPr>
            </a:pPr>
            <a:r>
              <a:rPr sz="1800" b="0">
                <a:solidFill>
                  <a:srgbClr val="222222"/>
                </a:solidFill>
                <a:latin typeface="Calibri"/>
              </a:rPr>
              <a:t>2.  Paste this into "Additional boards manager URLs":</a:t>
            </a:r>
          </a:p>
          <a:p>
            <a:pPr lvl="1" algn="l">
              <a:lnSpc>
                <a:spcPct val="100000"/>
              </a:lnSpc>
              <a:spcAft>
                <a:spcPts val="500"/>
              </a:spcAft>
              <a:defRPr sz="1800" b="0">
                <a:solidFill>
                  <a:srgbClr val="222222"/>
                </a:solidFill>
                <a:latin typeface="Calibri"/>
              </a:defRPr>
            </a:pPr>
            <a:r>
              <a:rPr sz="1800" b="0">
                <a:solidFill>
                  <a:srgbClr val="222222"/>
                </a:solidFill>
                <a:latin typeface="Calibri"/>
              </a:rPr>
              <a:t>https://espressif.github.io/arduino-esp32/package_esp32_index.json</a:t>
            </a:r>
          </a:p>
          <a:p>
            <a:pPr algn="l">
              <a:lnSpc>
                <a:spcPct val="100000"/>
              </a:lnSpc>
              <a:spcAft>
                <a:spcPts val="500"/>
              </a:spcAft>
              <a:defRPr sz="1800" b="0">
                <a:solidFill>
                  <a:srgbClr val="222222"/>
                </a:solidFill>
                <a:latin typeface="Calibri"/>
              </a:defRPr>
            </a:pPr>
            <a:r>
              <a:rPr sz="1800" b="0">
                <a:solidFill>
                  <a:srgbClr val="222222"/>
                </a:solidFill>
                <a:latin typeface="Calibri"/>
              </a:rPr>
              <a:t>3.  Click OK.</a:t>
            </a:r>
          </a:p>
          <a:p>
            <a:pPr algn="l">
              <a:lnSpc>
                <a:spcPct val="100000"/>
              </a:lnSpc>
              <a:spcAft>
                <a:spcPts val="500"/>
              </a:spcAft>
              <a:defRPr sz="1800" b="0">
                <a:solidFill>
                  <a:srgbClr val="222222"/>
                </a:solidFill>
                <a:latin typeface="Calibri"/>
              </a:defRPr>
            </a:pPr>
            <a:r>
              <a:rPr sz="1800" b="0">
                <a:solidFill>
                  <a:srgbClr val="222222"/>
                </a:solidFill>
                <a:latin typeface="Calibri"/>
              </a:rPr>
              <a:t>4.  Tools &gt; Board &gt; Boards Manager. Search "esp32".</a:t>
            </a:r>
          </a:p>
          <a:p>
            <a:pPr lvl="1" algn="l">
              <a:lnSpc>
                <a:spcPct val="100000"/>
              </a:lnSpc>
              <a:spcAft>
                <a:spcPts val="500"/>
              </a:spcAft>
              <a:defRPr sz="1800" b="0">
                <a:solidFill>
                  <a:srgbClr val="222222"/>
                </a:solidFill>
                <a:latin typeface="Calibri"/>
              </a:defRPr>
            </a:pPr>
            <a:r>
              <a:rPr sz="1800" b="0">
                <a:solidFill>
                  <a:srgbClr val="222222"/>
                </a:solidFill>
                <a:latin typeface="Calibri"/>
              </a:rPr>
              <a:t>The entry you want is  esp32  by Espressif Systems,  version 3.3.12</a:t>
            </a:r>
          </a:p>
          <a:p>
            <a:pPr algn="l">
              <a:lnSpc>
                <a:spcPct val="100000"/>
              </a:lnSpc>
              <a:spcAft>
                <a:spcPts val="500"/>
              </a:spcAft>
              <a:defRPr sz="1800" b="0">
                <a:solidFill>
                  <a:srgbClr val="222222"/>
                </a:solidFill>
                <a:latin typeface="Calibri"/>
              </a:defRPr>
            </a:pPr>
            <a:r>
              <a:rPr sz="1800" b="0">
                <a:solidFill>
                  <a:srgbClr val="222222"/>
                </a:solidFill>
                <a:latin typeface="Calibri"/>
              </a:rPr>
              <a:t>5.  Choose version 3.3.12 and click Install.</a:t>
            </a:r>
          </a:p>
          <a:p>
            <a:pPr algn="l">
              <a:lnSpc>
                <a:spcPct val="100000"/>
              </a:lnSpc>
              <a:spcAft>
                <a:spcPts val="500"/>
              </a:spcAft>
              <a:defRPr sz="1800" b="0">
                <a:solidFill>
                  <a:srgbClr val="222222"/>
                </a:solidFill>
                <a:latin typeface="Calibri"/>
              </a:defRPr>
            </a:pPr>
            <a:r>
              <a:rPr sz="1800" b="0">
                <a:solidFill>
                  <a:srgbClr val="222222"/>
                </a:solidFill>
                <a:latin typeface="Calibri"/>
              </a:rPr>
              <a:t>6.  Tools &gt; Board &gt; esp32 &gt; "ESP32 Dev Module"</a:t>
            </a:r>
          </a:p>
        </p:txBody>
      </p:sp>
      <p:pic>
        <p:nvPicPr>
          <p:cNvPr id="7" name="Picture 6" descr="ide-preferences-boards-url.png"/>
          <p:cNvPicPr>
            <a:picLocks noChangeAspect="1"/>
          </p:cNvPicPr>
          <p:nvPr/>
        </p:nvPicPr>
        <p:blipFill>
          <a:blip r:embed="rId2"/>
          <a:stretch>
            <a:fillRect/>
          </a:stretch>
        </p:blipFill>
        <p:spPr>
          <a:xfrm>
            <a:off x="8109302" y="1726708"/>
            <a:ext cx="3579473" cy="2215864"/>
          </a:xfrm>
          <a:prstGeom prst="rect">
            <a:avLst/>
          </a:prstGeom>
        </p:spPr>
      </p:pic>
      <p:sp>
        <p:nvSpPr>
          <p:cNvPr id="8" name="TextBox 7"/>
          <p:cNvSpPr txBox="1"/>
          <p:nvPr/>
        </p:nvSpPr>
        <p:spPr>
          <a:xfrm>
            <a:off x="8109302" y="3997436"/>
            <a:ext cx="3579473" cy="566928"/>
          </a:xfrm>
          <a:prstGeom prst="rect">
            <a:avLst/>
          </a:prstGeom>
          <a:noFill/>
        </p:spPr>
        <p:txBody>
          <a:bodyPr wrap="square" lIns="0" tIns="0" rIns="0" bIns="0">
            <a:spAutoFit/>
          </a:bodyPr>
          <a:lstStyle/>
          <a:p>
            <a:pPr algn="l">
              <a:lnSpc>
                <a:spcPct val="100000"/>
              </a:lnSpc>
              <a:spcAft>
                <a:spcPts val="200"/>
              </a:spcAft>
              <a:defRPr sz="1800" b="0">
                <a:solidFill>
                  <a:srgbClr val="666666"/>
                </a:solidFill>
                <a:latin typeface="Calibri"/>
              </a:defRPr>
            </a:pPr>
            <a:r>
              <a:rPr sz="1800" b="0">
                <a:solidFill>
                  <a:srgbClr val="666666"/>
                </a:solidFill>
                <a:latin typeface="Calibri"/>
              </a:rPr>
              <a:t>"Additional board manager URLs" is the bottom row</a:t>
            </a:r>
          </a:p>
        </p:txBody>
      </p:sp>
      <p:sp>
        <p:nvSpPr>
          <p:cNvPr id="9" name="Rounded Rectangle 8"/>
          <p:cNvSpPr/>
          <p:nvPr/>
        </p:nvSpPr>
        <p:spPr>
          <a:xfrm>
            <a:off x="502920" y="5303520"/>
            <a:ext cx="11185855" cy="960120"/>
          </a:xfrm>
          <a:prstGeom prst="roundRect">
            <a:avLst>
              <a:gd name="adj" fmla="val 4000"/>
            </a:avLst>
          </a:prstGeom>
          <a:solidFill>
            <a:srgbClr val="FDF3E3"/>
          </a:solidFill>
          <a:ln w="12700">
            <a:solidFill>
              <a:srgbClr val="B46A0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B46A0F"/>
                </a:solidFill>
                <a:latin typeface="Calibri"/>
              </a:rPr>
              <a:t>WATCH OUT   </a:t>
            </a:r>
            <a:r>
              <a:rPr sz="1800">
                <a:solidFill>
                  <a:srgbClr val="222222"/>
                </a:solidFill>
                <a:latin typeface="Calibri"/>
              </a:rPr>
              <a:t>Version 3.3.12 - the newest, and the one every program on this track was built with. If Boards Manager ever offers something newer, pick 3.3.12 anyway.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Step 3  -  select the board and the port</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26</a:t>
            </a:r>
          </a:p>
        </p:txBody>
      </p:sp>
      <p:sp>
        <p:nvSpPr>
          <p:cNvPr id="6" name="TextBox 5"/>
          <p:cNvSpPr txBox="1"/>
          <p:nvPr/>
        </p:nvSpPr>
        <p:spPr>
          <a:xfrm>
            <a:off x="502920" y="1188720"/>
            <a:ext cx="11185855" cy="3986784"/>
          </a:xfrm>
          <a:prstGeom prst="rect">
            <a:avLst/>
          </a:prstGeom>
          <a:noFill/>
        </p:spPr>
        <p:txBody>
          <a:bodyPr wrap="square" lIns="0" tIns="0" rIns="0" bIns="0">
            <a:spAutoFit/>
          </a:bodyPr>
          <a:lstStyle/>
          <a:p>
            <a:pPr algn="l">
              <a:lnSpc>
                <a:spcPct val="100000"/>
              </a:lnSpc>
              <a:spcAft>
                <a:spcPts val="600"/>
              </a:spcAft>
              <a:defRPr sz="2100" b="0">
                <a:solidFill>
                  <a:srgbClr val="222222"/>
                </a:solidFill>
                <a:latin typeface="Calibri"/>
              </a:defRPr>
            </a:pPr>
            <a:r>
              <a:rPr sz="2100" b="0">
                <a:solidFill>
                  <a:srgbClr val="222222"/>
                </a:solidFill>
                <a:latin typeface="Calibri"/>
              </a:rPr>
              <a:t>BOARD:  Tools &gt; Board &gt; esp32 &gt; "ESP32 Dev Module"</a:t>
            </a:r>
          </a:p>
          <a:p>
            <a:pPr lvl="1" algn="l">
              <a:lnSpc>
                <a:spcPct val="100000"/>
              </a:lnSpc>
              <a:spcAft>
                <a:spcPts val="600"/>
              </a:spcAft>
              <a:defRPr sz="2100" b="0">
                <a:solidFill>
                  <a:srgbClr val="222222"/>
                </a:solidFill>
                <a:latin typeface="Calibri"/>
              </a:defRPr>
            </a:pPr>
            <a:r>
              <a:rPr sz="2100" b="0">
                <a:solidFill>
                  <a:srgbClr val="222222"/>
                </a:solidFill>
                <a:latin typeface="Calibri"/>
              </a:rPr>
              <a:t>Then set Upload Speed to 921600 and Flash Frequency to 80 MHz.</a:t>
            </a:r>
          </a:p>
          <a:p>
            <a:pPr algn="l">
              <a:lnSpc>
                <a:spcPct val="100000"/>
              </a:lnSpc>
              <a:spcAft>
                <a:spcPts val="600"/>
              </a:spcAft>
              <a:defRPr sz="1050" b="0">
                <a:solidFill>
                  <a:srgbClr val="222222"/>
                </a:solidFill>
                <a:latin typeface="Calibri"/>
              </a:defRPr>
            </a:pPr>
          </a:p>
          <a:p>
            <a:pPr algn="l">
              <a:lnSpc>
                <a:spcPct val="100000"/>
              </a:lnSpc>
              <a:spcAft>
                <a:spcPts val="600"/>
              </a:spcAft>
              <a:defRPr sz="2100" b="0">
                <a:solidFill>
                  <a:srgbClr val="222222"/>
                </a:solidFill>
                <a:latin typeface="Calibri"/>
              </a:defRPr>
            </a:pPr>
            <a:r>
              <a:rPr sz="2100" b="0">
                <a:solidFill>
                  <a:srgbClr val="222222"/>
                </a:solidFill>
                <a:latin typeface="Calibri"/>
              </a:rPr>
              <a:t>PORT:  plug the vehicle into your computer with a micro USB cable FIRST, then choose Tools &gt; Port.</a:t>
            </a:r>
          </a:p>
          <a:p>
            <a:pPr lvl="1" algn="l">
              <a:lnSpc>
                <a:spcPct val="100000"/>
              </a:lnSpc>
              <a:spcAft>
                <a:spcPts val="600"/>
              </a:spcAft>
              <a:defRPr sz="2100" b="0">
                <a:solidFill>
                  <a:srgbClr val="222222"/>
                </a:solidFill>
                <a:latin typeface="Calibri"/>
              </a:defRPr>
            </a:pPr>
            <a:r>
              <a:rPr sz="2100" b="0">
                <a:solidFill>
                  <a:srgbClr val="222222"/>
                </a:solidFill>
                <a:latin typeface="Calibri"/>
              </a:rPr>
              <a:t>Windows: the next available COM port, such as COM4.</a:t>
            </a:r>
          </a:p>
          <a:p>
            <a:pPr lvl="1" algn="l">
              <a:lnSpc>
                <a:spcPct val="100000"/>
              </a:lnSpc>
              <a:spcAft>
                <a:spcPts val="600"/>
              </a:spcAft>
              <a:defRPr sz="2100" b="0">
                <a:solidFill>
                  <a:srgbClr val="222222"/>
                </a:solidFill>
                <a:latin typeface="Calibri"/>
              </a:defRPr>
            </a:pPr>
            <a:r>
              <a:rPr sz="2100" b="0">
                <a:solidFill>
                  <a:srgbClr val="222222"/>
                </a:solidFill>
                <a:latin typeface="Calibri"/>
              </a:rPr>
              <a:t>Mac: something like /dev/cu.usbserial-0001.</a:t>
            </a:r>
          </a:p>
          <a:p>
            <a:pPr algn="l">
              <a:lnSpc>
                <a:spcPct val="100000"/>
              </a:lnSpc>
              <a:spcAft>
                <a:spcPts val="600"/>
              </a:spcAft>
              <a:defRPr sz="1050" b="0">
                <a:solidFill>
                  <a:srgbClr val="222222"/>
                </a:solidFill>
                <a:latin typeface="Calibri"/>
              </a:defRPr>
            </a:pPr>
          </a:p>
          <a:p>
            <a:pPr algn="l">
              <a:lnSpc>
                <a:spcPct val="100000"/>
              </a:lnSpc>
              <a:spcAft>
                <a:spcPts val="600"/>
              </a:spcAft>
              <a:defRPr sz="2100" b="0">
                <a:solidFill>
                  <a:srgbClr val="222222"/>
                </a:solidFill>
                <a:latin typeface="Calibri"/>
              </a:defRPr>
            </a:pPr>
            <a:r>
              <a:rPr sz="2100" b="0">
                <a:solidFill>
                  <a:srgbClr val="222222"/>
                </a:solidFill>
                <a:latin typeface="Calibri"/>
              </a:rPr>
              <a:t>If no port appears at all, the usual causes are: the vehicle is not switched on, or the cable is a charge-only cable with no data wires in it. Try a different cable before you try anything else.</a:t>
            </a:r>
          </a:p>
        </p:txBody>
      </p:sp>
      <p:sp>
        <p:nvSpPr>
          <p:cNvPr id="7" name="Rounded Rectangle 6"/>
          <p:cNvSpPr/>
          <p:nvPr/>
        </p:nvSpPr>
        <p:spPr>
          <a:xfrm>
            <a:off x="502920" y="5303520"/>
            <a:ext cx="11185855" cy="960120"/>
          </a:xfrm>
          <a:prstGeom prst="roundRect">
            <a:avLst>
              <a:gd name="adj" fmla="val 4000"/>
            </a:avLst>
          </a:prstGeom>
          <a:solidFill>
            <a:srgbClr val="FDF3E3"/>
          </a:solidFill>
          <a:ln w="12700">
            <a:solidFill>
              <a:srgbClr val="B46A0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B46A0F"/>
                </a:solidFill>
                <a:latin typeface="Calibri"/>
              </a:rPr>
              <a:t>WATCH OUT   </a:t>
            </a:r>
            <a:r>
              <a:rPr sz="1800">
                <a:solidFill>
                  <a:srgbClr val="222222"/>
                </a:solidFill>
                <a:latin typeface="Calibri"/>
              </a:rPr>
              <a:t>A charge-only USB cable looks identical to a real one and is the single most common reason a board "will not connect".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Step 4  -  install the libraries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27</a:t>
            </a:r>
          </a:p>
        </p:txBody>
      </p:sp>
      <p:sp>
        <p:nvSpPr>
          <p:cNvPr id="6" name="TextBox 5"/>
          <p:cNvSpPr txBox="1"/>
          <p:nvPr/>
        </p:nvSpPr>
        <p:spPr>
          <a:xfrm>
            <a:off x="502920" y="1188720"/>
            <a:ext cx="11185855" cy="3986784"/>
          </a:xfrm>
          <a:prstGeom prst="rect">
            <a:avLst/>
          </a:prstGeom>
          <a:noFill/>
        </p:spPr>
        <p:txBody>
          <a:bodyPr wrap="square" lIns="0" tIns="0" rIns="0" bIns="0">
            <a:spAutoFit/>
          </a:bodyPr>
          <a:lstStyle/>
          <a:p>
            <a:pPr algn="l">
              <a:lnSpc>
                <a:spcPct val="100000"/>
              </a:lnSpc>
              <a:spcAft>
                <a:spcPts val="600"/>
              </a:spcAft>
              <a:defRPr sz="2700" b="0">
                <a:solidFill>
                  <a:srgbClr val="222222"/>
                </a:solidFill>
                <a:latin typeface="Calibri"/>
              </a:defRPr>
            </a:pPr>
            <a:r>
              <a:rPr sz="2700" b="0">
                <a:solidFill>
                  <a:srgbClr val="222222"/>
                </a:solidFill>
                <a:latin typeface="Calibri"/>
              </a:rPr>
              <a:t>Tools &gt; Manage Libraries, then search the name and click Install.</a:t>
            </a:r>
          </a:p>
          <a:p>
            <a:pPr algn="l">
              <a:lnSpc>
                <a:spcPct val="100000"/>
              </a:lnSpc>
              <a:spcAft>
                <a:spcPts val="600"/>
              </a:spcAft>
              <a:defRPr sz="1350" b="0">
                <a:solidFill>
                  <a:srgbClr val="222222"/>
                </a:solidFill>
                <a:latin typeface="Calibri"/>
              </a:defRPr>
            </a:pPr>
          </a:p>
          <a:p>
            <a:pPr algn="l">
              <a:lnSpc>
                <a:spcPct val="100000"/>
              </a:lnSpc>
              <a:spcAft>
                <a:spcPts val="600"/>
              </a:spcAft>
              <a:defRPr sz="2700" b="0">
                <a:solidFill>
                  <a:srgbClr val="222222"/>
                </a:solidFill>
                <a:latin typeface="Calibri"/>
              </a:defRPr>
            </a:pPr>
            <a:r>
              <a:rPr sz="2700" b="0">
                <a:solidFill>
                  <a:srgbClr val="222222"/>
                </a:solidFill>
                <a:latin typeface="Calibri"/>
              </a:rPr>
              <a:t>"Adafruit NeoPixel" by Adafruit  -  drives the 32 LEDs.</a:t>
            </a:r>
          </a:p>
          <a:p>
            <a:pPr algn="l">
              <a:lnSpc>
                <a:spcPct val="100000"/>
              </a:lnSpc>
              <a:spcAft>
                <a:spcPts val="600"/>
              </a:spcAft>
              <a:defRPr sz="2700" b="0">
                <a:solidFill>
                  <a:srgbClr val="222222"/>
                </a:solidFill>
                <a:latin typeface="Calibri"/>
              </a:defRPr>
            </a:pPr>
            <a:r>
              <a:rPr sz="2700" b="0">
                <a:solidFill>
                  <a:srgbClr val="222222"/>
                </a:solidFill>
                <a:latin typeface="Calibri"/>
              </a:rPr>
              <a:t>"Fork of PS3 Controller Host" by Jeffrey van Pernis  -  talks to the controller.</a:t>
            </a:r>
          </a:p>
          <a:p>
            <a:pPr algn="l">
              <a:lnSpc>
                <a:spcPct val="100000"/>
              </a:lnSpc>
              <a:spcAft>
                <a:spcPts val="600"/>
              </a:spcAft>
              <a:defRPr sz="1350" b="0">
                <a:solidFill>
                  <a:srgbClr val="222222"/>
                </a:solidFill>
                <a:latin typeface="Calibri"/>
              </a:defRPr>
            </a:pPr>
          </a:p>
          <a:p>
            <a:pPr algn="l">
              <a:lnSpc>
                <a:spcPct val="100000"/>
              </a:lnSpc>
              <a:spcAft>
                <a:spcPts val="600"/>
              </a:spcAft>
              <a:defRPr sz="2700" b="0">
                <a:solidFill>
                  <a:srgbClr val="222222"/>
                </a:solidFill>
                <a:latin typeface="Calibri"/>
              </a:defRPr>
            </a:pPr>
            <a:r>
              <a:rPr sz="2700" b="0">
                <a:solidFill>
                  <a:srgbClr val="222222"/>
                </a:solidFill>
                <a:latin typeface="Calibri"/>
              </a:rPr>
              <a:t>Search "PS3 Controller Host" and two come up. Install the one whose name starts "Fork of". If the original is installed, remove it - it will not compile on 3.3.12.</a:t>
            </a:r>
          </a:p>
        </p:txBody>
      </p:sp>
      <p:sp>
        <p:nvSpPr>
          <p:cNvPr id="7" name="Rounded Rectangle 6"/>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Without the NeoPixel library, nothing in Lesson 4 will compile.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Every program in this course, and what it needs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28</a:t>
            </a:r>
          </a:p>
        </p:txBody>
      </p:sp>
      <p:sp>
        <p:nvSpPr>
          <p:cNvPr id="6" name="TextBox 5"/>
          <p:cNvSpPr txBox="1"/>
          <p:nvPr/>
        </p:nvSpPr>
        <p:spPr>
          <a:xfrm>
            <a:off x="502920" y="1188720"/>
            <a:ext cx="11185855" cy="457200"/>
          </a:xfrm>
          <a:prstGeom prst="rect">
            <a:avLst/>
          </a:prstGeom>
          <a:noFill/>
        </p:spPr>
        <p:txBody>
          <a:bodyPr wrap="square" lIns="0" tIns="0" rIns="0" bIns="0">
            <a:spAutoFit/>
          </a:bodyPr>
          <a:lstStyle/>
          <a:p>
            <a:pPr algn="l">
              <a:lnSpc>
                <a:spcPct val="100000"/>
              </a:lnSpc>
              <a:spcAft>
                <a:spcPts val="600"/>
              </a:spcAft>
              <a:defRPr sz="1600" b="0">
                <a:solidFill>
                  <a:srgbClr val="222222"/>
                </a:solidFill>
                <a:latin typeface="Calibri"/>
              </a:defRPr>
            </a:pPr>
            <a:r>
              <a:rPr sz="1600" b="0">
                <a:solidFill>
                  <a:srgbClr val="222222"/>
                </a:solidFill>
                <a:latin typeface="Calibri"/>
              </a:rPr>
              <a:t>Install both libraries now and you are set for all five lessons.</a:t>
            </a:r>
          </a:p>
        </p:txBody>
      </p:sp>
      <p:graphicFrame>
        <p:nvGraphicFramePr>
          <p:cNvPr id="7" name="Table 6"/>
          <p:cNvGraphicFramePr>
            <a:graphicFrameLocks noGrp="1"/>
          </p:cNvGraphicFramePr>
          <p:nvPr/>
        </p:nvGraphicFramePr>
        <p:xfrm>
          <a:off x="502920" y="1691640"/>
          <a:ext cx="11185853" cy="3086100"/>
        </p:xfrm>
        <a:graphic>
          <a:graphicData uri="http://schemas.openxmlformats.org/drawingml/2006/table">
            <a:tbl>
              <a:tblPr firstRow="1" bandRow="1">
                <a:tableStyleId>{5C22544A-7EE6-4342-B048-85BDC9FD1C3A}</a:tableStyleId>
              </a:tblPr>
              <a:tblGrid>
                <a:gridCol w="1118585"/>
                <a:gridCol w="4026907"/>
                <a:gridCol w="6040361"/>
              </a:tblGrid>
              <a:tr h="385762">
                <a:tc>
                  <a:txBody>
                    <a:bodyPr/>
                    <a:lstStyle/>
                    <a:p>
                      <a:r>
                        <a:rPr sz="1950" b="1">
                          <a:solidFill>
                            <a:srgbClr val="FFFFFF"/>
                          </a:solidFill>
                          <a:latin typeface="Calibri"/>
                        </a:rPr>
                        <a:t>Lesson</a:t>
                      </a:r>
                    </a:p>
                  </a:txBody>
                  <a:tcPr marL="73152" marT="18288" marB="18288">
                    <a:solidFill>
                      <a:srgbClr val="1F3A5F"/>
                    </a:solidFill>
                  </a:tcPr>
                </a:tc>
                <a:tc>
                  <a:txBody>
                    <a:bodyPr/>
                    <a:lstStyle/>
                    <a:p>
                      <a:r>
                        <a:rPr sz="1950" b="1">
                          <a:solidFill>
                            <a:srgbClr val="FFFFFF"/>
                          </a:solidFill>
                          <a:latin typeface="Calibri"/>
                        </a:rPr>
                        <a:t>Sketch</a:t>
                      </a:r>
                    </a:p>
                  </a:txBody>
                  <a:tcPr marL="73152" marT="18288" marB="18288">
                    <a:solidFill>
                      <a:srgbClr val="1F3A5F"/>
                    </a:solidFill>
                  </a:tcPr>
                </a:tc>
                <a:tc>
                  <a:txBody>
                    <a:bodyPr/>
                    <a:lstStyle/>
                    <a:p>
                      <a:r>
                        <a:rPr sz="1950" b="1">
                          <a:solidFill>
                            <a:srgbClr val="FFFFFF"/>
                          </a:solidFill>
                          <a:latin typeface="Calibri"/>
                        </a:rPr>
                        <a:t>Libraries beyond the board package</a:t>
                      </a:r>
                    </a:p>
                  </a:txBody>
                  <a:tcPr marL="73152" marT="18288" marB="18288">
                    <a:solidFill>
                      <a:srgbClr val="1F3A5F"/>
                    </a:solidFill>
                  </a:tcPr>
                </a:tc>
              </a:tr>
              <a:tr h="385762">
                <a:tc>
                  <a:txBody>
                    <a:bodyPr/>
                    <a:lstStyle/>
                    <a:p>
                      <a:r>
                        <a:rPr sz="1950">
                          <a:solidFill>
                            <a:srgbClr val="222222"/>
                          </a:solidFill>
                          <a:latin typeface="Calibri"/>
                        </a:rPr>
                        <a:t>1</a:t>
                      </a:r>
                    </a:p>
                  </a:txBody>
                  <a:tcPr marL="73152" marT="18288" marB="18288">
                    <a:solidFill>
                      <a:srgbClr val="FFFFFF"/>
                    </a:solidFill>
                  </a:tcPr>
                </a:tc>
                <a:tc>
                  <a:txBody>
                    <a:bodyPr/>
                    <a:lstStyle/>
                    <a:p>
                      <a:r>
                        <a:rPr sz="1950">
                          <a:solidFill>
                            <a:srgbClr val="222222"/>
                          </a:solidFill>
                          <a:latin typeface="Calibri"/>
                        </a:rPr>
                        <a:t>l1a_blink / l1b_serial_monitor</a:t>
                      </a:r>
                    </a:p>
                  </a:txBody>
                  <a:tcPr marL="73152" marT="18288" marB="18288">
                    <a:solidFill>
                      <a:srgbClr val="FFFFFF"/>
                    </a:solidFill>
                  </a:tcPr>
                </a:tc>
                <a:tc>
                  <a:txBody>
                    <a:bodyPr/>
                    <a:lstStyle/>
                    <a:p>
                      <a:r>
                        <a:rPr sz="1950">
                          <a:solidFill>
                            <a:srgbClr val="222222"/>
                          </a:solidFill>
                          <a:latin typeface="Calibri"/>
                        </a:rPr>
                        <a:t>none</a:t>
                      </a:r>
                    </a:p>
                  </a:txBody>
                  <a:tcPr marL="73152" marT="18288" marB="18288">
                    <a:solidFill>
                      <a:srgbClr val="FFFFFF"/>
                    </a:solidFill>
                  </a:tcPr>
                </a:tc>
              </a:tr>
              <a:tr h="385762">
                <a:tc>
                  <a:txBody>
                    <a:bodyPr/>
                    <a:lstStyle/>
                    <a:p>
                      <a:r>
                        <a:rPr sz="1950">
                          <a:solidFill>
                            <a:srgbClr val="222222"/>
                          </a:solidFill>
                          <a:latin typeface="Calibri"/>
                        </a:rPr>
                        <a:t>1</a:t>
                      </a:r>
                    </a:p>
                  </a:txBody>
                  <a:tcPr marL="73152" marT="18288" marB="18288">
                    <a:solidFill>
                      <a:srgbClr val="EEF3F8"/>
                    </a:solidFill>
                  </a:tcPr>
                </a:tc>
                <a:tc>
                  <a:txBody>
                    <a:bodyPr/>
                    <a:lstStyle/>
                    <a:p>
                      <a:r>
                        <a:rPr sz="1950">
                          <a:solidFill>
                            <a:srgbClr val="222222"/>
                          </a:solidFill>
                          <a:latin typeface="Calibri"/>
                        </a:rPr>
                        <a:t>l1c_first_pixel</a:t>
                      </a:r>
                    </a:p>
                  </a:txBody>
                  <a:tcPr marL="73152" marT="18288" marB="18288">
                    <a:solidFill>
                      <a:srgbClr val="EEF3F8"/>
                    </a:solidFill>
                  </a:tcPr>
                </a:tc>
                <a:tc>
                  <a:txBody>
                    <a:bodyPr/>
                    <a:lstStyle/>
                    <a:p>
                      <a:r>
                        <a:rPr sz="1950">
                          <a:solidFill>
                            <a:srgbClr val="222222"/>
                          </a:solidFill>
                          <a:latin typeface="Calibri"/>
                        </a:rPr>
                        <a:t>Adafruit NeoPixel</a:t>
                      </a:r>
                    </a:p>
                  </a:txBody>
                  <a:tcPr marL="73152" marT="18288" marB="18288">
                    <a:solidFill>
                      <a:srgbClr val="EEF3F8"/>
                    </a:solidFill>
                  </a:tcPr>
                </a:tc>
              </a:tr>
              <a:tr h="385762">
                <a:tc>
                  <a:txBody>
                    <a:bodyPr/>
                    <a:lstStyle/>
                    <a:p>
                      <a:r>
                        <a:rPr sz="1950">
                          <a:solidFill>
                            <a:srgbClr val="222222"/>
                          </a:solidFill>
                          <a:latin typeface="Calibri"/>
                        </a:rPr>
                        <a:t>2</a:t>
                      </a:r>
                    </a:p>
                  </a:txBody>
                  <a:tcPr marL="73152" marT="18288" marB="18288">
                    <a:solidFill>
                      <a:srgbClr val="FFFFFF"/>
                    </a:solidFill>
                  </a:tcPr>
                </a:tc>
                <a:tc>
                  <a:txBody>
                    <a:bodyPr/>
                    <a:lstStyle/>
                    <a:p>
                      <a:r>
                        <a:rPr sz="1950">
                          <a:solidFill>
                            <a:srgbClr val="222222"/>
                          </a:solidFill>
                          <a:latin typeface="Calibri"/>
                        </a:rPr>
                        <a:t>l2a / l2b / l2c</a:t>
                      </a:r>
                    </a:p>
                  </a:txBody>
                  <a:tcPr marL="73152" marT="18288" marB="18288">
                    <a:solidFill>
                      <a:srgbClr val="FFFFFF"/>
                    </a:solidFill>
                  </a:tcPr>
                </a:tc>
                <a:tc>
                  <a:txBody>
                    <a:bodyPr/>
                    <a:lstStyle/>
                    <a:p>
                      <a:r>
                        <a:rPr sz="1950">
                          <a:solidFill>
                            <a:srgbClr val="222222"/>
                          </a:solidFill>
                          <a:latin typeface="Calibri"/>
                        </a:rPr>
                        <a:t>none</a:t>
                      </a:r>
                    </a:p>
                  </a:txBody>
                  <a:tcPr marL="73152" marT="18288" marB="18288">
                    <a:solidFill>
                      <a:srgbClr val="FFFFFF"/>
                    </a:solidFill>
                  </a:tcPr>
                </a:tc>
              </a:tr>
              <a:tr h="385762">
                <a:tc>
                  <a:txBody>
                    <a:bodyPr/>
                    <a:lstStyle/>
                    <a:p>
                      <a:r>
                        <a:rPr sz="1950">
                          <a:solidFill>
                            <a:srgbClr val="222222"/>
                          </a:solidFill>
                          <a:latin typeface="Calibri"/>
                        </a:rPr>
                        <a:t>3</a:t>
                      </a:r>
                    </a:p>
                  </a:txBody>
                  <a:tcPr marL="73152" marT="18288" marB="18288">
                    <a:solidFill>
                      <a:srgbClr val="EEF3F8"/>
                    </a:solidFill>
                  </a:tcPr>
                </a:tc>
                <a:tc>
                  <a:txBody>
                    <a:bodyPr/>
                    <a:lstStyle/>
                    <a:p>
                      <a:r>
                        <a:rPr sz="1950">
                          <a:solidFill>
                            <a:srgbClr val="222222"/>
                          </a:solidFill>
                          <a:latin typeface="Calibri"/>
                        </a:rPr>
                        <a:t>l3a / l3b / l3c</a:t>
                      </a:r>
                    </a:p>
                  </a:txBody>
                  <a:tcPr marL="73152" marT="18288" marB="18288">
                    <a:solidFill>
                      <a:srgbClr val="EEF3F8"/>
                    </a:solidFill>
                  </a:tcPr>
                </a:tc>
                <a:tc>
                  <a:txBody>
                    <a:bodyPr/>
                    <a:lstStyle/>
                    <a:p>
                      <a:r>
                        <a:rPr sz="1950">
                          <a:solidFill>
                            <a:srgbClr val="222222"/>
                          </a:solidFill>
                          <a:latin typeface="Calibri"/>
                        </a:rPr>
                        <a:t>Fork of PS3 Controller Host</a:t>
                      </a:r>
                    </a:p>
                  </a:txBody>
                  <a:tcPr marL="73152" marT="18288" marB="18288">
                    <a:solidFill>
                      <a:srgbClr val="EEF3F8"/>
                    </a:solidFill>
                  </a:tcPr>
                </a:tc>
              </a:tr>
              <a:tr h="385762">
                <a:tc>
                  <a:txBody>
                    <a:bodyPr/>
                    <a:lstStyle/>
                    <a:p>
                      <a:r>
                        <a:rPr sz="1950">
                          <a:solidFill>
                            <a:srgbClr val="222222"/>
                          </a:solidFill>
                          <a:latin typeface="Calibri"/>
                        </a:rPr>
                        <a:t>4</a:t>
                      </a:r>
                    </a:p>
                  </a:txBody>
                  <a:tcPr marL="73152" marT="18288" marB="18288">
                    <a:solidFill>
                      <a:srgbClr val="FFFFFF"/>
                    </a:solidFill>
                  </a:tcPr>
                </a:tc>
                <a:tc>
                  <a:txBody>
                    <a:bodyPr/>
                    <a:lstStyle/>
                    <a:p>
                      <a:r>
                        <a:rPr sz="1950">
                          <a:solidFill>
                            <a:srgbClr val="222222"/>
                          </a:solidFill>
                          <a:latin typeface="Calibri"/>
                        </a:rPr>
                        <a:t>l4a / l4b / l4c</a:t>
                      </a:r>
                    </a:p>
                  </a:txBody>
                  <a:tcPr marL="73152" marT="18288" marB="18288">
                    <a:solidFill>
                      <a:srgbClr val="FFFFFF"/>
                    </a:solidFill>
                  </a:tcPr>
                </a:tc>
                <a:tc>
                  <a:txBody>
                    <a:bodyPr/>
                    <a:lstStyle/>
                    <a:p>
                      <a:r>
                        <a:rPr sz="1950">
                          <a:solidFill>
                            <a:srgbClr val="222222"/>
                          </a:solidFill>
                          <a:latin typeface="Calibri"/>
                        </a:rPr>
                        <a:t>Adafruit NeoPixel</a:t>
                      </a:r>
                    </a:p>
                  </a:txBody>
                  <a:tcPr marL="73152" marT="18288" marB="18288">
                    <a:solidFill>
                      <a:srgbClr val="FFFFFF"/>
                    </a:solidFill>
                  </a:tcPr>
                </a:tc>
              </a:tr>
              <a:tr h="385762">
                <a:tc>
                  <a:txBody>
                    <a:bodyPr/>
                    <a:lstStyle/>
                    <a:p>
                      <a:r>
                        <a:rPr sz="1950">
                          <a:solidFill>
                            <a:srgbClr val="222222"/>
                          </a:solidFill>
                          <a:latin typeface="Calibri"/>
                        </a:rPr>
                        <a:t>5</a:t>
                      </a:r>
                    </a:p>
                  </a:txBody>
                  <a:tcPr marL="73152" marT="18288" marB="18288">
                    <a:solidFill>
                      <a:srgbClr val="EEF3F8"/>
                    </a:solidFill>
                  </a:tcPr>
                </a:tc>
                <a:tc>
                  <a:txBody>
                    <a:bodyPr/>
                    <a:lstStyle/>
                    <a:p>
                      <a:r>
                        <a:rPr sz="1950">
                          <a:solidFill>
                            <a:srgbClr val="222222"/>
                          </a:solidFill>
                          <a:latin typeface="Calibri"/>
                        </a:rPr>
                        <a:t>l5a / l5b / l5c</a:t>
                      </a:r>
                    </a:p>
                  </a:txBody>
                  <a:tcPr marL="73152" marT="18288" marB="18288">
                    <a:solidFill>
                      <a:srgbClr val="EEF3F8"/>
                    </a:solidFill>
                  </a:tcPr>
                </a:tc>
                <a:tc>
                  <a:txBody>
                    <a:bodyPr/>
                    <a:lstStyle/>
                    <a:p>
                      <a:r>
                        <a:rPr sz="1950">
                          <a:solidFill>
                            <a:srgbClr val="222222"/>
                          </a:solidFill>
                          <a:latin typeface="Calibri"/>
                        </a:rPr>
                        <a:t>Adafruit NeoPixel + Fork of PS3 Controller Host</a:t>
                      </a:r>
                    </a:p>
                  </a:txBody>
                  <a:tcPr marL="73152" marT="18288" marB="18288">
                    <a:solidFill>
                      <a:srgbClr val="EEF3F8"/>
                    </a:solidFill>
                  </a:tcPr>
                </a:tc>
              </a:tr>
              <a:tr h="385766">
                <a:tc>
                  <a:txBody>
                    <a:bodyPr/>
                    <a:lstStyle/>
                    <a:p>
                      <a:r>
                        <a:rPr sz="1950">
                          <a:solidFill>
                            <a:srgbClr val="222222"/>
                          </a:solidFill>
                          <a:latin typeface="Calibri"/>
                        </a:rPr>
                        <a:t>5</a:t>
                      </a:r>
                    </a:p>
                  </a:txBody>
                  <a:tcPr marL="73152" marT="18288" marB="18288">
                    <a:solidFill>
                      <a:srgbClr val="FFFFFF"/>
                    </a:solidFill>
                  </a:tcPr>
                </a:tc>
                <a:tc>
                  <a:txBody>
                    <a:bodyPr/>
                    <a:lstStyle/>
                    <a:p>
                      <a:r>
                        <a:rPr sz="1950">
                          <a:solidFill>
                            <a:srgbClr val="222222"/>
                          </a:solidFill>
                          <a:latin typeface="Calibri"/>
                        </a:rPr>
                        <a:t>pathfinder_ps3</a:t>
                      </a:r>
                    </a:p>
                  </a:txBody>
                  <a:tcPr marL="73152" marT="18288" marB="18288">
                    <a:solidFill>
                      <a:srgbClr val="FFFFFF"/>
                    </a:solidFill>
                  </a:tcPr>
                </a:tc>
                <a:tc>
                  <a:txBody>
                    <a:bodyPr/>
                    <a:lstStyle/>
                    <a:p>
                      <a:r>
                        <a:rPr sz="1950">
                          <a:solidFill>
                            <a:srgbClr val="222222"/>
                          </a:solidFill>
                          <a:latin typeface="Calibri"/>
                        </a:rPr>
                        <a:t>Adafruit NeoPixel + Fork of PS3 Controller Host</a:t>
                      </a:r>
                    </a:p>
                  </a:txBody>
                  <a:tcPr marL="73152" marT="18288" marB="18288">
                    <a:solidFill>
                      <a:srgbClr val="FFFFFF"/>
                    </a:solidFill>
                  </a:tcPr>
                </a:tc>
              </a:tr>
            </a:tbl>
          </a:graphicData>
        </a:graphic>
      </p:graphicFrame>
      <p:sp>
        <p:nvSpPr>
          <p:cNvPr id="8" name="Rounded Rectangle 7"/>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If a sketch will not compile, check this table before you change any code. A missing library is by far the most common cause.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Getting the course files onto your computer</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29</a:t>
            </a:r>
          </a:p>
        </p:txBody>
      </p:sp>
      <p:sp>
        <p:nvSpPr>
          <p:cNvPr id="6" name="TextBox 5"/>
          <p:cNvSpPr txBox="1"/>
          <p:nvPr/>
        </p:nvSpPr>
        <p:spPr>
          <a:xfrm>
            <a:off x="502920" y="1188720"/>
            <a:ext cx="11185855" cy="530352"/>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Thumb drive or email, into your Arduino folder</a:t>
            </a:r>
          </a:p>
        </p:txBody>
      </p:sp>
      <p:sp>
        <p:nvSpPr>
          <p:cNvPr id="7" name="TextBox 6"/>
          <p:cNvSpPr txBox="1"/>
          <p:nvPr/>
        </p:nvSpPr>
        <p:spPr>
          <a:xfrm>
            <a:off x="502920" y="1755648"/>
            <a:ext cx="11185855" cy="3419856"/>
          </a:xfrm>
          <a:prstGeom prst="rect">
            <a:avLst/>
          </a:prstGeom>
          <a:noFill/>
        </p:spPr>
        <p:txBody>
          <a:bodyPr wrap="square" lIns="0" tIns="0" rIns="0" bIns="0">
            <a:spAutoFit/>
          </a:bodyPr>
          <a:lstStyle/>
          <a:p>
            <a:pPr algn="l">
              <a:lnSpc>
                <a:spcPct val="100000"/>
              </a:lnSpc>
              <a:spcAft>
                <a:spcPts val="600"/>
              </a:spcAft>
              <a:defRPr sz="1900" b="0">
                <a:solidFill>
                  <a:srgbClr val="222222"/>
                </a:solidFill>
                <a:latin typeface="Calibri"/>
              </a:defRPr>
            </a:pPr>
            <a:r>
              <a:rPr sz="1900" b="0">
                <a:solidFill>
                  <a:srgbClr val="222222"/>
                </a:solidFill>
                <a:latin typeface="Calibri"/>
              </a:rPr>
              <a:t>The thumb drive carries the SKETCHES - the programs for all five lessons. There are no libraries on it; you installed those from Library Manager in Step 4.</a:t>
            </a:r>
          </a:p>
          <a:p>
            <a:pPr algn="l">
              <a:lnSpc>
                <a:spcPct val="100000"/>
              </a:lnSpc>
              <a:spcAft>
                <a:spcPts val="600"/>
              </a:spcAft>
              <a:defRPr sz="950" b="0">
                <a:solidFill>
                  <a:srgbClr val="222222"/>
                </a:solidFill>
                <a:latin typeface="Calibri"/>
              </a:defRPr>
            </a:pPr>
          </a:p>
          <a:p>
            <a:pPr algn="l">
              <a:lnSpc>
                <a:spcPct val="100000"/>
              </a:lnSpc>
              <a:spcAft>
                <a:spcPts val="600"/>
              </a:spcAft>
              <a:defRPr sz="1900" b="0">
                <a:solidFill>
                  <a:srgbClr val="222222"/>
                </a:solidFill>
                <a:latin typeface="Calibri"/>
              </a:defRPr>
            </a:pPr>
            <a:r>
              <a:rPr sz="1900" b="0">
                <a:solidFill>
                  <a:srgbClr val="222222"/>
                </a:solidFill>
                <a:latin typeface="Calibri"/>
              </a:rPr>
              <a:t>WINDOWS.  Copy the sketch folders into</a:t>
            </a:r>
          </a:p>
          <a:p>
            <a:pPr lvl="1" algn="l">
              <a:lnSpc>
                <a:spcPct val="100000"/>
              </a:lnSpc>
              <a:spcAft>
                <a:spcPts val="600"/>
              </a:spcAft>
              <a:defRPr sz="1900" b="0">
                <a:solidFill>
                  <a:srgbClr val="222222"/>
                </a:solidFill>
                <a:latin typeface="Calibri"/>
              </a:defRPr>
            </a:pPr>
            <a:r>
              <a:rPr sz="1900" b="0">
                <a:solidFill>
                  <a:srgbClr val="222222"/>
                </a:solidFill>
                <a:latin typeface="Calibri"/>
              </a:rPr>
              <a:t>Documents\Arduino\</a:t>
            </a:r>
          </a:p>
          <a:p>
            <a:pPr algn="l">
              <a:lnSpc>
                <a:spcPct val="100000"/>
              </a:lnSpc>
              <a:spcAft>
                <a:spcPts val="600"/>
              </a:spcAft>
              <a:defRPr sz="1900" b="0">
                <a:solidFill>
                  <a:srgbClr val="222222"/>
                </a:solidFill>
                <a:latin typeface="Calibri"/>
              </a:defRPr>
            </a:pPr>
            <a:r>
              <a:rPr sz="1900" b="0">
                <a:solidFill>
                  <a:srgbClr val="222222"/>
                </a:solidFill>
                <a:latin typeface="Calibri"/>
              </a:rPr>
              <a:t>MAC.  Copy the sketch folders into</a:t>
            </a:r>
          </a:p>
          <a:p>
            <a:pPr lvl="1" algn="l">
              <a:lnSpc>
                <a:spcPct val="100000"/>
              </a:lnSpc>
              <a:spcAft>
                <a:spcPts val="600"/>
              </a:spcAft>
              <a:defRPr sz="1900" b="0">
                <a:solidFill>
                  <a:srgbClr val="222222"/>
                </a:solidFill>
                <a:latin typeface="Calibri"/>
              </a:defRPr>
            </a:pPr>
            <a:r>
              <a:rPr sz="1900" b="0">
                <a:solidFill>
                  <a:srgbClr val="222222"/>
                </a:solidFill>
                <a:latin typeface="Calibri"/>
              </a:rPr>
              <a:t>Documents/Arduino/</a:t>
            </a:r>
          </a:p>
          <a:p>
            <a:pPr algn="l">
              <a:lnSpc>
                <a:spcPct val="100000"/>
              </a:lnSpc>
              <a:spcAft>
                <a:spcPts val="600"/>
              </a:spcAft>
              <a:defRPr sz="950" b="0">
                <a:solidFill>
                  <a:srgbClr val="222222"/>
                </a:solidFill>
                <a:latin typeface="Calibri"/>
              </a:defRPr>
            </a:pPr>
          </a:p>
          <a:p>
            <a:pPr algn="l">
              <a:lnSpc>
                <a:spcPct val="100000"/>
              </a:lnSpc>
              <a:spcAft>
                <a:spcPts val="600"/>
              </a:spcAft>
              <a:defRPr sz="1900" b="0">
                <a:solidFill>
                  <a:srgbClr val="222222"/>
                </a:solidFill>
                <a:latin typeface="Calibri"/>
              </a:defRPr>
            </a:pPr>
            <a:r>
              <a:rPr sz="1900" b="0">
                <a:solidFill>
                  <a:srgbClr val="222222"/>
                </a:solidFill>
                <a:latin typeface="Calibri"/>
              </a:rPr>
              <a:t>If they arrived as a .zip, unzip it first.</a:t>
            </a:r>
          </a:p>
          <a:p>
            <a:pPr algn="l">
              <a:lnSpc>
                <a:spcPct val="100000"/>
              </a:lnSpc>
              <a:spcAft>
                <a:spcPts val="600"/>
              </a:spcAft>
              <a:defRPr sz="1900" b="0">
                <a:solidFill>
                  <a:srgbClr val="222222"/>
                </a:solidFill>
                <a:latin typeface="Calibri"/>
              </a:defRPr>
            </a:pPr>
            <a:r>
              <a:rPr sz="1900" b="0">
                <a:solidFill>
                  <a:srgbClr val="222222"/>
                </a:solidFill>
                <a:latin typeface="Calibri"/>
              </a:rPr>
              <a:t>Then restart the Arduino IDE. It only looks for sketches when it starts.</a:t>
            </a:r>
          </a:p>
        </p:txBody>
      </p:sp>
      <p:sp>
        <p:nvSpPr>
          <p:cNvPr id="8" name="Rounded Rectangle 7"/>
          <p:cNvSpPr/>
          <p:nvPr/>
        </p:nvSpPr>
        <p:spPr>
          <a:xfrm>
            <a:off x="502920" y="5303520"/>
            <a:ext cx="11185855" cy="960120"/>
          </a:xfrm>
          <a:prstGeom prst="roundRect">
            <a:avLst>
              <a:gd name="adj" fmla="val 4000"/>
            </a:avLst>
          </a:prstGeom>
          <a:solidFill>
            <a:srgbClr val="FDF3E3"/>
          </a:solidFill>
          <a:ln w="12700">
            <a:solidFill>
              <a:srgbClr val="B46A0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B46A0F"/>
                </a:solidFill>
                <a:latin typeface="Calibri"/>
              </a:rPr>
              <a:t>WATCH OUT   </a:t>
            </a:r>
            <a:r>
              <a:rPr sz="1800">
                <a:solidFill>
                  <a:srgbClr val="222222"/>
                </a:solidFill>
                <a:latin typeface="Calibri"/>
              </a:rPr>
              <a:t>One folder per sketch, and the folder name must match the .ino inside it. l1a_blink/l1a_blink.ino. The IDE will refuse to open a sketch whose folder is named differently.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Keep this on your desk: the coding cheat sheet</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30</a:t>
            </a:r>
          </a:p>
        </p:txBody>
      </p:sp>
      <p:sp>
        <p:nvSpPr>
          <p:cNvPr id="6" name="TextBox 5"/>
          <p:cNvSpPr txBox="1"/>
          <p:nvPr/>
        </p:nvSpPr>
        <p:spPr>
          <a:xfrm>
            <a:off x="502920" y="1188720"/>
            <a:ext cx="11185855" cy="3986784"/>
          </a:xfrm>
          <a:prstGeom prst="rect">
            <a:avLst/>
          </a:prstGeom>
          <a:noFill/>
        </p:spPr>
        <p:txBody>
          <a:bodyPr wrap="square" lIns="0" tIns="0" rIns="0" bIns="0">
            <a:spAutoFit/>
          </a:bodyPr>
          <a:lstStyle/>
          <a:p>
            <a:pPr algn="l">
              <a:lnSpc>
                <a:spcPct val="100000"/>
              </a:lnSpc>
              <a:spcAft>
                <a:spcPts val="600"/>
              </a:spcAft>
              <a:defRPr sz="2100" b="0">
                <a:solidFill>
                  <a:srgbClr val="222222"/>
                </a:solidFill>
                <a:latin typeface="Calibri"/>
              </a:defRPr>
            </a:pPr>
            <a:r>
              <a:rPr sz="2100" b="0">
                <a:solidFill>
                  <a:srgbClr val="222222"/>
                </a:solidFill>
                <a:latin typeface="Calibri"/>
              </a:rPr>
              <a:t>Two sheets, printed on both sides. Everything you need to write the code in this course is on them.</a:t>
            </a:r>
          </a:p>
          <a:p>
            <a:pPr algn="l">
              <a:lnSpc>
                <a:spcPct val="100000"/>
              </a:lnSpc>
              <a:spcAft>
                <a:spcPts val="600"/>
              </a:spcAft>
              <a:defRPr sz="1050" b="0">
                <a:solidFill>
                  <a:srgbClr val="222222"/>
                </a:solidFill>
                <a:latin typeface="Calibri"/>
              </a:defRPr>
            </a:pPr>
          </a:p>
          <a:p>
            <a:pPr algn="l">
              <a:lnSpc>
                <a:spcPct val="100000"/>
              </a:lnSpc>
              <a:spcAft>
                <a:spcPts val="600"/>
              </a:spcAft>
              <a:defRPr sz="2100" b="0">
                <a:solidFill>
                  <a:srgbClr val="222222"/>
                </a:solidFill>
                <a:latin typeface="Calibri"/>
              </a:defRPr>
            </a:pPr>
            <a:r>
              <a:rPr sz="2100" b="0">
                <a:solidFill>
                  <a:srgbClr val="222222"/>
                </a:solidFill>
                <a:latin typeface="Calibri"/>
              </a:rPr>
              <a:t>Pages 1 and 2:  the C++ - the shape of a program, variables, math, decisions, loops, functions, the Serial Monitor and millis().</a:t>
            </a:r>
          </a:p>
          <a:p>
            <a:pPr algn="l">
              <a:lnSpc>
                <a:spcPct val="100000"/>
              </a:lnSpc>
              <a:spcAft>
                <a:spcPts val="600"/>
              </a:spcAft>
              <a:defRPr sz="2100" b="0">
                <a:solidFill>
                  <a:srgbClr val="222222"/>
                </a:solidFill>
                <a:latin typeface="Calibri"/>
              </a:defRPr>
            </a:pPr>
            <a:r>
              <a:rPr sz="2100" b="0">
                <a:solidFill>
                  <a:srgbClr val="222222"/>
                </a:solidFill>
                <a:latin typeface="Calibri"/>
              </a:rPr>
              <a:t>Pages 3 and 4:  this vehicle - its pins, the motors, the 32 LEDs and their map, the controller, and the patterns the full program is built from.</a:t>
            </a:r>
          </a:p>
          <a:p>
            <a:pPr algn="l">
              <a:lnSpc>
                <a:spcPct val="100000"/>
              </a:lnSpc>
              <a:spcAft>
                <a:spcPts val="600"/>
              </a:spcAft>
              <a:defRPr sz="2100" b="0">
                <a:solidFill>
                  <a:srgbClr val="222222"/>
                </a:solidFill>
                <a:latin typeface="Calibri"/>
              </a:defRPr>
            </a:pPr>
            <a:r>
              <a:rPr sz="2100" b="0">
                <a:solidFill>
                  <a:srgbClr val="222222"/>
                </a:solidFill>
                <a:latin typeface="Calibri"/>
              </a:rPr>
              <a:t>The back page lists the error messages you will actually see, and what each one means.</a:t>
            </a:r>
          </a:p>
          <a:p>
            <a:pPr algn="l">
              <a:lnSpc>
                <a:spcPct val="100000"/>
              </a:lnSpc>
              <a:spcAft>
                <a:spcPts val="600"/>
              </a:spcAft>
              <a:defRPr sz="1050" b="0">
                <a:solidFill>
                  <a:srgbClr val="222222"/>
                </a:solidFill>
                <a:latin typeface="Calibri"/>
              </a:defRPr>
            </a:pPr>
          </a:p>
          <a:p>
            <a:pPr algn="l">
              <a:lnSpc>
                <a:spcPct val="100000"/>
              </a:lnSpc>
              <a:spcAft>
                <a:spcPts val="600"/>
              </a:spcAft>
              <a:defRPr sz="2100" b="0">
                <a:solidFill>
                  <a:srgbClr val="222222"/>
                </a:solidFill>
                <a:latin typeface="Calibri"/>
              </a:defRPr>
            </a:pPr>
            <a:r>
              <a:rPr sz="2100" b="0">
                <a:solidFill>
                  <a:srgbClr val="222222"/>
                </a:solidFill>
                <a:latin typeface="Calibri"/>
              </a:rPr>
              <a:t>Stuck?  Cheat sheet first, then your group, then an instructor.</a:t>
            </a:r>
          </a:p>
        </p:txBody>
      </p:sp>
      <p:sp>
        <p:nvSpPr>
          <p:cNvPr id="7" name="Rounded Rectangle 6"/>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It is not cheating. Professional programmers look things up all day. What matters is knowing WHERE to look.</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1</a:t>
            </a:r>
          </a:p>
        </p:txBody>
      </p:sp>
      <p:sp>
        <p:nvSpPr>
          <p:cNvPr id="3" name="TextBox 2"/>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31</a:t>
            </a:r>
          </a:p>
        </p:txBody>
      </p:sp>
      <p:sp>
        <p:nvSpPr>
          <p:cNvPr id="4" name="Rectangle 3"/>
          <p:cNvSpPr/>
          <p:nvPr/>
        </p:nvSpPr>
        <p:spPr>
          <a:xfrm>
            <a:off x="0" y="1234440"/>
            <a:ext cx="256032" cy="155448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325880"/>
            <a:ext cx="10515600" cy="1051560"/>
          </a:xfrm>
          <a:prstGeom prst="rect">
            <a:avLst/>
          </a:prstGeom>
          <a:noFill/>
        </p:spPr>
        <p:txBody>
          <a:bodyPr wrap="square" lIns="0" tIns="0" rIns="0" bIns="0">
            <a:spAutoFit/>
          </a:bodyPr>
          <a:lstStyle/>
          <a:p>
            <a:pPr algn="l">
              <a:lnSpc>
                <a:spcPct val="100000"/>
              </a:lnSpc>
              <a:spcAft>
                <a:spcPts val="0"/>
              </a:spcAft>
              <a:defRPr sz="3600" b="1">
                <a:solidFill>
                  <a:srgbClr val="1F3A5F"/>
                </a:solidFill>
                <a:latin typeface="Calibri"/>
              </a:defRPr>
            </a:pPr>
            <a:r>
              <a:rPr sz="3600" b="1">
                <a:solidFill>
                  <a:srgbClr val="1F3A5F"/>
                </a:solidFill>
                <a:latin typeface="Calibri"/>
              </a:rPr>
              <a:t>Your first program</a:t>
            </a:r>
          </a:p>
        </p:txBody>
      </p:sp>
      <p:sp>
        <p:nvSpPr>
          <p:cNvPr id="6" name="TextBox 5"/>
          <p:cNvSpPr txBox="1"/>
          <p:nvPr/>
        </p:nvSpPr>
        <p:spPr>
          <a:xfrm>
            <a:off x="777240" y="2423160"/>
            <a:ext cx="10515600" cy="685800"/>
          </a:xfrm>
          <a:prstGeom prst="rect">
            <a:avLst/>
          </a:prstGeom>
          <a:noFill/>
        </p:spPr>
        <p:txBody>
          <a:bodyPr wrap="square" lIns="0" tIns="0" rIns="0" bIns="0">
            <a:spAutoFit/>
          </a:bodyPr>
          <a:lstStyle/>
          <a:p>
            <a:pPr algn="l">
              <a:lnSpc>
                <a:spcPct val="100000"/>
              </a:lnSpc>
              <a:spcAft>
                <a:spcPts val="400"/>
              </a:spcAft>
              <a:defRPr sz="1600" b="0">
                <a:solidFill>
                  <a:srgbClr val="666666"/>
                </a:solidFill>
                <a:latin typeface="Calibri"/>
              </a:defRPr>
            </a:pPr>
            <a:r>
              <a:rPr sz="1600" b="0">
                <a:solidFill>
                  <a:srgbClr val="666666"/>
                </a:solidFill>
                <a:latin typeface="Calibri"/>
              </a:rPr>
              <a:t>About 25 minutes</a:t>
            </a:r>
          </a:p>
        </p:txBody>
      </p:sp>
      <p:sp>
        <p:nvSpPr>
          <p:cNvPr id="7" name="Rounded Rectangle 6"/>
          <p:cNvSpPr/>
          <p:nvPr/>
        </p:nvSpPr>
        <p:spPr>
          <a:xfrm>
            <a:off x="502920" y="3886200"/>
            <a:ext cx="2120127"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The vehicle</a:t>
            </a:r>
          </a:p>
        </p:txBody>
      </p:sp>
      <p:sp>
        <p:nvSpPr>
          <p:cNvPr id="8" name="TextBox 7"/>
          <p:cNvSpPr txBox="1"/>
          <p:nvPr/>
        </p:nvSpPr>
        <p:spPr>
          <a:xfrm>
            <a:off x="502920"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9" name="Rounded Rectangle 8"/>
          <p:cNvSpPr/>
          <p:nvPr/>
        </p:nvSpPr>
        <p:spPr>
          <a:xfrm>
            <a:off x="2769351" y="3886200"/>
            <a:ext cx="2120127"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Setting up the IDE</a:t>
            </a:r>
          </a:p>
        </p:txBody>
      </p:sp>
      <p:sp>
        <p:nvSpPr>
          <p:cNvPr id="10" name="TextBox 9"/>
          <p:cNvSpPr txBox="1"/>
          <p:nvPr/>
        </p:nvSpPr>
        <p:spPr>
          <a:xfrm>
            <a:off x="2769351"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11" name="Rounded Rectangle 10"/>
          <p:cNvSpPr/>
          <p:nvPr/>
        </p:nvSpPr>
        <p:spPr>
          <a:xfrm>
            <a:off x="5035782" y="3886200"/>
            <a:ext cx="2120127" cy="1325880"/>
          </a:xfrm>
          <a:prstGeom prst="roundRect">
            <a:avLst>
              <a:gd name="adj" fmla="val 8000"/>
            </a:avLst>
          </a:prstGeom>
          <a:solidFill>
            <a:srgbClr val="D6ECEE"/>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1">
                <a:solidFill>
                  <a:srgbClr val="1F3A5F"/>
                </a:solidFill>
                <a:latin typeface="Calibri"/>
              </a:defRPr>
            </a:pPr>
            <a:r>
              <a:rPr sz="1700" b="1">
                <a:solidFill>
                  <a:srgbClr val="1F3A5F"/>
                </a:solidFill>
                <a:latin typeface="Calibri"/>
              </a:rPr>
              <a:t>Your first circuit and program</a:t>
            </a:r>
          </a:p>
        </p:txBody>
      </p:sp>
      <p:sp>
        <p:nvSpPr>
          <p:cNvPr id="12" name="TextBox 11"/>
          <p:cNvSpPr txBox="1"/>
          <p:nvPr/>
        </p:nvSpPr>
        <p:spPr>
          <a:xfrm>
            <a:off x="5035782"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NOW</a:t>
            </a:r>
          </a:p>
        </p:txBody>
      </p:sp>
      <p:sp>
        <p:nvSpPr>
          <p:cNvPr id="13" name="Rounded Rectangle 12"/>
          <p:cNvSpPr/>
          <p:nvPr/>
        </p:nvSpPr>
        <p:spPr>
          <a:xfrm>
            <a:off x="7302213" y="3886200"/>
            <a:ext cx="2120127" cy="132588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Talking back</a:t>
            </a:r>
          </a:p>
        </p:txBody>
      </p:sp>
      <p:sp>
        <p:nvSpPr>
          <p:cNvPr id="14" name="Rounded Rectangle 13"/>
          <p:cNvSpPr/>
          <p:nvPr/>
        </p:nvSpPr>
        <p:spPr>
          <a:xfrm>
            <a:off x="9568644" y="3886200"/>
            <a:ext cx="2120127" cy="132588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Your first light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700" b="1">
                <a:solidFill>
                  <a:srgbClr val="1F3A5F"/>
                </a:solidFill>
                <a:latin typeface="Calibri"/>
              </a:defRPr>
            </a:pPr>
            <a:r>
              <a:rPr sz="2700" b="1">
                <a:solidFill>
                  <a:srgbClr val="1F3A5F"/>
                </a:solidFill>
                <a:latin typeface="Calibri"/>
              </a:rPr>
              <a:t>The ESP32 has no LED we can use, so you are going to give it one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32</a:t>
            </a:r>
          </a:p>
        </p:txBody>
      </p:sp>
      <p:sp>
        <p:nvSpPr>
          <p:cNvPr id="6" name="TextBox 5"/>
          <p:cNvSpPr txBox="1"/>
          <p:nvPr/>
        </p:nvSpPr>
        <p:spPr>
          <a:xfrm>
            <a:off x="502920" y="1188720"/>
            <a:ext cx="11185855" cy="530352"/>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Your first circuit</a:t>
            </a:r>
          </a:p>
        </p:txBody>
      </p:sp>
      <p:sp>
        <p:nvSpPr>
          <p:cNvPr id="7" name="TextBox 6"/>
          <p:cNvSpPr txBox="1"/>
          <p:nvPr/>
        </p:nvSpPr>
        <p:spPr>
          <a:xfrm>
            <a:off x="502920" y="1755648"/>
            <a:ext cx="11185855" cy="4507992"/>
          </a:xfrm>
          <a:prstGeom prst="rect">
            <a:avLst/>
          </a:prstGeom>
          <a:noFill/>
        </p:spPr>
        <p:txBody>
          <a:bodyPr wrap="square" lIns="0" tIns="0" rIns="0" bIns="0">
            <a:spAutoFit/>
          </a:bodyPr>
          <a:lstStyle/>
          <a:p>
            <a:pPr algn="l">
              <a:lnSpc>
                <a:spcPct val="100000"/>
              </a:lnSpc>
              <a:spcAft>
                <a:spcPts val="600"/>
              </a:spcAft>
              <a:defRPr sz="2000" b="0">
                <a:solidFill>
                  <a:srgbClr val="222222"/>
                </a:solidFill>
                <a:latin typeface="Calibri"/>
              </a:defRPr>
            </a:pPr>
            <a:r>
              <a:rPr sz="2000" b="0">
                <a:solidFill>
                  <a:srgbClr val="222222"/>
                </a:solidFill>
                <a:latin typeface="Calibri"/>
              </a:rPr>
              <a:t>Some development boards have a little LED soldered on. The module on this vehicle does not have one free for us, so your first program will blink an LED you wire up yourself.</a:t>
            </a:r>
          </a:p>
          <a:p>
            <a:pPr algn="l">
              <a:lnSpc>
                <a:spcPct val="100000"/>
              </a:lnSpc>
              <a:spcAft>
                <a:spcPts val="600"/>
              </a:spcAft>
              <a:defRPr sz="1000" b="0">
                <a:solidFill>
                  <a:srgbClr val="222222"/>
                </a:solidFill>
                <a:latin typeface="Calibri"/>
              </a:defRPr>
            </a:pPr>
          </a:p>
          <a:p>
            <a:pPr algn="l">
              <a:lnSpc>
                <a:spcPct val="100000"/>
              </a:lnSpc>
              <a:spcAft>
                <a:spcPts val="600"/>
              </a:spcAft>
              <a:defRPr sz="2000" b="0">
                <a:solidFill>
                  <a:srgbClr val="222222"/>
                </a:solidFill>
                <a:latin typeface="Calibri"/>
              </a:defRPr>
            </a:pPr>
            <a:r>
              <a:rPr sz="2000" b="0">
                <a:solidFill>
                  <a:srgbClr val="222222"/>
                </a:solidFill>
                <a:latin typeface="Calibri"/>
              </a:rPr>
              <a:t>That is a better place to start anyway. Before you can make something blink, you have to make a circuit that works - and a circuit is the thing underneath everything else on this vehicle.</a:t>
            </a:r>
          </a:p>
          <a:p>
            <a:pPr algn="l">
              <a:lnSpc>
                <a:spcPct val="100000"/>
              </a:lnSpc>
              <a:spcAft>
                <a:spcPts val="600"/>
              </a:spcAft>
              <a:defRPr sz="1000" b="0">
                <a:solidFill>
                  <a:srgbClr val="222222"/>
                </a:solidFill>
                <a:latin typeface="Calibri"/>
              </a:defRPr>
            </a:pPr>
          </a:p>
          <a:p>
            <a:pPr algn="l">
              <a:lnSpc>
                <a:spcPct val="100000"/>
              </a:lnSpc>
              <a:spcAft>
                <a:spcPts val="600"/>
              </a:spcAft>
              <a:defRPr sz="2000" b="0">
                <a:solidFill>
                  <a:srgbClr val="222222"/>
                </a:solidFill>
                <a:latin typeface="Calibri"/>
              </a:defRPr>
            </a:pPr>
            <a:r>
              <a:rPr sz="2000" b="0">
                <a:solidFill>
                  <a:srgbClr val="222222"/>
                </a:solidFill>
                <a:latin typeface="Calibri"/>
              </a:rPr>
              <a:t>You need four things from the kit:</a:t>
            </a:r>
          </a:p>
          <a:p>
            <a:pPr lvl="1" algn="l">
              <a:lnSpc>
                <a:spcPct val="100000"/>
              </a:lnSpc>
              <a:spcAft>
                <a:spcPts val="600"/>
              </a:spcAft>
              <a:defRPr sz="2000" b="0">
                <a:solidFill>
                  <a:srgbClr val="222222"/>
                </a:solidFill>
                <a:latin typeface="Calibri"/>
              </a:defRPr>
            </a:pPr>
            <a:r>
              <a:rPr sz="2000" b="0">
                <a:solidFill>
                  <a:srgbClr val="222222"/>
                </a:solidFill>
                <a:latin typeface="Calibri"/>
              </a:rPr>
              <a:t>a breadboard</a:t>
            </a:r>
          </a:p>
          <a:p>
            <a:pPr lvl="1" algn="l">
              <a:lnSpc>
                <a:spcPct val="100000"/>
              </a:lnSpc>
              <a:spcAft>
                <a:spcPts val="600"/>
              </a:spcAft>
              <a:defRPr sz="2000" b="0">
                <a:solidFill>
                  <a:srgbClr val="222222"/>
                </a:solidFill>
                <a:latin typeface="Calibri"/>
              </a:defRPr>
            </a:pPr>
            <a:r>
              <a:rPr sz="2000" b="0">
                <a:solidFill>
                  <a:srgbClr val="222222"/>
                </a:solidFill>
                <a:latin typeface="Calibri"/>
              </a:rPr>
              <a:t>an LED</a:t>
            </a:r>
          </a:p>
          <a:p>
            <a:pPr lvl="1" algn="l">
              <a:lnSpc>
                <a:spcPct val="100000"/>
              </a:lnSpc>
              <a:spcAft>
                <a:spcPts val="600"/>
              </a:spcAft>
              <a:defRPr sz="2000" b="0">
                <a:solidFill>
                  <a:srgbClr val="222222"/>
                </a:solidFill>
                <a:latin typeface="Calibri"/>
              </a:defRPr>
            </a:pPr>
            <a:r>
              <a:rPr sz="2000" b="0">
                <a:solidFill>
                  <a:srgbClr val="222222"/>
                </a:solidFill>
                <a:latin typeface="Calibri"/>
              </a:rPr>
              <a:t>a 220 ohm resistor</a:t>
            </a:r>
          </a:p>
          <a:p>
            <a:pPr lvl="1" algn="l">
              <a:lnSpc>
                <a:spcPct val="100000"/>
              </a:lnSpc>
              <a:spcAft>
                <a:spcPts val="600"/>
              </a:spcAft>
              <a:defRPr sz="2000" b="0">
                <a:solidFill>
                  <a:srgbClr val="222222"/>
                </a:solidFill>
                <a:latin typeface="Calibri"/>
              </a:defRPr>
            </a:pPr>
            <a:r>
              <a:rPr sz="2000" b="0">
                <a:solidFill>
                  <a:srgbClr val="222222"/>
                </a:solidFill>
                <a:latin typeface="Calibri"/>
              </a:rPr>
              <a:t>two jumper wires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What a breadboard is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33</a:t>
            </a:r>
          </a:p>
        </p:txBody>
      </p:sp>
      <p:sp>
        <p:nvSpPr>
          <p:cNvPr id="6" name="TextBox 5"/>
          <p:cNvSpPr txBox="1"/>
          <p:nvPr/>
        </p:nvSpPr>
        <p:spPr>
          <a:xfrm>
            <a:off x="502920" y="1188720"/>
            <a:ext cx="11185855" cy="548640"/>
          </a:xfrm>
          <a:prstGeom prst="rect">
            <a:avLst/>
          </a:prstGeom>
          <a:noFill/>
        </p:spPr>
        <p:txBody>
          <a:bodyPr wrap="square" lIns="0" tIns="0" rIns="0" bIns="0">
            <a:spAutoFit/>
          </a:bodyPr>
          <a:lstStyle/>
          <a:p>
            <a:pPr algn="l">
              <a:lnSpc>
                <a:spcPct val="100000"/>
              </a:lnSpc>
              <a:spcAft>
                <a:spcPts val="600"/>
              </a:spcAft>
              <a:defRPr sz="1800" b="0">
                <a:solidFill>
                  <a:srgbClr val="222222"/>
                </a:solidFill>
                <a:latin typeface="Calibri"/>
              </a:defRPr>
            </a:pPr>
            <a:r>
              <a:rPr sz="1800" b="0">
                <a:solidFill>
                  <a:srgbClr val="222222"/>
                </a:solidFill>
                <a:latin typeface="Calibri"/>
              </a:rPr>
              <a:t>A breadboard lets you build a circuit without soldering, and take it apart again.</a:t>
            </a:r>
          </a:p>
        </p:txBody>
      </p:sp>
      <p:pic>
        <p:nvPicPr>
          <p:cNvPr id="7" name="Picture 6" descr="breadboard-parts-named.jpg"/>
          <p:cNvPicPr>
            <a:picLocks noChangeAspect="1"/>
          </p:cNvPicPr>
          <p:nvPr/>
        </p:nvPicPr>
        <p:blipFill>
          <a:blip r:embed="rId2"/>
          <a:stretch>
            <a:fillRect/>
          </a:stretch>
        </p:blipFill>
        <p:spPr>
          <a:xfrm>
            <a:off x="998531" y="1810512"/>
            <a:ext cx="4418825" cy="2487168"/>
          </a:xfrm>
          <a:prstGeom prst="rect">
            <a:avLst/>
          </a:prstGeom>
        </p:spPr>
      </p:pic>
      <p:pic>
        <p:nvPicPr>
          <p:cNvPr id="8" name="Picture 7" descr="breadboard-parts.jpg"/>
          <p:cNvPicPr>
            <a:picLocks noChangeAspect="1"/>
          </p:cNvPicPr>
          <p:nvPr/>
        </p:nvPicPr>
        <p:blipFill>
          <a:blip r:embed="rId3"/>
          <a:stretch>
            <a:fillRect/>
          </a:stretch>
        </p:blipFill>
        <p:spPr>
          <a:xfrm>
            <a:off x="6774338" y="1810512"/>
            <a:ext cx="4418825" cy="2487168"/>
          </a:xfrm>
          <a:prstGeom prst="rect">
            <a:avLst/>
          </a:prstGeom>
        </p:spPr>
      </p:pic>
      <p:sp>
        <p:nvSpPr>
          <p:cNvPr id="9" name="TextBox 8"/>
          <p:cNvSpPr txBox="1"/>
          <p:nvPr/>
        </p:nvSpPr>
        <p:spPr>
          <a:xfrm>
            <a:off x="502920" y="4370832"/>
            <a:ext cx="5410047" cy="658368"/>
          </a:xfrm>
          <a:prstGeom prst="rect">
            <a:avLst/>
          </a:prstGeom>
          <a:noFill/>
        </p:spPr>
        <p:txBody>
          <a:bodyPr wrap="square" lIns="0" tIns="0" rIns="0" bIns="0">
            <a:spAutoFit/>
          </a:bodyPr>
          <a:lstStyle/>
          <a:p>
            <a:pPr algn="ctr">
              <a:lnSpc>
                <a:spcPct val="100000"/>
              </a:lnSpc>
              <a:spcAft>
                <a:spcPts val="200"/>
              </a:spcAft>
              <a:defRPr sz="1800" b="0">
                <a:solidFill>
                  <a:srgbClr val="666666"/>
                </a:solidFill>
                <a:latin typeface="Calibri"/>
              </a:defRPr>
            </a:pPr>
            <a:r>
              <a:rPr sz="1800" b="0">
                <a:solidFill>
                  <a:srgbClr val="666666"/>
                </a:solidFill>
                <a:latin typeface="Calibri"/>
              </a:rPr>
              <a:t>Terminal strips down the middle, power rails along the edges</a:t>
            </a:r>
          </a:p>
        </p:txBody>
      </p:sp>
      <p:sp>
        <p:nvSpPr>
          <p:cNvPr id="10" name="TextBox 9"/>
          <p:cNvSpPr txBox="1"/>
          <p:nvPr/>
        </p:nvSpPr>
        <p:spPr>
          <a:xfrm>
            <a:off x="6278727" y="4370832"/>
            <a:ext cx="5410047" cy="658368"/>
          </a:xfrm>
          <a:prstGeom prst="rect">
            <a:avLst/>
          </a:prstGeom>
          <a:noFill/>
        </p:spPr>
        <p:txBody>
          <a:bodyPr wrap="square" lIns="0" tIns="0" rIns="0" bIns="0">
            <a:spAutoFit/>
          </a:bodyPr>
          <a:lstStyle/>
          <a:p>
            <a:pPr algn="ctr">
              <a:lnSpc>
                <a:spcPct val="100000"/>
              </a:lnSpc>
              <a:spcAft>
                <a:spcPts val="200"/>
              </a:spcAft>
              <a:defRPr sz="1800" b="0">
                <a:solidFill>
                  <a:srgbClr val="666666"/>
                </a:solidFill>
                <a:latin typeface="Calibri"/>
              </a:defRPr>
            </a:pPr>
            <a:r>
              <a:rPr sz="1800" b="0">
                <a:solidFill>
                  <a:srgbClr val="666666"/>
                </a:solidFill>
                <a:latin typeface="Calibri"/>
              </a:rPr>
              <a:t>A 220 ohm resistor and an LED. Note the LED has one leg longer.</a:t>
            </a:r>
          </a:p>
        </p:txBody>
      </p:sp>
      <p:sp>
        <p:nvSpPr>
          <p:cNvPr id="11" name="Rounded Rectangle 10"/>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The five holes in a row are joined to each other under the plastic. That is the whole trick: push two legs into the same row and they are connected.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The circuit you are about to build</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34</a:t>
            </a:r>
          </a:p>
        </p:txBody>
      </p:sp>
      <p:cxnSp>
        <p:nvCxnSpPr>
          <p:cNvPr id="6" name="Connector 5"/>
          <p:cNvCxnSpPr/>
          <p:nvPr/>
        </p:nvCxnSpPr>
        <p:spPr>
          <a:xfrm>
            <a:off x="1554480" y="1755648"/>
            <a:ext cx="1371600" cy="0"/>
          </a:xfrm>
          <a:prstGeom prst="line">
            <a:avLst/>
          </a:prstGeom>
          <a:ln w="3175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1755648"/>
            <a:ext cx="2011680" cy="0"/>
          </a:xfrm>
          <a:prstGeom prst="line">
            <a:avLst/>
          </a:prstGeom>
          <a:ln w="3175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2926080" y="1572768"/>
            <a:ext cx="137160" cy="182880"/>
          </a:xfrm>
          <a:prstGeom prst="line">
            <a:avLst/>
          </a:prstGeom>
          <a:ln w="3175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063240" y="1572768"/>
            <a:ext cx="274320" cy="365760"/>
          </a:xfrm>
          <a:prstGeom prst="line">
            <a:avLst/>
          </a:prstGeom>
          <a:ln w="3175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3337560" y="1572768"/>
            <a:ext cx="274320" cy="365760"/>
          </a:xfrm>
          <a:prstGeom prst="line">
            <a:avLst/>
          </a:prstGeom>
          <a:ln w="3175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3611880" y="1572768"/>
            <a:ext cx="274320" cy="365760"/>
          </a:xfrm>
          <a:prstGeom prst="line">
            <a:avLst/>
          </a:prstGeom>
          <a:ln w="3175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3886200" y="1572768"/>
            <a:ext cx="274320" cy="365760"/>
          </a:xfrm>
          <a:prstGeom prst="line">
            <a:avLst/>
          </a:prstGeom>
          <a:ln w="3175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160520" y="1572768"/>
            <a:ext cx="274320" cy="365760"/>
          </a:xfrm>
          <a:prstGeom prst="line">
            <a:avLst/>
          </a:prstGeom>
          <a:ln w="3175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4434840" y="1755648"/>
            <a:ext cx="137160" cy="182880"/>
          </a:xfrm>
          <a:prstGeom prst="line">
            <a:avLst/>
          </a:prstGeom>
          <a:ln w="3175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583680" y="1755648"/>
            <a:ext cx="0" cy="731520"/>
          </a:xfrm>
          <a:prstGeom prst="line">
            <a:avLst/>
          </a:prstGeom>
          <a:ln w="3175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583680" y="3054096"/>
            <a:ext cx="0" cy="530352"/>
          </a:xfrm>
          <a:prstGeom prst="line">
            <a:avLst/>
          </a:prstGeom>
          <a:ln w="31750">
            <a:solidFill>
              <a:srgbClr val="1F3A5F"/>
            </a:solidFill>
          </a:ln>
        </p:spPr>
        <p:style>
          <a:lnRef idx="2">
            <a:schemeClr val="accent1"/>
          </a:lnRef>
          <a:fillRef idx="0">
            <a:schemeClr val="accent1"/>
          </a:fillRef>
          <a:effectRef idx="1">
            <a:schemeClr val="accent1"/>
          </a:effectRef>
          <a:fontRef idx="minor">
            <a:schemeClr val="tx1"/>
          </a:fontRef>
        </p:style>
      </p:cxnSp>
      <p:sp>
        <p:nvSpPr>
          <p:cNvPr id="17" name="Isosceles Triangle 16"/>
          <p:cNvSpPr/>
          <p:nvPr/>
        </p:nvSpPr>
        <p:spPr>
          <a:xfrm rot="10800000">
            <a:off x="6236208" y="2487168"/>
            <a:ext cx="694944" cy="566928"/>
          </a:xfrm>
          <a:prstGeom prst="triangle">
            <a:avLst/>
          </a:prstGeom>
          <a:solidFill>
            <a:srgbClr val="FAE6C8"/>
          </a:solidFill>
          <a:ln w="25400">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8" name="Connector 17"/>
          <p:cNvCxnSpPr/>
          <p:nvPr/>
        </p:nvCxnSpPr>
        <p:spPr>
          <a:xfrm>
            <a:off x="6199632" y="3054096"/>
            <a:ext cx="768096" cy="0"/>
          </a:xfrm>
          <a:prstGeom prst="line">
            <a:avLst/>
          </a:prstGeom>
          <a:ln w="3175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6858000" y="2377440"/>
            <a:ext cx="438912" cy="274320"/>
          </a:xfrm>
          <a:prstGeom prst="line">
            <a:avLst/>
          </a:prstGeom>
          <a:ln w="19050">
            <a:solidFill>
              <a:srgbClr val="B46A0F"/>
            </a:solidFill>
            <a:headEnd/>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6858000" y="2578608"/>
            <a:ext cx="438912" cy="274320"/>
          </a:xfrm>
          <a:prstGeom prst="line">
            <a:avLst/>
          </a:prstGeom>
          <a:ln w="19050">
            <a:solidFill>
              <a:srgbClr val="B46A0F"/>
            </a:solidFill>
            <a:headEnd/>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554480" y="3584448"/>
            <a:ext cx="5029200" cy="0"/>
          </a:xfrm>
          <a:prstGeom prst="line">
            <a:avLst/>
          </a:prstGeom>
          <a:ln w="3175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554480" y="1755648"/>
            <a:ext cx="0" cy="1828800"/>
          </a:xfrm>
          <a:prstGeom prst="line">
            <a:avLst/>
          </a:prstGeom>
          <a:ln w="3175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554480" y="3584448"/>
            <a:ext cx="0" cy="201168"/>
          </a:xfrm>
          <a:prstGeom prst="line">
            <a:avLst/>
          </a:prstGeom>
          <a:ln w="3175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280160" y="3785616"/>
            <a:ext cx="548640" cy="0"/>
          </a:xfrm>
          <a:prstGeom prst="line">
            <a:avLst/>
          </a:prstGeom>
          <a:ln w="3175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380744" y="3877056"/>
            <a:ext cx="347472" cy="0"/>
          </a:xfrm>
          <a:prstGeom prst="line">
            <a:avLst/>
          </a:prstGeom>
          <a:ln w="3175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472184" y="3968496"/>
            <a:ext cx="164592" cy="0"/>
          </a:xfrm>
          <a:prstGeom prst="line">
            <a:avLst/>
          </a:prstGeom>
          <a:ln w="31750">
            <a:solidFill>
              <a:srgbClr val="1F3A5F"/>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65760" y="1280160"/>
            <a:ext cx="2194560" cy="367792"/>
          </a:xfrm>
          <a:prstGeom prst="rect">
            <a:avLst/>
          </a:prstGeom>
          <a:noFill/>
        </p:spPr>
        <p:txBody>
          <a:bodyPr wrap="square" lIns="0" tIns="0" rIns="0" bIns="0">
            <a:spAutoFit/>
          </a:bodyPr>
          <a:lstStyle/>
          <a:p>
            <a:pPr algn="ctr">
              <a:lnSpc>
                <a:spcPct val="100000"/>
              </a:lnSpc>
              <a:spcAft>
                <a:spcPts val="0"/>
              </a:spcAft>
              <a:defRPr sz="1800" b="1">
                <a:solidFill>
                  <a:srgbClr val="0E7C86"/>
                </a:solidFill>
                <a:latin typeface="Calibri"/>
              </a:defRPr>
            </a:pPr>
            <a:r>
              <a:rPr sz="1800" b="1">
                <a:solidFill>
                  <a:srgbClr val="0E7C86"/>
                </a:solidFill>
                <a:latin typeface="Calibri"/>
              </a:rPr>
              <a:t>ESP32  GPIO 2</a:t>
            </a:r>
          </a:p>
        </p:txBody>
      </p:sp>
      <p:sp>
        <p:nvSpPr>
          <p:cNvPr id="28" name="TextBox 27"/>
          <p:cNvSpPr txBox="1"/>
          <p:nvPr/>
        </p:nvSpPr>
        <p:spPr>
          <a:xfrm>
            <a:off x="365760" y="4041648"/>
            <a:ext cx="2194560" cy="367792"/>
          </a:xfrm>
          <a:prstGeom prst="rect">
            <a:avLst/>
          </a:prstGeom>
          <a:noFill/>
        </p:spPr>
        <p:txBody>
          <a:bodyPr wrap="square" lIns="0" tIns="0" rIns="0" bIns="0">
            <a:spAutoFit/>
          </a:bodyPr>
          <a:lstStyle/>
          <a:p>
            <a:pPr algn="ctr">
              <a:lnSpc>
                <a:spcPct val="100000"/>
              </a:lnSpc>
              <a:spcAft>
                <a:spcPts val="0"/>
              </a:spcAft>
              <a:defRPr sz="1800" b="1">
                <a:solidFill>
                  <a:srgbClr val="666666"/>
                </a:solidFill>
                <a:latin typeface="Calibri"/>
              </a:defRPr>
            </a:pPr>
            <a:r>
              <a:rPr sz="1800" b="1">
                <a:solidFill>
                  <a:srgbClr val="666666"/>
                </a:solidFill>
                <a:latin typeface="Calibri"/>
              </a:rPr>
              <a:t>ESP32  GND</a:t>
            </a:r>
          </a:p>
        </p:txBody>
      </p:sp>
      <p:sp>
        <p:nvSpPr>
          <p:cNvPr id="29" name="TextBox 28"/>
          <p:cNvSpPr txBox="1"/>
          <p:nvPr/>
        </p:nvSpPr>
        <p:spPr>
          <a:xfrm>
            <a:off x="2651760" y="1188720"/>
            <a:ext cx="2194560" cy="367792"/>
          </a:xfrm>
          <a:prstGeom prst="rect">
            <a:avLst/>
          </a:prstGeom>
          <a:noFill/>
        </p:spPr>
        <p:txBody>
          <a:bodyPr wrap="square" lIns="0" tIns="0" rIns="0" bIns="0">
            <a:spAutoFit/>
          </a:bodyPr>
          <a:lstStyle/>
          <a:p>
            <a:pPr algn="ctr">
              <a:lnSpc>
                <a:spcPct val="100000"/>
              </a:lnSpc>
              <a:spcAft>
                <a:spcPts val="0"/>
              </a:spcAft>
              <a:defRPr sz="1800" b="1">
                <a:solidFill>
                  <a:srgbClr val="1F3A5F"/>
                </a:solidFill>
                <a:latin typeface="Calibri"/>
              </a:defRPr>
            </a:pPr>
            <a:r>
              <a:rPr sz="1800" b="1">
                <a:solidFill>
                  <a:srgbClr val="1F3A5F"/>
                </a:solidFill>
                <a:latin typeface="Calibri"/>
              </a:rPr>
              <a:t>R = 220 ohms</a:t>
            </a:r>
          </a:p>
        </p:txBody>
      </p:sp>
      <p:sp>
        <p:nvSpPr>
          <p:cNvPr id="30" name="TextBox 29"/>
          <p:cNvSpPr txBox="1"/>
          <p:nvPr/>
        </p:nvSpPr>
        <p:spPr>
          <a:xfrm>
            <a:off x="3703320" y="2359152"/>
            <a:ext cx="2286000" cy="646684"/>
          </a:xfrm>
          <a:prstGeom prst="rect">
            <a:avLst/>
          </a:prstGeom>
          <a:noFill/>
        </p:spPr>
        <p:txBody>
          <a:bodyPr wrap="square" lIns="0" tIns="0" rIns="0" bIns="0">
            <a:spAutoFit/>
          </a:bodyPr>
          <a:lstStyle/>
          <a:p>
            <a:pPr algn="r">
              <a:lnSpc>
                <a:spcPct val="100000"/>
              </a:lnSpc>
              <a:spcAft>
                <a:spcPts val="0"/>
              </a:spcAft>
              <a:defRPr sz="1800" b="1">
                <a:solidFill>
                  <a:srgbClr val="0E7C86"/>
                </a:solidFill>
                <a:latin typeface="Calibri"/>
              </a:defRPr>
            </a:pPr>
            <a:r>
              <a:rPr sz="1800" b="1">
                <a:solidFill>
                  <a:srgbClr val="0E7C86"/>
                </a:solidFill>
                <a:latin typeface="Calibri"/>
              </a:rPr>
              <a:t>ANODE - the long leg, toward the pin</a:t>
            </a:r>
          </a:p>
        </p:txBody>
      </p:sp>
      <p:sp>
        <p:nvSpPr>
          <p:cNvPr id="31" name="TextBox 30"/>
          <p:cNvSpPr txBox="1"/>
          <p:nvPr/>
        </p:nvSpPr>
        <p:spPr>
          <a:xfrm>
            <a:off x="3703320" y="2999232"/>
            <a:ext cx="2286000" cy="646684"/>
          </a:xfrm>
          <a:prstGeom prst="rect">
            <a:avLst/>
          </a:prstGeom>
          <a:noFill/>
        </p:spPr>
        <p:txBody>
          <a:bodyPr wrap="square" lIns="0" tIns="0" rIns="0" bIns="0">
            <a:spAutoFit/>
          </a:bodyPr>
          <a:lstStyle/>
          <a:p>
            <a:pPr algn="r">
              <a:lnSpc>
                <a:spcPct val="100000"/>
              </a:lnSpc>
              <a:spcAft>
                <a:spcPts val="0"/>
              </a:spcAft>
              <a:defRPr sz="1800" b="0">
                <a:solidFill>
                  <a:srgbClr val="666666"/>
                </a:solidFill>
                <a:latin typeface="Calibri"/>
              </a:defRPr>
            </a:pPr>
            <a:r>
              <a:rPr sz="1800" b="0">
                <a:solidFill>
                  <a:srgbClr val="666666"/>
                </a:solidFill>
                <a:latin typeface="Calibri"/>
              </a:rPr>
              <a:t>CATHODE - the short leg, toward ground</a:t>
            </a:r>
          </a:p>
        </p:txBody>
      </p:sp>
      <p:sp>
        <p:nvSpPr>
          <p:cNvPr id="32" name="TextBox 31"/>
          <p:cNvSpPr txBox="1"/>
          <p:nvPr/>
        </p:nvSpPr>
        <p:spPr>
          <a:xfrm>
            <a:off x="502920" y="4480560"/>
            <a:ext cx="6766560" cy="925575"/>
          </a:xfrm>
          <a:prstGeom prst="rect">
            <a:avLst/>
          </a:prstGeom>
          <a:noFill/>
        </p:spPr>
        <p:txBody>
          <a:bodyPr wrap="square" lIns="0" tIns="0" rIns="0" bIns="0">
            <a:spAutoFit/>
          </a:bodyPr>
          <a:lstStyle/>
          <a:p>
            <a:pPr algn="l">
              <a:lnSpc>
                <a:spcPct val="100000"/>
              </a:lnSpc>
              <a:spcAft>
                <a:spcPts val="0"/>
              </a:spcAft>
              <a:defRPr sz="1800" b="0">
                <a:solidFill>
                  <a:srgbClr val="222222"/>
                </a:solidFill>
                <a:latin typeface="Calibri"/>
              </a:defRPr>
            </a:pPr>
            <a:r>
              <a:rPr sz="1800" b="0">
                <a:solidFill>
                  <a:srgbClr val="222222"/>
                </a:solidFill>
                <a:latin typeface="Calibri"/>
              </a:rPr>
              <a:t>Current leaves GPIO 2, crosses the resistor, passes through the LED from the triangle to the bar, and returns to ground.</a:t>
            </a:r>
          </a:p>
        </p:txBody>
      </p:sp>
      <p:sp>
        <p:nvSpPr>
          <p:cNvPr id="33" name="TextBox 32"/>
          <p:cNvSpPr txBox="1"/>
          <p:nvPr/>
        </p:nvSpPr>
        <p:spPr>
          <a:xfrm>
            <a:off x="7909560" y="1280160"/>
            <a:ext cx="3749039" cy="367792"/>
          </a:xfrm>
          <a:prstGeom prst="rect">
            <a:avLst/>
          </a:prstGeom>
          <a:noFill/>
        </p:spPr>
        <p:txBody>
          <a:bodyPr wrap="square" lIns="0" tIns="0" rIns="0" bIns="0">
            <a:spAutoFit/>
          </a:bodyPr>
          <a:lstStyle/>
          <a:p>
            <a:pPr algn="l">
              <a:lnSpc>
                <a:spcPct val="100000"/>
              </a:lnSpc>
              <a:spcAft>
                <a:spcPts val="100"/>
              </a:spcAft>
              <a:defRPr sz="1800" b="1">
                <a:solidFill>
                  <a:srgbClr val="0E7C86"/>
                </a:solidFill>
                <a:latin typeface="Calibri"/>
              </a:defRPr>
            </a:pPr>
            <a:r>
              <a:rPr sz="1800" b="1">
                <a:solidFill>
                  <a:srgbClr val="0E7C86"/>
                </a:solidFill>
                <a:latin typeface="Calibri"/>
              </a:rPr>
              <a:t>Why 220 ohms?</a:t>
            </a:r>
          </a:p>
        </p:txBody>
      </p:sp>
      <p:sp>
        <p:nvSpPr>
          <p:cNvPr id="34" name="Rectangle 33"/>
          <p:cNvSpPr/>
          <p:nvPr/>
        </p:nvSpPr>
        <p:spPr>
          <a:xfrm>
            <a:off x="7909560" y="1737360"/>
            <a:ext cx="3749039" cy="1508760"/>
          </a:xfrm>
          <a:prstGeom prst="rect">
            <a:avLst/>
          </a:prstGeom>
          <a:solidFill>
            <a:srgbClr val="F4F6F8"/>
          </a:solidFill>
          <a:ln w="9525">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lnSpc>
                <a:spcPct val="100000"/>
              </a:lnSpc>
              <a:spcAft>
                <a:spcPts val="0"/>
              </a:spcAft>
              <a:defRPr sz="1400" b="0">
                <a:solidFill>
                  <a:srgbClr val="222222"/>
                </a:solidFill>
                <a:latin typeface="Consolas"/>
              </a:defRPr>
            </a:pPr>
            <a:r>
              <a:rPr sz="1400" b="0">
                <a:solidFill>
                  <a:srgbClr val="222222"/>
                </a:solidFill>
                <a:latin typeface="Consolas"/>
              </a:rPr>
              <a:t>R = (supply - LED drop) / current</a:t>
            </a:r>
          </a:p>
          <a:p>
            <a:pPr algn="l">
              <a:lnSpc>
                <a:spcPct val="100000"/>
              </a:lnSpc>
              <a:spcAft>
                <a:spcPts val="0"/>
              </a:spcAft>
              <a:defRPr sz="700" b="0">
                <a:solidFill>
                  <a:srgbClr val="222222"/>
                </a:solidFill>
                <a:latin typeface="Consolas"/>
              </a:defRPr>
            </a:pPr>
          </a:p>
          <a:p>
            <a:pPr algn="l">
              <a:lnSpc>
                <a:spcPct val="100000"/>
              </a:lnSpc>
              <a:spcAft>
                <a:spcPts val="0"/>
              </a:spcAft>
              <a:defRPr sz="1400" b="0">
                <a:solidFill>
                  <a:srgbClr val="222222"/>
                </a:solidFill>
                <a:latin typeface="Consolas"/>
              </a:defRPr>
            </a:pPr>
            <a:r>
              <a:rPr sz="1400" b="0">
                <a:solidFill>
                  <a:srgbClr val="222222"/>
                </a:solidFill>
                <a:latin typeface="Consolas"/>
              </a:rPr>
              <a:t>  = (3.3 - 2.0) / 0.020</a:t>
            </a:r>
          </a:p>
          <a:p>
            <a:pPr algn="l">
              <a:lnSpc>
                <a:spcPct val="100000"/>
              </a:lnSpc>
              <a:spcAft>
                <a:spcPts val="0"/>
              </a:spcAft>
              <a:defRPr sz="1400" b="0">
                <a:solidFill>
                  <a:srgbClr val="222222"/>
                </a:solidFill>
                <a:latin typeface="Consolas"/>
              </a:defRPr>
            </a:pPr>
            <a:r>
              <a:rPr sz="1400" b="0">
                <a:solidFill>
                  <a:srgbClr val="222222"/>
                </a:solidFill>
                <a:latin typeface="Consolas"/>
              </a:rPr>
              <a:t>  = 65 ohms</a:t>
            </a:r>
          </a:p>
        </p:txBody>
      </p:sp>
      <p:sp>
        <p:nvSpPr>
          <p:cNvPr id="35" name="TextBox 34"/>
          <p:cNvSpPr txBox="1"/>
          <p:nvPr/>
        </p:nvSpPr>
        <p:spPr>
          <a:xfrm>
            <a:off x="7909560" y="3383280"/>
            <a:ext cx="3749039" cy="1813052"/>
          </a:xfrm>
          <a:prstGeom prst="rect">
            <a:avLst/>
          </a:prstGeom>
          <a:noFill/>
        </p:spPr>
        <p:txBody>
          <a:bodyPr wrap="square" lIns="0" tIns="0" rIns="0" bIns="0">
            <a:spAutoFit/>
          </a:bodyPr>
          <a:lstStyle/>
          <a:p>
            <a:pPr algn="l">
              <a:lnSpc>
                <a:spcPct val="100000"/>
              </a:lnSpc>
              <a:spcAft>
                <a:spcPts val="0"/>
              </a:spcAft>
              <a:defRPr sz="1800" b="0">
                <a:solidFill>
                  <a:srgbClr val="222222"/>
                </a:solidFill>
                <a:latin typeface="Calibri"/>
              </a:defRPr>
            </a:pPr>
            <a:r>
              <a:rPr sz="1800" b="0">
                <a:solidFill>
                  <a:srgbClr val="222222"/>
                </a:solidFill>
                <a:latin typeface="Calibri"/>
              </a:rPr>
              <a:t>220 ohms is in the kit, and is a good choice:</a:t>
            </a:r>
          </a:p>
          <a:p>
            <a:pPr algn="l">
              <a:lnSpc>
                <a:spcPct val="100000"/>
              </a:lnSpc>
              <a:spcAft>
                <a:spcPts val="0"/>
              </a:spcAft>
              <a:defRPr sz="900" b="0">
                <a:solidFill>
                  <a:srgbClr val="222222"/>
                </a:solidFill>
                <a:latin typeface="Calibri"/>
              </a:defRPr>
            </a:pPr>
          </a:p>
          <a:p>
            <a:pPr algn="l">
              <a:lnSpc>
                <a:spcPct val="100000"/>
              </a:lnSpc>
              <a:spcAft>
                <a:spcPts val="0"/>
              </a:spcAft>
              <a:defRPr sz="1800" b="0">
                <a:solidFill>
                  <a:srgbClr val="222222"/>
                </a:solidFill>
                <a:latin typeface="Calibri"/>
              </a:defRPr>
            </a:pPr>
            <a:r>
              <a:rPr sz="1800" b="0">
                <a:solidFill>
                  <a:srgbClr val="222222"/>
                </a:solidFill>
                <a:latin typeface="Calibri"/>
              </a:rPr>
              <a:t>(3.3 - 2.0) / 220 = about 6 mA</a:t>
            </a:r>
          </a:p>
          <a:p>
            <a:pPr algn="l">
              <a:lnSpc>
                <a:spcPct val="100000"/>
              </a:lnSpc>
              <a:spcAft>
                <a:spcPts val="0"/>
              </a:spcAft>
              <a:defRPr sz="900" b="0">
                <a:solidFill>
                  <a:srgbClr val="222222"/>
                </a:solidFill>
                <a:latin typeface="Calibri"/>
              </a:defRPr>
            </a:pPr>
          </a:p>
          <a:p>
            <a:pPr algn="l">
              <a:lnSpc>
                <a:spcPct val="100000"/>
              </a:lnSpc>
              <a:spcAft>
                <a:spcPts val="0"/>
              </a:spcAft>
              <a:defRPr sz="1800" b="0">
                <a:solidFill>
                  <a:srgbClr val="222222"/>
                </a:solidFill>
                <a:latin typeface="Calibri"/>
              </a:defRPr>
            </a:pPr>
            <a:r>
              <a:rPr sz="1800" b="0">
                <a:solidFill>
                  <a:srgbClr val="222222"/>
                </a:solidFill>
                <a:latin typeface="Calibri"/>
              </a:rPr>
              <a:t>Dimmer than flat out, and easy to see.</a:t>
            </a:r>
          </a:p>
        </p:txBody>
      </p:sp>
      <p:sp>
        <p:nvSpPr>
          <p:cNvPr id="36" name="Rounded Rectangle 35"/>
          <p:cNvSpPr/>
          <p:nvPr/>
        </p:nvSpPr>
        <p:spPr>
          <a:xfrm>
            <a:off x="502920" y="5303520"/>
            <a:ext cx="11185855" cy="960120"/>
          </a:xfrm>
          <a:prstGeom prst="roundRect">
            <a:avLst>
              <a:gd name="adj" fmla="val 4000"/>
            </a:avLst>
          </a:prstGeom>
          <a:solidFill>
            <a:srgbClr val="FDF3E3"/>
          </a:solidFill>
          <a:ln w="12700">
            <a:solidFill>
              <a:srgbClr val="B46A0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B46A0F"/>
                </a:solidFill>
                <a:latin typeface="Calibri"/>
              </a:rPr>
              <a:t>WATCH OUT   </a:t>
            </a:r>
            <a:r>
              <a:rPr sz="1800">
                <a:solidFill>
                  <a:srgbClr val="222222"/>
                </a:solidFill>
                <a:latin typeface="Calibri"/>
              </a:rPr>
              <a:t>WHEN IN DOUBT, PICK THE BIGGER RESISTOR. Too big and the LED is dim. Too small and you get one bright flash, a dead LED, and possibly a damaged pin.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Building it</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35</a:t>
            </a:r>
          </a:p>
        </p:txBody>
      </p:sp>
      <p:sp>
        <p:nvSpPr>
          <p:cNvPr id="6" name="TextBox 5"/>
          <p:cNvSpPr txBox="1"/>
          <p:nvPr/>
        </p:nvSpPr>
        <p:spPr>
          <a:xfrm>
            <a:off x="502920" y="1188720"/>
            <a:ext cx="11185855" cy="548640"/>
          </a:xfrm>
          <a:prstGeom prst="rect">
            <a:avLst/>
          </a:prstGeom>
          <a:noFill/>
        </p:spPr>
        <p:txBody>
          <a:bodyPr wrap="square" lIns="0" tIns="0" rIns="0" bIns="0">
            <a:spAutoFit/>
          </a:bodyPr>
          <a:lstStyle/>
          <a:p>
            <a:pPr algn="l">
              <a:lnSpc>
                <a:spcPct val="100000"/>
              </a:lnSpc>
              <a:spcAft>
                <a:spcPts val="200"/>
              </a:spcAft>
              <a:defRPr sz="1800" b="0">
                <a:solidFill>
                  <a:srgbClr val="222222"/>
                </a:solidFill>
                <a:latin typeface="Calibri"/>
              </a:defRPr>
            </a:pPr>
            <a:r>
              <a:rPr sz="1800" b="0">
                <a:solidFill>
                  <a:srgbClr val="222222"/>
                </a:solidFill>
                <a:latin typeface="Calibri"/>
              </a:rPr>
              <a:t>Bend the resistor legs, push everything into the board, and connect GPIO 2 and GND with the two jumper wires.</a:t>
            </a:r>
          </a:p>
        </p:txBody>
      </p:sp>
      <p:pic>
        <p:nvPicPr>
          <p:cNvPr id="7" name="Picture 6" descr="breadboard-step2.jpg"/>
          <p:cNvPicPr>
            <a:picLocks noChangeAspect="1"/>
          </p:cNvPicPr>
          <p:nvPr/>
        </p:nvPicPr>
        <p:blipFill>
          <a:blip r:embed="rId2"/>
          <a:stretch>
            <a:fillRect/>
          </a:stretch>
        </p:blipFill>
        <p:spPr>
          <a:xfrm>
            <a:off x="998531" y="1810512"/>
            <a:ext cx="4418825" cy="2487168"/>
          </a:xfrm>
          <a:prstGeom prst="rect">
            <a:avLst/>
          </a:prstGeom>
        </p:spPr>
      </p:pic>
      <p:pic>
        <p:nvPicPr>
          <p:cNvPr id="8" name="Picture 7" descr="breadboard-complete.jpg"/>
          <p:cNvPicPr>
            <a:picLocks noChangeAspect="1"/>
          </p:cNvPicPr>
          <p:nvPr/>
        </p:nvPicPr>
        <p:blipFill>
          <a:blip r:embed="rId3"/>
          <a:stretch>
            <a:fillRect/>
          </a:stretch>
        </p:blipFill>
        <p:spPr>
          <a:xfrm>
            <a:off x="6774338" y="1810512"/>
            <a:ext cx="4418825" cy="2487168"/>
          </a:xfrm>
          <a:prstGeom prst="rect">
            <a:avLst/>
          </a:prstGeom>
        </p:spPr>
      </p:pic>
      <p:sp>
        <p:nvSpPr>
          <p:cNvPr id="9" name="TextBox 8"/>
          <p:cNvSpPr txBox="1"/>
          <p:nvPr/>
        </p:nvSpPr>
        <p:spPr>
          <a:xfrm>
            <a:off x="502920" y="4370832"/>
            <a:ext cx="5410047" cy="658368"/>
          </a:xfrm>
          <a:prstGeom prst="rect">
            <a:avLst/>
          </a:prstGeom>
          <a:noFill/>
        </p:spPr>
        <p:txBody>
          <a:bodyPr wrap="square" lIns="0" tIns="0" rIns="0" bIns="0">
            <a:spAutoFit/>
          </a:bodyPr>
          <a:lstStyle/>
          <a:p>
            <a:pPr algn="ctr">
              <a:lnSpc>
                <a:spcPct val="100000"/>
              </a:lnSpc>
              <a:spcAft>
                <a:spcPts val="200"/>
              </a:spcAft>
              <a:defRPr sz="1800" b="0">
                <a:solidFill>
                  <a:srgbClr val="666666"/>
                </a:solidFill>
                <a:latin typeface="Calibri"/>
              </a:defRPr>
            </a:pPr>
            <a:r>
              <a:rPr sz="1800" b="0">
                <a:solidFill>
                  <a:srgbClr val="666666"/>
                </a:solidFill>
                <a:latin typeface="Calibri"/>
              </a:rPr>
              <a:t>Both legs in the SAME row, so they are joined. Leads on, ready for power.</a:t>
            </a:r>
          </a:p>
        </p:txBody>
      </p:sp>
      <p:sp>
        <p:nvSpPr>
          <p:cNvPr id="10" name="TextBox 9"/>
          <p:cNvSpPr txBox="1"/>
          <p:nvPr/>
        </p:nvSpPr>
        <p:spPr>
          <a:xfrm>
            <a:off x="6278727" y="4370832"/>
            <a:ext cx="5410047" cy="658368"/>
          </a:xfrm>
          <a:prstGeom prst="rect">
            <a:avLst/>
          </a:prstGeom>
          <a:noFill/>
        </p:spPr>
        <p:txBody>
          <a:bodyPr wrap="square" lIns="0" tIns="0" rIns="0" bIns="0">
            <a:spAutoFit/>
          </a:bodyPr>
          <a:lstStyle/>
          <a:p>
            <a:pPr algn="ctr">
              <a:lnSpc>
                <a:spcPct val="100000"/>
              </a:lnSpc>
              <a:spcAft>
                <a:spcPts val="200"/>
              </a:spcAft>
              <a:defRPr sz="1800" b="0">
                <a:solidFill>
                  <a:srgbClr val="666666"/>
                </a:solidFill>
                <a:latin typeface="Calibri"/>
              </a:defRPr>
            </a:pPr>
            <a:r>
              <a:rPr sz="1800" b="0">
                <a:solidFill>
                  <a:srgbClr val="666666"/>
                </a:solidFill>
                <a:latin typeface="Calibri"/>
              </a:rPr>
              <a:t>Lit. These photographs use a 9 V battery; yours runs from GPIO 2.</a:t>
            </a:r>
          </a:p>
        </p:txBody>
      </p:sp>
      <p:sp>
        <p:nvSpPr>
          <p:cNvPr id="11" name="Rounded Rectangle 10"/>
          <p:cNvSpPr/>
          <p:nvPr/>
        </p:nvSpPr>
        <p:spPr>
          <a:xfrm>
            <a:off x="502920" y="5303520"/>
            <a:ext cx="11185855" cy="960120"/>
          </a:xfrm>
          <a:prstGeom prst="roundRect">
            <a:avLst>
              <a:gd name="adj" fmla="val 4000"/>
            </a:avLst>
          </a:prstGeom>
          <a:solidFill>
            <a:srgbClr val="FDF3E3"/>
          </a:solidFill>
          <a:ln w="12700">
            <a:solidFill>
              <a:srgbClr val="B46A0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B46A0F"/>
                </a:solidFill>
                <a:latin typeface="Calibri"/>
              </a:rPr>
              <a:t>WATCH OUT   </a:t>
            </a:r>
            <a:r>
              <a:rPr sz="1800">
                <a:solidFill>
                  <a:srgbClr val="222222"/>
                </a:solidFill>
                <a:latin typeface="Calibri"/>
              </a:rPr>
              <a:t>Long leg of the LED toward the resistor and GPIO 2. Short leg toward ground. Backwards means no light, no damage - just turn it round.</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Powering it from the vehicle, not from a battery</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36</a:t>
            </a:r>
          </a:p>
        </p:txBody>
      </p:sp>
      <p:sp>
        <p:nvSpPr>
          <p:cNvPr id="6" name="TextBox 5"/>
          <p:cNvSpPr txBox="1"/>
          <p:nvPr/>
        </p:nvSpPr>
        <p:spPr>
          <a:xfrm>
            <a:off x="502920" y="1188720"/>
            <a:ext cx="5898319" cy="3986784"/>
          </a:xfrm>
          <a:prstGeom prst="rect">
            <a:avLst/>
          </a:prstGeom>
          <a:noFill/>
        </p:spPr>
        <p:txBody>
          <a:bodyPr wrap="square" lIns="0" tIns="0" rIns="0" bIns="0">
            <a:spAutoFit/>
          </a:bodyPr>
          <a:lstStyle/>
          <a:p>
            <a:pPr algn="l">
              <a:lnSpc>
                <a:spcPct val="100000"/>
              </a:lnSpc>
              <a:spcAft>
                <a:spcPts val="600"/>
              </a:spcAft>
              <a:defRPr sz="2000" b="0">
                <a:solidFill>
                  <a:srgbClr val="222222"/>
                </a:solidFill>
                <a:latin typeface="Calibri"/>
              </a:defRPr>
            </a:pPr>
            <a:r>
              <a:rPr sz="2000" b="0">
                <a:solidFill>
                  <a:srgbClr val="222222"/>
                </a:solidFill>
                <a:latin typeface="Calibri"/>
              </a:rPr>
              <a:t>A battery lights an LED. The ESP32 lets a PROGRAM light it.</a:t>
            </a:r>
          </a:p>
          <a:p>
            <a:pPr algn="l">
              <a:lnSpc>
                <a:spcPct val="100000"/>
              </a:lnSpc>
              <a:spcAft>
                <a:spcPts val="600"/>
              </a:spcAft>
              <a:defRPr sz="1000" b="0">
                <a:solidFill>
                  <a:srgbClr val="222222"/>
                </a:solidFill>
                <a:latin typeface="Calibri"/>
              </a:defRPr>
            </a:pPr>
          </a:p>
          <a:p>
            <a:pPr algn="l">
              <a:lnSpc>
                <a:spcPct val="100000"/>
              </a:lnSpc>
              <a:spcAft>
                <a:spcPts val="600"/>
              </a:spcAft>
              <a:defRPr sz="2000" b="0">
                <a:solidFill>
                  <a:srgbClr val="222222"/>
                </a:solidFill>
                <a:latin typeface="Calibri"/>
              </a:defRPr>
            </a:pPr>
            <a:r>
              <a:rPr sz="2000" b="0">
                <a:solidFill>
                  <a:srgbClr val="222222"/>
                </a:solidFill>
                <a:latin typeface="Calibri"/>
              </a:rPr>
              <a:t>Two jumper wires, through the top plate cutout:</a:t>
            </a:r>
          </a:p>
          <a:p>
            <a:pPr lvl="1" algn="l">
              <a:lnSpc>
                <a:spcPct val="100000"/>
              </a:lnSpc>
              <a:spcAft>
                <a:spcPts val="600"/>
              </a:spcAft>
              <a:defRPr sz="2000" b="0">
                <a:solidFill>
                  <a:srgbClr val="222222"/>
                </a:solidFill>
                <a:latin typeface="Calibri"/>
              </a:defRPr>
            </a:pPr>
            <a:r>
              <a:rPr sz="2000" b="0">
                <a:solidFill>
                  <a:srgbClr val="222222"/>
                </a:solidFill>
                <a:latin typeface="Calibri"/>
              </a:rPr>
              <a:t>GPIO 2  -&gt;  the resistor's row</a:t>
            </a:r>
          </a:p>
          <a:p>
            <a:pPr lvl="1" algn="l">
              <a:lnSpc>
                <a:spcPct val="100000"/>
              </a:lnSpc>
              <a:spcAft>
                <a:spcPts val="600"/>
              </a:spcAft>
              <a:defRPr sz="2000" b="0">
                <a:solidFill>
                  <a:srgbClr val="222222"/>
                </a:solidFill>
                <a:latin typeface="Calibri"/>
              </a:defRPr>
            </a:pPr>
            <a:r>
              <a:rPr sz="2000" b="0">
                <a:solidFill>
                  <a:srgbClr val="222222"/>
                </a:solidFill>
                <a:latin typeface="Calibri"/>
              </a:rPr>
              <a:t>GND     -&gt;  the row with the LED's SHORT leg</a:t>
            </a:r>
          </a:p>
          <a:p>
            <a:pPr algn="l">
              <a:lnSpc>
                <a:spcPct val="100000"/>
              </a:lnSpc>
              <a:spcAft>
                <a:spcPts val="600"/>
              </a:spcAft>
              <a:defRPr sz="1000" b="0">
                <a:solidFill>
                  <a:srgbClr val="222222"/>
                </a:solidFill>
                <a:latin typeface="Calibri"/>
              </a:defRPr>
            </a:pPr>
          </a:p>
          <a:p>
            <a:pPr algn="l">
              <a:lnSpc>
                <a:spcPct val="100000"/>
              </a:lnSpc>
              <a:spcAft>
                <a:spcPts val="600"/>
              </a:spcAft>
              <a:defRPr sz="2000" b="0">
                <a:solidFill>
                  <a:srgbClr val="222222"/>
                </a:solidFill>
                <a:latin typeface="Calibri"/>
              </a:defRPr>
            </a:pPr>
            <a:r>
              <a:rPr sz="2000" b="0">
                <a:solidFill>
                  <a:srgbClr val="222222"/>
                </a:solidFill>
                <a:latin typeface="Calibri"/>
              </a:rPr>
              <a:t>A pin supplies about 12 mA safely. Plenty for one LED through 220 ohms, and the reason you never drive a motor off a pin.</a:t>
            </a:r>
          </a:p>
        </p:txBody>
      </p:sp>
      <p:pic>
        <p:nvPicPr>
          <p:cNvPr id="7" name="Picture 6" descr="breadboard-powered-from-vehicle.jpg"/>
          <p:cNvPicPr>
            <a:picLocks noChangeAspect="1"/>
          </p:cNvPicPr>
          <p:nvPr/>
        </p:nvPicPr>
        <p:blipFill>
          <a:blip r:embed="rId2"/>
          <a:stretch>
            <a:fillRect/>
          </a:stretch>
        </p:blipFill>
        <p:spPr>
          <a:xfrm>
            <a:off x="7509551" y="1188720"/>
            <a:ext cx="3436671" cy="3291840"/>
          </a:xfrm>
          <a:prstGeom prst="rect">
            <a:avLst/>
          </a:prstGeom>
        </p:spPr>
      </p:pic>
      <p:sp>
        <p:nvSpPr>
          <p:cNvPr id="8" name="TextBox 7"/>
          <p:cNvSpPr txBox="1"/>
          <p:nvPr/>
        </p:nvSpPr>
        <p:spPr>
          <a:xfrm>
            <a:off x="7509551" y="4535424"/>
            <a:ext cx="3436671" cy="566928"/>
          </a:xfrm>
          <a:prstGeom prst="rect">
            <a:avLst/>
          </a:prstGeom>
          <a:noFill/>
        </p:spPr>
        <p:txBody>
          <a:bodyPr wrap="square" lIns="0" tIns="0" rIns="0" bIns="0">
            <a:spAutoFit/>
          </a:bodyPr>
          <a:lstStyle/>
          <a:p>
            <a:pPr algn="l">
              <a:lnSpc>
                <a:spcPct val="100000"/>
              </a:lnSpc>
              <a:spcAft>
                <a:spcPts val="600"/>
              </a:spcAft>
              <a:defRPr sz="1800" b="0">
                <a:solidFill>
                  <a:srgbClr val="666666"/>
                </a:solidFill>
                <a:latin typeface="Calibri"/>
              </a:defRPr>
            </a:pPr>
            <a:r>
              <a:rPr sz="1800" b="0">
                <a:solidFill>
                  <a:srgbClr val="666666"/>
                </a:solidFill>
                <a:latin typeface="Calibri"/>
              </a:rPr>
              <a:t>What yours should look like</a:t>
            </a:r>
          </a:p>
        </p:txBody>
      </p:sp>
      <p:sp>
        <p:nvSpPr>
          <p:cNvPr id="9" name="Rounded Rectangle 8"/>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Any GND pin will do - there are several, and they are all the same wire inside the board.</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Every program has the same three parts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37</a:t>
            </a:r>
          </a:p>
        </p:txBody>
      </p:sp>
      <p:sp>
        <p:nvSpPr>
          <p:cNvPr id="6" name="Rounded Rectangle 5"/>
          <p:cNvSpPr/>
          <p:nvPr/>
        </p:nvSpPr>
        <p:spPr>
          <a:xfrm>
            <a:off x="502920" y="1325880"/>
            <a:ext cx="3520440" cy="457200"/>
          </a:xfrm>
          <a:prstGeom prst="roundRect">
            <a:avLst>
              <a:gd name="adj" fmla="val 12000"/>
            </a:avLst>
          </a:prstGeom>
          <a:solidFill>
            <a:srgbClr val="E8ECF0"/>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1.  INITIALIZATION</a:t>
            </a:r>
          </a:p>
        </p:txBody>
      </p:sp>
      <p:sp>
        <p:nvSpPr>
          <p:cNvPr id="7" name="TextBox 6"/>
          <p:cNvSpPr txBox="1"/>
          <p:nvPr/>
        </p:nvSpPr>
        <p:spPr>
          <a:xfrm>
            <a:off x="594360" y="1947672"/>
            <a:ext cx="3337560" cy="938275"/>
          </a:xfrm>
          <a:prstGeom prst="rect">
            <a:avLst/>
          </a:prstGeom>
          <a:noFill/>
        </p:spPr>
        <p:txBody>
          <a:bodyPr wrap="square" lIns="0" tIns="0" rIns="0" bIns="0">
            <a:spAutoFit/>
          </a:bodyPr>
          <a:lstStyle/>
          <a:p>
            <a:pPr algn="l">
              <a:lnSpc>
                <a:spcPct val="100000"/>
              </a:lnSpc>
              <a:spcAft>
                <a:spcPts val="0"/>
              </a:spcAft>
              <a:defRPr sz="1800" b="0">
                <a:solidFill>
                  <a:srgbClr val="222222"/>
                </a:solidFill>
                <a:latin typeface="Calibri"/>
              </a:defRPr>
            </a:pPr>
            <a:r>
              <a:rPr sz="1800" b="0">
                <a:solidFill>
                  <a:srgbClr val="222222"/>
                </a:solidFill>
                <a:latin typeface="Calibri"/>
              </a:rPr>
              <a:t>Libraries, constants, variables.</a:t>
            </a:r>
          </a:p>
          <a:p>
            <a:pPr algn="l">
              <a:lnSpc>
                <a:spcPct val="100000"/>
              </a:lnSpc>
              <a:spcAft>
                <a:spcPts val="0"/>
              </a:spcAft>
              <a:defRPr sz="1800" b="0">
                <a:solidFill>
                  <a:srgbClr val="222222"/>
                </a:solidFill>
                <a:latin typeface="Calibri"/>
              </a:defRPr>
            </a:pPr>
            <a:r>
              <a:rPr sz="1800" b="0">
                <a:solidFill>
                  <a:srgbClr val="222222"/>
                </a:solidFill>
                <a:latin typeface="Calibri"/>
              </a:rPr>
              <a:t>The top of the file.</a:t>
            </a:r>
          </a:p>
        </p:txBody>
      </p:sp>
      <p:sp>
        <p:nvSpPr>
          <p:cNvPr id="8" name="Rectangle 7"/>
          <p:cNvSpPr/>
          <p:nvPr/>
        </p:nvSpPr>
        <p:spPr>
          <a:xfrm>
            <a:off x="502920" y="2743200"/>
            <a:ext cx="3520440" cy="1371600"/>
          </a:xfrm>
          <a:prstGeom prst="rect">
            <a:avLst/>
          </a:prstGeom>
          <a:solidFill>
            <a:srgbClr val="F4F6F8"/>
          </a:solidFill>
          <a:ln w="9525">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0000"/>
              </a:lnSpc>
              <a:spcAft>
                <a:spcPts val="0"/>
              </a:spcAft>
              <a:defRPr sz="1400" b="0">
                <a:solidFill>
                  <a:srgbClr val="222222"/>
                </a:solidFill>
                <a:latin typeface="Consolas"/>
              </a:defRPr>
            </a:pPr>
            <a:r>
              <a:rPr sz="1400" b="0">
                <a:solidFill>
                  <a:srgbClr val="222222"/>
                </a:solidFill>
                <a:latin typeface="Consolas"/>
              </a:rPr>
              <a:t>const int LED_PIN = 2;</a:t>
            </a:r>
          </a:p>
          <a:p>
            <a:pPr algn="l">
              <a:lnSpc>
                <a:spcPct val="100000"/>
              </a:lnSpc>
              <a:spcAft>
                <a:spcPts val="0"/>
              </a:spcAft>
              <a:defRPr sz="1400" b="0">
                <a:solidFill>
                  <a:srgbClr val="222222"/>
                </a:solidFill>
                <a:latin typeface="Consolas"/>
              </a:defRPr>
            </a:pPr>
            <a:r>
              <a:rPr sz="1400" b="0">
                <a:solidFill>
                  <a:srgbClr val="222222"/>
                </a:solidFill>
                <a:latin typeface="Consolas"/>
              </a:rPr>
              <a:t>const int BLINK_MS = 1000;</a:t>
            </a:r>
          </a:p>
        </p:txBody>
      </p:sp>
      <p:cxnSp>
        <p:nvCxnSpPr>
          <p:cNvPr id="9" name="Connector 8"/>
          <p:cNvCxnSpPr/>
          <p:nvPr/>
        </p:nvCxnSpPr>
        <p:spPr>
          <a:xfrm>
            <a:off x="4069080" y="2788920"/>
            <a:ext cx="201168" cy="0"/>
          </a:xfrm>
          <a:prstGeom prst="line">
            <a:avLst/>
          </a:prstGeom>
          <a:ln w="22225">
            <a:solidFill>
              <a:srgbClr val="1F3A5F"/>
            </a:solidFill>
            <a:headEnd/>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315968" y="1325880"/>
            <a:ext cx="3520440" cy="457200"/>
          </a:xfrm>
          <a:prstGeom prst="roundRect">
            <a:avLst>
              <a:gd name="adj" fmla="val 12000"/>
            </a:avLst>
          </a:prstGeom>
          <a:solidFill>
            <a:srgbClr val="D6ECEE"/>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2.  SETUP</a:t>
            </a:r>
          </a:p>
        </p:txBody>
      </p:sp>
      <p:sp>
        <p:nvSpPr>
          <p:cNvPr id="11" name="TextBox 10"/>
          <p:cNvSpPr txBox="1"/>
          <p:nvPr/>
        </p:nvSpPr>
        <p:spPr>
          <a:xfrm>
            <a:off x="4407408" y="1947672"/>
            <a:ext cx="3337560" cy="938275"/>
          </a:xfrm>
          <a:prstGeom prst="rect">
            <a:avLst/>
          </a:prstGeom>
          <a:noFill/>
        </p:spPr>
        <p:txBody>
          <a:bodyPr wrap="square" lIns="0" tIns="0" rIns="0" bIns="0">
            <a:spAutoFit/>
          </a:bodyPr>
          <a:lstStyle/>
          <a:p>
            <a:pPr algn="l">
              <a:lnSpc>
                <a:spcPct val="100000"/>
              </a:lnSpc>
              <a:spcAft>
                <a:spcPts val="0"/>
              </a:spcAft>
              <a:defRPr sz="1800" b="0">
                <a:solidFill>
                  <a:srgbClr val="222222"/>
                </a:solidFill>
                <a:latin typeface="Calibri"/>
              </a:defRPr>
            </a:pPr>
            <a:r>
              <a:rPr sz="1800" b="0">
                <a:solidFill>
                  <a:srgbClr val="222222"/>
                </a:solidFill>
                <a:latin typeface="Calibri"/>
              </a:rPr>
              <a:t>setup() runs ONCE, at power-up.</a:t>
            </a:r>
          </a:p>
          <a:p>
            <a:pPr algn="l">
              <a:lnSpc>
                <a:spcPct val="100000"/>
              </a:lnSpc>
              <a:spcAft>
                <a:spcPts val="0"/>
              </a:spcAft>
              <a:defRPr sz="1800" b="0">
                <a:solidFill>
                  <a:srgbClr val="222222"/>
                </a:solidFill>
                <a:latin typeface="Calibri"/>
              </a:defRPr>
            </a:pPr>
            <a:r>
              <a:rPr sz="1800" b="0">
                <a:solidFill>
                  <a:srgbClr val="222222"/>
                </a:solidFill>
                <a:latin typeface="Calibri"/>
              </a:rPr>
              <a:t>Get the hardware ready.</a:t>
            </a:r>
          </a:p>
        </p:txBody>
      </p:sp>
      <p:sp>
        <p:nvSpPr>
          <p:cNvPr id="12" name="Rectangle 11"/>
          <p:cNvSpPr/>
          <p:nvPr/>
        </p:nvSpPr>
        <p:spPr>
          <a:xfrm>
            <a:off x="4315968" y="2743200"/>
            <a:ext cx="3520440" cy="1371600"/>
          </a:xfrm>
          <a:prstGeom prst="rect">
            <a:avLst/>
          </a:prstGeom>
          <a:solidFill>
            <a:srgbClr val="F4F6F8"/>
          </a:solidFill>
          <a:ln w="9525">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0000"/>
              </a:lnSpc>
              <a:spcAft>
                <a:spcPts val="0"/>
              </a:spcAft>
              <a:defRPr sz="1400" b="0">
                <a:solidFill>
                  <a:srgbClr val="222222"/>
                </a:solidFill>
                <a:latin typeface="Consolas"/>
              </a:defRPr>
            </a:pPr>
            <a:r>
              <a:rPr sz="1400" b="0">
                <a:solidFill>
                  <a:srgbClr val="222222"/>
                </a:solidFill>
                <a:latin typeface="Consolas"/>
              </a:rPr>
              <a:t>void setup() {</a:t>
            </a:r>
          </a:p>
          <a:p>
            <a:pPr algn="l">
              <a:lnSpc>
                <a:spcPct val="100000"/>
              </a:lnSpc>
              <a:spcAft>
                <a:spcPts val="0"/>
              </a:spcAft>
              <a:defRPr sz="1400" b="0">
                <a:solidFill>
                  <a:srgbClr val="222222"/>
                </a:solidFill>
                <a:latin typeface="Consolas"/>
              </a:defRPr>
            </a:pPr>
            <a:r>
              <a:rPr sz="1400" b="0">
                <a:solidFill>
                  <a:srgbClr val="222222"/>
                </a:solidFill>
                <a:latin typeface="Consolas"/>
              </a:rPr>
              <a:t>  pinMode(LED_PIN, OUTPUT);</a:t>
            </a:r>
          </a:p>
          <a:p>
            <a:pPr algn="l">
              <a:lnSpc>
                <a:spcPct val="100000"/>
              </a:lnSpc>
              <a:spcAft>
                <a:spcPts val="0"/>
              </a:spcAft>
              <a:defRPr sz="1400" b="0">
                <a:solidFill>
                  <a:srgbClr val="222222"/>
                </a:solidFill>
                <a:latin typeface="Consolas"/>
              </a:defRPr>
            </a:pPr>
            <a:r>
              <a:rPr sz="1400" b="0">
                <a:solidFill>
                  <a:srgbClr val="222222"/>
                </a:solidFill>
                <a:latin typeface="Consolas"/>
              </a:rPr>
              <a:t>  Serial.begin(115200);</a:t>
            </a:r>
          </a:p>
          <a:p>
            <a:pPr algn="l">
              <a:lnSpc>
                <a:spcPct val="100000"/>
              </a:lnSpc>
              <a:spcAft>
                <a:spcPts val="0"/>
              </a:spcAft>
              <a:defRPr sz="1400" b="0">
                <a:solidFill>
                  <a:srgbClr val="222222"/>
                </a:solidFill>
                <a:latin typeface="Consolas"/>
              </a:defRPr>
            </a:pPr>
            <a:r>
              <a:rPr sz="1400" b="0">
                <a:solidFill>
                  <a:srgbClr val="222222"/>
                </a:solidFill>
                <a:latin typeface="Consolas"/>
              </a:rPr>
              <a:t>}</a:t>
            </a:r>
          </a:p>
        </p:txBody>
      </p:sp>
      <p:cxnSp>
        <p:nvCxnSpPr>
          <p:cNvPr id="13" name="Connector 12"/>
          <p:cNvCxnSpPr/>
          <p:nvPr/>
        </p:nvCxnSpPr>
        <p:spPr>
          <a:xfrm>
            <a:off x="7882128" y="2788920"/>
            <a:ext cx="201168" cy="0"/>
          </a:xfrm>
          <a:prstGeom prst="line">
            <a:avLst/>
          </a:prstGeom>
          <a:ln w="22225">
            <a:solidFill>
              <a:srgbClr val="1F3A5F"/>
            </a:solidFill>
            <a:headEnd/>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129016" y="1325880"/>
            <a:ext cx="3520440" cy="457200"/>
          </a:xfrm>
          <a:prstGeom prst="roundRect">
            <a:avLst>
              <a:gd name="adj" fmla="val 12000"/>
            </a:avLst>
          </a:prstGeom>
          <a:solidFill>
            <a:srgbClr val="FAE6C8"/>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3.  LOOP</a:t>
            </a:r>
          </a:p>
        </p:txBody>
      </p:sp>
      <p:sp>
        <p:nvSpPr>
          <p:cNvPr id="15" name="TextBox 14"/>
          <p:cNvSpPr txBox="1"/>
          <p:nvPr/>
        </p:nvSpPr>
        <p:spPr>
          <a:xfrm>
            <a:off x="8220456" y="1947672"/>
            <a:ext cx="3337560" cy="659384"/>
          </a:xfrm>
          <a:prstGeom prst="rect">
            <a:avLst/>
          </a:prstGeom>
          <a:noFill/>
        </p:spPr>
        <p:txBody>
          <a:bodyPr wrap="square" lIns="0" tIns="0" rIns="0" bIns="0">
            <a:spAutoFit/>
          </a:bodyPr>
          <a:lstStyle/>
          <a:p>
            <a:pPr algn="l">
              <a:lnSpc>
                <a:spcPct val="100000"/>
              </a:lnSpc>
              <a:spcAft>
                <a:spcPts val="0"/>
              </a:spcAft>
              <a:defRPr sz="1800" b="0">
                <a:solidFill>
                  <a:srgbClr val="222222"/>
                </a:solidFill>
                <a:latin typeface="Calibri"/>
              </a:defRPr>
            </a:pPr>
            <a:r>
              <a:rPr sz="1800" b="0">
                <a:solidFill>
                  <a:srgbClr val="222222"/>
                </a:solidFill>
                <a:latin typeface="Calibri"/>
              </a:rPr>
              <a:t>loop() runs OVER AND OVER,</a:t>
            </a:r>
          </a:p>
          <a:p>
            <a:pPr algn="l">
              <a:lnSpc>
                <a:spcPct val="100000"/>
              </a:lnSpc>
              <a:spcAft>
                <a:spcPts val="0"/>
              </a:spcAft>
              <a:defRPr sz="1800" b="0">
                <a:solidFill>
                  <a:srgbClr val="222222"/>
                </a:solidFill>
                <a:latin typeface="Calibri"/>
              </a:defRPr>
            </a:pPr>
            <a:r>
              <a:rPr sz="1800" b="0">
                <a:solidFill>
                  <a:srgbClr val="222222"/>
                </a:solidFill>
                <a:latin typeface="Calibri"/>
              </a:rPr>
              <a:t>until the power goes off.</a:t>
            </a:r>
          </a:p>
        </p:txBody>
      </p:sp>
      <p:sp>
        <p:nvSpPr>
          <p:cNvPr id="16" name="Rectangle 15"/>
          <p:cNvSpPr/>
          <p:nvPr/>
        </p:nvSpPr>
        <p:spPr>
          <a:xfrm>
            <a:off x="8129016" y="2743200"/>
            <a:ext cx="3520440" cy="1371600"/>
          </a:xfrm>
          <a:prstGeom prst="rect">
            <a:avLst/>
          </a:prstGeom>
          <a:solidFill>
            <a:srgbClr val="F4F6F8"/>
          </a:solidFill>
          <a:ln w="9525">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0000"/>
              </a:lnSpc>
              <a:spcAft>
                <a:spcPts val="0"/>
              </a:spcAft>
              <a:defRPr sz="1400" b="0">
                <a:solidFill>
                  <a:srgbClr val="222222"/>
                </a:solidFill>
                <a:latin typeface="Consolas"/>
              </a:defRPr>
            </a:pPr>
            <a:r>
              <a:rPr sz="1400" b="0">
                <a:solidFill>
                  <a:srgbClr val="222222"/>
                </a:solidFill>
                <a:latin typeface="Consolas"/>
              </a:rPr>
              <a:t>void loop() {</a:t>
            </a:r>
          </a:p>
          <a:p>
            <a:pPr algn="l">
              <a:lnSpc>
                <a:spcPct val="100000"/>
              </a:lnSpc>
              <a:spcAft>
                <a:spcPts val="0"/>
              </a:spcAft>
              <a:defRPr sz="1400" b="0">
                <a:solidFill>
                  <a:srgbClr val="222222"/>
                </a:solidFill>
                <a:latin typeface="Consolas"/>
              </a:defRPr>
            </a:pPr>
            <a:r>
              <a:rPr sz="1400" b="0">
                <a:solidFill>
                  <a:srgbClr val="222222"/>
                </a:solidFill>
                <a:latin typeface="Consolas"/>
              </a:rPr>
              <a:t>  digitalWrite(LED_PIN, HIGH);</a:t>
            </a:r>
          </a:p>
          <a:p>
            <a:pPr algn="l">
              <a:lnSpc>
                <a:spcPct val="100000"/>
              </a:lnSpc>
              <a:spcAft>
                <a:spcPts val="0"/>
              </a:spcAft>
              <a:defRPr sz="1400" b="0">
                <a:solidFill>
                  <a:srgbClr val="222222"/>
                </a:solidFill>
                <a:latin typeface="Consolas"/>
              </a:defRPr>
            </a:pPr>
            <a:r>
              <a:rPr sz="1400" b="0">
                <a:solidFill>
                  <a:srgbClr val="222222"/>
                </a:solidFill>
                <a:latin typeface="Consolas"/>
              </a:rPr>
              <a:t>  delay(BLINK_MS);</a:t>
            </a:r>
          </a:p>
          <a:p>
            <a:pPr algn="l">
              <a:lnSpc>
                <a:spcPct val="100000"/>
              </a:lnSpc>
              <a:spcAft>
                <a:spcPts val="0"/>
              </a:spcAft>
              <a:defRPr sz="1400" b="0">
                <a:solidFill>
                  <a:srgbClr val="222222"/>
                </a:solidFill>
                <a:latin typeface="Consolas"/>
              </a:defRPr>
            </a:pPr>
            <a:r>
              <a:rPr sz="1400" b="0">
                <a:solidFill>
                  <a:srgbClr val="222222"/>
                </a:solidFill>
                <a:latin typeface="Consolas"/>
              </a:rPr>
              <a:t>  ...</a:t>
            </a:r>
          </a:p>
          <a:p>
            <a:pPr algn="l">
              <a:lnSpc>
                <a:spcPct val="100000"/>
              </a:lnSpc>
              <a:spcAft>
                <a:spcPts val="0"/>
              </a:spcAft>
              <a:defRPr sz="1400" b="0">
                <a:solidFill>
                  <a:srgbClr val="222222"/>
                </a:solidFill>
                <a:latin typeface="Consolas"/>
              </a:defRPr>
            </a:pPr>
            <a:r>
              <a:rPr sz="1400" b="0">
                <a:solidFill>
                  <a:srgbClr val="222222"/>
                </a:solidFill>
                <a:latin typeface="Consolas"/>
              </a:rPr>
              <a:t>}</a:t>
            </a:r>
          </a:p>
        </p:txBody>
      </p:sp>
      <p:sp>
        <p:nvSpPr>
          <p:cNvPr id="17" name="TextBox 16"/>
          <p:cNvSpPr txBox="1"/>
          <p:nvPr/>
        </p:nvSpPr>
        <p:spPr>
          <a:xfrm>
            <a:off x="8129016" y="4251960"/>
            <a:ext cx="3520440" cy="646684"/>
          </a:xfrm>
          <a:prstGeom prst="rect">
            <a:avLst/>
          </a:prstGeom>
          <a:noFill/>
        </p:spPr>
        <p:txBody>
          <a:bodyPr wrap="square" lIns="0" tIns="0" rIns="0" bIns="0">
            <a:spAutoFit/>
          </a:bodyPr>
          <a:lstStyle/>
          <a:p>
            <a:pPr algn="ctr">
              <a:lnSpc>
                <a:spcPct val="100000"/>
              </a:lnSpc>
              <a:spcAft>
                <a:spcPts val="0"/>
              </a:spcAft>
              <a:defRPr sz="1800" b="1">
                <a:solidFill>
                  <a:srgbClr val="B46A0F"/>
                </a:solidFill>
                <a:latin typeface="Calibri"/>
              </a:defRPr>
            </a:pPr>
            <a:r>
              <a:rPr sz="1800" b="1">
                <a:solidFill>
                  <a:srgbClr val="B46A0F"/>
                </a:solidFill>
                <a:latin typeface="Calibri"/>
              </a:rPr>
              <a:t>and round again, as fast as it can - unless you make it wait</a:t>
            </a:r>
          </a:p>
        </p:txBody>
      </p:sp>
      <p:sp>
        <p:nvSpPr>
          <p:cNvPr id="18" name="Rounded Rectangle 17"/>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delay(BLINK_MS) is what makes it blink slowly enough to see. Take the delays out and the same loop runs thousands of times a second, far too fast for your eye.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l1a_blink  -  the whole program</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38</a:t>
            </a:r>
          </a:p>
        </p:txBody>
      </p:sp>
      <p:sp>
        <p:nvSpPr>
          <p:cNvPr id="6" name="TextBox 5"/>
          <p:cNvSpPr txBox="1"/>
          <p:nvPr/>
        </p:nvSpPr>
        <p:spPr>
          <a:xfrm>
            <a:off x="502920" y="1188720"/>
            <a:ext cx="7047088" cy="274320"/>
          </a:xfrm>
          <a:prstGeom prst="rect">
            <a:avLst/>
          </a:prstGeom>
          <a:noFill/>
        </p:spPr>
        <p:txBody>
          <a:bodyPr wrap="square" lIns="0" tIns="0" rIns="0" bIns="0">
            <a:spAutoFit/>
          </a:bodyPr>
          <a:lstStyle/>
          <a:p>
            <a:pPr algn="l">
              <a:lnSpc>
                <a:spcPct val="100000"/>
              </a:lnSpc>
              <a:spcAft>
                <a:spcPts val="200"/>
              </a:spcAft>
              <a:defRPr sz="1200" b="1">
                <a:solidFill>
                  <a:srgbClr val="0E7C86"/>
                </a:solidFill>
                <a:latin typeface="Consolas"/>
              </a:defRPr>
            </a:pPr>
            <a:r>
              <a:rPr sz="1200" b="1">
                <a:solidFill>
                  <a:srgbClr val="0E7C86"/>
                </a:solidFill>
                <a:latin typeface="Consolas"/>
              </a:rPr>
              <a:t>l1a_blink.ino</a:t>
            </a:r>
          </a:p>
        </p:txBody>
      </p:sp>
      <p:sp>
        <p:nvSpPr>
          <p:cNvPr id="7" name="CODE_PANEL"/>
          <p:cNvSpPr/>
          <p:nvPr/>
        </p:nvSpPr>
        <p:spPr>
          <a:xfrm>
            <a:off x="502920" y="1517904"/>
            <a:ext cx="7047088" cy="4745736"/>
          </a:xfrm>
          <a:prstGeom prst="roundRect">
            <a:avLst>
              <a:gd name="adj" fmla="val 4000"/>
            </a:avLst>
          </a:prstGeom>
          <a:solidFill>
            <a:srgbClr val="F4F6F8"/>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tIns="91440" bIns="73152"/>
          <a:lstStyle/>
          <a:p>
            <a:pPr algn="l">
              <a:lnSpc>
                <a:spcPct val="100000"/>
              </a:lnSpc>
              <a:spcAft>
                <a:spcPts val="0"/>
              </a:spcAft>
              <a:defRPr sz="1600">
                <a:latin typeface="Consolas"/>
              </a:defRPr>
            </a:pPr>
            <a:r>
              <a:rPr sz="1600">
                <a:solidFill>
                  <a:srgbClr val="222222"/>
                </a:solidFill>
                <a:latin typeface="Consolas"/>
              </a:rPr>
              <a:t>const int LED_PIN = 2;   // the pin your LED is wired to</a:t>
            </a:r>
          </a:p>
          <a:p>
            <a:pPr algn="l">
              <a:lnSpc>
                <a:spcPct val="100000"/>
              </a:lnSpc>
              <a:spcAft>
                <a:spcPts val="0"/>
              </a:spcAft>
              <a:defRPr sz="1600">
                <a:latin typeface="Consolas"/>
              </a:defRPr>
            </a:pPr>
            <a:r>
              <a:rPr sz="1600">
                <a:solidFill>
                  <a:srgbClr val="222222"/>
                </a:solidFill>
                <a:latin typeface="Consolas"/>
              </a:rPr>
              <a:t>const int BLINK_MS = 1000;</a:t>
            </a:r>
          </a:p>
          <a:p>
            <a:pPr algn="l">
              <a:lnSpc>
                <a:spcPct val="100000"/>
              </a:lnSpc>
              <a:spcAft>
                <a:spcPts val="0"/>
              </a:spcAft>
              <a:defRPr sz="1600">
                <a:latin typeface="Consolas"/>
              </a:defRPr>
            </a:pPr>
            <a:r>
              <a:rPr sz="1600">
                <a:solidFill>
                  <a:srgbClr val="222222"/>
                </a:solidFill>
                <a:latin typeface="Consolas"/>
              </a:rPr>
              <a:t> </a:t>
            </a:r>
          </a:p>
          <a:p>
            <a:pPr algn="l">
              <a:lnSpc>
                <a:spcPct val="100000"/>
              </a:lnSpc>
              <a:spcAft>
                <a:spcPts val="0"/>
              </a:spcAft>
              <a:defRPr sz="1600">
                <a:latin typeface="Consolas"/>
              </a:defRPr>
            </a:pPr>
            <a:r>
              <a:rPr sz="1600">
                <a:solidFill>
                  <a:srgbClr val="222222"/>
                </a:solidFill>
                <a:latin typeface="Consolas"/>
              </a:rPr>
              <a:t>void setup() {</a:t>
            </a:r>
          </a:p>
          <a:p>
            <a:pPr algn="l">
              <a:lnSpc>
                <a:spcPct val="100000"/>
              </a:lnSpc>
              <a:spcAft>
                <a:spcPts val="0"/>
              </a:spcAft>
              <a:defRPr sz="1600">
                <a:latin typeface="Consolas"/>
              </a:defRPr>
            </a:pPr>
            <a:r>
              <a:rPr sz="1600">
                <a:solidFill>
                  <a:srgbClr val="222222"/>
                </a:solidFill>
                <a:latin typeface="Consolas"/>
              </a:rPr>
              <a:t>  pinMode(LED_PIN, OUTPUT);</a:t>
            </a:r>
          </a:p>
          <a:p>
            <a:pPr algn="l">
              <a:lnSpc>
                <a:spcPct val="100000"/>
              </a:lnSpc>
              <a:spcAft>
                <a:spcPts val="0"/>
              </a:spcAft>
              <a:defRPr sz="1600">
                <a:latin typeface="Consolas"/>
              </a:defRPr>
            </a:pPr>
            <a:r>
              <a:rPr sz="1600">
                <a:solidFill>
                  <a:srgbClr val="222222"/>
                </a:solidFill>
                <a:latin typeface="Consolas"/>
              </a:rPr>
              <a:t>  Serial.begin(115200);</a:t>
            </a:r>
          </a:p>
          <a:p>
            <a:pPr algn="l">
              <a:lnSpc>
                <a:spcPct val="100000"/>
              </a:lnSpc>
              <a:spcAft>
                <a:spcPts val="0"/>
              </a:spcAft>
              <a:defRPr sz="1600">
                <a:latin typeface="Consolas"/>
              </a:defRPr>
            </a:pPr>
            <a:r>
              <a:rPr sz="1600">
                <a:solidFill>
                  <a:srgbClr val="222222"/>
                </a:solidFill>
                <a:latin typeface="Consolas"/>
              </a:rPr>
              <a:t>  Serial.println("Blink is running.");</a:t>
            </a:r>
          </a:p>
          <a:p>
            <a:pPr algn="l">
              <a:lnSpc>
                <a:spcPct val="100000"/>
              </a:lnSpc>
              <a:spcAft>
                <a:spcPts val="0"/>
              </a:spcAft>
              <a:defRPr sz="1600">
                <a:latin typeface="Consolas"/>
              </a:defRPr>
            </a:pPr>
            <a:r>
              <a:rPr sz="1600">
                <a:solidFill>
                  <a:srgbClr val="222222"/>
                </a:solidFill>
                <a:latin typeface="Consolas"/>
              </a:rPr>
              <a:t>}</a:t>
            </a:r>
          </a:p>
          <a:p>
            <a:pPr algn="l">
              <a:lnSpc>
                <a:spcPct val="100000"/>
              </a:lnSpc>
              <a:spcAft>
                <a:spcPts val="0"/>
              </a:spcAft>
              <a:defRPr sz="1600">
                <a:latin typeface="Consolas"/>
              </a:defRPr>
            </a:pPr>
            <a:r>
              <a:rPr sz="1600">
                <a:solidFill>
                  <a:srgbClr val="222222"/>
                </a:solidFill>
                <a:latin typeface="Consolas"/>
              </a:rPr>
              <a:t> </a:t>
            </a:r>
          </a:p>
          <a:p>
            <a:pPr algn="l">
              <a:lnSpc>
                <a:spcPct val="100000"/>
              </a:lnSpc>
              <a:spcAft>
                <a:spcPts val="0"/>
              </a:spcAft>
              <a:defRPr sz="1600">
                <a:latin typeface="Consolas"/>
              </a:defRPr>
            </a:pPr>
            <a:r>
              <a:rPr sz="1600">
                <a:solidFill>
                  <a:srgbClr val="222222"/>
                </a:solidFill>
                <a:latin typeface="Consolas"/>
              </a:rPr>
              <a:t>void loop() {</a:t>
            </a:r>
          </a:p>
          <a:p>
            <a:pPr algn="l">
              <a:lnSpc>
                <a:spcPct val="100000"/>
              </a:lnSpc>
              <a:spcAft>
                <a:spcPts val="0"/>
              </a:spcAft>
              <a:defRPr sz="1600">
                <a:latin typeface="Consolas"/>
              </a:defRPr>
            </a:pPr>
            <a:r>
              <a:rPr sz="1600">
                <a:solidFill>
                  <a:srgbClr val="222222"/>
                </a:solidFill>
                <a:latin typeface="Consolas"/>
              </a:rPr>
              <a:t>  digitalWrite(LED_PIN, HIGH);</a:t>
            </a:r>
          </a:p>
          <a:p>
            <a:pPr algn="l">
              <a:lnSpc>
                <a:spcPct val="100000"/>
              </a:lnSpc>
              <a:spcAft>
                <a:spcPts val="0"/>
              </a:spcAft>
              <a:defRPr sz="1600">
                <a:latin typeface="Consolas"/>
              </a:defRPr>
            </a:pPr>
            <a:r>
              <a:rPr sz="1600">
                <a:solidFill>
                  <a:srgbClr val="222222"/>
                </a:solidFill>
                <a:latin typeface="Consolas"/>
              </a:rPr>
              <a:t>  Serial.println("The LED is on");</a:t>
            </a:r>
          </a:p>
          <a:p>
            <a:pPr algn="l">
              <a:lnSpc>
                <a:spcPct val="100000"/>
              </a:lnSpc>
              <a:spcAft>
                <a:spcPts val="0"/>
              </a:spcAft>
              <a:defRPr sz="1600">
                <a:latin typeface="Consolas"/>
              </a:defRPr>
            </a:pPr>
            <a:r>
              <a:rPr sz="1600">
                <a:solidFill>
                  <a:srgbClr val="222222"/>
                </a:solidFill>
                <a:latin typeface="Consolas"/>
              </a:rPr>
              <a:t>  delay(BLINK_MS);</a:t>
            </a:r>
          </a:p>
          <a:p>
            <a:pPr algn="l">
              <a:lnSpc>
                <a:spcPct val="100000"/>
              </a:lnSpc>
              <a:spcAft>
                <a:spcPts val="0"/>
              </a:spcAft>
              <a:defRPr sz="1600">
                <a:latin typeface="Consolas"/>
              </a:defRPr>
            </a:pPr>
            <a:r>
              <a:rPr sz="1600">
                <a:solidFill>
                  <a:srgbClr val="222222"/>
                </a:solidFill>
                <a:latin typeface="Consolas"/>
              </a:rPr>
              <a:t> </a:t>
            </a:r>
          </a:p>
          <a:p>
            <a:pPr algn="l">
              <a:lnSpc>
                <a:spcPct val="100000"/>
              </a:lnSpc>
              <a:spcAft>
                <a:spcPts val="0"/>
              </a:spcAft>
              <a:defRPr sz="1600">
                <a:latin typeface="Consolas"/>
              </a:defRPr>
            </a:pPr>
            <a:r>
              <a:rPr sz="1600">
                <a:solidFill>
                  <a:srgbClr val="222222"/>
                </a:solidFill>
                <a:latin typeface="Consolas"/>
              </a:rPr>
              <a:t>  digitalWrite(LED_PIN, LOW);</a:t>
            </a:r>
          </a:p>
          <a:p>
            <a:pPr algn="l">
              <a:lnSpc>
                <a:spcPct val="100000"/>
              </a:lnSpc>
              <a:spcAft>
                <a:spcPts val="0"/>
              </a:spcAft>
              <a:defRPr sz="1600">
                <a:latin typeface="Consolas"/>
              </a:defRPr>
            </a:pPr>
            <a:r>
              <a:rPr sz="1600">
                <a:solidFill>
                  <a:srgbClr val="222222"/>
                </a:solidFill>
                <a:latin typeface="Consolas"/>
              </a:rPr>
              <a:t>  Serial.println("The LED is off");</a:t>
            </a:r>
          </a:p>
          <a:p>
            <a:pPr algn="l">
              <a:lnSpc>
                <a:spcPct val="100000"/>
              </a:lnSpc>
              <a:spcAft>
                <a:spcPts val="0"/>
              </a:spcAft>
              <a:defRPr sz="1600">
                <a:latin typeface="Consolas"/>
              </a:defRPr>
            </a:pPr>
            <a:r>
              <a:rPr sz="1600">
                <a:solidFill>
                  <a:srgbClr val="222222"/>
                </a:solidFill>
                <a:latin typeface="Consolas"/>
              </a:rPr>
              <a:t>  delay(BLINK_MS);</a:t>
            </a:r>
          </a:p>
          <a:p>
            <a:pPr algn="l">
              <a:lnSpc>
                <a:spcPct val="100000"/>
              </a:lnSpc>
              <a:spcAft>
                <a:spcPts val="0"/>
              </a:spcAft>
              <a:defRPr sz="1600">
                <a:latin typeface="Consolas"/>
              </a:defRPr>
            </a:pPr>
            <a:r>
              <a:rPr sz="1600">
                <a:solidFill>
                  <a:srgbClr val="222222"/>
                </a:solidFill>
                <a:latin typeface="Consolas"/>
              </a:rPr>
              <a:t>}</a:t>
            </a:r>
          </a:p>
        </p:txBody>
      </p:sp>
      <p:sp>
        <p:nvSpPr>
          <p:cNvPr id="8" name="TextBox 7"/>
          <p:cNvSpPr txBox="1"/>
          <p:nvPr/>
        </p:nvSpPr>
        <p:spPr>
          <a:xfrm>
            <a:off x="7870048" y="1517904"/>
            <a:ext cx="3818727" cy="4745736"/>
          </a:xfrm>
          <a:prstGeom prst="rect">
            <a:avLst/>
          </a:prstGeom>
          <a:noFill/>
        </p:spPr>
        <p:txBody>
          <a:bodyPr wrap="square" lIns="0" tIns="0" rIns="0" bIns="0">
            <a:spAutoFit/>
          </a:bodyPr>
          <a:lstStyle/>
          <a:p>
            <a:pPr algn="l">
              <a:lnSpc>
                <a:spcPct val="100000"/>
              </a:lnSpc>
              <a:spcAft>
                <a:spcPts val="700"/>
              </a:spcAft>
              <a:defRPr sz="1800" b="0">
                <a:solidFill>
                  <a:srgbClr val="222222"/>
                </a:solidFill>
                <a:latin typeface="Calibri"/>
              </a:defRPr>
            </a:pPr>
            <a:r>
              <a:rPr sz="1800" b="0">
                <a:solidFill>
                  <a:srgbClr val="222222"/>
                </a:solidFill>
                <a:latin typeface="Calibri"/>
              </a:rPr>
              <a:t>const int  is a whole number that never changes. Move your LED and only this line changes.</a:t>
            </a:r>
          </a:p>
          <a:p>
            <a:pPr algn="l">
              <a:lnSpc>
                <a:spcPct val="100000"/>
              </a:lnSpc>
              <a:spcAft>
                <a:spcPts val="700"/>
              </a:spcAft>
              <a:defRPr sz="1800" b="0">
                <a:solidFill>
                  <a:srgbClr val="222222"/>
                </a:solidFill>
                <a:latin typeface="Calibri"/>
              </a:defRPr>
            </a:pPr>
            <a:r>
              <a:rPr sz="1800" b="0">
                <a:solidFill>
                  <a:srgbClr val="222222"/>
                </a:solidFill>
                <a:latin typeface="Calibri"/>
              </a:rPr>
              <a:t>pinMode(..., OUTPUT)  tells the ESP32 we intend to WRITE to that pin. Without it, digitalWrite does nothing.</a:t>
            </a:r>
          </a:p>
          <a:p>
            <a:pPr algn="l">
              <a:lnSpc>
                <a:spcPct val="100000"/>
              </a:lnSpc>
              <a:spcAft>
                <a:spcPts val="700"/>
              </a:spcAft>
              <a:defRPr sz="1800" b="0">
                <a:solidFill>
                  <a:srgbClr val="222222"/>
                </a:solidFill>
                <a:latin typeface="Calibri"/>
              </a:defRPr>
            </a:pPr>
            <a:r>
              <a:rPr sz="1800" b="0">
                <a:solidFill>
                  <a:srgbClr val="222222"/>
                </a:solidFill>
                <a:latin typeface="Calibri"/>
              </a:rPr>
              <a:t>HIGH puts 3.3 volts on the pin, LOW puts 0. That is all digital output is.</a:t>
            </a:r>
          </a:p>
          <a:p>
            <a:pPr algn="l">
              <a:lnSpc>
                <a:spcPct val="100000"/>
              </a:lnSpc>
              <a:spcAft>
                <a:spcPts val="700"/>
              </a:spcAft>
              <a:defRPr sz="1800" b="0">
                <a:solidFill>
                  <a:srgbClr val="222222"/>
                </a:solidFill>
                <a:latin typeface="Calibri"/>
              </a:defRPr>
            </a:pPr>
            <a:r>
              <a:rPr sz="1800" b="0">
                <a:solidFill>
                  <a:srgbClr val="222222"/>
                </a:solidFill>
                <a:latin typeface="Calibri"/>
              </a:rPr>
              <a:t>Serial.println()  sends a line of text back to your laptop.</a:t>
            </a:r>
          </a:p>
          <a:p>
            <a:pPr algn="l">
              <a:lnSpc>
                <a:spcPct val="100000"/>
              </a:lnSpc>
              <a:spcAft>
                <a:spcPts val="700"/>
              </a:spcAft>
              <a:defRPr sz="1800" b="0">
                <a:solidFill>
                  <a:srgbClr val="222222"/>
                </a:solidFill>
                <a:latin typeface="Calibri"/>
              </a:defRPr>
            </a:pPr>
            <a:r>
              <a:rPr sz="1800" b="0">
                <a:solidFill>
                  <a:srgbClr val="222222"/>
                </a:solidFill>
                <a:latin typeface="Calibri"/>
              </a:rPr>
              <a:t>delay(BLINK_MS)  waits 1000 milliseconds, one second. Remember it - in Lesson 5 we throw it away.</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Do it now  -  blink</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39</a:t>
            </a:r>
          </a:p>
        </p:txBody>
      </p:sp>
      <p:sp>
        <p:nvSpPr>
          <p:cNvPr id="6" name="Rounded Rectangle 5"/>
          <p:cNvSpPr/>
          <p:nvPr/>
        </p:nvSpPr>
        <p:spPr>
          <a:xfrm>
            <a:off x="502920" y="1188720"/>
            <a:ext cx="11185855" cy="530352"/>
          </a:xfrm>
          <a:prstGeom prst="roundRect">
            <a:avLst>
              <a:gd name="adj" fmla="val 4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300" b="1">
                <a:solidFill>
                  <a:srgbClr val="FFFFFF"/>
                </a:solidFill>
                <a:latin typeface="Calibri"/>
              </a:rPr>
              <a:t>UPLOAD AND RUN:   </a:t>
            </a:r>
            <a:r>
              <a:rPr sz="1500" b="1">
                <a:solidFill>
                  <a:srgbClr val="FFFFFF"/>
                </a:solidFill>
                <a:latin typeface="Consolas"/>
              </a:rPr>
              <a:t>l1a_blink</a:t>
            </a:r>
            <a:r>
              <a:rPr sz="1200">
                <a:solidFill>
                  <a:srgbClr val="FFFFFF"/>
                </a:solidFill>
                <a:latin typeface="Calibri"/>
              </a:rPr>
              <a:t>     (15 minutes)</a:t>
            </a:r>
          </a:p>
        </p:txBody>
      </p:sp>
      <p:sp>
        <p:nvSpPr>
          <p:cNvPr id="7" name="TextBox 6"/>
          <p:cNvSpPr txBox="1"/>
          <p:nvPr/>
        </p:nvSpPr>
        <p:spPr>
          <a:xfrm>
            <a:off x="502920" y="1901952"/>
            <a:ext cx="6249137" cy="4361688"/>
          </a:xfrm>
          <a:prstGeom prst="rect">
            <a:avLst/>
          </a:prstGeom>
          <a:noFill/>
        </p:spPr>
        <p:txBody>
          <a:bodyPr wrap="square" lIns="0" tIns="0" rIns="0" bIns="0">
            <a:spAutoFit/>
          </a:bodyPr>
          <a:lstStyle/>
          <a:p>
            <a:pPr algn="l">
              <a:lnSpc>
                <a:spcPct val="100000"/>
              </a:lnSpc>
              <a:spcAft>
                <a:spcPts val="400"/>
              </a:spcAft>
              <a:defRPr sz="1800" b="0">
                <a:solidFill>
                  <a:srgbClr val="222222"/>
                </a:solidFill>
                <a:latin typeface="Calibri"/>
              </a:defRPr>
            </a:pPr>
            <a:r>
              <a:rPr sz="1800" b="0">
                <a:solidFill>
                  <a:srgbClr val="222222"/>
                </a:solidFill>
                <a:latin typeface="Calibri"/>
              </a:rPr>
              <a:t>1.  File &gt; Open, and find l1a_blink.ino.</a:t>
            </a:r>
          </a:p>
          <a:p>
            <a:pPr algn="l">
              <a:lnSpc>
                <a:spcPct val="100000"/>
              </a:lnSpc>
              <a:spcAft>
                <a:spcPts val="400"/>
              </a:spcAft>
              <a:defRPr sz="1800" b="0">
                <a:solidFill>
                  <a:srgbClr val="222222"/>
                </a:solidFill>
                <a:latin typeface="Calibri"/>
              </a:defRPr>
            </a:pPr>
            <a:r>
              <a:rPr sz="1800" b="0">
                <a:solidFill>
                  <a:srgbClr val="222222"/>
                </a:solidFill>
                <a:latin typeface="Calibri"/>
              </a:rPr>
              <a:t>2.  Click the tick to VERIFY. It should compile with no errors.</a:t>
            </a:r>
          </a:p>
          <a:p>
            <a:pPr algn="l">
              <a:lnSpc>
                <a:spcPct val="100000"/>
              </a:lnSpc>
              <a:spcAft>
                <a:spcPts val="400"/>
              </a:spcAft>
              <a:defRPr sz="1800" b="0">
                <a:solidFill>
                  <a:srgbClr val="222222"/>
                </a:solidFill>
                <a:latin typeface="Calibri"/>
              </a:defRPr>
            </a:pPr>
            <a:r>
              <a:rPr sz="1800" b="0">
                <a:solidFill>
                  <a:srgbClr val="222222"/>
                </a:solidFill>
                <a:latin typeface="Calibri"/>
              </a:rPr>
              <a:t>3.  Click the arrow to UPLOAD. Do not unplug during upload.</a:t>
            </a:r>
          </a:p>
          <a:p>
            <a:pPr algn="l">
              <a:lnSpc>
                <a:spcPct val="100000"/>
              </a:lnSpc>
              <a:spcAft>
                <a:spcPts val="400"/>
              </a:spcAft>
              <a:defRPr sz="1800" b="0">
                <a:solidFill>
                  <a:srgbClr val="222222"/>
                </a:solidFill>
                <a:latin typeface="Calibri"/>
              </a:defRPr>
            </a:pPr>
            <a:r>
              <a:rPr sz="1800" b="0">
                <a:solidFill>
                  <a:srgbClr val="222222"/>
                </a:solidFill>
                <a:latin typeface="Calibri"/>
              </a:rPr>
              <a:t>4.  Wait for "Done uploading" and look at your LED.</a:t>
            </a:r>
          </a:p>
          <a:p>
            <a:pPr algn="l">
              <a:lnSpc>
                <a:spcPct val="100000"/>
              </a:lnSpc>
              <a:spcAft>
                <a:spcPts val="400"/>
              </a:spcAft>
              <a:defRPr sz="1800" b="0">
                <a:solidFill>
                  <a:srgbClr val="222222"/>
                </a:solidFill>
                <a:latin typeface="Calibri"/>
              </a:defRPr>
            </a:pPr>
            <a:r>
              <a:rPr sz="1800" b="0">
                <a:solidFill>
                  <a:srgbClr val="222222"/>
                </a:solidFill>
                <a:latin typeface="Calibri"/>
              </a:rPr>
              <a:t>5.  Tools &gt; Serial Monitor. Set the box at the bottom to 115200.</a:t>
            </a:r>
          </a:p>
          <a:p>
            <a:pPr algn="l">
              <a:lnSpc>
                <a:spcPct val="100000"/>
              </a:lnSpc>
              <a:spcAft>
                <a:spcPts val="400"/>
              </a:spcAft>
              <a:defRPr sz="900" b="0">
                <a:solidFill>
                  <a:srgbClr val="222222"/>
                </a:solidFill>
                <a:latin typeface="Calibri"/>
              </a:defRPr>
            </a:pPr>
          </a:p>
          <a:p>
            <a:pPr algn="l">
              <a:lnSpc>
                <a:spcPct val="100000"/>
              </a:lnSpc>
              <a:spcAft>
                <a:spcPts val="400"/>
              </a:spcAft>
              <a:defRPr sz="1800" b="0">
                <a:solidFill>
                  <a:srgbClr val="222222"/>
                </a:solidFill>
                <a:latin typeface="Calibri"/>
              </a:defRPr>
            </a:pPr>
            <a:r>
              <a:rPr sz="1800" b="0">
                <a:solidFill>
                  <a:srgbClr val="222222"/>
                </a:solidFill>
                <a:latin typeface="Calibri"/>
              </a:rPr>
              <a:t>Then change things:</a:t>
            </a:r>
          </a:p>
          <a:p>
            <a:pPr algn="l">
              <a:lnSpc>
                <a:spcPct val="100000"/>
              </a:lnSpc>
              <a:spcAft>
                <a:spcPts val="400"/>
              </a:spcAft>
              <a:defRPr sz="1800" b="0">
                <a:solidFill>
                  <a:srgbClr val="222222"/>
                </a:solidFill>
                <a:latin typeface="Calibri"/>
              </a:defRPr>
            </a:pPr>
            <a:r>
              <a:rPr sz="1800" b="0">
                <a:solidFill>
                  <a:srgbClr val="222222"/>
                </a:solidFill>
                <a:latin typeface="Calibri"/>
              </a:rPr>
              <a:t>6.  Set BLINK_MS to 100. Upload. Then 2000. Upload.</a:t>
            </a:r>
          </a:p>
          <a:p>
            <a:pPr algn="l">
              <a:lnSpc>
                <a:spcPct val="100000"/>
              </a:lnSpc>
              <a:spcAft>
                <a:spcPts val="400"/>
              </a:spcAft>
              <a:defRPr sz="1800" b="0">
                <a:solidFill>
                  <a:srgbClr val="222222"/>
                </a:solidFill>
                <a:latin typeface="Calibri"/>
              </a:defRPr>
            </a:pPr>
            <a:r>
              <a:rPr sz="1800" b="0">
                <a:solidFill>
                  <a:srgbClr val="222222"/>
                </a:solidFill>
                <a:latin typeface="Calibri"/>
              </a:rPr>
              <a:t>7.  Delete ONE of the two delay lines and upload. Watch the LED AND the Serial Monitor.</a:t>
            </a:r>
          </a:p>
        </p:txBody>
      </p:sp>
      <p:sp>
        <p:nvSpPr>
          <p:cNvPr id="8" name="TextBox 7"/>
          <p:cNvSpPr txBox="1"/>
          <p:nvPr/>
        </p:nvSpPr>
        <p:spPr>
          <a:xfrm>
            <a:off x="7163537" y="1901952"/>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What you should see</a:t>
            </a:r>
          </a:p>
        </p:txBody>
      </p:sp>
      <p:sp>
        <p:nvSpPr>
          <p:cNvPr id="9" name="TextBox 8"/>
          <p:cNvSpPr txBox="1"/>
          <p:nvPr/>
        </p:nvSpPr>
        <p:spPr>
          <a:xfrm>
            <a:off x="7163537" y="2304288"/>
            <a:ext cx="4525238" cy="1445675"/>
          </a:xfrm>
          <a:prstGeom prst="rect">
            <a:avLst/>
          </a:prstGeom>
          <a:noFill/>
        </p:spPr>
        <p:txBody>
          <a:bodyPr wrap="square" lIns="0" tIns="0" rIns="0" bIns="0">
            <a:spAutoFit/>
          </a:bodyPr>
          <a:lstStyle/>
          <a:p>
            <a:pPr algn="l">
              <a:lnSpc>
                <a:spcPct val="100000"/>
              </a:lnSpc>
              <a:spcAft>
                <a:spcPts val="200"/>
              </a:spcAft>
              <a:defRPr sz="1800" b="0">
                <a:solidFill>
                  <a:srgbClr val="222222"/>
                </a:solidFill>
                <a:latin typeface="Calibri"/>
              </a:defRPr>
            </a:pPr>
            <a:r>
              <a:rPr sz="1800" b="0">
                <a:solidFill>
                  <a:srgbClr val="222222"/>
                </a:solidFill>
                <a:latin typeface="Calibri"/>
              </a:rPr>
              <a:t>Your LED: one second on, one second off - and a line in the Serial Monitor each time it changes.</a:t>
            </a:r>
          </a:p>
          <a:p>
            <a:pPr algn="l">
              <a:lnSpc>
                <a:spcPct val="100000"/>
              </a:lnSpc>
              <a:spcAft>
                <a:spcPts val="200"/>
              </a:spcAft>
              <a:defRPr sz="1800" b="0">
                <a:solidFill>
                  <a:srgbClr val="222222"/>
                </a:solidFill>
                <a:latin typeface="Calibri"/>
              </a:defRPr>
            </a:pPr>
            <a:r>
              <a:rPr sz="1800" b="0">
                <a:solidFill>
                  <a:srgbClr val="222222"/>
                </a:solidFill>
                <a:latin typeface="Calibri"/>
              </a:rPr>
              <a:t>Nothing at all means the LED is in backwards, or a leg is in the wrong row.</a:t>
            </a:r>
          </a:p>
        </p:txBody>
      </p:sp>
      <p:sp>
        <p:nvSpPr>
          <p:cNvPr id="10" name="TextBox 9"/>
          <p:cNvSpPr txBox="1"/>
          <p:nvPr/>
        </p:nvSpPr>
        <p:spPr>
          <a:xfrm>
            <a:off x="7163537" y="3823115"/>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Answer these</a:t>
            </a:r>
          </a:p>
        </p:txBody>
      </p:sp>
      <p:sp>
        <p:nvSpPr>
          <p:cNvPr id="11" name="TextBox 10"/>
          <p:cNvSpPr txBox="1"/>
          <p:nvPr/>
        </p:nvSpPr>
        <p:spPr>
          <a:xfrm>
            <a:off x="7163537" y="4225451"/>
            <a:ext cx="4525238" cy="2038188"/>
          </a:xfrm>
          <a:prstGeom prst="rect">
            <a:avLst/>
          </a:prstGeom>
          <a:noFill/>
        </p:spPr>
        <p:txBody>
          <a:bodyPr wrap="square" lIns="0" tIns="0" rIns="0" bIns="0">
            <a:spAutoFit/>
          </a:bodyPr>
          <a:lstStyle/>
          <a:p>
            <a:pPr algn="l">
              <a:lnSpc>
                <a:spcPct val="100000"/>
              </a:lnSpc>
              <a:spcAft>
                <a:spcPts val="200"/>
              </a:spcAft>
              <a:defRPr sz="1800" b="0">
                <a:solidFill>
                  <a:srgbClr val="222222"/>
                </a:solidFill>
                <a:latin typeface="Calibri"/>
              </a:defRPr>
            </a:pPr>
            <a:r>
              <a:rPr sz="1800" b="0">
                <a:solidFill>
                  <a:srgbClr val="222222"/>
                </a:solidFill>
                <a:latin typeface="Calibri"/>
              </a:rPr>
              <a:t>Which makes it blink faster, a bigger number or a smaller one? Why?</a:t>
            </a:r>
          </a:p>
          <a:p>
            <a:pPr algn="l">
              <a:lnSpc>
                <a:spcPct val="100000"/>
              </a:lnSpc>
              <a:spcAft>
                <a:spcPts val="200"/>
              </a:spcAft>
              <a:defRPr sz="1800" b="0">
                <a:solidFill>
                  <a:srgbClr val="222222"/>
                </a:solidFill>
                <a:latin typeface="Calibri"/>
              </a:defRPr>
            </a:pPr>
            <a:r>
              <a:rPr sz="1800" b="0">
                <a:solidFill>
                  <a:srgbClr val="222222"/>
                </a:solidFill>
                <a:latin typeface="Calibri"/>
              </a:rPr>
              <a:t>One delay deleted: the Serial Monitor still says on, off. Why does the LED look stuck?</a:t>
            </a:r>
          </a:p>
          <a:p>
            <a:pPr algn="l">
              <a:lnSpc>
                <a:spcPct val="100000"/>
              </a:lnSpc>
              <a:spcAft>
                <a:spcPts val="200"/>
              </a:spcAft>
              <a:defRPr sz="1800" b="0">
                <a:solidFill>
                  <a:srgbClr val="222222"/>
                </a:solidFill>
                <a:latin typeface="Calibri"/>
              </a:defRPr>
            </a:pPr>
            <a:r>
              <a:rPr sz="1800" b="0">
                <a:solidFill>
                  <a:srgbClr val="222222"/>
                </a:solidFill>
                <a:latin typeface="Calibri"/>
              </a:rPr>
              <a:t>What resistor would a RED LED need? It drops about 1.8 V instead of 2.0 V.</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1</a:t>
            </a:r>
          </a:p>
        </p:txBody>
      </p:sp>
      <p:sp>
        <p:nvSpPr>
          <p:cNvPr id="3" name="TextBox 2"/>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40</a:t>
            </a:r>
          </a:p>
        </p:txBody>
      </p:sp>
      <p:sp>
        <p:nvSpPr>
          <p:cNvPr id="4" name="Rectangle 3"/>
          <p:cNvSpPr/>
          <p:nvPr/>
        </p:nvSpPr>
        <p:spPr>
          <a:xfrm>
            <a:off x="0" y="1234440"/>
            <a:ext cx="256032" cy="155448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325880"/>
            <a:ext cx="10515600" cy="1051560"/>
          </a:xfrm>
          <a:prstGeom prst="rect">
            <a:avLst/>
          </a:prstGeom>
          <a:noFill/>
        </p:spPr>
        <p:txBody>
          <a:bodyPr wrap="square" lIns="0" tIns="0" rIns="0" bIns="0">
            <a:spAutoFit/>
          </a:bodyPr>
          <a:lstStyle/>
          <a:p>
            <a:pPr algn="l">
              <a:lnSpc>
                <a:spcPct val="100000"/>
              </a:lnSpc>
              <a:spcAft>
                <a:spcPts val="0"/>
              </a:spcAft>
              <a:defRPr sz="3600" b="1">
                <a:solidFill>
                  <a:srgbClr val="1F3A5F"/>
                </a:solidFill>
                <a:latin typeface="Calibri"/>
              </a:defRPr>
            </a:pPr>
            <a:r>
              <a:rPr sz="3600" b="1">
                <a:solidFill>
                  <a:srgbClr val="1F3A5F"/>
                </a:solidFill>
                <a:latin typeface="Calibri"/>
              </a:rPr>
              <a:t>Making the vehicle talk back</a:t>
            </a:r>
          </a:p>
        </p:txBody>
      </p:sp>
      <p:sp>
        <p:nvSpPr>
          <p:cNvPr id="6" name="TextBox 5"/>
          <p:cNvSpPr txBox="1"/>
          <p:nvPr/>
        </p:nvSpPr>
        <p:spPr>
          <a:xfrm>
            <a:off x="777240" y="2423160"/>
            <a:ext cx="10515600" cy="685800"/>
          </a:xfrm>
          <a:prstGeom prst="rect">
            <a:avLst/>
          </a:prstGeom>
          <a:noFill/>
        </p:spPr>
        <p:txBody>
          <a:bodyPr wrap="square" lIns="0" tIns="0" rIns="0" bIns="0">
            <a:spAutoFit/>
          </a:bodyPr>
          <a:lstStyle/>
          <a:p>
            <a:pPr algn="l">
              <a:lnSpc>
                <a:spcPct val="100000"/>
              </a:lnSpc>
              <a:spcAft>
                <a:spcPts val="400"/>
              </a:spcAft>
              <a:defRPr sz="1600" b="0">
                <a:solidFill>
                  <a:srgbClr val="666666"/>
                </a:solidFill>
                <a:latin typeface="Calibri"/>
              </a:defRPr>
            </a:pPr>
            <a:r>
              <a:rPr sz="1600" b="0">
                <a:solidFill>
                  <a:srgbClr val="666666"/>
                </a:solidFill>
                <a:latin typeface="Calibri"/>
              </a:rPr>
              <a:t>About 25 minutes</a:t>
            </a:r>
          </a:p>
        </p:txBody>
      </p:sp>
      <p:sp>
        <p:nvSpPr>
          <p:cNvPr id="7" name="Rounded Rectangle 6"/>
          <p:cNvSpPr/>
          <p:nvPr/>
        </p:nvSpPr>
        <p:spPr>
          <a:xfrm>
            <a:off x="502920" y="3886200"/>
            <a:ext cx="2120127"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The vehicle</a:t>
            </a:r>
          </a:p>
        </p:txBody>
      </p:sp>
      <p:sp>
        <p:nvSpPr>
          <p:cNvPr id="8" name="TextBox 7"/>
          <p:cNvSpPr txBox="1"/>
          <p:nvPr/>
        </p:nvSpPr>
        <p:spPr>
          <a:xfrm>
            <a:off x="502920"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9" name="Rounded Rectangle 8"/>
          <p:cNvSpPr/>
          <p:nvPr/>
        </p:nvSpPr>
        <p:spPr>
          <a:xfrm>
            <a:off x="2769351" y="3886200"/>
            <a:ext cx="2120127"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Setting up the IDE</a:t>
            </a:r>
          </a:p>
        </p:txBody>
      </p:sp>
      <p:sp>
        <p:nvSpPr>
          <p:cNvPr id="10" name="TextBox 9"/>
          <p:cNvSpPr txBox="1"/>
          <p:nvPr/>
        </p:nvSpPr>
        <p:spPr>
          <a:xfrm>
            <a:off x="2769351"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11" name="Rounded Rectangle 10"/>
          <p:cNvSpPr/>
          <p:nvPr/>
        </p:nvSpPr>
        <p:spPr>
          <a:xfrm>
            <a:off x="5035782" y="3886200"/>
            <a:ext cx="2120127"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Your first circuit and program</a:t>
            </a:r>
          </a:p>
        </p:txBody>
      </p:sp>
      <p:sp>
        <p:nvSpPr>
          <p:cNvPr id="12" name="TextBox 11"/>
          <p:cNvSpPr txBox="1"/>
          <p:nvPr/>
        </p:nvSpPr>
        <p:spPr>
          <a:xfrm>
            <a:off x="5035782"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13" name="Rounded Rectangle 12"/>
          <p:cNvSpPr/>
          <p:nvPr/>
        </p:nvSpPr>
        <p:spPr>
          <a:xfrm>
            <a:off x="7302213" y="3886200"/>
            <a:ext cx="2120127" cy="1325880"/>
          </a:xfrm>
          <a:prstGeom prst="roundRect">
            <a:avLst>
              <a:gd name="adj" fmla="val 8000"/>
            </a:avLst>
          </a:prstGeom>
          <a:solidFill>
            <a:srgbClr val="D6ECEE"/>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1">
                <a:solidFill>
                  <a:srgbClr val="1F3A5F"/>
                </a:solidFill>
                <a:latin typeface="Calibri"/>
              </a:defRPr>
            </a:pPr>
            <a:r>
              <a:rPr sz="1700" b="1">
                <a:solidFill>
                  <a:srgbClr val="1F3A5F"/>
                </a:solidFill>
                <a:latin typeface="Calibri"/>
              </a:rPr>
              <a:t>Talking back</a:t>
            </a:r>
          </a:p>
        </p:txBody>
      </p:sp>
      <p:sp>
        <p:nvSpPr>
          <p:cNvPr id="14" name="TextBox 13"/>
          <p:cNvSpPr txBox="1"/>
          <p:nvPr/>
        </p:nvSpPr>
        <p:spPr>
          <a:xfrm>
            <a:off x="7302213"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NOW</a:t>
            </a:r>
          </a:p>
        </p:txBody>
      </p:sp>
      <p:sp>
        <p:nvSpPr>
          <p:cNvPr id="15" name="Rounded Rectangle 14"/>
          <p:cNvSpPr/>
          <p:nvPr/>
        </p:nvSpPr>
        <p:spPr>
          <a:xfrm>
            <a:off x="9568644" y="3886200"/>
            <a:ext cx="2120127" cy="132588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Your first light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The Serial Monitor</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41</a:t>
            </a:r>
          </a:p>
        </p:txBody>
      </p:sp>
      <p:sp>
        <p:nvSpPr>
          <p:cNvPr id="6" name="TextBox 5"/>
          <p:cNvSpPr txBox="1"/>
          <p:nvPr/>
        </p:nvSpPr>
        <p:spPr>
          <a:xfrm>
            <a:off x="502920" y="1188720"/>
            <a:ext cx="11185855" cy="3986784"/>
          </a:xfrm>
          <a:prstGeom prst="rect">
            <a:avLst/>
          </a:prstGeom>
          <a:noFill/>
        </p:spPr>
        <p:txBody>
          <a:bodyPr wrap="square" lIns="0" tIns="0" rIns="0" bIns="0">
            <a:spAutoFit/>
          </a:bodyPr>
          <a:lstStyle/>
          <a:p>
            <a:pPr algn="l">
              <a:lnSpc>
                <a:spcPct val="100000"/>
              </a:lnSpc>
              <a:spcAft>
                <a:spcPts val="600"/>
              </a:spcAft>
              <a:defRPr sz="1800" b="0">
                <a:solidFill>
                  <a:srgbClr val="222222"/>
                </a:solidFill>
                <a:latin typeface="Calibri"/>
              </a:defRPr>
            </a:pPr>
            <a:r>
              <a:rPr sz="1800" b="0">
                <a:solidFill>
                  <a:srgbClr val="222222"/>
                </a:solidFill>
                <a:latin typeface="Calibri"/>
              </a:rPr>
              <a:t>The ESP32 has no screen. If you want to know what it is thinking, it has to tell you - down the same USB cable you upload through. You saw it do that in l1a_blink.</a:t>
            </a:r>
          </a:p>
          <a:p>
            <a:pPr lvl="1" algn="l">
              <a:lnSpc>
                <a:spcPct val="100000"/>
              </a:lnSpc>
              <a:spcAft>
                <a:spcPts val="600"/>
              </a:spcAft>
              <a:defRPr sz="1800" b="0">
                <a:solidFill>
                  <a:srgbClr val="222222"/>
                </a:solidFill>
                <a:latin typeface="Calibri"/>
              </a:defRPr>
            </a:pPr>
            <a:r>
              <a:rPr sz="1800" b="0">
                <a:solidFill>
                  <a:srgbClr val="222222"/>
                </a:solidFill>
                <a:latin typeface="Calibri"/>
              </a:rPr>
              <a:t>Serial.begin(115200);   opens the connection. Put it in setup().</a:t>
            </a:r>
          </a:p>
          <a:p>
            <a:pPr lvl="1" algn="l">
              <a:lnSpc>
                <a:spcPct val="100000"/>
              </a:lnSpc>
              <a:spcAft>
                <a:spcPts val="600"/>
              </a:spcAft>
              <a:defRPr sz="1800" b="0">
                <a:solidFill>
                  <a:srgbClr val="222222"/>
                </a:solidFill>
                <a:latin typeface="Calibri"/>
              </a:defRPr>
            </a:pPr>
            <a:r>
              <a:rPr sz="1800" b="0">
                <a:solidFill>
                  <a:srgbClr val="222222"/>
                </a:solidFill>
                <a:latin typeface="Calibri"/>
              </a:rPr>
              <a:t>Serial.print("text");    prints and stays on the same line.</a:t>
            </a:r>
          </a:p>
          <a:p>
            <a:pPr lvl="1" algn="l">
              <a:lnSpc>
                <a:spcPct val="100000"/>
              </a:lnSpc>
              <a:spcAft>
                <a:spcPts val="600"/>
              </a:spcAft>
              <a:defRPr sz="1800" b="0">
                <a:solidFill>
                  <a:srgbClr val="222222"/>
                </a:solidFill>
                <a:latin typeface="Calibri"/>
              </a:defRPr>
            </a:pPr>
            <a:r>
              <a:rPr sz="1800" b="0">
                <a:solidFill>
                  <a:srgbClr val="222222"/>
                </a:solidFill>
                <a:latin typeface="Calibri"/>
              </a:rPr>
              <a:t>Serial.println(x);       prints and moves to a new line.</a:t>
            </a:r>
          </a:p>
          <a:p>
            <a:pPr algn="l">
              <a:lnSpc>
                <a:spcPct val="100000"/>
              </a:lnSpc>
              <a:spcAft>
                <a:spcPts val="600"/>
              </a:spcAft>
              <a:defRPr sz="900" b="0">
                <a:solidFill>
                  <a:srgbClr val="222222"/>
                </a:solidFill>
                <a:latin typeface="Calibri"/>
              </a:defRPr>
            </a:pPr>
          </a:p>
          <a:p>
            <a:pPr algn="l">
              <a:lnSpc>
                <a:spcPct val="100000"/>
              </a:lnSpc>
              <a:spcAft>
                <a:spcPts val="600"/>
              </a:spcAft>
              <a:defRPr sz="1800" b="0">
                <a:solidFill>
                  <a:srgbClr val="222222"/>
                </a:solidFill>
                <a:latin typeface="Calibri"/>
              </a:defRPr>
            </a:pPr>
            <a:r>
              <a:rPr sz="1800" b="0">
                <a:solidFill>
                  <a:srgbClr val="222222"/>
                </a:solidFill>
                <a:latin typeface="Calibri"/>
              </a:rPr>
              <a:t>Open it with Tools &gt; Serial Monitor, or the magnifying glass at the top right.</a:t>
            </a:r>
          </a:p>
          <a:p>
            <a:pPr algn="l">
              <a:lnSpc>
                <a:spcPct val="100000"/>
              </a:lnSpc>
              <a:spcAft>
                <a:spcPts val="600"/>
              </a:spcAft>
              <a:defRPr sz="1800" b="0">
                <a:solidFill>
                  <a:srgbClr val="222222"/>
                </a:solidFill>
                <a:latin typeface="Calibri"/>
              </a:defRPr>
            </a:pPr>
            <a:r>
              <a:rPr sz="1800" b="0">
                <a:solidFill>
                  <a:srgbClr val="222222"/>
                </a:solidFill>
                <a:latin typeface="Calibri"/>
              </a:rPr>
              <a:t>The baud rate box at the bottom MUST say 115200, because that is the number in Serial.begin(). Rows of nonsense characters mean the two numbers disagree.</a:t>
            </a:r>
          </a:p>
          <a:p>
            <a:pPr algn="l">
              <a:lnSpc>
                <a:spcPct val="100000"/>
              </a:lnSpc>
              <a:spcAft>
                <a:spcPts val="600"/>
              </a:spcAft>
              <a:defRPr sz="900" b="0">
                <a:solidFill>
                  <a:srgbClr val="222222"/>
                </a:solidFill>
                <a:latin typeface="Calibri"/>
              </a:defRPr>
            </a:pPr>
          </a:p>
          <a:p>
            <a:pPr algn="l">
              <a:lnSpc>
                <a:spcPct val="100000"/>
              </a:lnSpc>
              <a:spcAft>
                <a:spcPts val="600"/>
              </a:spcAft>
              <a:defRPr sz="1800" b="0">
                <a:solidFill>
                  <a:srgbClr val="222222"/>
                </a:solidFill>
                <a:latin typeface="Calibri"/>
              </a:defRPr>
            </a:pPr>
            <a:r>
              <a:rPr sz="1800" b="0">
                <a:solidFill>
                  <a:srgbClr val="222222"/>
                </a:solidFill>
                <a:latin typeface="Calibri"/>
              </a:rPr>
              <a:t>When something does not work, print the numbers your program is working from. That will find the fault faster than staring at the code will.</a:t>
            </a:r>
          </a:p>
        </p:txBody>
      </p:sp>
      <p:sp>
        <p:nvSpPr>
          <p:cNvPr id="7" name="Rounded Rectangle 6"/>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Every program from here on prints something. Get in the habit of having the Serial Monitor open.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Variables: named boxes that hold a value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42</a:t>
            </a:r>
          </a:p>
        </p:txBody>
      </p:sp>
      <p:graphicFrame>
        <p:nvGraphicFramePr>
          <p:cNvPr id="6" name="Table 5"/>
          <p:cNvGraphicFramePr>
            <a:graphicFrameLocks noGrp="1"/>
          </p:cNvGraphicFramePr>
          <p:nvPr/>
        </p:nvGraphicFramePr>
        <p:xfrm>
          <a:off x="502920" y="1188720"/>
          <a:ext cx="11185852" cy="3870325"/>
        </p:xfrm>
        <a:graphic>
          <a:graphicData uri="http://schemas.openxmlformats.org/drawingml/2006/table">
            <a:tbl>
              <a:tblPr firstRow="1" bandRow="1">
                <a:tableStyleId>{5C22544A-7EE6-4342-B048-85BDC9FD1C3A}</a:tableStyleId>
              </a:tblPr>
              <a:tblGrid>
                <a:gridCol w="1864309"/>
                <a:gridCol w="3107181"/>
                <a:gridCol w="3107181"/>
                <a:gridCol w="3107181"/>
              </a:tblGrid>
              <a:tr h="645054">
                <a:tc>
                  <a:txBody>
                    <a:bodyPr/>
                    <a:lstStyle/>
                    <a:p>
                      <a:r>
                        <a:rPr sz="2150" b="1">
                          <a:solidFill>
                            <a:srgbClr val="FFFFFF"/>
                          </a:solidFill>
                          <a:latin typeface="Calibri"/>
                        </a:rPr>
                        <a:t>Type</a:t>
                      </a:r>
                    </a:p>
                  </a:txBody>
                  <a:tcPr marL="73152" marT="18288" marB="18288">
                    <a:solidFill>
                      <a:srgbClr val="1F3A5F"/>
                    </a:solidFill>
                  </a:tcPr>
                </a:tc>
                <a:tc>
                  <a:txBody>
                    <a:bodyPr/>
                    <a:lstStyle/>
                    <a:p>
                      <a:r>
                        <a:rPr sz="2150" b="1">
                          <a:solidFill>
                            <a:srgbClr val="FFFFFF"/>
                          </a:solidFill>
                          <a:latin typeface="Calibri"/>
                        </a:rPr>
                        <a:t>Holds</a:t>
                      </a:r>
                    </a:p>
                  </a:txBody>
                  <a:tcPr marL="73152" marT="18288" marB="18288">
                    <a:solidFill>
                      <a:srgbClr val="1F3A5F"/>
                    </a:solidFill>
                  </a:tcPr>
                </a:tc>
                <a:tc>
                  <a:txBody>
                    <a:bodyPr/>
                    <a:lstStyle/>
                    <a:p>
                      <a:r>
                        <a:rPr sz="2150" b="1">
                          <a:solidFill>
                            <a:srgbClr val="FFFFFF"/>
                          </a:solidFill>
                          <a:latin typeface="Calibri"/>
                        </a:rPr>
                        <a:t>Example</a:t>
                      </a:r>
                    </a:p>
                  </a:txBody>
                  <a:tcPr marL="73152" marT="18288" marB="18288">
                    <a:solidFill>
                      <a:srgbClr val="1F3A5F"/>
                    </a:solidFill>
                  </a:tcPr>
                </a:tc>
                <a:tc>
                  <a:txBody>
                    <a:bodyPr/>
                    <a:lstStyle/>
                    <a:p>
                      <a:r>
                        <a:rPr sz="2150" b="1">
                          <a:solidFill>
                            <a:srgbClr val="FFFFFF"/>
                          </a:solidFill>
                          <a:latin typeface="Calibri"/>
                        </a:rPr>
                        <a:t>Used for</a:t>
                      </a:r>
                    </a:p>
                  </a:txBody>
                  <a:tcPr marL="73152" marT="18288" marB="18288">
                    <a:solidFill>
                      <a:srgbClr val="1F3A5F"/>
                    </a:solidFill>
                  </a:tcPr>
                </a:tc>
              </a:tr>
              <a:tr h="645054">
                <a:tc>
                  <a:txBody>
                    <a:bodyPr/>
                    <a:lstStyle/>
                    <a:p>
                      <a:r>
                        <a:rPr sz="2150">
                          <a:solidFill>
                            <a:srgbClr val="222222"/>
                          </a:solidFill>
                          <a:latin typeface="Calibri"/>
                        </a:rPr>
                        <a:t>int</a:t>
                      </a:r>
                    </a:p>
                  </a:txBody>
                  <a:tcPr marL="73152" marT="18288" marB="18288">
                    <a:solidFill>
                      <a:srgbClr val="FFFFFF"/>
                    </a:solidFill>
                  </a:tcPr>
                </a:tc>
                <a:tc>
                  <a:txBody>
                    <a:bodyPr/>
                    <a:lstStyle/>
                    <a:p>
                      <a:r>
                        <a:rPr sz="2150">
                          <a:solidFill>
                            <a:srgbClr val="222222"/>
                          </a:solidFill>
                          <a:latin typeface="Calibri"/>
                        </a:rPr>
                        <a:t>A whole number</a:t>
                      </a:r>
                    </a:p>
                  </a:txBody>
                  <a:tcPr marL="73152" marT="18288" marB="18288">
                    <a:solidFill>
                      <a:srgbClr val="FFFFFF"/>
                    </a:solidFill>
                  </a:tcPr>
                </a:tc>
                <a:tc>
                  <a:txBody>
                    <a:bodyPr/>
                    <a:lstStyle/>
                    <a:p>
                      <a:r>
                        <a:rPr sz="2150">
                          <a:solidFill>
                            <a:srgbClr val="222222"/>
                          </a:solidFill>
                          <a:latin typeface="Calibri"/>
                        </a:rPr>
                        <a:t>int loopCount = 0;</a:t>
                      </a:r>
                    </a:p>
                  </a:txBody>
                  <a:tcPr marL="73152" marT="18288" marB="18288">
                    <a:solidFill>
                      <a:srgbClr val="FFFFFF"/>
                    </a:solidFill>
                  </a:tcPr>
                </a:tc>
                <a:tc>
                  <a:txBody>
                    <a:bodyPr/>
                    <a:lstStyle/>
                    <a:p>
                      <a:r>
                        <a:rPr sz="2150">
                          <a:solidFill>
                            <a:srgbClr val="222222"/>
                          </a:solidFill>
                          <a:latin typeface="Calibri"/>
                        </a:rPr>
                        <a:t>Speeds, pin numbers, counts</a:t>
                      </a:r>
                    </a:p>
                  </a:txBody>
                  <a:tcPr marL="73152" marT="18288" marB="18288">
                    <a:solidFill>
                      <a:srgbClr val="FFFFFF"/>
                    </a:solidFill>
                  </a:tcPr>
                </a:tc>
              </a:tr>
              <a:tr h="645054">
                <a:tc>
                  <a:txBody>
                    <a:bodyPr/>
                    <a:lstStyle/>
                    <a:p>
                      <a:r>
                        <a:rPr sz="2150">
                          <a:solidFill>
                            <a:srgbClr val="222222"/>
                          </a:solidFill>
                          <a:latin typeface="Calibri"/>
                        </a:rPr>
                        <a:t>float</a:t>
                      </a:r>
                    </a:p>
                  </a:txBody>
                  <a:tcPr marL="73152" marT="18288" marB="18288">
                    <a:solidFill>
                      <a:srgbClr val="EEF3F8"/>
                    </a:solidFill>
                  </a:tcPr>
                </a:tc>
                <a:tc>
                  <a:txBody>
                    <a:bodyPr/>
                    <a:lstStyle/>
                    <a:p>
                      <a:r>
                        <a:rPr sz="2150">
                          <a:solidFill>
                            <a:srgbClr val="222222"/>
                          </a:solidFill>
                          <a:latin typeface="Calibri"/>
                        </a:rPr>
                        <a:t>A number with a decimal point</a:t>
                      </a:r>
                    </a:p>
                  </a:txBody>
                  <a:tcPr marL="73152" marT="18288" marB="18288">
                    <a:solidFill>
                      <a:srgbClr val="EEF3F8"/>
                    </a:solidFill>
                  </a:tcPr>
                </a:tc>
                <a:tc>
                  <a:txBody>
                    <a:bodyPr/>
                    <a:lstStyle/>
                    <a:p>
                      <a:r>
                        <a:rPr sz="2150">
                          <a:solidFill>
                            <a:srgbClr val="222222"/>
                          </a:solidFill>
                          <a:latin typeface="Calibri"/>
                        </a:rPr>
                        <a:t>float volts = 16.8;</a:t>
                      </a:r>
                    </a:p>
                  </a:txBody>
                  <a:tcPr marL="73152" marT="18288" marB="18288">
                    <a:solidFill>
                      <a:srgbClr val="EEF3F8"/>
                    </a:solidFill>
                  </a:tcPr>
                </a:tc>
                <a:tc>
                  <a:txBody>
                    <a:bodyPr/>
                    <a:lstStyle/>
                    <a:p>
                      <a:r>
                        <a:rPr sz="2150">
                          <a:solidFill>
                            <a:srgbClr val="222222"/>
                          </a:solidFill>
                          <a:latin typeface="Calibri"/>
                        </a:rPr>
                        <a:t>Voltages, measurements</a:t>
                      </a:r>
                    </a:p>
                  </a:txBody>
                  <a:tcPr marL="73152" marT="18288" marB="18288">
                    <a:solidFill>
                      <a:srgbClr val="EEF3F8"/>
                    </a:solidFill>
                  </a:tcPr>
                </a:tc>
              </a:tr>
              <a:tr h="645054">
                <a:tc>
                  <a:txBody>
                    <a:bodyPr/>
                    <a:lstStyle/>
                    <a:p>
                      <a:r>
                        <a:rPr sz="2150">
                          <a:solidFill>
                            <a:srgbClr val="222222"/>
                          </a:solidFill>
                          <a:latin typeface="Calibri"/>
                        </a:rPr>
                        <a:t>bool</a:t>
                      </a:r>
                    </a:p>
                  </a:txBody>
                  <a:tcPr marL="73152" marT="18288" marB="18288">
                    <a:solidFill>
                      <a:srgbClr val="FFFFFF"/>
                    </a:solidFill>
                  </a:tcPr>
                </a:tc>
                <a:tc>
                  <a:txBody>
                    <a:bodyPr/>
                    <a:lstStyle/>
                    <a:p>
                      <a:r>
                        <a:rPr sz="2150">
                          <a:solidFill>
                            <a:srgbClr val="222222"/>
                          </a:solidFill>
                          <a:latin typeface="Calibri"/>
                        </a:rPr>
                        <a:t>Only true or false</a:t>
                      </a:r>
                    </a:p>
                  </a:txBody>
                  <a:tcPr marL="73152" marT="18288" marB="18288">
                    <a:solidFill>
                      <a:srgbClr val="FFFFFF"/>
                    </a:solidFill>
                  </a:tcPr>
                </a:tc>
                <a:tc>
                  <a:txBody>
                    <a:bodyPr/>
                    <a:lstStyle/>
                    <a:p>
                      <a:r>
                        <a:rPr sz="2150">
                          <a:solidFill>
                            <a:srgbClr val="222222"/>
                          </a:solidFill>
                          <a:latin typeface="Calibri"/>
                        </a:rPr>
                        <a:t>bool lightsOn = true;</a:t>
                      </a:r>
                    </a:p>
                  </a:txBody>
                  <a:tcPr marL="73152" marT="18288" marB="18288">
                    <a:solidFill>
                      <a:srgbClr val="FFFFFF"/>
                    </a:solidFill>
                  </a:tcPr>
                </a:tc>
                <a:tc>
                  <a:txBody>
                    <a:bodyPr/>
                    <a:lstStyle/>
                    <a:p>
                      <a:r>
                        <a:rPr sz="2150">
                          <a:solidFill>
                            <a:srgbClr val="222222"/>
                          </a:solidFill>
                          <a:latin typeface="Calibri"/>
                        </a:rPr>
                        <a:t>Switches and flags</a:t>
                      </a:r>
                    </a:p>
                  </a:txBody>
                  <a:tcPr marL="73152" marT="18288" marB="18288">
                    <a:solidFill>
                      <a:srgbClr val="FFFFFF"/>
                    </a:solidFill>
                  </a:tcPr>
                </a:tc>
              </a:tr>
              <a:tr h="645054">
                <a:tc>
                  <a:txBody>
                    <a:bodyPr/>
                    <a:lstStyle/>
                    <a:p>
                      <a:r>
                        <a:rPr sz="2150">
                          <a:solidFill>
                            <a:srgbClr val="222222"/>
                          </a:solidFill>
                          <a:latin typeface="Calibri"/>
                        </a:rPr>
                        <a:t>const int</a:t>
                      </a:r>
                    </a:p>
                  </a:txBody>
                  <a:tcPr marL="73152" marT="18288" marB="18288">
                    <a:solidFill>
                      <a:srgbClr val="EEF3F8"/>
                    </a:solidFill>
                  </a:tcPr>
                </a:tc>
                <a:tc>
                  <a:txBody>
                    <a:bodyPr/>
                    <a:lstStyle/>
                    <a:p>
                      <a:r>
                        <a:rPr sz="2150">
                          <a:solidFill>
                            <a:srgbClr val="222222"/>
                          </a:solidFill>
                          <a:latin typeface="Calibri"/>
                        </a:rPr>
                        <a:t>A whole number that never changes</a:t>
                      </a:r>
                    </a:p>
                  </a:txBody>
                  <a:tcPr marL="73152" marT="18288" marB="18288">
                    <a:solidFill>
                      <a:srgbClr val="EEF3F8"/>
                    </a:solidFill>
                  </a:tcPr>
                </a:tc>
                <a:tc>
                  <a:txBody>
                    <a:bodyPr/>
                    <a:lstStyle/>
                    <a:p>
                      <a:r>
                        <a:rPr sz="2150">
                          <a:solidFill>
                            <a:srgbClr val="222222"/>
                          </a:solidFill>
                          <a:latin typeface="Calibri"/>
                        </a:rPr>
                        <a:t>const int LED_PIN = 2;</a:t>
                      </a:r>
                    </a:p>
                  </a:txBody>
                  <a:tcPr marL="73152" marT="18288" marB="18288">
                    <a:solidFill>
                      <a:srgbClr val="EEF3F8"/>
                    </a:solidFill>
                  </a:tcPr>
                </a:tc>
                <a:tc>
                  <a:txBody>
                    <a:bodyPr/>
                    <a:lstStyle/>
                    <a:p>
                      <a:r>
                        <a:rPr sz="2150">
                          <a:solidFill>
                            <a:srgbClr val="222222"/>
                          </a:solidFill>
                          <a:latin typeface="Calibri"/>
                        </a:rPr>
                        <a:t>Pins and settings</a:t>
                      </a:r>
                    </a:p>
                  </a:txBody>
                  <a:tcPr marL="73152" marT="18288" marB="18288">
                    <a:solidFill>
                      <a:srgbClr val="EEF3F8"/>
                    </a:solidFill>
                  </a:tcPr>
                </a:tc>
              </a:tr>
              <a:tr h="645055">
                <a:tc>
                  <a:txBody>
                    <a:bodyPr/>
                    <a:lstStyle/>
                    <a:p>
                      <a:r>
                        <a:rPr sz="2150">
                          <a:solidFill>
                            <a:srgbClr val="222222"/>
                          </a:solidFill>
                          <a:latin typeface="Calibri"/>
                        </a:rPr>
                        <a:t>unsigned long</a:t>
                      </a:r>
                    </a:p>
                  </a:txBody>
                  <a:tcPr marL="73152" marT="18288" marB="18288">
                    <a:solidFill>
                      <a:srgbClr val="FFFFFF"/>
                    </a:solidFill>
                  </a:tcPr>
                </a:tc>
                <a:tc>
                  <a:txBody>
                    <a:bodyPr/>
                    <a:lstStyle/>
                    <a:p>
                      <a:r>
                        <a:rPr sz="2150">
                          <a:solidFill>
                            <a:srgbClr val="222222"/>
                          </a:solidFill>
                          <a:latin typeface="Calibri"/>
                        </a:rPr>
                        <a:t>A big whole number, never negative</a:t>
                      </a:r>
                    </a:p>
                  </a:txBody>
                  <a:tcPr marL="73152" marT="18288" marB="18288">
                    <a:solidFill>
                      <a:srgbClr val="FFFFFF"/>
                    </a:solidFill>
                  </a:tcPr>
                </a:tc>
                <a:tc>
                  <a:txBody>
                    <a:bodyPr/>
                    <a:lstStyle/>
                    <a:p>
                      <a:r>
                        <a:rPr sz="2150">
                          <a:solidFill>
                            <a:srgbClr val="222222"/>
                          </a:solidFill>
                          <a:latin typeface="Calibri"/>
                        </a:rPr>
                        <a:t>unsigned long now;</a:t>
                      </a:r>
                    </a:p>
                  </a:txBody>
                  <a:tcPr marL="73152" marT="18288" marB="18288">
                    <a:solidFill>
                      <a:srgbClr val="FFFFFF"/>
                    </a:solidFill>
                  </a:tcPr>
                </a:tc>
                <a:tc>
                  <a:txBody>
                    <a:bodyPr/>
                    <a:lstStyle/>
                    <a:p>
                      <a:r>
                        <a:rPr sz="2150">
                          <a:solidFill>
                            <a:srgbClr val="222222"/>
                          </a:solidFill>
                          <a:latin typeface="Calibri"/>
                        </a:rPr>
                        <a:t>millis(), in Lesson 5</a:t>
                      </a:r>
                    </a:p>
                  </a:txBody>
                  <a:tcPr marL="73152" marT="18288" marB="18288">
                    <a:solidFill>
                      <a:srgbClr val="FFFFFF"/>
                    </a:solidFill>
                  </a:tcPr>
                </a:tc>
              </a:tr>
            </a:tbl>
          </a:graphicData>
        </a:graphic>
      </p:graphicFrame>
      <p:sp>
        <p:nvSpPr>
          <p:cNvPr id="7" name="Rounded Rectangle 6"/>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const means the compiler will stop you changing it by accident. Use it for anything that is a setting rather than a working value.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One trap worth meeting on day one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43</a:t>
            </a:r>
          </a:p>
        </p:txBody>
      </p:sp>
      <p:sp>
        <p:nvSpPr>
          <p:cNvPr id="6" name="TextBox 5"/>
          <p:cNvSpPr txBox="1"/>
          <p:nvPr/>
        </p:nvSpPr>
        <p:spPr>
          <a:xfrm>
            <a:off x="502920" y="1188720"/>
            <a:ext cx="7047088" cy="274320"/>
          </a:xfrm>
          <a:prstGeom prst="rect">
            <a:avLst/>
          </a:prstGeom>
          <a:noFill/>
        </p:spPr>
        <p:txBody>
          <a:bodyPr wrap="square" lIns="0" tIns="0" rIns="0" bIns="0">
            <a:spAutoFit/>
          </a:bodyPr>
          <a:lstStyle/>
          <a:p>
            <a:pPr algn="l">
              <a:lnSpc>
                <a:spcPct val="100000"/>
              </a:lnSpc>
              <a:spcAft>
                <a:spcPts val="200"/>
              </a:spcAft>
              <a:defRPr sz="1200" b="1">
                <a:solidFill>
                  <a:srgbClr val="0E7C86"/>
                </a:solidFill>
                <a:latin typeface="Consolas"/>
              </a:defRPr>
            </a:pPr>
            <a:r>
              <a:rPr sz="1200" b="1">
                <a:solidFill>
                  <a:srgbClr val="0E7C86"/>
                </a:solidFill>
                <a:latin typeface="Consolas"/>
              </a:rPr>
              <a:t>from l1b_serial_monitor.ino</a:t>
            </a:r>
          </a:p>
        </p:txBody>
      </p:sp>
      <p:sp>
        <p:nvSpPr>
          <p:cNvPr id="7" name="CODE_PANEL"/>
          <p:cNvSpPr/>
          <p:nvPr/>
        </p:nvSpPr>
        <p:spPr>
          <a:xfrm>
            <a:off x="502920" y="1517904"/>
            <a:ext cx="7047088" cy="4745736"/>
          </a:xfrm>
          <a:prstGeom prst="roundRect">
            <a:avLst>
              <a:gd name="adj" fmla="val 4000"/>
            </a:avLst>
          </a:prstGeom>
          <a:solidFill>
            <a:srgbClr val="F4F6F8"/>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tIns="91440" bIns="73152"/>
          <a:lstStyle/>
          <a:p>
            <a:pPr algn="l">
              <a:lnSpc>
                <a:spcPct val="100000"/>
              </a:lnSpc>
              <a:spcAft>
                <a:spcPts val="0"/>
              </a:spcAft>
              <a:defRPr sz="1800">
                <a:latin typeface="Consolas"/>
              </a:defRPr>
            </a:pPr>
            <a:r>
              <a:rPr sz="1800">
                <a:solidFill>
                  <a:srgbClr val="222222"/>
                </a:solidFill>
                <a:latin typeface="Consolas"/>
              </a:rPr>
              <a:t>Serial.print("7 / 2 = ");</a:t>
            </a:r>
          </a:p>
          <a:p>
            <a:pPr algn="l">
              <a:lnSpc>
                <a:spcPct val="100000"/>
              </a:lnSpc>
              <a:spcAft>
                <a:spcPts val="0"/>
              </a:spcAft>
              <a:defRPr sz="1800">
                <a:latin typeface="Consolas"/>
              </a:defRPr>
            </a:pPr>
            <a:r>
              <a:rPr sz="1800" b="1">
                <a:solidFill>
                  <a:srgbClr val="0E7C86"/>
                </a:solidFill>
                <a:latin typeface="Consolas"/>
              </a:rPr>
              <a:t>Serial.println(7 / 2);          // prints 3, not 3.5</a:t>
            </a:r>
          </a:p>
          <a:p>
            <a:pPr algn="l">
              <a:lnSpc>
                <a:spcPct val="100000"/>
              </a:lnSpc>
              <a:spcAft>
                <a:spcPts val="0"/>
              </a:spcAft>
              <a:defRPr sz="1800">
                <a:latin typeface="Consolas"/>
              </a:defRPr>
            </a:pPr>
            <a:r>
              <a:rPr sz="1800">
                <a:solidFill>
                  <a:srgbClr val="222222"/>
                </a:solidFill>
                <a:latin typeface="Consolas"/>
              </a:rPr>
              <a:t> </a:t>
            </a:r>
          </a:p>
          <a:p>
            <a:pPr algn="l">
              <a:lnSpc>
                <a:spcPct val="100000"/>
              </a:lnSpc>
              <a:spcAft>
                <a:spcPts val="0"/>
              </a:spcAft>
              <a:defRPr sz="1800">
                <a:latin typeface="Consolas"/>
              </a:defRPr>
            </a:pPr>
            <a:r>
              <a:rPr sz="1800">
                <a:solidFill>
                  <a:srgbClr val="222222"/>
                </a:solidFill>
                <a:latin typeface="Consolas"/>
              </a:rPr>
              <a:t>Serial.print("7.0 / 2 = ");</a:t>
            </a:r>
          </a:p>
          <a:p>
            <a:pPr algn="l">
              <a:lnSpc>
                <a:spcPct val="100000"/>
              </a:lnSpc>
              <a:spcAft>
                <a:spcPts val="0"/>
              </a:spcAft>
              <a:defRPr sz="1800">
                <a:latin typeface="Consolas"/>
              </a:defRPr>
            </a:pPr>
            <a:r>
              <a:rPr sz="1800" b="1">
                <a:solidFill>
                  <a:srgbClr val="0E7C86"/>
                </a:solidFill>
                <a:latin typeface="Consolas"/>
              </a:rPr>
              <a:t>Serial.println(7.0 / 2);        // prints 3.50</a:t>
            </a:r>
          </a:p>
          <a:p>
            <a:pPr algn="l">
              <a:lnSpc>
                <a:spcPct val="100000"/>
              </a:lnSpc>
              <a:spcAft>
                <a:spcPts val="0"/>
              </a:spcAft>
              <a:defRPr sz="1800">
                <a:latin typeface="Consolas"/>
              </a:defRPr>
            </a:pPr>
            <a:r>
              <a:rPr sz="1800">
                <a:solidFill>
                  <a:srgbClr val="222222"/>
                </a:solidFill>
                <a:latin typeface="Consolas"/>
              </a:rPr>
              <a:t> </a:t>
            </a:r>
          </a:p>
          <a:p>
            <a:pPr algn="l">
              <a:lnSpc>
                <a:spcPct val="100000"/>
              </a:lnSpc>
              <a:spcAft>
                <a:spcPts val="0"/>
              </a:spcAft>
              <a:defRPr sz="1800">
                <a:latin typeface="Consolas"/>
              </a:defRPr>
            </a:pPr>
            <a:r>
              <a:rPr sz="1800">
                <a:solidFill>
                  <a:srgbClr val="222222"/>
                </a:solidFill>
                <a:latin typeface="Consolas"/>
              </a:rPr>
              <a:t>Serial.print("7 % 2 = ");</a:t>
            </a:r>
          </a:p>
          <a:p>
            <a:pPr algn="l">
              <a:lnSpc>
                <a:spcPct val="100000"/>
              </a:lnSpc>
              <a:spcAft>
                <a:spcPts val="0"/>
              </a:spcAft>
              <a:defRPr sz="1800">
                <a:latin typeface="Consolas"/>
              </a:defRPr>
            </a:pPr>
            <a:r>
              <a:rPr sz="1800">
                <a:solidFill>
                  <a:srgbClr val="222222"/>
                </a:solidFill>
                <a:latin typeface="Consolas"/>
              </a:rPr>
              <a:t>Serial.println(7 % 2);          // prints 1</a:t>
            </a:r>
          </a:p>
        </p:txBody>
      </p:sp>
      <p:sp>
        <p:nvSpPr>
          <p:cNvPr id="8" name="TextBox 7"/>
          <p:cNvSpPr txBox="1"/>
          <p:nvPr/>
        </p:nvSpPr>
        <p:spPr>
          <a:xfrm>
            <a:off x="7870048" y="1517904"/>
            <a:ext cx="3818727" cy="4745736"/>
          </a:xfrm>
          <a:prstGeom prst="rect">
            <a:avLst/>
          </a:prstGeom>
          <a:noFill/>
        </p:spPr>
        <p:txBody>
          <a:bodyPr wrap="square" lIns="0" tIns="0" rIns="0" bIns="0">
            <a:spAutoFit/>
          </a:bodyPr>
          <a:lstStyle/>
          <a:p>
            <a:pPr algn="l">
              <a:lnSpc>
                <a:spcPct val="100000"/>
              </a:lnSpc>
              <a:spcAft>
                <a:spcPts val="700"/>
              </a:spcAft>
              <a:defRPr sz="1800" b="0">
                <a:solidFill>
                  <a:srgbClr val="222222"/>
                </a:solidFill>
                <a:latin typeface="Calibri"/>
              </a:defRPr>
            </a:pPr>
            <a:r>
              <a:rPr sz="1800" b="0">
                <a:solidFill>
                  <a:srgbClr val="222222"/>
                </a:solidFill>
                <a:latin typeface="Calibri"/>
              </a:rPr>
              <a:t>Both 7 and 2 are whole numbers, so the ESP32 does whole-number division and throws the remainder away.</a:t>
            </a:r>
          </a:p>
          <a:p>
            <a:pPr algn="l">
              <a:lnSpc>
                <a:spcPct val="100000"/>
              </a:lnSpc>
              <a:spcAft>
                <a:spcPts val="700"/>
              </a:spcAft>
              <a:defRPr sz="1800" b="0">
                <a:solidFill>
                  <a:srgbClr val="222222"/>
                </a:solidFill>
                <a:latin typeface="Calibri"/>
              </a:defRPr>
            </a:pPr>
            <a:r>
              <a:rPr sz="1800" b="0">
                <a:solidFill>
                  <a:srgbClr val="222222"/>
                </a:solidFill>
                <a:latin typeface="Calibri"/>
              </a:rPr>
              <a:t>It does NOT round. 7 / 2 is 3, and 9 / 10 is 0.</a:t>
            </a:r>
          </a:p>
          <a:p>
            <a:pPr algn="l">
              <a:lnSpc>
                <a:spcPct val="100000"/>
              </a:lnSpc>
              <a:spcAft>
                <a:spcPts val="700"/>
              </a:spcAft>
              <a:defRPr sz="1800" b="0">
                <a:solidFill>
                  <a:srgbClr val="222222"/>
                </a:solidFill>
                <a:latin typeface="Calibri"/>
              </a:defRPr>
            </a:pPr>
            <a:r>
              <a:rPr sz="1800" b="0">
                <a:solidFill>
                  <a:srgbClr val="222222"/>
                </a:solidFill>
                <a:latin typeface="Calibri"/>
              </a:rPr>
              <a:t>Writing one number with a decimal point asks for decimal division instead.</a:t>
            </a:r>
          </a:p>
          <a:p>
            <a:pPr algn="l">
              <a:lnSpc>
                <a:spcPct val="100000"/>
              </a:lnSpc>
              <a:spcAft>
                <a:spcPts val="700"/>
              </a:spcAft>
              <a:defRPr sz="1800" b="0">
                <a:solidFill>
                  <a:srgbClr val="222222"/>
                </a:solidFill>
                <a:latin typeface="Calibri"/>
              </a:defRPr>
            </a:pPr>
            <a:r>
              <a:rPr sz="1800" b="0">
                <a:solidFill>
                  <a:srgbClr val="222222"/>
                </a:solidFill>
                <a:latin typeface="Calibri"/>
              </a:rPr>
              <a:t>The % operator gives you the remainder that the first division discarded.</a:t>
            </a:r>
          </a:p>
          <a:p>
            <a:pPr algn="l">
              <a:lnSpc>
                <a:spcPct val="100000"/>
              </a:lnSpc>
              <a:spcAft>
                <a:spcPts val="700"/>
              </a:spcAft>
              <a:defRPr sz="1800" b="0">
                <a:solidFill>
                  <a:srgbClr val="222222"/>
                </a:solidFill>
                <a:latin typeface="Calibri"/>
              </a:defRPr>
            </a:pPr>
            <a:r>
              <a:rPr sz="1800" b="0">
                <a:solidFill>
                  <a:srgbClr val="222222"/>
                </a:solidFill>
                <a:latin typeface="Calibri"/>
              </a:rPr>
              <a:t>This bites everybody eventually, usually when a speed calculation quietly comes out as zero.</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Do it now  -  make it talk</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44</a:t>
            </a:r>
          </a:p>
        </p:txBody>
      </p:sp>
      <p:sp>
        <p:nvSpPr>
          <p:cNvPr id="6" name="Rounded Rectangle 5"/>
          <p:cNvSpPr/>
          <p:nvPr/>
        </p:nvSpPr>
        <p:spPr>
          <a:xfrm>
            <a:off x="502920" y="1188720"/>
            <a:ext cx="11185855" cy="530352"/>
          </a:xfrm>
          <a:prstGeom prst="roundRect">
            <a:avLst>
              <a:gd name="adj" fmla="val 4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300" b="1">
                <a:solidFill>
                  <a:srgbClr val="FFFFFF"/>
                </a:solidFill>
                <a:latin typeface="Calibri"/>
              </a:rPr>
              <a:t>UPLOAD AND RUN:   </a:t>
            </a:r>
            <a:r>
              <a:rPr sz="1500" b="1">
                <a:solidFill>
                  <a:srgbClr val="FFFFFF"/>
                </a:solidFill>
                <a:latin typeface="Consolas"/>
              </a:rPr>
              <a:t>l1b_serial_monitor</a:t>
            </a:r>
            <a:r>
              <a:rPr sz="1200">
                <a:solidFill>
                  <a:srgbClr val="FFFFFF"/>
                </a:solidFill>
                <a:latin typeface="Calibri"/>
              </a:rPr>
              <a:t>     (15 minutes)</a:t>
            </a:r>
          </a:p>
        </p:txBody>
      </p:sp>
      <p:sp>
        <p:nvSpPr>
          <p:cNvPr id="7" name="TextBox 6"/>
          <p:cNvSpPr txBox="1"/>
          <p:nvPr/>
        </p:nvSpPr>
        <p:spPr>
          <a:xfrm>
            <a:off x="502920" y="1901952"/>
            <a:ext cx="6249137" cy="4361688"/>
          </a:xfrm>
          <a:prstGeom prst="rect">
            <a:avLst/>
          </a:prstGeom>
          <a:noFill/>
        </p:spPr>
        <p:txBody>
          <a:bodyPr wrap="square" lIns="0" tIns="0" rIns="0" bIns="0">
            <a:spAutoFit/>
          </a:bodyPr>
          <a:lstStyle/>
          <a:p>
            <a:pPr algn="l">
              <a:lnSpc>
                <a:spcPct val="100000"/>
              </a:lnSpc>
              <a:spcAft>
                <a:spcPts val="800"/>
              </a:spcAft>
              <a:defRPr sz="2000" b="0">
                <a:solidFill>
                  <a:srgbClr val="222222"/>
                </a:solidFill>
                <a:latin typeface="Calibri"/>
              </a:defRPr>
            </a:pPr>
            <a:r>
              <a:rPr sz="2000" b="0">
                <a:solidFill>
                  <a:srgbClr val="222222"/>
                </a:solidFill>
                <a:latin typeface="Calibri"/>
              </a:rPr>
              <a:t>1.  Open and upload l1b_serial_monitor.ino.</a:t>
            </a:r>
          </a:p>
          <a:p>
            <a:pPr algn="l">
              <a:lnSpc>
                <a:spcPct val="100000"/>
              </a:lnSpc>
              <a:spcAft>
                <a:spcPts val="800"/>
              </a:spcAft>
              <a:defRPr sz="2000" b="0">
                <a:solidFill>
                  <a:srgbClr val="222222"/>
                </a:solidFill>
                <a:latin typeface="Calibri"/>
              </a:defRPr>
            </a:pPr>
            <a:r>
              <a:rPr sz="2000" b="0">
                <a:solidFill>
                  <a:srgbClr val="222222"/>
                </a:solidFill>
                <a:latin typeface="Calibri"/>
              </a:rPr>
              <a:t>2.  Open the Serial Monitor and set the baud rate to 115200.</a:t>
            </a:r>
          </a:p>
          <a:p>
            <a:pPr algn="l">
              <a:lnSpc>
                <a:spcPct val="100000"/>
              </a:lnSpc>
              <a:spcAft>
                <a:spcPts val="800"/>
              </a:spcAft>
              <a:defRPr sz="2000" b="0">
                <a:solidFill>
                  <a:srgbClr val="222222"/>
                </a:solidFill>
                <a:latin typeface="Calibri"/>
              </a:defRPr>
            </a:pPr>
            <a:r>
              <a:rPr sz="2000" b="0">
                <a:solidFill>
                  <a:srgbClr val="222222"/>
                </a:solidFill>
                <a:latin typeface="Calibri"/>
              </a:rPr>
              <a:t>3.  Press the EN (reset) button on the ESP32. Watch it start again.</a:t>
            </a:r>
          </a:p>
          <a:p>
            <a:pPr algn="l">
              <a:lnSpc>
                <a:spcPct val="100000"/>
              </a:lnSpc>
              <a:spcAft>
                <a:spcPts val="800"/>
              </a:spcAft>
              <a:defRPr sz="2000" b="0">
                <a:solidFill>
                  <a:srgbClr val="222222"/>
                </a:solidFill>
                <a:latin typeface="Calibri"/>
              </a:defRPr>
            </a:pPr>
            <a:r>
              <a:rPr sz="2000" b="0">
                <a:solidFill>
                  <a:srgbClr val="222222"/>
                </a:solidFill>
                <a:latin typeface="Calibri"/>
              </a:rPr>
              <a:t>4.  Change the greeting to your group's name and upload.</a:t>
            </a:r>
          </a:p>
          <a:p>
            <a:pPr algn="l">
              <a:lnSpc>
                <a:spcPct val="100000"/>
              </a:lnSpc>
              <a:spcAft>
                <a:spcPts val="800"/>
              </a:spcAft>
              <a:defRPr sz="2000" b="0">
                <a:solidFill>
                  <a:srgbClr val="222222"/>
                </a:solidFill>
                <a:latin typeface="Calibri"/>
              </a:defRPr>
            </a:pPr>
            <a:r>
              <a:rPr sz="2000" b="0">
                <a:solidFill>
                  <a:srgbClr val="222222"/>
                </a:solidFill>
                <a:latin typeface="Calibri"/>
              </a:rPr>
              <a:t>5.  Change the two numbers in the math section. PREDICT the answers before you upload, then check.</a:t>
            </a:r>
          </a:p>
          <a:p>
            <a:pPr algn="l">
              <a:lnSpc>
                <a:spcPct val="100000"/>
              </a:lnSpc>
              <a:spcAft>
                <a:spcPts val="800"/>
              </a:spcAft>
              <a:defRPr sz="2000" b="0">
                <a:solidFill>
                  <a:srgbClr val="222222"/>
                </a:solidFill>
                <a:latin typeface="Calibri"/>
              </a:defRPr>
            </a:pPr>
            <a:r>
              <a:rPr sz="2000" b="0">
                <a:solidFill>
                  <a:srgbClr val="222222"/>
                </a:solidFill>
                <a:latin typeface="Calibri"/>
              </a:rPr>
              <a:t>6.  Add a line of your own that prints every time round the loop.</a:t>
            </a:r>
          </a:p>
        </p:txBody>
      </p:sp>
      <p:sp>
        <p:nvSpPr>
          <p:cNvPr id="8" name="TextBox 7"/>
          <p:cNvSpPr txBox="1"/>
          <p:nvPr/>
        </p:nvSpPr>
        <p:spPr>
          <a:xfrm>
            <a:off x="7163537" y="1901952"/>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What you should see</a:t>
            </a:r>
          </a:p>
        </p:txBody>
      </p:sp>
      <p:sp>
        <p:nvSpPr>
          <p:cNvPr id="9" name="TextBox 8"/>
          <p:cNvSpPr txBox="1"/>
          <p:nvPr/>
        </p:nvSpPr>
        <p:spPr>
          <a:xfrm>
            <a:off x="7163537" y="2304288"/>
            <a:ext cx="4525238" cy="1161288"/>
          </a:xfrm>
          <a:prstGeom prst="rect">
            <a:avLst/>
          </a:prstGeom>
          <a:noFill/>
        </p:spPr>
        <p:txBody>
          <a:bodyPr wrap="square" lIns="0" tIns="0" rIns="0" bIns="0">
            <a:spAutoFit/>
          </a:bodyPr>
          <a:lstStyle/>
          <a:p>
            <a:pPr algn="l">
              <a:lnSpc>
                <a:spcPct val="100000"/>
              </a:lnSpc>
              <a:spcAft>
                <a:spcPts val="300"/>
              </a:spcAft>
              <a:defRPr sz="2200" b="0">
                <a:solidFill>
                  <a:srgbClr val="222222"/>
                </a:solidFill>
                <a:latin typeface="Calibri"/>
              </a:defRPr>
            </a:pPr>
            <a:r>
              <a:rPr sz="2200" b="0">
                <a:solidFill>
                  <a:srgbClr val="222222"/>
                </a:solidFill>
                <a:latin typeface="Calibri"/>
              </a:rPr>
              <a:t>A greeting, some arithmetic, then one line every three seconds counting up.</a:t>
            </a:r>
          </a:p>
        </p:txBody>
      </p:sp>
      <p:sp>
        <p:nvSpPr>
          <p:cNvPr id="10" name="TextBox 9"/>
          <p:cNvSpPr txBox="1"/>
          <p:nvPr/>
        </p:nvSpPr>
        <p:spPr>
          <a:xfrm>
            <a:off x="7163537" y="3538728"/>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Answer these</a:t>
            </a:r>
          </a:p>
        </p:txBody>
      </p:sp>
      <p:sp>
        <p:nvSpPr>
          <p:cNvPr id="11" name="TextBox 10"/>
          <p:cNvSpPr txBox="1"/>
          <p:nvPr/>
        </p:nvSpPr>
        <p:spPr>
          <a:xfrm>
            <a:off x="7163537" y="3941064"/>
            <a:ext cx="4525238" cy="2322576"/>
          </a:xfrm>
          <a:prstGeom prst="rect">
            <a:avLst/>
          </a:prstGeom>
          <a:noFill/>
        </p:spPr>
        <p:txBody>
          <a:bodyPr wrap="square" lIns="0" tIns="0" rIns="0" bIns="0">
            <a:spAutoFit/>
          </a:bodyPr>
          <a:lstStyle/>
          <a:p>
            <a:pPr algn="l">
              <a:lnSpc>
                <a:spcPct val="100000"/>
              </a:lnSpc>
              <a:spcAft>
                <a:spcPts val="300"/>
              </a:spcAft>
              <a:defRPr sz="2700" b="0">
                <a:solidFill>
                  <a:srgbClr val="222222"/>
                </a:solidFill>
                <a:latin typeface="Calibri"/>
              </a:defRPr>
            </a:pPr>
            <a:r>
              <a:rPr sz="2700" b="0">
                <a:solidFill>
                  <a:srgbClr val="222222"/>
                </a:solidFill>
                <a:latin typeface="Calibri"/>
              </a:rPr>
              <a:t>What is 9 / 10 in this program? What did you expect?</a:t>
            </a:r>
          </a:p>
          <a:p>
            <a:pPr algn="l">
              <a:lnSpc>
                <a:spcPct val="100000"/>
              </a:lnSpc>
              <a:spcAft>
                <a:spcPts val="300"/>
              </a:spcAft>
              <a:defRPr sz="2700" b="0">
                <a:solidFill>
                  <a:srgbClr val="222222"/>
                </a:solidFill>
                <a:latin typeface="Calibri"/>
              </a:defRPr>
            </a:pPr>
            <a:r>
              <a:rPr sz="2700" b="0">
                <a:solidFill>
                  <a:srgbClr val="222222"/>
                </a:solidFill>
                <a:latin typeface="Calibri"/>
              </a:rPr>
              <a:t>What does millis() / 1000 give you, and why?</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1</a:t>
            </a:r>
          </a:p>
        </p:txBody>
      </p:sp>
      <p:sp>
        <p:nvSpPr>
          <p:cNvPr id="3" name="TextBox 2"/>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45</a:t>
            </a:r>
          </a:p>
        </p:txBody>
      </p:sp>
      <p:sp>
        <p:nvSpPr>
          <p:cNvPr id="4" name="Rectangle 3"/>
          <p:cNvSpPr/>
          <p:nvPr/>
        </p:nvSpPr>
        <p:spPr>
          <a:xfrm>
            <a:off x="0" y="1234440"/>
            <a:ext cx="256032" cy="155448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325880"/>
            <a:ext cx="10515600" cy="1051560"/>
          </a:xfrm>
          <a:prstGeom prst="rect">
            <a:avLst/>
          </a:prstGeom>
          <a:noFill/>
        </p:spPr>
        <p:txBody>
          <a:bodyPr wrap="square" lIns="0" tIns="0" rIns="0" bIns="0">
            <a:spAutoFit/>
          </a:bodyPr>
          <a:lstStyle/>
          <a:p>
            <a:pPr algn="l">
              <a:lnSpc>
                <a:spcPct val="100000"/>
              </a:lnSpc>
              <a:spcAft>
                <a:spcPts val="0"/>
              </a:spcAft>
              <a:defRPr sz="3600" b="1">
                <a:solidFill>
                  <a:srgbClr val="1F3A5F"/>
                </a:solidFill>
                <a:latin typeface="Calibri"/>
              </a:defRPr>
            </a:pPr>
            <a:r>
              <a:rPr sz="3600" b="1">
                <a:solidFill>
                  <a:srgbClr val="1F3A5F"/>
                </a:solidFill>
                <a:latin typeface="Calibri"/>
              </a:rPr>
              <a:t>Your first light</a:t>
            </a:r>
          </a:p>
        </p:txBody>
      </p:sp>
      <p:sp>
        <p:nvSpPr>
          <p:cNvPr id="6" name="TextBox 5"/>
          <p:cNvSpPr txBox="1"/>
          <p:nvPr/>
        </p:nvSpPr>
        <p:spPr>
          <a:xfrm>
            <a:off x="777240" y="2423160"/>
            <a:ext cx="10515600" cy="685800"/>
          </a:xfrm>
          <a:prstGeom prst="rect">
            <a:avLst/>
          </a:prstGeom>
          <a:noFill/>
        </p:spPr>
        <p:txBody>
          <a:bodyPr wrap="square" lIns="0" tIns="0" rIns="0" bIns="0">
            <a:spAutoFit/>
          </a:bodyPr>
          <a:lstStyle/>
          <a:p>
            <a:pPr algn="l">
              <a:lnSpc>
                <a:spcPct val="100000"/>
              </a:lnSpc>
              <a:spcAft>
                <a:spcPts val="400"/>
              </a:spcAft>
              <a:defRPr sz="1600" b="0">
                <a:solidFill>
                  <a:srgbClr val="666666"/>
                </a:solidFill>
                <a:latin typeface="Calibri"/>
              </a:defRPr>
            </a:pPr>
            <a:r>
              <a:rPr sz="1600" b="0">
                <a:solidFill>
                  <a:srgbClr val="666666"/>
                </a:solidFill>
                <a:latin typeface="Calibri"/>
              </a:rPr>
              <a:t>About 15 minutes</a:t>
            </a:r>
          </a:p>
        </p:txBody>
      </p:sp>
      <p:sp>
        <p:nvSpPr>
          <p:cNvPr id="7" name="Rounded Rectangle 6"/>
          <p:cNvSpPr/>
          <p:nvPr/>
        </p:nvSpPr>
        <p:spPr>
          <a:xfrm>
            <a:off x="502920" y="3886200"/>
            <a:ext cx="2120127"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The vehicle</a:t>
            </a:r>
          </a:p>
        </p:txBody>
      </p:sp>
      <p:sp>
        <p:nvSpPr>
          <p:cNvPr id="8" name="TextBox 7"/>
          <p:cNvSpPr txBox="1"/>
          <p:nvPr/>
        </p:nvSpPr>
        <p:spPr>
          <a:xfrm>
            <a:off x="502920"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9" name="Rounded Rectangle 8"/>
          <p:cNvSpPr/>
          <p:nvPr/>
        </p:nvSpPr>
        <p:spPr>
          <a:xfrm>
            <a:off x="2769351" y="3886200"/>
            <a:ext cx="2120127"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Setting up the IDE</a:t>
            </a:r>
          </a:p>
        </p:txBody>
      </p:sp>
      <p:sp>
        <p:nvSpPr>
          <p:cNvPr id="10" name="TextBox 9"/>
          <p:cNvSpPr txBox="1"/>
          <p:nvPr/>
        </p:nvSpPr>
        <p:spPr>
          <a:xfrm>
            <a:off x="2769351"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11" name="Rounded Rectangle 10"/>
          <p:cNvSpPr/>
          <p:nvPr/>
        </p:nvSpPr>
        <p:spPr>
          <a:xfrm>
            <a:off x="5035782" y="3886200"/>
            <a:ext cx="2120127"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Your first circuit and program</a:t>
            </a:r>
          </a:p>
        </p:txBody>
      </p:sp>
      <p:sp>
        <p:nvSpPr>
          <p:cNvPr id="12" name="TextBox 11"/>
          <p:cNvSpPr txBox="1"/>
          <p:nvPr/>
        </p:nvSpPr>
        <p:spPr>
          <a:xfrm>
            <a:off x="5035782"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13" name="Rounded Rectangle 12"/>
          <p:cNvSpPr/>
          <p:nvPr/>
        </p:nvSpPr>
        <p:spPr>
          <a:xfrm>
            <a:off x="7302213" y="3886200"/>
            <a:ext cx="2120127"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Talking back</a:t>
            </a:r>
          </a:p>
        </p:txBody>
      </p:sp>
      <p:sp>
        <p:nvSpPr>
          <p:cNvPr id="14" name="TextBox 13"/>
          <p:cNvSpPr txBox="1"/>
          <p:nvPr/>
        </p:nvSpPr>
        <p:spPr>
          <a:xfrm>
            <a:off x="7302213"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15" name="Rounded Rectangle 14"/>
          <p:cNvSpPr/>
          <p:nvPr/>
        </p:nvSpPr>
        <p:spPr>
          <a:xfrm>
            <a:off x="9568644" y="3886200"/>
            <a:ext cx="2120127" cy="1325880"/>
          </a:xfrm>
          <a:prstGeom prst="roundRect">
            <a:avLst>
              <a:gd name="adj" fmla="val 8000"/>
            </a:avLst>
          </a:prstGeom>
          <a:solidFill>
            <a:srgbClr val="D6ECEE"/>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1">
                <a:solidFill>
                  <a:srgbClr val="1F3A5F"/>
                </a:solidFill>
                <a:latin typeface="Calibri"/>
              </a:defRPr>
            </a:pPr>
            <a:r>
              <a:rPr sz="1700" b="1">
                <a:solidFill>
                  <a:srgbClr val="1F3A5F"/>
                </a:solidFill>
                <a:latin typeface="Calibri"/>
              </a:rPr>
              <a:t>Your first light</a:t>
            </a:r>
          </a:p>
        </p:txBody>
      </p:sp>
      <p:sp>
        <p:nvSpPr>
          <p:cNvPr id="16" name="TextBox 15"/>
          <p:cNvSpPr txBox="1"/>
          <p:nvPr/>
        </p:nvSpPr>
        <p:spPr>
          <a:xfrm>
            <a:off x="9568644"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NOW</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An addressable LED is a small computer of its own</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46</a:t>
            </a:r>
          </a:p>
        </p:txBody>
      </p:sp>
      <p:sp>
        <p:nvSpPr>
          <p:cNvPr id="6" name="TextBox 5"/>
          <p:cNvSpPr txBox="1"/>
          <p:nvPr/>
        </p:nvSpPr>
        <p:spPr>
          <a:xfrm>
            <a:off x="502920" y="1188720"/>
            <a:ext cx="11185855" cy="3986784"/>
          </a:xfrm>
          <a:prstGeom prst="rect">
            <a:avLst/>
          </a:prstGeom>
          <a:noFill/>
        </p:spPr>
        <p:txBody>
          <a:bodyPr wrap="square" lIns="0" tIns="0" rIns="0" bIns="0">
            <a:spAutoFit/>
          </a:bodyPr>
          <a:lstStyle/>
          <a:p>
            <a:pPr algn="l">
              <a:lnSpc>
                <a:spcPct val="100000"/>
              </a:lnSpc>
              <a:spcAft>
                <a:spcPts val="600"/>
              </a:spcAft>
              <a:defRPr sz="2000" b="0">
                <a:solidFill>
                  <a:srgbClr val="222222"/>
                </a:solidFill>
                <a:latin typeface="Calibri"/>
              </a:defRPr>
            </a:pPr>
            <a:r>
              <a:rPr sz="2000" b="0">
                <a:solidFill>
                  <a:srgbClr val="222222"/>
                </a:solidFill>
                <a:latin typeface="Calibri"/>
              </a:rPr>
              <a:t>An ordinary LED has two wires and is either on or off.</a:t>
            </a:r>
          </a:p>
          <a:p>
            <a:pPr algn="l">
              <a:lnSpc>
                <a:spcPct val="100000"/>
              </a:lnSpc>
              <a:spcAft>
                <a:spcPts val="600"/>
              </a:spcAft>
              <a:defRPr sz="2000" b="0">
                <a:solidFill>
                  <a:srgbClr val="222222"/>
                </a:solidFill>
                <a:latin typeface="Calibri"/>
              </a:defRPr>
            </a:pPr>
            <a:r>
              <a:rPr sz="2000" b="0">
                <a:solidFill>
                  <a:srgbClr val="222222"/>
                </a:solidFill>
                <a:latin typeface="Calibri"/>
              </a:rPr>
              <a:t>A NeoPixel has FOUR connections - power, ground, data in, data out - and a tiny controller chip inside it.</a:t>
            </a:r>
          </a:p>
          <a:p>
            <a:pPr algn="l">
              <a:lnSpc>
                <a:spcPct val="100000"/>
              </a:lnSpc>
              <a:spcAft>
                <a:spcPts val="600"/>
              </a:spcAft>
              <a:defRPr sz="2000" b="0">
                <a:solidFill>
                  <a:srgbClr val="222222"/>
                </a:solidFill>
                <a:latin typeface="Calibri"/>
              </a:defRPr>
            </a:pPr>
            <a:r>
              <a:rPr sz="2000" b="0">
                <a:solidFill>
                  <a:srgbClr val="222222"/>
                </a:solidFill>
                <a:latin typeface="Calibri"/>
              </a:rPr>
              <a:t>Send a color message into the first one and it keeps the first message, then passes everything after it down the chain to the next.</a:t>
            </a:r>
          </a:p>
          <a:p>
            <a:pPr algn="l">
              <a:lnSpc>
                <a:spcPct val="100000"/>
              </a:lnSpc>
              <a:spcAft>
                <a:spcPts val="600"/>
              </a:spcAft>
              <a:defRPr sz="2000" b="0">
                <a:solidFill>
                  <a:srgbClr val="222222"/>
                </a:solidFill>
                <a:latin typeface="Calibri"/>
              </a:defRPr>
            </a:pPr>
            <a:r>
              <a:rPr sz="2000" b="0">
                <a:solidFill>
                  <a:srgbClr val="222222"/>
                </a:solidFill>
                <a:latin typeface="Calibri"/>
              </a:rPr>
              <a:t>That is why all 32 LEDs on the vehicle need only ONE signal wire, on GPIO 5.</a:t>
            </a:r>
          </a:p>
          <a:p>
            <a:pPr algn="l">
              <a:lnSpc>
                <a:spcPct val="100000"/>
              </a:lnSpc>
              <a:spcAft>
                <a:spcPts val="600"/>
              </a:spcAft>
              <a:defRPr sz="2000" b="0">
                <a:solidFill>
                  <a:srgbClr val="222222"/>
                </a:solidFill>
                <a:latin typeface="Calibri"/>
              </a:defRPr>
            </a:pPr>
            <a:r>
              <a:rPr sz="2000" b="0">
                <a:solidFill>
                  <a:srgbClr val="222222"/>
                </a:solidFill>
                <a:latin typeface="Calibri"/>
              </a:rPr>
              <a:t>It is also why they are NUMBERED, 0 to 31, in the order the data flows. You will map that out properly in Lesson 4.</a:t>
            </a:r>
          </a:p>
          <a:p>
            <a:pPr algn="l">
              <a:lnSpc>
                <a:spcPct val="100000"/>
              </a:lnSpc>
              <a:spcAft>
                <a:spcPts val="600"/>
              </a:spcAft>
              <a:defRPr sz="1000" b="0">
                <a:solidFill>
                  <a:srgbClr val="222222"/>
                </a:solidFill>
                <a:latin typeface="Calibri"/>
              </a:defRPr>
            </a:pPr>
          </a:p>
          <a:p>
            <a:pPr algn="l">
              <a:lnSpc>
                <a:spcPct val="100000"/>
              </a:lnSpc>
              <a:spcAft>
                <a:spcPts val="600"/>
              </a:spcAft>
              <a:defRPr sz="2000" b="0">
                <a:solidFill>
                  <a:srgbClr val="222222"/>
                </a:solidFill>
                <a:latin typeface="Calibri"/>
              </a:defRPr>
            </a:pPr>
            <a:r>
              <a:rPr sz="2000" b="0">
                <a:solidFill>
                  <a:srgbClr val="222222"/>
                </a:solidFill>
                <a:latin typeface="Calibri"/>
              </a:rPr>
              <a:t>Each one holds three LEDs: red, green and blue. Every color you can make is a mixture of those three, each from 0 to 255.</a:t>
            </a:r>
          </a:p>
        </p:txBody>
      </p:sp>
      <p:sp>
        <p:nvSpPr>
          <p:cNvPr id="7" name="Rounded Rectangle 6"/>
          <p:cNvSpPr/>
          <p:nvPr/>
        </p:nvSpPr>
        <p:spPr>
          <a:xfrm>
            <a:off x="502920" y="5303520"/>
            <a:ext cx="11185855" cy="960120"/>
          </a:xfrm>
          <a:prstGeom prst="roundRect">
            <a:avLst>
              <a:gd name="adj" fmla="val 4000"/>
            </a:avLst>
          </a:prstGeom>
          <a:solidFill>
            <a:srgbClr val="FDF3E3"/>
          </a:solidFill>
          <a:ln w="12700">
            <a:solidFill>
              <a:srgbClr val="B46A0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B46A0F"/>
                </a:solidFill>
                <a:latin typeface="Calibri"/>
              </a:rPr>
              <a:t>WATCH OUT   </a:t>
            </a:r>
            <a:r>
              <a:rPr sz="1800">
                <a:solidFill>
                  <a:srgbClr val="222222"/>
                </a:solidFill>
                <a:latin typeface="Calibri"/>
              </a:rPr>
              <a:t>setPixelColor() only changes the ESP32's memory. Nothing happens on the vehicle until you call show(). This is the most common NeoPixel mistake there is.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l1c_first_pixel  -  the important lines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47</a:t>
            </a:r>
          </a:p>
        </p:txBody>
      </p:sp>
      <p:sp>
        <p:nvSpPr>
          <p:cNvPr id="6" name="TextBox 5"/>
          <p:cNvSpPr txBox="1"/>
          <p:nvPr/>
        </p:nvSpPr>
        <p:spPr>
          <a:xfrm>
            <a:off x="502920" y="1188720"/>
            <a:ext cx="7047088" cy="274320"/>
          </a:xfrm>
          <a:prstGeom prst="rect">
            <a:avLst/>
          </a:prstGeom>
          <a:noFill/>
        </p:spPr>
        <p:txBody>
          <a:bodyPr wrap="square" lIns="0" tIns="0" rIns="0" bIns="0">
            <a:spAutoFit/>
          </a:bodyPr>
          <a:lstStyle/>
          <a:p>
            <a:pPr algn="l">
              <a:lnSpc>
                <a:spcPct val="100000"/>
              </a:lnSpc>
              <a:spcAft>
                <a:spcPts val="200"/>
              </a:spcAft>
              <a:defRPr sz="1200" b="1">
                <a:solidFill>
                  <a:srgbClr val="0E7C86"/>
                </a:solidFill>
                <a:latin typeface="Consolas"/>
              </a:defRPr>
            </a:pPr>
            <a:r>
              <a:rPr sz="1200" b="1">
                <a:solidFill>
                  <a:srgbClr val="0E7C86"/>
                </a:solidFill>
                <a:latin typeface="Consolas"/>
              </a:rPr>
              <a:t>l1c_first_pixel.ino</a:t>
            </a:r>
          </a:p>
        </p:txBody>
      </p:sp>
      <p:sp>
        <p:nvSpPr>
          <p:cNvPr id="7" name="CODE_PANEL"/>
          <p:cNvSpPr/>
          <p:nvPr/>
        </p:nvSpPr>
        <p:spPr>
          <a:xfrm>
            <a:off x="502920" y="1517904"/>
            <a:ext cx="7047088" cy="4745736"/>
          </a:xfrm>
          <a:prstGeom prst="roundRect">
            <a:avLst>
              <a:gd name="adj" fmla="val 4000"/>
            </a:avLst>
          </a:prstGeom>
          <a:solidFill>
            <a:srgbClr val="F4F6F8"/>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tIns="91440" bIns="73152"/>
          <a:lstStyle/>
          <a:p>
            <a:pPr algn="l">
              <a:lnSpc>
                <a:spcPct val="100000"/>
              </a:lnSpc>
              <a:spcAft>
                <a:spcPts val="0"/>
              </a:spcAft>
              <a:defRPr sz="1400">
                <a:latin typeface="Consolas"/>
              </a:defRPr>
            </a:pPr>
            <a:r>
              <a:rPr sz="1400">
                <a:solidFill>
                  <a:srgbClr val="222222"/>
                </a:solidFill>
                <a:latin typeface="Consolas"/>
              </a:rPr>
              <a:t>#include &lt;Adafruit_NeoPixel.h&gt;</a:t>
            </a:r>
          </a:p>
          <a:p>
            <a:pPr algn="l">
              <a:lnSpc>
                <a:spcPct val="100000"/>
              </a:lnSpc>
              <a:spcAft>
                <a:spcPts val="0"/>
              </a:spcAft>
              <a:defRPr sz="1400">
                <a:latin typeface="Consolas"/>
              </a:defRPr>
            </a:pPr>
            <a:r>
              <a:rPr sz="1400">
                <a:solidFill>
                  <a:srgbClr val="222222"/>
                </a:solidFill>
                <a:latin typeface="Consolas"/>
              </a:rPr>
              <a:t> </a:t>
            </a:r>
          </a:p>
          <a:p>
            <a:pPr algn="l">
              <a:lnSpc>
                <a:spcPct val="100000"/>
              </a:lnSpc>
              <a:spcAft>
                <a:spcPts val="0"/>
              </a:spcAft>
              <a:defRPr sz="1400">
                <a:latin typeface="Consolas"/>
              </a:defRPr>
            </a:pPr>
            <a:r>
              <a:rPr sz="1400">
                <a:solidFill>
                  <a:srgbClr val="222222"/>
                </a:solidFill>
                <a:latin typeface="Consolas"/>
              </a:rPr>
              <a:t>const int LED_PIN   = 5;      // all 32 LEDs are on GPIO 5</a:t>
            </a:r>
          </a:p>
          <a:p>
            <a:pPr algn="l">
              <a:lnSpc>
                <a:spcPct val="100000"/>
              </a:lnSpc>
              <a:spcAft>
                <a:spcPts val="0"/>
              </a:spcAft>
              <a:defRPr sz="1400">
                <a:latin typeface="Consolas"/>
              </a:defRPr>
            </a:pPr>
            <a:r>
              <a:rPr sz="1400">
                <a:solidFill>
                  <a:srgbClr val="222222"/>
                </a:solidFill>
                <a:latin typeface="Consolas"/>
              </a:rPr>
              <a:t>const int LED_COUNT = 32;</a:t>
            </a:r>
          </a:p>
          <a:p>
            <a:pPr algn="l">
              <a:lnSpc>
                <a:spcPct val="100000"/>
              </a:lnSpc>
              <a:spcAft>
                <a:spcPts val="0"/>
              </a:spcAft>
              <a:defRPr sz="1400">
                <a:latin typeface="Consolas"/>
              </a:defRPr>
            </a:pPr>
            <a:r>
              <a:rPr sz="1400">
                <a:solidFill>
                  <a:srgbClr val="222222"/>
                </a:solidFill>
                <a:latin typeface="Consolas"/>
              </a:rPr>
              <a:t>const int WHICH_LED = 0;      // the one we light</a:t>
            </a:r>
          </a:p>
          <a:p>
            <a:pPr algn="l">
              <a:lnSpc>
                <a:spcPct val="100000"/>
              </a:lnSpc>
              <a:spcAft>
                <a:spcPts val="0"/>
              </a:spcAft>
              <a:defRPr sz="1400">
                <a:latin typeface="Consolas"/>
              </a:defRPr>
            </a:pPr>
            <a:r>
              <a:rPr sz="1400">
                <a:solidFill>
                  <a:srgbClr val="222222"/>
                </a:solidFill>
                <a:latin typeface="Consolas"/>
              </a:rPr>
              <a:t>const int BRIGHTNESS = 60;    // master brightness, 0 to 255</a:t>
            </a:r>
          </a:p>
          <a:p>
            <a:pPr algn="l">
              <a:lnSpc>
                <a:spcPct val="100000"/>
              </a:lnSpc>
              <a:spcAft>
                <a:spcPts val="0"/>
              </a:spcAft>
              <a:defRPr sz="1400">
                <a:latin typeface="Consolas"/>
              </a:defRPr>
            </a:pPr>
            <a:r>
              <a:rPr sz="1400">
                <a:solidFill>
                  <a:srgbClr val="222222"/>
                </a:solidFill>
                <a:latin typeface="Consolas"/>
              </a:rPr>
              <a:t>Adafruit_NeoPixel strip(LED_COUNT, LED_PIN, NEO_GRB + NEO_KHZ800);</a:t>
            </a:r>
          </a:p>
          <a:p>
            <a:pPr algn="l">
              <a:lnSpc>
                <a:spcPct val="100000"/>
              </a:lnSpc>
              <a:spcAft>
                <a:spcPts val="0"/>
              </a:spcAft>
              <a:defRPr sz="1400">
                <a:latin typeface="Consolas"/>
              </a:defRPr>
            </a:pPr>
            <a:r>
              <a:rPr sz="1400">
                <a:solidFill>
                  <a:srgbClr val="222222"/>
                </a:solidFill>
                <a:latin typeface="Consolas"/>
              </a:rPr>
              <a:t> </a:t>
            </a:r>
          </a:p>
          <a:p>
            <a:pPr algn="l">
              <a:lnSpc>
                <a:spcPct val="100000"/>
              </a:lnSpc>
              <a:spcAft>
                <a:spcPts val="0"/>
              </a:spcAft>
              <a:defRPr sz="1400">
                <a:latin typeface="Consolas"/>
              </a:defRPr>
            </a:pPr>
            <a:r>
              <a:rPr sz="1400">
                <a:solidFill>
                  <a:srgbClr val="222222"/>
                </a:solidFill>
                <a:latin typeface="Consolas"/>
              </a:rPr>
              <a:t>void setup() {</a:t>
            </a:r>
          </a:p>
          <a:p>
            <a:pPr algn="l">
              <a:lnSpc>
                <a:spcPct val="100000"/>
              </a:lnSpc>
              <a:spcAft>
                <a:spcPts val="0"/>
              </a:spcAft>
              <a:defRPr sz="1400">
                <a:latin typeface="Consolas"/>
              </a:defRPr>
            </a:pPr>
            <a:r>
              <a:rPr sz="1400">
                <a:solidFill>
                  <a:srgbClr val="222222"/>
                </a:solidFill>
                <a:latin typeface="Consolas"/>
              </a:rPr>
              <a:t>  strip.begin();</a:t>
            </a:r>
          </a:p>
          <a:p>
            <a:pPr algn="l">
              <a:lnSpc>
                <a:spcPct val="100000"/>
              </a:lnSpc>
              <a:spcAft>
                <a:spcPts val="0"/>
              </a:spcAft>
              <a:defRPr sz="1400">
                <a:latin typeface="Consolas"/>
              </a:defRPr>
            </a:pPr>
            <a:r>
              <a:rPr sz="1400">
                <a:solidFill>
                  <a:srgbClr val="222222"/>
                </a:solidFill>
                <a:latin typeface="Consolas"/>
              </a:rPr>
              <a:t>  strip.setBrightness(BRIGHTNESS);</a:t>
            </a:r>
          </a:p>
          <a:p>
            <a:pPr algn="l">
              <a:lnSpc>
                <a:spcPct val="100000"/>
              </a:lnSpc>
              <a:spcAft>
                <a:spcPts val="0"/>
              </a:spcAft>
              <a:defRPr sz="1400">
                <a:latin typeface="Consolas"/>
              </a:defRPr>
            </a:pPr>
            <a:r>
              <a:rPr sz="1400">
                <a:solidFill>
                  <a:srgbClr val="222222"/>
                </a:solidFill>
                <a:latin typeface="Consolas"/>
              </a:rPr>
              <a:t>  strip.clear();</a:t>
            </a:r>
          </a:p>
          <a:p>
            <a:pPr algn="l">
              <a:lnSpc>
                <a:spcPct val="100000"/>
              </a:lnSpc>
              <a:spcAft>
                <a:spcPts val="0"/>
              </a:spcAft>
              <a:defRPr sz="1400">
                <a:latin typeface="Consolas"/>
              </a:defRPr>
            </a:pPr>
            <a:r>
              <a:rPr sz="1400">
                <a:solidFill>
                  <a:srgbClr val="222222"/>
                </a:solidFill>
                <a:latin typeface="Consolas"/>
              </a:rPr>
              <a:t>  strip.show();</a:t>
            </a:r>
          </a:p>
          <a:p>
            <a:pPr algn="l">
              <a:lnSpc>
                <a:spcPct val="100000"/>
              </a:lnSpc>
              <a:spcAft>
                <a:spcPts val="0"/>
              </a:spcAft>
              <a:defRPr sz="1400">
                <a:latin typeface="Consolas"/>
              </a:defRPr>
            </a:pPr>
            <a:r>
              <a:rPr sz="1400">
                <a:solidFill>
                  <a:srgbClr val="222222"/>
                </a:solidFill>
                <a:latin typeface="Consolas"/>
              </a:rPr>
              <a:t>}</a:t>
            </a:r>
          </a:p>
          <a:p>
            <a:pPr algn="l">
              <a:lnSpc>
                <a:spcPct val="100000"/>
              </a:lnSpc>
              <a:spcAft>
                <a:spcPts val="0"/>
              </a:spcAft>
              <a:defRPr sz="1400">
                <a:latin typeface="Consolas"/>
              </a:defRPr>
            </a:pPr>
            <a:r>
              <a:rPr sz="1400">
                <a:solidFill>
                  <a:srgbClr val="222222"/>
                </a:solidFill>
                <a:latin typeface="Consolas"/>
              </a:rPr>
              <a:t> </a:t>
            </a:r>
          </a:p>
          <a:p>
            <a:pPr algn="l">
              <a:lnSpc>
                <a:spcPct val="100000"/>
              </a:lnSpc>
              <a:spcAft>
                <a:spcPts val="0"/>
              </a:spcAft>
              <a:defRPr sz="1400">
                <a:latin typeface="Consolas"/>
              </a:defRPr>
            </a:pPr>
            <a:r>
              <a:rPr sz="1400">
                <a:solidFill>
                  <a:srgbClr val="222222"/>
                </a:solidFill>
                <a:latin typeface="Consolas"/>
              </a:rPr>
              <a:t>void loop() {</a:t>
            </a:r>
          </a:p>
          <a:p>
            <a:pPr algn="l">
              <a:lnSpc>
                <a:spcPct val="100000"/>
              </a:lnSpc>
              <a:spcAft>
                <a:spcPts val="0"/>
              </a:spcAft>
              <a:defRPr sz="1400">
                <a:latin typeface="Consolas"/>
              </a:defRPr>
            </a:pPr>
            <a:r>
              <a:rPr sz="1400">
                <a:solidFill>
                  <a:srgbClr val="222222"/>
                </a:solidFill>
                <a:latin typeface="Consolas"/>
              </a:rPr>
              <a:t>  strip.setPixelColor(WHICH_LED, strip.Color(255, 0, 0));</a:t>
            </a:r>
          </a:p>
          <a:p>
            <a:pPr algn="l">
              <a:lnSpc>
                <a:spcPct val="100000"/>
              </a:lnSpc>
              <a:spcAft>
                <a:spcPts val="0"/>
              </a:spcAft>
              <a:defRPr sz="1400">
                <a:latin typeface="Consolas"/>
              </a:defRPr>
            </a:pPr>
            <a:r>
              <a:rPr sz="1400">
                <a:solidFill>
                  <a:srgbClr val="222222"/>
                </a:solidFill>
                <a:latin typeface="Consolas"/>
              </a:rPr>
              <a:t>  strip.show();</a:t>
            </a:r>
          </a:p>
          <a:p>
            <a:pPr algn="l">
              <a:lnSpc>
                <a:spcPct val="100000"/>
              </a:lnSpc>
              <a:spcAft>
                <a:spcPts val="0"/>
              </a:spcAft>
              <a:defRPr sz="1400">
                <a:latin typeface="Consolas"/>
              </a:defRPr>
            </a:pPr>
            <a:r>
              <a:rPr sz="1400" b="1">
                <a:solidFill>
                  <a:srgbClr val="0E7C86"/>
                </a:solidFill>
                <a:latin typeface="Consolas"/>
              </a:rPr>
              <a:t>  delay(1000);</a:t>
            </a:r>
          </a:p>
          <a:p>
            <a:pPr algn="l">
              <a:lnSpc>
                <a:spcPct val="100000"/>
              </a:lnSpc>
              <a:spcAft>
                <a:spcPts val="0"/>
              </a:spcAft>
              <a:defRPr sz="1400">
                <a:latin typeface="Consolas"/>
              </a:defRPr>
            </a:pPr>
            <a:r>
              <a:rPr sz="1400">
                <a:solidFill>
                  <a:srgbClr val="222222"/>
                </a:solidFill>
                <a:latin typeface="Consolas"/>
              </a:rPr>
              <a:t>  ...</a:t>
            </a:r>
          </a:p>
          <a:p>
            <a:pPr algn="l">
              <a:lnSpc>
                <a:spcPct val="100000"/>
              </a:lnSpc>
              <a:spcAft>
                <a:spcPts val="0"/>
              </a:spcAft>
              <a:defRPr sz="1400">
                <a:latin typeface="Consolas"/>
              </a:defRPr>
            </a:pPr>
            <a:r>
              <a:rPr sz="1400">
                <a:solidFill>
                  <a:srgbClr val="222222"/>
                </a:solidFill>
                <a:latin typeface="Consolas"/>
              </a:rPr>
              <a:t>}</a:t>
            </a:r>
          </a:p>
        </p:txBody>
      </p:sp>
      <p:sp>
        <p:nvSpPr>
          <p:cNvPr id="8" name="TextBox 7"/>
          <p:cNvSpPr txBox="1"/>
          <p:nvPr/>
        </p:nvSpPr>
        <p:spPr>
          <a:xfrm>
            <a:off x="7870048" y="1517904"/>
            <a:ext cx="3818727" cy="4745736"/>
          </a:xfrm>
          <a:prstGeom prst="rect">
            <a:avLst/>
          </a:prstGeom>
          <a:noFill/>
        </p:spPr>
        <p:txBody>
          <a:bodyPr wrap="square" lIns="0" tIns="0" rIns="0" bIns="0">
            <a:spAutoFit/>
          </a:bodyPr>
          <a:lstStyle/>
          <a:p>
            <a:pPr algn="l">
              <a:lnSpc>
                <a:spcPct val="100000"/>
              </a:lnSpc>
              <a:spcAft>
                <a:spcPts val="700"/>
              </a:spcAft>
              <a:defRPr sz="2000" b="0">
                <a:solidFill>
                  <a:srgbClr val="222222"/>
                </a:solidFill>
                <a:latin typeface="Calibri"/>
              </a:defRPr>
            </a:pPr>
            <a:r>
              <a:rPr sz="2000" b="0">
                <a:solidFill>
                  <a:srgbClr val="222222"/>
                </a:solidFill>
                <a:latin typeface="Calibri"/>
              </a:rPr>
              <a:t>#include pulls in the library.</a:t>
            </a:r>
          </a:p>
          <a:p>
            <a:pPr algn="l">
              <a:lnSpc>
                <a:spcPct val="100000"/>
              </a:lnSpc>
              <a:spcAft>
                <a:spcPts val="700"/>
              </a:spcAft>
              <a:defRPr sz="2000" b="0">
                <a:solidFill>
                  <a:srgbClr val="222222"/>
                </a:solidFill>
                <a:latin typeface="Calibri"/>
              </a:defRPr>
            </a:pPr>
            <a:r>
              <a:rPr sz="2000" b="0">
                <a:solidFill>
                  <a:srgbClr val="222222"/>
                </a:solidFill>
                <a:latin typeface="Calibri"/>
              </a:rPr>
              <a:t>NEO_GRB says these LEDs want their color data green first. NEO_KHZ800 is the speed it is clocked out at. Both are correct for the WS2812B parts we use.</a:t>
            </a:r>
          </a:p>
          <a:p>
            <a:pPr algn="l">
              <a:lnSpc>
                <a:spcPct val="100000"/>
              </a:lnSpc>
              <a:spcAft>
                <a:spcPts val="700"/>
              </a:spcAft>
              <a:defRPr sz="2000" b="0">
                <a:solidFill>
                  <a:srgbClr val="222222"/>
                </a:solidFill>
                <a:latin typeface="Calibri"/>
              </a:defRPr>
            </a:pPr>
            <a:r>
              <a:rPr sz="2000" b="0">
                <a:solidFill>
                  <a:srgbClr val="222222"/>
                </a:solidFill>
                <a:latin typeface="Calibri"/>
              </a:rPr>
              <a:t>strip.begin() wakes the strip up. Always needed.</a:t>
            </a:r>
          </a:p>
          <a:p>
            <a:pPr algn="l">
              <a:lnSpc>
                <a:spcPct val="100000"/>
              </a:lnSpc>
              <a:spcAft>
                <a:spcPts val="700"/>
              </a:spcAft>
              <a:defRPr sz="2000" b="0">
                <a:solidFill>
                  <a:srgbClr val="222222"/>
                </a:solidFill>
                <a:latin typeface="Calibri"/>
              </a:defRPr>
            </a:pPr>
            <a:r>
              <a:rPr sz="2000" b="0">
                <a:solidFill>
                  <a:srgbClr val="222222"/>
                </a:solidFill>
                <a:latin typeface="Calibri"/>
              </a:rPr>
              <a:t>Color(red, green, blue), each 0 to 255.</a:t>
            </a:r>
          </a:p>
          <a:p>
            <a:pPr algn="l">
              <a:lnSpc>
                <a:spcPct val="100000"/>
              </a:lnSpc>
              <a:spcAft>
                <a:spcPts val="700"/>
              </a:spcAft>
              <a:defRPr sz="2000" b="0">
                <a:solidFill>
                  <a:srgbClr val="222222"/>
                </a:solidFill>
                <a:latin typeface="Calibri"/>
              </a:defRPr>
            </a:pPr>
            <a:r>
              <a:rPr sz="2000" b="0">
                <a:solidFill>
                  <a:srgbClr val="222222"/>
                </a:solidFill>
                <a:latin typeface="Calibri"/>
              </a:rPr>
              <a:t>show() is what actually sends it.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Do it now  -  light one pixel</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48</a:t>
            </a:r>
          </a:p>
        </p:txBody>
      </p:sp>
      <p:sp>
        <p:nvSpPr>
          <p:cNvPr id="6" name="Rounded Rectangle 5"/>
          <p:cNvSpPr/>
          <p:nvPr/>
        </p:nvSpPr>
        <p:spPr>
          <a:xfrm>
            <a:off x="502920" y="1188720"/>
            <a:ext cx="11185855" cy="530352"/>
          </a:xfrm>
          <a:prstGeom prst="roundRect">
            <a:avLst>
              <a:gd name="adj" fmla="val 4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300" b="1">
                <a:solidFill>
                  <a:srgbClr val="FFFFFF"/>
                </a:solidFill>
                <a:latin typeface="Calibri"/>
              </a:rPr>
              <a:t>UPLOAD AND RUN:   </a:t>
            </a:r>
            <a:r>
              <a:rPr sz="1500" b="1">
                <a:solidFill>
                  <a:srgbClr val="FFFFFF"/>
                </a:solidFill>
                <a:latin typeface="Consolas"/>
              </a:rPr>
              <a:t>l1c_first_pixel</a:t>
            </a:r>
            <a:r>
              <a:rPr sz="1200">
                <a:solidFill>
                  <a:srgbClr val="FFFFFF"/>
                </a:solidFill>
                <a:latin typeface="Calibri"/>
              </a:rPr>
              <a:t>     (15 minutes)</a:t>
            </a:r>
          </a:p>
        </p:txBody>
      </p:sp>
      <p:sp>
        <p:nvSpPr>
          <p:cNvPr id="7" name="TextBox 6"/>
          <p:cNvSpPr txBox="1"/>
          <p:nvPr/>
        </p:nvSpPr>
        <p:spPr>
          <a:xfrm>
            <a:off x="502920" y="1901952"/>
            <a:ext cx="6249137" cy="4361688"/>
          </a:xfrm>
          <a:prstGeom prst="rect">
            <a:avLst/>
          </a:prstGeom>
          <a:noFill/>
        </p:spPr>
        <p:txBody>
          <a:bodyPr wrap="square" lIns="0" tIns="0" rIns="0" bIns="0">
            <a:spAutoFit/>
          </a:bodyPr>
          <a:lstStyle/>
          <a:p>
            <a:pPr algn="l">
              <a:lnSpc>
                <a:spcPct val="100000"/>
              </a:lnSpc>
              <a:spcAft>
                <a:spcPts val="800"/>
              </a:spcAft>
              <a:defRPr sz="2000" b="0">
                <a:solidFill>
                  <a:srgbClr val="222222"/>
                </a:solidFill>
                <a:latin typeface="Calibri"/>
              </a:defRPr>
            </a:pPr>
            <a:r>
              <a:rPr sz="2000" b="0">
                <a:solidFill>
                  <a:srgbClr val="222222"/>
                </a:solidFill>
                <a:latin typeface="Calibri"/>
              </a:rPr>
              <a:t>1.  Upload it and find which physical LED comes on.</a:t>
            </a:r>
          </a:p>
          <a:p>
            <a:pPr algn="l">
              <a:lnSpc>
                <a:spcPct val="100000"/>
              </a:lnSpc>
              <a:spcAft>
                <a:spcPts val="800"/>
              </a:spcAft>
              <a:defRPr sz="2000" b="0">
                <a:solidFill>
                  <a:srgbClr val="222222"/>
                </a:solidFill>
                <a:latin typeface="Calibri"/>
              </a:defRPr>
            </a:pPr>
            <a:r>
              <a:rPr sz="2000" b="0">
                <a:solidFill>
                  <a:srgbClr val="222222"/>
                </a:solidFill>
                <a:latin typeface="Calibri"/>
              </a:rPr>
              <a:t>2.  Change WHICH_LED to 15, then 16, then 31, uploading each time.</a:t>
            </a:r>
          </a:p>
          <a:p>
            <a:pPr algn="l">
              <a:lnSpc>
                <a:spcPct val="100000"/>
              </a:lnSpc>
              <a:spcAft>
                <a:spcPts val="800"/>
              </a:spcAft>
              <a:defRPr sz="2000" b="0">
                <a:solidFill>
                  <a:srgbClr val="222222"/>
                </a:solidFill>
                <a:latin typeface="Calibri"/>
              </a:defRPr>
            </a:pPr>
            <a:r>
              <a:rPr sz="2000" b="0">
                <a:solidFill>
                  <a:srgbClr val="222222"/>
                </a:solidFill>
                <a:latin typeface="Calibri"/>
              </a:rPr>
              <a:t>3.  Draw the vehicle on paper and mark where LEDs 0, 8, 15, 16, 24 and 31 are. Keep that drawing - you need it in Lesson 4.</a:t>
            </a:r>
          </a:p>
          <a:p>
            <a:pPr algn="l">
              <a:lnSpc>
                <a:spcPct val="100000"/>
              </a:lnSpc>
              <a:spcAft>
                <a:spcPts val="800"/>
              </a:spcAft>
              <a:defRPr sz="2000" b="0">
                <a:solidFill>
                  <a:srgbClr val="222222"/>
                </a:solidFill>
                <a:latin typeface="Calibri"/>
              </a:defRPr>
            </a:pPr>
            <a:r>
              <a:rPr sz="2000" b="0">
                <a:solidFill>
                  <a:srgbClr val="222222"/>
                </a:solidFill>
                <a:latin typeface="Calibri"/>
              </a:rPr>
              <a:t>4.  Invent a color with strip.Color(r, g, b). What do you get from (255, 255, 0)? From (128, 0, 128)?</a:t>
            </a:r>
          </a:p>
          <a:p>
            <a:pPr algn="l">
              <a:lnSpc>
                <a:spcPct val="100000"/>
              </a:lnSpc>
              <a:spcAft>
                <a:spcPts val="800"/>
              </a:spcAft>
              <a:defRPr sz="2000" b="0">
                <a:solidFill>
                  <a:srgbClr val="222222"/>
                </a:solidFill>
                <a:latin typeface="Calibri"/>
              </a:defRPr>
            </a:pPr>
            <a:r>
              <a:rPr sz="2000" b="0">
                <a:solidFill>
                  <a:srgbClr val="222222"/>
                </a:solidFill>
                <a:latin typeface="Calibri"/>
              </a:rPr>
              <a:t>5.  Delete the strip.show() line and upload. What happens?</a:t>
            </a:r>
          </a:p>
        </p:txBody>
      </p:sp>
      <p:sp>
        <p:nvSpPr>
          <p:cNvPr id="8" name="TextBox 7"/>
          <p:cNvSpPr txBox="1"/>
          <p:nvPr/>
        </p:nvSpPr>
        <p:spPr>
          <a:xfrm>
            <a:off x="7163537" y="1901952"/>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What you should see</a:t>
            </a:r>
          </a:p>
        </p:txBody>
      </p:sp>
      <p:sp>
        <p:nvSpPr>
          <p:cNvPr id="9" name="TextBox 8"/>
          <p:cNvSpPr txBox="1"/>
          <p:nvPr/>
        </p:nvSpPr>
        <p:spPr>
          <a:xfrm>
            <a:off x="7163537" y="2304288"/>
            <a:ext cx="4525238" cy="1161288"/>
          </a:xfrm>
          <a:prstGeom prst="rect">
            <a:avLst/>
          </a:prstGeom>
          <a:noFill/>
        </p:spPr>
        <p:txBody>
          <a:bodyPr wrap="square" lIns="0" tIns="0" rIns="0" bIns="0">
            <a:spAutoFit/>
          </a:bodyPr>
          <a:lstStyle/>
          <a:p>
            <a:pPr algn="l">
              <a:lnSpc>
                <a:spcPct val="100000"/>
              </a:lnSpc>
              <a:spcAft>
                <a:spcPts val="600"/>
              </a:spcAft>
              <a:defRPr sz="3000" b="0">
                <a:solidFill>
                  <a:srgbClr val="222222"/>
                </a:solidFill>
                <a:latin typeface="Calibri"/>
              </a:defRPr>
            </a:pPr>
            <a:r>
              <a:rPr sz="3000" b="0">
                <a:solidFill>
                  <a:srgbClr val="222222"/>
                </a:solidFill>
                <a:latin typeface="Calibri"/>
              </a:rPr>
              <a:t>One LED cycling red, green, blue, white, off.</a:t>
            </a:r>
          </a:p>
        </p:txBody>
      </p:sp>
      <p:sp>
        <p:nvSpPr>
          <p:cNvPr id="10" name="TextBox 9"/>
          <p:cNvSpPr txBox="1"/>
          <p:nvPr/>
        </p:nvSpPr>
        <p:spPr>
          <a:xfrm>
            <a:off x="7163537" y="3538728"/>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Answer these</a:t>
            </a:r>
          </a:p>
        </p:txBody>
      </p:sp>
      <p:sp>
        <p:nvSpPr>
          <p:cNvPr id="11" name="TextBox 10"/>
          <p:cNvSpPr txBox="1"/>
          <p:nvPr/>
        </p:nvSpPr>
        <p:spPr>
          <a:xfrm>
            <a:off x="7163537" y="3941064"/>
            <a:ext cx="4525238" cy="2322576"/>
          </a:xfrm>
          <a:prstGeom prst="rect">
            <a:avLst/>
          </a:prstGeom>
          <a:noFill/>
        </p:spPr>
        <p:txBody>
          <a:bodyPr wrap="square" lIns="0" tIns="0" rIns="0" bIns="0">
            <a:spAutoFit/>
          </a:bodyPr>
          <a:lstStyle/>
          <a:p>
            <a:pPr algn="l">
              <a:lnSpc>
                <a:spcPct val="100000"/>
              </a:lnSpc>
              <a:spcAft>
                <a:spcPts val="600"/>
              </a:spcAft>
              <a:defRPr sz="2900" b="0">
                <a:solidFill>
                  <a:srgbClr val="222222"/>
                </a:solidFill>
                <a:latin typeface="Calibri"/>
              </a:defRPr>
            </a:pPr>
            <a:r>
              <a:rPr sz="2900" b="0">
                <a:solidFill>
                  <a:srgbClr val="222222"/>
                </a:solidFill>
                <a:latin typeface="Calibri"/>
              </a:rPr>
              <a:t>Where is LED 0 on the vehicle? Where is LED 31?</a:t>
            </a:r>
          </a:p>
          <a:p>
            <a:pPr algn="l">
              <a:lnSpc>
                <a:spcPct val="100000"/>
              </a:lnSpc>
              <a:spcAft>
                <a:spcPts val="600"/>
              </a:spcAft>
              <a:defRPr sz="2900" b="0">
                <a:solidFill>
                  <a:srgbClr val="222222"/>
                </a:solidFill>
                <a:latin typeface="Calibri"/>
              </a:defRPr>
            </a:pPr>
            <a:r>
              <a:rPr sz="2900" b="0">
                <a:solidFill>
                  <a:srgbClr val="222222"/>
                </a:solidFill>
                <a:latin typeface="Calibri"/>
              </a:rPr>
              <a:t>With show() deleted, why does nothing happen?</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Check yourself</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49</a:t>
            </a:r>
          </a:p>
        </p:txBody>
      </p:sp>
      <p:sp>
        <p:nvSpPr>
          <p:cNvPr id="6" name="TextBox 5"/>
          <p:cNvSpPr txBox="1"/>
          <p:nvPr/>
        </p:nvSpPr>
        <p:spPr>
          <a:xfrm>
            <a:off x="502920" y="1188720"/>
            <a:ext cx="11185855" cy="411480"/>
          </a:xfrm>
          <a:prstGeom prst="rect">
            <a:avLst/>
          </a:prstGeom>
          <a:noFill/>
        </p:spPr>
        <p:txBody>
          <a:bodyPr wrap="square" lIns="0" tIns="0" rIns="0" bIns="0">
            <a:spAutoFit/>
          </a:bodyPr>
          <a:lstStyle/>
          <a:p>
            <a:pPr algn="l">
              <a:lnSpc>
                <a:spcPct val="100000"/>
              </a:lnSpc>
              <a:spcAft>
                <a:spcPts val="600"/>
              </a:spcAft>
              <a:defRPr sz="1600" b="0">
                <a:solidFill>
                  <a:srgbClr val="666666"/>
                </a:solidFill>
                <a:latin typeface="Calibri"/>
              </a:defRPr>
            </a:pPr>
            <a:r>
              <a:rPr sz="1600" b="0">
                <a:solidFill>
                  <a:srgbClr val="666666"/>
                </a:solidFill>
                <a:latin typeface="Calibri"/>
              </a:rPr>
              <a:t>Next lesson: motors. Bring the drawing you made of the LED numbers.</a:t>
            </a:r>
          </a:p>
        </p:txBody>
      </p:sp>
      <p:sp>
        <p:nvSpPr>
          <p:cNvPr id="7" name="TextBox 6"/>
          <p:cNvSpPr txBox="1"/>
          <p:nvPr/>
        </p:nvSpPr>
        <p:spPr>
          <a:xfrm>
            <a:off x="502920" y="1664208"/>
            <a:ext cx="11185855" cy="4599432"/>
          </a:xfrm>
          <a:prstGeom prst="rect">
            <a:avLst/>
          </a:prstGeom>
          <a:noFill/>
        </p:spPr>
        <p:txBody>
          <a:bodyPr wrap="square" lIns="0" tIns="0" rIns="0" bIns="0">
            <a:spAutoFit/>
          </a:bodyPr>
          <a:lstStyle/>
          <a:p>
            <a:pPr algn="l">
              <a:lnSpc>
                <a:spcPct val="100000"/>
              </a:lnSpc>
              <a:spcAft>
                <a:spcPts val="1100"/>
              </a:spcAft>
              <a:defRPr sz="2300" b="0">
                <a:solidFill>
                  <a:srgbClr val="222222"/>
                </a:solidFill>
                <a:latin typeface="Calibri"/>
              </a:defRPr>
            </a:pPr>
            <a:r>
              <a:rPr sz="2300" b="0">
                <a:solidFill>
                  <a:srgbClr val="222222"/>
                </a:solidFill>
                <a:latin typeface="Calibri"/>
              </a:rPr>
              <a:t>1.  Name the three parts of an Arduino program, and say how many times each one runs.</a:t>
            </a:r>
          </a:p>
          <a:p>
            <a:pPr algn="l">
              <a:lnSpc>
                <a:spcPct val="100000"/>
              </a:lnSpc>
              <a:spcAft>
                <a:spcPts val="1100"/>
              </a:spcAft>
              <a:defRPr sz="2300" b="0">
                <a:solidFill>
                  <a:srgbClr val="222222"/>
                </a:solidFill>
                <a:latin typeface="Calibri"/>
              </a:defRPr>
            </a:pPr>
            <a:r>
              <a:rPr sz="2300" b="0">
                <a:solidFill>
                  <a:srgbClr val="222222"/>
                </a:solidFill>
                <a:latin typeface="Calibri"/>
              </a:rPr>
              <a:t>2.  What does pinMode(LED_PIN, OUTPUT) do, and what happens if you leave it out?</a:t>
            </a:r>
          </a:p>
          <a:p>
            <a:pPr algn="l">
              <a:lnSpc>
                <a:spcPct val="100000"/>
              </a:lnSpc>
              <a:spcAft>
                <a:spcPts val="1100"/>
              </a:spcAft>
              <a:defRPr sz="2300" b="0">
                <a:solidFill>
                  <a:srgbClr val="222222"/>
                </a:solidFill>
                <a:latin typeface="Calibri"/>
              </a:defRPr>
            </a:pPr>
            <a:r>
              <a:rPr sz="2300" b="0">
                <a:solidFill>
                  <a:srgbClr val="222222"/>
                </a:solidFill>
                <a:latin typeface="Calibri"/>
              </a:rPr>
              <a:t>3.  Your Serial Monitor shows rows of strange characters. What is almost certainly wrong?</a:t>
            </a:r>
          </a:p>
          <a:p>
            <a:pPr algn="l">
              <a:lnSpc>
                <a:spcPct val="100000"/>
              </a:lnSpc>
              <a:spcAft>
                <a:spcPts val="1100"/>
              </a:spcAft>
              <a:defRPr sz="2300" b="0">
                <a:solidFill>
                  <a:srgbClr val="222222"/>
                </a:solidFill>
                <a:latin typeface="Calibri"/>
              </a:defRPr>
            </a:pPr>
            <a:r>
              <a:rPr sz="2300" b="0">
                <a:solidFill>
                  <a:srgbClr val="222222"/>
                </a:solidFill>
                <a:latin typeface="Calibri"/>
              </a:rPr>
              <a:t>4.  What does 7 / 2 evaluate to in C++? What about 7.0 / 2?</a:t>
            </a:r>
          </a:p>
          <a:p>
            <a:pPr algn="l">
              <a:lnSpc>
                <a:spcPct val="100000"/>
              </a:lnSpc>
              <a:spcAft>
                <a:spcPts val="1100"/>
              </a:spcAft>
              <a:defRPr sz="2300" b="0">
                <a:solidFill>
                  <a:srgbClr val="222222"/>
                </a:solidFill>
                <a:latin typeface="Calibri"/>
              </a:defRPr>
            </a:pPr>
            <a:r>
              <a:rPr sz="2300" b="0">
                <a:solidFill>
                  <a:srgbClr val="222222"/>
                </a:solidFill>
                <a:latin typeface="Calibri"/>
              </a:rPr>
              <a:t>5.  All 32 LEDs share one data wire. How does LED number 20 know that a message is for it?</a:t>
            </a:r>
          </a:p>
          <a:p>
            <a:pPr algn="l">
              <a:lnSpc>
                <a:spcPct val="100000"/>
              </a:lnSpc>
              <a:spcAft>
                <a:spcPts val="1100"/>
              </a:spcAft>
              <a:defRPr sz="2300" b="0">
                <a:solidFill>
                  <a:srgbClr val="222222"/>
                </a:solidFill>
                <a:latin typeface="Calibri"/>
              </a:defRPr>
            </a:pPr>
            <a:r>
              <a:rPr sz="2300" b="0">
                <a:solidFill>
                  <a:srgbClr val="222222"/>
                </a:solidFill>
                <a:latin typeface="Calibri"/>
              </a:rPr>
              <a:t>6.  You call setPixelColor() and nothing lights up. What did you forget?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