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Where we have been, where we are, what is left.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down, three to go.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One to go, and it is the one with the lights.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Circumference and pi, for wheel travel</a:t>
            </a:r>
          </a:p>
          <a:p>
            <a:pPr algn="l">
              <a:lnSpc>
                <a:spcPct val="100000"/>
              </a:lnSpc>
              <a:spcAft>
                <a:spcPts val="800"/>
              </a:spcAft>
              <a:defRPr sz="2100" b="0">
                <a:solidFill>
                  <a:srgbClr val="222222"/>
                </a:solidFill>
                <a:latin typeface="Calibri"/>
              </a:defRPr>
            </a:pPr>
            <a:r>
              <a:rPr sz="2100" b="0">
                <a:solidFill>
                  <a:srgbClr val="222222"/>
                </a:solidFill>
                <a:latin typeface="Calibri"/>
              </a:rPr>
              <a:t>Distance = speed x time, for maneuvers</a:t>
            </a:r>
          </a:p>
          <a:p>
            <a:pPr algn="l">
              <a:lnSpc>
                <a:spcPct val="100000"/>
              </a:lnSpc>
              <a:spcAft>
                <a:spcPts val="800"/>
              </a:spcAft>
              <a:defRPr sz="2100" b="0">
                <a:solidFill>
                  <a:srgbClr val="222222"/>
                </a:solidFill>
                <a:latin typeface="Calibri"/>
              </a:defRPr>
            </a:pPr>
            <a:r>
              <a:rPr sz="2100" b="0">
                <a:solidFill>
                  <a:srgbClr val="222222"/>
                </a:solidFill>
                <a:latin typeface="Calibri"/>
              </a:rPr>
              <a:t>Ratios and percentages, for duty cycle</a:t>
            </a:r>
          </a:p>
          <a:p>
            <a:pPr algn="l">
              <a:lnSpc>
                <a:spcPct val="100000"/>
              </a:lnSpc>
              <a:spcAft>
                <a:spcPts val="800"/>
              </a:spcAft>
              <a:defRPr sz="2100" b="0">
                <a:solidFill>
                  <a:srgbClr val="222222"/>
                </a:solidFill>
                <a:latin typeface="Calibri"/>
              </a:defRPr>
            </a:pPr>
            <a:r>
              <a:rPr sz="2100" b="0">
                <a:solidFill>
                  <a:srgbClr val="222222"/>
                </a:solidFill>
                <a:latin typeface="Calibri"/>
              </a:rPr>
              <a:t>Linear mapping, stick reading to speed</a:t>
            </a:r>
          </a:p>
          <a:p>
            <a:pPr algn="l">
              <a:lnSpc>
                <a:spcPct val="100000"/>
              </a:lnSpc>
              <a:spcAft>
                <a:spcPts val="800"/>
              </a:spcAft>
              <a:defRPr sz="2100" b="0">
                <a:solidFill>
                  <a:srgbClr val="222222"/>
                </a:solidFill>
                <a:latin typeface="Calibri"/>
              </a:defRPr>
            </a:pPr>
            <a:r>
              <a:rPr sz="2100" b="0">
                <a:solidFill>
                  <a:srgbClr val="222222"/>
                </a:solidFill>
                <a:latin typeface="Calibri"/>
              </a:rPr>
              <a:t>Ohm's law and power, for the LED budget</a:t>
            </a:r>
          </a:p>
          <a:p>
            <a:pPr algn="l">
              <a:lnSpc>
                <a:spcPct val="100000"/>
              </a:lnSpc>
              <a:spcAft>
                <a:spcPts val="800"/>
              </a:spcAft>
              <a:defRPr sz="2100" b="0">
                <a:solidFill>
                  <a:srgbClr val="222222"/>
                </a:solidFill>
                <a:latin typeface="Calibri"/>
              </a:defRPr>
            </a:pPr>
            <a:r>
              <a:rPr sz="2100" b="0">
                <a:solidFill>
                  <a:srgbClr val="222222"/>
                </a:solidFill>
                <a:latin typeface="Calibri"/>
              </a:rPr>
              <a:t>Wavelength and color, for the lighting</a:t>
            </a:r>
          </a:p>
          <a:p>
            <a:pPr algn="l">
              <a:lnSpc>
                <a:spcPct val="100000"/>
              </a:lnSpc>
              <a:spcAft>
                <a:spcPts val="800"/>
              </a:spcAft>
              <a:defRPr sz="2100" b="0">
                <a:solidFill>
                  <a:srgbClr val="222222"/>
                </a:solidFill>
                <a:latin typeface="Calibri"/>
              </a:defRPr>
            </a:pPr>
            <a:r>
              <a:rPr sz="2100" b="0">
                <a:solidFill>
                  <a:srgbClr val="222222"/>
                </a:solidFill>
                <a:latin typeface="Calibri"/>
              </a:rPr>
              <a:t>Trigonometry, to plot where you end up</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Most of the fleet.</a:t>
            </a:r>
          </a:p>
          <a:p>
            <a:pPr algn="l">
              <a:lnSpc>
                <a:spcPct val="100000"/>
              </a:lnSpc>
              <a:spcAft>
                <a:spcPts val="800"/>
              </a:spcAft>
              <a:defRPr sz="2000" b="0">
                <a:solidFill>
                  <a:srgbClr val="222222"/>
                </a:solidFill>
                <a:latin typeface="Calibri"/>
              </a:defRPr>
            </a:pPr>
            <a:r>
              <a:rPr sz="2000" b="0">
                <a:solidFill>
                  <a:srgbClr val="222222"/>
                </a:solidFill>
                <a:latin typeface="Calibri"/>
              </a:rPr>
              <a:t>ESP32, four DRV8871 H-bridges, 32 LEDs, four servo outputs.</a:t>
            </a:r>
          </a:p>
          <a:p>
            <a:pPr algn="l">
              <a:lnSpc>
                <a:spcPct val="100000"/>
              </a:lnSpc>
              <a:spcAft>
                <a:spcPts val="800"/>
              </a:spcAft>
              <a:defRPr sz="2000" b="0">
                <a:solidFill>
                  <a:srgbClr val="222222"/>
                </a:solidFill>
                <a:latin typeface="Calibri"/>
              </a:defRPr>
            </a:pPr>
            <a:r>
              <a:rPr sz="2000" b="0">
                <a:solidFill>
                  <a:srgbClr val="222222"/>
                </a:solidFill>
                <a:latin typeface="Calibri"/>
              </a:rPr>
              <a:t>No current sensor.</a:t>
            </a:r>
          </a:p>
          <a:p>
            <a:pPr algn="l">
              <a:lnSpc>
                <a:spcPct val="100000"/>
              </a:lnSpc>
              <a:spcAft>
                <a:spcPts val="800"/>
              </a:spcAft>
              <a:defRPr sz="2000" b="0">
                <a:solidFill>
                  <a:srgbClr val="222222"/>
                </a:solidFill>
                <a:latin typeface="Calibri"/>
              </a:defRPr>
            </a:pPr>
            <a:r>
              <a:rPr sz="2000" b="0">
                <a:solidFill>
                  <a:srgbClr val="222222"/>
                </a:solidFill>
                <a:latin typeface="Calibri"/>
              </a:rPr>
              <a:t>Everything in this course works on it.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UNIBODY frame: one piece, with the board, battery and wiring inside it rather than on top.</a:t>
            </a:r>
          </a:p>
          <a:p>
            <a:pPr algn="l">
              <a:lnSpc>
                <a:spcPct val="100000"/>
              </a:lnSpc>
              <a:spcAft>
                <a:spcPts val="800"/>
              </a:spcAft>
              <a:defRPr sz="1900" b="0">
                <a:solidFill>
                  <a:srgbClr val="222222"/>
                </a:solidFill>
                <a:latin typeface="Calibri"/>
              </a:defRPr>
            </a:pPr>
            <a:r>
              <a:rPr sz="1900" b="0">
                <a:solidFill>
                  <a:srgbClr val="222222"/>
                </a:solidFill>
                <a:latin typeface="Calibri"/>
              </a:rPr>
              <a:t>Wheels at the vehicle's VERTICAL CENTER, so it drives just as well upside down.</a:t>
            </a:r>
          </a:p>
          <a:p>
            <a:pPr algn="l">
              <a:lnSpc>
                <a:spcPct val="100000"/>
              </a:lnSpc>
              <a:spcAft>
                <a:spcPts val="800"/>
              </a:spcAft>
              <a:defRPr sz="1900" b="0">
                <a:solidFill>
                  <a:srgbClr val="222222"/>
                </a:solidFill>
                <a:latin typeface="Calibri"/>
              </a:defRPr>
            </a:pPr>
            <a:r>
              <a:rPr sz="1900" b="0">
                <a:solidFill>
                  <a:srgbClr val="222222"/>
                </a:solidFill>
                <a:latin typeface="Calibri"/>
              </a:rPr>
              <a:t>A clear lexan TOP PLATE to mount sensors on.</a:t>
            </a:r>
          </a:p>
          <a:p>
            <a:pPr algn="l">
              <a:lnSpc>
                <a:spcPct val="100000"/>
              </a:lnSpc>
              <a:spcAft>
                <a:spcPts val="800"/>
              </a:spcAft>
              <a:defRPr sz="1900" b="0">
                <a:solidFill>
                  <a:srgbClr val="222222"/>
                </a:solidFill>
                <a:latin typeface="Calibri"/>
              </a:defRPr>
            </a:pPr>
            <a:r>
              <a:rPr sz="19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4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4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healthy motor spikes as it breaks away, then settles.</a:t>
            </a:r>
          </a:p>
          <a:p>
            <a:pPr algn="l">
              <a:lnSpc>
                <a:spcPct val="100000"/>
              </a:lnSpc>
              <a:spcAft>
                <a:spcPts val="800"/>
              </a:spcAft>
              <a:defRPr sz="1800" b="0">
                <a:solidFill>
                  <a:srgbClr val="222222"/>
                </a:solidFill>
                <a:latin typeface="Calibri"/>
              </a:defRPr>
            </a:pPr>
            <a:r>
              <a:rPr sz="1800" b="0">
                <a:solidFill>
                  <a:srgbClr val="222222"/>
                </a:solidFill>
                <a:latin typeface="Calibri"/>
              </a:rPr>
              <a:t>A disconnected motor draws almost nothing.</a:t>
            </a:r>
          </a:p>
          <a:p>
            <a:pPr algn="l">
              <a:lnSpc>
                <a:spcPct val="100000"/>
              </a:lnSpc>
              <a:spcAft>
                <a:spcPts val="800"/>
              </a:spcAft>
              <a:defRPr sz="1800" b="0">
                <a:solidFill>
                  <a:srgbClr val="222222"/>
                </a:solidFill>
                <a:latin typeface="Calibri"/>
              </a:defRPr>
            </a:pPr>
            <a:r>
              <a:rPr sz="1800" b="0">
                <a:solidFill>
                  <a:srgbClr val="222222"/>
                </a:solidFill>
                <a:latin typeface="Calibri"/>
              </a:rPr>
              <a:t>A jammed motor draws a lot, and keeps drawing it.</a:t>
            </a:r>
          </a:p>
          <a:p>
            <a:pPr algn="l">
              <a:lnSpc>
                <a:spcPct val="100000"/>
              </a:lnSpc>
              <a:spcAft>
                <a:spcPts val="800"/>
              </a:spcAft>
              <a:defRPr sz="1800" b="0">
                <a:solidFill>
                  <a:srgbClr val="222222"/>
                </a:solidFill>
                <a:latin typeface="Calibri"/>
              </a:defRPr>
            </a:pPr>
            <a:r>
              <a:rPr sz="18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PS3 Controller Host</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 + PS3 Controller Host</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pathfinder_ps3</a:t>
                      </a:r>
                    </a:p>
                  </a:txBody>
                  <a:tcPr marL="73152" marT="18288" marB="18288">
                    <a:solidFill>
                      <a:srgbClr val="EEF3F8"/>
                    </a:solidFill>
                  </a:tcPr>
                </a:tc>
                <a:tc>
                  <a:txBody>
                    <a:bodyPr/>
                    <a:lstStyle/>
                    <a:p>
                      <a:r>
                        <a:rPr sz="1150">
                          <a:solidFill>
                            <a:srgbClr val="222222"/>
                          </a:solidFill>
                          <a:latin typeface="Calibri"/>
                        </a:rPr>
                        <a:t>Adafruit NeoPixel + PS3 Controller Host</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