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Start the clock here. Three hours, two ten-minute breaks, and by the end every group has uploaded three programs.</a:t>
            </a:r>
          </a:p>
          <a:p>
            <a:r>
              <a:rPr sz="1200">
                <a:latin typeface="Calibri"/>
              </a:rPr>
              <a:t>Introduce yourself and get their names. Ask who has written any code before - the answer shapes how fast you can go through the IDE section.</a:t>
            </a:r>
          </a:p>
          <a:p>
            <a:r>
              <a:rPr sz="1200">
                <a:latin typeface="Calibri"/>
              </a:rPr>
              <a:t>Have the vehicles out on the desks already, switched off. People settle faster when there is something in front of them.</a:t>
            </a:r>
          </a:p>
          <a:p>
            <a:r>
              <a:rPr sz="1200">
                <a:latin typeface="Calibri"/>
              </a:rPr>
              <a:t>Say what today is NOT: nothing drives today. Motors are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Read these out. It takes forty seconds and it tells the room what success looks like.</a:t>
            </a:r>
          </a:p>
          <a:p>
            <a:r>
              <a:rPr sz="1200">
                <a:latin typeface="Calibri"/>
              </a:rPr>
              <a:t>Come back to this slide in the last five minutes and ask them to score themselves against it. Anything nobody can do is what you open with next lesson.</a:t>
            </a:r>
          </a:p>
          <a:p>
            <a:r>
              <a:rPr sz="1200">
                <a:latin typeface="Calibri"/>
              </a:rPr>
              <a:t>Objective four - saying why the resistor is there - is the one that separates following instructions from understanding. Watch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tone of the whole course is set in the next two minutes. Interruptions are wanted, not tolerated.</a:t>
            </a:r>
          </a:p>
          <a:p>
            <a:r>
              <a:rPr sz="1200">
                <a:latin typeface="Calibri"/>
              </a:rPr>
              <a:t>Groups of three: one driving the laptop, one reading the slide out, one on the vehicle. Tell them to swap roles every activity, and mean it.</a:t>
            </a:r>
          </a:p>
          <a:p>
            <a:r>
              <a:rPr sz="1200">
                <a:latin typeface="Calibri"/>
              </a:rPr>
              <a:t>The last bullet is the important one. Say it slowly. Students who think a misbehaving vehicle means they are bad at this will give up in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One line each, no more. This is a map, not a syllabus.</a:t>
            </a:r>
          </a:p>
          <a:p>
            <a:r>
              <a:rPr sz="1200">
                <a:latin typeface="Calibri"/>
              </a:rPr>
              <a:t>Point at Lesson 5 and say that the program they end on is the same one that leaves the factory on a finished vehicle. That lands.</a:t>
            </a:r>
          </a:p>
          <a:p>
            <a:r>
              <a:rPr sz="1200">
                <a:latin typeface="Calibri"/>
              </a:rPr>
              <a:t>If somebody asks about the advanced course, hold it - it is on the last slide of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Put the two break times on the whiteboard as well. People relax when they know when the next one is.</a:t>
            </a:r>
          </a:p>
          <a:p>
            <a:r>
              <a:rPr sz="1200">
                <a:latin typeface="Calibri"/>
              </a:rPr>
              <a:t>The timings are a guide. The IDE install is the one that runs over; if it does, take it out of the Serial Monitor section, not out of the blink activity.</a:t>
            </a:r>
          </a:p>
          <a:p>
            <a:r>
              <a:rPr sz="1200">
                <a:latin typeface="Calibri"/>
              </a:rPr>
              <a:t>If the whole room is installed and ready early, go straight to the breadboards. Never fill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 word MECHATRONICS said out loud by somebody other than you.</a:t>
            </a:r>
          </a:p>
          <a:p>
            <a:r>
              <a:rPr sz="1200">
                <a:latin typeface="Calibri"/>
              </a:rPr>
              <a:t>The figure narrows from all of engineering down to what is on the desk. Walk it inwards with a finger.</a:t>
            </a:r>
          </a:p>
          <a:p>
            <a:r>
              <a:rPr sz="1200">
                <a:latin typeface="Calibri"/>
              </a:rPr>
              <a:t>Ask for three mechatronic things in the room. Printer, car, washing machine, lift, and the vehicle in front of them all count.</a:t>
            </a:r>
          </a:p>
          <a:p>
            <a:r>
              <a:rPr sz="1200">
                <a:latin typeface="Calibri"/>
              </a:rPr>
              <a:t>Do not get drawn into a definitions argument. The point is that the three disciplines are one job, not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to point at when somebody asks why they are doing maths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to point at when somebody asks why they are doing maths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vehicle round while you talk over this slide. Let them pick it up - it is built to be handled.</a:t>
            </a:r>
          </a:p>
          <a:p>
            <a:r>
              <a:rPr sz="1200">
                <a:latin typeface="Calibri"/>
              </a:rPr>
              <a:t>Point out that BOTH pictures are the same vehicle running the same hardware. The only difference is which LEDs the program lit.</a:t>
            </a:r>
          </a:p>
          <a:p>
            <a:r>
              <a:rPr sz="1200">
                <a:latin typeface="Calibri"/>
              </a:rPr>
              <a:t>That is the through-line of the whole course: the hardware is fixed, and everything interesting comes from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Name each part while holding a vehicle, then put the labelled picture up on the next slide and let them match the two.</a:t>
            </a:r>
          </a:p>
          <a:p>
            <a:r>
              <a:rPr sz="1200">
                <a:latin typeface="Calibri"/>
              </a:rPr>
              <a:t>The tank-steering point is the one to land. Everything in Lesson 2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a minute to find each part on a real vehicle.</a:t>
            </a:r>
          </a:p>
          <a:p>
            <a:r>
              <a:rPr sz="1200">
                <a:latin typeface="Calibri"/>
              </a:rPr>
              <a:t>Worth pointing out the two LED bars are 16 each, front and rear - that becomes important in Lesson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same vehicle as the photograph before it, drawn flat so you can see what is under the battery.</a:t>
            </a:r>
          </a:p>
          <a:p>
            <a:r>
              <a:rPr sz="1200">
                <a:latin typeface="Calibri"/>
              </a:rPr>
              <a:t>The four corners each carry a turn signal, a headlight or brights at the front, and a tail light and backup light at the rear. That naming comes back in Lesson 4 when they light them.</a:t>
            </a:r>
          </a:p>
          <a:p>
            <a:r>
              <a:rPr sz="1200">
                <a:latin typeface="Calibri"/>
              </a:rPr>
              <a:t>Get them to find the power switch and the 16 V socket on a real vehicle before moving on.</a:t>
            </a:r>
          </a:p>
          <a:p>
            <a:r>
              <a:rPr sz="1200">
                <a:latin typeface="Calibri"/>
              </a:rPr>
              <a:t>Note there are FOUR motor drive connectors, numbered 1 to 4, and the numbering is not the order you would guess. Lesson 2 has the pin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top plate is not a lid. It is the development area, and it is why this vehicle can grow.</a:t>
            </a:r>
          </a:p>
          <a:p>
            <a:r>
              <a:rPr sz="1200">
                <a:latin typeface="Calibri"/>
              </a:rPr>
              <a:t>The cutout gives you access to the ESP32 pins without taking anything apart. That is where the breadboard circuit later in this lesson connects.</a:t>
            </a:r>
          </a:p>
          <a:p>
            <a:r>
              <a:rPr sz="1200">
                <a:latin typeface="Calibri"/>
              </a:rPr>
              <a:t>Everything in the advanced course - the range finder, the extra sensors - lands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Gen 3 round if you have one. The unibody frame is obvious the moment somebody picks it up.</a:t>
            </a:r>
          </a:p>
          <a:p>
            <a:r>
              <a:rPr sz="1200">
                <a:latin typeface="Calibri"/>
              </a:rPr>
              <a:t>The upside-down trick is the one they will remember. If you have a Gen 3 to hand, do it live rather than showing a picture.</a:t>
            </a:r>
          </a:p>
          <a:p>
            <a:r>
              <a:rPr sz="1200">
                <a:latin typeface="Calibri"/>
              </a:rPr>
              <a:t>The placeholder is a photograph we still owe this deck. Until it arrives, demonstrate it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reference page, not a teaching slide. Point at it and tell them where to find it again.</a:t>
            </a:r>
          </a:p>
          <a:p>
            <a:r>
              <a:rPr sz="1200">
                <a:latin typeface="Calibri"/>
              </a:rPr>
              <a:t>The full ESP32 has 38 pins. These are the ones wired to something on this board, which is the only list they need.</a:t>
            </a:r>
          </a:p>
          <a:p>
            <a:r>
              <a:rPr sz="1200">
                <a:latin typeface="Calibri"/>
              </a:rPr>
              <a:t>The motor pin numbers come straight out of the sketch, so the slide cannot disagree with the file.</a:t>
            </a:r>
          </a:p>
          <a:p>
            <a:r>
              <a:rPr sz="1200">
                <a:latin typeface="Calibri"/>
              </a:rPr>
              <a:t>The two facts worth saying out loud: GPIO 34 to 39 are INPUT ONLY and have no internal pull-up, and GPIO 0 is the BOOT button, so holding it down at reset does something special.</a:t>
            </a:r>
          </a:p>
          <a:p>
            <a:r>
              <a:rPr sz="1200">
                <a:latin typeface="Calibri"/>
              </a:rPr>
              <a:t>Worth printing and taping inside the lid of the parts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contrast with a laptop is what makes this land. Most of them have never used a machine that runs exactly one program.</a:t>
            </a:r>
          </a:p>
          <a:p>
            <a:r>
              <a:rPr sz="1200">
                <a:latin typeface="Calibri"/>
              </a:rPr>
              <a:t>Nothing interrupts you, and nothing rescues you either. That sentence is the whole slide.</a:t>
            </a:r>
          </a:p>
          <a:p>
            <a:r>
              <a:rPr sz="1200">
                <a:latin typeface="Calibri"/>
              </a:rPr>
              <a:t>This sets up two later ideas: why the Serial Monitor matters (there is no error window) and why delay() is fatal (nothing else is running).</a:t>
            </a:r>
          </a:p>
          <a:p>
            <a:r>
              <a:rPr sz="1200">
                <a:latin typeface="Calibri"/>
              </a:rPr>
              <a:t>If somebody asks about the second core: yes, it has one, and no, we do not use it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 two-machine point explicitly. A surprising number of students assume the laptop is still driving the vehicle.</a:t>
            </a:r>
          </a:p>
          <a:p>
            <a:r>
              <a:rPr sz="1200">
                <a:latin typeface="Calibri"/>
              </a:rPr>
              <a:t>Once a program is uploaded it stays in flash. Unplug the cable, switch the vehicle on tomorrow, and it runs the same program.</a:t>
            </a:r>
          </a:p>
          <a:p>
            <a:r>
              <a:rPr sz="1200">
                <a:latin typeface="Calibri"/>
              </a:rPr>
              <a:t>The left photograph is a vehicle being worked on in the field, which is where this kit is actually used.</a:t>
            </a:r>
          </a:p>
          <a:p>
            <a:r>
              <a:rPr sz="1200">
                <a:latin typeface="Calibri"/>
              </a:rPr>
              <a:t>Point at the ESP32 on a real vehicle before moving on. It is smaller than most people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next thirty-five minutes are the least fun part of the whole course. Say so, and promise them something blinking at the end of it.</a:t>
            </a:r>
          </a:p>
          <a:p>
            <a:r>
              <a:rPr sz="1200">
                <a:latin typeface="Calibri"/>
              </a:rPr>
              <a:t>Get the fast finishers helping their neighbours rather than sitting idle.</a:t>
            </a:r>
          </a:p>
          <a:p>
            <a:r>
              <a:rPr sz="1200">
                <a:latin typeface="Calibri"/>
              </a:rPr>
              <a:t>Have a spare laptop set up and working, so a machine that will not cooperate never blocks a whole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one step at a time with the room, not as a slide to read.</a:t>
            </a:r>
          </a:p>
          <a:p>
            <a:r>
              <a:rPr sz="1200">
                <a:latin typeface="Calibri"/>
              </a:rPr>
              <a:t>Anybody on a school-managed laptop may need an administrator. Find that out now rather than at the upload step.</a:t>
            </a:r>
          </a:p>
          <a:p>
            <a:r>
              <a:rPr sz="1200">
                <a:latin typeface="Calibri"/>
              </a:rPr>
              <a:t>The download is large. Start it, then talk over the top of it - do not watch a progress bar with thirty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Continuation of the same step - keep the room together rather than letting the fast groups run ahead.</a:t>
            </a:r>
          </a:p>
          <a:p>
            <a:r>
              <a:rPr sz="1200">
                <a:latin typeface="Calibri"/>
              </a:rPr>
              <a:t>The version number matters. A different version is the cause of most compile errors that make no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Continuation of the same step - keep the room together rather than letting the fast groups run ahead.</a:t>
            </a:r>
          </a:p>
          <a:p>
            <a:r>
              <a:rPr sz="1200">
                <a:latin typeface="Calibri"/>
              </a:rPr>
              <a:t>The version number matters. A different version is the cause of most compile errors that make no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menus, and both are easy to get wrong. Walk round and check every screen before anybody tries to upload.</a:t>
            </a:r>
          </a:p>
          <a:p>
            <a:r>
              <a:rPr sz="1200">
                <a:latin typeface="Calibri"/>
              </a:rPr>
              <a:t>The charge-only cable is the single most common failure in this room. Have two known-good cables in your pocket.</a:t>
            </a:r>
          </a:p>
          <a:p>
            <a:r>
              <a:rPr sz="1200">
                <a:latin typeface="Calibri"/>
              </a:rPr>
              <a:t>If no port appears: is the vehicle switched on? Is it the right cable? In that order, every time.</a:t>
            </a:r>
          </a:p>
          <a:p>
            <a:r>
              <a:rPr sz="1200">
                <a:latin typeface="Calibri"/>
              </a:rPr>
              <a:t>On Windows a missing driver can also do it. That is a CP210x or CH340 install, and it is worth having the file on a memory stick.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Define LIBRARY properly here. It is the first time the word has meant anything to most of the room.</a:t>
            </a:r>
          </a:p>
          <a:p>
            <a:r>
              <a:rPr sz="1200">
                <a:latin typeface="Calibri"/>
              </a:rPr>
              <a:t>Both libraries go in now, even though nothing needs them until Lesson 4. Doing it once saves a whole class of upload failures later.</a:t>
            </a:r>
          </a:p>
          <a:p>
            <a:r>
              <a:rPr sz="1200">
                <a:latin typeface="Calibri"/>
              </a:rPr>
              <a:t>Watch the search box. The display name is not always what you would guess, which is exactly what the note on the slide 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reference page. Tell students to photograph it.</a:t>
            </a:r>
          </a:p>
          <a:p>
            <a:r>
              <a:rPr sz="1200">
                <a:latin typeface="Calibri"/>
              </a:rPr>
              <a:t>Worth saying out loud: the board package is not a library. The board package teaches the IDE what an ESP32 is; a library is code your program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From here on they are building rather than installing. The energy in the room should go up.</a:t>
            </a:r>
          </a:p>
          <a:p>
            <a:r>
              <a:rPr sz="1200">
                <a:latin typeface="Calibri"/>
              </a:rPr>
              <a:t>Hand out the breadboards, LEDs, resistors and jumper wires now, one set per group, while you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this shape up for the whole course. Every program they ever open has these three parts, and knowing which part a line lives in tells you WHEN it runs.</a:t>
            </a:r>
          </a:p>
          <a:p>
            <a:r>
              <a:rPr sz="1200">
                <a:latin typeface="Calibri"/>
              </a:rPr>
              <a:t>Ask before you explain: which of these three runs more than once? Let somebody get it wrong first - the answer sticks better.</a:t>
            </a:r>
          </a:p>
          <a:p>
            <a:r>
              <a:rPr sz="1200">
                <a:latin typeface="Calibri"/>
              </a:rPr>
              <a:t>The first part has no keyword in C++. It is just the top of the file. Naming it anyway gives them somewhere to file #includes and constants.</a:t>
            </a:r>
          </a:p>
          <a:p>
            <a:r>
              <a:rPr sz="1200">
                <a:latin typeface="Calibri"/>
              </a:rPr>
              <a:t>Common misunderstanding: students think setup() runs every time round. Say plainly that it runs once, at power-up, and never again until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up the three parts as you name them.</a:t>
            </a:r>
          </a:p>
          <a:p>
            <a:r>
              <a:rPr sz="1200">
                <a:latin typeface="Calibri"/>
              </a:rPr>
              <a:t>If anyone asks why the resistor: tell them to wait ninety seconds, it is the next slide but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them to look down into the holes. The metal clips are visible.</a:t>
            </a:r>
          </a:p>
          <a:p>
            <a:r>
              <a:rPr sz="1200">
                <a:latin typeface="Calibri"/>
              </a:rPr>
              <a:t>The row-of-five rule is the single fact that makes breadboards make sense. Say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Trace the loop with a finger: out of the pin, through the resistor, through the LED, back to ground. A circuit that is not a loop does nothing.</a:t>
            </a:r>
          </a:p>
          <a:p>
            <a:r>
              <a:rPr sz="1200">
                <a:latin typeface="Calibri"/>
              </a:rPr>
              <a:t>Ask what the resistor is for BEFORE you say. The answer is that the LED will take as much current as you let it, and then stop being an LED.</a:t>
            </a:r>
          </a:p>
          <a:p>
            <a:r>
              <a:rPr sz="1200">
                <a:latin typeface="Calibri"/>
              </a:rPr>
              <a:t>The long leg is the anode and goes towards the pin. Backwards means no light and no damage, so let them find out.</a:t>
            </a:r>
          </a:p>
          <a:p>
            <a:r>
              <a:rPr sz="1200">
                <a:latin typeface="Calibri"/>
              </a:rPr>
              <a:t>Ground is not optional. Half the circuits that do not work are missing the return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Circulate. The two failures you will see are the LED in backwards and legs in different rows so nothing is connected.</a:t>
            </a:r>
          </a:p>
          <a:p>
            <a:r>
              <a:rPr sz="1200">
                <a:latin typeface="Calibri"/>
              </a:rPr>
              <a:t>Nobody uploads anything until their circuit is built and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step that turns a circuit into a computer-controlled circuit. Make the distinction explicit.</a:t>
            </a:r>
          </a:p>
          <a:p>
            <a:r>
              <a:rPr sz="1200">
                <a:latin typeface="Calibri"/>
              </a:rPr>
              <a:t>Point at the top-plate cutout on a real vehicle and show them where the two wires go.</a:t>
            </a:r>
          </a:p>
          <a:p>
            <a:r>
              <a:rPr sz="1200">
                <a:latin typeface="Calibri"/>
              </a:rPr>
              <a:t>The 12 milliamp figure is worth saying: it is why an LED is fine straight off a pin and a motor never is. That is what the H-bridge in Lesson 2 is for.</a:t>
            </a:r>
          </a:p>
          <a:p>
            <a:r>
              <a:rPr sz="1200">
                <a:latin typeface="Calibri"/>
              </a:rPr>
              <a:t>The photograph here is still to be taken. Until it arrives, wire one up on the desk and hold it where people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Fourteen lines, and every one of them is worth a sentence. This is the first program they read, so read it properly.</a:t>
            </a:r>
          </a:p>
          <a:p>
            <a:r>
              <a:rPr sz="1200">
                <a:latin typeface="Calibri"/>
              </a:rPr>
              <a:t>Ask which lines are initialisation, which are setup, which are loop, and point back to the three-part diagram.</a:t>
            </a:r>
          </a:p>
          <a:p>
            <a:r>
              <a:rPr sz="1200">
                <a:latin typeface="Calibri"/>
              </a:rPr>
              <a:t>Ask what happens when loop() reaches the bottom. The answer - it starts again immediately - is not obvious to everybody.</a:t>
            </a:r>
          </a:p>
          <a:p>
            <a:r>
              <a:rPr sz="1200">
                <a:latin typeface="Calibri"/>
              </a:rPr>
              <a:t>Flag the two delay() calls. Tell them these come out in Lesson 5 and that there is a good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Where we have been, where we are, what is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Circuits checked before anybody uploads. Say it once, then enforce it.</a:t>
            </a:r>
          </a:p>
          <a:p>
            <a:r>
              <a:rPr sz="1200">
                <a:latin typeface="Calibri"/>
              </a:rPr>
              <a:t>Steps 1 to 4 are following instructions. Steps 5 and 6 are the actual lesson - do not let a group stop at step 4.</a:t>
            </a:r>
          </a:p>
          <a:p>
            <a:r>
              <a:rPr sz="1200">
                <a:latin typeface="Calibri"/>
              </a:rPr>
              <a:t>The deleted-delay question is the good one. It still blinks, at about half a second on and no time off, so it looks permanently lit.</a:t>
            </a:r>
          </a:p>
          <a:p>
            <a:r>
              <a:rPr sz="1200">
                <a:latin typeface="Calibri"/>
              </a:rPr>
              <a:t>The red-LED question needs Ohm's law, which they have not had yet. Take answers, do not resolve it, and promise it for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Circuits checked before anybody uploads. Say it once, then enforce it.</a:t>
            </a:r>
          </a:p>
          <a:p>
            <a:r>
              <a:rPr sz="1200">
                <a:latin typeface="Calibri"/>
              </a:rPr>
              <a:t>Steps 1 to 4 are following instructions. Steps 5 and 6 are the actual lesson - do not let a group stop at step 4.</a:t>
            </a:r>
          </a:p>
          <a:p>
            <a:r>
              <a:rPr sz="1200">
                <a:latin typeface="Calibri"/>
              </a:rPr>
              <a:t>The deleted-delay question is the good one. It still blinks, at about half a second on and no time off, so it looks permanently lit.</a:t>
            </a:r>
          </a:p>
          <a:p>
            <a:r>
              <a:rPr sz="1200">
                <a:latin typeface="Calibri"/>
              </a:rPr>
              <a:t>The red-LED question needs Ohm's law, which they have not had yet. Take answers, do not resolve it, and promise it for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Frame this as giving the vehicle a voice. It is the only way it can tell them anything.</a:t>
            </a:r>
          </a:p>
          <a:p>
            <a:r>
              <a:rPr sz="1200">
                <a:latin typeface="Calibri"/>
              </a:rPr>
              <a:t>Twenty-five minutes, and most of it should be them 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baud rate mismatch is the thing that will happen to somebody in the next ten minutes. Show them the nonsense characters deliberately so they recognise it.</a:t>
            </a:r>
          </a:p>
          <a:p>
            <a:r>
              <a:rPr sz="1200">
                <a:latin typeface="Calibri"/>
              </a:rPr>
              <a:t>print versus println is worth ten seconds with a marker on the board.</a:t>
            </a:r>
          </a:p>
          <a:p>
            <a:r>
              <a:rPr sz="1200">
                <a:latin typeface="Calibri"/>
              </a:rPr>
              <a:t>The last bullet is the debugging habit the whole course rests on: print the numbers, do not stare at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baud rate mismatch is the thing that will happen to somebody in the next ten minutes. Show them the nonsense characters deliberately so they recognise it.</a:t>
            </a:r>
          </a:p>
          <a:p>
            <a:r>
              <a:rPr sz="1200">
                <a:latin typeface="Calibri"/>
              </a:rPr>
              <a:t>print versus println is worth ten seconds with a marker on the board.</a:t>
            </a:r>
          </a:p>
          <a:p>
            <a:r>
              <a:rPr sz="1200">
                <a:latin typeface="Calibri"/>
              </a:rPr>
              <a:t>The last bullet is the debugging habit the whole course rests on: print the numbers, do not stare at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lecture types. Read the table, then get them to tell you which type they would use for a battery voltage and which for a pin number.</a:t>
            </a:r>
          </a:p>
          <a:p>
            <a:r>
              <a:rPr sz="1200">
                <a:latin typeface="Calibri"/>
              </a:rPr>
              <a:t>unsigned long is on the table now purely so it is not a surprise in Lesson 5. Say that and move on.</a:t>
            </a:r>
          </a:p>
          <a:p>
            <a:r>
              <a:rPr sz="1200">
                <a:latin typeface="Calibri"/>
              </a:rPr>
              <a:t>The const point is worth making twice: it is not about the computer, it is about stopping YOU from changing a setting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them predict all three answers before you reveal anything.</a:t>
            </a:r>
          </a:p>
          <a:p>
            <a:r>
              <a:rPr sz="1200">
                <a:latin typeface="Calibri"/>
              </a:rPr>
              <a:t>The 7 / 2 result is genuinely surprising, and being surprised is the point. It does not round - it throws the remainder away.</a:t>
            </a:r>
          </a:p>
          <a:p>
            <a:r>
              <a:rPr sz="1200">
                <a:latin typeface="Calibri"/>
              </a:rPr>
              <a:t>This exact trap turns up in Lesson 2 when a speed calculation comes out as zero. Tell them now, so they remember it then.</a:t>
            </a:r>
          </a:p>
          <a:p>
            <a:r>
              <a:rPr sz="1200">
                <a:latin typeface="Calibri"/>
              </a:rPr>
              <a:t>The % operator is new to most. One example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down, three to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one that matters: predict, then check. Do not let anybody upload before writing down what they expect.</a:t>
            </a:r>
          </a:p>
          <a:p>
            <a:r>
              <a:rPr sz="1200">
                <a:latin typeface="Calibri"/>
              </a:rPr>
              <a:t>The reset button is on the ESP32 itself and is marked EN. Show them where before they hunt for it.</a:t>
            </a:r>
          </a:p>
          <a:p>
            <a:r>
              <a:rPr sz="1200">
                <a:latin typeface="Calibri"/>
              </a:rPr>
              <a:t>millis() / 1000 gives seconds since power-up. That is the first time millis() appears, and it is deliberate groundwork for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Last twenty minutes. This is the one they will tell people about.</a:t>
            </a:r>
          </a:p>
          <a:p>
            <a:r>
              <a:rPr sz="1200">
                <a:latin typeface="Calibri"/>
              </a:rPr>
              <a:t>Have a vehicle switched on and connected to your laptop, ready to demonstrate if a group is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chain idea is the whole slide: each LED keeps the first message and passes the rest along.</a:t>
            </a:r>
          </a:p>
          <a:p>
            <a:r>
              <a:rPr sz="1200">
                <a:latin typeface="Calibri"/>
              </a:rPr>
              <a:t>That is why one wire drives thirty-two lights, and why they are numbered in the order the data flows rather than in any tidy order.</a:t>
            </a:r>
          </a:p>
          <a:p>
            <a:r>
              <a:rPr sz="1200">
                <a:latin typeface="Calibri"/>
              </a:rPr>
              <a:t>Say the show() rule now and say it again during the activity. It is the single most common NeoPixel mistake and it looks exactly like broken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One to go, and it is the one with the 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3 - the paper drawing - is homework for Lesson 4. Make sure every group actually does it and keeps it.</a:t>
            </a:r>
          </a:p>
          <a:p>
            <a:r>
              <a:rPr sz="1200">
                <a:latin typeface="Calibri"/>
              </a:rPr>
              <a:t>Walk round with the LED numbers in your head: 0 to 15 is one bar, 16 to 31 is the other. Do not just tell them - let them find it.</a:t>
            </a:r>
          </a:p>
          <a:p>
            <a:r>
              <a:rPr sz="1200">
                <a:latin typeface="Calibri"/>
              </a:rPr>
              <a:t>(255, 255, 0) is yellow and (128, 0, 128) is a dim purple. Let them predict first.</a:t>
            </a:r>
          </a:p>
          <a:p>
            <a:r>
              <a:rPr sz="1200">
                <a:latin typeface="Calibri"/>
              </a:rPr>
              <a:t>Deleting show() is a deliberate failure. Make everybody do it, so the symptom is familiar before it happens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Slow down here. This is the page that stops somebody getting hurt next lesson.</a:t>
            </a:r>
          </a:p>
          <a:p>
            <a:r>
              <a:rPr sz="1200">
                <a:latin typeface="Calibri"/>
              </a:rPr>
              <a:t>Show them a real pack, and show them the swelling you are describing. Words alone do not do it.</a:t>
            </a:r>
          </a:p>
          <a:p>
            <a:r>
              <a:rPr sz="1200">
                <a:latin typeface="Calibri"/>
              </a:rPr>
              <a:t>Wheels off the ground is the rule they will be tempted to break in Lesson 2. Make it a habit today, while nothing moves.</a:t>
            </a:r>
          </a:p>
          <a:p>
            <a:r>
              <a:rPr sz="1200">
                <a:latin typeface="Calibri"/>
              </a:rPr>
              <a:t>Ask each group to find their power switch now and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as a conversation, not a test. Ask the room, take a wrong answer first, then get to the right one.</a:t>
            </a:r>
          </a:p>
          <a:p>
            <a:r>
              <a:rPr sz="1200">
                <a:latin typeface="Calibri"/>
              </a:rPr>
              <a:t>Answers, in order: initialisation once at the top / setup once at power-up / loop forever; pinMode makes the pin an output, and without it digitalWrite does nothing; the baud rate does not match Serial.begin; 7 / 2 is 3 and 7.0 / 2 is 3.5; the data is passed down the chain and each LED keeps the first message it sees; you forgot strip.show().</a:t>
            </a:r>
          </a:p>
          <a:p>
            <a:r>
              <a:rPr sz="1200">
                <a:latin typeface="Calibri"/>
              </a:rPr>
              <a:t>Remind them to bring the LED drawing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with-ps3-control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Say what mechatronics is, and point to three parts of the Pathfinder that are mechanical, electrical and software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Set up the Arduino IDE, the board package and the libraries, and get the course files into your Arduino folder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Name the three parts of every Arduino program and say when each runs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Build a working LED circuit on a breadboard, and say why the resistor is there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Upload a program to the vehicle and change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Read what the vehicle prints back on the Serial Monitor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7.   Light any one of the 32 LEDs, in any colour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lesson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10858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88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0881" y="5084064"/>
            <a:ext cx="39042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158" y="1810512"/>
            <a:ext cx="4901184" cy="3675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Turn signal running on one side...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...and on the other. Same 32 LEDs, different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top plate with a breadboard area, for the sensors you add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part, called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vehicle-parts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Keep this page open for the rest of the lesson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board, from above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board carries the computer, the four motor drivers, the servo outputs and the LED connectors. The battery sits in the middle of it.</a:t>
            </a:r>
          </a:p>
        </p:txBody>
      </p:sp>
      <p:pic>
        <p:nvPicPr>
          <p:cNvPr id="7" name="Picture 6" descr="vehicle-basic-layo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863" y="2267712"/>
            <a:ext cx="6785968" cy="3264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Every connector, and which lights sit at which corner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top plate is where your own work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vehicle-dev-system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cutout for the ESP32 pins, and clear space for a breadboard, sensors and servos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UNIBODY frame. The structure is one piece, and the board, battery and wiring sit inside it rather than on top, so nothing catches on anything when the vehicle rolls.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wheels are mounted at the vehicle's VERTICAL CENTRE, so it drives just as well upside down. Flip it over and keep going.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Gen 2 and Gen 3  -  which vehicle are you holding?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clear lexan TOP PLATE: somewhere to mount sensors, and you can see the electronics working underneath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INA219 power monitor, so the vehicle can measure its own battery voltage and current draw - which is what makes a powered self-test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3, in two pictures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two things that make a Gen 3 different are easiest to show rather than describe.</a:t>
            </a:r>
          </a:p>
        </p:txBody>
      </p:sp>
      <p:pic>
        <p:nvPicPr>
          <p:cNvPr id="7" name="Picture 6" descr="vehicle-gen3-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Looking down through the lexan top plate: board, battery, and the four motors inside the frame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810512"/>
            <a:ext cx="5410047" cy="3675888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a Gen 3 driving upside down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Wheels are at the vehicle's vertical centre, so it runs either way up. Taken from floor level, mid-drive.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Flip it over and it keeps going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PS3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ESP32 pins this vehicle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3611880" cy="475488"/>
          </a:xfrm>
          <a:prstGeom prst="rect">
            <a:avLst/>
          </a:prstGeom>
          <a:solidFill>
            <a:srgbClr val="FAE6C8"/>
          </a:solidFill>
          <a:ln w="1905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MOTORS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left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18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22 /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16 / 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pins each: drive one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forward, the other for reverse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325880"/>
            <a:ext cx="3611880" cy="475488"/>
          </a:xfrm>
          <a:prstGeom prst="rect">
            <a:avLst/>
          </a:prstGeom>
          <a:solidFill>
            <a:srgbClr val="D6ECEE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LIGHTS AND SERVOS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NeoPixels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/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25 / 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/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27 /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538728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data wire drives all 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3849624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LEDs, in one chain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38744" y="1325880"/>
            <a:ext cx="3611880" cy="475488"/>
          </a:xfrm>
          <a:prstGeom prst="rect">
            <a:avLst/>
          </a:prstGeom>
          <a:solidFill>
            <a:srgbClr val="E8ECF0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EVERYTHING ELSE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I2C  SDA / SCL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99064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32 / 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BOOT button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99064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Self-test jumper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9064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 LED, Lesson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34 to 39 are INPUT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and have no pull-ups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number on this page is read out of the sketches when the deck is built, so it cannot drift away from the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development system is two machines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program is written and compiled on a laptop, then sent down a USB cable into the ESP32, where it runs on its own with the laptop unplugged.</a:t>
            </a:r>
          </a:p>
        </p:txBody>
      </p:sp>
      <p:pic>
        <p:nvPicPr>
          <p:cNvPr id="7" name="Picture 6" descr="vehicle-and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1" y="1810512"/>
            <a:ext cx="3316224" cy="2487168"/>
          </a:xfrm>
          <a:prstGeom prst="rect">
            <a:avLst/>
          </a:prstGeom>
        </p:spPr>
      </p:pic>
      <p:pic>
        <p:nvPicPr>
          <p:cNvPr id="8" name="Picture 7" descr="vehicle-top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991" y="1810512"/>
            <a:ext cx="3111519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laptop compiles. The vehicle runs.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ESP32 sits on the control board, under the top plate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That is the whole toolchain: edit here, compile here, upload there, run there. Everything in the next half hour is setting up the first two.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install will not go through, pair up with a neighbour and carry on - you lose nothing today. Note down the error and we will sort the machine out afterwards.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Tools &gt; Board &gt; Boards Manager.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Search for "esp32".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"esp32 by Espressif Systems".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 the version box choose 3.0.7 - NOT the latest.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Click Install and wait. It is a large download.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Tools &gt; Board &gt; ESP32 Arduino &gt; "ESP32 Dev Module".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  by Espressif Systems,  version 3.0.7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Version 3.0.7 specifically. Newer versions changed the way PWM is set up, and every motor program on this track uses the 3.0.7 spelling.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 Arduino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"PS3 Controller Host" by Jeffrey van Pernis  -  talks to the controller.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Searching Library Manager for "Ps3Controller" finds nothing. The display name is the longer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in this course, and what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Install both libraries now and you are set for all five lessons.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363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4026907"/>
                <a:gridCol w="6040361"/>
              </a:tblGrid>
              <a:tr h="25876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Sketch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Libraries beyond the board package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l2a_one_motor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l2b_speed_ramp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l2c_maneuver_square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l3a_controller_check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l4a / l4b / l4c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l5a / l5b /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 + 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pathfinder_ps3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 + PS3 Controller Host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a sketch will not compile, check this table before you change any code. A missing library is by far the most common cause.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Thumb drive or email, into your Arduino folder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sketches arrive on a thumb drive, or as a zip in an email. They have to end up in the right folder or the IDE will not find them.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sketch folders into  Documents\\Arduino\\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library folders into  Documents\\Arduino\\libraries\\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sketch folders into  Documents/Arduino/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library folders into  Documents/Arduino/libraries/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they came as .zip files, UNZIP them first - except a library you are adding through Sketch &gt; Include Library &gt; Add .ZIP Library, which wants the zip as it is.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restart the Arduino IDE. It only looks for sketches and libraries when it 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One folder per sketch, and the folder name must match the .ino inside it. l1a_blink/l1a_blink.ino. The IDE will refuse to open a sketch whose folder is named differently.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INITIALIZATION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top of the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setup() runs ONCE, at power-up.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OVER AND OVER,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ESP32 has no LED we can use, so you are going to give it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Your first 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Some development boards have a little LED soldered on. The module on this vehicle does not have one free for us, so your first program will blink an LED you wire up yourself.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a better place to start anyway. Before you can make something blink, you have to make a circuit that works - and a circuit is the thing underneath everything else on this vehicle.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need three things from the kit: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LED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220 ohm resistor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breadboard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 lets you build a circuit without soldering, and take it apart again.</a:t>
            </a:r>
          </a:p>
        </p:txBody>
      </p:sp>
      <p:pic>
        <p:nvPicPr>
          <p:cNvPr id="7" name="Picture 6" descr="breadboard-parts-n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p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Terminal strips down the middle, power rails along the edges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220 ohm resistor and an LED. Note the LED has one leg longer.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five holes in a row are joined to each other under the plastic. That is the whole trick: push two legs into the same row and they are connected.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circuit you are about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169164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08660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1560" y="406908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156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" y="1399032"/>
            <a:ext cx="1828800" cy="585216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GPIO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3776472"/>
            <a:ext cx="1737360" cy="585216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380744"/>
            <a:ext cx="19202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220 ohm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350008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long leg 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27832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short leg  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89120"/>
            <a:ext cx="6035040" cy="9255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Current goes round ONE loop. The resistor may sit on either side of the LED - what matters is that it is in the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280160"/>
            <a:ext cx="374903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220 ohms?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737360"/>
            <a:ext cx="3749039" cy="150876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R = (supply - LED drop) /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(3.3 - 2.0) / 0.020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65 ohms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383280"/>
            <a:ext cx="3749039" cy="2091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220 ohms is in the kit, and is a good choice: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(3.3 - 2.0) / 220 = about 6 mA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Dimmer than flat out, and easy to see.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No resistor means one bright flash and a dead LED. An ESP32 pin should not be asked for more than about 20 mA, so erring high is the right way to err.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Building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Bend the resistor legs, push everything into the board, and connect GPIO 2 and GND with the two jumper wires.</a:t>
            </a:r>
          </a:p>
        </p:txBody>
      </p:sp>
      <p:pic>
        <p:nvPicPr>
          <p:cNvPr id="7" name="Picture 6" descr="breadboard-step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Both legs in the SAME row, so they are joined. Leads on, ready for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Lit. These photographs use a 9 V battery; yours runs from GPIO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Long leg of the LED towards the resistor and GPIO 2. Short leg towards ground. Backwards means no light, no damage - just turn it round.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Powering it from the vehicle, not from a battery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898319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battery lights an LED. The ESP32 lets a PROGRAM light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wires, through the top plate cutout: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GPIO 2  -&gt;  the resistor's row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GND     -&gt;  the row with the LED's SHORT leg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pin supplies about 12 mA safely. Plenty for one LED through 220 ohms, and the reason you never drive a motor off a pin.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999" y="1188720"/>
            <a:ext cx="4921776" cy="3291840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our own breadboard wired to GPIO 2 and GND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Same circuit as the previous slide, powered from the vehicle through the top-plate cutout, LED 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999" y="4535424"/>
            <a:ext cx="4921776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What yours should look like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Any GND pin will do - there are several, and they are all the same wire inside the board.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   // the pin your LED is wired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 - move your LED to another pin and only this line changes.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your 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LED, on the breadboard, one second on and one second off.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Nothing at all means the LED is in backwards, or a leg is in the wrong 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resistor would a RED LED need? It drops about 1.8 V instead of 2.0 V.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Talking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lesson.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