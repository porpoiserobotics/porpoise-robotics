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vehicle round while you talk over this slide. Let them pick it up - it is built to be handled.</a:t>
            </a:r>
          </a:p>
          <a:p>
            <a:r>
              <a:rPr sz="1200">
                <a:latin typeface="Calibri"/>
              </a:rPr>
              <a:t>Point out that BOTH pictures are the same vehicle running the same hardware. The only difference is which LEDs the program lit.</a:t>
            </a:r>
          </a:p>
          <a:p>
            <a:r>
              <a:rPr sz="1200">
                <a:latin typeface="Calibri"/>
              </a:rPr>
              <a:t>That is the through-line of the whole course: the hardware is fixed, and everything interesting comes from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Name each part while holding a vehicle, then put the labelled picture up on the next slide and let them match the two.</a:t>
            </a:r>
          </a:p>
          <a:p>
            <a:r>
              <a:rPr sz="1200">
                <a:latin typeface="Calibri"/>
              </a:rPr>
              <a:t>The tank-steering point is the one to land. Everything in Lesson 2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a minute to find each part on a real vehicle.</a:t>
            </a:r>
          </a:p>
          <a:p>
            <a:r>
              <a:rPr sz="1200">
                <a:latin typeface="Calibri"/>
              </a:rPr>
              <a:t>Worth pointing out the two LED bars are 16 each, front and rear - that becomes important in Lesson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reference page. Tell students to photograph it.</a:t>
            </a:r>
          </a:p>
          <a:p>
            <a:r>
              <a:rPr sz="1200">
                <a:latin typeface="Calibri"/>
              </a:rPr>
              <a:t>Worth saying out loud: the board package is not a library. The board package teaches the IDE what an ESP32 is; a library is code your program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up the three parts as you name them.</a:t>
            </a:r>
          </a:p>
          <a:p>
            <a:r>
              <a:rPr sz="1200">
                <a:latin typeface="Calibri"/>
              </a:rPr>
              <a:t>If anyone asks why the resistor: tell them to wait ninety seconds, it is the next slide but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them to look down into the holes. The metal clips are visible.</a:t>
            </a:r>
          </a:p>
          <a:p>
            <a:r>
              <a:rPr sz="1200">
                <a:latin typeface="Calibri"/>
              </a:rPr>
              <a:t>The row-of-five rule is the single fact that makes breadboards make sense. Say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Circulate. The two failures you will see are the LED in backwards and legs in different rows so nothing is connected.</a:t>
            </a:r>
          </a:p>
          <a:p>
            <a:r>
              <a:rPr sz="1200">
                <a:latin typeface="Calibri"/>
              </a:rPr>
              <a:t>Nobody uploads anything until their circuit is built and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with-ps3-controll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Say what mechatronics is, and point to three parts of the Pathfinder that are mechanical, electrical and software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Set up the Arduino IDE, the board package and the libraries, and get the course files into your Arduino folder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Name the three parts of every Arduino program and say when each runs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Build a working LED circuit on a breadboard, and say why the resistor is there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Upload a program to the vehicle and change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Read what the vehicle prints back on the Serial Monitor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7.   Light any one of the 32 LEDs, in any colour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lesson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10858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88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80881" y="5102352"/>
            <a:ext cx="390427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Engineering practice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Turn signal running on one side...</a:t>
            </a:r>
          </a:p>
        </p:txBody>
      </p:sp>
      <p:pic>
        <p:nvPicPr>
          <p:cNvPr id="9" name="Picture 8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158" y="1810512"/>
            <a:ext cx="4901184" cy="3675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...and on the other. Same 32 LEDs, different program.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top plate with a breadboard area, for the sensors you add 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part, called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vehicle-parts-label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2" y="1188720"/>
            <a:ext cx="902895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Keep this page open for the rest of the lesson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UNIBODY frame. The structure is one piece, and the board, battery and wiring sit inside it rather than on top, so nothing catches on anything when the vehicle rolls.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wheels are mounted at the vehicle's VERTICAL CENTRE, so it drives just as well upside down. Flip it over and keep going.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clear lexan TOP PLATE: somewhere to mount sensors, and you can see the electronics working underneath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Gen 2 and Gen 3  -  which vehicle are you holding?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Gen 3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INA219 power monitor, so the vehicle can measure its own battery voltage and current draw - which is what makes a powered self-test 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PS3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install will not go through, pair up with a neighbour and carry on - you lose nothing today. Note down the error and we will sort the machine out afterwards.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Tools &gt; Board &gt; Boards Manager.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Search for "esp32".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"esp32 by Espressif Systems".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In the version box choose 3.0.7 - NOT the latest.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Click Install and wait. It is a large download.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Tools &gt; Board &gt; ESP32 Arduino &gt; "ESP32 Dev Module".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Package:  esp32  by Espressif Systems,  version 3.0.7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Version 3.0.7 specifically. Newer versions changed the way PWM is set up, and every motor program on this track uses the 3.0.7 spelling.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BOARD:  Tools &gt; Board &gt; ESP32 Arduino &gt; "ESP32 Dev Module"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"PS3 Controller Host" by Jeffrey van Pernis  -  talks to the controller.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Searching Library Manager for "Ps3Controller" finds nothing. The display name is the longer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in this course, and what it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Install both libraries now and you are set for all five lessons.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363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4026907"/>
                <a:gridCol w="6040361"/>
              </a:tblGrid>
              <a:tr h="25876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Sketch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Libraries beyond the board package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l2a_one_motor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l2b_speed_ramp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l2c_maneuver_square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l3a_controller_check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PS3 Controller Host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PS3 Controller Host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PS3 Controller Host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l4a / l4b / l4c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l5a / l5b /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 + PS3 Controller Host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pathfinder_ps3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 + PS3 Controller Host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a sketch will not compile, check this table before you change any code. A missing library is by far the most common cause.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Thumb drive or email, into your Arduino folder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sketches arrive on a thumb drive, or as a zip in an email. They have to end up in the right folder or the IDE will not find them.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sketch folders into  Documents\\Arduino\\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library folders into  Documents\\Arduino\\libraries\\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sketch folders into  Documents/Arduino/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Copy the library folders into  Documents/Arduino/libraries/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they came as .zip files, UNZIP them first - except a library you are adding through Sketch &gt; Include Library &gt; Add .ZIP Library, which wants the zip as it is.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restart the Arduino IDE. It only looks for sketches and libraries when it starts.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One folder per sketch, and the folder name must match the .ino inside it. l1a_blink/l1a_blink.ino. The IDE will refuse to open a sketch whose folder is named differently.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1.  INITIALIZATION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top of the file.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2. 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setup() runs ONCE, at power-up.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3. 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OVER AND OVER,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alibri"/>
              </a:defRPr>
            </a:pPr>
            <a:r>
              <a:rPr sz="18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ESP32 has no LED we can use, so you are going to give it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Your first circuit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Some development boards have a little LED soldered on. The module on this vehicle does not have one free for us, so your first program will blink an LED you wire up yourself.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a better place to start anyway. Before you can make something blink, you have to make a circuit that works - and a circuit is the thing underneath everything else on this vehicle.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need three things from the kit: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breadboard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LED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220 ohm resistor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jumper wires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breadboard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breadboard lets you build a circuit without soldering, and take it apart again.</a:t>
            </a:r>
          </a:p>
        </p:txBody>
      </p:sp>
      <p:pic>
        <p:nvPicPr>
          <p:cNvPr id="7" name="Picture 6" descr="breadboard-parts-nam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0" y="1810512"/>
            <a:ext cx="4418826" cy="2487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Terminal strips down the middle, power rails along the edges</a:t>
            </a:r>
          </a:p>
        </p:txBody>
      </p:sp>
      <p:pic>
        <p:nvPicPr>
          <p:cNvPr id="9" name="Picture 8" descr="breadboard-par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7" y="1810512"/>
            <a:ext cx="4418826" cy="2487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220 ohm resistor and an LED. Note the LED has one leg longer.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five holes in a row are joined to each other under the plastic. That is the whole trick: push two legs into the same row and they are connected.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circuit you are about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51560" y="169164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08660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1560" y="406908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156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" y="1399032"/>
            <a:ext cx="1828800" cy="585216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GPIO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3776472"/>
            <a:ext cx="1737360" cy="585216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380744"/>
            <a:ext cx="19202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220 ohm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468880"/>
            <a:ext cx="1005840" cy="82296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350008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long leg  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227832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short leg  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389120"/>
            <a:ext cx="6035040" cy="9255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Current goes round ONE loop. The resistor may sit on either side of the LED - what matters is that it is in the loop.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1280160"/>
            <a:ext cx="374903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Why 220 ohms?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1737360"/>
            <a:ext cx="3749039" cy="150876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R = (supply - LED drop) /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(3.3 - 2.0) / 0.020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65 ohms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383280"/>
            <a:ext cx="3749039" cy="2091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220 ohms is in the kit, and is a good choice: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(3.3 - 2.0) / 220 = about 6 mA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Dimmer than flat out, but easy to see and safe.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No resistor means one bright flash and a dead LED. An ESP32 pin should not be asked for more than about 20 mA, so erring high is the right way to err.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Building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Bend the resistor legs, push everything into the board, and connect GPIO 2 and GND with the two jumper wires.</a:t>
            </a:r>
          </a:p>
        </p:txBody>
      </p:sp>
      <p:pic>
        <p:nvPicPr>
          <p:cNvPr id="7" name="Picture 6" descr="breadboard-ste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0" y="1810512"/>
            <a:ext cx="4418826" cy="2487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Resistor and LED in the same row, so they are connected</a:t>
            </a:r>
          </a:p>
        </p:txBody>
      </p:sp>
      <p:pic>
        <p:nvPicPr>
          <p:cNvPr id="9" name="Picture 8" descr="breadboard-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7" y="1810512"/>
            <a:ext cx="4418826" cy="2487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Powered up. Kevin's photos use a 9 V battery; yours runs from GPIO 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Long leg of the LED towards the resistor and GPIO 2. Short leg towards ground. Backwards means no light, no damage - just turn it round.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= 2;   // the pin your LED is wired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 - move your LED to another pin and only this line changes.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Wait for "Done uploading" and look at your LED.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LED, on the breadboard, one second on and one second off.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Nothing at all means the LED is in backwards, or a leg is in the wrong row.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resistor would a RED LED need? It drops about 1.8 V instead of 2.0 V.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201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33549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BRIGHTNESS = 60;    // master brightness, 0 to 255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Adafruit_NeoPixel strip(LED_COUNT, LED_PIN,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strip.setBrightness(BRIGHTNESS);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Talking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lesson.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