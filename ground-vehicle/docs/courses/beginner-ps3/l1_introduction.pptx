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Ask first, before any of this: hands up for anybody who has met Arduino, the ESP-32, C++ or Ohm's law before. It changes who you pair with whom, and it tells you which of the four objectives is going to be the slow one.</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a:p>
            <a:r>
              <a:rPr sz="1200">
                <a:latin typeface="Calibri"/>
              </a:rPr>
              <a:t>Breaks are about every hour, or wherever the work reaches a natural stop. Say so at the start, so nobody is wondering.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Both photographs are taken from the front, so you can only see the front bar. Say what the camera cannot show: the rear bar is indicating on the same side at the same time, the way a car does. It is one SIDE of the vehicle lighting up, not one end.</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photograph is the vehicle sitting on its back. What it shows is why it works: the wheels stand proud of the frame on both faces, so there is no wrong way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screenshot is the real dialog. Point at the bottom row - the box is easy to miss, and it is the one field on the page that matters today.</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Walk the photograph with them: red into pin 2 on the dev module, yellow into a GND socket on the expansion header. Two wires, and the breadboard is running off the vehicle.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pic>
        <p:nvPicPr>
          <p:cNvPr id="7" name="Picture 6" descr="vehicle-turn-signal-left.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turn-signal-right.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from the front. The rear bar is lit on the same side at the same time.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Same vehicle, same program, same 32 LEDs - the D-pad just went the other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control board.</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1-and-gen2.jpg"/>
          <p:cNvPicPr>
            <a:picLocks noChangeAspect="1"/>
          </p:cNvPicPr>
          <p:nvPr/>
        </p:nvPicPr>
        <p:blipFill>
          <a:blip r:embed="rId2"/>
          <a:stretch>
            <a:fillRect/>
          </a:stretch>
        </p:blipFill>
        <p:spPr>
          <a:xfrm>
            <a:off x="502920" y="2421051"/>
            <a:ext cx="5410047" cy="2454809"/>
          </a:xfrm>
          <a:prstGeom prst="rect">
            <a:avLst/>
          </a:prstGeom>
        </p:spPr>
      </p:pic>
      <p:pic>
        <p:nvPicPr>
          <p:cNvPr id="8" name="Picture 7" descr="vehicle-gen3-top.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gen3-upside-down.jpg"/>
          <p:cNvPicPr>
            <a:picLocks noChangeAspect="1"/>
          </p:cNvPicPr>
          <p:nvPr/>
        </p:nvPicPr>
        <p:blipFill>
          <a:blip r:embed="rId3"/>
          <a:stretch>
            <a:fillRect/>
          </a:stretch>
        </p:blipFill>
        <p:spPr>
          <a:xfrm>
            <a:off x="6402886" y="1810512"/>
            <a:ext cx="5161728"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Flip it over and it keeps going  -  the wheels reach past the frame on both sides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pic>
        <p:nvPicPr>
          <p:cNvPr id="6" name="Picture 5" descr="control-board-schematic.jpg"/>
          <p:cNvPicPr>
            <a:picLocks noChangeAspect="1"/>
          </p:cNvPicPr>
          <p:nvPr/>
        </p:nvPicPr>
        <p:blipFill>
          <a:blip r:embed="rId2"/>
          <a:stretch>
            <a:fillRect/>
          </a:stretch>
        </p:blipFill>
        <p:spPr>
          <a:xfrm>
            <a:off x="2782646" y="1188720"/>
            <a:ext cx="6626403"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240622"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NOT the latest.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pic>
        <p:nvPicPr>
          <p:cNvPr id="7" name="Picture 6" descr="ide-preferences-boards-url.png"/>
          <p:cNvPicPr>
            <a:picLocks noChangeAspect="1"/>
          </p:cNvPicPr>
          <p:nvPr/>
        </p:nvPicPr>
        <p:blipFill>
          <a:blip r:embed="rId2"/>
          <a:stretch>
            <a:fillRect/>
          </a:stretch>
        </p:blipFill>
        <p:spPr>
          <a:xfrm>
            <a:off x="8109302" y="1726708"/>
            <a:ext cx="3579473" cy="2215864"/>
          </a:xfrm>
          <a:prstGeom prst="rect">
            <a:avLst/>
          </a:prstGeom>
        </p:spPr>
      </p:pic>
      <p:sp>
        <p:nvSpPr>
          <p:cNvPr id="8" name="TextBox 7"/>
          <p:cNvSpPr txBox="1"/>
          <p:nvPr/>
        </p:nvSpPr>
        <p:spPr>
          <a:xfrm>
            <a:off x="8109302" y="3997436"/>
            <a:ext cx="3579473"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"Additional board manager URLs" is the bottom row</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PS3 Controller Host</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 + PS3 Controller Host</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pathfinder_ps3</a:t>
                      </a:r>
                    </a:p>
                  </a:txBody>
                  <a:tcPr marL="73152" marT="18288" marB="18288">
                    <a:solidFill>
                      <a:srgbClr val="FFFFFF"/>
                    </a:solidFill>
                  </a:tcPr>
                </a:tc>
                <a:tc>
                  <a:txBody>
                    <a:bodyPr/>
                    <a:lstStyle/>
                    <a:p>
                      <a:r>
                        <a:rPr sz="2000">
                          <a:solidFill>
                            <a:srgbClr val="222222"/>
                          </a:solidFill>
                          <a:latin typeface="Calibri"/>
                        </a:rPr>
                        <a:t>Adafruit NeoPixel + PS3 Controller Host</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pic>
        <p:nvPicPr>
          <p:cNvPr id="7" name="Picture 6" descr="breadboard-powered-from-vehicle.jpg"/>
          <p:cNvPicPr>
            <a:picLocks noChangeAspect="1"/>
          </p:cNvPicPr>
          <p:nvPr/>
        </p:nvPicPr>
        <p:blipFill>
          <a:blip r:embed="rId2"/>
          <a:stretch>
            <a:fillRect/>
          </a:stretch>
        </p:blipFill>
        <p:spPr>
          <a:xfrm>
            <a:off x="7509551" y="1188720"/>
            <a:ext cx="3436671" cy="3291840"/>
          </a:xfrm>
          <a:prstGeom prst="rect">
            <a:avLst/>
          </a:prstGeom>
        </p:spPr>
      </p:pic>
      <p:sp>
        <p:nvSpPr>
          <p:cNvPr id="8" name="TextBox 7"/>
          <p:cNvSpPr txBox="1"/>
          <p:nvPr/>
        </p:nvSpPr>
        <p:spPr>
          <a:xfrm>
            <a:off x="7509551" y="4535424"/>
            <a:ext cx="3436671"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