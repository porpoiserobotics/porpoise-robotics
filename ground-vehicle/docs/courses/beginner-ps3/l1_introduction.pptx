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Where we have been, where we are, what is left.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down, three to go.</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One to go, and it is the one with the lights.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3" cy="3314700"/>
        </p:xfrm>
        <a:graphic>
          <a:graphicData uri="http://schemas.openxmlformats.org/drawingml/2006/table">
            <a:tbl>
              <a:tblPr firstRow="1" bandRow="1">
                <a:tableStyleId>{5C22544A-7EE6-4342-B048-85BDC9FD1C3A}</a:tableStyleId>
              </a:tblPr>
              <a:tblGrid>
                <a:gridCol w="828581"/>
                <a:gridCol w="4142909"/>
                <a:gridCol w="6214363"/>
              </a:tblGrid>
              <a:tr h="552450">
                <a:tc>
                  <a:txBody>
                    <a:bodyPr/>
                    <a:lstStyle/>
                    <a:p>
                      <a:r>
                        <a:rPr sz="2250" b="1">
                          <a:solidFill>
                            <a:srgbClr val="FFFFFF"/>
                          </a:solidFill>
                          <a:latin typeface="Calibri"/>
                        </a:rPr>
                        <a:t>Lesson</a:t>
                      </a:r>
                    </a:p>
                  </a:txBody>
                  <a:tcPr marL="73152" marT="18288" marB="18288">
                    <a:solidFill>
                      <a:srgbClr val="1F3A5F"/>
                    </a:solidFill>
                  </a:tcPr>
                </a:tc>
                <a:tc>
                  <a:txBody>
                    <a:bodyPr/>
                    <a:lstStyle/>
                    <a:p>
                      <a:r>
                        <a:rPr sz="2250" b="1">
                          <a:solidFill>
                            <a:srgbClr val="FFFFFF"/>
                          </a:solidFill>
                          <a:latin typeface="Calibri"/>
                        </a:rPr>
                        <a:t>Subject</a:t>
                      </a:r>
                    </a:p>
                  </a:txBody>
                  <a:tcPr marL="73152" marT="18288" marB="18288">
                    <a:solidFill>
                      <a:srgbClr val="1F3A5F"/>
                    </a:solidFill>
                  </a:tcPr>
                </a:tc>
                <a:tc>
                  <a:txBody>
                    <a:bodyPr/>
                    <a:lstStyle/>
                    <a:p>
                      <a:r>
                        <a:rPr sz="2250" b="1">
                          <a:solidFill>
                            <a:srgbClr val="FFFFFF"/>
                          </a:solidFill>
                          <a:latin typeface="Calibri"/>
                        </a:rPr>
                        <a:t>What your vehicle can do by the end</a:t>
                      </a:r>
                    </a:p>
                  </a:txBody>
                  <a:tcPr marL="73152" marT="18288" marB="18288">
                    <a:solidFill>
                      <a:srgbClr val="1F3A5F"/>
                    </a:solidFill>
                  </a:tcPr>
                </a:tc>
              </a:tr>
              <a:tr h="552450">
                <a:tc>
                  <a:txBody>
                    <a:bodyPr/>
                    <a:lstStyle/>
                    <a:p>
                      <a:r>
                        <a:rPr sz="2250">
                          <a:solidFill>
                            <a:srgbClr val="222222"/>
                          </a:solidFill>
                          <a:latin typeface="Calibri"/>
                        </a:rPr>
                        <a:t>1</a:t>
                      </a:r>
                    </a:p>
                  </a:txBody>
                  <a:tcPr marL="73152" marT="18288" marB="18288">
                    <a:solidFill>
                      <a:srgbClr val="FFFFFF"/>
                    </a:solidFill>
                  </a:tcPr>
                </a:tc>
                <a:tc>
                  <a:txBody>
                    <a:bodyPr/>
                    <a:lstStyle/>
                    <a:p>
                      <a:r>
                        <a:rPr sz="2250">
                          <a:solidFill>
                            <a:srgbClr val="222222"/>
                          </a:solidFill>
                          <a:latin typeface="Calibri"/>
                        </a:rPr>
                        <a:t>Introduction and the toolchain</a:t>
                      </a:r>
                    </a:p>
                  </a:txBody>
                  <a:tcPr marL="73152" marT="18288" marB="18288">
                    <a:solidFill>
                      <a:srgbClr val="FFFFFF"/>
                    </a:solidFill>
                  </a:tcPr>
                </a:tc>
                <a:tc>
                  <a:txBody>
                    <a:bodyPr/>
                    <a:lstStyle/>
                    <a:p>
                      <a:r>
                        <a:rPr sz="2250">
                          <a:solidFill>
                            <a:srgbClr val="222222"/>
                          </a:solidFill>
                          <a:latin typeface="Calibri"/>
                        </a:rPr>
                        <a:t>Blink an LED, print to the screen, light one pixel</a:t>
                      </a:r>
                    </a:p>
                  </a:txBody>
                  <a:tcPr marL="73152" marT="18288" marB="18288">
                    <a:solidFill>
                      <a:srgbClr val="FFFFFF"/>
                    </a:solidFill>
                  </a:tcPr>
                </a:tc>
              </a:tr>
              <a:tr h="552450">
                <a:tc>
                  <a:txBody>
                    <a:bodyPr/>
                    <a:lstStyle/>
                    <a:p>
                      <a:r>
                        <a:rPr sz="2250">
                          <a:solidFill>
                            <a:srgbClr val="222222"/>
                          </a:solidFill>
                          <a:latin typeface="Calibri"/>
                        </a:rPr>
                        <a:t>2</a:t>
                      </a:r>
                    </a:p>
                  </a:txBody>
                  <a:tcPr marL="73152" marT="18288" marB="18288">
                    <a:solidFill>
                      <a:srgbClr val="EEF3F8"/>
                    </a:solidFill>
                  </a:tcPr>
                </a:tc>
                <a:tc>
                  <a:txBody>
                    <a:bodyPr/>
                    <a:lstStyle/>
                    <a:p>
                      <a:r>
                        <a:rPr sz="2250">
                          <a:solidFill>
                            <a:srgbClr val="222222"/>
                          </a:solidFill>
                          <a:latin typeface="Calibri"/>
                        </a:rPr>
                        <a:t>Motor control</a:t>
                      </a:r>
                    </a:p>
                  </a:txBody>
                  <a:tcPr marL="73152" marT="18288" marB="18288">
                    <a:solidFill>
                      <a:srgbClr val="EEF3F8"/>
                    </a:solidFill>
                  </a:tcPr>
                </a:tc>
                <a:tc>
                  <a:txBody>
                    <a:bodyPr/>
                    <a:lstStyle/>
                    <a:p>
                      <a:r>
                        <a:rPr sz="2250">
                          <a:solidFill>
                            <a:srgbClr val="222222"/>
                          </a:solidFill>
                          <a:latin typeface="Calibri"/>
                        </a:rPr>
                        <a:t>Drive itself round a square you calculated</a:t>
                      </a:r>
                    </a:p>
                  </a:txBody>
                  <a:tcPr marL="73152" marT="18288" marB="18288">
                    <a:solidFill>
                      <a:srgbClr val="EEF3F8"/>
                    </a:solidFill>
                  </a:tcPr>
                </a:tc>
              </a:tr>
              <a:tr h="552450">
                <a:tc>
                  <a:txBody>
                    <a:bodyPr/>
                    <a:lstStyle/>
                    <a:p>
                      <a:r>
                        <a:rPr sz="2250">
                          <a:solidFill>
                            <a:srgbClr val="222222"/>
                          </a:solidFill>
                          <a:latin typeface="Calibri"/>
                        </a:rPr>
                        <a:t>3</a:t>
                      </a:r>
                    </a:p>
                  </a:txBody>
                  <a:tcPr marL="73152" marT="18288" marB="18288">
                    <a:solidFill>
                      <a:srgbClr val="FFFFFF"/>
                    </a:solidFill>
                  </a:tcPr>
                </a:tc>
                <a:tc>
                  <a:txBody>
                    <a:bodyPr/>
                    <a:lstStyle/>
                    <a:p>
                      <a:r>
                        <a:rPr sz="2250">
                          <a:solidFill>
                            <a:srgbClr val="222222"/>
                          </a:solidFill>
                          <a:latin typeface="Calibri"/>
                        </a:rPr>
                        <a:t>Controller programming</a:t>
                      </a:r>
                    </a:p>
                  </a:txBody>
                  <a:tcPr marL="73152" marT="18288" marB="18288">
                    <a:solidFill>
                      <a:srgbClr val="FFFFFF"/>
                    </a:solidFill>
                  </a:tcPr>
                </a:tc>
                <a:tc>
                  <a:txBody>
                    <a:bodyPr/>
                    <a:lstStyle/>
                    <a:p>
                      <a:r>
                        <a:rPr sz="2250">
                          <a:solidFill>
                            <a:srgbClr val="222222"/>
                          </a:solidFill>
                          <a:latin typeface="Calibri"/>
                        </a:rPr>
                        <a:t>Be driven by you, with a thumbstick</a:t>
                      </a:r>
                    </a:p>
                  </a:txBody>
                  <a:tcPr marL="73152" marT="18288" marB="18288">
                    <a:solidFill>
                      <a:srgbClr val="FFFFFF"/>
                    </a:solidFill>
                  </a:tcPr>
                </a:tc>
              </a:tr>
              <a:tr h="552450">
                <a:tc>
                  <a:txBody>
                    <a:bodyPr/>
                    <a:lstStyle/>
                    <a:p>
                      <a:r>
                        <a:rPr sz="2250">
                          <a:solidFill>
                            <a:srgbClr val="222222"/>
                          </a:solidFill>
                          <a:latin typeface="Calibri"/>
                        </a:rPr>
                        <a:t>4</a:t>
                      </a:r>
                    </a:p>
                  </a:txBody>
                  <a:tcPr marL="73152" marT="18288" marB="18288">
                    <a:solidFill>
                      <a:srgbClr val="EEF3F8"/>
                    </a:solidFill>
                  </a:tcPr>
                </a:tc>
                <a:tc>
                  <a:txBody>
                    <a:bodyPr/>
                    <a:lstStyle/>
                    <a:p>
                      <a:r>
                        <a:rPr sz="2250">
                          <a:solidFill>
                            <a:srgbClr val="222222"/>
                          </a:solidFill>
                          <a:latin typeface="Calibri"/>
                        </a:rPr>
                        <a:t>NeoPixel LEDs</a:t>
                      </a:r>
                    </a:p>
                  </a:txBody>
                  <a:tcPr marL="73152" marT="18288" marB="18288">
                    <a:solidFill>
                      <a:srgbClr val="EEF3F8"/>
                    </a:solidFill>
                  </a:tcPr>
                </a:tc>
                <a:tc>
                  <a:txBody>
                    <a:bodyPr/>
                    <a:lstStyle/>
                    <a:p>
                      <a:r>
                        <a:rPr sz="2250">
                          <a:solidFill>
                            <a:srgbClr val="222222"/>
                          </a:solidFill>
                          <a:latin typeface="Calibri"/>
                        </a:rPr>
                        <a:t>Run headlights, signals and light patterns</a:t>
                      </a:r>
                    </a:p>
                  </a:txBody>
                  <a:tcPr marL="73152" marT="18288" marB="18288">
                    <a:solidFill>
                      <a:srgbClr val="EEF3F8"/>
                    </a:solidFill>
                  </a:tcPr>
                </a:tc>
              </a:tr>
              <a:tr h="552450">
                <a:tc>
                  <a:txBody>
                    <a:bodyPr/>
                    <a:lstStyle/>
                    <a:p>
                      <a:r>
                        <a:rPr sz="2250">
                          <a:solidFill>
                            <a:srgbClr val="222222"/>
                          </a:solidFill>
                          <a:latin typeface="Calibri"/>
                        </a:rPr>
                        <a:t>5</a:t>
                      </a:r>
                    </a:p>
                  </a:txBody>
                  <a:tcPr marL="73152" marT="18288" marB="18288">
                    <a:solidFill>
                      <a:srgbClr val="FFFFFF"/>
                    </a:solidFill>
                  </a:tcPr>
                </a:tc>
                <a:tc>
                  <a:txBody>
                    <a:bodyPr/>
                    <a:lstStyle/>
                    <a:p>
                      <a:r>
                        <a:rPr sz="2250">
                          <a:solidFill>
                            <a:srgbClr val="222222"/>
                          </a:solidFill>
                          <a:latin typeface="Calibri"/>
                        </a:rPr>
                        <a:t>Maneuvers with lights</a:t>
                      </a:r>
                    </a:p>
                  </a:txBody>
                  <a:tcPr marL="73152" marT="18288" marB="18288">
                    <a:solidFill>
                      <a:srgbClr val="FFFFFF"/>
                    </a:solidFill>
                  </a:tcPr>
                </a:tc>
                <a:tc>
                  <a:txBody>
                    <a:bodyPr/>
                    <a:lstStyle/>
                    <a:p>
                      <a:r>
                        <a:rPr sz="225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Circumference and pi, for wheel travel</a:t>
            </a:r>
          </a:p>
          <a:p>
            <a:pPr algn="l">
              <a:lnSpc>
                <a:spcPct val="100000"/>
              </a:lnSpc>
              <a:spcAft>
                <a:spcPts val="800"/>
              </a:spcAft>
              <a:defRPr sz="2100" b="0">
                <a:solidFill>
                  <a:srgbClr val="222222"/>
                </a:solidFill>
                <a:latin typeface="Calibri"/>
              </a:defRPr>
            </a:pPr>
            <a:r>
              <a:rPr sz="2100" b="0">
                <a:solidFill>
                  <a:srgbClr val="222222"/>
                </a:solidFill>
                <a:latin typeface="Calibri"/>
              </a:rPr>
              <a:t>Distance = speed x time, for maneuvers</a:t>
            </a:r>
          </a:p>
          <a:p>
            <a:pPr algn="l">
              <a:lnSpc>
                <a:spcPct val="100000"/>
              </a:lnSpc>
              <a:spcAft>
                <a:spcPts val="800"/>
              </a:spcAft>
              <a:defRPr sz="2100" b="0">
                <a:solidFill>
                  <a:srgbClr val="222222"/>
                </a:solidFill>
                <a:latin typeface="Calibri"/>
              </a:defRPr>
            </a:pPr>
            <a:r>
              <a:rPr sz="2100" b="0">
                <a:solidFill>
                  <a:srgbClr val="222222"/>
                </a:solidFill>
                <a:latin typeface="Calibri"/>
              </a:rPr>
              <a:t>Ratios and percentages, for duty cycle</a:t>
            </a:r>
          </a:p>
          <a:p>
            <a:pPr algn="l">
              <a:lnSpc>
                <a:spcPct val="100000"/>
              </a:lnSpc>
              <a:spcAft>
                <a:spcPts val="800"/>
              </a:spcAft>
              <a:defRPr sz="2100" b="0">
                <a:solidFill>
                  <a:srgbClr val="222222"/>
                </a:solidFill>
                <a:latin typeface="Calibri"/>
              </a:defRPr>
            </a:pPr>
            <a:r>
              <a:rPr sz="2100" b="0">
                <a:solidFill>
                  <a:srgbClr val="222222"/>
                </a:solidFill>
                <a:latin typeface="Calibri"/>
              </a:rPr>
              <a:t>Linear mapping, stick reading to speed</a:t>
            </a:r>
          </a:p>
          <a:p>
            <a:pPr algn="l">
              <a:lnSpc>
                <a:spcPct val="100000"/>
              </a:lnSpc>
              <a:spcAft>
                <a:spcPts val="800"/>
              </a:spcAft>
              <a:defRPr sz="2100" b="0">
                <a:solidFill>
                  <a:srgbClr val="222222"/>
                </a:solidFill>
                <a:latin typeface="Calibri"/>
              </a:defRPr>
            </a:pPr>
            <a:r>
              <a:rPr sz="2100" b="0">
                <a:solidFill>
                  <a:srgbClr val="222222"/>
                </a:solidFill>
                <a:latin typeface="Calibri"/>
              </a:rPr>
              <a:t>Ohm's law and power, for the LED budget</a:t>
            </a:r>
          </a:p>
          <a:p>
            <a:pPr algn="l">
              <a:lnSpc>
                <a:spcPct val="100000"/>
              </a:lnSpc>
              <a:spcAft>
                <a:spcPts val="800"/>
              </a:spcAft>
              <a:defRPr sz="2100" b="0">
                <a:solidFill>
                  <a:srgbClr val="222222"/>
                </a:solidFill>
                <a:latin typeface="Calibri"/>
              </a:defRPr>
            </a:pPr>
            <a:r>
              <a:rPr sz="2100" b="0">
                <a:solidFill>
                  <a:srgbClr val="222222"/>
                </a:solidFill>
                <a:latin typeface="Calibri"/>
              </a:rPr>
              <a:t>Wavelength and color, for the lighting</a:t>
            </a:r>
          </a:p>
          <a:p>
            <a:pPr algn="l">
              <a:lnSpc>
                <a:spcPct val="100000"/>
              </a:lnSpc>
              <a:spcAft>
                <a:spcPts val="800"/>
              </a:spcAft>
              <a:defRPr sz="2100" b="0">
                <a:solidFill>
                  <a:srgbClr val="222222"/>
                </a:solidFill>
                <a:latin typeface="Calibri"/>
              </a:defRPr>
            </a:pPr>
            <a:r>
              <a:rPr sz="2100" b="0">
                <a:solidFill>
                  <a:srgbClr val="222222"/>
                </a:solidFill>
                <a:latin typeface="Calibri"/>
              </a:rPr>
              <a:t>Trigonometry, to plot where you end up</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Most of the fleet.</a:t>
            </a:r>
          </a:p>
          <a:p>
            <a:pPr algn="l">
              <a:lnSpc>
                <a:spcPct val="100000"/>
              </a:lnSpc>
              <a:spcAft>
                <a:spcPts val="800"/>
              </a:spcAft>
              <a:defRPr sz="2000" b="0">
                <a:solidFill>
                  <a:srgbClr val="222222"/>
                </a:solidFill>
                <a:latin typeface="Calibri"/>
              </a:defRPr>
            </a:pPr>
            <a:r>
              <a:rPr sz="2000" b="0">
                <a:solidFill>
                  <a:srgbClr val="222222"/>
                </a:solidFill>
                <a:latin typeface="Calibri"/>
              </a:rPr>
              <a:t>ESP32, four DRV8871 H-bridges, 32 LEDs, four servo outputs.</a:t>
            </a:r>
          </a:p>
          <a:p>
            <a:pPr algn="l">
              <a:lnSpc>
                <a:spcPct val="100000"/>
              </a:lnSpc>
              <a:spcAft>
                <a:spcPts val="800"/>
              </a:spcAft>
              <a:defRPr sz="2000" b="0">
                <a:solidFill>
                  <a:srgbClr val="222222"/>
                </a:solidFill>
                <a:latin typeface="Calibri"/>
              </a:defRPr>
            </a:pPr>
            <a:r>
              <a:rPr sz="2000" b="0">
                <a:solidFill>
                  <a:srgbClr val="222222"/>
                </a:solidFill>
                <a:latin typeface="Calibri"/>
              </a:rPr>
              <a:t>No current sensor.</a:t>
            </a:r>
          </a:p>
          <a:p>
            <a:pPr algn="l">
              <a:lnSpc>
                <a:spcPct val="100000"/>
              </a:lnSpc>
              <a:spcAft>
                <a:spcPts val="800"/>
              </a:spcAft>
              <a:defRPr sz="2000" b="0">
                <a:solidFill>
                  <a:srgbClr val="222222"/>
                </a:solidFill>
                <a:latin typeface="Calibri"/>
              </a:defRPr>
            </a:pPr>
            <a:r>
              <a:rPr sz="2000" b="0">
                <a:solidFill>
                  <a:srgbClr val="222222"/>
                </a:solidFill>
                <a:latin typeface="Calibri"/>
              </a:rPr>
              <a:t>Everything in this course works on it.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UNIBODY frame: one piece, with the board, battery and wiring inside it rather than on top.</a:t>
            </a:r>
          </a:p>
          <a:p>
            <a:pPr algn="l">
              <a:lnSpc>
                <a:spcPct val="100000"/>
              </a:lnSpc>
              <a:spcAft>
                <a:spcPts val="800"/>
              </a:spcAft>
              <a:defRPr sz="1900" b="0">
                <a:solidFill>
                  <a:srgbClr val="222222"/>
                </a:solidFill>
                <a:latin typeface="Calibri"/>
              </a:defRPr>
            </a:pPr>
            <a:r>
              <a:rPr sz="1900" b="0">
                <a:solidFill>
                  <a:srgbClr val="222222"/>
                </a:solidFill>
                <a:latin typeface="Calibri"/>
              </a:rPr>
              <a:t>Wheels at the vehicle's VERTICAL CENTER, so it drives just as well upside down.</a:t>
            </a:r>
          </a:p>
          <a:p>
            <a:pPr algn="l">
              <a:lnSpc>
                <a:spcPct val="100000"/>
              </a:lnSpc>
              <a:spcAft>
                <a:spcPts val="800"/>
              </a:spcAft>
              <a:defRPr sz="1900" b="0">
                <a:solidFill>
                  <a:srgbClr val="222222"/>
                </a:solidFill>
                <a:latin typeface="Calibri"/>
              </a:defRPr>
            </a:pPr>
            <a:r>
              <a:rPr sz="1900" b="0">
                <a:solidFill>
                  <a:srgbClr val="222222"/>
                </a:solidFill>
                <a:latin typeface="Calibri"/>
              </a:rPr>
              <a:t>A clear lexan TOP PLATE to mount sensors on.</a:t>
            </a:r>
          </a:p>
          <a:p>
            <a:pPr algn="l">
              <a:lnSpc>
                <a:spcPct val="100000"/>
              </a:lnSpc>
              <a:spcAft>
                <a:spcPts val="800"/>
              </a:spcAft>
              <a:defRPr sz="1900" b="0">
                <a:solidFill>
                  <a:srgbClr val="222222"/>
                </a:solidFill>
                <a:latin typeface="Calibri"/>
              </a:defRPr>
            </a:pPr>
            <a:r>
              <a:rPr sz="19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4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4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4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4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healthy motor spikes as it breaks away, then settles.</a:t>
            </a:r>
          </a:p>
          <a:p>
            <a:pPr algn="l">
              <a:lnSpc>
                <a:spcPct val="100000"/>
              </a:lnSpc>
              <a:spcAft>
                <a:spcPts val="800"/>
              </a:spcAft>
              <a:defRPr sz="1800" b="0">
                <a:solidFill>
                  <a:srgbClr val="222222"/>
                </a:solidFill>
                <a:latin typeface="Calibri"/>
              </a:defRPr>
            </a:pPr>
            <a:r>
              <a:rPr sz="1800" b="0">
                <a:solidFill>
                  <a:srgbClr val="222222"/>
                </a:solidFill>
                <a:latin typeface="Calibri"/>
              </a:rPr>
              <a:t>A disconnected motor draws almost nothing.</a:t>
            </a:r>
          </a:p>
          <a:p>
            <a:pPr algn="l">
              <a:lnSpc>
                <a:spcPct val="100000"/>
              </a:lnSpc>
              <a:spcAft>
                <a:spcPts val="800"/>
              </a:spcAft>
              <a:defRPr sz="1800" b="0">
                <a:solidFill>
                  <a:srgbClr val="222222"/>
                </a:solidFill>
                <a:latin typeface="Calibri"/>
              </a:defRPr>
            </a:pPr>
            <a:r>
              <a:rPr sz="1800" b="0">
                <a:solidFill>
                  <a:srgbClr val="222222"/>
                </a:solidFill>
                <a:latin typeface="Calibri"/>
              </a:rPr>
              <a:t>A jammed motor draws a lot, and keeps drawing it.</a:t>
            </a:r>
          </a:p>
          <a:p>
            <a:pPr algn="l">
              <a:lnSpc>
                <a:spcPct val="100000"/>
              </a:lnSpc>
              <a:spcAft>
                <a:spcPts val="800"/>
              </a:spcAft>
              <a:defRPr sz="1800" b="0">
                <a:solidFill>
                  <a:srgbClr val="222222"/>
                </a:solidFill>
                <a:latin typeface="Calibri"/>
              </a:defRPr>
            </a:pPr>
            <a:r>
              <a:rPr sz="18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PS3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210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https://espressif.github.io/arduino-esp32/package_esp32_index.json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"esp32".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  by Espressif Systems,  version 3.0.7</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3.0.7 -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Version 3.0.7 specifically. Newer versions changed the way PWM is set up, and every motor program on this track uses the 3.0.7 spelling.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BOARD:  Tools &gt; Board &gt; esp32 &gt; "ESP32 Dev Module"</a:t>
            </a:r>
          </a:p>
          <a:p>
            <a:pPr lvl="1" algn="l">
              <a:lnSpc>
                <a:spcPct val="100000"/>
              </a:lnSpc>
              <a:spcAft>
                <a:spcPts val="600"/>
              </a:spcAft>
              <a:defRPr sz="1900" b="0">
                <a:solidFill>
                  <a:srgbClr val="222222"/>
                </a:solidFill>
                <a:latin typeface="Calibri"/>
              </a:defRPr>
            </a:pPr>
            <a:r>
              <a:rPr sz="1900" b="0">
                <a:solidFill>
                  <a:srgbClr val="222222"/>
                </a:solidFill>
                <a:latin typeface="Calibri"/>
              </a:rPr>
              <a:t>Then set Upload Speed to 921600 and Flash Frequency to 80 MHz.</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PORT:  plug the vehicle into your computer with a micro USB cable FIRST, then choose Tools &gt; Port.</a:t>
            </a:r>
          </a:p>
          <a:p>
            <a:pPr lvl="1" algn="l">
              <a:lnSpc>
                <a:spcPct val="100000"/>
              </a:lnSpc>
              <a:spcAft>
                <a:spcPts val="600"/>
              </a:spcAft>
              <a:defRPr sz="1900" b="0">
                <a:solidFill>
                  <a:srgbClr val="222222"/>
                </a:solidFill>
                <a:latin typeface="Calibri"/>
              </a:defRPr>
            </a:pPr>
            <a:r>
              <a:rPr sz="1900" b="0">
                <a:solidFill>
                  <a:srgbClr val="222222"/>
                </a:solidFill>
                <a:latin typeface="Calibri"/>
              </a:rPr>
              <a:t>Windows: the next available COM port, such as COM4.</a:t>
            </a:r>
          </a:p>
          <a:p>
            <a:pPr lvl="1" algn="l">
              <a:lnSpc>
                <a:spcPct val="100000"/>
              </a:lnSpc>
              <a:spcAft>
                <a:spcPts val="600"/>
              </a:spcAft>
              <a:defRPr sz="1900" b="0">
                <a:solidFill>
                  <a:srgbClr val="222222"/>
                </a:solidFill>
                <a:latin typeface="Calibri"/>
              </a:defRPr>
            </a:pPr>
            <a:r>
              <a:rPr sz="1900" b="0">
                <a:solidFill>
                  <a:srgbClr val="222222"/>
                </a:solidFill>
                <a:latin typeface="Calibri"/>
              </a:rPr>
              <a:t>Mac: something like /dev/cu.usbserial-0001.</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Tools &gt; Manage Libraries, then search the name and click Install.</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"Adafruit NeoPixel" by Adafruit  -  drives the 32 LEDs.</a:t>
            </a:r>
          </a:p>
          <a:p>
            <a:pPr algn="l">
              <a:lnSpc>
                <a:spcPct val="100000"/>
              </a:lnSpc>
              <a:spcAft>
                <a:spcPts val="600"/>
              </a:spcAft>
              <a:defRPr sz="2700" b="0">
                <a:solidFill>
                  <a:srgbClr val="222222"/>
                </a:solidFill>
                <a:latin typeface="Calibri"/>
              </a:defRPr>
            </a:pPr>
            <a:r>
              <a:rPr sz="2700" b="0">
                <a:solidFill>
                  <a:srgbClr val="222222"/>
                </a:solidFill>
                <a:latin typeface="Calibri"/>
              </a:rPr>
              <a:t>"PS3 Controller Host" by Jeffrey van Pernis  -  talks to the controller.</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Searching Library Manager for "Ps3Controller" finds nothing. The display name is the longer one.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1118585"/>
                <a:gridCol w="4026907"/>
                <a:gridCol w="6040361"/>
              </a:tblGrid>
              <a:tr h="258762">
                <a:tc>
                  <a:txBody>
                    <a:bodyPr/>
                    <a:lstStyle/>
                    <a:p>
                      <a:r>
                        <a:rPr sz="1150" b="1">
                          <a:solidFill>
                            <a:srgbClr val="FFFFFF"/>
                          </a:solidFill>
                          <a:latin typeface="Calibri"/>
                        </a:rPr>
                        <a:t>Lesson</a:t>
                      </a:r>
                    </a:p>
                  </a:txBody>
                  <a:tcPr marL="73152" marT="18288" marB="18288">
                    <a:solidFill>
                      <a:srgbClr val="1F3A5F"/>
                    </a:solidFill>
                  </a:tcPr>
                </a:tc>
                <a:tc>
                  <a:txBody>
                    <a:bodyPr/>
                    <a:lstStyle/>
                    <a:p>
                      <a:r>
                        <a:rPr sz="1150" b="1">
                          <a:solidFill>
                            <a:srgbClr val="FFFFFF"/>
                          </a:solidFill>
                          <a:latin typeface="Calibri"/>
                        </a:rPr>
                        <a:t>Sketch</a:t>
                      </a:r>
                    </a:p>
                  </a:txBody>
                  <a:tcPr marL="73152" marT="18288" marB="18288">
                    <a:solidFill>
                      <a:srgbClr val="1F3A5F"/>
                    </a:solidFill>
                  </a:tcPr>
                </a:tc>
                <a:tc>
                  <a:txBody>
                    <a:bodyPr/>
                    <a:lstStyle/>
                    <a:p>
                      <a:r>
                        <a:rPr sz="1150" b="1">
                          <a:solidFill>
                            <a:srgbClr val="FFFFFF"/>
                          </a:solidFill>
                          <a:latin typeface="Calibri"/>
                        </a:rPr>
                        <a:t>Libraries beyond the board package</a:t>
                      </a:r>
                    </a:p>
                  </a:txBody>
                  <a:tcPr marL="73152" marT="18288" marB="18288">
                    <a:solidFill>
                      <a:srgbClr val="1F3A5F"/>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l1a_blink</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1</a:t>
                      </a:r>
                    </a:p>
                  </a:txBody>
                  <a:tcPr marL="73152" marT="18288" marB="18288">
                    <a:solidFill>
                      <a:srgbClr val="EEF3F8"/>
                    </a:solidFill>
                  </a:tcPr>
                </a:tc>
                <a:tc>
                  <a:txBody>
                    <a:bodyPr/>
                    <a:lstStyle/>
                    <a:p>
                      <a:r>
                        <a:rPr sz="1150">
                          <a:solidFill>
                            <a:srgbClr val="222222"/>
                          </a:solidFill>
                          <a:latin typeface="Calibri"/>
                        </a:rPr>
                        <a:t>l1b_serial_monitor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l1c_first_pixel</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l2a_one_motor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2</a:t>
                      </a:r>
                    </a:p>
                  </a:txBody>
                  <a:tcPr marL="73152" marT="18288" marB="18288">
                    <a:solidFill>
                      <a:srgbClr val="FFFFFF"/>
                    </a:solidFill>
                  </a:tcPr>
                </a:tc>
                <a:tc>
                  <a:txBody>
                    <a:bodyPr/>
                    <a:lstStyle/>
                    <a:p>
                      <a:r>
                        <a:rPr sz="1150">
                          <a:solidFill>
                            <a:srgbClr val="222222"/>
                          </a:solidFill>
                          <a:latin typeface="Calibri"/>
                        </a:rPr>
                        <a:t>l2b_speed_ramp</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l2c_maneuver_square</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l3a_controller_check</a:t>
                      </a:r>
                    </a:p>
                  </a:txBody>
                  <a:tcPr marL="73152" marT="18288" marB="18288">
                    <a:solidFill>
                      <a:srgbClr val="FFFFFF"/>
                    </a:solidFill>
                  </a:tcPr>
                </a:tc>
                <a:tc>
                  <a:txBody>
                    <a:bodyPr/>
                    <a:lstStyle/>
                    <a:p>
                      <a:r>
                        <a:rPr sz="1150">
                          <a:solidFill>
                            <a:srgbClr val="222222"/>
                          </a:solidFill>
                          <a:latin typeface="Calibri"/>
                        </a:rPr>
                        <a:t>PS3 Controller Host</a:t>
                      </a:r>
                    </a:p>
                  </a:txBody>
                  <a:tcPr marL="73152" marT="18288" marB="18288">
                    <a:solidFill>
                      <a:srgbClr val="FFFFFF"/>
                    </a:solidFill>
                  </a:tcPr>
                </a:tc>
              </a:tr>
              <a:tr h="258762">
                <a:tc>
                  <a:txBody>
                    <a:bodyPr/>
                    <a:lstStyle/>
                    <a:p>
                      <a:r>
                        <a:rPr sz="1150">
                          <a:solidFill>
                            <a:srgbClr val="222222"/>
                          </a:solidFill>
                          <a:latin typeface="Calibri"/>
                        </a:rPr>
                        <a:t>3</a:t>
                      </a:r>
                    </a:p>
                  </a:txBody>
                  <a:tcPr marL="73152" marT="18288" marB="18288">
                    <a:solidFill>
                      <a:srgbClr val="EEF3F8"/>
                    </a:solidFill>
                  </a:tcPr>
                </a:tc>
                <a:tc>
                  <a:txBody>
                    <a:bodyPr/>
                    <a:lstStyle/>
                    <a:p>
                      <a:r>
                        <a:rPr sz="1150">
                          <a:solidFill>
                            <a:srgbClr val="222222"/>
                          </a:solidFill>
                          <a:latin typeface="Calibri"/>
                        </a:rPr>
                        <a:t>l3b_deadzone_and_map</a:t>
                      </a:r>
                    </a:p>
                  </a:txBody>
                  <a:tcPr marL="73152" marT="18288" marB="18288">
                    <a:solidFill>
                      <a:srgbClr val="EEF3F8"/>
                    </a:solidFill>
                  </a:tcPr>
                </a:tc>
                <a:tc>
                  <a:txBody>
                    <a:bodyPr/>
                    <a:lstStyle/>
                    <a:p>
                      <a:r>
                        <a:rPr sz="1150">
                          <a:solidFill>
                            <a:srgbClr val="222222"/>
                          </a:solidFill>
                          <a:latin typeface="Calibri"/>
                        </a:rPr>
                        <a:t>PS3 Controller Host</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l3c_tank_drive</a:t>
                      </a:r>
                    </a:p>
                  </a:txBody>
                  <a:tcPr marL="73152" marT="18288" marB="18288">
                    <a:solidFill>
                      <a:srgbClr val="FFFFFF"/>
                    </a:solidFill>
                  </a:tcPr>
                </a:tc>
                <a:tc>
                  <a:txBody>
                    <a:bodyPr/>
                    <a:lstStyle/>
                    <a:p>
                      <a:r>
                        <a:rPr sz="1150">
                          <a:solidFill>
                            <a:srgbClr val="222222"/>
                          </a:solidFill>
                          <a:latin typeface="Calibri"/>
                        </a:rPr>
                        <a:t>PS3 Controller Host</a:t>
                      </a:r>
                    </a:p>
                  </a:txBody>
                  <a:tcPr marL="73152" marT="18288" marB="18288">
                    <a:solidFill>
                      <a:srgbClr val="FFFFFF"/>
                    </a:solidFill>
                  </a:tcPr>
                </a:tc>
              </a:tr>
              <a:tr h="258762">
                <a:tc>
                  <a:txBody>
                    <a:bodyPr/>
                    <a:lstStyle/>
                    <a:p>
                      <a:r>
                        <a:rPr sz="1150">
                          <a:solidFill>
                            <a:srgbClr val="222222"/>
                          </a:solidFill>
                          <a:latin typeface="Calibri"/>
                        </a:rPr>
                        <a:t>4</a:t>
                      </a:r>
                    </a:p>
                  </a:txBody>
                  <a:tcPr marL="73152" marT="18288" marB="18288">
                    <a:solidFill>
                      <a:srgbClr val="EEF3F8"/>
                    </a:solidFill>
                  </a:tcPr>
                </a:tc>
                <a:tc>
                  <a:txBody>
                    <a:bodyPr/>
                    <a:lstStyle/>
                    <a:p>
                      <a:r>
                        <a:rPr sz="1150">
                          <a:solidFill>
                            <a:srgbClr val="222222"/>
                          </a:solidFill>
                          <a:latin typeface="Calibri"/>
                        </a:rPr>
                        <a:t>l4a / l4b / l4c</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r h="258762">
                <a:tc>
                  <a:txBody>
                    <a:bodyPr/>
                    <a:lstStyle/>
                    <a:p>
                      <a:r>
                        <a:rPr sz="1150">
                          <a:solidFill>
                            <a:srgbClr val="222222"/>
                          </a:solidFill>
                          <a:latin typeface="Calibri"/>
                        </a:rPr>
                        <a:t>5</a:t>
                      </a:r>
                    </a:p>
                  </a:txBody>
                  <a:tcPr marL="73152" marT="18288" marB="18288">
                    <a:solidFill>
                      <a:srgbClr val="FFFFFF"/>
                    </a:solidFill>
                  </a:tcPr>
                </a:tc>
                <a:tc>
                  <a:txBody>
                    <a:bodyPr/>
                    <a:lstStyle/>
                    <a:p>
                      <a:r>
                        <a:rPr sz="1150">
                          <a:solidFill>
                            <a:srgbClr val="222222"/>
                          </a:solidFill>
                          <a:latin typeface="Calibri"/>
                        </a:rPr>
                        <a:t>l5a / l5b / l5c</a:t>
                      </a:r>
                    </a:p>
                  </a:txBody>
                  <a:tcPr marL="73152" marT="18288" marB="18288">
                    <a:solidFill>
                      <a:srgbClr val="FFFFFF"/>
                    </a:solidFill>
                  </a:tcPr>
                </a:tc>
                <a:tc>
                  <a:txBody>
                    <a:bodyPr/>
                    <a:lstStyle/>
                    <a:p>
                      <a:r>
                        <a:rPr sz="1150">
                          <a:solidFill>
                            <a:srgbClr val="222222"/>
                          </a:solidFill>
                          <a:latin typeface="Calibri"/>
                        </a:rPr>
                        <a:t>Adafruit NeoPixel + PS3 Controller Host</a:t>
                      </a:r>
                    </a:p>
                  </a:txBody>
                  <a:tcPr marL="73152" marT="18288" marB="18288">
                    <a:solidFill>
                      <a:srgbClr val="FFFFFF"/>
                    </a:solidFill>
                  </a:tcPr>
                </a:tc>
              </a:tr>
              <a:tr h="258768">
                <a:tc>
                  <a:txBody>
                    <a:bodyPr/>
                    <a:lstStyle/>
                    <a:p>
                      <a:r>
                        <a:rPr sz="1150">
                          <a:solidFill>
                            <a:srgbClr val="222222"/>
                          </a:solidFill>
                          <a:latin typeface="Calibri"/>
                        </a:rPr>
                        <a:t>5</a:t>
                      </a:r>
                    </a:p>
                  </a:txBody>
                  <a:tcPr marL="73152" marT="18288" marB="18288">
                    <a:solidFill>
                      <a:srgbClr val="EEF3F8"/>
                    </a:solidFill>
                  </a:tcPr>
                </a:tc>
                <a:tc>
                  <a:txBody>
                    <a:bodyPr/>
                    <a:lstStyle/>
                    <a:p>
                      <a:r>
                        <a:rPr sz="1150">
                          <a:solidFill>
                            <a:srgbClr val="222222"/>
                          </a:solidFill>
                          <a:latin typeface="Calibri"/>
                        </a:rPr>
                        <a:t>pathfinder_ps3</a:t>
                      </a:r>
                    </a:p>
                  </a:txBody>
                  <a:tcPr marL="73152" marT="18288" marB="18288">
                    <a:solidFill>
                      <a:srgbClr val="EEF3F8"/>
                    </a:solidFill>
                  </a:tcPr>
                </a:tc>
                <a:tc>
                  <a:txBody>
                    <a:bodyPr/>
                    <a:lstStyle/>
                    <a:p>
                      <a:r>
                        <a:rPr sz="1150">
                          <a:solidFill>
                            <a:srgbClr val="222222"/>
                          </a:solidFill>
                          <a:latin typeface="Calibri"/>
                        </a:rPr>
                        <a:t>Adafruit NeoPixel + PS3 Controller Host</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WINDOWS.  Copy the sketch folders into</a:t>
            </a:r>
          </a:p>
          <a:p>
            <a:pPr lvl="1" algn="l">
              <a:lnSpc>
                <a:spcPct val="100000"/>
              </a:lnSpc>
              <a:spcAft>
                <a:spcPts val="900"/>
              </a:spcAft>
              <a:defRPr sz="2200" b="0">
                <a:solidFill>
                  <a:srgbClr val="222222"/>
                </a:solidFill>
                <a:latin typeface="Calibri"/>
              </a:defRPr>
            </a:pPr>
            <a:r>
              <a:rPr sz="2200" b="0">
                <a:solidFill>
                  <a:srgbClr val="222222"/>
                </a:solidFill>
                <a:latin typeface="Calibri"/>
              </a:rPr>
              <a:t>Documents\\Arduino\\</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MAC.  Copy the sketch folders into</a:t>
            </a:r>
          </a:p>
          <a:p>
            <a:pPr lvl="1" algn="l">
              <a:lnSpc>
                <a:spcPct val="100000"/>
              </a:lnSpc>
              <a:spcAft>
                <a:spcPts val="900"/>
              </a:spcAft>
              <a:defRPr sz="2200" b="0">
                <a:solidFill>
                  <a:srgbClr val="222222"/>
                </a:solidFill>
                <a:latin typeface="Calibri"/>
              </a:defRPr>
            </a:pPr>
            <a:r>
              <a:rPr sz="2200" b="0">
                <a:solidFill>
                  <a:srgbClr val="222222"/>
                </a:solidFill>
                <a:latin typeface="Calibri"/>
              </a:rPr>
              <a:t>Documents/Arduino/</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If they arrived as a .zip, unzip it first.</a:t>
            </a:r>
          </a:p>
          <a:p>
            <a:pPr algn="l">
              <a:lnSpc>
                <a:spcPct val="100000"/>
              </a:lnSpc>
              <a:spcAft>
                <a:spcPts val="900"/>
              </a:spcAft>
              <a:defRPr sz="2200" b="0">
                <a:solidFill>
                  <a:srgbClr val="222222"/>
                </a:solidFill>
                <a:latin typeface="Calibri"/>
              </a:defRPr>
            </a:pPr>
            <a:r>
              <a:rPr sz="2200" b="0">
                <a:solidFill>
                  <a:srgbClr val="222222"/>
                </a:solidFill>
                <a:latin typeface="Calibri"/>
              </a:rPr>
              <a:t>Then restart the Arduino IDE. It only looks for sketches when it starts.</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209194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battery lights an LED. The ESP32 lets a PROGRAM light it.</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Two jumper wires, through the top plate cutout:</a:t>
            </a:r>
          </a:p>
          <a:p>
            <a:pPr lvl="1" algn="l">
              <a:lnSpc>
                <a:spcPct val="100000"/>
              </a:lnSpc>
              <a:spcAft>
                <a:spcPts val="600"/>
              </a:spcAft>
              <a:defRPr sz="1900" b="0">
                <a:solidFill>
                  <a:srgbClr val="222222"/>
                </a:solidFill>
                <a:latin typeface="Calibri"/>
              </a:defRPr>
            </a:pPr>
            <a:r>
              <a:rPr sz="1900" b="0">
                <a:solidFill>
                  <a:srgbClr val="222222"/>
                </a:solidFill>
                <a:latin typeface="Calibri"/>
              </a:rPr>
              <a:t>GPIO 2  -&gt;  the resistor's row</a:t>
            </a:r>
          </a:p>
          <a:p>
            <a:pPr lvl="1" algn="l">
              <a:lnSpc>
                <a:spcPct val="100000"/>
              </a:lnSpc>
              <a:spcAft>
                <a:spcPts val="600"/>
              </a:spcAft>
              <a:defRPr sz="1900" b="0">
                <a:solidFill>
                  <a:srgbClr val="222222"/>
                </a:solidFill>
                <a:latin typeface="Calibri"/>
              </a:defRPr>
            </a:pPr>
            <a:r>
              <a:rPr sz="1900" b="0">
                <a:solidFill>
                  <a:srgbClr val="222222"/>
                </a:solidFill>
                <a:latin typeface="Calibri"/>
              </a:rPr>
              <a:t>GND     -&gt;  the row with the LED's SHORT leg</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190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900"/>
              </a:spcAft>
              <a:defRPr sz="2100" b="0">
                <a:solidFill>
                  <a:srgbClr val="222222"/>
                </a:solidFill>
                <a:latin typeface="Calibri"/>
              </a:defRPr>
            </a:pPr>
            <a:r>
              <a:rPr sz="2100" b="0">
                <a:solidFill>
                  <a:srgbClr val="222222"/>
                </a:solidFill>
                <a:latin typeface="Calibri"/>
              </a:rPr>
              <a:t>Serial.begin(115200);   opens the connection. Put it in setup().</a:t>
            </a:r>
          </a:p>
          <a:p>
            <a:pPr lvl="1" algn="l">
              <a:lnSpc>
                <a:spcPct val="100000"/>
              </a:lnSpc>
              <a:spcAft>
                <a:spcPts val="900"/>
              </a:spcAft>
              <a:defRPr sz="2100" b="0">
                <a:solidFill>
                  <a:srgbClr val="222222"/>
                </a:solidFill>
                <a:latin typeface="Calibri"/>
              </a:defRPr>
            </a:pPr>
            <a:r>
              <a:rPr sz="2100" b="0">
                <a:solidFill>
                  <a:srgbClr val="222222"/>
                </a:solidFill>
                <a:latin typeface="Calibri"/>
              </a:rPr>
              <a:t>Serial.print("text");    prints and stays on the same line.</a:t>
            </a:r>
          </a:p>
          <a:p>
            <a:pPr lvl="1" algn="l">
              <a:lnSpc>
                <a:spcPct val="100000"/>
              </a:lnSpc>
              <a:spcAft>
                <a:spcPts val="900"/>
              </a:spcAft>
              <a:defRPr sz="2100" b="0">
                <a:solidFill>
                  <a:srgbClr val="222222"/>
                </a:solidFill>
                <a:latin typeface="Calibri"/>
              </a:defRPr>
            </a:pPr>
            <a:r>
              <a:rPr sz="2100" b="0">
                <a:solidFill>
                  <a:srgbClr val="222222"/>
                </a:solidFill>
                <a:latin typeface="Calibri"/>
              </a:rPr>
              <a:t>Serial.println(x);       prints and moves to a new line.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Open it with Tools &gt; Serial Monitor, or the magnifying glass at the top right.</a:t>
            </a:r>
          </a:p>
          <a:p>
            <a:pPr algn="l">
              <a:lnSpc>
                <a:spcPct val="100000"/>
              </a:lnSpc>
              <a:spcAft>
                <a:spcPts val="900"/>
              </a:spcAft>
              <a:defRPr sz="2000" b="0">
                <a:solidFill>
                  <a:srgbClr val="222222"/>
                </a:solidFill>
                <a:latin typeface="Calibri"/>
              </a:defRPr>
            </a:pPr>
            <a:r>
              <a:rPr sz="20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When something does not work, print the numbers your program is working from. That will find the fault faster than staring at the code will.</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program from here on prints something. Get in the habit of having the Serial Monitor open.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An ordinary LED has two wires and is either on or off.</a:t>
            </a:r>
          </a:p>
          <a:p>
            <a:pPr algn="l">
              <a:lnSpc>
                <a:spcPct val="100000"/>
              </a:lnSpc>
              <a:spcAft>
                <a:spcPts val="600"/>
              </a:spcAft>
              <a:defRPr sz="1900" b="0">
                <a:solidFill>
                  <a:srgbClr val="222222"/>
                </a:solidFill>
                <a:latin typeface="Calibri"/>
              </a:defRPr>
            </a:pPr>
            <a:r>
              <a:rPr sz="1900" b="0">
                <a:solidFill>
                  <a:srgbClr val="222222"/>
                </a:solidFill>
                <a:latin typeface="Calibri"/>
              </a:rPr>
              <a:t>A NeoPixel has FOUR connections - power, ground, data in, data out - and a tiny controller chip inside it.</a:t>
            </a:r>
          </a:p>
          <a:p>
            <a:pPr algn="l">
              <a:lnSpc>
                <a:spcPct val="100000"/>
              </a:lnSpc>
              <a:spcAft>
                <a:spcPts val="600"/>
              </a:spcAft>
              <a:defRPr sz="1900" b="0">
                <a:solidFill>
                  <a:srgbClr val="222222"/>
                </a:solidFill>
                <a:latin typeface="Calibri"/>
              </a:defRPr>
            </a:pPr>
            <a:r>
              <a:rPr sz="19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1900" b="0">
                <a:solidFill>
                  <a:srgbClr val="222222"/>
                </a:solidFill>
                <a:latin typeface="Calibri"/>
              </a:defRPr>
            </a:pPr>
            <a:r>
              <a:rPr sz="1900" b="0">
                <a:solidFill>
                  <a:srgbClr val="222222"/>
                </a:solidFill>
                <a:latin typeface="Calibri"/>
              </a:rPr>
              <a:t>That is why all 32 LEDs on the vehicle need only ONE signal wire, on GPIO 5.</a:t>
            </a:r>
          </a:p>
          <a:p>
            <a:pPr algn="l">
              <a:lnSpc>
                <a:spcPct val="100000"/>
              </a:lnSpc>
              <a:spcAft>
                <a:spcPts val="600"/>
              </a:spcAft>
              <a:defRPr sz="1900" b="0">
                <a:solidFill>
                  <a:srgbClr val="222222"/>
                </a:solidFill>
                <a:latin typeface="Calibri"/>
              </a:defRPr>
            </a:pPr>
            <a:r>
              <a:rPr sz="19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Everything in Lesson 2 onwards moves. This page stops being theoretical next lesson.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