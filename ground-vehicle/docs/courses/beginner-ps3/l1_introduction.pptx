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94641" autoAdjust="0"/>
  </p:normalViewPr>
  <p:slideViewPr>
    <p:cSldViewPr snapToGrid="0" snapToObjects="1">
      <p:cViewPr varScale="1">
        <p:scale>
          <a:sx n="78" d="100"/>
          <a:sy n="78"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Bowen" userId="ee6702fae12807e4" providerId="LiveId" clId="{5CB6C98B-5151-4E5D-BF39-3ED613ABF9A3}"/>
    <pc:docChg chg="custSel modSld">
      <pc:chgData name="Kevin Bowen" userId="ee6702fae12807e4" providerId="LiveId" clId="{5CB6C98B-5151-4E5D-BF39-3ED613ABF9A3}" dt="2026-09-07T16:18:55.759" v="232" actId="20577"/>
      <pc:docMkLst>
        <pc:docMk/>
      </pc:docMkLst>
      <pc:sldChg chg="modNotesTx">
        <pc:chgData name="Kevin Bowen" userId="ee6702fae12807e4" providerId="LiveId" clId="{5CB6C98B-5151-4E5D-BF39-3ED613ABF9A3}" dt="2026-09-07T16:09:59.599" v="114" actId="20577"/>
        <pc:sldMkLst>
          <pc:docMk/>
          <pc:sldMk cId="0" sldId="257"/>
        </pc:sldMkLst>
      </pc:sldChg>
      <pc:sldChg chg="modNotesTx">
        <pc:chgData name="Kevin Bowen" userId="ee6702fae12807e4" providerId="LiveId" clId="{5CB6C98B-5151-4E5D-BF39-3ED613ABF9A3}" dt="2026-09-07T16:10:30.046" v="121" actId="20577"/>
        <pc:sldMkLst>
          <pc:docMk/>
          <pc:sldMk cId="0" sldId="258"/>
        </pc:sldMkLst>
      </pc:sldChg>
      <pc:sldChg chg="modNotesTx">
        <pc:chgData name="Kevin Bowen" userId="ee6702fae12807e4" providerId="LiveId" clId="{5CB6C98B-5151-4E5D-BF39-3ED613ABF9A3}" dt="2026-09-07T16:11:19.355" v="184" actId="20577"/>
        <pc:sldMkLst>
          <pc:docMk/>
          <pc:sldMk cId="0" sldId="260"/>
        </pc:sldMkLst>
      </pc:sldChg>
      <pc:sldChg chg="modNotesTx">
        <pc:chgData name="Kevin Bowen" userId="ee6702fae12807e4" providerId="LiveId" clId="{5CB6C98B-5151-4E5D-BF39-3ED613ABF9A3}" dt="2026-09-07T16:15:26.753" v="185" actId="20577"/>
        <pc:sldMkLst>
          <pc:docMk/>
          <pc:sldMk cId="0" sldId="273"/>
        </pc:sldMkLst>
      </pc:sldChg>
      <pc:sldChg chg="modSp mod">
        <pc:chgData name="Kevin Bowen" userId="ee6702fae12807e4" providerId="LiveId" clId="{5CB6C98B-5151-4E5D-BF39-3ED613ABF9A3}" dt="2026-09-07T16:18:55.759" v="232" actId="20577"/>
        <pc:sldMkLst>
          <pc:docMk/>
          <pc:sldMk cId="0" sldId="279"/>
        </pc:sldMkLst>
        <pc:spChg chg="mod">
          <ac:chgData name="Kevin Bowen" userId="ee6702fae12807e4" providerId="LiveId" clId="{5CB6C98B-5151-4E5D-BF39-3ED613ABF9A3}" dt="2026-09-07T16:18:55.759" v="232" actId="20577"/>
          <ac:spMkLst>
            <pc:docMk/>
            <pc:sldMk cId="0" sldId="279"/>
            <ac:spMk id="8" creationId="{00000000-0000-0000-0000-000000000000}"/>
          </ac:spMkLst>
        </pc:spChg>
        <pc:picChg chg="mod">
          <ac:chgData name="Kevin Bowen" userId="ee6702fae12807e4" providerId="LiveId" clId="{5CB6C98B-5151-4E5D-BF39-3ED613ABF9A3}" dt="2026-09-07T16:18:19.029" v="196" actId="1076"/>
          <ac:picMkLst>
            <pc:docMk/>
            <pc:sldMk cId="0" sldId="279"/>
            <ac:picMk id="7"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6004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Read these out. It takes forty seconds and it tells the room what success looks like.</a:t>
            </a:r>
          </a:p>
          <a:p>
            <a:r>
              <a:rPr sz="1200" dirty="0">
                <a:latin typeface="Calibri"/>
              </a:rPr>
              <a:t>Come back to this slide in the last five minutes and ask them to score themselves against it. Anything nobody can do is what you open with next lesson.</a:t>
            </a:r>
          </a:p>
          <a:p>
            <a:r>
              <a:rPr sz="1200" dirty="0">
                <a:latin typeface="Calibri"/>
              </a:rPr>
              <a:t>Objective four - saying why the resistor is there - is the one that separates following instructions from understanding. Watch for it.</a:t>
            </a:r>
            <a:r>
              <a:rPr lang="en-US" sz="1200" dirty="0">
                <a:latin typeface="Calibri"/>
              </a:rPr>
              <a:t> Please raise your hand if you have experience with Arduino, ESP-32, C++ programming, Ohm’s Law.</a:t>
            </a:r>
            <a:endParaRPr sz="12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The tone of the whole course is set in the next two minutes. Interruptions are wanted, not tolerated.</a:t>
            </a:r>
          </a:p>
          <a:p>
            <a:r>
              <a:rPr sz="1200" dirty="0">
                <a:latin typeface="Calibri"/>
              </a:rPr>
              <a:t>Groups of three: one driving the laptop, one reading the slide out, one on the vehicle. Tell them to swap roles every activity, and mean it.</a:t>
            </a:r>
          </a:p>
          <a:p>
            <a:r>
              <a:rPr sz="1200" dirty="0">
                <a:latin typeface="Calibri"/>
              </a:rPr>
              <a:t>The last bullet is the important one. Say it slowly. Students who think a misbehaving vehicle means they are bad at this will give up in Lesson 2.</a:t>
            </a:r>
            <a:endParaRPr lang="en-US" sz="1200" dirty="0">
              <a:latin typeface="Calibri"/>
            </a:endParaRPr>
          </a:p>
          <a:p>
            <a:endParaRPr sz="12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Put the two break times on the whiteboard as well. People relax when they know when the next one is.</a:t>
            </a:r>
          </a:p>
          <a:p>
            <a:r>
              <a:rPr sz="1200" dirty="0">
                <a:latin typeface="Calibri"/>
              </a:rPr>
              <a:t>The timings are a guide. The IDE install is the one that runs over; if it does, take it out of the Serial Monitor section, not out of the blink activity.</a:t>
            </a:r>
          </a:p>
          <a:p>
            <a:r>
              <a:rPr sz="1200" dirty="0">
                <a:latin typeface="Calibri"/>
              </a:rPr>
              <a:t>If the whole room is installed and ready early, go straight to the breadboards. Never fill time.</a:t>
            </a:r>
            <a:endParaRPr lang="en-US" sz="1200" dirty="0">
              <a:latin typeface="Calibri"/>
            </a:endParaRPr>
          </a:p>
          <a:p>
            <a:r>
              <a:rPr lang="en-US" sz="1200" dirty="0">
                <a:latin typeface="Calibri"/>
              </a:rPr>
              <a:t>We take breaks approximately every hour or when appropriate.</a:t>
            </a:r>
            <a:endParaRPr sz="12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Get the word MECHATRONICS said out loud by somebody other than you.</a:t>
            </a:r>
          </a:p>
          <a:p>
            <a:r>
              <a:rPr sz="1200" dirty="0">
                <a:latin typeface="Calibri"/>
              </a:rPr>
              <a:t>The figure narrows from all of engineering down to what is on the desk. Walk it inwards with a finger.</a:t>
            </a:r>
          </a:p>
          <a:p>
            <a:r>
              <a:rPr sz="1200" dirty="0">
                <a:latin typeface="Calibri"/>
              </a:rPr>
              <a:t>Ask for three mechatronic things in the room. Printer, car, washing machine, lift, and the vehicle in front of them all count.</a:t>
            </a:r>
          </a:p>
          <a:p>
            <a:r>
              <a:rPr sz="1200" dirty="0">
                <a:latin typeface="Calibri"/>
              </a:rPr>
              <a:t>Do not get drawn into a definitions argument. The point is that the three disciplines are one job, not three.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Both photographs are taken from the front, so you can only see the front bar. Say what the camera cannot show: the rear bar is indicating on the same side at the same time, the way a car does. It is one SIDE of the vehicle lighting up, not one end.</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latin typeface="Calibri"/>
              </a:rPr>
              <a:t>This is a reference page, not a teaching slide. Point at it and tell them where to find it again.</a:t>
            </a:r>
          </a:p>
          <a:p>
            <a:r>
              <a:rPr sz="1200" dirty="0">
                <a:latin typeface="Calibri"/>
              </a:rPr>
              <a:t>The full ESP32 has 38 pins. These are the ones wired to something on this board, which is the only list they need.</a:t>
            </a:r>
          </a:p>
          <a:p>
            <a:r>
              <a:rPr sz="1200" dirty="0">
                <a:latin typeface="Calibri"/>
              </a:rPr>
              <a:t>The motor pin numbers come straight out of the sketch, so the slide cannot disagree with the file.</a:t>
            </a:r>
          </a:p>
          <a:p>
            <a:r>
              <a:rPr sz="1200" dirty="0">
                <a:latin typeface="Calibri"/>
              </a:rPr>
              <a:t>The two facts worth saying out loud: GPIO 34 to 39 are INPUT ONLY and have no internal pull-up, and GPIO 0 is the BOOT button, so holding it down at reset does something special.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screenshot is the real dialog. Point at the bottom row - the box is easy to miss, and it is the one field on the page that matters today.</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5.jp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11.jp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2.xml"/><Relationship Id="rId1" Type="http://schemas.openxmlformats.org/officeDocument/2006/relationships/slideLayout" Target="../slideLayouts/slideLayout6.xml"/><Relationship Id="rId4" Type="http://schemas.openxmlformats.org/officeDocument/2006/relationships/image" Target="../media/image14.jp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16.jp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porpoise-logo.png"/>
          <p:cNvPicPr>
            <a:picLocks noChangeAspect="1"/>
          </p:cNvPicPr>
          <p:nvPr/>
        </p:nvPicPr>
        <p:blipFill>
          <a:blip r:embed="rId3"/>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endParaRPr sz="1200" b="0">
              <a:solidFill>
                <a:srgbClr val="666666"/>
              </a:solidFill>
              <a:latin typeface="Calibri"/>
            </a:endParaR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endParaRPr sz="1200" b="0">
              <a:solidFill>
                <a:srgbClr val="666666"/>
              </a:solidFill>
              <a:latin typeface="Calibri"/>
            </a:endParaR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4"/>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extLst>
                    <a:ext uri="{9D8B030D-6E8A-4147-A177-3AD203B41FA5}">
                      <a16:colId xmlns:a16="http://schemas.microsoft.com/office/drawing/2014/main" val="20000"/>
                    </a:ext>
                  </a:extLst>
                </a:gridCol>
                <a:gridCol w="4056220">
                  <a:extLst>
                    <a:ext uri="{9D8B030D-6E8A-4147-A177-3AD203B41FA5}">
                      <a16:colId xmlns:a16="http://schemas.microsoft.com/office/drawing/2014/main" val="20001"/>
                    </a:ext>
                  </a:extLst>
                </a:gridCol>
                <a:gridCol w="6037434">
                  <a:extLst>
                    <a:ext uri="{9D8B030D-6E8A-4147-A177-3AD203B41FA5}">
                      <a16:colId xmlns:a16="http://schemas.microsoft.com/office/drawing/2014/main" val="20002"/>
                    </a:ext>
                  </a:extLst>
                </a:gridCol>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extLst>
                  <a:ext uri="{0D108BD9-81ED-4DB2-BD59-A6C34878D82A}">
                    <a16:rowId xmlns:a16="http://schemas.microsoft.com/office/drawing/2014/main" val="10000"/>
                  </a:ext>
                </a:extLst>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extLst>
                  <a:ext uri="{0D108BD9-81ED-4DB2-BD59-A6C34878D82A}">
                    <a16:rowId xmlns:a16="http://schemas.microsoft.com/office/drawing/2014/main" val="10001"/>
                  </a:ext>
                </a:extLst>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extLst>
                  <a:ext uri="{0D108BD9-81ED-4DB2-BD59-A6C34878D82A}">
                    <a16:rowId xmlns:a16="http://schemas.microsoft.com/office/drawing/2014/main" val="10002"/>
                  </a:ext>
                </a:extLst>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extLst>
                  <a:ext uri="{0D108BD9-81ED-4DB2-BD59-A6C34878D82A}">
                    <a16:rowId xmlns:a16="http://schemas.microsoft.com/office/drawing/2014/main" val="10003"/>
                  </a:ext>
                </a:extLst>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extLst>
                  <a:ext uri="{0D108BD9-81ED-4DB2-BD59-A6C34878D82A}">
                    <a16:rowId xmlns:a16="http://schemas.microsoft.com/office/drawing/2014/main" val="10004"/>
                  </a:ext>
                </a:extLst>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extLst>
                    <a:ext uri="{9D8B030D-6E8A-4147-A177-3AD203B41FA5}">
                      <a16:colId xmlns:a16="http://schemas.microsoft.com/office/drawing/2014/main" val="20000"/>
                    </a:ext>
                  </a:extLst>
                </a:gridCol>
                <a:gridCol w="10067269">
                  <a:extLst>
                    <a:ext uri="{9D8B030D-6E8A-4147-A177-3AD203B41FA5}">
                      <a16:colId xmlns:a16="http://schemas.microsoft.com/office/drawing/2014/main" val="20001"/>
                    </a:ext>
                  </a:extLst>
                </a:gridCol>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extLst>
                  <a:ext uri="{0D108BD9-81ED-4DB2-BD59-A6C34878D82A}">
                    <a16:rowId xmlns:a16="http://schemas.microsoft.com/office/drawing/2014/main" val="10000"/>
                  </a:ext>
                </a:extLst>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extLst>
                  <a:ext uri="{0D108BD9-81ED-4DB2-BD59-A6C34878D82A}">
                    <a16:rowId xmlns:a16="http://schemas.microsoft.com/office/drawing/2014/main" val="10001"/>
                  </a:ext>
                </a:extLst>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extLst>
                  <a:ext uri="{0D108BD9-81ED-4DB2-BD59-A6C34878D82A}">
                    <a16:rowId xmlns:a16="http://schemas.microsoft.com/office/drawing/2014/main" val="10002"/>
                  </a:ext>
                </a:extLst>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extLst>
                  <a:ext uri="{0D108BD9-81ED-4DB2-BD59-A6C34878D82A}">
                    <a16:rowId xmlns:a16="http://schemas.microsoft.com/office/drawing/2014/main" val="10003"/>
                  </a:ext>
                </a:extLst>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extLst>
                  <a:ext uri="{0D108BD9-81ED-4DB2-BD59-A6C34878D82A}">
                    <a16:rowId xmlns:a16="http://schemas.microsoft.com/office/drawing/2014/main" val="10004"/>
                  </a:ext>
                </a:extLst>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extLst>
                  <a:ext uri="{0D108BD9-81ED-4DB2-BD59-A6C34878D82A}">
                    <a16:rowId xmlns:a16="http://schemas.microsoft.com/office/drawing/2014/main" val="10005"/>
                  </a:ext>
                </a:extLst>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extLst>
                  <a:ext uri="{0D108BD9-81ED-4DB2-BD59-A6C34878D82A}">
                    <a16:rowId xmlns:a16="http://schemas.microsoft.com/office/drawing/2014/main" val="10006"/>
                  </a:ext>
                </a:extLst>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extLst>
                  <a:ext uri="{0D108BD9-81ED-4DB2-BD59-A6C34878D82A}">
                    <a16:rowId xmlns:a16="http://schemas.microsoft.com/office/drawing/2014/main" val="10007"/>
                  </a:ext>
                </a:extLst>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extLst>
                  <a:ext uri="{0D108BD9-81ED-4DB2-BD59-A6C34878D82A}">
                    <a16:rowId xmlns:a16="http://schemas.microsoft.com/office/drawing/2014/main" val="10008"/>
                  </a:ext>
                </a:extLst>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3"/>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pic>
        <p:nvPicPr>
          <p:cNvPr id="7" name="Picture 6" descr="vehicle-turn-signal-left.jpg"/>
          <p:cNvPicPr>
            <a:picLocks noChangeAspect="1"/>
          </p:cNvPicPr>
          <p:nvPr/>
        </p:nvPicPr>
        <p:blipFill>
          <a:blip r:embed="rId3"/>
          <a:stretch>
            <a:fillRect/>
          </a:stretch>
        </p:blipFill>
        <p:spPr>
          <a:xfrm>
            <a:off x="757351" y="1810512"/>
            <a:ext cx="4901184" cy="3675888"/>
          </a:xfrm>
          <a:prstGeom prst="rect">
            <a:avLst/>
          </a:prstGeom>
        </p:spPr>
      </p:pic>
      <p:pic>
        <p:nvPicPr>
          <p:cNvPr id="8" name="Picture 7" descr="vehicle-turn-signal-right.jpg"/>
          <p:cNvPicPr>
            <a:picLocks noChangeAspect="1"/>
          </p:cNvPicPr>
          <p:nvPr/>
        </p:nvPicPr>
        <p:blipFill>
          <a:blip r:embed="rId4"/>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from the front. The rear bar is lit on the same side at the same time.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Same vehicle, same program, same 32 LEDs - the D-pad just went the other way.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3"/>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3"/>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3"/>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3"/>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3"/>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3"/>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4"/>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endParaRPr sz="2100" b="0">
              <a:solidFill>
                <a:srgbClr val="222222"/>
              </a:solidFill>
              <a:latin typeface="Calibri"/>
            </a:endParaR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dirty="0">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pic>
        <p:nvPicPr>
          <p:cNvPr id="7" name="Picture 6" descr="ide-preferences-boards-url.png"/>
          <p:cNvPicPr>
            <a:picLocks noChangeAspect="1"/>
          </p:cNvPicPr>
          <p:nvPr/>
        </p:nvPicPr>
        <p:blipFill>
          <a:blip r:embed="rId3"/>
          <a:stretch>
            <a:fillRect/>
          </a:stretch>
        </p:blipFill>
        <p:spPr>
          <a:xfrm>
            <a:off x="7497355" y="1415740"/>
            <a:ext cx="4571827" cy="2830179"/>
          </a:xfrm>
          <a:prstGeom prst="rect">
            <a:avLst/>
          </a:prstGeom>
        </p:spPr>
      </p:pic>
      <p:sp>
        <p:nvSpPr>
          <p:cNvPr id="8" name="TextBox 7"/>
          <p:cNvSpPr txBox="1"/>
          <p:nvPr/>
        </p:nvSpPr>
        <p:spPr>
          <a:xfrm>
            <a:off x="8475027" y="4364791"/>
            <a:ext cx="3132039" cy="55399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lang="en-US" sz="1800" b="0">
                <a:solidFill>
                  <a:srgbClr val="666666"/>
                </a:solidFill>
                <a:latin typeface="Calibri"/>
              </a:rPr>
              <a:t>Additional board manager URLs</a:t>
            </a:r>
            <a:r>
              <a:rPr sz="1800" b="0">
                <a:solidFill>
                  <a:srgbClr val="666666"/>
                </a:solidFill>
                <a:latin typeface="Calibri"/>
              </a:rPr>
              <a:t> </a:t>
            </a:r>
            <a:r>
              <a:rPr sz="1800" b="0" dirty="0">
                <a:solidFill>
                  <a:srgbClr val="666666"/>
                </a:solidFill>
                <a:latin typeface="Calibri"/>
              </a:rPr>
              <a:t>is the bottom row</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endParaRPr sz="2100" b="0">
              <a:solidFill>
                <a:srgbClr val="222222"/>
              </a:solidFill>
              <a:latin typeface="Calibri"/>
            </a:endParaR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endParaRPr sz="2100" b="0">
              <a:solidFill>
                <a:srgbClr val="222222"/>
              </a:solidFill>
              <a:latin typeface="Calibri"/>
            </a:endParaR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endParaRPr sz="2700" b="0">
              <a:solidFill>
                <a:srgbClr val="222222"/>
              </a:solidFill>
              <a:latin typeface="Calibri"/>
            </a:endParaR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endParaRPr sz="2700" b="0">
              <a:solidFill>
                <a:srgbClr val="222222"/>
              </a:solidFill>
              <a:latin typeface="Calibri"/>
            </a:endParaR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extLst>
                    <a:ext uri="{9D8B030D-6E8A-4147-A177-3AD203B41FA5}">
                      <a16:colId xmlns:a16="http://schemas.microsoft.com/office/drawing/2014/main" val="20000"/>
                    </a:ext>
                  </a:extLst>
                </a:gridCol>
                <a:gridCol w="4026907">
                  <a:extLst>
                    <a:ext uri="{9D8B030D-6E8A-4147-A177-3AD203B41FA5}">
                      <a16:colId xmlns:a16="http://schemas.microsoft.com/office/drawing/2014/main" val="20001"/>
                    </a:ext>
                  </a:extLst>
                </a:gridCol>
                <a:gridCol w="6040361">
                  <a:extLst>
                    <a:ext uri="{9D8B030D-6E8A-4147-A177-3AD203B41FA5}">
                      <a16:colId xmlns:a16="http://schemas.microsoft.com/office/drawing/2014/main" val="20002"/>
                    </a:ext>
                  </a:extLst>
                </a:gridCol>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extLst>
                  <a:ext uri="{0D108BD9-81ED-4DB2-BD59-A6C34878D82A}">
                    <a16:rowId xmlns:a16="http://schemas.microsoft.com/office/drawing/2014/main" val="10000"/>
                  </a:ext>
                </a:extLst>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extLst>
                  <a:ext uri="{0D108BD9-81ED-4DB2-BD59-A6C34878D82A}">
                    <a16:rowId xmlns:a16="http://schemas.microsoft.com/office/drawing/2014/main" val="10001"/>
                  </a:ext>
                </a:extLst>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extLst>
                  <a:ext uri="{0D108BD9-81ED-4DB2-BD59-A6C34878D82A}">
                    <a16:rowId xmlns:a16="http://schemas.microsoft.com/office/drawing/2014/main" val="10002"/>
                  </a:ext>
                </a:extLst>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extLst>
                  <a:ext uri="{0D108BD9-81ED-4DB2-BD59-A6C34878D82A}">
                    <a16:rowId xmlns:a16="http://schemas.microsoft.com/office/drawing/2014/main" val="10003"/>
                  </a:ext>
                </a:extLst>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PS3 Controller Host</a:t>
                      </a:r>
                    </a:p>
                  </a:txBody>
                  <a:tcPr marL="73152" marT="18288" marB="18288">
                    <a:solidFill>
                      <a:srgbClr val="EEF3F8"/>
                    </a:solidFill>
                  </a:tcPr>
                </a:tc>
                <a:extLst>
                  <a:ext uri="{0D108BD9-81ED-4DB2-BD59-A6C34878D82A}">
                    <a16:rowId xmlns:a16="http://schemas.microsoft.com/office/drawing/2014/main" val="10004"/>
                  </a:ext>
                </a:extLst>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extLst>
                  <a:ext uri="{0D108BD9-81ED-4DB2-BD59-A6C34878D82A}">
                    <a16:rowId xmlns:a16="http://schemas.microsoft.com/office/drawing/2014/main" val="10005"/>
                  </a:ext>
                </a:extLst>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 + PS3 Controller Host</a:t>
                      </a:r>
                    </a:p>
                  </a:txBody>
                  <a:tcPr marL="73152" marT="18288" marB="18288">
                    <a:solidFill>
                      <a:srgbClr val="EEF3F8"/>
                    </a:solidFill>
                  </a:tcPr>
                </a:tc>
                <a:extLst>
                  <a:ext uri="{0D108BD9-81ED-4DB2-BD59-A6C34878D82A}">
                    <a16:rowId xmlns:a16="http://schemas.microsoft.com/office/drawing/2014/main" val="10006"/>
                  </a:ext>
                </a:extLst>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pathfinder_ps3</a:t>
                      </a:r>
                    </a:p>
                  </a:txBody>
                  <a:tcPr marL="73152" marT="18288" marB="18288">
                    <a:solidFill>
                      <a:srgbClr val="FFFFFF"/>
                    </a:solidFill>
                  </a:tcPr>
                </a:tc>
                <a:tc>
                  <a:txBody>
                    <a:bodyPr/>
                    <a:lstStyle/>
                    <a:p>
                      <a:r>
                        <a:rPr sz="2000">
                          <a:solidFill>
                            <a:srgbClr val="222222"/>
                          </a:solidFill>
                          <a:latin typeface="Calibri"/>
                        </a:rPr>
                        <a:t>Adafruit NeoPixel + PS3 Controller Host</a:t>
                      </a:r>
                    </a:p>
                  </a:txBody>
                  <a:tcPr marL="73152" marT="18288" marB="18288">
                    <a:solidFill>
                      <a:srgbClr val="FFFFFF"/>
                    </a:solidFill>
                  </a:tcPr>
                </a:tc>
                <a:extLst>
                  <a:ext uri="{0D108BD9-81ED-4DB2-BD59-A6C34878D82A}">
                    <a16:rowId xmlns:a16="http://schemas.microsoft.com/office/drawing/2014/main" val="10007"/>
                  </a:ext>
                </a:extLst>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endParaRPr sz="1900" b="0">
              <a:solidFill>
                <a:srgbClr val="222222"/>
              </a:solidFill>
              <a:latin typeface="Calibri"/>
            </a:endParaR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endParaRPr sz="1900" b="0">
              <a:solidFill>
                <a:srgbClr val="222222"/>
              </a:solidFill>
              <a:latin typeface="Calibri"/>
            </a:endParaR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t"/>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endParaRPr sz="2000" b="0">
              <a:solidFill>
                <a:srgbClr val="222222"/>
              </a:solidFill>
              <a:latin typeface="Calibri"/>
            </a:endParaR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endParaRPr sz="2000" b="0">
              <a:solidFill>
                <a:srgbClr val="222222"/>
              </a:solidFill>
              <a:latin typeface="Calibri"/>
            </a:endParaR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3"/>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4"/>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endParaRPr sz="1400" b="0">
              <a:solidFill>
                <a:srgbClr val="222222"/>
              </a:solidFill>
              <a:latin typeface="Consolas"/>
            </a:endParaR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endParaRPr sz="1800" b="0">
              <a:solidFill>
                <a:srgbClr val="222222"/>
              </a:solidFill>
              <a:latin typeface="Calibri"/>
            </a:endParaR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endParaRPr sz="1800" b="0">
              <a:solidFill>
                <a:srgbClr val="222222"/>
              </a:solidFill>
              <a:latin typeface="Calibri"/>
            </a:endParaR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3"/>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4"/>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endParaRPr sz="2000" b="0">
              <a:solidFill>
                <a:srgbClr val="222222"/>
              </a:solidFill>
              <a:latin typeface="Calibri"/>
            </a:endParaR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endParaRPr sz="2000" b="0">
              <a:solidFill>
                <a:srgbClr val="222222"/>
              </a:solidFill>
              <a:latin typeface="Calibri"/>
            </a:endParaR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endParaRPr sz="1900" b="0">
              <a:solidFill>
                <a:srgbClr val="222222"/>
              </a:solidFill>
              <a:latin typeface="Calibri"/>
            </a:endParaR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endParaRPr sz="1800" b="0">
              <a:solidFill>
                <a:srgbClr val="222222"/>
              </a:solidFill>
              <a:latin typeface="Calibri"/>
            </a:endParaR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endParaRPr sz="1800" b="0">
              <a:solidFill>
                <a:srgbClr val="222222"/>
              </a:solidFill>
              <a:latin typeface="Calibri"/>
            </a:endParaR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extLst>
                    <a:ext uri="{9D8B030D-6E8A-4147-A177-3AD203B41FA5}">
                      <a16:colId xmlns:a16="http://schemas.microsoft.com/office/drawing/2014/main" val="20000"/>
                    </a:ext>
                  </a:extLst>
                </a:gridCol>
                <a:gridCol w="3107181">
                  <a:extLst>
                    <a:ext uri="{9D8B030D-6E8A-4147-A177-3AD203B41FA5}">
                      <a16:colId xmlns:a16="http://schemas.microsoft.com/office/drawing/2014/main" val="20001"/>
                    </a:ext>
                  </a:extLst>
                </a:gridCol>
                <a:gridCol w="3107181">
                  <a:extLst>
                    <a:ext uri="{9D8B030D-6E8A-4147-A177-3AD203B41FA5}">
                      <a16:colId xmlns:a16="http://schemas.microsoft.com/office/drawing/2014/main" val="20002"/>
                    </a:ext>
                  </a:extLst>
                </a:gridCol>
                <a:gridCol w="3107181">
                  <a:extLst>
                    <a:ext uri="{9D8B030D-6E8A-4147-A177-3AD203B41FA5}">
                      <a16:colId xmlns:a16="http://schemas.microsoft.com/office/drawing/2014/main" val="20003"/>
                    </a:ext>
                  </a:extLst>
                </a:gridCol>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extLst>
                  <a:ext uri="{0D108BD9-81ED-4DB2-BD59-A6C34878D82A}">
                    <a16:rowId xmlns:a16="http://schemas.microsoft.com/office/drawing/2014/main" val="10000"/>
                  </a:ext>
                </a:extLst>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extLst>
                  <a:ext uri="{0D108BD9-81ED-4DB2-BD59-A6C34878D82A}">
                    <a16:rowId xmlns:a16="http://schemas.microsoft.com/office/drawing/2014/main" val="10001"/>
                  </a:ext>
                </a:extLst>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extLst>
                  <a:ext uri="{0D108BD9-81ED-4DB2-BD59-A6C34878D82A}">
                    <a16:rowId xmlns:a16="http://schemas.microsoft.com/office/drawing/2014/main" val="10002"/>
                  </a:ext>
                </a:extLst>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extLst>
                  <a:ext uri="{0D108BD9-81ED-4DB2-BD59-A6C34878D82A}">
                    <a16:rowId xmlns:a16="http://schemas.microsoft.com/office/drawing/2014/main" val="10003"/>
                  </a:ext>
                </a:extLst>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extLst>
                  <a:ext uri="{0D108BD9-81ED-4DB2-BD59-A6C34878D82A}">
                    <a16:rowId xmlns:a16="http://schemas.microsoft.com/office/drawing/2014/main" val="10004"/>
                  </a:ext>
                </a:extLst>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endParaRPr sz="2000" b="0">
              <a:solidFill>
                <a:srgbClr val="222222"/>
              </a:solidFill>
              <a:latin typeface="Calibri"/>
            </a:endParaR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TotalTime>
  <Words>10356</Words>
  <Application>Microsoft Office PowerPoint</Application>
  <PresentationFormat>Widescreen</PresentationFormat>
  <Paragraphs>845</Paragraphs>
  <Slides>48</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Arial</vt:lpstr>
      <vt:lpstr>Calibri</vt:lpstr>
      <vt:lpstr>Consolas</vt:lpstr>
      <vt:lpstr>Office Theme</vt:lpstr>
      <vt:lpstr>PowerPoint Presentation</vt:lpstr>
      <vt:lpstr>What you will be able to do by the end</vt:lpstr>
      <vt:lpstr>Welcome</vt:lpstr>
      <vt:lpstr>Where this course goes</vt:lpstr>
      <vt:lpstr>Today, in order</vt:lpstr>
      <vt:lpstr>Mechatronics</vt:lpstr>
      <vt:lpstr>STEM, and where it shows up in this course</vt:lpstr>
      <vt:lpstr>The Pathfinder</vt:lpstr>
      <vt:lpstr>What is on the vehicle</vt:lpstr>
      <vt:lpstr>Every part, called out</vt:lpstr>
      <vt:lpstr>The board, from above</vt:lpstr>
      <vt:lpstr>The top plate is where your own work goes</vt:lpstr>
      <vt:lpstr>Three generations of Pathfinder</vt:lpstr>
      <vt:lpstr>Gen 2 and Gen 3  -  which vehicle are you holding?</vt:lpstr>
      <vt:lpstr>Gen 3, in two pictures</vt:lpstr>
      <vt:lpstr>What a self-test looks like  -  a demonstration</vt:lpstr>
      <vt:lpstr>How a command gets from your thumb to a wheel</vt:lpstr>
      <vt:lpstr>The ESP32 pins this vehicle actually uses</vt:lpstr>
      <vt:lpstr>The Gen 3 control board, drawn out</vt:lpstr>
      <vt:lpstr>What a microcontroller actually is</vt:lpstr>
      <vt:lpstr>The development system is two machines</vt:lpstr>
      <vt:lpstr>PowerPoint Presentation</vt:lpstr>
      <vt:lpstr>Step 1  -  install the Arduino IDE</vt:lpstr>
      <vt:lpstr>Step 2  -  install the board package</vt:lpstr>
      <vt:lpstr>Step 3  -  select the board and the port</vt:lpstr>
      <vt:lpstr>Step 4  -  install the libraries</vt:lpstr>
      <vt:lpstr>Every program in this course, and what it needs</vt:lpstr>
      <vt:lpstr>Getting the course files onto your computer</vt:lpstr>
      <vt:lpstr>PowerPoint Presentation</vt:lpstr>
      <vt:lpstr>Every program has the same three parts</vt:lpstr>
      <vt:lpstr>The ESP32 has no LED we can use, so you are going to give it one</vt:lpstr>
      <vt:lpstr>What a breadboard is</vt:lpstr>
      <vt:lpstr>The circuit you are about to build</vt:lpstr>
      <vt:lpstr>Building it</vt:lpstr>
      <vt:lpstr>Powering it from the vehicle, not from a battery</vt:lpstr>
      <vt:lpstr>l1a_blink  -  the whole program</vt:lpstr>
      <vt:lpstr>Do it now  -  blink</vt:lpstr>
      <vt:lpstr>PowerPoint Presentation</vt:lpstr>
      <vt:lpstr>The Serial Monitor</vt:lpstr>
      <vt:lpstr>Variables: named boxes that hold a value</vt:lpstr>
      <vt:lpstr>One trap worth meeting on day one</vt:lpstr>
      <vt:lpstr>Do it now  -  make it talk</vt:lpstr>
      <vt:lpstr>PowerPoint Presentation</vt:lpstr>
      <vt:lpstr>An addressable LED is a small computer of its own</vt:lpstr>
      <vt:lpstr>l1c_first_pixel  -  the important lines</vt:lpstr>
      <vt:lpstr>Do it now  -  light one pixel</vt:lpstr>
      <vt:lpstr>Safety, and looking after the vehicle</vt:lpstr>
      <vt:lpstr>Check yourself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Kevin Bowen</cp:lastModifiedBy>
  <cp:revision>1</cp:revision>
  <dcterms:created xsi:type="dcterms:W3CDTF">2013-01-27T09:14:16Z</dcterms:created>
  <dcterms:modified xsi:type="dcterms:W3CDTF">2026-09-07T16:18:57Z</dcterms:modified>
  <cp:category/>
</cp:coreProperties>
</file>