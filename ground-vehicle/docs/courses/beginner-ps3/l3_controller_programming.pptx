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Controllers charged and paired before the class starts. A flat pad costs you twenty minutes you do not have.</a:t>
            </a:r>
          </a:p>
          <a:p>
            <a:r>
              <a:rPr sz="1200">
                <a:latin typeface="Calibri"/>
              </a:rPr>
              <a:t>Today is the lesson they came for. Say so, then make them earn it - everything before the last hour is print-only.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Objective six, the failsafe, is the one that matters beyond this course. Flag it now and come back to it at the end.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Sixty seconds, then straight on.</a:t>
            </a:r>
          </a:p>
          <a:p>
            <a:r>
              <a:rPr sz="1200">
                <a:latin typeface="Calibri"/>
              </a:rPr>
              <a:t>The note is the discipline for the day: see the numbers first, drive second. It stops a room full of vehicles bolting during the first upload.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Point out that the vehicle does not move until 2:35. Manage the disappointment early rather than fighting it all lesson.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Keep the radio theory to two minutes. The one thing that must land is that every device has an address, and an address is like a phone number.</a:t>
            </a:r>
          </a:p>
          <a:p>
            <a:r>
              <a:rPr sz="1200">
                <a:latin typeface="Calibri"/>
              </a:rPr>
              <a:t>The channel-hopping detail answers the question they are about to ask: why twenty vehicles in one room actually works.</a:t>
            </a:r>
          </a:p>
          <a:p>
            <a:r>
              <a:rPr sz="1200">
                <a:latin typeface="Calibri"/>
              </a:rPr>
              <a:t>The 85% storage note is worth mentioning. It explains why a Bluetooth sketch takes so long to upload and why some boards run out of room.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Kevin's instruction, 2026-09-05: we program and label the controllers, so do not make students worry about how. Tell them what the sticker means and move on.</a:t>
            </a:r>
          </a:p>
          <a:p>
            <a:r>
              <a:rPr sz="1200">
                <a:latin typeface="Calibri"/>
              </a:rPr>
              <a:t>Say the odd part plainly all the same: on a PS3 pad it is the CONTROLLER that is told which vehicle to talk to, not the vehicle that chooses a controller.</a:t>
            </a:r>
          </a:p>
          <a:p>
            <a:r>
              <a:rPr sz="1200">
                <a:latin typeface="Calibri"/>
              </a:rPr>
              <a:t>FOR YOU, NOT FOR THE SLIDE - how the labelling is done. Plug the pad into a Windows PC over USB, open SixaxisPairTool, type the address in and click Update, then put the same address into PS3_MAC_ADDRESS in the sketch. The scheme is 02:02:03:04:05:NN, where NN is the vehicle number.</a:t>
            </a:r>
          </a:p>
          <a:p>
            <a:r>
              <a:rPr sz="1200">
                <a:latin typeface="Calibri"/>
              </a:rPr>
              <a:t>Also for you: the first pair of digits must be EVEN. An odd one silently fails to connect, which is a very confusing way to spend an afternoon.</a:t>
            </a:r>
          </a:p>
          <a:p>
            <a:r>
              <a:rPr sz="1200">
                <a:latin typeface="Calibri"/>
              </a:rPr>
              <a:t>Check the stickers around the room now, before anybody uploads. Every term somebody loses a morning to a pad that was picked up off the wrong table.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a reference page and it is deliberately nothing but the picture. Leave it up while they work.</a:t>
            </a:r>
          </a:p>
          <a:p>
            <a:r>
              <a:rPr sz="1200">
                <a:latin typeface="Calibri"/>
              </a:rPr>
              <a:t>Hold a real controller alongside it and name the parts. Two analog sticks, a D-pad, four face buttons, four shoulder buttons, two triggers, and three in the middle.</a:t>
            </a:r>
          </a:p>
          <a:p>
            <a:r>
              <a:rPr sz="1200">
                <a:latin typeface="Calibri"/>
              </a:rPr>
              <a:t>Every one of those has a name in the program, and they are about to press all of them and see what each is called.</a:t>
            </a:r>
          </a:p>
          <a:p>
            <a:r>
              <a:rPr sz="1200">
                <a:latin typeface="Calibri"/>
              </a:rPr>
              <a:t>Tell them to photograph this slide. They will want it again in Lessons 4 and 5.</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Read one row left to right and the whole thing is obvious: two pins, a driver chip, a motor.</a:t>
            </a:r>
          </a:p>
          <a:p>
            <a:r>
              <a:rPr sz="1200">
                <a:latin typeface="Calibri"/>
              </a:rPr>
              <a:t>The driver is the part worth naming. The ESP32 pin can supply about 20 milliamps at 3.3 volts. A motor wants amps at battery voltage. The DRV8871 is what stands between them.</a:t>
            </a:r>
          </a:p>
          <a:p>
            <a:r>
              <a:rPr sz="1200">
                <a:latin typeface="Calibri"/>
              </a:rPr>
              <a:t>Two pins per motor, not one. Which of the two you drive is what decides the direction - that is the H-bridge from Lesson 2.</a:t>
            </a:r>
          </a:p>
          <a:p>
            <a:r>
              <a:rPr sz="1200">
                <a:latin typeface="Calibri"/>
              </a:rPr>
              <a:t>Point out that the pin numbers on this slide are read out of the sketch when the deck is built, so if they look at the file they will find the same ones.</a:t>
            </a:r>
          </a:p>
          <a:p>
            <a:r>
              <a:rPr sz="1200">
                <a:latin typeface="Calibri"/>
              </a:rPr>
              <a:t>Worth pausing on the fact that all four rows are identical. Four motors is not four times the thinking - it is the same thinking, four times.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Digital and analog is a distinction they will use for the rest of their lives. Two minutes, properly.</a:t>
            </a:r>
          </a:p>
          <a:p>
            <a:r>
              <a:rPr sz="1200">
                <a:latin typeface="Calibri"/>
              </a:rPr>
              <a:t>Kevin caught this in the 2026-09-05 review: the PS3 triggers are ANALOG, not digital. So are the shoulder and face buttons - a Sixaxis reports pressure on all of them. Almost every program reads them as digital anyway, which is why it is easy to get wrong.</a:t>
            </a:r>
          </a:p>
          <a:p>
            <a:r>
              <a:rPr sz="1200">
                <a:latin typeface="Calibri"/>
              </a:rPr>
              <a:t>A press can read differently from a light one, and you can still treat any of them as a plain yes or no - which is mostly what we do, and why it is easy to get wrong.</a:t>
            </a:r>
          </a:p>
          <a:p>
            <a:r>
              <a:rPr sz="1200">
                <a:latin typeface="Calibri"/>
              </a:rPr>
              <a:t>If you have five spare minutes, have them squeeze a trigger slowly in l3a_controller_check and watch the number climb.</a:t>
            </a:r>
          </a:p>
          <a:p>
            <a:r>
              <a:rPr sz="1200">
                <a:latin typeface="Calibri"/>
              </a:rPr>
              <a:t>The warning panel is the one to read out. Push a stick up and the number goes negative - it catches everybody, and it is why there is a minus sign in the driving code.</a:t>
            </a:r>
          </a:p>
          <a:p>
            <a:r>
              <a:rPr sz="1200">
                <a:latin typeface="Calibri"/>
              </a:rPr>
              <a:t>Have a controller in your hand and press the things as you name them.</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Six degrees of freedom is genuinely useful vocabulary and it costs three minutes.</a:t>
            </a:r>
          </a:p>
          <a:p>
            <a:r>
              <a:rPr sz="1200">
                <a:latin typeface="Calibri"/>
              </a:rPr>
              <a:t>Demonstrate with your hand: three slides, three twists.</a:t>
            </a:r>
          </a:p>
          <a:p>
            <a:r>
              <a:rPr sz="1200">
                <a:latin typeface="Calibri"/>
              </a:rPr>
              <a:t>A rover on a flat floor really only has surge and yaw. That is why one stick is enough here and why a submersible pilot needs two.</a:t>
            </a:r>
          </a:p>
          <a:p>
            <a:r>
              <a:rPr sz="1200">
                <a:latin typeface="Calibri"/>
              </a:rPr>
              <a:t>The Sixaxis palindrome is a cheap laugh and it makes the name stick.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Six ways a rigid body can move. Three slides, three twists, and nothing else.</a:t>
            </a:r>
          </a:p>
          <a:p>
            <a:r>
              <a:rPr sz="1200">
                <a:latin typeface="Calibri"/>
              </a:rPr>
              <a:t>Demonstrate with your hand held flat before you show the diagram. Slide it forward, sideways, up. Then tip it, nose it down, spin it.</a:t>
            </a:r>
          </a:p>
          <a:p>
            <a:r>
              <a:rPr sz="1200">
                <a:latin typeface="Calibri"/>
              </a:rPr>
              <a:t>The two boxed in teal are the two a rover on a flat floor can actually control. That is why one stick with two axes is enough here.</a:t>
            </a:r>
          </a:p>
          <a:p>
            <a:r>
              <a:rPr sz="1200">
                <a:latin typeface="Calibri"/>
              </a:rPr>
              <a:t>A submersible or an aircraft controls all six, which is why an ROV pilot needs two sticks and far more practice.</a:t>
            </a:r>
          </a:p>
          <a:p>
            <a:r>
              <a:rPr sz="1200">
                <a:latin typeface="Calibri"/>
              </a:rPr>
              <a:t>Sway is the interesting one to ask about. A rover cannot slide sideways - it has to yaw and then surge. Ask them why.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First of three.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a reading exercise, not a driving one. Nothing moves.</a:t>
            </a:r>
          </a:p>
          <a:p>
            <a:r>
              <a:rPr sz="1200">
                <a:latin typeface="Calibri"/>
              </a:rPr>
              <a:t>Step 5 is the one that sets up the whole deadzone section: hands off, and watch the number refuse to sit at zero.</a:t>
            </a:r>
          </a:p>
          <a:p>
            <a:r>
              <a:rPr sz="1200">
                <a:latin typeface="Calibri"/>
              </a:rPr>
              <a:t>On the Switch track, step 7 gives them the MY_CONTROLLER line they need for the rest of the day. Make sure it is written down or pasted immediately - it is easy to lose.</a:t>
            </a:r>
          </a:p>
          <a:p>
            <a:r>
              <a:rPr sz="1200">
                <a:latin typeface="Calibri"/>
              </a:rPr>
              <a:t>Walk round with a list of button names. Somebody will find a button that prints nothing, and that is usually a third-party pad rather than a fault.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They measured the drift ten minutes ago. Ask for numbers before you explain anything.</a:t>
            </a:r>
          </a:p>
          <a:p>
            <a:r>
              <a:rPr sz="1200">
                <a:latin typeface="Calibri"/>
              </a:rPr>
              <a:t>Paint the picture: twenty vehicles creeping across a classroom floor with nobody touching a controller.</a:t>
            </a:r>
          </a:p>
          <a:p>
            <a:r>
              <a:rPr sz="1200">
                <a:latin typeface="Calibri"/>
              </a:rPr>
              <a:t>The deadzone value and percentage on this slide are read out of the sketch at build time, so they match the file they are about to edit.</a:t>
            </a:r>
          </a:p>
          <a:p>
            <a:r>
              <a:rPr sz="1200">
                <a:latin typeface="Calibri"/>
              </a:rPr>
              <a:t>The trade-off is the point: too small and it creeps, too big and you waste the stick. They will feel both in the next activity.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two numbers that matter are the deadzone and the top of the stick range. Everything else on the slide follows from those.</a:t>
            </a:r>
          </a:p>
          <a:p>
            <a:r>
              <a:rPr sz="1200">
                <a:latin typeface="Calibri"/>
              </a:rPr>
              <a:t>Ask why the line does not start at zero. The answer - a stick at rest is never exactly centerd - is worth getting from the room rather than telling them.</a:t>
            </a:r>
          </a:p>
          <a:p>
            <a:r>
              <a:rPr sz="1200">
                <a:latin typeface="Calibri"/>
              </a:rPr>
              <a:t>The jump at the deadzone edge is deliberate: below the minimum duty the motor buzzes instead of turning, so the map skips straight past it.</a:t>
            </a:r>
          </a:p>
          <a:p>
            <a:r>
              <a:rPr sz="1200">
                <a:latin typeface="Calibri"/>
              </a:rPr>
              <a:t>Come back to this diagram when somebody's vehicle creeps on its own.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map() is just proportion. Say that first, then show the three worked examples.</a:t>
            </a:r>
          </a:p>
          <a:p>
            <a:r>
              <a:rPr sz="1200">
                <a:latin typeface="Calibri"/>
              </a:rPr>
              <a:t>The important subtlety is on the last line: the low end is the DEADZONE, not zero. Without that, the leftover travel could never reach full speed.</a:t>
            </a:r>
          </a:p>
          <a:p>
            <a:r>
              <a:rPr sz="1200">
                <a:latin typeface="Calibri"/>
              </a:rPr>
              <a:t>map() does not clamp. Feed it something outside the range and you get something outside the range - which is exactly why constrain() exists.</a:t>
            </a:r>
          </a:p>
          <a:p>
            <a:r>
              <a:rPr sz="1200">
                <a:latin typeface="Calibri"/>
              </a:rPr>
              <a:t>Get them to work out one example on paper before the activity.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Two of three.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Print only. Nothing moves, so nobody needs a block.</a:t>
            </a:r>
          </a:p>
          <a:p>
            <a:r>
              <a:rPr sz="1200">
                <a:latin typeface="Calibri"/>
              </a:rPr>
              <a:t>Step 3 is the demonstration of the whole idea: deadzone at zero, hands off, and the numbers will not sit still.</a:t>
            </a:r>
          </a:p>
          <a:p>
            <a:r>
              <a:rPr sz="1200">
                <a:latin typeface="Calibri"/>
              </a:rPr>
              <a:t>Step 4 makes the opposite mistake on purpose. Ask them how much of the stick is left.</a:t>
            </a:r>
          </a:p>
          <a:p>
            <a:r>
              <a:rPr sz="1200">
                <a:latin typeface="Calibri"/>
              </a:rPr>
              <a:t>Step 5 previews MOTOR_MIN, which they met in Lesson 2. The jump the instant they leave the deadzone is what a raised minimum feels like.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lines of arithmetic. Write them on the board and work an example with the room before you show the slide.</a:t>
            </a:r>
          </a:p>
          <a:p>
            <a:r>
              <a:rPr sz="1200">
                <a:latin typeface="Calibri"/>
              </a:rPr>
              <a:t>The half-power steering choice is a design decision, not a limitation. Explain the reasoning: full-power steering spins faster than anybody can correct for.</a:t>
            </a:r>
          </a:p>
          <a:p>
            <a:r>
              <a:rPr sz="1200">
                <a:latin typeface="Calibri"/>
              </a:rPr>
              <a:t>constrain() is what catches forward 200 plus turn 60. Ask what would happen without it - the number wraps past what the motor can take and the vehicle turns the wrong way.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Read the first four lines twice. That is the failsafe, and it is the most important thing in the file.</a:t>
            </a:r>
          </a:p>
          <a:p>
            <a:r>
              <a:rPr sz="1200">
                <a:latin typeface="Calibri"/>
              </a:rPr>
              <a:t>The minus sign in front of leftStickY is the up-is-negative fix from earlier. Point back at it.</a:t>
            </a:r>
          </a:p>
          <a:p>
            <a:r>
              <a:rPr sz="1200">
                <a:latin typeface="Calibri"/>
              </a:rPr>
              <a:t>Ask which line sets speed and which sets steering, then which one limits steering to half.</a:t>
            </a:r>
          </a:p>
          <a:p>
            <a:r>
              <a:rPr sz="1200">
                <a:latin typeface="Calibri"/>
              </a:rPr>
              <a:t>This is the first program in the course they could plausibly have written themselves. Say so.</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then clear the floor.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Step 1 is not optional. Wheels off the ground, check up is forward and right is right, every single upload.</a:t>
            </a:r>
          </a:p>
          <a:p>
            <a:r>
              <a:rPr sz="1200">
                <a:latin typeface="Calibri"/>
              </a:rPr>
              <a:t>Step 3 is the failsafe demonstration. Have them do it deliberately, somewhere safe, and watch the vehicle stop dead.</a:t>
            </a:r>
          </a:p>
          <a:p>
            <a:r>
              <a:rPr sz="1200">
                <a:latin typeface="Calibri"/>
              </a:rPr>
              <a:t>Steps 5 and 6 are deliberate breakages, and the line numbers on the slide are read out of the sketch when the deck is built, so they are right for the track in front of you.</a:t>
            </a:r>
          </a:p>
          <a:p>
            <a:r>
              <a:rPr sz="1200">
                <a:latin typeface="Calibri"/>
              </a:rPr>
              <a:t>Swapped signs give a vehicle that steers backwards. Dropping the turn term from the right side only gives something that swings wide one way and barely turns the other - the left wheels still get forward + turn while the right ones get forward alone.</a:t>
            </a:r>
          </a:p>
          <a:p>
            <a:r>
              <a:rPr sz="1200">
                <a:latin typeface="Calibri"/>
              </a:rPr>
              <a:t>Make them put both back before they leave.</a:t>
            </a:r>
          </a:p>
          <a:p>
            <a:r>
              <a:rPr sz="1200">
                <a:latin typeface="Calibri"/>
              </a:rPr>
              <a:t>Give this the full thirty minutes. It is the payoff for three lessons of groundwork.</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Slow down. This is the most transferable idea in the whole course.</a:t>
            </a:r>
          </a:p>
          <a:p>
            <a:r>
              <a:rPr sz="1200">
                <a:latin typeface="Calibri"/>
              </a:rPr>
              <a:t>The only safe behavior is to stop. Not to carry on with the last command, and not to be clever.</a:t>
            </a:r>
          </a:p>
          <a:p>
            <a:r>
              <a:rPr sz="1200">
                <a:latin typeface="Calibri"/>
              </a:rPr>
              <a:t>Go round the examples: a drone hovers or returns home, a submersible surfaces, a ground vehicle stops. Ask why each is right for that vehicle.</a:t>
            </a:r>
          </a:p>
          <a:p>
            <a:r>
              <a:rPr sz="1200">
                <a:latin typeface="Calibri"/>
              </a:rPr>
              <a:t>End with the question on the slide and let it sit: on anything you ever build, what happens when the operator disappears?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not read this table out. Point at it and tell them to use it during the activity.</a:t>
            </a:r>
          </a:p>
          <a:p>
            <a:r>
              <a:rPr sz="1200">
                <a:latin typeface="Calibri"/>
              </a:rPr>
              <a:t>Worth printing and taping to the wall for the rest of the course.</a:t>
            </a:r>
          </a:p>
          <a:p>
            <a:r>
              <a:rPr sz="1200">
                <a:latin typeface="Calibri"/>
              </a:rPr>
              <a:t>Row three - somebody else's vehicle moving - is the funny one and the one that will actually happen.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Conversation, not a test.</a:t>
            </a:r>
          </a:p>
          <a:p>
            <a:r>
              <a:rPr sz="1200">
                <a:latin typeface="Calibri"/>
              </a:rPr>
              <a:t>Answers, in order: an address is the device's phone number and duplicates mean one pad drives two vehicles; the number is negative, hence the minus sign; a deadzone stops phantom creep, zero means it creeps and too big wastes the stick; map() is proportion.</a:t>
            </a:r>
          </a:p>
          <a:p>
            <a:r>
              <a:rPr sz="1200">
                <a:latin typeface="Calibri"/>
              </a:rPr>
              <a:t>For question 5: left gets 280 and right gets 80 before constrain, then 255 and 80 after.</a:t>
            </a:r>
          </a:p>
          <a:p>
            <a:r>
              <a:rPr sz="1200">
                <a:latin typeface="Calibri"/>
              </a:rPr>
              <a:t>For question 6: full-power steering is faster than a person can correct for.</a:t>
            </a:r>
          </a:p>
          <a:p>
            <a:r>
              <a:rPr sz="1200">
                <a:latin typeface="Calibri"/>
              </a:rPr>
              <a:t>Question 7 should be written out, not said. Check a few notebooks.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3</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Controller Programming</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Bluetooth, thumbsticks, deadzones, and turning a number from your thumb into a speed for four wheels.</a:t>
            </a:r>
          </a:p>
        </p:txBody>
      </p:sp>
      <p:sp>
        <p:nvSpPr>
          <p:cNvPr id="7" name="TextBox 6"/>
          <p:cNvSpPr txBox="1"/>
          <p:nvPr/>
        </p:nvSpPr>
        <p:spPr>
          <a:xfrm>
            <a:off x="502920" y="3931920"/>
            <a:ext cx="6492240" cy="2148840"/>
          </a:xfrm>
          <a:prstGeom prst="rect">
            <a:avLst/>
          </a:prstGeom>
          <a:noFill/>
        </p:spPr>
        <p:txBody>
          <a:bodyPr wrap="square" lIns="0" tIns="0" rIns="0" bIns="0">
            <a:spAutoFit/>
          </a:bodyPr>
          <a:lstStyle/>
          <a:p>
            <a:pPr algn="l">
              <a:lnSpc>
                <a:spcPct val="100000"/>
              </a:lnSpc>
              <a:spcAft>
                <a:spcPts val="100"/>
              </a:spcAft>
              <a:defRPr sz="1200" b="0">
                <a:solidFill>
                  <a:srgbClr val="666666"/>
                </a:solidFill>
                <a:latin typeface="Calibri"/>
              </a:defRPr>
            </a:pPr>
            <a:r>
              <a:rPr sz="1200" b="0">
                <a:solidFill>
                  <a:srgbClr val="666666"/>
                </a:solidFill>
                <a:latin typeface="Calibri"/>
              </a:rPr>
              <a:t>PORPOISE ROBOTICS  -  Precision Oceanographic Program On and In the Sea Environment</a:t>
            </a:r>
          </a:p>
          <a:p>
            <a:pPr algn="l">
              <a:lnSpc>
                <a:spcPct val="100000"/>
              </a:lnSpc>
              <a:spcAft>
                <a:spcPts val="100"/>
              </a:spcAft>
              <a:defRPr sz="1200" b="0">
                <a:solidFill>
                  <a:srgbClr val="666666"/>
                </a:solidFill>
                <a:latin typeface="Calibri"/>
              </a:defRPr>
            </a:pPr>
            <a:r>
              <a:rPr sz="1200" b="0">
                <a:solidFill>
                  <a:srgbClr val="666666"/>
                </a:solidFill>
                <a:latin typeface="Calibri"/>
              </a:rPr>
              <a:t>porpoiserobotics.org</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Kevin Bowen, President  -  kbowen6@icloud.com</a:t>
            </a:r>
          </a:p>
          <a:p>
            <a:pPr algn="l">
              <a:lnSpc>
                <a:spcPct val="100000"/>
              </a:lnSpc>
              <a:spcAft>
                <a:spcPts val="100"/>
              </a:spcAft>
              <a:defRPr sz="1200" b="0">
                <a:solidFill>
                  <a:srgbClr val="666666"/>
                </a:solidFill>
                <a:latin typeface="Calibri"/>
              </a:defRPr>
            </a:pPr>
            <a:r>
              <a:rPr sz="1200" b="0">
                <a:solidFill>
                  <a:srgbClr val="666666"/>
                </a:solidFill>
                <a:latin typeface="Calibri"/>
              </a:rPr>
              <a:t>Malcom Graham, VP Education      Louis Parker, VP Technology</a:t>
            </a:r>
          </a:p>
          <a:p>
            <a:pPr algn="l">
              <a:lnSpc>
                <a:spcPct val="100000"/>
              </a:lnSpc>
              <a:spcAft>
                <a:spcPts val="100"/>
              </a:spcAft>
              <a:defRPr sz="1200" b="0">
                <a:solidFill>
                  <a:srgbClr val="666666"/>
                </a:solidFill>
                <a:latin typeface="Calibri"/>
              </a:defRPr>
            </a:pPr>
            <a:r>
              <a:rPr sz="1200" b="0">
                <a:solidFill>
                  <a:srgbClr val="666666"/>
                </a:solidFill>
                <a:latin typeface="Calibri"/>
              </a:rPr>
              <a:t>Valen Farre, System Engineer      Gary Howland, Animation</a:t>
            </a:r>
          </a:p>
          <a:p>
            <a:pPr algn="l">
              <a:lnSpc>
                <a:spcPct val="100000"/>
              </a:lnSpc>
              <a:spcAft>
                <a:spcPts val="100"/>
              </a:spcAft>
              <a:defRPr sz="1200" b="0">
                <a:solidFill>
                  <a:srgbClr val="666666"/>
                </a:solidFill>
                <a:latin typeface="Calibri"/>
              </a:defRPr>
            </a:pPr>
            <a:r>
              <a:rPr sz="1200" b="0">
                <a:solidFill>
                  <a:srgbClr val="666666"/>
                </a:solidFill>
                <a:latin typeface="Calibri"/>
              </a:rPr>
              <a:t>Eddie Revollo, Artificial Intelligence</a:t>
            </a:r>
          </a:p>
          <a:p>
            <a:pPr algn="l">
              <a:lnSpc>
                <a:spcPct val="100000"/>
              </a:lnSpc>
              <a:spcAft>
                <a:spcPts val="100"/>
              </a:spcAft>
              <a:defRPr sz="1200" b="0">
                <a:solidFill>
                  <a:srgbClr val="666666"/>
                </a:solidFill>
                <a:latin typeface="Calibri"/>
              </a:defRPr>
            </a:pPr>
            <a:r>
              <a:rPr sz="1200" b="0">
                <a:solidFill>
                  <a:srgbClr val="666666"/>
                </a:solidFill>
                <a:latin typeface="Calibri"/>
              </a:rPr>
              <a:t>Interns: Oscar Canazales, Krishnansh Vemulapalli, Soham Gangal, Erik Olsen</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Three hours.  Bring the PS3 controller paired to your vehicle.</a:t>
            </a:r>
          </a:p>
        </p:txBody>
      </p:sp>
      <p:pic>
        <p:nvPicPr>
          <p:cNvPr id="8" name="Picture 7" descr="vehicle-with-ps3-controller.jpg"/>
          <p:cNvPicPr>
            <a:picLocks noChangeAspect="1"/>
          </p:cNvPicPr>
          <p:nvPr/>
        </p:nvPicPr>
        <p:blipFill>
          <a:blip r:embed="rId3"/>
          <a:stretch>
            <a:fillRect/>
          </a:stretch>
        </p:blipFill>
        <p:spPr>
          <a:xfrm>
            <a:off x="7223760" y="2023110"/>
            <a:ext cx="4480560" cy="3360420"/>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you will be able to do by the 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a:t>
            </a:r>
          </a:p>
        </p:txBody>
      </p:sp>
      <p:sp>
        <p:nvSpPr>
          <p:cNvPr id="6" name="TextBox 5"/>
          <p:cNvSpPr txBox="1"/>
          <p:nvPr/>
        </p:nvSpPr>
        <p:spPr>
          <a:xfrm>
            <a:off x="502920" y="1188720"/>
            <a:ext cx="11185855" cy="50292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By the end of this lesson you will be able to:</a:t>
            </a:r>
          </a:p>
        </p:txBody>
      </p:sp>
      <p:sp>
        <p:nvSpPr>
          <p:cNvPr id="7" name="TextBox 6"/>
          <p:cNvSpPr txBox="1"/>
          <p:nvPr/>
        </p:nvSpPr>
        <p:spPr>
          <a:xfrm>
            <a:off x="502920" y="1737360"/>
            <a:ext cx="11185855" cy="4526280"/>
          </a:xfrm>
          <a:prstGeom prst="rect">
            <a:avLst/>
          </a:prstGeom>
          <a:noFill/>
        </p:spPr>
        <p:txBody>
          <a:bodyPr wrap="square" lIns="0" tIns="0" rIns="0" bIns="0">
            <a:spAutoFit/>
          </a:bodyPr>
          <a:lstStyle/>
          <a:p>
            <a:pPr algn="l">
              <a:lnSpc>
                <a:spcPct val="100000"/>
              </a:lnSpc>
              <a:spcAft>
                <a:spcPts val="1300"/>
              </a:spcAft>
              <a:defRPr sz="1900" b="0">
                <a:solidFill>
                  <a:srgbClr val="222222"/>
                </a:solidFill>
                <a:latin typeface="Calibri"/>
              </a:defRPr>
            </a:pPr>
            <a:r>
              <a:rPr sz="1900" b="0">
                <a:solidFill>
                  <a:srgbClr val="222222"/>
                </a:solidFill>
                <a:latin typeface="Calibri"/>
              </a:rPr>
              <a:t>1.   Explain how a controller reaches one vehicle and not another</a:t>
            </a:r>
          </a:p>
          <a:p>
            <a:pPr algn="l">
              <a:lnSpc>
                <a:spcPct val="100000"/>
              </a:lnSpc>
              <a:spcAft>
                <a:spcPts val="1300"/>
              </a:spcAft>
              <a:defRPr sz="1900" b="0">
                <a:solidFill>
                  <a:srgbClr val="222222"/>
                </a:solidFill>
                <a:latin typeface="Calibri"/>
              </a:defRPr>
            </a:pPr>
            <a:r>
              <a:rPr sz="1900" b="0">
                <a:solidFill>
                  <a:srgbClr val="222222"/>
                </a:solidFill>
                <a:latin typeface="Calibri"/>
              </a:rPr>
              <a:t>2.   Say what a deadzone is for, and what goes wrong without one</a:t>
            </a:r>
          </a:p>
          <a:p>
            <a:pPr algn="l">
              <a:lnSpc>
                <a:spcPct val="100000"/>
              </a:lnSpc>
              <a:spcAft>
                <a:spcPts val="1300"/>
              </a:spcAft>
              <a:defRPr sz="1900" b="0">
                <a:solidFill>
                  <a:srgbClr val="222222"/>
                </a:solidFill>
                <a:latin typeface="Calibri"/>
              </a:defRPr>
            </a:pPr>
            <a:r>
              <a:rPr sz="1900" b="0">
                <a:solidFill>
                  <a:srgbClr val="222222"/>
                </a:solidFill>
                <a:latin typeface="Calibri"/>
              </a:rPr>
              <a:t>3.   Use map() to turn a stick reading into a motor speed</a:t>
            </a:r>
          </a:p>
          <a:p>
            <a:pPr algn="l">
              <a:lnSpc>
                <a:spcPct val="100000"/>
              </a:lnSpc>
              <a:spcAft>
                <a:spcPts val="1300"/>
              </a:spcAft>
              <a:defRPr sz="1900" b="0">
                <a:solidFill>
                  <a:srgbClr val="222222"/>
                </a:solidFill>
                <a:latin typeface="Calibri"/>
              </a:defRPr>
            </a:pPr>
            <a:r>
              <a:rPr sz="1900" b="0">
                <a:solidFill>
                  <a:srgbClr val="222222"/>
                </a:solidFill>
                <a:latin typeface="Calibri"/>
              </a:rPr>
              <a:t>4.   Mix a forward value and a turn value into two wheel speeds</a:t>
            </a:r>
          </a:p>
          <a:p>
            <a:pPr algn="l">
              <a:lnSpc>
                <a:spcPct val="100000"/>
              </a:lnSpc>
              <a:spcAft>
                <a:spcPts val="1300"/>
              </a:spcAft>
              <a:defRPr sz="1900" b="0">
                <a:solidFill>
                  <a:srgbClr val="222222"/>
                </a:solidFill>
                <a:latin typeface="Calibri"/>
              </a:defRPr>
            </a:pPr>
            <a:r>
              <a:rPr sz="1900" b="0">
                <a:solidFill>
                  <a:srgbClr val="222222"/>
                </a:solidFill>
                <a:latin typeface="Calibri"/>
              </a:rPr>
              <a:t>5.   Drive the vehicle under your own control</a:t>
            </a:r>
          </a:p>
          <a:p>
            <a:pPr algn="l">
              <a:lnSpc>
                <a:spcPct val="100000"/>
              </a:lnSpc>
              <a:spcAft>
                <a:spcPts val="1300"/>
              </a:spcAft>
              <a:defRPr sz="1900" b="0">
                <a:solidFill>
                  <a:srgbClr val="222222"/>
                </a:solidFill>
                <a:latin typeface="Calibri"/>
              </a:defRPr>
            </a:pPr>
            <a:r>
              <a:rPr sz="1900" b="0">
                <a:solidFill>
                  <a:srgbClr val="222222"/>
                </a:solidFill>
                <a:latin typeface="Calibri"/>
              </a:rPr>
              <a:t>6.   Write the failsafe that stops the motors when the controller drops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got to last lesson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900"/>
              </a:spcAft>
              <a:defRPr sz="2800" b="0">
                <a:solidFill>
                  <a:srgbClr val="222222"/>
                </a:solidFill>
                <a:latin typeface="Calibri"/>
              </a:defRPr>
            </a:pPr>
            <a:r>
              <a:rPr sz="2800" b="0">
                <a:solidFill>
                  <a:srgbClr val="222222"/>
                </a:solidFill>
                <a:latin typeface="Calibri"/>
              </a:rPr>
              <a:t>You know how an H-bridge reverses a motor, and how PWM sets its speed.</a:t>
            </a:r>
          </a:p>
          <a:p>
            <a:pPr algn="l">
              <a:lnSpc>
                <a:spcPct val="100000"/>
              </a:lnSpc>
              <a:spcAft>
                <a:spcPts val="900"/>
              </a:spcAft>
              <a:defRPr sz="2800" b="0">
                <a:solidFill>
                  <a:srgbClr val="222222"/>
                </a:solidFill>
                <a:latin typeface="Calibri"/>
              </a:defRPr>
            </a:pPr>
            <a:r>
              <a:rPr sz="2800" b="0">
                <a:solidFill>
                  <a:srgbClr val="222222"/>
                </a:solidFill>
                <a:latin typeface="Calibri"/>
              </a:rPr>
              <a:t>You watched duty and speed change together on the Serial Monitor.</a:t>
            </a:r>
          </a:p>
          <a:p>
            <a:pPr algn="l">
              <a:lnSpc>
                <a:spcPct val="100000"/>
              </a:lnSpc>
              <a:spcAft>
                <a:spcPts val="900"/>
              </a:spcAft>
              <a:defRPr sz="2800" b="0">
                <a:solidFill>
                  <a:srgbClr val="222222"/>
                </a:solidFill>
                <a:latin typeface="Calibri"/>
              </a:defRPr>
            </a:pPr>
            <a:r>
              <a:rPr sz="2800" b="0">
                <a:solidFill>
                  <a:srgbClr val="222222"/>
                </a:solidFill>
                <a:latin typeface="Calibri"/>
              </a:rPr>
              <a:t>You drove a square you calculated, and found out why it did not close.</a:t>
            </a:r>
          </a:p>
          <a:p>
            <a:pPr algn="l">
              <a:lnSpc>
                <a:spcPct val="100000"/>
              </a:lnSpc>
              <a:spcAft>
                <a:spcPts val="900"/>
              </a:spcAft>
              <a:defRPr sz="1400" b="0">
                <a:solidFill>
                  <a:srgbClr val="222222"/>
                </a:solidFill>
                <a:latin typeface="Calibri"/>
              </a:defRPr>
            </a:pPr>
          </a:p>
          <a:p>
            <a:pPr algn="l">
              <a:lnSpc>
                <a:spcPct val="100000"/>
              </a:lnSpc>
              <a:spcAft>
                <a:spcPts val="900"/>
              </a:spcAft>
              <a:defRPr sz="2800" b="0">
                <a:solidFill>
                  <a:srgbClr val="222222"/>
                </a:solidFill>
                <a:latin typeface="Calibri"/>
              </a:defRPr>
            </a:pPr>
            <a:r>
              <a:rPr sz="2800" b="0">
                <a:solidFill>
                  <a:srgbClr val="222222"/>
                </a:solidFill>
                <a:latin typeface="Calibri"/>
              </a:rPr>
              <a:t>Today you take the wheel.</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Everything today until the last hour is print-only. Nothing moves until you have seen the numbers first.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a:t>
            </a:r>
          </a:p>
        </p:txBody>
      </p:sp>
      <p:graphicFrame>
        <p:nvGraphicFramePr>
          <p:cNvPr id="6" name="Table 5"/>
          <p:cNvGraphicFramePr>
            <a:graphicFrameLocks noGrp="1"/>
          </p:cNvGraphicFramePr>
          <p:nvPr/>
        </p:nvGraphicFramePr>
        <p:xfrm>
          <a:off x="502920" y="1188720"/>
          <a:ext cx="11185854" cy="5029200"/>
        </p:xfrm>
        <a:graphic>
          <a:graphicData uri="http://schemas.openxmlformats.org/drawingml/2006/table">
            <a:tbl>
              <a:tblPr firstRow="1" bandRow="1">
                <a:tableStyleId>{5C22544A-7EE6-4342-B048-85BDC9FD1C3A}</a:tableStyleId>
              </a:tblPr>
              <a:tblGrid>
                <a:gridCol w="1118585"/>
                <a:gridCol w="10067269"/>
              </a:tblGrid>
              <a:tr h="457200">
                <a:tc>
                  <a:txBody>
                    <a:bodyPr/>
                    <a:lstStyle/>
                    <a:p>
                      <a:r>
                        <a:rPr sz="2400" b="1">
                          <a:solidFill>
                            <a:srgbClr val="FFFFFF"/>
                          </a:solidFill>
                          <a:latin typeface="Calibri"/>
                        </a:rPr>
                        <a:t>Time</a:t>
                      </a:r>
                    </a:p>
                  </a:txBody>
                  <a:tcPr marL="73152" marT="18288" marB="18288">
                    <a:solidFill>
                      <a:srgbClr val="1F3A5F"/>
                    </a:solidFill>
                  </a:tcPr>
                </a:tc>
                <a:tc>
                  <a:txBody>
                    <a:bodyPr/>
                    <a:lstStyle/>
                    <a:p>
                      <a:r>
                        <a:rPr sz="2400" b="1">
                          <a:solidFill>
                            <a:srgbClr val="FFFFFF"/>
                          </a:solidFill>
                          <a:latin typeface="Calibri"/>
                        </a:rPr>
                        <a:t>What we do</a:t>
                      </a:r>
                    </a:p>
                  </a:txBody>
                  <a:tcPr marL="73152" marT="18288" marB="18288">
                    <a:solidFill>
                      <a:srgbClr val="1F3A5F"/>
                    </a:solidFill>
                  </a:tcPr>
                </a:tc>
              </a:tr>
              <a:tr h="457200">
                <a:tc>
                  <a:txBody>
                    <a:bodyPr/>
                    <a:lstStyle/>
                    <a:p>
                      <a:r>
                        <a:rPr sz="2400">
                          <a:solidFill>
                            <a:srgbClr val="222222"/>
                          </a:solidFill>
                          <a:latin typeface="Calibri"/>
                        </a:rPr>
                        <a:t>0:00</a:t>
                      </a:r>
                    </a:p>
                  </a:txBody>
                  <a:tcPr marL="73152" marT="18288" marB="18288">
                    <a:solidFill>
                      <a:srgbClr val="FFFFFF"/>
                    </a:solidFill>
                  </a:tcPr>
                </a:tc>
                <a:tc>
                  <a:txBody>
                    <a:bodyPr/>
                    <a:lstStyle/>
                    <a:p>
                      <a:r>
                        <a:rPr sz="2400">
                          <a:solidFill>
                            <a:srgbClr val="222222"/>
                          </a:solidFill>
                          <a:latin typeface="Calibri"/>
                        </a:rPr>
                        <a:t>Recap. What Bluetooth is, and how a pad finds a vehicle</a:t>
                      </a:r>
                    </a:p>
                  </a:txBody>
                  <a:tcPr marL="73152" marT="18288" marB="18288">
                    <a:solidFill>
                      <a:srgbClr val="FFFFFF"/>
                    </a:solidFill>
                  </a:tcPr>
                </a:tc>
              </a:tr>
              <a:tr h="457200">
                <a:tc>
                  <a:txBody>
                    <a:bodyPr/>
                    <a:lstStyle/>
                    <a:p>
                      <a:r>
                        <a:rPr sz="2400">
                          <a:solidFill>
                            <a:srgbClr val="222222"/>
                          </a:solidFill>
                          <a:latin typeface="Calibri"/>
                        </a:rPr>
                        <a:t>0:25</a:t>
                      </a:r>
                    </a:p>
                  </a:txBody>
                  <a:tcPr marL="73152" marT="18288" marB="18288">
                    <a:solidFill>
                      <a:srgbClr val="EEF3F8"/>
                    </a:solidFill>
                  </a:tcPr>
                </a:tc>
                <a:tc>
                  <a:txBody>
                    <a:bodyPr/>
                    <a:lstStyle/>
                    <a:p>
                      <a:r>
                        <a:rPr sz="2400">
                          <a:solidFill>
                            <a:srgbClr val="222222"/>
                          </a:solidFill>
                          <a:latin typeface="Calibri"/>
                        </a:rPr>
                        <a:t>One vehicle, one controller</a:t>
                      </a:r>
                    </a:p>
                  </a:txBody>
                  <a:tcPr marL="73152" marT="18288" marB="18288">
                    <a:solidFill>
                      <a:srgbClr val="EEF3F8"/>
                    </a:solidFill>
                  </a:tcPr>
                </a:tc>
              </a:tr>
              <a:tr h="457200">
                <a:tc>
                  <a:txBody>
                    <a:bodyPr/>
                    <a:lstStyle/>
                    <a:p>
                      <a:r>
                        <a:rPr sz="2400">
                          <a:solidFill>
                            <a:srgbClr val="222222"/>
                          </a:solidFill>
                          <a:latin typeface="Calibri"/>
                        </a:rPr>
                        <a:t>0:50</a:t>
                      </a:r>
                    </a:p>
                  </a:txBody>
                  <a:tcPr marL="73152" marT="18288" marB="18288">
                    <a:solidFill>
                      <a:srgbClr val="FFFFFF"/>
                    </a:solidFill>
                  </a:tcPr>
                </a:tc>
                <a:tc>
                  <a:txBody>
                    <a:bodyPr/>
                    <a:lstStyle/>
                    <a:p>
                      <a:r>
                        <a:rPr sz="2400">
                          <a:solidFill>
                            <a:srgbClr val="222222"/>
                          </a:solidFill>
                          <a:latin typeface="Calibri"/>
                        </a:rPr>
                        <a:t>Upload l3a_controller_check. Find every button and axis</a:t>
                      </a:r>
                    </a:p>
                  </a:txBody>
                  <a:tcPr marL="73152" marT="18288" marB="18288">
                    <a:solidFill>
                      <a:srgbClr val="FFFFFF"/>
                    </a:solidFill>
                  </a:tcPr>
                </a:tc>
              </a:tr>
              <a:tr h="457200">
                <a:tc>
                  <a:txBody>
                    <a:bodyPr/>
                    <a:lstStyle/>
                    <a:p>
                      <a:r>
                        <a:rPr sz="2400">
                          <a:solidFill>
                            <a:srgbClr val="222222"/>
                          </a:solidFill>
                          <a:latin typeface="Calibri"/>
                        </a:rPr>
                        <a:t>1:15</a:t>
                      </a:r>
                    </a:p>
                  </a:txBody>
                  <a:tcPr marL="73152" marT="18288" marB="18288">
                    <a:solidFill>
                      <a:srgbClr val="EEF3F8"/>
                    </a:solidFill>
                  </a:tcPr>
                </a:tc>
                <a:tc>
                  <a:txBody>
                    <a:bodyPr/>
                    <a:lstStyle/>
                    <a:p>
                      <a:r>
                        <a:rPr sz="2400">
                          <a:solidFill>
                            <a:srgbClr val="222222"/>
                          </a:solidFill>
                          <a:latin typeface="Calibri"/>
                        </a:rPr>
                        <a:t>BREAK  (10 minutes)</a:t>
                      </a:r>
                    </a:p>
                  </a:txBody>
                  <a:tcPr marL="73152" marT="18288" marB="18288">
                    <a:solidFill>
                      <a:srgbClr val="EEF3F8"/>
                    </a:solidFill>
                  </a:tcPr>
                </a:tc>
              </a:tr>
              <a:tr h="457200">
                <a:tc>
                  <a:txBody>
                    <a:bodyPr/>
                    <a:lstStyle/>
                    <a:p>
                      <a:r>
                        <a:rPr sz="2400">
                          <a:solidFill>
                            <a:srgbClr val="222222"/>
                          </a:solidFill>
                          <a:latin typeface="Calibri"/>
                        </a:rPr>
                        <a:t>1:25</a:t>
                      </a:r>
                    </a:p>
                  </a:txBody>
                  <a:tcPr marL="73152" marT="18288" marB="18288">
                    <a:solidFill>
                      <a:srgbClr val="FFFFFF"/>
                    </a:solidFill>
                  </a:tcPr>
                </a:tc>
                <a:tc>
                  <a:txBody>
                    <a:bodyPr/>
                    <a:lstStyle/>
                    <a:p>
                      <a:r>
                        <a:rPr sz="2400">
                          <a:solidFill>
                            <a:srgbClr val="222222"/>
                          </a:solidFill>
                          <a:latin typeface="Calibri"/>
                        </a:rPr>
                        <a:t>The deadzone problem, and map()</a:t>
                      </a:r>
                    </a:p>
                  </a:txBody>
                  <a:tcPr marL="73152" marT="18288" marB="18288">
                    <a:solidFill>
                      <a:srgbClr val="FFFFFF"/>
                    </a:solidFill>
                  </a:tcPr>
                </a:tc>
              </a:tr>
              <a:tr h="457200">
                <a:tc>
                  <a:txBody>
                    <a:bodyPr/>
                    <a:lstStyle/>
                    <a:p>
                      <a:r>
                        <a:rPr sz="2400">
                          <a:solidFill>
                            <a:srgbClr val="222222"/>
                          </a:solidFill>
                          <a:latin typeface="Calibri"/>
                        </a:rPr>
                        <a:t>1:50</a:t>
                      </a:r>
                    </a:p>
                  </a:txBody>
                  <a:tcPr marL="73152" marT="18288" marB="18288">
                    <a:solidFill>
                      <a:srgbClr val="EEF3F8"/>
                    </a:solidFill>
                  </a:tcPr>
                </a:tc>
                <a:tc>
                  <a:txBody>
                    <a:bodyPr/>
                    <a:lstStyle/>
                    <a:p>
                      <a:r>
                        <a:rPr sz="2400">
                          <a:solidFill>
                            <a:srgbClr val="222222"/>
                          </a:solidFill>
                          <a:latin typeface="Calibri"/>
                        </a:rPr>
                        <a:t>Upload l3b_deadzone_and_map. Watch the arithmetic</a:t>
                      </a:r>
                    </a:p>
                  </a:txBody>
                  <a:tcPr marL="73152" marT="18288" marB="18288">
                    <a:solidFill>
                      <a:srgbClr val="EEF3F8"/>
                    </a:solidFill>
                  </a:tcPr>
                </a:tc>
              </a:tr>
              <a:tr h="457200">
                <a:tc>
                  <a:txBody>
                    <a:bodyPr/>
                    <a:lstStyle/>
                    <a:p>
                      <a:r>
                        <a:rPr sz="2400">
                          <a:solidFill>
                            <a:srgbClr val="222222"/>
                          </a:solidFill>
                          <a:latin typeface="Calibri"/>
                        </a:rPr>
                        <a:t>2:10</a:t>
                      </a:r>
                    </a:p>
                  </a:txBody>
                  <a:tcPr marL="73152" marT="18288" marB="18288">
                    <a:solidFill>
                      <a:srgbClr val="FFFFFF"/>
                    </a:solidFill>
                  </a:tcPr>
                </a:tc>
                <a:tc>
                  <a:txBody>
                    <a:bodyPr/>
                    <a:lstStyle/>
                    <a:p>
                      <a:r>
                        <a:rPr sz="2400">
                          <a:solidFill>
                            <a:srgbClr val="222222"/>
                          </a:solidFill>
                          <a:latin typeface="Calibri"/>
                        </a:rPr>
                        <a:t>BREAK  (10 minutes)</a:t>
                      </a:r>
                    </a:p>
                  </a:txBody>
                  <a:tcPr marL="73152" marT="18288" marB="18288">
                    <a:solidFill>
                      <a:srgbClr val="FFFFFF"/>
                    </a:solidFill>
                  </a:tcPr>
                </a:tc>
              </a:tr>
              <a:tr h="457200">
                <a:tc>
                  <a:txBody>
                    <a:bodyPr/>
                    <a:lstStyle/>
                    <a:p>
                      <a:r>
                        <a:rPr sz="2400">
                          <a:solidFill>
                            <a:srgbClr val="222222"/>
                          </a:solidFill>
                          <a:latin typeface="Calibri"/>
                        </a:rPr>
                        <a:t>2:20</a:t>
                      </a:r>
                    </a:p>
                  </a:txBody>
                  <a:tcPr marL="73152" marT="18288" marB="18288">
                    <a:solidFill>
                      <a:srgbClr val="EEF3F8"/>
                    </a:solidFill>
                  </a:tcPr>
                </a:tc>
                <a:tc>
                  <a:txBody>
                    <a:bodyPr/>
                    <a:lstStyle/>
                    <a:p>
                      <a:r>
                        <a:rPr sz="2400">
                          <a:solidFill>
                            <a:srgbClr val="222222"/>
                          </a:solidFill>
                          <a:latin typeface="Calibri"/>
                        </a:rPr>
                        <a:t>Mixing forward and turn</a:t>
                      </a:r>
                    </a:p>
                  </a:txBody>
                  <a:tcPr marL="73152" marT="18288" marB="18288">
                    <a:solidFill>
                      <a:srgbClr val="EEF3F8"/>
                    </a:solidFill>
                  </a:tcPr>
                </a:tc>
              </a:tr>
              <a:tr h="457200">
                <a:tc>
                  <a:txBody>
                    <a:bodyPr/>
                    <a:lstStyle/>
                    <a:p>
                      <a:r>
                        <a:rPr sz="2400">
                          <a:solidFill>
                            <a:srgbClr val="222222"/>
                          </a:solidFill>
                          <a:latin typeface="Calibri"/>
                        </a:rPr>
                        <a:t>2:35</a:t>
                      </a:r>
                    </a:p>
                  </a:txBody>
                  <a:tcPr marL="73152" marT="18288" marB="18288">
                    <a:solidFill>
                      <a:srgbClr val="FFFFFF"/>
                    </a:solidFill>
                  </a:tcPr>
                </a:tc>
                <a:tc>
                  <a:txBody>
                    <a:bodyPr/>
                    <a:lstStyle/>
                    <a:p>
                      <a:r>
                        <a:rPr sz="2400">
                          <a:solidFill>
                            <a:srgbClr val="222222"/>
                          </a:solidFill>
                          <a:latin typeface="Calibri"/>
                        </a:rPr>
                        <a:t>Upload l3c_tank_drive. Drive it</a:t>
                      </a:r>
                    </a:p>
                  </a:txBody>
                  <a:tcPr marL="73152" marT="18288" marB="18288">
                    <a:solidFill>
                      <a:srgbClr val="FFFFFF"/>
                    </a:solidFill>
                  </a:tcPr>
                </a:tc>
              </a:tr>
              <a:tr h="457200">
                <a:tc>
                  <a:txBody>
                    <a:bodyPr/>
                    <a:lstStyle/>
                    <a:p>
                      <a:r>
                        <a:rPr sz="2400">
                          <a:solidFill>
                            <a:srgbClr val="222222"/>
                          </a:solidFill>
                          <a:latin typeface="Calibri"/>
                        </a:rPr>
                        <a:t>2:55</a:t>
                      </a:r>
                    </a:p>
                  </a:txBody>
                  <a:tcPr marL="73152" marT="18288" marB="18288">
                    <a:solidFill>
                      <a:srgbClr val="EEF3F8"/>
                    </a:solidFill>
                  </a:tcPr>
                </a:tc>
                <a:tc>
                  <a:txBody>
                    <a:bodyPr/>
                    <a:lstStyle/>
                    <a:p>
                      <a:r>
                        <a:rPr sz="2400">
                          <a:solidFill>
                            <a:srgbClr val="222222"/>
                          </a:solidFill>
                          <a:latin typeface="Calibri"/>
                        </a:rPr>
                        <a:t>Failsafe, and what happens when the link drops</a:t>
                      </a:r>
                    </a:p>
                  </a:txBody>
                  <a:tcPr marL="73152" marT="18288" marB="18288">
                    <a:solidFill>
                      <a:srgbClr val="EEF3F8"/>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Bluetooth is doing</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A radio link, and a phone number for each device</a:t>
            </a:r>
          </a:p>
        </p:txBody>
      </p:sp>
      <p:sp>
        <p:nvSpPr>
          <p:cNvPr id="7" name="TextBox 6"/>
          <p:cNvSpPr txBox="1"/>
          <p:nvPr/>
        </p:nvSpPr>
        <p:spPr>
          <a:xfrm>
            <a:off x="502920" y="1755648"/>
            <a:ext cx="5364327" cy="3419856"/>
          </a:xfrm>
          <a:prstGeom prst="rect">
            <a:avLst/>
          </a:prstGeom>
          <a:noFill/>
        </p:spPr>
        <p:txBody>
          <a:bodyPr wrap="square" lIns="0" tIns="0" rIns="0" bIns="0">
            <a:spAutoFit/>
          </a:bodyPr>
          <a:lstStyle/>
          <a:p>
            <a:pPr algn="l">
              <a:lnSpc>
                <a:spcPct val="100000"/>
              </a:lnSpc>
              <a:spcAft>
                <a:spcPts val="900"/>
              </a:spcAft>
              <a:defRPr sz="1900" b="0">
                <a:solidFill>
                  <a:srgbClr val="222222"/>
                </a:solidFill>
                <a:latin typeface="Calibri"/>
              </a:defRPr>
            </a:pPr>
            <a:r>
              <a:rPr sz="1900" b="0">
                <a:solidFill>
                  <a:srgbClr val="222222"/>
                </a:solidFill>
                <a:latin typeface="Calibri"/>
              </a:rPr>
              <a:t>A short-range radio link in the 2.4 GHz band - the same band as Wi-Fi, microwave ovens and almost everything else.</a:t>
            </a:r>
          </a:p>
          <a:p>
            <a:pPr algn="l">
              <a:lnSpc>
                <a:spcPct val="100000"/>
              </a:lnSpc>
              <a:spcAft>
                <a:spcPts val="900"/>
              </a:spcAft>
              <a:defRPr sz="1900" b="0">
                <a:solidFill>
                  <a:srgbClr val="222222"/>
                </a:solidFill>
                <a:latin typeface="Calibri"/>
              </a:defRPr>
            </a:pPr>
            <a:r>
              <a:rPr sz="1900" b="0">
                <a:solidFill>
                  <a:srgbClr val="222222"/>
                </a:solidFill>
                <a:latin typeface="Calibri"/>
              </a:rPr>
              <a:t>It hops between 79 narrow channels many times a second, so a busy band does not stop it. That is why twenty vehicles in one room actually works.</a:t>
            </a:r>
          </a:p>
          <a:p>
            <a:pPr algn="l">
              <a:lnSpc>
                <a:spcPct val="100000"/>
              </a:lnSpc>
              <a:spcAft>
                <a:spcPts val="900"/>
              </a:spcAft>
              <a:defRPr sz="1900" b="0">
                <a:solidFill>
                  <a:srgbClr val="222222"/>
                </a:solidFill>
                <a:latin typeface="Calibri"/>
              </a:defRPr>
            </a:pPr>
            <a:r>
              <a:rPr sz="1900" b="0">
                <a:solidFill>
                  <a:srgbClr val="222222"/>
                </a:solidFill>
                <a:latin typeface="Calibri"/>
              </a:rPr>
              <a:t>Range is tens of meters, and it goes down sharply if somebody stands between the pad and the vehicle.</a:t>
            </a:r>
          </a:p>
        </p:txBody>
      </p:sp>
      <p:sp>
        <p:nvSpPr>
          <p:cNvPr id="8" name="TextBox 7"/>
          <p:cNvSpPr txBox="1"/>
          <p:nvPr/>
        </p:nvSpPr>
        <p:spPr>
          <a:xfrm>
            <a:off x="6324447" y="1755648"/>
            <a:ext cx="5364327" cy="3419856"/>
          </a:xfrm>
          <a:prstGeom prst="rect">
            <a:avLst/>
          </a:prstGeom>
          <a:noFill/>
        </p:spPr>
        <p:txBody>
          <a:bodyPr wrap="square" lIns="0" tIns="0" rIns="0" bIns="0">
            <a:spAutoFit/>
          </a:bodyPr>
          <a:lstStyle/>
          <a:p>
            <a:pPr algn="l">
              <a:lnSpc>
                <a:spcPct val="100000"/>
              </a:lnSpc>
              <a:spcAft>
                <a:spcPts val="900"/>
              </a:spcAft>
              <a:defRPr sz="1900" b="0">
                <a:solidFill>
                  <a:srgbClr val="222222"/>
                </a:solidFill>
                <a:latin typeface="Calibri"/>
              </a:defRPr>
            </a:pPr>
            <a:r>
              <a:rPr sz="1900" b="0">
                <a:solidFill>
                  <a:srgbClr val="222222"/>
                </a:solidFill>
                <a:latin typeface="Calibri"/>
              </a:rPr>
              <a:t>Every Bluetooth device has an ADDRESS - six bytes, written as six pairs of hexadecimal digits, like 02:02:03:04:05:08. It is the equivalent of a phone number.</a:t>
            </a:r>
          </a:p>
          <a:p>
            <a:pPr algn="l">
              <a:lnSpc>
                <a:spcPct val="100000"/>
              </a:lnSpc>
              <a:spcAft>
                <a:spcPts val="900"/>
              </a:spcAft>
              <a:defRPr sz="950" b="0">
                <a:solidFill>
                  <a:srgbClr val="222222"/>
                </a:solidFill>
                <a:latin typeface="Calibri"/>
              </a:defRPr>
            </a:pPr>
          </a:p>
          <a:p>
            <a:pPr algn="l">
              <a:lnSpc>
                <a:spcPct val="100000"/>
              </a:lnSpc>
              <a:spcAft>
                <a:spcPts val="900"/>
              </a:spcAft>
              <a:defRPr sz="1900" b="0">
                <a:solidFill>
                  <a:srgbClr val="222222"/>
                </a:solidFill>
                <a:latin typeface="Calibri"/>
              </a:defRPr>
            </a:pPr>
            <a:r>
              <a:rPr sz="1900" b="0">
                <a:solidFill>
                  <a:srgbClr val="222222"/>
                </a:solidFill>
                <a:latin typeface="Calibri"/>
              </a:rPr>
              <a:t>The ESP32 has Bluetooth built into the chip. That is a large part of why we use it.</a:t>
            </a:r>
          </a:p>
        </p:txBody>
      </p:sp>
      <p:sp>
        <p:nvSpPr>
          <p:cNvPr id="9" name="Rounded Rectangle 8"/>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A Bluetooth sketch fills about 85% of the ESP32's program storage. That is the radio stack, not your code - but it does mean there is not much room left, so keep additions lean.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One vehicle, one controller  -  read the sticker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A PS3 controller has no discovery mode. It talks to ONE vehicle and no other, and that is decided before you get it - we program and label every pad and every vehicle before the lesson.</a:t>
            </a:r>
          </a:p>
          <a:p>
            <a:pPr algn="l">
              <a:lnSpc>
                <a:spcPct val="100000"/>
              </a:lnSpc>
              <a:spcAft>
                <a:spcPts val="600"/>
              </a:spcAft>
              <a:defRPr sz="1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So all you have to do is match the stickers.</a:t>
            </a:r>
          </a:p>
          <a:p>
            <a:pPr lvl="1" algn="l">
              <a:lnSpc>
                <a:spcPct val="100000"/>
              </a:lnSpc>
              <a:spcAft>
                <a:spcPts val="600"/>
              </a:spcAft>
              <a:defRPr sz="2000" b="0">
                <a:solidFill>
                  <a:srgbClr val="222222"/>
                </a:solidFill>
                <a:latin typeface="Calibri"/>
              </a:defRPr>
            </a:pPr>
            <a:r>
              <a:rPr sz="2000" b="0">
                <a:solidFill>
                  <a:srgbClr val="222222"/>
                </a:solidFill>
                <a:latin typeface="Calibri"/>
              </a:rPr>
              <a:t>The sticker on the pad and the sticker on the vehicle carry the same number.</a:t>
            </a:r>
          </a:p>
          <a:p>
            <a:pPr lvl="1" algn="l">
              <a:lnSpc>
                <a:spcPct val="100000"/>
              </a:lnSpc>
              <a:spcAft>
                <a:spcPts val="600"/>
              </a:spcAft>
              <a:defRPr sz="2000" b="0">
                <a:solidFill>
                  <a:srgbClr val="222222"/>
                </a:solidFill>
                <a:latin typeface="Calibri"/>
              </a:defRPr>
            </a:pPr>
            <a:r>
              <a:rPr sz="2000" b="0">
                <a:solidFill>
                  <a:srgbClr val="222222"/>
                </a:solidFill>
                <a:latin typeface="Calibri"/>
              </a:rPr>
              <a:t>Same number, they work together. Different numbers, nothing happens at all.</a:t>
            </a:r>
          </a:p>
          <a:p>
            <a:pPr lvl="1" algn="l">
              <a:lnSpc>
                <a:spcPct val="100000"/>
              </a:lnSpc>
              <a:spcAft>
                <a:spcPts val="600"/>
              </a:spcAft>
              <a:defRPr sz="2000" b="0">
                <a:solidFill>
                  <a:srgbClr val="222222"/>
                </a:solidFill>
                <a:latin typeface="Calibri"/>
              </a:defRPr>
            </a:pPr>
            <a:r>
              <a:rPr sz="2000" b="0">
                <a:solidFill>
                  <a:srgbClr val="222222"/>
                </a:solidFill>
                <a:latin typeface="Calibri"/>
              </a:rPr>
              <a:t>If your pad will not connect, check the stickers before you check anything else.</a:t>
            </a:r>
          </a:p>
          <a:p>
            <a:pPr algn="l">
              <a:lnSpc>
                <a:spcPct val="100000"/>
              </a:lnSpc>
              <a:spcAft>
                <a:spcPts val="600"/>
              </a:spcAft>
              <a:defRPr sz="1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The number is really a Bluetooth address written into both the pad and the sketch. You do not have to set it, but it is worth knowing that is what the sticker stands for.</a:t>
            </a:r>
          </a:p>
        </p:txBody>
      </p:sp>
      <p:sp>
        <p:nvSpPr>
          <p:cNvPr id="7" name="Rounded Rectangle 6"/>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Do not swap pads between vehicles. A pad only ever drives the vehicle with the same number on it.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PS3 controller  -  every name you will need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6</a:t>
            </a:r>
          </a:p>
        </p:txBody>
      </p:sp>
      <p:pic>
        <p:nvPicPr>
          <p:cNvPr id="6" name="Picture 5" descr="ps3-button-map.png"/>
          <p:cNvPicPr>
            <a:picLocks noChangeAspect="1"/>
          </p:cNvPicPr>
          <p:nvPr/>
        </p:nvPicPr>
        <p:blipFill>
          <a:blip r:embed="rId2"/>
          <a:stretch>
            <a:fillRect/>
          </a:stretch>
        </p:blipFill>
        <p:spPr>
          <a:xfrm>
            <a:off x="2274049" y="1188720"/>
            <a:ext cx="7643596" cy="507492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How the ESP32 controls the motors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7</a:t>
            </a:r>
          </a:p>
        </p:txBody>
      </p:sp>
      <p:sp>
        <p:nvSpPr>
          <p:cNvPr id="6" name="TextBox 5"/>
          <p:cNvSpPr txBox="1"/>
          <p:nvPr/>
        </p:nvSpPr>
        <p:spPr>
          <a:xfrm>
            <a:off x="502920" y="1261872"/>
            <a:ext cx="3017520" cy="367792"/>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YOUR PROGRAM</a:t>
            </a:r>
          </a:p>
        </p:txBody>
      </p:sp>
      <p:sp>
        <p:nvSpPr>
          <p:cNvPr id="7" name="TextBox 6"/>
          <p:cNvSpPr txBox="1"/>
          <p:nvPr/>
        </p:nvSpPr>
        <p:spPr>
          <a:xfrm>
            <a:off x="4343400" y="1261872"/>
            <a:ext cx="2834640" cy="367792"/>
          </a:xfrm>
          <a:prstGeom prst="rect">
            <a:avLst/>
          </a:prstGeom>
          <a:noFill/>
        </p:spPr>
        <p:txBody>
          <a:bodyPr wrap="square" lIns="0" tIns="0" rIns="0" bIns="0">
            <a:spAutoFit/>
          </a:bodyPr>
          <a:lstStyle/>
          <a:p>
            <a:pPr algn="ctr">
              <a:lnSpc>
                <a:spcPct val="100000"/>
              </a:lnSpc>
              <a:spcAft>
                <a:spcPts val="0"/>
              </a:spcAft>
              <a:defRPr sz="1800" b="1">
                <a:solidFill>
                  <a:srgbClr val="B46A0F"/>
                </a:solidFill>
                <a:latin typeface="Calibri"/>
              </a:defRPr>
            </a:pPr>
            <a:r>
              <a:rPr sz="1800" b="1">
                <a:solidFill>
                  <a:srgbClr val="B46A0F"/>
                </a:solidFill>
                <a:latin typeface="Calibri"/>
              </a:rPr>
              <a:t>H-BRIDGE DRIVER</a:t>
            </a:r>
          </a:p>
        </p:txBody>
      </p:sp>
      <p:sp>
        <p:nvSpPr>
          <p:cNvPr id="8" name="TextBox 7"/>
          <p:cNvSpPr txBox="1"/>
          <p:nvPr/>
        </p:nvSpPr>
        <p:spPr>
          <a:xfrm>
            <a:off x="8000999" y="1261872"/>
            <a:ext cx="3685032" cy="367792"/>
          </a:xfrm>
          <a:prstGeom prst="rect">
            <a:avLst/>
          </a:prstGeom>
          <a:noFill/>
        </p:spPr>
        <p:txBody>
          <a:bodyPr wrap="square" lIns="0" tIns="0" rIns="0" bIns="0">
            <a:spAutoFit/>
          </a:bodyPr>
          <a:lstStyle/>
          <a:p>
            <a:pPr algn="ctr">
              <a:lnSpc>
                <a:spcPct val="100000"/>
              </a:lnSpc>
              <a:spcAft>
                <a:spcPts val="0"/>
              </a:spcAft>
              <a:defRPr sz="1800" b="1">
                <a:solidFill>
                  <a:srgbClr val="666666"/>
                </a:solidFill>
                <a:latin typeface="Calibri"/>
              </a:defRPr>
            </a:pPr>
            <a:r>
              <a:rPr sz="1800" b="1">
                <a:solidFill>
                  <a:srgbClr val="666666"/>
                </a:solidFill>
                <a:latin typeface="Calibri"/>
              </a:rPr>
              <a:t>MOTOR</a:t>
            </a:r>
          </a:p>
        </p:txBody>
      </p:sp>
      <p:sp>
        <p:nvSpPr>
          <p:cNvPr id="9" name="Rounded Rectangle 8"/>
          <p:cNvSpPr/>
          <p:nvPr/>
        </p:nvSpPr>
        <p:spPr>
          <a:xfrm>
            <a:off x="502920" y="1828800"/>
            <a:ext cx="3017520" cy="576072"/>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ledcWrite  -&gt;  GPIO 12 / 13</a:t>
            </a:r>
          </a:p>
        </p:txBody>
      </p:sp>
      <p:cxnSp>
        <p:nvCxnSpPr>
          <p:cNvPr id="10" name="Connector 9"/>
          <p:cNvCxnSpPr/>
          <p:nvPr/>
        </p:nvCxnSpPr>
        <p:spPr>
          <a:xfrm>
            <a:off x="3611880" y="2116836"/>
            <a:ext cx="640080" cy="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4343400" y="1828800"/>
            <a:ext cx="2834640" cy="576072"/>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DRV8871</a:t>
            </a:r>
          </a:p>
        </p:txBody>
      </p:sp>
      <p:cxnSp>
        <p:nvCxnSpPr>
          <p:cNvPr id="12" name="Connector 11"/>
          <p:cNvCxnSpPr/>
          <p:nvPr/>
        </p:nvCxnSpPr>
        <p:spPr>
          <a:xfrm>
            <a:off x="7269480" y="2116836"/>
            <a:ext cx="640079" cy="0"/>
          </a:xfrm>
          <a:prstGeom prst="line">
            <a:avLst/>
          </a:prstGeom>
          <a:ln w="22225">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8000999" y="1828800"/>
            <a:ext cx="3685032" cy="576072"/>
          </a:xfrm>
          <a:prstGeom prst="roundRect">
            <a:avLst>
              <a:gd name="adj" fmla="val 12000"/>
            </a:avLst>
          </a:prstGeom>
          <a:solidFill>
            <a:srgbClr val="E8ECF0"/>
          </a:solidFill>
          <a:ln w="1587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Front left wheel</a:t>
            </a:r>
          </a:p>
        </p:txBody>
      </p:sp>
      <p:sp>
        <p:nvSpPr>
          <p:cNvPr id="14" name="Rounded Rectangle 13"/>
          <p:cNvSpPr/>
          <p:nvPr/>
        </p:nvSpPr>
        <p:spPr>
          <a:xfrm>
            <a:off x="502920" y="2628900"/>
            <a:ext cx="3017520" cy="576072"/>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ledcWrite  -&gt;  GPIO 18 / 19</a:t>
            </a:r>
          </a:p>
        </p:txBody>
      </p:sp>
      <p:cxnSp>
        <p:nvCxnSpPr>
          <p:cNvPr id="15" name="Connector 14"/>
          <p:cNvCxnSpPr/>
          <p:nvPr/>
        </p:nvCxnSpPr>
        <p:spPr>
          <a:xfrm>
            <a:off x="3611880" y="2916936"/>
            <a:ext cx="640080" cy="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4343400" y="2628900"/>
            <a:ext cx="2834640" cy="576072"/>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DRV8871</a:t>
            </a:r>
          </a:p>
        </p:txBody>
      </p:sp>
      <p:cxnSp>
        <p:nvCxnSpPr>
          <p:cNvPr id="17" name="Connector 16"/>
          <p:cNvCxnSpPr/>
          <p:nvPr/>
        </p:nvCxnSpPr>
        <p:spPr>
          <a:xfrm>
            <a:off x="7269480" y="2916936"/>
            <a:ext cx="640079" cy="0"/>
          </a:xfrm>
          <a:prstGeom prst="line">
            <a:avLst/>
          </a:prstGeom>
          <a:ln w="22225">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8000999" y="2628900"/>
            <a:ext cx="3685032" cy="576072"/>
          </a:xfrm>
          <a:prstGeom prst="roundRect">
            <a:avLst>
              <a:gd name="adj" fmla="val 12000"/>
            </a:avLst>
          </a:prstGeom>
          <a:solidFill>
            <a:srgbClr val="E8ECF0"/>
          </a:solidFill>
          <a:ln w="1587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Rear left wheel</a:t>
            </a:r>
          </a:p>
        </p:txBody>
      </p:sp>
      <p:sp>
        <p:nvSpPr>
          <p:cNvPr id="19" name="Rounded Rectangle 18"/>
          <p:cNvSpPr/>
          <p:nvPr/>
        </p:nvSpPr>
        <p:spPr>
          <a:xfrm>
            <a:off x="502920" y="3429000"/>
            <a:ext cx="3017520" cy="576072"/>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ledcWrite  -&gt;  GPIO 22 / 23</a:t>
            </a:r>
          </a:p>
        </p:txBody>
      </p:sp>
      <p:cxnSp>
        <p:nvCxnSpPr>
          <p:cNvPr id="20" name="Connector 19"/>
          <p:cNvCxnSpPr/>
          <p:nvPr/>
        </p:nvCxnSpPr>
        <p:spPr>
          <a:xfrm>
            <a:off x="3611880" y="3717036"/>
            <a:ext cx="640080" cy="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4343400" y="3429000"/>
            <a:ext cx="2834640" cy="576072"/>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DRV8871</a:t>
            </a:r>
          </a:p>
        </p:txBody>
      </p:sp>
      <p:cxnSp>
        <p:nvCxnSpPr>
          <p:cNvPr id="22" name="Connector 21"/>
          <p:cNvCxnSpPr/>
          <p:nvPr/>
        </p:nvCxnSpPr>
        <p:spPr>
          <a:xfrm>
            <a:off x="7269480" y="3717036"/>
            <a:ext cx="640079" cy="0"/>
          </a:xfrm>
          <a:prstGeom prst="line">
            <a:avLst/>
          </a:prstGeom>
          <a:ln w="22225">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8000999" y="3429000"/>
            <a:ext cx="3685032" cy="576072"/>
          </a:xfrm>
          <a:prstGeom prst="roundRect">
            <a:avLst>
              <a:gd name="adj" fmla="val 12000"/>
            </a:avLst>
          </a:prstGeom>
          <a:solidFill>
            <a:srgbClr val="E8ECF0"/>
          </a:solidFill>
          <a:ln w="1587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Front right wheel</a:t>
            </a:r>
          </a:p>
        </p:txBody>
      </p:sp>
      <p:sp>
        <p:nvSpPr>
          <p:cNvPr id="24" name="Rounded Rectangle 23"/>
          <p:cNvSpPr/>
          <p:nvPr/>
        </p:nvSpPr>
        <p:spPr>
          <a:xfrm>
            <a:off x="502920" y="4229100"/>
            <a:ext cx="3017520" cy="576072"/>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ledcWrite  -&gt;  GPIO 16 / 17</a:t>
            </a:r>
          </a:p>
        </p:txBody>
      </p:sp>
      <p:cxnSp>
        <p:nvCxnSpPr>
          <p:cNvPr id="25" name="Connector 24"/>
          <p:cNvCxnSpPr/>
          <p:nvPr/>
        </p:nvCxnSpPr>
        <p:spPr>
          <a:xfrm>
            <a:off x="3611880" y="4517136"/>
            <a:ext cx="640080" cy="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4343400" y="4229100"/>
            <a:ext cx="2834640" cy="576072"/>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DRV8871</a:t>
            </a:r>
          </a:p>
        </p:txBody>
      </p:sp>
      <p:cxnSp>
        <p:nvCxnSpPr>
          <p:cNvPr id="27" name="Connector 26"/>
          <p:cNvCxnSpPr/>
          <p:nvPr/>
        </p:nvCxnSpPr>
        <p:spPr>
          <a:xfrm>
            <a:off x="7269480" y="4517136"/>
            <a:ext cx="640079" cy="0"/>
          </a:xfrm>
          <a:prstGeom prst="line">
            <a:avLst/>
          </a:prstGeom>
          <a:ln w="22225">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8000999" y="4229100"/>
            <a:ext cx="3685032" cy="576072"/>
          </a:xfrm>
          <a:prstGeom prst="roundRect">
            <a:avLst>
              <a:gd name="adj" fmla="val 12000"/>
            </a:avLst>
          </a:prstGeom>
          <a:solidFill>
            <a:srgbClr val="E8ECF0"/>
          </a:solidFill>
          <a:ln w="1587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Rear right wheel</a:t>
            </a:r>
          </a:p>
        </p:txBody>
      </p:sp>
      <p:sp>
        <p:nvSpPr>
          <p:cNvPr id="29" name="Rounded Rectangle 28"/>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TWO pins per motor, and the driver is what makes it possible. An ESP32 pin gives you 3.3 volts and about 20 milliamps; a motor wants battery voltage and amps. The DRV8871 takes the small signal and switches the big one.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Two kinds of control, and the axes they move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8</a:t>
            </a:r>
          </a:p>
        </p:txBody>
      </p:sp>
      <p:sp>
        <p:nvSpPr>
          <p:cNvPr id="6" name="TextBox 5"/>
          <p:cNvSpPr txBox="1"/>
          <p:nvPr/>
        </p:nvSpPr>
        <p:spPr>
          <a:xfrm>
            <a:off x="502920" y="1188720"/>
            <a:ext cx="4781528"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Digital: pressed or not</a:t>
            </a:r>
          </a:p>
        </p:txBody>
      </p:sp>
      <p:sp>
        <p:nvSpPr>
          <p:cNvPr id="7" name="TextBox 6"/>
          <p:cNvSpPr txBox="1"/>
          <p:nvPr/>
        </p:nvSpPr>
        <p:spPr>
          <a:xfrm>
            <a:off x="502920" y="1700784"/>
            <a:ext cx="4781528"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A digital reading is true or false, with nothing in between.</a:t>
            </a:r>
          </a:p>
          <a:p>
            <a:pPr algn="l">
              <a:lnSpc>
                <a:spcPct val="100000"/>
              </a:lnSpc>
              <a:spcAft>
                <a:spcPts val="800"/>
              </a:spcAft>
              <a:defRPr sz="1900" b="0">
                <a:solidFill>
                  <a:srgbClr val="222222"/>
                </a:solidFill>
                <a:latin typeface="Calibri"/>
              </a:defRPr>
            </a:pPr>
            <a:r>
              <a:rPr sz="1900" b="0">
                <a:solidFill>
                  <a:srgbClr val="222222"/>
                </a:solidFill>
                <a:latin typeface="Calibri"/>
              </a:rPr>
              <a:t>The D-pad, Select, Start and the PS button, and clicking either stick in.</a:t>
            </a:r>
          </a:p>
          <a:p>
            <a:pPr algn="l">
              <a:lnSpc>
                <a:spcPct val="100000"/>
              </a:lnSpc>
              <a:spcAft>
                <a:spcPts val="800"/>
              </a:spcAft>
              <a:defRPr sz="1900" b="0">
                <a:solidFill>
                  <a:srgbClr val="222222"/>
                </a:solidFill>
                <a:latin typeface="Calibri"/>
              </a:defRPr>
            </a:pPr>
            <a:r>
              <a:rPr sz="1900" b="0">
                <a:solidFill>
                  <a:srgbClr val="222222"/>
                </a:solidFill>
                <a:latin typeface="Calibri"/>
              </a:rPr>
              <a:t>Good for: on/off, mode changes, one-shot actions.</a:t>
            </a:r>
          </a:p>
          <a:p>
            <a:pPr algn="l">
              <a:lnSpc>
                <a:spcPct val="100000"/>
              </a:lnSpc>
              <a:spcAft>
                <a:spcPts val="800"/>
              </a:spcAft>
              <a:defRPr sz="1900" b="0">
                <a:solidFill>
                  <a:srgbClr val="222222"/>
                </a:solidFill>
                <a:latin typeface="Calibri"/>
              </a:defRPr>
            </a:pPr>
            <a:r>
              <a:rPr sz="1900" b="0">
                <a:solidFill>
                  <a:srgbClr val="222222"/>
                </a:solidFill>
                <a:latin typeface="Calibri"/>
              </a:rPr>
              <a:t>On this track:</a:t>
            </a:r>
          </a:p>
          <a:p>
            <a:pPr lvl="1" algn="l">
              <a:lnSpc>
                <a:spcPct val="100000"/>
              </a:lnSpc>
              <a:spcAft>
                <a:spcPts val="800"/>
              </a:spcAft>
              <a:defRPr sz="1900" b="0">
                <a:solidFill>
                  <a:srgbClr val="222222"/>
                </a:solidFill>
                <a:latin typeface="Calibri"/>
              </a:defRPr>
            </a:pPr>
            <a:r>
              <a:rPr sz="1900" b="0">
                <a:solidFill>
                  <a:srgbClr val="222222"/>
                </a:solidFill>
                <a:latin typeface="Calibri"/>
              </a:rPr>
              <a:t>Ps3.data.button.square</a:t>
            </a:r>
          </a:p>
        </p:txBody>
      </p:sp>
      <p:sp>
        <p:nvSpPr>
          <p:cNvPr id="8" name="TextBox 7"/>
          <p:cNvSpPr txBox="1"/>
          <p:nvPr/>
        </p:nvSpPr>
        <p:spPr>
          <a:xfrm>
            <a:off x="5741648" y="1188720"/>
            <a:ext cx="59471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Analog: how far</a:t>
            </a:r>
          </a:p>
        </p:txBody>
      </p:sp>
      <p:sp>
        <p:nvSpPr>
          <p:cNvPr id="9" name="TextBox 8"/>
          <p:cNvSpPr txBox="1"/>
          <p:nvPr/>
        </p:nvSpPr>
        <p:spPr>
          <a:xfrm>
            <a:off x="5741648" y="1700784"/>
            <a:ext cx="5947127"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An analog reading says HOW FAR, not just whether.</a:t>
            </a:r>
          </a:p>
          <a:p>
            <a:pPr algn="l">
              <a:lnSpc>
                <a:spcPct val="100000"/>
              </a:lnSpc>
              <a:spcAft>
                <a:spcPts val="800"/>
              </a:spcAft>
              <a:defRPr sz="1900" b="0">
                <a:solidFill>
                  <a:srgbClr val="222222"/>
                </a:solidFill>
                <a:latin typeface="Calibri"/>
              </a:defRPr>
            </a:pPr>
            <a:r>
              <a:rPr sz="1900" b="0">
                <a:solidFill>
                  <a:srgbClr val="222222"/>
                </a:solidFill>
                <a:latin typeface="Calibri"/>
              </a:rPr>
              <a:t>Both thumbsticks, on two axes each, reading -128 to +127.</a:t>
            </a:r>
          </a:p>
          <a:p>
            <a:pPr algn="l">
              <a:lnSpc>
                <a:spcPct val="100000"/>
              </a:lnSpc>
              <a:spcAft>
                <a:spcPts val="800"/>
              </a:spcAft>
              <a:defRPr sz="1900" b="0">
                <a:solidFill>
                  <a:srgbClr val="222222"/>
                </a:solidFill>
                <a:latin typeface="Calibri"/>
              </a:defRPr>
            </a:pPr>
            <a:r>
              <a:rPr sz="1900" b="0">
                <a:solidFill>
                  <a:srgbClr val="222222"/>
                </a:solidFill>
                <a:latin typeface="Calibri"/>
              </a:rPr>
              <a:t>The TRIGGERS are analog too, and so are the shoulder and face buttons - a Sixaxis reports how hard you press.</a:t>
            </a:r>
          </a:p>
          <a:p>
            <a:pPr algn="l">
              <a:lnSpc>
                <a:spcPct val="100000"/>
              </a:lnSpc>
              <a:spcAft>
                <a:spcPts val="800"/>
              </a:spcAft>
              <a:defRPr sz="1900" b="0">
                <a:solidFill>
                  <a:srgbClr val="222222"/>
                </a:solidFill>
                <a:latin typeface="Calibri"/>
              </a:defRPr>
            </a:pPr>
            <a:r>
              <a:rPr sz="1900" b="0">
                <a:solidFill>
                  <a:srgbClr val="222222"/>
                </a:solidFill>
                <a:latin typeface="Calibri"/>
              </a:rPr>
              <a:t>Good for: speed, steering, aiming a servo.</a:t>
            </a:r>
          </a:p>
          <a:p>
            <a:pPr lvl="1" algn="l">
              <a:lnSpc>
                <a:spcPct val="100000"/>
              </a:lnSpc>
              <a:spcAft>
                <a:spcPts val="800"/>
              </a:spcAft>
              <a:defRPr sz="1900" b="0">
                <a:solidFill>
                  <a:srgbClr val="222222"/>
                </a:solidFill>
                <a:latin typeface="Calibri"/>
              </a:defRPr>
            </a:pPr>
            <a:r>
              <a:rPr sz="1900" b="0">
                <a:solidFill>
                  <a:srgbClr val="222222"/>
                </a:solidFill>
                <a:latin typeface="Calibri"/>
              </a:rPr>
              <a:t>Ps3.data.analog.stick.lx     // left/right</a:t>
            </a:r>
          </a:p>
          <a:p>
            <a:pPr lvl="1" algn="l">
              <a:lnSpc>
                <a:spcPct val="100000"/>
              </a:lnSpc>
              <a:spcAft>
                <a:spcPts val="800"/>
              </a:spcAft>
              <a:defRPr sz="1900" b="0">
                <a:solidFill>
                  <a:srgbClr val="222222"/>
                </a:solidFill>
                <a:latin typeface="Calibri"/>
              </a:defRPr>
            </a:pPr>
            <a:r>
              <a:rPr sz="1900" b="0">
                <a:solidFill>
                  <a:srgbClr val="222222"/>
                </a:solidFill>
                <a:latin typeface="Calibri"/>
              </a:rPr>
              <a:t>Ps3.data.analog.stick.ly     // up/down</a:t>
            </a:r>
          </a:p>
        </p:txBody>
      </p:sp>
      <p:sp>
        <p:nvSpPr>
          <p:cNvPr id="10" name="Rounded Rectangle 9"/>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Push a stick UP and the number goes NEGATIVE. That catches everybody. It is why the driving code has a minus sign in front of the Y reading.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Six degrees of freedom</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9</a:t>
            </a:r>
          </a:p>
        </p:txBody>
      </p:sp>
      <p:sp>
        <p:nvSpPr>
          <p:cNvPr id="6" name="TextBox 5"/>
          <p:cNvSpPr txBox="1"/>
          <p:nvPr/>
        </p:nvSpPr>
        <p:spPr>
          <a:xfrm>
            <a:off x="502920" y="1188720"/>
            <a:ext cx="5364327" cy="3986784"/>
          </a:xfrm>
          <a:prstGeom prst="rect">
            <a:avLst/>
          </a:prstGeom>
          <a:noFill/>
        </p:spPr>
        <p:txBody>
          <a:bodyPr wrap="square" lIns="0" tIns="0" rIns="0" bIns="0">
            <a:spAutoFit/>
          </a:bodyPr>
          <a:lstStyle/>
          <a:p>
            <a:pPr algn="l">
              <a:lnSpc>
                <a:spcPct val="100000"/>
              </a:lnSpc>
              <a:spcAft>
                <a:spcPts val="900"/>
              </a:spcAft>
              <a:defRPr sz="2000" b="0">
                <a:solidFill>
                  <a:srgbClr val="222222"/>
                </a:solidFill>
                <a:latin typeface="Calibri"/>
              </a:defRPr>
            </a:pPr>
            <a:r>
              <a:rPr sz="2000" b="0">
                <a:solidFill>
                  <a:srgbClr val="222222"/>
                </a:solidFill>
                <a:latin typeface="Calibri"/>
              </a:rPr>
              <a:t>Any rigid object in space can move in six independent ways. Three are translations - sliding along an axis - and three are rotations.</a:t>
            </a:r>
          </a:p>
          <a:p>
            <a:pPr algn="l">
              <a:lnSpc>
                <a:spcPct val="100000"/>
              </a:lnSpc>
              <a:spcAft>
                <a:spcPts val="900"/>
              </a:spcAft>
              <a:defRPr sz="1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TRANSLATION</a:t>
            </a:r>
          </a:p>
          <a:p>
            <a:pPr lvl="1" algn="l">
              <a:lnSpc>
                <a:spcPct val="100000"/>
              </a:lnSpc>
              <a:spcAft>
                <a:spcPts val="900"/>
              </a:spcAft>
              <a:defRPr sz="2000" b="0">
                <a:solidFill>
                  <a:srgbClr val="222222"/>
                </a:solidFill>
                <a:latin typeface="Calibri"/>
              </a:defRPr>
            </a:pPr>
            <a:r>
              <a:rPr sz="2000" b="0">
                <a:solidFill>
                  <a:srgbClr val="222222"/>
                </a:solidFill>
                <a:latin typeface="Calibri"/>
              </a:rPr>
              <a:t>Forward and back  -  surge</a:t>
            </a:r>
          </a:p>
          <a:p>
            <a:pPr lvl="1" algn="l">
              <a:lnSpc>
                <a:spcPct val="100000"/>
              </a:lnSpc>
              <a:spcAft>
                <a:spcPts val="900"/>
              </a:spcAft>
              <a:defRPr sz="2000" b="0">
                <a:solidFill>
                  <a:srgbClr val="222222"/>
                </a:solidFill>
                <a:latin typeface="Calibri"/>
              </a:defRPr>
            </a:pPr>
            <a:r>
              <a:rPr sz="2000" b="0">
                <a:solidFill>
                  <a:srgbClr val="222222"/>
                </a:solidFill>
                <a:latin typeface="Calibri"/>
              </a:rPr>
              <a:t>Side to side  -  sway</a:t>
            </a:r>
          </a:p>
          <a:p>
            <a:pPr lvl="1" algn="l">
              <a:lnSpc>
                <a:spcPct val="100000"/>
              </a:lnSpc>
              <a:spcAft>
                <a:spcPts val="900"/>
              </a:spcAft>
              <a:defRPr sz="2000" b="0">
                <a:solidFill>
                  <a:srgbClr val="222222"/>
                </a:solidFill>
                <a:latin typeface="Calibri"/>
              </a:defRPr>
            </a:pPr>
            <a:r>
              <a:rPr sz="2000" b="0">
                <a:solidFill>
                  <a:srgbClr val="222222"/>
                </a:solidFill>
                <a:latin typeface="Calibri"/>
              </a:rPr>
              <a:t>Up and down  -  heave</a:t>
            </a:r>
          </a:p>
        </p:txBody>
      </p:sp>
      <p:sp>
        <p:nvSpPr>
          <p:cNvPr id="7" name="TextBox 6"/>
          <p:cNvSpPr txBox="1"/>
          <p:nvPr/>
        </p:nvSpPr>
        <p:spPr>
          <a:xfrm>
            <a:off x="6324447" y="1188720"/>
            <a:ext cx="5364327" cy="3986784"/>
          </a:xfrm>
          <a:prstGeom prst="rect">
            <a:avLst/>
          </a:prstGeom>
          <a:noFill/>
        </p:spPr>
        <p:txBody>
          <a:bodyPr wrap="square" lIns="0" tIns="0" rIns="0" bIns="0">
            <a:spAutoFit/>
          </a:bodyPr>
          <a:lstStyle/>
          <a:p>
            <a:pPr algn="l">
              <a:lnSpc>
                <a:spcPct val="100000"/>
              </a:lnSpc>
              <a:spcAft>
                <a:spcPts val="900"/>
              </a:spcAft>
              <a:defRPr sz="1900" b="0">
                <a:solidFill>
                  <a:srgbClr val="222222"/>
                </a:solidFill>
                <a:latin typeface="Calibri"/>
              </a:defRPr>
            </a:pPr>
            <a:r>
              <a:rPr sz="1900" b="0">
                <a:solidFill>
                  <a:srgbClr val="222222"/>
                </a:solidFill>
                <a:latin typeface="Calibri"/>
              </a:rPr>
              <a:t>ROTATION</a:t>
            </a:r>
          </a:p>
          <a:p>
            <a:pPr lvl="1" algn="l">
              <a:lnSpc>
                <a:spcPct val="100000"/>
              </a:lnSpc>
              <a:spcAft>
                <a:spcPts val="900"/>
              </a:spcAft>
              <a:defRPr sz="1900" b="0">
                <a:solidFill>
                  <a:srgbClr val="222222"/>
                </a:solidFill>
                <a:latin typeface="Calibri"/>
              </a:defRPr>
            </a:pPr>
            <a:r>
              <a:rPr sz="1900" b="0">
                <a:solidFill>
                  <a:srgbClr val="222222"/>
                </a:solidFill>
                <a:latin typeface="Calibri"/>
              </a:rPr>
              <a:t>Roll  -  tipping left or right about the fore-aft axis</a:t>
            </a:r>
          </a:p>
          <a:p>
            <a:pPr lvl="1" algn="l">
              <a:lnSpc>
                <a:spcPct val="100000"/>
              </a:lnSpc>
              <a:spcAft>
                <a:spcPts val="900"/>
              </a:spcAft>
              <a:defRPr sz="1900" b="0">
                <a:solidFill>
                  <a:srgbClr val="222222"/>
                </a:solidFill>
                <a:latin typeface="Calibri"/>
              </a:defRPr>
            </a:pPr>
            <a:r>
              <a:rPr sz="1900" b="0">
                <a:solidFill>
                  <a:srgbClr val="222222"/>
                </a:solidFill>
                <a:latin typeface="Calibri"/>
              </a:rPr>
              <a:t>Pitch  -  nose up or nose down</a:t>
            </a:r>
          </a:p>
          <a:p>
            <a:pPr lvl="1" algn="l">
              <a:lnSpc>
                <a:spcPct val="100000"/>
              </a:lnSpc>
              <a:spcAft>
                <a:spcPts val="900"/>
              </a:spcAft>
              <a:defRPr sz="1900" b="0">
                <a:solidFill>
                  <a:srgbClr val="222222"/>
                </a:solidFill>
                <a:latin typeface="Calibri"/>
              </a:defRPr>
            </a:pPr>
            <a:r>
              <a:rPr sz="1900" b="0">
                <a:solidFill>
                  <a:srgbClr val="222222"/>
                </a:solidFill>
                <a:latin typeface="Calibri"/>
              </a:rPr>
              <a:t>Yaw  -  turning left or right, which is your steering</a:t>
            </a:r>
          </a:p>
          <a:p>
            <a:pPr algn="l">
              <a:lnSpc>
                <a:spcPct val="100000"/>
              </a:lnSpc>
              <a:spcAft>
                <a:spcPts val="900"/>
              </a:spcAft>
              <a:defRPr sz="950" b="0">
                <a:solidFill>
                  <a:srgbClr val="222222"/>
                </a:solidFill>
                <a:latin typeface="Calibri"/>
              </a:defRPr>
            </a:pPr>
          </a:p>
          <a:p>
            <a:pPr algn="l">
              <a:lnSpc>
                <a:spcPct val="100000"/>
              </a:lnSpc>
              <a:spcAft>
                <a:spcPts val="900"/>
              </a:spcAft>
              <a:defRPr sz="1900" b="0">
                <a:solidFill>
                  <a:srgbClr val="222222"/>
                </a:solidFill>
                <a:latin typeface="Calibri"/>
              </a:defRPr>
            </a:pPr>
            <a:r>
              <a:rPr sz="1900" b="0">
                <a:solidFill>
                  <a:srgbClr val="222222"/>
                </a:solidFill>
                <a:latin typeface="Calibri"/>
              </a:rPr>
              <a:t>A ground vehicle on a flat floor really only controls surge and yaw. A submersible or an aircraft controls all six, which is why they need far more from the operator.</a:t>
            </a:r>
          </a:p>
        </p:txBody>
      </p:sp>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The PS3 controller was originally called the Sixaxis because it could sense all six. Spelled backwards, Sixaxis is still Sixaxis.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Six degrees of freedom, and the two your rover has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10</a:t>
            </a:r>
          </a:p>
        </p:txBody>
      </p:sp>
      <p:sp>
        <p:nvSpPr>
          <p:cNvPr id="6" name="TextBox 5"/>
          <p:cNvSpPr txBox="1"/>
          <p:nvPr/>
        </p:nvSpPr>
        <p:spPr>
          <a:xfrm>
            <a:off x="502920" y="1463040"/>
            <a:ext cx="539496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TRANSLATION  -  sliding along an axis</a:t>
            </a:r>
          </a:p>
        </p:txBody>
      </p:sp>
      <p:sp>
        <p:nvSpPr>
          <p:cNvPr id="7" name="TextBox 6"/>
          <p:cNvSpPr txBox="1"/>
          <p:nvPr/>
        </p:nvSpPr>
        <p:spPr>
          <a:xfrm>
            <a:off x="6400800" y="1463040"/>
            <a:ext cx="539496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ROTATION  -  turning about an axis</a:t>
            </a:r>
          </a:p>
        </p:txBody>
      </p:sp>
      <p:sp>
        <p:nvSpPr>
          <p:cNvPr id="8" name="Rounded Rectangle 7"/>
          <p:cNvSpPr/>
          <p:nvPr/>
        </p:nvSpPr>
        <p:spPr>
          <a:xfrm>
            <a:off x="502920" y="1883664"/>
            <a:ext cx="1417320" cy="713232"/>
          </a:xfrm>
          <a:prstGeom prst="roundRect">
            <a:avLst>
              <a:gd name="adj" fmla="val 12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SURGE</a:t>
            </a:r>
          </a:p>
        </p:txBody>
      </p:sp>
      <p:sp>
        <p:nvSpPr>
          <p:cNvPr id="9" name="TextBox 8"/>
          <p:cNvSpPr txBox="1"/>
          <p:nvPr/>
        </p:nvSpPr>
        <p:spPr>
          <a:xfrm>
            <a:off x="2057400" y="1920240"/>
            <a:ext cx="2331720" cy="3291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forward and back</a:t>
            </a:r>
          </a:p>
        </p:txBody>
      </p:sp>
      <p:sp>
        <p:nvSpPr>
          <p:cNvPr id="10" name="TextBox 9"/>
          <p:cNvSpPr txBox="1"/>
          <p:nvPr/>
        </p:nvSpPr>
        <p:spPr>
          <a:xfrm>
            <a:off x="4480559" y="1975104"/>
            <a:ext cx="137160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X axis</a:t>
            </a:r>
          </a:p>
        </p:txBody>
      </p:sp>
      <p:sp>
        <p:nvSpPr>
          <p:cNvPr id="11" name="TextBox 10"/>
          <p:cNvSpPr txBox="1"/>
          <p:nvPr/>
        </p:nvSpPr>
        <p:spPr>
          <a:xfrm>
            <a:off x="2057400" y="2267712"/>
            <a:ext cx="3749039" cy="310896"/>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your rover controls this one</a:t>
            </a:r>
          </a:p>
        </p:txBody>
      </p:sp>
      <p:sp>
        <p:nvSpPr>
          <p:cNvPr id="12" name="Rounded Rectangle 11"/>
          <p:cNvSpPr/>
          <p:nvPr/>
        </p:nvSpPr>
        <p:spPr>
          <a:xfrm>
            <a:off x="502920" y="2724912"/>
            <a:ext cx="1417320" cy="713232"/>
          </a:xfrm>
          <a:prstGeom prst="roundRect">
            <a:avLst>
              <a:gd name="adj" fmla="val 12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SWAY</a:t>
            </a:r>
          </a:p>
        </p:txBody>
      </p:sp>
      <p:sp>
        <p:nvSpPr>
          <p:cNvPr id="13" name="TextBox 12"/>
          <p:cNvSpPr txBox="1"/>
          <p:nvPr/>
        </p:nvSpPr>
        <p:spPr>
          <a:xfrm>
            <a:off x="2057400" y="2761488"/>
            <a:ext cx="2331720" cy="3291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left and right</a:t>
            </a:r>
          </a:p>
        </p:txBody>
      </p:sp>
      <p:sp>
        <p:nvSpPr>
          <p:cNvPr id="14" name="TextBox 13"/>
          <p:cNvSpPr txBox="1"/>
          <p:nvPr/>
        </p:nvSpPr>
        <p:spPr>
          <a:xfrm>
            <a:off x="4480559" y="2816352"/>
            <a:ext cx="137160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Y axis</a:t>
            </a:r>
          </a:p>
        </p:txBody>
      </p:sp>
      <p:sp>
        <p:nvSpPr>
          <p:cNvPr id="15" name="Rounded Rectangle 14"/>
          <p:cNvSpPr/>
          <p:nvPr/>
        </p:nvSpPr>
        <p:spPr>
          <a:xfrm>
            <a:off x="502920" y="3566160"/>
            <a:ext cx="1417320" cy="713232"/>
          </a:xfrm>
          <a:prstGeom prst="roundRect">
            <a:avLst>
              <a:gd name="adj" fmla="val 12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HEAVE</a:t>
            </a:r>
          </a:p>
        </p:txBody>
      </p:sp>
      <p:sp>
        <p:nvSpPr>
          <p:cNvPr id="16" name="TextBox 15"/>
          <p:cNvSpPr txBox="1"/>
          <p:nvPr/>
        </p:nvSpPr>
        <p:spPr>
          <a:xfrm>
            <a:off x="2057400" y="3602736"/>
            <a:ext cx="2331720" cy="3291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up and down</a:t>
            </a:r>
          </a:p>
        </p:txBody>
      </p:sp>
      <p:sp>
        <p:nvSpPr>
          <p:cNvPr id="17" name="TextBox 16"/>
          <p:cNvSpPr txBox="1"/>
          <p:nvPr/>
        </p:nvSpPr>
        <p:spPr>
          <a:xfrm>
            <a:off x="4480559" y="3657600"/>
            <a:ext cx="137160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Z axis</a:t>
            </a:r>
          </a:p>
        </p:txBody>
      </p:sp>
      <p:sp>
        <p:nvSpPr>
          <p:cNvPr id="18" name="Rounded Rectangle 17"/>
          <p:cNvSpPr/>
          <p:nvPr/>
        </p:nvSpPr>
        <p:spPr>
          <a:xfrm>
            <a:off x="6400800" y="1883664"/>
            <a:ext cx="1417320" cy="713232"/>
          </a:xfrm>
          <a:prstGeom prst="roundRect">
            <a:avLst>
              <a:gd name="adj" fmla="val 12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ROLL</a:t>
            </a:r>
          </a:p>
        </p:txBody>
      </p:sp>
      <p:sp>
        <p:nvSpPr>
          <p:cNvPr id="19" name="TextBox 18"/>
          <p:cNvSpPr txBox="1"/>
          <p:nvPr/>
        </p:nvSpPr>
        <p:spPr>
          <a:xfrm>
            <a:off x="7955280" y="1920240"/>
            <a:ext cx="2331720" cy="3291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tipping left or right</a:t>
            </a:r>
          </a:p>
        </p:txBody>
      </p:sp>
      <p:sp>
        <p:nvSpPr>
          <p:cNvPr id="20" name="TextBox 19"/>
          <p:cNvSpPr txBox="1"/>
          <p:nvPr/>
        </p:nvSpPr>
        <p:spPr>
          <a:xfrm>
            <a:off x="10378439" y="1975104"/>
            <a:ext cx="137160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about X</a:t>
            </a:r>
          </a:p>
        </p:txBody>
      </p:sp>
      <p:sp>
        <p:nvSpPr>
          <p:cNvPr id="21" name="Rounded Rectangle 20"/>
          <p:cNvSpPr/>
          <p:nvPr/>
        </p:nvSpPr>
        <p:spPr>
          <a:xfrm>
            <a:off x="6400800" y="2724912"/>
            <a:ext cx="1417320" cy="713232"/>
          </a:xfrm>
          <a:prstGeom prst="roundRect">
            <a:avLst>
              <a:gd name="adj" fmla="val 12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PITCH</a:t>
            </a:r>
          </a:p>
        </p:txBody>
      </p:sp>
      <p:sp>
        <p:nvSpPr>
          <p:cNvPr id="22" name="TextBox 21"/>
          <p:cNvSpPr txBox="1"/>
          <p:nvPr/>
        </p:nvSpPr>
        <p:spPr>
          <a:xfrm>
            <a:off x="7955280" y="2761488"/>
            <a:ext cx="2331720" cy="3291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nose up or nose down</a:t>
            </a:r>
          </a:p>
        </p:txBody>
      </p:sp>
      <p:sp>
        <p:nvSpPr>
          <p:cNvPr id="23" name="TextBox 22"/>
          <p:cNvSpPr txBox="1"/>
          <p:nvPr/>
        </p:nvSpPr>
        <p:spPr>
          <a:xfrm>
            <a:off x="10378439" y="2816352"/>
            <a:ext cx="137160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about Y</a:t>
            </a:r>
          </a:p>
        </p:txBody>
      </p:sp>
      <p:sp>
        <p:nvSpPr>
          <p:cNvPr id="24" name="Rounded Rectangle 23"/>
          <p:cNvSpPr/>
          <p:nvPr/>
        </p:nvSpPr>
        <p:spPr>
          <a:xfrm>
            <a:off x="6400800" y="3566160"/>
            <a:ext cx="1417320" cy="713232"/>
          </a:xfrm>
          <a:prstGeom prst="roundRect">
            <a:avLst>
              <a:gd name="adj" fmla="val 12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YAW</a:t>
            </a:r>
          </a:p>
        </p:txBody>
      </p:sp>
      <p:sp>
        <p:nvSpPr>
          <p:cNvPr id="25" name="TextBox 24"/>
          <p:cNvSpPr txBox="1"/>
          <p:nvPr/>
        </p:nvSpPr>
        <p:spPr>
          <a:xfrm>
            <a:off x="7955280" y="3602736"/>
            <a:ext cx="2331720" cy="3291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turning left or right</a:t>
            </a:r>
          </a:p>
        </p:txBody>
      </p:sp>
      <p:sp>
        <p:nvSpPr>
          <p:cNvPr id="26" name="TextBox 25"/>
          <p:cNvSpPr txBox="1"/>
          <p:nvPr/>
        </p:nvSpPr>
        <p:spPr>
          <a:xfrm>
            <a:off x="10378439" y="3657600"/>
            <a:ext cx="137160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about Z</a:t>
            </a:r>
          </a:p>
        </p:txBody>
      </p:sp>
      <p:sp>
        <p:nvSpPr>
          <p:cNvPr id="27" name="TextBox 26"/>
          <p:cNvSpPr txBox="1"/>
          <p:nvPr/>
        </p:nvSpPr>
        <p:spPr>
          <a:xfrm>
            <a:off x="7955280" y="3950208"/>
            <a:ext cx="3749039" cy="310896"/>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your rover controls this one</a:t>
            </a:r>
          </a:p>
        </p:txBody>
      </p:sp>
      <p:sp>
        <p:nvSpPr>
          <p:cNvPr id="28" name="Rounded Rectangle 27"/>
          <p:cNvSpPr/>
          <p:nvPr/>
        </p:nvSpPr>
        <p:spPr>
          <a:xfrm>
            <a:off x="502920" y="4498848"/>
            <a:ext cx="5394960" cy="530352"/>
          </a:xfrm>
          <a:prstGeom prst="roundRect">
            <a:avLst>
              <a:gd name="adj" fmla="val 12000"/>
            </a:avLst>
          </a:prstGeom>
          <a:solidFill>
            <a:srgbClr val="EEF3F8"/>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LEFT STICK on the PS3 controller  -&gt;  surge and yaw</a:t>
            </a:r>
          </a:p>
        </p:txBody>
      </p:sp>
      <p:sp>
        <p:nvSpPr>
          <p:cNvPr id="29" name="Rounded Rectangle 28"/>
          <p:cNvSpPr/>
          <p:nvPr/>
        </p:nvSpPr>
        <p:spPr>
          <a:xfrm>
            <a:off x="6400800" y="4498848"/>
            <a:ext cx="5394960" cy="530352"/>
          </a:xfrm>
          <a:prstGeom prst="roundRect">
            <a:avLst>
              <a:gd name="adj" fmla="val 12000"/>
            </a:avLst>
          </a:prstGeom>
          <a:solidFill>
            <a:srgbClr val="EEF3F8"/>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RIGHT STICK  -&gt;  the four servos</a:t>
            </a:r>
          </a:p>
        </p:txBody>
      </p:sp>
      <p:sp>
        <p:nvSpPr>
          <p:cNvPr id="30" name="Rounded Rectangle 2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A rover controls two of the six, so one stick drives it and the other is free to aim servos. A submersible controls all six, and an ROV pilot needs both sticks to fly it.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11</a:t>
            </a:r>
          </a:p>
        </p:txBody>
      </p:sp>
      <p:sp>
        <p:nvSpPr>
          <p:cNvPr id="6" name="Rounded Rectangle 5"/>
          <p:cNvSpPr/>
          <p:nvPr/>
        </p:nvSpPr>
        <p:spPr>
          <a:xfrm>
            <a:off x="502920"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Bluetooth and pairing</a:t>
            </a:r>
          </a:p>
        </p:txBody>
      </p:sp>
      <p:sp>
        <p:nvSpPr>
          <p:cNvPr id="7" name="TextBox 6"/>
          <p:cNvSpPr txBox="1"/>
          <p:nvPr/>
        </p:nvSpPr>
        <p:spPr>
          <a:xfrm>
            <a:off x="502920"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3335959" y="2240280"/>
            <a:ext cx="2686735"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What the pad sends</a:t>
            </a:r>
          </a:p>
        </p:txBody>
      </p:sp>
      <p:sp>
        <p:nvSpPr>
          <p:cNvPr id="9" name="TextBox 8"/>
          <p:cNvSpPr txBox="1"/>
          <p:nvPr/>
        </p:nvSpPr>
        <p:spPr>
          <a:xfrm>
            <a:off x="3335959"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
        <p:nvSpPr>
          <p:cNvPr id="10" name="Rounded Rectangle 9"/>
          <p:cNvSpPr/>
          <p:nvPr/>
        </p:nvSpPr>
        <p:spPr>
          <a:xfrm>
            <a:off x="6168998" y="2240280"/>
            <a:ext cx="2686735"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Deadzone and map</a:t>
            </a:r>
          </a:p>
        </p:txBody>
      </p:sp>
      <p:sp>
        <p:nvSpPr>
          <p:cNvPr id="11" name="Rounded Rectangle 10"/>
          <p:cNvSpPr/>
          <p:nvPr/>
        </p:nvSpPr>
        <p:spPr>
          <a:xfrm>
            <a:off x="9002037" y="2240280"/>
            <a:ext cx="2686735"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Driving it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what does the controller actually send?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12</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l3a_controller_check</a:t>
            </a:r>
            <a:r>
              <a:rPr sz="1200">
                <a:solidFill>
                  <a:srgbClr val="FFFFFF"/>
                </a:solidFill>
                <a:latin typeface="Calibri"/>
              </a:rPr>
              <a:t>     (25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1.  Upload it and open the Serial Monitor.</a:t>
            </a:r>
          </a:p>
          <a:p>
            <a:pPr algn="l">
              <a:lnSpc>
                <a:spcPct val="100000"/>
              </a:lnSpc>
              <a:spcAft>
                <a:spcPts val="800"/>
              </a:spcAft>
              <a:defRPr sz="1900" b="0">
                <a:solidFill>
                  <a:srgbClr val="222222"/>
                </a:solidFill>
                <a:latin typeface="Calibri"/>
              </a:defRPr>
            </a:pPr>
            <a:r>
              <a:rPr sz="1900" b="0">
                <a:solidFill>
                  <a:srgbClr val="222222"/>
                </a:solidFill>
                <a:latin typeface="Calibri"/>
              </a:rPr>
              <a:t>2.  Press the PS button on the controller.</a:t>
            </a:r>
          </a:p>
          <a:p>
            <a:pPr algn="l">
              <a:lnSpc>
                <a:spcPct val="100000"/>
              </a:lnSpc>
              <a:spcAft>
                <a:spcPts val="800"/>
              </a:spcAft>
              <a:defRPr sz="1900" b="0">
                <a:solidFill>
                  <a:srgbClr val="222222"/>
                </a:solidFill>
                <a:latin typeface="Calibri"/>
              </a:defRPr>
            </a:pPr>
            <a:r>
              <a:rPr sz="1900" b="0">
                <a:solidFill>
                  <a:srgbClr val="222222"/>
                </a:solidFill>
                <a:latin typeface="Calibri"/>
              </a:rPr>
              <a:t>3.  Press every button in turn and match it to the printed name.</a:t>
            </a:r>
          </a:p>
          <a:p>
            <a:pPr algn="l">
              <a:lnSpc>
                <a:spcPct val="100000"/>
              </a:lnSpc>
              <a:spcAft>
                <a:spcPts val="800"/>
              </a:spcAft>
              <a:defRPr sz="1900" b="0">
                <a:solidFill>
                  <a:srgbClr val="222222"/>
                </a:solidFill>
                <a:latin typeface="Calibri"/>
              </a:defRPr>
            </a:pPr>
            <a:r>
              <a:rPr sz="1900" b="0">
                <a:solidFill>
                  <a:srgbClr val="222222"/>
                </a:solidFill>
                <a:latin typeface="Calibri"/>
              </a:rPr>
              <a:t>4.  Push the left stick fully UP. Positive or negative?</a:t>
            </a:r>
          </a:p>
          <a:p>
            <a:pPr algn="l">
              <a:lnSpc>
                <a:spcPct val="100000"/>
              </a:lnSpc>
              <a:spcAft>
                <a:spcPts val="800"/>
              </a:spcAft>
              <a:defRPr sz="1900" b="0">
                <a:solidFill>
                  <a:srgbClr val="222222"/>
                </a:solidFill>
                <a:latin typeface="Calibri"/>
              </a:defRPr>
            </a:pPr>
            <a:r>
              <a:rPr sz="1900" b="0">
                <a:solidFill>
                  <a:srgbClr val="222222"/>
                </a:solidFill>
                <a:latin typeface="Calibri"/>
              </a:rPr>
              <a:t>5.  Let go of the sticks and DO NOT touch the controller. Does it print exactly 0, or does it drift?</a:t>
            </a:r>
          </a:p>
          <a:p>
            <a:pPr algn="l">
              <a:lnSpc>
                <a:spcPct val="100000"/>
              </a:lnSpc>
              <a:spcAft>
                <a:spcPts val="800"/>
              </a:spcAft>
              <a:defRPr sz="1900" b="0">
                <a:solidFill>
                  <a:srgbClr val="222222"/>
                </a:solidFill>
                <a:latin typeface="Calibri"/>
              </a:defRPr>
            </a:pPr>
            <a:r>
              <a:rPr sz="1900" b="0">
                <a:solidFill>
                  <a:srgbClr val="222222"/>
                </a:solidFill>
                <a:latin typeface="Calibri"/>
              </a:rPr>
              <a:t>6.  Push a stick diagonally. Watch x and y move together.</a:t>
            </a:r>
          </a:p>
          <a:p>
            <a:pPr algn="l">
              <a:lnSpc>
                <a:spcPct val="100000"/>
              </a:lnSpc>
              <a:spcAft>
                <a:spcPts val="800"/>
              </a:spcAft>
              <a:defRPr sz="1900" b="0">
                <a:solidFill>
                  <a:srgbClr val="222222"/>
                </a:solidFill>
                <a:latin typeface="Calibri"/>
              </a:defRPr>
            </a:pPr>
            <a:r>
              <a:rPr sz="1900" b="0">
                <a:solidFill>
                  <a:srgbClr val="222222"/>
                </a:solidFill>
                <a:latin typeface="Calibri"/>
              </a:rPr>
              <a:t>7.  Squeeze L2 slowly. It is not just on or off - watch the number.</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360833"/>
          </a:xfrm>
          <a:prstGeom prst="rect">
            <a:avLst/>
          </a:prstGeom>
          <a:noFill/>
        </p:spPr>
        <p:txBody>
          <a:bodyPr wrap="square" lIns="0" tIns="0" rIns="0" bIns="0">
            <a:spAutoFit/>
          </a:bodyPr>
          <a:lstStyle/>
          <a:p>
            <a:pPr algn="l">
              <a:lnSpc>
                <a:spcPct val="100000"/>
              </a:lnSpc>
              <a:spcAft>
                <a:spcPts val="300"/>
              </a:spcAft>
              <a:defRPr sz="2600" b="0">
                <a:solidFill>
                  <a:srgbClr val="222222"/>
                </a:solidFill>
                <a:latin typeface="Calibri"/>
              </a:defRPr>
            </a:pPr>
            <a:r>
              <a:rPr sz="2600" b="0">
                <a:solidFill>
                  <a:srgbClr val="222222"/>
                </a:solidFill>
                <a:latin typeface="Calibri"/>
              </a:rPr>
              <a:t>A line for every press, every release, and every stick movement.</a:t>
            </a:r>
          </a:p>
        </p:txBody>
      </p:sp>
      <p:sp>
        <p:nvSpPr>
          <p:cNvPr id="10" name="TextBox 9"/>
          <p:cNvSpPr txBox="1"/>
          <p:nvPr/>
        </p:nvSpPr>
        <p:spPr>
          <a:xfrm>
            <a:off x="7163537" y="3738273"/>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140609"/>
            <a:ext cx="4525238" cy="2123030"/>
          </a:xfrm>
          <a:prstGeom prst="rect">
            <a:avLst/>
          </a:prstGeom>
          <a:noFill/>
        </p:spPr>
        <p:txBody>
          <a:bodyPr wrap="square" lIns="0" tIns="0" rIns="0" bIns="0">
            <a:spAutoFit/>
          </a:bodyPr>
          <a:lstStyle/>
          <a:p>
            <a:pPr algn="l">
              <a:lnSpc>
                <a:spcPct val="100000"/>
              </a:lnSpc>
              <a:spcAft>
                <a:spcPts val="300"/>
              </a:spcAft>
              <a:defRPr sz="2500" b="0">
                <a:solidFill>
                  <a:srgbClr val="222222"/>
                </a:solidFill>
                <a:latin typeface="Calibri"/>
              </a:defRPr>
            </a:pPr>
            <a:r>
              <a:rPr sz="2500" b="0">
                <a:solidFill>
                  <a:srgbClr val="222222"/>
                </a:solidFill>
                <a:latin typeface="Calibri"/>
              </a:rPr>
              <a:t>Which way is negative on the Y axis?</a:t>
            </a:r>
          </a:p>
          <a:p>
            <a:pPr algn="l">
              <a:lnSpc>
                <a:spcPct val="100000"/>
              </a:lnSpc>
              <a:spcAft>
                <a:spcPts val="300"/>
              </a:spcAft>
              <a:defRPr sz="2500" b="0">
                <a:solidFill>
                  <a:srgbClr val="222222"/>
                </a:solidFill>
                <a:latin typeface="Calibri"/>
              </a:defRPr>
            </a:pPr>
            <a:r>
              <a:rPr sz="2500" b="0">
                <a:solidFill>
                  <a:srgbClr val="222222"/>
                </a:solidFill>
                <a:latin typeface="Calibri"/>
              </a:rPr>
              <a:t>How far does your stick drift when nobody is touching it?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problem with believing the stick</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13</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Deadzone</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1900" b="0">
                <a:solidFill>
                  <a:srgbClr val="222222"/>
                </a:solidFill>
                <a:latin typeface="Calibri"/>
              </a:defRPr>
            </a:pPr>
            <a:r>
              <a:rPr sz="1900" b="0">
                <a:solidFill>
                  <a:srgbClr val="222222"/>
                </a:solidFill>
                <a:latin typeface="Calibri"/>
              </a:rPr>
              <a:t>A thumbstick that has been thumbed by a hundred students does not come back to exactly zero.</a:t>
            </a:r>
          </a:p>
          <a:p>
            <a:pPr algn="l">
              <a:lnSpc>
                <a:spcPct val="100000"/>
              </a:lnSpc>
              <a:spcAft>
                <a:spcPts val="600"/>
              </a:spcAft>
              <a:defRPr sz="1900" b="0">
                <a:solidFill>
                  <a:srgbClr val="222222"/>
                </a:solidFill>
                <a:latin typeface="Calibri"/>
              </a:defRPr>
            </a:pPr>
            <a:r>
              <a:rPr sz="1900" b="0">
                <a:solidFill>
                  <a:srgbClr val="222222"/>
                </a:solidFill>
                <a:latin typeface="Calibri"/>
              </a:rPr>
              <a:t>You just measured it. Yours probably reads a few counts either side of center when nobody is touching it.</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If we fed that straight to the motors, the vehicle would creep across the room on its own while the controller sat on the desk. In a classroom with twenty vehicles, that is not a minor annoyance.</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The answer is a DEADZONE: any reading smaller than a threshold is treated as a firm, deliberate zero.</a:t>
            </a:r>
          </a:p>
          <a:p>
            <a:pPr algn="l">
              <a:lnSpc>
                <a:spcPct val="100000"/>
              </a:lnSpc>
              <a:spcAft>
                <a:spcPts val="600"/>
              </a:spcAft>
              <a:defRPr sz="1900" b="0">
                <a:solidFill>
                  <a:srgbClr val="222222"/>
                </a:solidFill>
                <a:latin typeface="Calibri"/>
              </a:defRPr>
            </a:pPr>
            <a:r>
              <a:rPr sz="1900" b="0">
                <a:solidFill>
                  <a:srgbClr val="222222"/>
                </a:solidFill>
                <a:latin typeface="Calibri"/>
              </a:rPr>
              <a:t>On this track the deadzone is 20, which is about 16% of the stick travel.</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Too small and the vehicle creeps. Too big and you waste the stick.</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From thumbstick to motor speed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14</a:t>
            </a:r>
          </a:p>
        </p:txBody>
      </p:sp>
      <p:cxnSp>
        <p:nvCxnSpPr>
          <p:cNvPr id="6" name="Connector 5"/>
          <p:cNvCxnSpPr/>
          <p:nvPr/>
        </p:nvCxnSpPr>
        <p:spPr>
          <a:xfrm>
            <a:off x="1691640" y="4892040"/>
            <a:ext cx="5852160" cy="0"/>
          </a:xfrm>
          <a:prstGeom prst="line">
            <a:avLst/>
          </a:prstGeom>
          <a:ln w="22225">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691640" y="1600200"/>
            <a:ext cx="0" cy="3291840"/>
          </a:xfrm>
          <a:prstGeom prst="line">
            <a:avLst/>
          </a:prstGeom>
          <a:ln w="22225">
            <a:solidFill>
              <a:srgbClr val="1F3A5F"/>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1691640" y="5001768"/>
            <a:ext cx="585216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stick reading   0  to  127</a:t>
            </a:r>
          </a:p>
        </p:txBody>
      </p:sp>
      <p:sp>
        <p:nvSpPr>
          <p:cNvPr id="9" name="TextBox 8"/>
          <p:cNvSpPr txBox="1"/>
          <p:nvPr/>
        </p:nvSpPr>
        <p:spPr>
          <a:xfrm>
            <a:off x="548640" y="1554480"/>
            <a:ext cx="1051560" cy="950976"/>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motor</a:t>
            </a:r>
          </a:p>
          <a:p>
            <a:pPr algn="r">
              <a:lnSpc>
                <a:spcPct val="100000"/>
              </a:lnSpc>
              <a:spcAft>
                <a:spcPts val="0"/>
              </a:spcAft>
              <a:defRPr sz="1800" b="0">
                <a:solidFill>
                  <a:srgbClr val="666666"/>
                </a:solidFill>
                <a:latin typeface="Calibri"/>
              </a:defRPr>
            </a:pPr>
            <a:r>
              <a:rPr sz="1800" b="0">
                <a:solidFill>
                  <a:srgbClr val="666666"/>
                </a:solidFill>
                <a:latin typeface="Calibri"/>
              </a:rPr>
              <a:t>speed</a:t>
            </a:r>
          </a:p>
          <a:p>
            <a:pPr algn="r">
              <a:lnSpc>
                <a:spcPct val="100000"/>
              </a:lnSpc>
              <a:spcAft>
                <a:spcPts val="0"/>
              </a:spcAft>
              <a:defRPr sz="1800" b="0">
                <a:solidFill>
                  <a:srgbClr val="666666"/>
                </a:solidFill>
                <a:latin typeface="Calibri"/>
              </a:defRPr>
            </a:pPr>
            <a:r>
              <a:rPr sz="1800" b="0">
                <a:solidFill>
                  <a:srgbClr val="666666"/>
                </a:solidFill>
                <a:latin typeface="Calibri"/>
              </a:rPr>
              <a:t>0 to 255</a:t>
            </a:r>
          </a:p>
        </p:txBody>
      </p:sp>
      <p:sp>
        <p:nvSpPr>
          <p:cNvPr id="10" name="Rectangle 9"/>
          <p:cNvSpPr/>
          <p:nvPr/>
        </p:nvSpPr>
        <p:spPr>
          <a:xfrm>
            <a:off x="1691640" y="1600200"/>
            <a:ext cx="921600" cy="3291840"/>
          </a:xfrm>
          <a:prstGeom prst="rect">
            <a:avLst/>
          </a:prstGeom>
          <a:solidFill>
            <a:srgbClr val="F6D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11" name="Connector 10"/>
          <p:cNvCxnSpPr/>
          <p:nvPr/>
        </p:nvCxnSpPr>
        <p:spPr>
          <a:xfrm>
            <a:off x="1691640" y="4892040"/>
            <a:ext cx="921600" cy="0"/>
          </a:xfrm>
          <a:prstGeom prst="line">
            <a:avLst/>
          </a:prstGeom>
          <a:ln w="38100">
            <a:solidFill>
              <a:srgbClr val="A32A2A"/>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2613240" y="1600200"/>
            <a:ext cx="4930560" cy="3291840"/>
          </a:xfrm>
          <a:prstGeom prst="line">
            <a:avLst/>
          </a:prstGeom>
          <a:ln w="38100">
            <a:solidFill>
              <a:srgbClr val="0E7C86"/>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1691640" y="1216152"/>
            <a:ext cx="1470240" cy="646684"/>
          </a:xfrm>
          <a:prstGeom prst="rect">
            <a:avLst/>
          </a:prstGeom>
          <a:noFill/>
        </p:spPr>
        <p:txBody>
          <a:bodyPr wrap="square" lIns="0" tIns="0" rIns="0" bIns="0">
            <a:spAutoFit/>
          </a:bodyPr>
          <a:lstStyle/>
          <a:p>
            <a:pPr algn="ctr">
              <a:lnSpc>
                <a:spcPct val="100000"/>
              </a:lnSpc>
              <a:spcAft>
                <a:spcPts val="0"/>
              </a:spcAft>
              <a:defRPr sz="1800" b="1">
                <a:solidFill>
                  <a:srgbClr val="A32A2A"/>
                </a:solidFill>
                <a:latin typeface="Calibri"/>
              </a:defRPr>
            </a:pPr>
            <a:r>
              <a:rPr sz="1800" b="1">
                <a:solidFill>
                  <a:srgbClr val="A32A2A"/>
                </a:solidFill>
                <a:latin typeface="Calibri"/>
              </a:rPr>
              <a:t>DEADZONE</a:t>
            </a:r>
            <a:br/>
            <a:r>
              <a:rPr sz="1800" b="1">
                <a:solidFill>
                  <a:srgbClr val="A32A2A"/>
                </a:solidFill>
                <a:latin typeface="Calibri"/>
              </a:rPr>
              <a:t>answer is 0</a:t>
            </a:r>
          </a:p>
        </p:txBody>
      </p:sp>
      <p:sp>
        <p:nvSpPr>
          <p:cNvPr id="14" name="TextBox 13"/>
          <p:cNvSpPr txBox="1"/>
          <p:nvPr/>
        </p:nvSpPr>
        <p:spPr>
          <a:xfrm>
            <a:off x="2887560" y="1691640"/>
            <a:ext cx="3657600" cy="646684"/>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map() stretches what is left</a:t>
            </a:r>
            <a:br/>
            <a:r>
              <a:rPr sz="1800" b="1">
                <a:solidFill>
                  <a:srgbClr val="0E7C86"/>
                </a:solidFill>
                <a:latin typeface="Calibri"/>
              </a:rPr>
              <a:t>across the whole speed range</a:t>
            </a:r>
          </a:p>
        </p:txBody>
      </p:sp>
      <p:sp>
        <p:nvSpPr>
          <p:cNvPr id="15" name="TextBox 14"/>
          <p:cNvSpPr txBox="1"/>
          <p:nvPr/>
        </p:nvSpPr>
        <p:spPr>
          <a:xfrm>
            <a:off x="2156040" y="5221224"/>
            <a:ext cx="1097280" cy="367792"/>
          </a:xfrm>
          <a:prstGeom prst="rect">
            <a:avLst/>
          </a:prstGeom>
          <a:noFill/>
        </p:spPr>
        <p:txBody>
          <a:bodyPr wrap="square" lIns="0" tIns="0" rIns="0" bIns="0">
            <a:spAutoFit/>
          </a:bodyPr>
          <a:lstStyle/>
          <a:p>
            <a:pPr algn="ctr">
              <a:lnSpc>
                <a:spcPct val="100000"/>
              </a:lnSpc>
              <a:spcAft>
                <a:spcPts val="0"/>
              </a:spcAft>
              <a:defRPr sz="1800" b="0">
                <a:solidFill>
                  <a:srgbClr val="A32A2A"/>
                </a:solidFill>
                <a:latin typeface="Consolas"/>
              </a:defRPr>
            </a:pPr>
            <a:r>
              <a:rPr sz="1800" b="0">
                <a:solidFill>
                  <a:srgbClr val="A32A2A"/>
                </a:solidFill>
                <a:latin typeface="Consolas"/>
              </a:rPr>
              <a:t>20</a:t>
            </a:r>
          </a:p>
        </p:txBody>
      </p:sp>
      <p:sp>
        <p:nvSpPr>
          <p:cNvPr id="16" name="TextBox 15"/>
          <p:cNvSpPr txBox="1"/>
          <p:nvPr/>
        </p:nvSpPr>
        <p:spPr>
          <a:xfrm>
            <a:off x="8595360" y="1325880"/>
            <a:ext cx="329184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onsolas"/>
              </a:defRPr>
            </a:pPr>
            <a:r>
              <a:rPr sz="1800" b="1">
                <a:solidFill>
                  <a:srgbClr val="0E7C86"/>
                </a:solidFill>
                <a:latin typeface="Consolas"/>
              </a:rPr>
              <a:t>stickToSpeed()</a:t>
            </a:r>
          </a:p>
        </p:txBody>
      </p:sp>
      <p:sp>
        <p:nvSpPr>
          <p:cNvPr id="17" name="Rectangle 16"/>
          <p:cNvSpPr/>
          <p:nvPr/>
        </p:nvSpPr>
        <p:spPr>
          <a:xfrm>
            <a:off x="8595360" y="1691640"/>
            <a:ext cx="3291840" cy="22860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lnSpc>
                <a:spcPct val="100000"/>
              </a:lnSpc>
              <a:spcAft>
                <a:spcPts val="0"/>
              </a:spcAft>
              <a:defRPr sz="1400" b="0">
                <a:solidFill>
                  <a:srgbClr val="222222"/>
                </a:solidFill>
                <a:latin typeface="Consolas"/>
              </a:defRPr>
            </a:pPr>
            <a:r>
              <a:rPr sz="1400" b="0">
                <a:solidFill>
                  <a:srgbClr val="222222"/>
                </a:solidFill>
                <a:latin typeface="Consolas"/>
              </a:rPr>
              <a:t>if (abs(v) &lt; DEADZONE)</a:t>
            </a:r>
          </a:p>
          <a:p>
            <a:pPr algn="l">
              <a:lnSpc>
                <a:spcPct val="100000"/>
              </a:lnSpc>
              <a:spcAft>
                <a:spcPts val="0"/>
              </a:spcAft>
              <a:defRPr sz="1400" b="0">
                <a:solidFill>
                  <a:srgbClr val="222222"/>
                </a:solidFill>
                <a:latin typeface="Consolas"/>
              </a:defRPr>
            </a:pPr>
            <a:r>
              <a:rPr sz="1400" b="0">
                <a:solidFill>
                  <a:srgbClr val="222222"/>
                </a:solidFill>
                <a:latin typeface="Consolas"/>
              </a:rPr>
              <a:t>    return 0;</a:t>
            </a:r>
          </a:p>
          <a:p>
            <a:pPr algn="l">
              <a:lnSpc>
                <a:spcPct val="100000"/>
              </a:lnSpc>
              <a:spcAft>
                <a:spcPts val="0"/>
              </a:spcAft>
              <a:defRPr sz="700" b="0">
                <a:solidFill>
                  <a:srgbClr val="222222"/>
                </a:solidFill>
                <a:latin typeface="Consolas"/>
              </a:defRPr>
            </a:pPr>
          </a:p>
          <a:p>
            <a:pPr algn="l">
              <a:lnSpc>
                <a:spcPct val="100000"/>
              </a:lnSpc>
              <a:spcAft>
                <a:spcPts val="0"/>
              </a:spcAft>
              <a:defRPr sz="1400" b="0">
                <a:solidFill>
                  <a:srgbClr val="222222"/>
                </a:solidFill>
                <a:latin typeface="Consolas"/>
              </a:defRPr>
            </a:pPr>
            <a:r>
              <a:rPr sz="1400" b="0">
                <a:solidFill>
                  <a:srgbClr val="222222"/>
                </a:solidFill>
                <a:latin typeface="Consolas"/>
              </a:rPr>
              <a:t>size = map(abs(v),</a:t>
            </a:r>
          </a:p>
          <a:p>
            <a:pPr algn="l">
              <a:lnSpc>
                <a:spcPct val="100000"/>
              </a:lnSpc>
              <a:spcAft>
                <a:spcPts val="0"/>
              </a:spcAft>
              <a:defRPr sz="1400" b="0">
                <a:solidFill>
                  <a:srgbClr val="222222"/>
                </a:solidFill>
                <a:latin typeface="Consolas"/>
              </a:defRPr>
            </a:pPr>
            <a:r>
              <a:rPr sz="1400" b="0">
                <a:solidFill>
                  <a:srgbClr val="222222"/>
                </a:solidFill>
                <a:latin typeface="Consolas"/>
              </a:rPr>
              <a:t>           DEADZONE, 127,</a:t>
            </a:r>
          </a:p>
          <a:p>
            <a:pPr algn="l">
              <a:lnSpc>
                <a:spcPct val="100000"/>
              </a:lnSpc>
              <a:spcAft>
                <a:spcPts val="0"/>
              </a:spcAft>
              <a:defRPr sz="1400" b="0">
                <a:solidFill>
                  <a:srgbClr val="222222"/>
                </a:solidFill>
                <a:latin typeface="Consolas"/>
              </a:defRPr>
            </a:pPr>
            <a:r>
              <a:rPr sz="1400" b="0">
                <a:solidFill>
                  <a:srgbClr val="222222"/>
                </a:solidFill>
                <a:latin typeface="Consolas"/>
              </a:rPr>
              <a:t>           MOTOR_MIN, maxSpeed);</a:t>
            </a:r>
          </a:p>
          <a:p>
            <a:pPr algn="l">
              <a:lnSpc>
                <a:spcPct val="100000"/>
              </a:lnSpc>
              <a:spcAft>
                <a:spcPts val="0"/>
              </a:spcAft>
              <a:defRPr sz="700" b="0">
                <a:solidFill>
                  <a:srgbClr val="222222"/>
                </a:solidFill>
                <a:latin typeface="Consolas"/>
              </a:defRPr>
            </a:pPr>
          </a:p>
          <a:p>
            <a:pPr algn="l">
              <a:lnSpc>
                <a:spcPct val="100000"/>
              </a:lnSpc>
              <a:spcAft>
                <a:spcPts val="0"/>
              </a:spcAft>
              <a:defRPr sz="1400" b="0">
                <a:solidFill>
                  <a:srgbClr val="222222"/>
                </a:solidFill>
                <a:latin typeface="Consolas"/>
              </a:defRPr>
            </a:pPr>
            <a:r>
              <a:rPr sz="1400" b="0">
                <a:solidFill>
                  <a:srgbClr val="222222"/>
                </a:solidFill>
                <a:latin typeface="Consolas"/>
              </a:rPr>
              <a:t>return (v &gt; 0) ? size</a:t>
            </a:r>
          </a:p>
          <a:p>
            <a:pPr algn="l">
              <a:lnSpc>
                <a:spcPct val="100000"/>
              </a:lnSpc>
              <a:spcAft>
                <a:spcPts val="0"/>
              </a:spcAft>
              <a:defRPr sz="1400" b="0">
                <a:solidFill>
                  <a:srgbClr val="222222"/>
                </a:solidFill>
                <a:latin typeface="Consolas"/>
              </a:defRPr>
            </a:pPr>
            <a:r>
              <a:rPr sz="1400" b="0">
                <a:solidFill>
                  <a:srgbClr val="222222"/>
                </a:solidFill>
                <a:latin typeface="Consolas"/>
              </a:rPr>
              <a:t>                : -size;</a:t>
            </a:r>
          </a:p>
        </p:txBody>
      </p:sp>
      <p:sp>
        <p:nvSpPr>
          <p:cNvPr id="18" name="TextBox 17"/>
          <p:cNvSpPr txBox="1"/>
          <p:nvPr/>
        </p:nvSpPr>
        <p:spPr>
          <a:xfrm>
            <a:off x="8595360" y="4160520"/>
            <a:ext cx="3291840" cy="181305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Why a deadzone at all?</a:t>
            </a:r>
          </a:p>
          <a:p>
            <a:pPr algn="l">
              <a:lnSpc>
                <a:spcPct val="100000"/>
              </a:lnSpc>
              <a:spcAft>
                <a:spcPts val="0"/>
              </a:spcAft>
              <a:defRPr sz="1800" b="0">
                <a:solidFill>
                  <a:srgbClr val="222222"/>
                </a:solidFill>
                <a:latin typeface="Calibri"/>
              </a:defRPr>
            </a:pPr>
            <a:r>
              <a:rPr sz="1800" b="0">
                <a:solidFill>
                  <a:srgbClr val="222222"/>
                </a:solidFill>
                <a:latin typeface="Calibri"/>
              </a:rPr>
              <a:t>A worn stick does not return</a:t>
            </a:r>
          </a:p>
          <a:p>
            <a:pPr algn="l">
              <a:lnSpc>
                <a:spcPct val="100000"/>
              </a:lnSpc>
              <a:spcAft>
                <a:spcPts val="0"/>
              </a:spcAft>
              <a:defRPr sz="1800" b="0">
                <a:solidFill>
                  <a:srgbClr val="222222"/>
                </a:solidFill>
                <a:latin typeface="Calibri"/>
              </a:defRPr>
            </a:pPr>
            <a:r>
              <a:rPr sz="1800" b="0">
                <a:solidFill>
                  <a:srgbClr val="222222"/>
                </a:solidFill>
                <a:latin typeface="Calibri"/>
              </a:rPr>
              <a:t>to exactly zero. Without this</a:t>
            </a:r>
          </a:p>
          <a:p>
            <a:pPr algn="l">
              <a:lnSpc>
                <a:spcPct val="100000"/>
              </a:lnSpc>
              <a:spcAft>
                <a:spcPts val="0"/>
              </a:spcAft>
              <a:defRPr sz="1800" b="0">
                <a:solidFill>
                  <a:srgbClr val="222222"/>
                </a:solidFill>
                <a:latin typeface="Calibri"/>
              </a:defRPr>
            </a:pPr>
            <a:r>
              <a:rPr sz="1800" b="0">
                <a:solidFill>
                  <a:srgbClr val="222222"/>
                </a:solidFill>
                <a:latin typeface="Calibri"/>
              </a:rPr>
              <a:t>the vehicle creeps away on</a:t>
            </a:r>
          </a:p>
          <a:p>
            <a:pPr algn="l">
              <a:lnSpc>
                <a:spcPct val="100000"/>
              </a:lnSpc>
              <a:spcAft>
                <a:spcPts val="0"/>
              </a:spcAft>
              <a:defRPr sz="1800" b="0">
                <a:solidFill>
                  <a:srgbClr val="222222"/>
                </a:solidFill>
                <a:latin typeface="Calibri"/>
              </a:defRPr>
            </a:pPr>
            <a:r>
              <a:rPr sz="1800" b="0">
                <a:solidFill>
                  <a:srgbClr val="222222"/>
                </a:solidFill>
                <a:latin typeface="Calibri"/>
              </a:rPr>
              <a:t>its own.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map()  -  the most useful function in the course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15</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the idea, and how the program uses it</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650">
                <a:latin typeface="Consolas"/>
              </a:defRPr>
            </a:pPr>
            <a:r>
              <a:rPr sz="1650">
                <a:solidFill>
                  <a:srgbClr val="222222"/>
                </a:solidFill>
                <a:latin typeface="Consolas"/>
              </a:rPr>
              <a:t>map(value, fromLow, fromHigh, toLow, toHigh)</a:t>
            </a:r>
          </a:p>
          <a:p>
            <a:pPr algn="l">
              <a:lnSpc>
                <a:spcPct val="100000"/>
              </a:lnSpc>
              <a:spcAft>
                <a:spcPts val="0"/>
              </a:spcAft>
              <a:defRPr sz="1650">
                <a:latin typeface="Consolas"/>
              </a:defRPr>
            </a:pPr>
            <a:r>
              <a:rPr sz="1650">
                <a:solidFill>
                  <a:srgbClr val="222222"/>
                </a:solidFill>
                <a:latin typeface="Consolas"/>
              </a:rPr>
              <a:t> </a:t>
            </a:r>
          </a:p>
          <a:p>
            <a:pPr algn="l">
              <a:lnSpc>
                <a:spcPct val="100000"/>
              </a:lnSpc>
              <a:spcAft>
                <a:spcPts val="0"/>
              </a:spcAft>
              <a:defRPr sz="1650">
                <a:latin typeface="Consolas"/>
              </a:defRPr>
            </a:pPr>
            <a:r>
              <a:rPr sz="1650">
                <a:solidFill>
                  <a:srgbClr val="666666"/>
                </a:solidFill>
                <a:latin typeface="Consolas"/>
              </a:rPr>
              <a:t>// "value sits somewhere between fromLow and fromHigh.</a:t>
            </a:r>
          </a:p>
          <a:p>
            <a:pPr algn="l">
              <a:lnSpc>
                <a:spcPct val="100000"/>
              </a:lnSpc>
              <a:spcAft>
                <a:spcPts val="0"/>
              </a:spcAft>
              <a:defRPr sz="1650">
                <a:latin typeface="Consolas"/>
              </a:defRPr>
            </a:pPr>
            <a:r>
              <a:rPr sz="1650">
                <a:solidFill>
                  <a:srgbClr val="666666"/>
                </a:solidFill>
                <a:latin typeface="Consolas"/>
              </a:rPr>
              <a:t>//  Where does it sit between toLow and toHigh?"</a:t>
            </a:r>
          </a:p>
          <a:p>
            <a:pPr algn="l">
              <a:lnSpc>
                <a:spcPct val="100000"/>
              </a:lnSpc>
              <a:spcAft>
                <a:spcPts val="0"/>
              </a:spcAft>
              <a:defRPr sz="1650">
                <a:latin typeface="Consolas"/>
              </a:defRPr>
            </a:pPr>
            <a:r>
              <a:rPr sz="1650">
                <a:solidFill>
                  <a:srgbClr val="222222"/>
                </a:solidFill>
                <a:latin typeface="Consolas"/>
              </a:rPr>
              <a:t> </a:t>
            </a:r>
          </a:p>
          <a:p>
            <a:pPr algn="l">
              <a:lnSpc>
                <a:spcPct val="100000"/>
              </a:lnSpc>
              <a:spcAft>
                <a:spcPts val="0"/>
              </a:spcAft>
              <a:defRPr sz="1650">
                <a:latin typeface="Consolas"/>
              </a:defRPr>
            </a:pPr>
            <a:r>
              <a:rPr sz="1650">
                <a:solidFill>
                  <a:srgbClr val="222222"/>
                </a:solidFill>
                <a:latin typeface="Consolas"/>
              </a:rPr>
              <a:t>map(0,   0, 127, 0, 255)   -&gt;    0</a:t>
            </a:r>
          </a:p>
          <a:p>
            <a:pPr algn="l">
              <a:lnSpc>
                <a:spcPct val="100000"/>
              </a:lnSpc>
              <a:spcAft>
                <a:spcPts val="0"/>
              </a:spcAft>
              <a:defRPr sz="1650">
                <a:latin typeface="Consolas"/>
              </a:defRPr>
            </a:pPr>
            <a:r>
              <a:rPr sz="1650">
                <a:solidFill>
                  <a:srgbClr val="222222"/>
                </a:solidFill>
                <a:latin typeface="Consolas"/>
              </a:rPr>
              <a:t>map(63, 0, 63, 0, 255)   -&gt;  127</a:t>
            </a:r>
          </a:p>
          <a:p>
            <a:pPr algn="l">
              <a:lnSpc>
                <a:spcPct val="100000"/>
              </a:lnSpc>
              <a:spcAft>
                <a:spcPts val="0"/>
              </a:spcAft>
              <a:defRPr sz="1650">
                <a:latin typeface="Consolas"/>
              </a:defRPr>
            </a:pPr>
            <a:r>
              <a:rPr sz="1650">
                <a:solidFill>
                  <a:srgbClr val="222222"/>
                </a:solidFill>
                <a:latin typeface="Consolas"/>
              </a:rPr>
              <a:t>map(127, 0, 127, 0, 255)   -&gt;  255</a:t>
            </a:r>
          </a:p>
          <a:p>
            <a:pPr algn="l">
              <a:lnSpc>
                <a:spcPct val="100000"/>
              </a:lnSpc>
              <a:spcAft>
                <a:spcPts val="0"/>
              </a:spcAft>
              <a:defRPr sz="1650">
                <a:latin typeface="Consolas"/>
              </a:defRPr>
            </a:pPr>
            <a:r>
              <a:rPr sz="1650">
                <a:solidFill>
                  <a:srgbClr val="222222"/>
                </a:solidFill>
                <a:latin typeface="Consolas"/>
              </a:rPr>
              <a:t> </a:t>
            </a:r>
          </a:p>
          <a:p>
            <a:pPr algn="l">
              <a:lnSpc>
                <a:spcPct val="100000"/>
              </a:lnSpc>
              <a:spcAft>
                <a:spcPts val="0"/>
              </a:spcAft>
              <a:defRPr sz="1650">
                <a:latin typeface="Consolas"/>
              </a:defRPr>
            </a:pPr>
            <a:r>
              <a:rPr sz="1650">
                <a:solidFill>
                  <a:srgbClr val="666666"/>
                </a:solidFill>
                <a:latin typeface="Consolas"/>
              </a:rPr>
              <a:t>// In stickToSpeed the low end is the DEADZONE, not zero,</a:t>
            </a:r>
          </a:p>
          <a:p>
            <a:pPr algn="l">
              <a:lnSpc>
                <a:spcPct val="100000"/>
              </a:lnSpc>
              <a:spcAft>
                <a:spcPts val="0"/>
              </a:spcAft>
              <a:defRPr sz="1650">
                <a:latin typeface="Consolas"/>
              </a:defRPr>
            </a:pPr>
            <a:r>
              <a:rPr sz="1650">
                <a:solidFill>
                  <a:srgbClr val="666666"/>
                </a:solidFill>
                <a:latin typeface="Consolas"/>
              </a:rPr>
              <a:t>// so the leftover travel is stretched across the whole</a:t>
            </a:r>
          </a:p>
          <a:p>
            <a:pPr algn="l">
              <a:lnSpc>
                <a:spcPct val="100000"/>
              </a:lnSpc>
              <a:spcAft>
                <a:spcPts val="0"/>
              </a:spcAft>
              <a:defRPr sz="1650">
                <a:latin typeface="Consolas"/>
              </a:defRPr>
            </a:pPr>
            <a:r>
              <a:rPr sz="1650">
                <a:solidFill>
                  <a:srgbClr val="666666"/>
                </a:solidFill>
                <a:latin typeface="Consolas"/>
              </a:rPr>
              <a:t>// speed range. Without that you could never reach 255.</a:t>
            </a:r>
          </a:p>
          <a:p>
            <a:pPr algn="l">
              <a:lnSpc>
                <a:spcPct val="100000"/>
              </a:lnSpc>
              <a:spcAft>
                <a:spcPts val="0"/>
              </a:spcAft>
              <a:defRPr sz="1650">
                <a:latin typeface="Consolas"/>
              </a:defRPr>
            </a:pPr>
            <a:r>
              <a:rPr sz="1650">
                <a:solidFill>
                  <a:srgbClr val="222222"/>
                </a:solidFill>
                <a:latin typeface="Consolas"/>
              </a:rPr>
              <a:t> </a:t>
            </a:r>
          </a:p>
          <a:p>
            <a:pPr algn="l">
              <a:lnSpc>
                <a:spcPct val="100000"/>
              </a:lnSpc>
              <a:spcAft>
                <a:spcPts val="0"/>
              </a:spcAft>
              <a:defRPr sz="1650">
                <a:latin typeface="Consolas"/>
              </a:defRPr>
            </a:pPr>
            <a:r>
              <a:rPr sz="1650" b="1">
                <a:solidFill>
                  <a:srgbClr val="0E7C86"/>
                </a:solidFill>
                <a:latin typeface="Consolas"/>
              </a:rPr>
              <a:t>size = map(abs(v), 20, 127, MOTOR_MIN, maxSpeed);</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2100" b="0">
                <a:solidFill>
                  <a:srgbClr val="222222"/>
                </a:solidFill>
                <a:latin typeface="Calibri"/>
              </a:defRPr>
            </a:pPr>
            <a:r>
              <a:rPr sz="2100" b="0">
                <a:solidFill>
                  <a:srgbClr val="222222"/>
                </a:solidFill>
                <a:latin typeface="Calibri"/>
              </a:rPr>
              <a:t>map() is just proportion. Nothing more.</a:t>
            </a:r>
          </a:p>
          <a:p>
            <a:pPr algn="l">
              <a:lnSpc>
                <a:spcPct val="100000"/>
              </a:lnSpc>
              <a:spcAft>
                <a:spcPts val="700"/>
              </a:spcAft>
              <a:defRPr sz="2100" b="0">
                <a:solidFill>
                  <a:srgbClr val="222222"/>
                </a:solidFill>
                <a:latin typeface="Calibri"/>
              </a:defRPr>
            </a:pPr>
            <a:r>
              <a:rPr sz="2100" b="0">
                <a:solidFill>
                  <a:srgbClr val="222222"/>
                </a:solidFill>
                <a:latin typeface="Calibri"/>
              </a:rPr>
              <a:t>It does NOT clamp. Feed it something outside the input range and you get something outside the output range, which is why the program calls constrain() straight afterwards.</a:t>
            </a:r>
          </a:p>
          <a:p>
            <a:pPr algn="l">
              <a:lnSpc>
                <a:spcPct val="100000"/>
              </a:lnSpc>
              <a:spcAft>
                <a:spcPts val="700"/>
              </a:spcAft>
              <a:defRPr sz="2100" b="0">
                <a:solidFill>
                  <a:srgbClr val="222222"/>
                </a:solidFill>
                <a:latin typeface="Calibri"/>
              </a:defRPr>
            </a:pPr>
            <a:r>
              <a:rPr sz="2100" b="0">
                <a:solidFill>
                  <a:srgbClr val="222222"/>
                </a:solidFill>
                <a:latin typeface="Calibri"/>
              </a:rPr>
              <a:t>abs() throws away the sign, so we map the SIZE of the push and put the direction back at the end.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16</a:t>
            </a:r>
          </a:p>
        </p:txBody>
      </p:sp>
      <p:sp>
        <p:nvSpPr>
          <p:cNvPr id="6" name="Rounded Rectangle 5"/>
          <p:cNvSpPr/>
          <p:nvPr/>
        </p:nvSpPr>
        <p:spPr>
          <a:xfrm>
            <a:off x="502920"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Bluetooth and pairing</a:t>
            </a:r>
          </a:p>
        </p:txBody>
      </p:sp>
      <p:sp>
        <p:nvSpPr>
          <p:cNvPr id="7" name="TextBox 6"/>
          <p:cNvSpPr txBox="1"/>
          <p:nvPr/>
        </p:nvSpPr>
        <p:spPr>
          <a:xfrm>
            <a:off x="502920"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3335959"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What the pad sends</a:t>
            </a:r>
          </a:p>
        </p:txBody>
      </p:sp>
      <p:sp>
        <p:nvSpPr>
          <p:cNvPr id="9" name="TextBox 8"/>
          <p:cNvSpPr txBox="1"/>
          <p:nvPr/>
        </p:nvSpPr>
        <p:spPr>
          <a:xfrm>
            <a:off x="3335959"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0" name="Rounded Rectangle 9"/>
          <p:cNvSpPr/>
          <p:nvPr/>
        </p:nvSpPr>
        <p:spPr>
          <a:xfrm>
            <a:off x="6168998" y="2240280"/>
            <a:ext cx="2686735"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Deadzone and map</a:t>
            </a:r>
          </a:p>
        </p:txBody>
      </p:sp>
      <p:sp>
        <p:nvSpPr>
          <p:cNvPr id="11" name="TextBox 10"/>
          <p:cNvSpPr txBox="1"/>
          <p:nvPr/>
        </p:nvSpPr>
        <p:spPr>
          <a:xfrm>
            <a:off x="6168998"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
        <p:nvSpPr>
          <p:cNvPr id="12" name="Rounded Rectangle 11"/>
          <p:cNvSpPr/>
          <p:nvPr/>
        </p:nvSpPr>
        <p:spPr>
          <a:xfrm>
            <a:off x="9002037" y="2240280"/>
            <a:ext cx="2686735"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Driving it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watch the arithmetic</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17</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l3b_deadzone_and_map</a:t>
            </a:r>
            <a:r>
              <a:rPr sz="1200">
                <a:solidFill>
                  <a:srgbClr val="FFFFFF"/>
                </a:solidFill>
                <a:latin typeface="Calibri"/>
              </a:rPr>
              <a:t>     (20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1.  Upload it. Nothing moves - this is print only.</a:t>
            </a:r>
          </a:p>
          <a:p>
            <a:pPr algn="l">
              <a:lnSpc>
                <a:spcPct val="100000"/>
              </a:lnSpc>
              <a:spcAft>
                <a:spcPts val="800"/>
              </a:spcAft>
              <a:defRPr sz="1900" b="0">
                <a:solidFill>
                  <a:srgbClr val="222222"/>
                </a:solidFill>
                <a:latin typeface="Calibri"/>
              </a:defRPr>
            </a:pPr>
            <a:r>
              <a:rPr sz="1900" b="0">
                <a:solidFill>
                  <a:srgbClr val="222222"/>
                </a:solidFill>
                <a:latin typeface="Calibri"/>
              </a:rPr>
              <a:t>2.  Push the stick VERY slowly from center to full forward. Watch both columns. Where does the speed stop being 0?</a:t>
            </a:r>
          </a:p>
          <a:p>
            <a:pPr algn="l">
              <a:lnSpc>
                <a:spcPct val="100000"/>
              </a:lnSpc>
              <a:spcAft>
                <a:spcPts val="800"/>
              </a:spcAft>
              <a:defRPr sz="1900" b="0">
                <a:solidFill>
                  <a:srgbClr val="222222"/>
                </a:solidFill>
                <a:latin typeface="Calibri"/>
              </a:defRPr>
            </a:pPr>
            <a:r>
              <a:rPr sz="1900" b="0">
                <a:solidFill>
                  <a:srgbClr val="222222"/>
                </a:solidFill>
                <a:latin typeface="Calibri"/>
              </a:rPr>
              <a:t>3.  Set STICK_DEADZONE to 0. Upload. Put the controller down and do not touch it. Does the speed stay at 0?</a:t>
            </a:r>
          </a:p>
          <a:p>
            <a:pPr algn="l">
              <a:lnSpc>
                <a:spcPct val="100000"/>
              </a:lnSpc>
              <a:spcAft>
                <a:spcPts val="800"/>
              </a:spcAft>
              <a:defRPr sz="1900" b="0">
                <a:solidFill>
                  <a:srgbClr val="222222"/>
                </a:solidFill>
                <a:latin typeface="Calibri"/>
              </a:defRPr>
            </a:pPr>
            <a:r>
              <a:rPr sz="1900" b="0">
                <a:solidFill>
                  <a:srgbClr val="222222"/>
                </a:solidFill>
                <a:latin typeface="Calibri"/>
              </a:rPr>
              <a:t>4.  Set it to 101. How much of the stick is now wasted?</a:t>
            </a:r>
          </a:p>
          <a:p>
            <a:pPr algn="l">
              <a:lnSpc>
                <a:spcPct val="100000"/>
              </a:lnSpc>
              <a:spcAft>
                <a:spcPts val="800"/>
              </a:spcAft>
              <a:defRPr sz="1900" b="0">
                <a:solidFill>
                  <a:srgbClr val="222222"/>
                </a:solidFill>
                <a:latin typeface="Calibri"/>
              </a:defRPr>
            </a:pPr>
            <a:r>
              <a:rPr sz="1900" b="0">
                <a:solidFill>
                  <a:srgbClr val="222222"/>
                </a:solidFill>
                <a:latin typeface="Calibri"/>
              </a:rPr>
              <a:t>5.  Put it back. Now set MOTOR_MIN to 60 and watch what happens the instant you leave the deadzone.</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292958"/>
          </a:xfrm>
          <a:prstGeom prst="rect">
            <a:avLst/>
          </a:prstGeom>
          <a:noFill/>
        </p:spPr>
        <p:txBody>
          <a:bodyPr wrap="square" lIns="0" tIns="0" rIns="0" bIns="0">
            <a:spAutoFit/>
          </a:bodyPr>
          <a:lstStyle/>
          <a:p>
            <a:pPr algn="l">
              <a:lnSpc>
                <a:spcPct val="100000"/>
              </a:lnSpc>
              <a:spcAft>
                <a:spcPts val="300"/>
              </a:spcAft>
              <a:defRPr sz="2500" b="0">
                <a:solidFill>
                  <a:srgbClr val="222222"/>
                </a:solidFill>
                <a:latin typeface="Calibri"/>
              </a:defRPr>
            </a:pPr>
            <a:r>
              <a:rPr sz="2500" b="0">
                <a:solidFill>
                  <a:srgbClr val="222222"/>
                </a:solidFill>
                <a:latin typeface="Calibri"/>
              </a:rPr>
              <a:t>Two columns: the raw number from the controller, and the motor speed it turns into.</a:t>
            </a:r>
          </a:p>
        </p:txBody>
      </p:sp>
      <p:sp>
        <p:nvSpPr>
          <p:cNvPr id="10" name="TextBox 9"/>
          <p:cNvSpPr txBox="1"/>
          <p:nvPr/>
        </p:nvSpPr>
        <p:spPr>
          <a:xfrm>
            <a:off x="7163537" y="3670398"/>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072734"/>
            <a:ext cx="4525238" cy="2190905"/>
          </a:xfrm>
          <a:prstGeom prst="rect">
            <a:avLst/>
          </a:prstGeom>
          <a:noFill/>
        </p:spPr>
        <p:txBody>
          <a:bodyPr wrap="square" lIns="0" tIns="0" rIns="0" bIns="0">
            <a:spAutoFit/>
          </a:bodyPr>
          <a:lstStyle/>
          <a:p>
            <a:pPr algn="l">
              <a:lnSpc>
                <a:spcPct val="100000"/>
              </a:lnSpc>
              <a:spcAft>
                <a:spcPts val="300"/>
              </a:spcAft>
              <a:defRPr sz="2300" b="0">
                <a:solidFill>
                  <a:srgbClr val="222222"/>
                </a:solidFill>
                <a:latin typeface="Calibri"/>
              </a:defRPr>
            </a:pPr>
            <a:r>
              <a:rPr sz="2300" b="0">
                <a:solidFill>
                  <a:srgbClr val="222222"/>
                </a:solidFill>
                <a:latin typeface="Calibri"/>
              </a:rPr>
              <a:t>With the deadzone at 0, what does the vehicle do when nobody is holding the controller?</a:t>
            </a:r>
          </a:p>
          <a:p>
            <a:pPr algn="l">
              <a:lnSpc>
                <a:spcPct val="100000"/>
              </a:lnSpc>
              <a:spcAft>
                <a:spcPts val="300"/>
              </a:spcAft>
              <a:defRPr sz="2300" b="0">
                <a:solidFill>
                  <a:srgbClr val="222222"/>
                </a:solidFill>
                <a:latin typeface="Calibri"/>
              </a:defRPr>
            </a:pPr>
            <a:r>
              <a:rPr sz="2300" b="0">
                <a:solidFill>
                  <a:srgbClr val="222222"/>
                </a:solidFill>
                <a:latin typeface="Calibri"/>
              </a:rPr>
              <a:t>What does MOTOR_MIN = 60 change, and when would you want it?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Mixing, and why steering has its own limit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18</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Full speed forwards, half speed steering</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1900" b="0">
                <a:solidFill>
                  <a:srgbClr val="222222"/>
                </a:solidFill>
                <a:latin typeface="Calibri"/>
              </a:defRPr>
            </a:pPr>
            <a:r>
              <a:rPr sz="1900" b="0">
                <a:solidFill>
                  <a:srgbClr val="222222"/>
                </a:solidFill>
                <a:latin typeface="Calibri"/>
              </a:rPr>
              <a:t>left = forward + turn        right = forward - turn</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Driving gets the full MOTOR_MAX of 255.</a:t>
            </a:r>
          </a:p>
          <a:p>
            <a:pPr algn="l">
              <a:lnSpc>
                <a:spcPct val="100000"/>
              </a:lnSpc>
              <a:spcAft>
                <a:spcPts val="600"/>
              </a:spcAft>
              <a:defRPr sz="1900" b="0">
                <a:solidFill>
                  <a:srgbClr val="222222"/>
                </a:solidFill>
                <a:latin typeface="Calibri"/>
              </a:defRPr>
            </a:pPr>
            <a:r>
              <a:rPr sz="1900" b="0">
                <a:solidFill>
                  <a:srgbClr val="222222"/>
                </a:solidFill>
                <a:latin typeface="Calibri"/>
              </a:rPr>
              <a:t>Steering gets turnMax, which is HALF of that by default.</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Why? Because at full power a small nudge sideways spins the vehicle faster than anybody can correct for. Half-power steering makes it controllable without making it slow.</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The full program lets you switch between the two with L3 (click the left stick in). Sharp mode is for spinning on the spot deliberately; normal mode is for actually getting somewhere.</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constrain() catches the overflow. forward 200 plus turn 60 is 260, which is more than a motor can take.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l3c_tank_drive  -  the whole of loop()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19</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l3c_tank_drive.ino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400">
                <a:latin typeface="Consolas"/>
              </a:defRPr>
            </a:pPr>
            <a:r>
              <a:rPr sz="1400">
                <a:solidFill>
                  <a:srgbClr val="222222"/>
                </a:solidFill>
                <a:latin typeface="Consolas"/>
              </a:rPr>
              <a:t>void loop() {</a:t>
            </a:r>
          </a:p>
          <a:p>
            <a:pPr algn="l">
              <a:lnSpc>
                <a:spcPct val="100000"/>
              </a:lnSpc>
              <a:spcAft>
                <a:spcPts val="0"/>
              </a:spcAft>
              <a:defRPr sz="1400">
                <a:latin typeface="Consolas"/>
              </a:defRPr>
            </a:pPr>
            <a:r>
              <a:rPr sz="1400" b="1">
                <a:solidFill>
                  <a:srgbClr val="0E7C86"/>
                </a:solidFill>
                <a:latin typeface="Consolas"/>
              </a:rPr>
              <a:t>  if (!Ps3.isConnected()) {</a:t>
            </a:r>
          </a:p>
          <a:p>
            <a:pPr algn="l">
              <a:lnSpc>
                <a:spcPct val="100000"/>
              </a:lnSpc>
              <a:spcAft>
                <a:spcPts val="0"/>
              </a:spcAft>
              <a:defRPr sz="1400">
                <a:latin typeface="Consolas"/>
              </a:defRPr>
            </a:pPr>
            <a:r>
              <a:rPr sz="1400" b="1">
                <a:solidFill>
                  <a:srgbClr val="0E7C86"/>
                </a:solidFill>
                <a:latin typeface="Consolas"/>
              </a:rPr>
              <a:t>    drive(0, 0);        // never drive without a controller</a:t>
            </a:r>
          </a:p>
          <a:p>
            <a:pPr algn="l">
              <a:lnSpc>
                <a:spcPct val="100000"/>
              </a:lnSpc>
              <a:spcAft>
                <a:spcPts val="0"/>
              </a:spcAft>
              <a:defRPr sz="1400">
                <a:latin typeface="Consolas"/>
              </a:defRPr>
            </a:pPr>
            <a:r>
              <a:rPr sz="1400" b="1">
                <a:solidFill>
                  <a:srgbClr val="0E7C86"/>
                </a:solidFill>
                <a:latin typeface="Consolas"/>
              </a:rPr>
              <a:t>    return;</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int leftStickX = Ps3.data.analog.stick.lx;</a:t>
            </a:r>
          </a:p>
          <a:p>
            <a:pPr algn="l">
              <a:lnSpc>
                <a:spcPct val="100000"/>
              </a:lnSpc>
              <a:spcAft>
                <a:spcPts val="0"/>
              </a:spcAft>
              <a:defRPr sz="1400">
                <a:latin typeface="Consolas"/>
              </a:defRPr>
            </a:pPr>
            <a:r>
              <a:rPr sz="1400">
                <a:solidFill>
                  <a:srgbClr val="222222"/>
                </a:solidFill>
                <a:latin typeface="Consolas"/>
              </a:rPr>
              <a:t>  int leftStickY = Ps3.data.analog.stick.ly;</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b="1">
                <a:solidFill>
                  <a:srgbClr val="0E7C86"/>
                </a:solidFill>
                <a:latin typeface="Consolas"/>
              </a:rPr>
              <a:t>  int forward = stickToSpeed(-leftStickY, MOTOR_MAX);</a:t>
            </a:r>
          </a:p>
          <a:p>
            <a:pPr algn="l">
              <a:lnSpc>
                <a:spcPct val="100000"/>
              </a:lnSpc>
              <a:spcAft>
                <a:spcPts val="0"/>
              </a:spcAft>
              <a:defRPr sz="1400">
                <a:latin typeface="Consolas"/>
              </a:defRPr>
            </a:pPr>
            <a:r>
              <a:rPr sz="1400" b="1">
                <a:solidFill>
                  <a:srgbClr val="0E7C86"/>
                </a:solidFill>
                <a:latin typeface="Consolas"/>
              </a:rPr>
              <a:t>  int turn    = stickToSpeed(leftStickX,  turnMax);</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int leftSpeed  = constrain(forward + turn, -MOTOR_MAX, MOTOR_MAX);</a:t>
            </a:r>
          </a:p>
          <a:p>
            <a:pPr algn="l">
              <a:lnSpc>
                <a:spcPct val="100000"/>
              </a:lnSpc>
              <a:spcAft>
                <a:spcPts val="0"/>
              </a:spcAft>
              <a:defRPr sz="1400">
                <a:latin typeface="Consolas"/>
              </a:defRPr>
            </a:pPr>
            <a:r>
              <a:rPr sz="1400">
                <a:solidFill>
                  <a:srgbClr val="222222"/>
                </a:solidFill>
                <a:latin typeface="Consolas"/>
              </a:rPr>
              <a:t>  int rightSpeed = constrain(forward - turn, -MOTOR_MAX, MOTOR_MAX);</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drive(leftSpeed, rightSpeed);</a:t>
            </a:r>
          </a:p>
          <a:p>
            <a:pPr algn="l">
              <a:lnSpc>
                <a:spcPct val="100000"/>
              </a:lnSpc>
              <a:spcAft>
                <a:spcPts val="0"/>
              </a:spcAft>
              <a:defRPr sz="1400">
                <a:latin typeface="Consolas"/>
              </a:defRPr>
            </a:pPr>
            <a:r>
              <a:rPr sz="14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2100" b="0">
                <a:solidFill>
                  <a:srgbClr val="222222"/>
                </a:solidFill>
                <a:latin typeface="Calibri"/>
              </a:defRPr>
            </a:pPr>
            <a:r>
              <a:rPr sz="2100" b="0">
                <a:solidFill>
                  <a:srgbClr val="222222"/>
                </a:solidFill>
                <a:latin typeface="Calibri"/>
              </a:rPr>
              <a:t>Read the first four lines again. If there is no controller, the motors stop and we go round again. That is the FAILSAFE, and it is the most important part of the program.</a:t>
            </a:r>
          </a:p>
          <a:p>
            <a:pPr algn="l">
              <a:lnSpc>
                <a:spcPct val="100000"/>
              </a:lnSpc>
              <a:spcAft>
                <a:spcPts val="700"/>
              </a:spcAft>
              <a:defRPr sz="2100" b="0">
                <a:solidFill>
                  <a:srgbClr val="222222"/>
                </a:solidFill>
                <a:latin typeface="Calibri"/>
              </a:defRPr>
            </a:pPr>
            <a:r>
              <a:rPr sz="2100" b="0">
                <a:solidFill>
                  <a:srgbClr val="222222"/>
                </a:solidFill>
                <a:latin typeface="Calibri"/>
              </a:rPr>
              <a:t>Note the minus sign on leftStickY. Up is negative.</a:t>
            </a:r>
          </a:p>
          <a:p>
            <a:pPr algn="l">
              <a:lnSpc>
                <a:spcPct val="100000"/>
              </a:lnSpc>
              <a:spcAft>
                <a:spcPts val="700"/>
              </a:spcAft>
              <a:defRPr sz="2100" b="0">
                <a:solidFill>
                  <a:srgbClr val="222222"/>
                </a:solidFill>
                <a:latin typeface="Calibri"/>
              </a:defRPr>
            </a:pPr>
            <a:r>
              <a:rPr sz="2100" b="0">
                <a:solidFill>
                  <a:srgbClr val="222222"/>
                </a:solidFill>
                <a:latin typeface="Calibri"/>
              </a:rPr>
              <a:t>Driving gets MOTOR_MAX; steering gets turnMax.</a:t>
            </a:r>
          </a:p>
          <a:p>
            <a:pPr algn="l">
              <a:lnSpc>
                <a:spcPct val="100000"/>
              </a:lnSpc>
              <a:spcAft>
                <a:spcPts val="700"/>
              </a:spcAft>
              <a:defRPr sz="2100" b="0">
                <a:solidFill>
                  <a:srgbClr val="222222"/>
                </a:solidFill>
                <a:latin typeface="Calibri"/>
              </a:defRPr>
            </a:pPr>
            <a:r>
              <a:rPr sz="2100" b="0">
                <a:solidFill>
                  <a:srgbClr val="222222"/>
                </a:solidFill>
                <a:latin typeface="Calibri"/>
              </a:rPr>
              <a:t>Everything else you have already seen.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20</a:t>
            </a:r>
          </a:p>
        </p:txBody>
      </p:sp>
      <p:sp>
        <p:nvSpPr>
          <p:cNvPr id="6" name="Rounded Rectangle 5"/>
          <p:cNvSpPr/>
          <p:nvPr/>
        </p:nvSpPr>
        <p:spPr>
          <a:xfrm>
            <a:off x="502920"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Bluetooth and pairing</a:t>
            </a:r>
          </a:p>
        </p:txBody>
      </p:sp>
      <p:sp>
        <p:nvSpPr>
          <p:cNvPr id="7" name="TextBox 6"/>
          <p:cNvSpPr txBox="1"/>
          <p:nvPr/>
        </p:nvSpPr>
        <p:spPr>
          <a:xfrm>
            <a:off x="502920"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3335959"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What the pad sends</a:t>
            </a:r>
          </a:p>
        </p:txBody>
      </p:sp>
      <p:sp>
        <p:nvSpPr>
          <p:cNvPr id="9" name="TextBox 8"/>
          <p:cNvSpPr txBox="1"/>
          <p:nvPr/>
        </p:nvSpPr>
        <p:spPr>
          <a:xfrm>
            <a:off x="3335959"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0" name="Rounded Rectangle 9"/>
          <p:cNvSpPr/>
          <p:nvPr/>
        </p:nvSpPr>
        <p:spPr>
          <a:xfrm>
            <a:off x="6168998"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Deadzone and map</a:t>
            </a:r>
          </a:p>
        </p:txBody>
      </p:sp>
      <p:sp>
        <p:nvSpPr>
          <p:cNvPr id="11" name="TextBox 10"/>
          <p:cNvSpPr txBox="1"/>
          <p:nvPr/>
        </p:nvSpPr>
        <p:spPr>
          <a:xfrm>
            <a:off x="6168998"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2" name="Rounded Rectangle 11"/>
          <p:cNvSpPr/>
          <p:nvPr/>
        </p:nvSpPr>
        <p:spPr>
          <a:xfrm>
            <a:off x="9002037" y="2240280"/>
            <a:ext cx="2686735"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Driving it</a:t>
            </a:r>
          </a:p>
        </p:txBody>
      </p:sp>
      <p:sp>
        <p:nvSpPr>
          <p:cNvPr id="13" name="TextBox 12"/>
          <p:cNvSpPr txBox="1"/>
          <p:nvPr/>
        </p:nvSpPr>
        <p:spPr>
          <a:xfrm>
            <a:off x="9002037"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drive 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21</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l3c_tank_drive</a:t>
            </a:r>
            <a:r>
              <a:rPr sz="1200">
                <a:solidFill>
                  <a:srgbClr val="FFFFFF"/>
                </a:solidFill>
                <a:latin typeface="Calibri"/>
              </a:rPr>
              <a:t>     (30 minutes)</a:t>
            </a:r>
          </a:p>
        </p:txBody>
      </p:sp>
      <p:sp>
        <p:nvSpPr>
          <p:cNvPr id="7" name="TextBox 6"/>
          <p:cNvSpPr txBox="1"/>
          <p:nvPr/>
        </p:nvSpPr>
        <p:spPr>
          <a:xfrm>
            <a:off x="502920" y="1901952"/>
            <a:ext cx="6249137" cy="3273552"/>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1.  Wheels off the ground. Upload. Check that up is forward and right is right BEFORE you put it down.</a:t>
            </a:r>
          </a:p>
          <a:p>
            <a:pPr algn="l">
              <a:lnSpc>
                <a:spcPct val="100000"/>
              </a:lnSpc>
              <a:spcAft>
                <a:spcPts val="800"/>
              </a:spcAft>
              <a:defRPr sz="1800" b="0">
                <a:solidFill>
                  <a:srgbClr val="222222"/>
                </a:solidFill>
                <a:latin typeface="Calibri"/>
              </a:defRPr>
            </a:pPr>
            <a:r>
              <a:rPr sz="1800" b="0">
                <a:solidFill>
                  <a:srgbClr val="222222"/>
                </a:solidFill>
                <a:latin typeface="Calibri"/>
              </a:rPr>
              <a:t>2.  Put it on the floor in a clear space and drive.</a:t>
            </a:r>
          </a:p>
          <a:p>
            <a:pPr algn="l">
              <a:lnSpc>
                <a:spcPct val="100000"/>
              </a:lnSpc>
              <a:spcAft>
                <a:spcPts val="800"/>
              </a:spcAft>
              <a:defRPr sz="1800" b="0">
                <a:solidFill>
                  <a:srgbClr val="222222"/>
                </a:solidFill>
                <a:latin typeface="Calibri"/>
              </a:defRPr>
            </a:pPr>
            <a:r>
              <a:rPr sz="1800" b="0">
                <a:solidFill>
                  <a:srgbClr val="222222"/>
                </a:solidFill>
                <a:latin typeface="Calibri"/>
              </a:rPr>
              <a:t>3.  While driving, switch the pad off. What happens?</a:t>
            </a:r>
          </a:p>
          <a:p>
            <a:pPr algn="l">
              <a:lnSpc>
                <a:spcPct val="100000"/>
              </a:lnSpc>
              <a:spcAft>
                <a:spcPts val="800"/>
              </a:spcAft>
              <a:defRPr sz="1800" b="0">
                <a:solidFill>
                  <a:srgbClr val="222222"/>
                </a:solidFill>
                <a:latin typeface="Calibri"/>
              </a:defRPr>
            </a:pPr>
            <a:r>
              <a:rPr sz="1800" b="0">
                <a:solidFill>
                  <a:srgbClr val="222222"/>
                </a:solidFill>
                <a:latin typeface="Calibri"/>
              </a:rPr>
              <a:t>4.  Set turnMax to MOTOR_MAX. Which is easier to aim?</a:t>
            </a:r>
          </a:p>
          <a:p>
            <a:pPr algn="l">
              <a:lnSpc>
                <a:spcPct val="100000"/>
              </a:lnSpc>
              <a:spcAft>
                <a:spcPts val="800"/>
              </a:spcAft>
              <a:defRPr sz="1800" b="0">
                <a:solidFill>
                  <a:srgbClr val="222222"/>
                </a:solidFill>
                <a:latin typeface="Calibri"/>
              </a:defRPr>
            </a:pPr>
            <a:r>
              <a:rPr sz="1800" b="0">
                <a:solidFill>
                  <a:srgbClr val="222222"/>
                </a:solidFill>
                <a:latin typeface="Calibri"/>
              </a:rPr>
              <a:t>5.  Lines 150 and 151: swap the + and the - and drive. What is wrong now?</a:t>
            </a:r>
          </a:p>
          <a:p>
            <a:pPr algn="l">
              <a:lnSpc>
                <a:spcPct val="100000"/>
              </a:lnSpc>
              <a:spcAft>
                <a:spcPts val="800"/>
              </a:spcAft>
              <a:defRPr sz="1800" b="0">
                <a:solidFill>
                  <a:srgbClr val="222222"/>
                </a:solidFill>
                <a:latin typeface="Calibri"/>
              </a:defRPr>
            </a:pPr>
            <a:r>
              <a:rPr sz="1800" b="0">
                <a:solidFill>
                  <a:srgbClr val="222222"/>
                </a:solidFill>
                <a:latin typeface="Calibri"/>
              </a:rPr>
              <a:t>6.  Line 151: make it  rightSpeed = forward;  with no turn term. Why is that worse steering?</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670919"/>
          </a:xfrm>
          <a:prstGeom prst="rect">
            <a:avLst/>
          </a:prstGeom>
          <a:noFill/>
        </p:spPr>
        <p:txBody>
          <a:bodyPr wrap="square" lIns="0" tIns="0" rIns="0" bIns="0">
            <a:spAutoFit/>
          </a:bodyPr>
          <a:lstStyle/>
          <a:p>
            <a:pPr algn="l">
              <a:lnSpc>
                <a:spcPct val="100000"/>
              </a:lnSpc>
              <a:spcAft>
                <a:spcPts val="300"/>
              </a:spcAft>
              <a:defRPr sz="1800" b="0">
                <a:solidFill>
                  <a:srgbClr val="222222"/>
                </a:solidFill>
                <a:latin typeface="Calibri"/>
              </a:defRPr>
            </a:pPr>
            <a:r>
              <a:rPr sz="1800" b="0">
                <a:solidFill>
                  <a:srgbClr val="222222"/>
                </a:solidFill>
                <a:latin typeface="Calibri"/>
              </a:rPr>
              <a:t>A vehicle that goes where you point it.</a:t>
            </a:r>
          </a:p>
        </p:txBody>
      </p:sp>
      <p:sp>
        <p:nvSpPr>
          <p:cNvPr id="10" name="TextBox 9"/>
          <p:cNvSpPr txBox="1"/>
          <p:nvPr/>
        </p:nvSpPr>
        <p:spPr>
          <a:xfrm>
            <a:off x="7163537" y="3048359"/>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3450695"/>
            <a:ext cx="4525238" cy="1724808"/>
          </a:xfrm>
          <a:prstGeom prst="rect">
            <a:avLst/>
          </a:prstGeom>
          <a:noFill/>
        </p:spPr>
        <p:txBody>
          <a:bodyPr wrap="square" lIns="0" tIns="0" rIns="0" bIns="0">
            <a:spAutoFit/>
          </a:bodyPr>
          <a:lstStyle/>
          <a:p>
            <a:pPr algn="l">
              <a:lnSpc>
                <a:spcPct val="100000"/>
              </a:lnSpc>
              <a:spcAft>
                <a:spcPts val="300"/>
              </a:spcAft>
              <a:defRPr sz="2500" b="0">
                <a:solidFill>
                  <a:srgbClr val="222222"/>
                </a:solidFill>
                <a:latin typeface="Calibri"/>
              </a:defRPr>
            </a:pPr>
            <a:r>
              <a:rPr sz="2500" b="0">
                <a:solidFill>
                  <a:srgbClr val="222222"/>
                </a:solidFill>
                <a:latin typeface="Calibri"/>
              </a:rPr>
              <a:t>What happened when the controller switched off, and which four lines made that happen?</a:t>
            </a:r>
          </a:p>
        </p:txBody>
      </p:sp>
      <p:sp>
        <p:nvSpPr>
          <p:cNvPr id="12" name="Rounded Rectangle 11"/>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Check the controls with the wheels off the ground first. Every time you upload a change.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Failsafe: what a robot does when it stops hearing you</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22</a:t>
            </a:r>
          </a:p>
        </p:txBody>
      </p:sp>
      <p:sp>
        <p:nvSpPr>
          <p:cNvPr id="6" name="TextBox 5"/>
          <p:cNvSpPr txBox="1"/>
          <p:nvPr/>
        </p:nvSpPr>
        <p:spPr>
          <a:xfrm>
            <a:off x="502920" y="1188720"/>
            <a:ext cx="5364327" cy="3986784"/>
          </a:xfrm>
          <a:prstGeom prst="rect">
            <a:avLst/>
          </a:prstGeom>
          <a:noFill/>
        </p:spPr>
        <p:txBody>
          <a:bodyPr wrap="square" lIns="0" tIns="0" rIns="0" bIns="0">
            <a:spAutoFit/>
          </a:bodyPr>
          <a:lstStyle/>
          <a:p>
            <a:pPr algn="l">
              <a:lnSpc>
                <a:spcPct val="100000"/>
              </a:lnSpc>
              <a:spcAft>
                <a:spcPts val="900"/>
              </a:spcAft>
              <a:defRPr sz="2000" b="0">
                <a:solidFill>
                  <a:srgbClr val="222222"/>
                </a:solidFill>
                <a:latin typeface="Calibri"/>
              </a:defRPr>
            </a:pPr>
            <a:r>
              <a:rPr sz="2000" b="0">
                <a:solidFill>
                  <a:srgbClr val="222222"/>
                </a:solidFill>
                <a:latin typeface="Calibri"/>
              </a:rPr>
              <a:t>A radio link is not reliable. Batteries go flat, people walk between the pad and the vehicle, controllers get switched off.</a:t>
            </a:r>
          </a:p>
          <a:p>
            <a:pPr algn="l">
              <a:lnSpc>
                <a:spcPct val="100000"/>
              </a:lnSpc>
              <a:spcAft>
                <a:spcPts val="900"/>
              </a:spcAft>
              <a:defRPr sz="1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The only safe behavior is to STOP. Not carry on with the last command, and not do something clever.</a:t>
            </a:r>
          </a:p>
          <a:p>
            <a:pPr algn="l">
              <a:lnSpc>
                <a:spcPct val="100000"/>
              </a:lnSpc>
              <a:spcAft>
                <a:spcPts val="900"/>
              </a:spcAft>
              <a:defRPr sz="1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Three lines at the top of loop() do it:</a:t>
            </a:r>
          </a:p>
          <a:p>
            <a:pPr lvl="1" algn="l">
              <a:lnSpc>
                <a:spcPct val="100000"/>
              </a:lnSpc>
              <a:spcAft>
                <a:spcPts val="900"/>
              </a:spcAft>
              <a:defRPr sz="2000" b="0">
                <a:solidFill>
                  <a:srgbClr val="222222"/>
                </a:solidFill>
                <a:latin typeface="Calibri"/>
              </a:defRPr>
            </a:pPr>
            <a:r>
              <a:rPr sz="2000" b="0">
                <a:solidFill>
                  <a:srgbClr val="222222"/>
                </a:solidFill>
                <a:latin typeface="Calibri"/>
              </a:rPr>
              <a:t>if (!connected) { drive(0, 0); return; }</a:t>
            </a:r>
          </a:p>
        </p:txBody>
      </p:sp>
      <p:sp>
        <p:nvSpPr>
          <p:cNvPr id="7" name="TextBox 6"/>
          <p:cNvSpPr txBox="1"/>
          <p:nvPr/>
        </p:nvSpPr>
        <p:spPr>
          <a:xfrm>
            <a:off x="6324447" y="1188720"/>
            <a:ext cx="5364327" cy="3986784"/>
          </a:xfrm>
          <a:prstGeom prst="rect">
            <a:avLst/>
          </a:prstGeom>
          <a:noFill/>
        </p:spPr>
        <p:txBody>
          <a:bodyPr wrap="square" lIns="0" tIns="0" rIns="0" bIns="0">
            <a:spAutoFit/>
          </a:bodyPr>
          <a:lstStyle/>
          <a:p>
            <a:pPr algn="l">
              <a:lnSpc>
                <a:spcPct val="100000"/>
              </a:lnSpc>
              <a:spcAft>
                <a:spcPts val="900"/>
              </a:spcAft>
              <a:defRPr sz="2000" b="0">
                <a:solidFill>
                  <a:srgbClr val="222222"/>
                </a:solidFill>
                <a:latin typeface="Calibri"/>
              </a:defRPr>
            </a:pPr>
            <a:r>
              <a:rPr sz="2000" b="0">
                <a:solidFill>
                  <a:srgbClr val="222222"/>
                </a:solidFill>
                <a:latin typeface="Calibri"/>
              </a:rPr>
              <a:t>This is not a Pathfinder detail. Every unmanned vehicle has a failsafe, and what it should do when the link drops is a real engineering decision. A drone hovers, or returns home. A submersible surfaces. A ground vehicle stops.</a:t>
            </a:r>
          </a:p>
          <a:p>
            <a:pPr algn="l">
              <a:lnSpc>
                <a:spcPct val="100000"/>
              </a:lnSpc>
              <a:spcAft>
                <a:spcPts val="900"/>
              </a:spcAft>
              <a:defRPr sz="1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Ask yourself, on any system you build: what happens when the operator disappears?</a:t>
            </a:r>
          </a:p>
        </p:txBody>
      </p:sp>
      <p:sp>
        <p:nvSpPr>
          <p:cNvPr id="8" name="Rounded Rectangle 7"/>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If you take one habit away from this course, take this one.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When it will not connect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23</a:t>
            </a:r>
          </a:p>
        </p:txBody>
      </p:sp>
      <p:graphicFrame>
        <p:nvGraphicFramePr>
          <p:cNvPr id="6" name="Table 5"/>
          <p:cNvGraphicFramePr>
            <a:graphicFrameLocks noGrp="1"/>
          </p:cNvGraphicFramePr>
          <p:nvPr/>
        </p:nvGraphicFramePr>
        <p:xfrm>
          <a:off x="502920" y="1188720"/>
          <a:ext cx="11185854" cy="5073650"/>
        </p:xfrm>
        <a:graphic>
          <a:graphicData uri="http://schemas.openxmlformats.org/drawingml/2006/table">
            <a:tbl>
              <a:tblPr firstRow="1" bandRow="1">
                <a:tableStyleId>{5C22544A-7EE6-4342-B048-85BDC9FD1C3A}</a:tableStyleId>
              </a:tblPr>
              <a:tblGrid>
                <a:gridCol w="3728618"/>
                <a:gridCol w="3195958"/>
                <a:gridCol w="4261278"/>
              </a:tblGrid>
              <a:tr h="724807">
                <a:tc>
                  <a:txBody>
                    <a:bodyPr/>
                    <a:lstStyle/>
                    <a:p>
                      <a:r>
                        <a:rPr sz="2200" b="1">
                          <a:solidFill>
                            <a:srgbClr val="FFFFFF"/>
                          </a:solidFill>
                          <a:latin typeface="Calibri"/>
                        </a:rPr>
                        <a:t>Symptom</a:t>
                      </a:r>
                    </a:p>
                  </a:txBody>
                  <a:tcPr marL="73152" marT="18288" marB="18288">
                    <a:solidFill>
                      <a:srgbClr val="1F3A5F"/>
                    </a:solidFill>
                  </a:tcPr>
                </a:tc>
                <a:tc>
                  <a:txBody>
                    <a:bodyPr/>
                    <a:lstStyle/>
                    <a:p>
                      <a:r>
                        <a:rPr sz="2200" b="1">
                          <a:solidFill>
                            <a:srgbClr val="FFFFFF"/>
                          </a:solidFill>
                          <a:latin typeface="Calibri"/>
                        </a:rPr>
                        <a:t>Most likely cause</a:t>
                      </a:r>
                    </a:p>
                  </a:txBody>
                  <a:tcPr marL="73152" marT="18288" marB="18288">
                    <a:solidFill>
                      <a:srgbClr val="1F3A5F"/>
                    </a:solidFill>
                  </a:tcPr>
                </a:tc>
                <a:tc>
                  <a:txBody>
                    <a:bodyPr/>
                    <a:lstStyle/>
                    <a:p>
                      <a:r>
                        <a:rPr sz="2200" b="1">
                          <a:solidFill>
                            <a:srgbClr val="FFFFFF"/>
                          </a:solidFill>
                          <a:latin typeface="Calibri"/>
                        </a:rPr>
                        <a:t>What to do</a:t>
                      </a:r>
                    </a:p>
                  </a:txBody>
                  <a:tcPr marL="73152" marT="18288" marB="18288">
                    <a:solidFill>
                      <a:srgbClr val="1F3A5F"/>
                    </a:solidFill>
                  </a:tcPr>
                </a:tc>
              </a:tr>
              <a:tr h="724807">
                <a:tc>
                  <a:txBody>
                    <a:bodyPr/>
                    <a:lstStyle/>
                    <a:p>
                      <a:r>
                        <a:rPr sz="2200">
                          <a:solidFill>
                            <a:srgbClr val="222222"/>
                          </a:solidFill>
                          <a:latin typeface="Calibri"/>
                        </a:rPr>
                        <a:t>Nothing connects at all</a:t>
                      </a:r>
                    </a:p>
                  </a:txBody>
                  <a:tcPr marL="73152" marT="18288" marB="18288">
                    <a:solidFill>
                      <a:srgbClr val="FFFFFF"/>
                    </a:solidFill>
                  </a:tcPr>
                </a:tc>
                <a:tc>
                  <a:txBody>
                    <a:bodyPr/>
                    <a:lstStyle/>
                    <a:p>
                      <a:r>
                        <a:rPr sz="2200">
                          <a:solidFill>
                            <a:srgbClr val="222222"/>
                          </a:solidFill>
                          <a:latin typeface="Calibri"/>
                        </a:rPr>
                        <a:t>Address mismatch</a:t>
                      </a:r>
                    </a:p>
                  </a:txBody>
                  <a:tcPr marL="73152" marT="18288" marB="18288">
                    <a:solidFill>
                      <a:srgbClr val="FFFFFF"/>
                    </a:solidFill>
                  </a:tcPr>
                </a:tc>
                <a:tc>
                  <a:txBody>
                    <a:bodyPr/>
                    <a:lstStyle/>
                    <a:p>
                      <a:r>
                        <a:rPr sz="2200">
                          <a:solidFill>
                            <a:srgbClr val="222222"/>
                          </a:solidFill>
                          <a:latin typeface="Calibri"/>
                        </a:rPr>
                        <a:t>Check the address in the sketch matches the pad</a:t>
                      </a:r>
                    </a:p>
                  </a:txBody>
                  <a:tcPr marL="73152" marT="18288" marB="18288">
                    <a:solidFill>
                      <a:srgbClr val="FFFFFF"/>
                    </a:solidFill>
                  </a:tcPr>
                </a:tc>
              </a:tr>
              <a:tr h="724807">
                <a:tc>
                  <a:txBody>
                    <a:bodyPr/>
                    <a:lstStyle/>
                    <a:p>
                      <a:r>
                        <a:rPr sz="2200">
                          <a:solidFill>
                            <a:srgbClr val="222222"/>
                          </a:solidFill>
                          <a:latin typeface="Calibri"/>
                        </a:rPr>
                        <a:t>Connects, then drops</a:t>
                      </a:r>
                    </a:p>
                  </a:txBody>
                  <a:tcPr marL="73152" marT="18288" marB="18288">
                    <a:solidFill>
                      <a:srgbClr val="EEF3F8"/>
                    </a:solidFill>
                  </a:tcPr>
                </a:tc>
                <a:tc>
                  <a:txBody>
                    <a:bodyPr/>
                    <a:lstStyle/>
                    <a:p>
                      <a:r>
                        <a:rPr sz="2200">
                          <a:solidFill>
                            <a:srgbClr val="222222"/>
                          </a:solidFill>
                          <a:latin typeface="Calibri"/>
                        </a:rPr>
                        <a:t>Flat controller battery</a:t>
                      </a:r>
                    </a:p>
                  </a:txBody>
                  <a:tcPr marL="73152" marT="18288" marB="18288">
                    <a:solidFill>
                      <a:srgbClr val="EEF3F8"/>
                    </a:solidFill>
                  </a:tcPr>
                </a:tc>
                <a:tc>
                  <a:txBody>
                    <a:bodyPr/>
                    <a:lstStyle/>
                    <a:p>
                      <a:r>
                        <a:rPr sz="2200">
                          <a:solidFill>
                            <a:srgbClr val="222222"/>
                          </a:solidFill>
                          <a:latin typeface="Calibri"/>
                        </a:rPr>
                        <a:t>Charge it over USB for a few minutes</a:t>
                      </a:r>
                    </a:p>
                  </a:txBody>
                  <a:tcPr marL="73152" marT="18288" marB="18288">
                    <a:solidFill>
                      <a:srgbClr val="EEF3F8"/>
                    </a:solidFill>
                  </a:tcPr>
                </a:tc>
              </a:tr>
              <a:tr h="724807">
                <a:tc>
                  <a:txBody>
                    <a:bodyPr/>
                    <a:lstStyle/>
                    <a:p>
                      <a:r>
                        <a:rPr sz="2200">
                          <a:solidFill>
                            <a:srgbClr val="222222"/>
                          </a:solidFill>
                          <a:latin typeface="Calibri"/>
                        </a:rPr>
                        <a:t>Somebody else's vehicle moves</a:t>
                      </a:r>
                    </a:p>
                  </a:txBody>
                  <a:tcPr marL="73152" marT="18288" marB="18288">
                    <a:solidFill>
                      <a:srgbClr val="FFFFFF"/>
                    </a:solidFill>
                  </a:tcPr>
                </a:tc>
                <a:tc>
                  <a:txBody>
                    <a:bodyPr/>
                    <a:lstStyle/>
                    <a:p>
                      <a:r>
                        <a:rPr sz="2200">
                          <a:solidFill>
                            <a:srgbClr val="222222"/>
                          </a:solidFill>
                          <a:latin typeface="Calibri"/>
                        </a:rPr>
                        <a:t>Two vehicles on one address</a:t>
                      </a:r>
                    </a:p>
                  </a:txBody>
                  <a:tcPr marL="73152" marT="18288" marB="18288">
                    <a:solidFill>
                      <a:srgbClr val="FFFFFF"/>
                    </a:solidFill>
                  </a:tcPr>
                </a:tc>
                <a:tc>
                  <a:txBody>
                    <a:bodyPr/>
                    <a:lstStyle/>
                    <a:p>
                      <a:r>
                        <a:rPr sz="2200">
                          <a:solidFill>
                            <a:srgbClr val="222222"/>
                          </a:solidFill>
                          <a:latin typeface="Calibri"/>
                        </a:rPr>
                        <a:t>Give every vehicle a different address</a:t>
                      </a:r>
                    </a:p>
                  </a:txBody>
                  <a:tcPr marL="73152" marT="18288" marB="18288">
                    <a:solidFill>
                      <a:srgbClr val="FFFFFF"/>
                    </a:solidFill>
                  </a:tcPr>
                </a:tc>
              </a:tr>
              <a:tr h="724807">
                <a:tc>
                  <a:txBody>
                    <a:bodyPr/>
                    <a:lstStyle/>
                    <a:p>
                      <a:r>
                        <a:rPr sz="2200">
                          <a:solidFill>
                            <a:srgbClr val="222222"/>
                          </a:solidFill>
                          <a:latin typeface="Calibri"/>
                        </a:rPr>
                        <a:t>Wheels spin the wrong way</a:t>
                      </a:r>
                    </a:p>
                  </a:txBody>
                  <a:tcPr marL="73152" marT="18288" marB="18288">
                    <a:solidFill>
                      <a:srgbClr val="EEF3F8"/>
                    </a:solidFill>
                  </a:tcPr>
                </a:tc>
                <a:tc>
                  <a:txBody>
                    <a:bodyPr/>
                    <a:lstStyle/>
                    <a:p>
                      <a:r>
                        <a:rPr sz="2200">
                          <a:solidFill>
                            <a:srgbClr val="222222"/>
                          </a:solidFill>
                          <a:latin typeface="Calibri"/>
                        </a:rPr>
                        <a:t>Motor pins swapped</a:t>
                      </a:r>
                    </a:p>
                  </a:txBody>
                  <a:tcPr marL="73152" marT="18288" marB="18288">
                    <a:solidFill>
                      <a:srgbClr val="EEF3F8"/>
                    </a:solidFill>
                  </a:tcPr>
                </a:tc>
                <a:tc>
                  <a:txBody>
                    <a:bodyPr/>
                    <a:lstStyle/>
                    <a:p>
                      <a:r>
                        <a:rPr sz="2200">
                          <a:solidFill>
                            <a:srgbClr val="222222"/>
                          </a:solidFill>
                          <a:latin typeface="Calibri"/>
                        </a:rPr>
                        <a:t>Swap that motor's two pin numbers in the sketch</a:t>
                      </a:r>
                    </a:p>
                  </a:txBody>
                  <a:tcPr marL="73152" marT="18288" marB="18288">
                    <a:solidFill>
                      <a:srgbClr val="EEF3F8"/>
                    </a:solidFill>
                  </a:tcPr>
                </a:tc>
              </a:tr>
              <a:tr h="724807">
                <a:tc>
                  <a:txBody>
                    <a:bodyPr/>
                    <a:lstStyle/>
                    <a:p>
                      <a:r>
                        <a:rPr sz="2200">
                          <a:solidFill>
                            <a:srgbClr val="222222"/>
                          </a:solidFill>
                          <a:latin typeface="Calibri"/>
                        </a:rPr>
                        <a:t>It creeps with the stick centerd</a:t>
                      </a:r>
                    </a:p>
                  </a:txBody>
                  <a:tcPr marL="73152" marT="18288" marB="18288">
                    <a:solidFill>
                      <a:srgbClr val="FFFFFF"/>
                    </a:solidFill>
                  </a:tcPr>
                </a:tc>
                <a:tc>
                  <a:txBody>
                    <a:bodyPr/>
                    <a:lstStyle/>
                    <a:p>
                      <a:r>
                        <a:rPr sz="2200">
                          <a:solidFill>
                            <a:srgbClr val="222222"/>
                          </a:solidFill>
                          <a:latin typeface="Calibri"/>
                        </a:rPr>
                        <a:t>Deadzone too small</a:t>
                      </a:r>
                    </a:p>
                  </a:txBody>
                  <a:tcPr marL="73152" marT="18288" marB="18288">
                    <a:solidFill>
                      <a:srgbClr val="FFFFFF"/>
                    </a:solidFill>
                  </a:tcPr>
                </a:tc>
                <a:tc>
                  <a:txBody>
                    <a:bodyPr/>
                    <a:lstStyle/>
                    <a:p>
                      <a:r>
                        <a:rPr sz="2200">
                          <a:solidFill>
                            <a:srgbClr val="222222"/>
                          </a:solidFill>
                          <a:latin typeface="Calibri"/>
                        </a:rPr>
                        <a:t>Raise STICK_DEADZONE</a:t>
                      </a:r>
                    </a:p>
                  </a:txBody>
                  <a:tcPr marL="73152" marT="18288" marB="18288">
                    <a:solidFill>
                      <a:srgbClr val="FFFFFF"/>
                    </a:solidFill>
                  </a:tcPr>
                </a:tc>
              </a:tr>
              <a:tr h="724808">
                <a:tc>
                  <a:txBody>
                    <a:bodyPr/>
                    <a:lstStyle/>
                    <a:p>
                      <a:r>
                        <a:rPr sz="2200">
                          <a:solidFill>
                            <a:srgbClr val="222222"/>
                          </a:solidFill>
                          <a:latin typeface="Calibri"/>
                        </a:rPr>
                        <a:t>Nothing at all, no serial output</a:t>
                      </a:r>
                    </a:p>
                  </a:txBody>
                  <a:tcPr marL="73152" marT="18288" marB="18288">
                    <a:solidFill>
                      <a:srgbClr val="EEF3F8"/>
                    </a:solidFill>
                  </a:tcPr>
                </a:tc>
                <a:tc>
                  <a:txBody>
                    <a:bodyPr/>
                    <a:lstStyle/>
                    <a:p>
                      <a:r>
                        <a:rPr sz="2200">
                          <a:solidFill>
                            <a:srgbClr val="222222"/>
                          </a:solidFill>
                          <a:latin typeface="Calibri"/>
                        </a:rPr>
                        <a:t>Wrong board selected</a:t>
                      </a:r>
                    </a:p>
                  </a:txBody>
                  <a:tcPr marL="73152" marT="18288" marB="18288">
                    <a:solidFill>
                      <a:srgbClr val="EEF3F8"/>
                    </a:solidFill>
                  </a:tcPr>
                </a:tc>
                <a:tc>
                  <a:txBody>
                    <a:bodyPr/>
                    <a:lstStyle/>
                    <a:p>
                      <a:r>
                        <a:rPr sz="2200">
                          <a:solidFill>
                            <a:srgbClr val="222222"/>
                          </a:solidFill>
                          <a:latin typeface="Calibri"/>
                        </a:rPr>
                        <a:t>Check the board menu - see Lesson 1</a:t>
                      </a:r>
                    </a:p>
                  </a:txBody>
                  <a:tcPr marL="73152" marT="18288" marB="18288">
                    <a:solidFill>
                      <a:srgbClr val="EEF3F8"/>
                    </a:solidFill>
                  </a:tcPr>
                </a:tc>
              </a:tr>
            </a:tbl>
          </a:graphicData>
        </a:graphic>
      </p:graphicFrame>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24</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Next lesson: the 32 LEDs, and what color actually is.</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100"/>
              </a:spcAft>
              <a:defRPr sz="2000" b="0">
                <a:solidFill>
                  <a:srgbClr val="222222"/>
                </a:solidFill>
                <a:latin typeface="Calibri"/>
              </a:defRPr>
            </a:pPr>
            <a:r>
              <a:rPr sz="2000" b="0">
                <a:solidFill>
                  <a:srgbClr val="222222"/>
                </a:solidFill>
                <a:latin typeface="Calibri"/>
              </a:rPr>
              <a:t>1.  What is a Bluetooth address, and why must every vehicle in the room have a different one?</a:t>
            </a:r>
          </a:p>
          <a:p>
            <a:pPr algn="l">
              <a:lnSpc>
                <a:spcPct val="100000"/>
              </a:lnSpc>
              <a:spcAft>
                <a:spcPts val="1100"/>
              </a:spcAft>
              <a:defRPr sz="2000" b="0">
                <a:solidFill>
                  <a:srgbClr val="222222"/>
                </a:solidFill>
                <a:latin typeface="Calibri"/>
              </a:defRPr>
            </a:pPr>
            <a:r>
              <a:rPr sz="2000" b="0">
                <a:solidFill>
                  <a:srgbClr val="222222"/>
                </a:solidFill>
                <a:latin typeface="Calibri"/>
              </a:rPr>
              <a:t>2.  Push the left stick fully forward. Is the number positive or negative? Why does the program put a minus sign in front of it?</a:t>
            </a:r>
          </a:p>
          <a:p>
            <a:pPr algn="l">
              <a:lnSpc>
                <a:spcPct val="100000"/>
              </a:lnSpc>
              <a:spcAft>
                <a:spcPts val="1100"/>
              </a:spcAft>
              <a:defRPr sz="2000" b="0">
                <a:solidFill>
                  <a:srgbClr val="222222"/>
                </a:solidFill>
                <a:latin typeface="Calibri"/>
              </a:defRPr>
            </a:pPr>
            <a:r>
              <a:rPr sz="2000" b="0">
                <a:solidFill>
                  <a:srgbClr val="222222"/>
                </a:solidFill>
                <a:latin typeface="Calibri"/>
              </a:rPr>
              <a:t>3.  What is a deadzone for? What goes wrong if it is 0? What goes wrong if it is far too big?</a:t>
            </a:r>
          </a:p>
          <a:p>
            <a:pPr algn="l">
              <a:lnSpc>
                <a:spcPct val="100000"/>
              </a:lnSpc>
              <a:spcAft>
                <a:spcPts val="1100"/>
              </a:spcAft>
              <a:defRPr sz="2000" b="0">
                <a:solidFill>
                  <a:srgbClr val="222222"/>
                </a:solidFill>
                <a:latin typeface="Calibri"/>
              </a:defRPr>
            </a:pPr>
            <a:r>
              <a:rPr sz="2000" b="0">
                <a:solidFill>
                  <a:srgbClr val="222222"/>
                </a:solidFill>
                <a:latin typeface="Calibri"/>
              </a:rPr>
              <a:t>4.  In your own words, what does map() do?</a:t>
            </a:r>
          </a:p>
          <a:p>
            <a:pPr algn="l">
              <a:lnSpc>
                <a:spcPct val="100000"/>
              </a:lnSpc>
              <a:spcAft>
                <a:spcPts val="1100"/>
              </a:spcAft>
              <a:defRPr sz="2000" b="0">
                <a:solidFill>
                  <a:srgbClr val="222222"/>
                </a:solidFill>
                <a:latin typeface="Calibri"/>
              </a:defRPr>
            </a:pPr>
            <a:r>
              <a:rPr sz="2000" b="0">
                <a:solidFill>
                  <a:srgbClr val="222222"/>
                </a:solidFill>
                <a:latin typeface="Calibri"/>
              </a:rPr>
              <a:t>5.  forward is 180 and turn is 100. What speed does each side get, before and after constrain()?</a:t>
            </a:r>
          </a:p>
          <a:p>
            <a:pPr algn="l">
              <a:lnSpc>
                <a:spcPct val="100000"/>
              </a:lnSpc>
              <a:spcAft>
                <a:spcPts val="1100"/>
              </a:spcAft>
              <a:defRPr sz="2000" b="0">
                <a:solidFill>
                  <a:srgbClr val="222222"/>
                </a:solidFill>
                <a:latin typeface="Calibri"/>
              </a:defRPr>
            </a:pPr>
            <a:r>
              <a:rPr sz="2000" b="0">
                <a:solidFill>
                  <a:srgbClr val="222222"/>
                </a:solidFill>
                <a:latin typeface="Calibri"/>
              </a:rPr>
              <a:t>6.  Why is steering limited to half power by default?</a:t>
            </a:r>
          </a:p>
          <a:p>
            <a:pPr algn="l">
              <a:lnSpc>
                <a:spcPct val="100000"/>
              </a:lnSpc>
              <a:spcAft>
                <a:spcPts val="1100"/>
              </a:spcAft>
              <a:defRPr sz="2000" b="0">
                <a:solidFill>
                  <a:srgbClr val="222222"/>
                </a:solidFill>
                <a:latin typeface="Calibri"/>
              </a:defRPr>
            </a:pPr>
            <a:r>
              <a:rPr sz="2000" b="0">
                <a:solidFill>
                  <a:srgbClr val="222222"/>
                </a:solidFill>
                <a:latin typeface="Calibri"/>
              </a:rPr>
              <a:t>7.  Write the three lines that stop the vehicle when the controller disconnects.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