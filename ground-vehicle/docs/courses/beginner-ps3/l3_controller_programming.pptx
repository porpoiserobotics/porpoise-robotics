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137160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pairing the pad</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600" b="0">
                <a:solidFill>
                  <a:srgbClr val="222222"/>
                </a:solidFill>
                <a:latin typeface="Calibri"/>
              </a:defRPr>
            </a:pPr>
            <a:r>
              <a:rPr sz="16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600" b="0">
                <a:solidFill>
                  <a:srgbClr val="222222"/>
                </a:solidFill>
                <a:latin typeface="Calibri"/>
              </a:defRPr>
            </a:pPr>
            <a:r>
              <a:rPr sz="1600" b="0">
                <a:solidFill>
                  <a:srgbClr val="222222"/>
                </a:solidFill>
                <a:latin typeface="Calibri"/>
              </a:rPr>
              <a:t>Range is tens of metres, and it goes down sharply if somebody stands between the pad and the vehicle.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 ESP32 has Bluetooth built into the chip. That is a large part of why we use it.</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So on this track, the CONTROLLER is told which Bluetooth address to talk to.</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The tool is SixaxisPairTool, on a Windows PC, over a USB cable.</a:t>
            </a:r>
          </a:p>
          <a:p>
            <a:pPr lvl="1" algn="l">
              <a:lnSpc>
                <a:spcPct val="100000"/>
              </a:lnSpc>
              <a:spcAft>
                <a:spcPts val="600"/>
              </a:spcAft>
              <a:defRPr sz="1300" b="0">
                <a:solidFill>
                  <a:srgbClr val="222222"/>
                </a:solidFill>
                <a:latin typeface="Calibri"/>
              </a:defRPr>
            </a:pPr>
            <a:r>
              <a:rPr sz="1300" b="0">
                <a:solidFill>
                  <a:srgbClr val="222222"/>
                </a:solidFill>
                <a:latin typeface="Calibri"/>
              </a:rPr>
              <a:t>1.  Plug the controller into a Windows PC with a USB cable.</a:t>
            </a:r>
          </a:p>
          <a:p>
            <a:pPr lvl="1" algn="l">
              <a:lnSpc>
                <a:spcPct val="100000"/>
              </a:lnSpc>
              <a:spcAft>
                <a:spcPts val="600"/>
              </a:spcAft>
              <a:defRPr sz="1300" b="0">
                <a:solidFill>
                  <a:srgbClr val="222222"/>
                </a:solidFill>
                <a:latin typeface="Calibri"/>
              </a:defRPr>
            </a:pPr>
            <a:r>
              <a:rPr sz="1300" b="0">
                <a:solidFill>
                  <a:srgbClr val="222222"/>
                </a:solidFill>
                <a:latin typeface="Calibri"/>
              </a:rPr>
              <a:t>2.  Open SixaxisPairTool. It shows the current master address.</a:t>
            </a:r>
          </a:p>
          <a:p>
            <a:pPr lvl="1" algn="l">
              <a:lnSpc>
                <a:spcPct val="100000"/>
              </a:lnSpc>
              <a:spcAft>
                <a:spcPts val="600"/>
              </a:spcAft>
              <a:defRPr sz="1300" b="0">
                <a:solidFill>
                  <a:srgbClr val="222222"/>
                </a:solidFill>
                <a:latin typeface="Calibri"/>
              </a:defRPr>
            </a:pPr>
            <a:r>
              <a:rPr sz="1300" b="0">
                <a:solidFill>
                  <a:srgbClr val="222222"/>
                </a:solidFill>
                <a:latin typeface="Calibri"/>
              </a:rPr>
              <a:t>3.  Type in the address you want and click Update.</a:t>
            </a:r>
          </a:p>
          <a:p>
            <a:pPr lvl="1" algn="l">
              <a:lnSpc>
                <a:spcPct val="100000"/>
              </a:lnSpc>
              <a:spcAft>
                <a:spcPts val="600"/>
              </a:spcAft>
              <a:defRPr sz="1300" b="0">
                <a:solidFill>
                  <a:srgbClr val="222222"/>
                </a:solidFill>
                <a:latin typeface="Calibri"/>
              </a:defRPr>
            </a:pPr>
            <a:r>
              <a:rPr sz="1300" b="0">
                <a:solidFill>
                  <a:srgbClr val="222222"/>
                </a:solidFill>
                <a:latin typeface="Calibri"/>
              </a:rPr>
              <a:t>4.  Put that same address into PS3_MAC_ADDRESS in the sketch.</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Give every vehicle in the room a different one. If two vehicles share an address, one controller drives both of them.</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348284" y="2267712"/>
            <a:ext cx="5495126" cy="3648456"/>
          </a:xfrm>
          <a:prstGeom prst="rect">
            <a:avLst/>
          </a:prstGeom>
        </p:spPr>
      </p:pic>
      <p:sp>
        <p:nvSpPr>
          <p:cNvPr id="8" name="TextBox 7"/>
          <p:cNvSpPr txBox="1"/>
          <p:nvPr/>
        </p:nvSpPr>
        <p:spPr>
          <a:xfrm>
            <a:off x="502920" y="5971032"/>
            <a:ext cx="11185855" cy="310896"/>
          </a:xfrm>
          <a:prstGeom prst="rect">
            <a:avLst/>
          </a:prstGeom>
          <a:noFill/>
        </p:spPr>
        <p:txBody>
          <a:bodyPr wrap="square" lIns="0" tIns="0" rIns="0" bIns="0">
            <a:spAutoFit/>
          </a:bodyPr>
          <a:lstStyle/>
          <a:p>
            <a:pPr algn="ctr">
              <a:lnSpc>
                <a:spcPct val="100000"/>
              </a:lnSpc>
              <a:spcAft>
                <a:spcPts val="600"/>
              </a:spcAft>
              <a:defRPr sz="1000" b="0">
                <a:solidFill>
                  <a:srgbClr val="666666"/>
                </a:solidFill>
                <a:latin typeface="Calibri"/>
              </a:defRPr>
            </a:pPr>
            <a:r>
              <a:rPr sz="10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Digital: buttons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button is either pressed or it is not. true or false.</a:t>
            </a:r>
          </a:p>
          <a:p>
            <a:pPr algn="l">
              <a:lnSpc>
                <a:spcPct val="100000"/>
              </a:lnSpc>
              <a:spcAft>
                <a:spcPts val="800"/>
              </a:spcAft>
              <a:defRPr sz="1600" b="0">
                <a:solidFill>
                  <a:srgbClr val="222222"/>
                </a:solidFill>
                <a:latin typeface="Calibri"/>
              </a:defRPr>
            </a:pPr>
            <a:r>
              <a:rPr sz="1600" b="0">
                <a:solidFill>
                  <a:srgbClr val="222222"/>
                </a:solidFill>
                <a:latin typeface="Calibri"/>
              </a:rPr>
              <a:t>Face buttons, D-pad, shoulders, triggers, and clicking the sticks in.</a:t>
            </a:r>
          </a:p>
          <a:p>
            <a:pPr algn="l">
              <a:lnSpc>
                <a:spcPct val="100000"/>
              </a:lnSpc>
              <a:spcAft>
                <a:spcPts val="800"/>
              </a:spcAft>
              <a:defRPr sz="1600" b="0">
                <a:solidFill>
                  <a:srgbClr val="222222"/>
                </a:solidFill>
                <a:latin typeface="Calibri"/>
              </a:defRPr>
            </a:pPr>
            <a:r>
              <a:rPr sz="1600" b="0">
                <a:solidFill>
                  <a:srgbClr val="222222"/>
                </a:solidFill>
                <a:latin typeface="Calibri"/>
              </a:rPr>
              <a:t>Good for: on/off, mode changes, one-shot actions.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Ps3.data.button.square</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Analog: thumbsticks</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stick reports HOW FAR it is pushed, on two axes.</a:t>
            </a:r>
          </a:p>
          <a:p>
            <a:pPr algn="l">
              <a:lnSpc>
                <a:spcPct val="100000"/>
              </a:lnSpc>
              <a:spcAft>
                <a:spcPts val="800"/>
              </a:spcAft>
              <a:defRPr sz="1600" b="0">
                <a:solidFill>
                  <a:srgbClr val="222222"/>
                </a:solidFill>
                <a:latin typeface="Calibri"/>
              </a:defRPr>
            </a:pPr>
            <a:r>
              <a:rPr sz="1600" b="0">
                <a:solidFill>
                  <a:srgbClr val="222222"/>
                </a:solidFill>
                <a:latin typeface="Calibri"/>
              </a:rPr>
              <a:t>On this track each axis reads -128 to +127.</a:t>
            </a:r>
          </a:p>
          <a:p>
            <a:pPr algn="l">
              <a:lnSpc>
                <a:spcPct val="100000"/>
              </a:lnSpc>
              <a:spcAft>
                <a:spcPts val="800"/>
              </a:spcAft>
              <a:defRPr sz="1600" b="0">
                <a:solidFill>
                  <a:srgbClr val="222222"/>
                </a:solidFill>
                <a:latin typeface="Calibri"/>
              </a:defRPr>
            </a:pPr>
            <a:r>
              <a:rPr sz="1600" b="0">
                <a:solidFill>
                  <a:srgbClr val="222222"/>
                </a:solidFill>
                <a:latin typeface="Calibri"/>
              </a:rPr>
              <a:t>Good for: speed, steering, aiming a servo.</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Ps3.data.analog.stick.lx     // left/right</a:t>
            </a:r>
          </a:p>
          <a:p>
            <a:pPr lvl="1" algn="l">
              <a:lnSpc>
                <a:spcPct val="100000"/>
              </a:lnSpc>
              <a:spcAft>
                <a:spcPts val="800"/>
              </a:spcAft>
              <a:defRPr sz="1600" b="0">
                <a:solidFill>
                  <a:srgbClr val="222222"/>
                </a:solidFill>
                <a:latin typeface="Calibri"/>
              </a:defRPr>
            </a:pPr>
            <a:r>
              <a:rPr sz="16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TRANSLATION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Forward and back  -  surge</a:t>
            </a:r>
          </a:p>
          <a:p>
            <a:pPr lvl="1" algn="l">
              <a:lnSpc>
                <a:spcPct val="100000"/>
              </a:lnSpc>
              <a:spcAft>
                <a:spcPts val="600"/>
              </a:spcAft>
              <a:defRPr sz="1300" b="0">
                <a:solidFill>
                  <a:srgbClr val="222222"/>
                </a:solidFill>
                <a:latin typeface="Calibri"/>
              </a:defRPr>
            </a:pPr>
            <a:r>
              <a:rPr sz="1300" b="0">
                <a:solidFill>
                  <a:srgbClr val="222222"/>
                </a:solidFill>
                <a:latin typeface="Calibri"/>
              </a:rPr>
              <a:t>Side to side  -  sway</a:t>
            </a:r>
          </a:p>
          <a:p>
            <a:pPr lvl="1" algn="l">
              <a:lnSpc>
                <a:spcPct val="100000"/>
              </a:lnSpc>
              <a:spcAft>
                <a:spcPts val="600"/>
              </a:spcAft>
              <a:defRPr sz="1300" b="0">
                <a:solidFill>
                  <a:srgbClr val="222222"/>
                </a:solidFill>
                <a:latin typeface="Calibri"/>
              </a:defRPr>
            </a:pPr>
            <a:r>
              <a:rPr sz="1300" b="0">
                <a:solidFill>
                  <a:srgbClr val="222222"/>
                </a:solidFill>
                <a:latin typeface="Calibri"/>
              </a:rPr>
              <a:t>Up and down  -  heave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ROTATION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Roll  -  tipping left or right about the fore-aft axis</a:t>
            </a:r>
          </a:p>
          <a:p>
            <a:pPr lvl="1" algn="l">
              <a:lnSpc>
                <a:spcPct val="100000"/>
              </a:lnSpc>
              <a:spcAft>
                <a:spcPts val="600"/>
              </a:spcAft>
              <a:defRPr sz="1300" b="0">
                <a:solidFill>
                  <a:srgbClr val="222222"/>
                </a:solidFill>
                <a:latin typeface="Calibri"/>
              </a:defRPr>
            </a:pPr>
            <a:r>
              <a:rPr sz="1300" b="0">
                <a:solidFill>
                  <a:srgbClr val="222222"/>
                </a:solidFill>
                <a:latin typeface="Calibri"/>
              </a:rPr>
              <a:t>Pitch  -  nose up or nose down</a:t>
            </a:r>
          </a:p>
          <a:p>
            <a:pPr lvl="1" algn="l">
              <a:lnSpc>
                <a:spcPct val="100000"/>
              </a:lnSpc>
              <a:spcAft>
                <a:spcPts val="600"/>
              </a:spcAft>
              <a:defRPr sz="1300" b="0">
                <a:solidFill>
                  <a:srgbClr val="222222"/>
                </a:solidFill>
                <a:latin typeface="Calibri"/>
              </a:defRPr>
            </a:pPr>
            <a:r>
              <a:rPr sz="1300" b="0">
                <a:solidFill>
                  <a:srgbClr val="222222"/>
                </a:solidFill>
                <a:latin typeface="Calibri"/>
              </a:rPr>
              <a:t>Yaw  -  turning left or right, which is your steering</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open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Press the PS button on the controller.</a:t>
            </a:r>
          </a:p>
          <a:p>
            <a:pPr algn="l">
              <a:lnSpc>
                <a:spcPct val="100000"/>
              </a:lnSpc>
              <a:spcAft>
                <a:spcPts val="800"/>
              </a:spcAft>
              <a:defRPr sz="1600" b="0">
                <a:solidFill>
                  <a:srgbClr val="222222"/>
                </a:solidFill>
                <a:latin typeface="Calibri"/>
              </a:defRPr>
            </a:pPr>
            <a:r>
              <a:rPr sz="1600" b="0">
                <a:solidFill>
                  <a:srgbClr val="222222"/>
                </a:solidFill>
                <a:latin typeface="Calibri"/>
              </a:rPr>
              <a:t>3.  Press every button in turn and match it to the printed name.</a:t>
            </a:r>
          </a:p>
          <a:p>
            <a:pPr algn="l">
              <a:lnSpc>
                <a:spcPct val="100000"/>
              </a:lnSpc>
              <a:spcAft>
                <a:spcPts val="800"/>
              </a:spcAft>
              <a:defRPr sz="1600" b="0">
                <a:solidFill>
                  <a:srgbClr val="222222"/>
                </a:solidFill>
                <a:latin typeface="Calibri"/>
              </a:defRPr>
            </a:pPr>
            <a:r>
              <a:rPr sz="1600" b="0">
                <a:solidFill>
                  <a:srgbClr val="222222"/>
                </a:solidFill>
                <a:latin typeface="Calibri"/>
              </a:rPr>
              <a:t>4.  Push the left stick fully UP. Positive or negative?</a:t>
            </a:r>
          </a:p>
          <a:p>
            <a:pPr algn="l">
              <a:lnSpc>
                <a:spcPct val="100000"/>
              </a:lnSpc>
              <a:spcAft>
                <a:spcPts val="800"/>
              </a:spcAft>
              <a:defRPr sz="1600" b="0">
                <a:solidFill>
                  <a:srgbClr val="222222"/>
                </a:solidFill>
                <a:latin typeface="Calibri"/>
              </a:defRPr>
            </a:pPr>
            <a:r>
              <a:rPr sz="1600" b="0">
                <a:solidFill>
                  <a:srgbClr val="222222"/>
                </a:solidFill>
                <a:latin typeface="Calibri"/>
              </a:rPr>
              <a:t>5.  Let go of the sticks and DO NOT touch the controller. Does it print exactly 0, or does it drift?</a:t>
            </a:r>
          </a:p>
          <a:p>
            <a:pPr algn="l">
              <a:lnSpc>
                <a:spcPct val="100000"/>
              </a:lnSpc>
              <a:spcAft>
                <a:spcPts val="800"/>
              </a:spcAft>
              <a:defRPr sz="1600" b="0">
                <a:solidFill>
                  <a:srgbClr val="222222"/>
                </a:solidFill>
                <a:latin typeface="Calibri"/>
              </a:defRPr>
            </a:pPr>
            <a:r>
              <a:rPr sz="1600" b="0">
                <a:solidFill>
                  <a:srgbClr val="222222"/>
                </a:solidFill>
                <a:latin typeface="Calibri"/>
              </a:rPr>
              <a:t>6.  Push a stick diagonally. Watch x and y move together.</a:t>
            </a:r>
          </a:p>
          <a:p>
            <a:pPr algn="l">
              <a:lnSpc>
                <a:spcPct val="100000"/>
              </a:lnSpc>
              <a:spcAft>
                <a:spcPts val="800"/>
              </a:spcAft>
              <a:defRPr sz="1600" b="0">
                <a:solidFill>
                  <a:srgbClr val="222222"/>
                </a:solidFill>
                <a:latin typeface="Calibri"/>
              </a:defRPr>
            </a:pPr>
            <a:r>
              <a:rPr sz="1600" b="0">
                <a:solidFill>
                  <a:srgbClr val="222222"/>
                </a:solidFill>
                <a:latin typeface="Calibri"/>
              </a:rPr>
              <a:t>7.  Squeeze L2 slowly. It is not just on or off - watch the number.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line for every press, every release, and every stick movement.</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way is negative on the Y axis?</a:t>
            </a:r>
          </a:p>
          <a:p>
            <a:pPr algn="l">
              <a:lnSpc>
                <a:spcPct val="100000"/>
              </a:lnSpc>
              <a:spcAft>
                <a:spcPts val="600"/>
              </a:spcAft>
              <a:defRPr sz="1500" b="0">
                <a:solidFill>
                  <a:srgbClr val="222222"/>
                </a:solidFill>
                <a:latin typeface="Calibri"/>
              </a:defRPr>
            </a:pPr>
            <a:r>
              <a:rPr sz="1500" b="0">
                <a:solidFill>
                  <a:srgbClr val="222222"/>
                </a:solidFill>
                <a:latin typeface="Calibri"/>
              </a:rPr>
              <a:t>How far does your stick drift when nobody is touching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A thumbstick that has been thumbed by a hundred students does not come back to exactly zero.</a:t>
            </a:r>
          </a:p>
          <a:p>
            <a:pPr algn="l">
              <a:lnSpc>
                <a:spcPct val="100000"/>
              </a:lnSpc>
              <a:spcAft>
                <a:spcPts val="900"/>
              </a:spcAft>
              <a:defRPr sz="1700" b="0">
                <a:solidFill>
                  <a:srgbClr val="222222"/>
                </a:solidFill>
                <a:latin typeface="Calibri"/>
              </a:defRPr>
            </a:pPr>
            <a:r>
              <a:rPr sz="1700" b="0">
                <a:solidFill>
                  <a:srgbClr val="222222"/>
                </a:solidFill>
                <a:latin typeface="Calibri"/>
              </a:rPr>
              <a:t>You just measured it. Yours probably reads a few counts either side of centre when nobody is touching it.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answer is a DEADZONE: any reading smaller than a threshold is treated as a firm, deliberate zero.</a:t>
            </a:r>
          </a:p>
          <a:p>
            <a:pPr algn="l">
              <a:lnSpc>
                <a:spcPct val="100000"/>
              </a:lnSpc>
              <a:spcAft>
                <a:spcPts val="900"/>
              </a:spcAft>
              <a:defRPr sz="1700" b="0">
                <a:solidFill>
                  <a:srgbClr val="222222"/>
                </a:solidFill>
                <a:latin typeface="Calibri"/>
              </a:defRPr>
            </a:pPr>
            <a:r>
              <a:rPr sz="1700" b="0">
                <a:solidFill>
                  <a:srgbClr val="222222"/>
                </a:solidFill>
                <a:latin typeface="Calibri"/>
              </a:rPr>
              <a:t>On this track the deadzone is 20, which is about 16% of the stick travel.</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Too small and the vehicle creeps. Too big and you waste the stick.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stick reading   0  to  127</a:t>
            </a:r>
          </a:p>
        </p:txBody>
      </p:sp>
      <p:sp>
        <p:nvSpPr>
          <p:cNvPr id="9" name="TextBox 8"/>
          <p:cNvSpPr txBox="1"/>
          <p:nvPr/>
        </p:nvSpPr>
        <p:spPr>
          <a:xfrm>
            <a:off x="548640" y="1554480"/>
            <a:ext cx="1051560" cy="822960"/>
          </a:xfrm>
          <a:prstGeom prst="rect">
            <a:avLst/>
          </a:prstGeom>
          <a:noFill/>
        </p:spPr>
        <p:txBody>
          <a:bodyPr wrap="square" lIns="0" tIns="0" rIns="0" bIns="0">
            <a:spAutoFit/>
          </a:bodyPr>
          <a:lstStyle/>
          <a:p>
            <a:pPr algn="r">
              <a:lnSpc>
                <a:spcPct val="100000"/>
              </a:lnSpc>
              <a:spcAft>
                <a:spcPts val="100"/>
              </a:spcAft>
              <a:defRPr sz="1200" b="0">
                <a:solidFill>
                  <a:srgbClr val="666666"/>
                </a:solidFill>
                <a:latin typeface="Calibri"/>
              </a:defRPr>
            </a:pPr>
            <a:r>
              <a:rPr sz="1200" b="0">
                <a:solidFill>
                  <a:srgbClr val="666666"/>
                </a:solidFill>
                <a:latin typeface="Calibri"/>
              </a:rPr>
              <a:t>motor</a:t>
            </a:r>
          </a:p>
          <a:p>
            <a:pPr algn="r">
              <a:lnSpc>
                <a:spcPct val="100000"/>
              </a:lnSpc>
              <a:spcAft>
                <a:spcPts val="100"/>
              </a:spcAft>
              <a:defRPr sz="1200" b="0">
                <a:solidFill>
                  <a:srgbClr val="666666"/>
                </a:solidFill>
                <a:latin typeface="Calibri"/>
              </a:defRPr>
            </a:pPr>
            <a:r>
              <a:rPr sz="1200" b="0">
                <a:solidFill>
                  <a:srgbClr val="666666"/>
                </a:solidFill>
                <a:latin typeface="Calibri"/>
              </a:rPr>
              <a:t>speed</a:t>
            </a:r>
          </a:p>
          <a:p>
            <a:pPr algn="r">
              <a:lnSpc>
                <a:spcPct val="100000"/>
              </a:lnSpc>
              <a:spcAft>
                <a:spcPts val="100"/>
              </a:spcAft>
              <a:defRPr sz="1200" b="0">
                <a:solidFill>
                  <a:srgbClr val="666666"/>
                </a:solidFill>
                <a:latin typeface="Calibri"/>
              </a:defRPr>
            </a:pPr>
            <a:r>
              <a:rPr sz="12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54864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DEADZONE</a:t>
            </a:r>
            <a:br/>
            <a:r>
              <a:rPr sz="1100" b="1">
                <a:solidFill>
                  <a:srgbClr val="A32A2A"/>
                </a:solidFill>
                <a:latin typeface="Calibri"/>
              </a:rPr>
              <a:t>answer is 0</a:t>
            </a:r>
          </a:p>
        </p:txBody>
      </p:sp>
      <p:sp>
        <p:nvSpPr>
          <p:cNvPr id="14" name="TextBox 13"/>
          <p:cNvSpPr txBox="1"/>
          <p:nvPr/>
        </p:nvSpPr>
        <p:spPr>
          <a:xfrm>
            <a:off x="2887560" y="1691640"/>
            <a:ext cx="3657600" cy="640080"/>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alibri"/>
              </a:defRPr>
            </a:pPr>
            <a:r>
              <a:rPr sz="1300" b="1">
                <a:solidFill>
                  <a:srgbClr val="0E7C86"/>
                </a:solidFill>
                <a:latin typeface="Calibri"/>
              </a:rPr>
              <a:t>map() stretches what is left</a:t>
            </a:r>
            <a:br/>
            <a:r>
              <a:rPr sz="1300" b="1">
                <a:solidFill>
                  <a:srgbClr val="0E7C86"/>
                </a:solidFill>
                <a:latin typeface="Calibri"/>
              </a:rPr>
              <a:t>across the whole speed range</a:t>
            </a:r>
          </a:p>
        </p:txBody>
      </p:sp>
      <p:sp>
        <p:nvSpPr>
          <p:cNvPr id="15" name="TextBox 14"/>
          <p:cNvSpPr txBox="1"/>
          <p:nvPr/>
        </p:nvSpPr>
        <p:spPr>
          <a:xfrm>
            <a:off x="2156040" y="5221224"/>
            <a:ext cx="1097280" cy="274320"/>
          </a:xfrm>
          <a:prstGeom prst="rect">
            <a:avLst/>
          </a:prstGeom>
          <a:noFill/>
        </p:spPr>
        <p:txBody>
          <a:bodyPr wrap="square" lIns="0" tIns="0" rIns="0" bIns="0">
            <a:spAutoFit/>
          </a:bodyPr>
          <a:lstStyle/>
          <a:p>
            <a:pPr algn="ctr">
              <a:lnSpc>
                <a:spcPct val="100000"/>
              </a:lnSpc>
              <a:spcAft>
                <a:spcPts val="100"/>
              </a:spcAft>
              <a:defRPr sz="1100" b="0">
                <a:solidFill>
                  <a:srgbClr val="A32A2A"/>
                </a:solidFill>
                <a:latin typeface="Consolas"/>
              </a:defRPr>
            </a:pPr>
            <a:r>
              <a:rPr sz="1100" b="0">
                <a:solidFill>
                  <a:srgbClr val="A32A2A"/>
                </a:solidFill>
                <a:latin typeface="Consolas"/>
              </a:rPr>
              <a:t>20</a:t>
            </a:r>
          </a:p>
        </p:txBody>
      </p:sp>
      <p:sp>
        <p:nvSpPr>
          <p:cNvPr id="16" name="TextBox 15"/>
          <p:cNvSpPr txBox="1"/>
          <p:nvPr/>
        </p:nvSpPr>
        <p:spPr>
          <a:xfrm>
            <a:off x="8595360" y="1325880"/>
            <a:ext cx="3291840" cy="274320"/>
          </a:xfrm>
          <a:prstGeom prst="rect">
            <a:avLst/>
          </a:prstGeom>
          <a:noFill/>
        </p:spPr>
        <p:txBody>
          <a:bodyPr wrap="square" lIns="0" tIns="0" rIns="0" bIns="0">
            <a:spAutoFit/>
          </a:bodyPr>
          <a:lstStyle/>
          <a:p>
            <a:pPr algn="l">
              <a:lnSpc>
                <a:spcPct val="100000"/>
              </a:lnSpc>
              <a:spcAft>
                <a:spcPts val="100"/>
              </a:spcAft>
              <a:defRPr sz="1100" b="1">
                <a:solidFill>
                  <a:srgbClr val="0E7C86"/>
                </a:solidFill>
                <a:latin typeface="Consolas"/>
              </a:defRPr>
            </a:pPr>
            <a:r>
              <a:rPr sz="11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100" b="0">
                <a:solidFill>
                  <a:srgbClr val="222222"/>
                </a:solidFill>
                <a:latin typeface="Consolas"/>
              </a:defRPr>
            </a:pPr>
            <a:r>
              <a:rPr sz="1100" b="0">
                <a:solidFill>
                  <a:srgbClr val="222222"/>
                </a:solidFill>
                <a:latin typeface="Consolas"/>
              </a:rPr>
              <a:t>if (abs(v) &lt; DEADZONE)</a:t>
            </a:r>
          </a:p>
          <a:p>
            <a:pPr algn="l">
              <a:lnSpc>
                <a:spcPct val="100000"/>
              </a:lnSpc>
              <a:spcAft>
                <a:spcPts val="0"/>
              </a:spcAft>
              <a:defRPr sz="1100" b="0">
                <a:solidFill>
                  <a:srgbClr val="222222"/>
                </a:solidFill>
                <a:latin typeface="Consolas"/>
              </a:defRPr>
            </a:pPr>
            <a:r>
              <a:rPr sz="1100" b="0">
                <a:solidFill>
                  <a:srgbClr val="222222"/>
                </a:solidFill>
                <a:latin typeface="Consolas"/>
              </a:rPr>
              <a:t>    return 0;</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size = map(abs(v),</a:t>
            </a:r>
          </a:p>
          <a:p>
            <a:pPr algn="l">
              <a:lnSpc>
                <a:spcPct val="100000"/>
              </a:lnSpc>
              <a:spcAft>
                <a:spcPts val="0"/>
              </a:spcAft>
              <a:defRPr sz="1100" b="0">
                <a:solidFill>
                  <a:srgbClr val="222222"/>
                </a:solidFill>
                <a:latin typeface="Consolas"/>
              </a:defRPr>
            </a:pPr>
            <a:r>
              <a:rPr sz="1100" b="0">
                <a:solidFill>
                  <a:srgbClr val="222222"/>
                </a:solidFill>
                <a:latin typeface="Consolas"/>
              </a:rPr>
              <a:t>           DEADZONE, 127,</a:t>
            </a:r>
          </a:p>
          <a:p>
            <a:pPr algn="l">
              <a:lnSpc>
                <a:spcPct val="100000"/>
              </a:lnSpc>
              <a:spcAft>
                <a:spcPts val="0"/>
              </a:spcAft>
              <a:defRPr sz="1100" b="0">
                <a:solidFill>
                  <a:srgbClr val="222222"/>
                </a:solidFill>
                <a:latin typeface="Consolas"/>
              </a:defRPr>
            </a:pPr>
            <a:r>
              <a:rPr sz="1100" b="0">
                <a:solidFill>
                  <a:srgbClr val="222222"/>
                </a:solidFill>
                <a:latin typeface="Consolas"/>
              </a:rPr>
              <a:t>           MOTOR_MIN, maxSpeed);</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return (v &gt; 0) ? size</a:t>
            </a:r>
          </a:p>
          <a:p>
            <a:pPr algn="l">
              <a:lnSpc>
                <a:spcPct val="100000"/>
              </a:lnSpc>
              <a:spcAft>
                <a:spcPts val="0"/>
              </a:spcAft>
              <a:defRPr sz="1100" b="0">
                <a:solidFill>
                  <a:srgbClr val="222222"/>
                </a:solidFill>
                <a:latin typeface="Consolas"/>
              </a:defRPr>
            </a:pPr>
            <a:r>
              <a:rPr sz="1100" b="0">
                <a:solidFill>
                  <a:srgbClr val="222222"/>
                </a:solidFill>
                <a:latin typeface="Consolas"/>
              </a:rPr>
              <a:t>                : -size;</a:t>
            </a:r>
          </a:p>
        </p:txBody>
      </p:sp>
      <p:sp>
        <p:nvSpPr>
          <p:cNvPr id="18" name="TextBox 17"/>
          <p:cNvSpPr txBox="1"/>
          <p:nvPr/>
        </p:nvSpPr>
        <p:spPr>
          <a:xfrm>
            <a:off x="8595360" y="4160520"/>
            <a:ext cx="3291840" cy="102870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Why a deadzone at all?</a:t>
            </a:r>
          </a:p>
          <a:p>
            <a:pPr algn="l">
              <a:lnSpc>
                <a:spcPct val="100000"/>
              </a:lnSpc>
              <a:spcAft>
                <a:spcPts val="100"/>
              </a:spcAft>
              <a:defRPr sz="1100" b="0">
                <a:solidFill>
                  <a:srgbClr val="222222"/>
                </a:solidFill>
                <a:latin typeface="Calibri"/>
              </a:defRPr>
            </a:pPr>
            <a:r>
              <a:rPr sz="1100" b="0">
                <a:solidFill>
                  <a:srgbClr val="222222"/>
                </a:solidFill>
                <a:latin typeface="Calibri"/>
              </a:rPr>
              <a:t>A worn stick does not return</a:t>
            </a:r>
          </a:p>
          <a:p>
            <a:pPr algn="l">
              <a:lnSpc>
                <a:spcPct val="100000"/>
              </a:lnSpc>
              <a:spcAft>
                <a:spcPts val="100"/>
              </a:spcAft>
              <a:defRPr sz="1100" b="0">
                <a:solidFill>
                  <a:srgbClr val="222222"/>
                </a:solidFill>
                <a:latin typeface="Calibri"/>
              </a:defRPr>
            </a:pPr>
            <a:r>
              <a:rPr sz="1100" b="0">
                <a:solidFill>
                  <a:srgbClr val="222222"/>
                </a:solidFill>
                <a:latin typeface="Calibri"/>
              </a:rPr>
              <a:t>to exactly zero. Without this</a:t>
            </a:r>
          </a:p>
          <a:p>
            <a:pPr algn="l">
              <a:lnSpc>
                <a:spcPct val="100000"/>
              </a:lnSpc>
              <a:spcAft>
                <a:spcPts val="100"/>
              </a:spcAft>
              <a:defRPr sz="1100" b="0">
                <a:solidFill>
                  <a:srgbClr val="222222"/>
                </a:solidFill>
                <a:latin typeface="Calibri"/>
              </a:defRPr>
            </a:pPr>
            <a:r>
              <a:rPr sz="1100" b="0">
                <a:solidFill>
                  <a:srgbClr val="222222"/>
                </a:solidFill>
                <a:latin typeface="Calibri"/>
              </a:rPr>
              <a:t>the vehicle creeps away on</a:t>
            </a:r>
          </a:p>
          <a:p>
            <a:pPr algn="l">
              <a:lnSpc>
                <a:spcPct val="100000"/>
              </a:lnSpc>
              <a:spcAft>
                <a:spcPts val="100"/>
              </a:spcAft>
              <a:defRPr sz="1100" b="0">
                <a:solidFill>
                  <a:srgbClr val="222222"/>
                </a:solidFill>
                <a:latin typeface="Calibri"/>
              </a:defRPr>
            </a:pPr>
            <a:r>
              <a:rPr sz="1100" b="0">
                <a:solidFill>
                  <a:srgbClr val="222222"/>
                </a:solidFill>
                <a:latin typeface="Calibri"/>
              </a:rPr>
              <a:t>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idea, and how the program uses it</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127, 0, 255)   -&gt;    0</a:t>
            </a:r>
          </a:p>
          <a:p>
            <a:pPr algn="l">
              <a:lnSpc>
                <a:spcPct val="100000"/>
              </a:lnSpc>
              <a:spcAft>
                <a:spcPts val="0"/>
              </a:spcAft>
              <a:defRPr sz="1300">
                <a:latin typeface="Consolas"/>
              </a:defRPr>
            </a:pPr>
            <a:r>
              <a:rPr sz="1300">
                <a:solidFill>
                  <a:srgbClr val="222222"/>
                </a:solidFill>
                <a:latin typeface="Consolas"/>
              </a:rPr>
              <a:t>map(63, 0, 63, 0, 255)   -&gt;  127</a:t>
            </a:r>
          </a:p>
          <a:p>
            <a:pPr algn="l">
              <a:lnSpc>
                <a:spcPct val="100000"/>
              </a:lnSpc>
              <a:spcAft>
                <a:spcPts val="0"/>
              </a:spcAft>
              <a:defRPr sz="1300">
                <a:latin typeface="Consolas"/>
              </a:defRPr>
            </a:pPr>
            <a:r>
              <a:rPr sz="1300">
                <a:solidFill>
                  <a:srgbClr val="222222"/>
                </a:solidFill>
                <a:latin typeface="Consolas"/>
              </a:rPr>
              <a:t>map(127, 0, 127,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map() is just proportion. Nothing more.</a:t>
            </a:r>
          </a:p>
          <a:p>
            <a:pPr algn="l">
              <a:lnSpc>
                <a:spcPct val="100000"/>
              </a:lnSpc>
              <a:spcAft>
                <a:spcPts val="1100"/>
              </a:spcAft>
              <a:defRPr sz="1500" b="0">
                <a:solidFill>
                  <a:srgbClr val="222222"/>
                </a:solidFill>
                <a:latin typeface="Calibri"/>
              </a:defRPr>
            </a:pPr>
            <a:r>
              <a:rPr sz="15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1100"/>
              </a:spcAft>
              <a:defRPr sz="1500" b="0">
                <a:solidFill>
                  <a:srgbClr val="222222"/>
                </a:solidFill>
                <a:latin typeface="Calibri"/>
              </a:defRPr>
            </a:pPr>
            <a:r>
              <a:rPr sz="1500" b="0">
                <a:solidFill>
                  <a:srgbClr val="222222"/>
                </a:solidFill>
                <a:latin typeface="Calibri"/>
              </a:rPr>
              <a:t>abs() throws away the sign, so we map the SIZE of the push and put the direction back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Nothing moves - this is print only.</a:t>
            </a:r>
          </a:p>
          <a:p>
            <a:pPr algn="l">
              <a:lnSpc>
                <a:spcPct val="100000"/>
              </a:lnSpc>
              <a:spcAft>
                <a:spcPts val="800"/>
              </a:spcAft>
              <a:defRPr sz="1600" b="0">
                <a:solidFill>
                  <a:srgbClr val="222222"/>
                </a:solidFill>
                <a:latin typeface="Calibri"/>
              </a:defRPr>
            </a:pPr>
            <a:r>
              <a:rPr sz="16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600" b="0">
                <a:solidFill>
                  <a:srgbClr val="222222"/>
                </a:solidFill>
                <a:latin typeface="Calibri"/>
              </a:defRPr>
            </a:pPr>
            <a:r>
              <a:rPr sz="1600" b="0">
                <a:solidFill>
                  <a:srgbClr val="222222"/>
                </a:solidFill>
                <a:latin typeface="Calibri"/>
              </a:rPr>
              <a:t>3.  Set STICK_DEADZONE to 0. Upload. Put the controller down and do not touch it. Does the speed stay at 0?</a:t>
            </a:r>
          </a:p>
          <a:p>
            <a:pPr algn="l">
              <a:lnSpc>
                <a:spcPct val="100000"/>
              </a:lnSpc>
              <a:spcAft>
                <a:spcPts val="800"/>
              </a:spcAft>
              <a:defRPr sz="1600" b="0">
                <a:solidFill>
                  <a:srgbClr val="222222"/>
                </a:solidFill>
                <a:latin typeface="Calibri"/>
              </a:defRPr>
            </a:pPr>
            <a:r>
              <a:rPr sz="1600" b="0">
                <a:solidFill>
                  <a:srgbClr val="222222"/>
                </a:solidFill>
                <a:latin typeface="Calibri"/>
              </a:rPr>
              <a:t>4.  Set it to 101. How much of the stick is now wasted?</a:t>
            </a:r>
          </a:p>
          <a:p>
            <a:pPr algn="l">
              <a:lnSpc>
                <a:spcPct val="100000"/>
              </a:lnSpc>
              <a:spcAft>
                <a:spcPts val="800"/>
              </a:spcAft>
              <a:defRPr sz="1600" b="0">
                <a:solidFill>
                  <a:srgbClr val="222222"/>
                </a:solidFill>
                <a:latin typeface="Calibri"/>
              </a:defRPr>
            </a:pPr>
            <a:r>
              <a:rPr sz="16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Two columns: the raw number from the controller, and the motor speed it turns into.</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With the deadzone at 0, what does the vehicle do when nobody is holding the controller?</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MOTOR_MIN = 60 change, and when would you want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left = forward + turn        right = forward - turn</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Driving gets the full MOTOR_MAX of 255.</a:t>
            </a:r>
          </a:p>
          <a:p>
            <a:pPr algn="l">
              <a:lnSpc>
                <a:spcPct val="100000"/>
              </a:lnSpc>
              <a:spcAft>
                <a:spcPts val="900"/>
              </a:spcAft>
              <a:defRPr sz="1700" b="0">
                <a:solidFill>
                  <a:srgbClr val="222222"/>
                </a:solidFill>
                <a:latin typeface="Calibri"/>
              </a:defRPr>
            </a:pPr>
            <a:r>
              <a:rPr sz="1700" b="0">
                <a:solidFill>
                  <a:srgbClr val="222222"/>
                </a:solidFill>
                <a:latin typeface="Calibri"/>
              </a:rPr>
              <a:t>Steering gets turnMax, which is HALF of that by default.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l3c_tank_drive.ino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(!Ps3.isConnected())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Ps3.data.analog.stick.lx;</a:t>
            </a:r>
          </a:p>
          <a:p>
            <a:pPr algn="l">
              <a:lnSpc>
                <a:spcPct val="100000"/>
              </a:lnSpc>
              <a:spcAft>
                <a:spcPts val="0"/>
              </a:spcAft>
              <a:defRPr sz="1300">
                <a:latin typeface="Consolas"/>
              </a:defRPr>
            </a:pPr>
            <a:r>
              <a:rPr sz="1300">
                <a:solidFill>
                  <a:srgbClr val="222222"/>
                </a:solidFill>
                <a:latin typeface="Consolas"/>
              </a:rPr>
              <a:t>  int leftStickY = Ps3.data.analog.stick.ly;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-255, 255);</a:t>
            </a:r>
          </a:p>
          <a:p>
            <a:pPr algn="l">
              <a:lnSpc>
                <a:spcPct val="100000"/>
              </a:lnSpc>
              <a:spcAft>
                <a:spcPts val="0"/>
              </a:spcAft>
              <a:defRPr sz="1300">
                <a:latin typeface="Consolas"/>
              </a:defRPr>
            </a:pPr>
            <a:r>
              <a:rPr sz="1300">
                <a:solidFill>
                  <a:srgbClr val="222222"/>
                </a:solidFill>
                <a:latin typeface="Consolas"/>
              </a:rPr>
              <a:t>  int rightSpeed = constrain(forward - turn, -255,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minus sign on leftStickY. Up is negative.</a:t>
            </a:r>
          </a:p>
          <a:p>
            <a:pPr algn="l">
              <a:lnSpc>
                <a:spcPct val="100000"/>
              </a:lnSpc>
              <a:spcAft>
                <a:spcPts val="1100"/>
              </a:spcAft>
              <a:defRPr sz="1500" b="0">
                <a:solidFill>
                  <a:srgbClr val="222222"/>
                </a:solidFill>
                <a:latin typeface="Calibri"/>
              </a:defRPr>
            </a:pPr>
            <a:r>
              <a:rPr sz="1500" b="0">
                <a:solidFill>
                  <a:srgbClr val="222222"/>
                </a:solidFill>
                <a:latin typeface="Calibri"/>
              </a:rPr>
              <a:t>Driving gets MOTOR_MAX; steering gets turnMax.</a:t>
            </a:r>
          </a:p>
          <a:p>
            <a:pPr algn="l">
              <a:lnSpc>
                <a:spcPct val="100000"/>
              </a:lnSpc>
              <a:spcAft>
                <a:spcPts val="1100"/>
              </a:spcAft>
              <a:defRPr sz="1500" b="0">
                <a:solidFill>
                  <a:srgbClr val="222222"/>
                </a:solidFill>
                <a:latin typeface="Calibri"/>
              </a:defRPr>
            </a:pPr>
            <a:r>
              <a:rPr sz="1500" b="0">
                <a:solidFill>
                  <a:srgbClr val="222222"/>
                </a:solidFill>
                <a:latin typeface="Calibri"/>
              </a:rPr>
              <a:t>Everything else you have already seen.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Wheels off the ground. Upload. Check that up is forward and right is right BEFORE you put it down.</a:t>
            </a:r>
          </a:p>
          <a:p>
            <a:pPr algn="l">
              <a:lnSpc>
                <a:spcPct val="100000"/>
              </a:lnSpc>
              <a:spcAft>
                <a:spcPts val="800"/>
              </a:spcAft>
              <a:defRPr sz="1400" b="0">
                <a:solidFill>
                  <a:srgbClr val="222222"/>
                </a:solidFill>
                <a:latin typeface="Calibri"/>
              </a:defRPr>
            </a:pPr>
            <a:r>
              <a:rPr sz="1400" b="0">
                <a:solidFill>
                  <a:srgbClr val="222222"/>
                </a:solidFill>
                <a:latin typeface="Calibri"/>
              </a:rPr>
              <a:t>2.  Now put it on the floor in a clear space and drive.</a:t>
            </a:r>
          </a:p>
          <a:p>
            <a:pPr algn="l">
              <a:lnSpc>
                <a:spcPct val="100000"/>
              </a:lnSpc>
              <a:spcAft>
                <a:spcPts val="800"/>
              </a:spcAft>
              <a:defRPr sz="1400" b="0">
                <a:solidFill>
                  <a:srgbClr val="222222"/>
                </a:solidFill>
                <a:latin typeface="Calibri"/>
              </a:defRPr>
            </a:pPr>
            <a:r>
              <a:rPr sz="1400" b="0">
                <a:solidFill>
                  <a:srgbClr val="222222"/>
                </a:solidFill>
                <a:latin typeface="Calibri"/>
              </a:rPr>
              <a:t>3.  While driving, switch the controller off. What happens?</a:t>
            </a:r>
          </a:p>
          <a:p>
            <a:pPr algn="l">
              <a:lnSpc>
                <a:spcPct val="100000"/>
              </a:lnSpc>
              <a:spcAft>
                <a:spcPts val="800"/>
              </a:spcAft>
              <a:defRPr sz="1400" b="0">
                <a:solidFill>
                  <a:srgbClr val="222222"/>
                </a:solidFill>
                <a:latin typeface="Calibri"/>
              </a:defRPr>
            </a:pPr>
            <a:r>
              <a:rPr sz="1400" b="0">
                <a:solidFill>
                  <a:srgbClr val="222222"/>
                </a:solidFill>
                <a:latin typeface="Calibri"/>
              </a:rPr>
              <a:t>4.  Set turnMax to MOTOR_MAX and drive again. Which is easier?</a:t>
            </a:r>
          </a:p>
          <a:p>
            <a:pPr algn="l">
              <a:lnSpc>
                <a:spcPct val="100000"/>
              </a:lnSpc>
              <a:spcAft>
                <a:spcPts val="800"/>
              </a:spcAft>
              <a:defRPr sz="1400" b="0">
                <a:solidFill>
                  <a:srgbClr val="222222"/>
                </a:solidFill>
                <a:latin typeface="Calibri"/>
              </a:defRPr>
            </a:pPr>
            <a:r>
              <a:rPr sz="1400" b="0">
                <a:solidFill>
                  <a:srgbClr val="222222"/>
                </a:solidFill>
                <a:latin typeface="Calibri"/>
              </a:rPr>
              <a:t>5.  Swap the + and the - in the mixing lines and drive. What is wrong now?</a:t>
            </a:r>
          </a:p>
          <a:p>
            <a:pPr algn="l">
              <a:lnSpc>
                <a:spcPct val="100000"/>
              </a:lnSpc>
              <a:spcAft>
                <a:spcPts val="800"/>
              </a:spcAft>
              <a:defRPr sz="1400" b="0">
                <a:solidFill>
                  <a:srgbClr val="222222"/>
                </a:solidFill>
                <a:latin typeface="Calibri"/>
              </a:defRPr>
            </a:pPr>
            <a:r>
              <a:rPr sz="1400" b="0">
                <a:solidFill>
                  <a:srgbClr val="222222"/>
                </a:solidFill>
                <a:latin typeface="Calibri"/>
              </a:rPr>
              <a:t>6.  Try  right = forward  with no turn term at all. Why is that a worse way to steer?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vehicle that goes where you point it.</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radio link is not reliable. Batteries go flat, people walk between the pad and the vehicle, controllers get switched off.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only safe behaviour is to STOP. Not carry on with the last command, and not do something clever.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lines at the top of loop() do it:</a:t>
            </a:r>
          </a:p>
          <a:p>
            <a:pPr lvl="1" algn="l">
              <a:lnSpc>
                <a:spcPct val="100000"/>
              </a:lnSpc>
              <a:spcAft>
                <a:spcPts val="600"/>
              </a:spcAft>
              <a:defRPr sz="1500" b="0">
                <a:solidFill>
                  <a:srgbClr val="222222"/>
                </a:solidFill>
                <a:latin typeface="Calibri"/>
              </a:defRPr>
            </a:pPr>
            <a:r>
              <a:rPr sz="1500" b="0">
                <a:solidFill>
                  <a:srgbClr val="222222"/>
                </a:solidFill>
                <a:latin typeface="Calibri"/>
              </a:rPr>
              <a:t>if (!connected) { drive(0, 0); return; }</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Bluetooth address, and why must every vehicle in the room have a different one?</a:t>
            </a:r>
          </a:p>
          <a:p>
            <a:pPr algn="l">
              <a:lnSpc>
                <a:spcPct val="100000"/>
              </a:lnSpc>
              <a:spcAft>
                <a:spcPts val="1400"/>
              </a:spcAft>
              <a:defRPr sz="1700" b="0">
                <a:solidFill>
                  <a:srgbClr val="222222"/>
                </a:solidFill>
                <a:latin typeface="Calibri"/>
              </a:defRPr>
            </a:pPr>
            <a:r>
              <a:rPr sz="1700" b="0">
                <a:solidFill>
                  <a:srgbClr val="222222"/>
                </a:solidFill>
                <a:latin typeface="Calibri"/>
              </a:rPr>
              <a:t>2.  Push the left stick fully forward. Is the number positive or negative? Why does the program put a minus sign in front of it?</a:t>
            </a:r>
          </a:p>
          <a:p>
            <a:pPr algn="l">
              <a:lnSpc>
                <a:spcPct val="100000"/>
              </a:lnSpc>
              <a:spcAft>
                <a:spcPts val="1400"/>
              </a:spcAft>
              <a:defRPr sz="1700" b="0">
                <a:solidFill>
                  <a:srgbClr val="222222"/>
                </a:solidFill>
                <a:latin typeface="Calibri"/>
              </a:defRPr>
            </a:pPr>
            <a:r>
              <a:rPr sz="1700" b="0">
                <a:solidFill>
                  <a:srgbClr val="222222"/>
                </a:solidFill>
                <a:latin typeface="Calibri"/>
              </a:rPr>
              <a:t>3.  What is a deadzone for? What goes wrong if it is 0? What goes wrong if it is far too big?</a:t>
            </a:r>
          </a:p>
          <a:p>
            <a:pPr algn="l">
              <a:lnSpc>
                <a:spcPct val="100000"/>
              </a:lnSpc>
              <a:spcAft>
                <a:spcPts val="1400"/>
              </a:spcAft>
              <a:defRPr sz="1700" b="0">
                <a:solidFill>
                  <a:srgbClr val="222222"/>
                </a:solidFill>
                <a:latin typeface="Calibri"/>
              </a:defRPr>
            </a:pPr>
            <a:r>
              <a:rPr sz="1700" b="0">
                <a:solidFill>
                  <a:srgbClr val="222222"/>
                </a:solidFill>
                <a:latin typeface="Calibri"/>
              </a:rPr>
              <a:t>4.  In your own words, what does map() do?</a:t>
            </a:r>
          </a:p>
          <a:p>
            <a:pPr algn="l">
              <a:lnSpc>
                <a:spcPct val="100000"/>
              </a:lnSpc>
              <a:spcAft>
                <a:spcPts val="1400"/>
              </a:spcAft>
              <a:defRPr sz="1700" b="0">
                <a:solidFill>
                  <a:srgbClr val="222222"/>
                </a:solidFill>
                <a:latin typeface="Calibri"/>
              </a:defRPr>
            </a:pPr>
            <a:r>
              <a:rPr sz="1700" b="0">
                <a:solidFill>
                  <a:srgbClr val="222222"/>
                </a:solidFill>
                <a:latin typeface="Calibri"/>
              </a:rPr>
              <a:t>5.  forward is 180 and turn is 100. What speed does each side get, before and after constrain()?</a:t>
            </a:r>
          </a:p>
          <a:p>
            <a:pPr algn="l">
              <a:lnSpc>
                <a:spcPct val="100000"/>
              </a:lnSpc>
              <a:spcAft>
                <a:spcPts val="1400"/>
              </a:spcAft>
              <a:defRPr sz="1700" b="0">
                <a:solidFill>
                  <a:srgbClr val="222222"/>
                </a:solidFill>
                <a:latin typeface="Calibri"/>
              </a:defRPr>
            </a:pPr>
            <a:r>
              <a:rPr sz="1700" b="0">
                <a:solidFill>
                  <a:srgbClr val="222222"/>
                </a:solidFill>
                <a:latin typeface="Calibri"/>
              </a:rPr>
              <a:t>6.  Why is steering limited to half power by default?</a:t>
            </a:r>
          </a:p>
          <a:p>
            <a:pPr algn="l">
              <a:lnSpc>
                <a:spcPct val="100000"/>
              </a:lnSpc>
              <a:spcAft>
                <a:spcPts val="1400"/>
              </a:spcAft>
              <a:defRPr sz="1700" b="0">
                <a:solidFill>
                  <a:srgbClr val="222222"/>
                </a:solidFill>
                <a:latin typeface="Calibri"/>
              </a:defRPr>
            </a:pPr>
            <a:r>
              <a:rPr sz="17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