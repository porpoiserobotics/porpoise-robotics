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PS3 pairing story is genuinely odd, so say the odd part plainly: the controller is told which vehicle to talk to, not the other way round.</a:t>
            </a:r>
          </a:p>
          <a:p>
            <a:r>
              <a:rPr sz="1200">
                <a:latin typeface="Calibri"/>
              </a:rPr>
              <a:t>SixaxisPairTool needs a Windows PC and a USB cable. If you have one machine for the room, do this as a queue during the break.</a:t>
            </a:r>
          </a:p>
          <a:p>
            <a:r>
              <a:rPr sz="1200">
                <a:latin typeface="Calibri"/>
              </a:rPr>
              <a:t>The address goes in TWO places and they must match: the controller, and PS3_MAC_ADDRESS in the sketch.</a:t>
            </a:r>
          </a:p>
          <a:p>
            <a:r>
              <a:rPr sz="1200">
                <a:latin typeface="Calibri"/>
              </a:rPr>
              <a:t>Stickers on both the vehicle and the pad. Every term somebody loses a morning to two vehicles sharing an address.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 and name the parts.</a:t>
            </a:r>
          </a:p>
          <a:p>
            <a:r>
              <a:rPr sz="1200">
                <a:latin typeface="Calibri"/>
              </a:rPr>
              <a:t>Tell them they are about to press every single one of these and see what the program calls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PS3 controller paired to your vehicle.</a:t>
            </a:r>
          </a:p>
        </p:txBody>
      </p:sp>
      <p:pic>
        <p:nvPicPr>
          <p:cNvPr id="8" name="Picture 7" descr="vehicle-with-ps3-controll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know how an H-bridge reverses a motor, and how PWM sets its speed.</a:t>
            </a:r>
          </a:p>
          <a:p>
            <a:pPr algn="l">
              <a:lnSpc>
                <a:spcPct val="100000"/>
              </a:lnSpc>
              <a:spcAft>
                <a:spcPts val="600"/>
              </a:spcAft>
              <a:defRPr sz="2700" b="0">
                <a:solidFill>
                  <a:srgbClr val="222222"/>
                </a:solidFill>
                <a:latin typeface="Calibri"/>
              </a:defRPr>
            </a:pPr>
            <a:r>
              <a:rPr sz="2700" b="0">
                <a:solidFill>
                  <a:srgbClr val="222222"/>
                </a:solidFill>
                <a:latin typeface="Calibri"/>
              </a:rPr>
              <a:t>You watched duty and speed change together on the Serial Monitor.</a:t>
            </a:r>
          </a:p>
          <a:p>
            <a:pPr algn="l">
              <a:lnSpc>
                <a:spcPct val="100000"/>
              </a:lnSpc>
              <a:spcAft>
                <a:spcPts val="600"/>
              </a:spcAft>
              <a:defRPr sz="2700" b="0">
                <a:solidFill>
                  <a:srgbClr val="222222"/>
                </a:solidFill>
                <a:latin typeface="Calibri"/>
              </a:defRPr>
            </a:pPr>
            <a:r>
              <a:rPr sz="2700" b="0">
                <a:solidFill>
                  <a:srgbClr val="222222"/>
                </a:solidFill>
                <a:latin typeface="Calibri"/>
              </a:rPr>
              <a:t>You drove a square you calculated, and found out why it did not close.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A PS3 controller has no discovery mode. It only ever talks to ONE address, and that address has to be written into the controller over a USB cable.</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So on this track, the CONTROLLER is told which Bluetooth address to talk to.</a:t>
            </a:r>
          </a:p>
          <a:p>
            <a:pPr algn="l">
              <a:lnSpc>
                <a:spcPct val="100000"/>
              </a:lnSpc>
              <a:spcAft>
                <a:spcPts val="600"/>
              </a:spcAft>
              <a:defRPr sz="230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The tool is SixaxisPairTool, on a Windows PC, over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1.  Plug the controller into a Windows PC with a USB cable.</a:t>
            </a:r>
          </a:p>
          <a:p>
            <a:pPr lvl="1" algn="l">
              <a:lnSpc>
                <a:spcPct val="100000"/>
              </a:lnSpc>
              <a:spcAft>
                <a:spcPts val="600"/>
              </a:spcAft>
              <a:defRPr sz="2300" b="0">
                <a:solidFill>
                  <a:srgbClr val="222222"/>
                </a:solidFill>
                <a:latin typeface="Calibri"/>
              </a:defRPr>
            </a:pPr>
            <a:r>
              <a:rPr sz="2300" b="0">
                <a:solidFill>
                  <a:srgbClr val="222222"/>
                </a:solidFill>
                <a:latin typeface="Calibri"/>
              </a:rPr>
              <a:t>2.  Open SixaxisPairTool. It shows the current master address.</a:t>
            </a:r>
          </a:p>
          <a:p>
            <a:pPr lvl="1" algn="l">
              <a:lnSpc>
                <a:spcPct val="100000"/>
              </a:lnSpc>
              <a:spcAft>
                <a:spcPts val="600"/>
              </a:spcAft>
              <a:defRPr sz="2300" b="0">
                <a:solidFill>
                  <a:srgbClr val="222222"/>
                </a:solidFill>
                <a:latin typeface="Calibri"/>
              </a:defRPr>
            </a:pPr>
            <a:r>
              <a:rPr sz="2300" b="0">
                <a:solidFill>
                  <a:srgbClr val="222222"/>
                </a:solidFill>
                <a:latin typeface="Calibri"/>
              </a:rPr>
              <a:t>3.  Type in the address you want and click Update.</a:t>
            </a:r>
          </a:p>
          <a:p>
            <a:pPr lvl="1" algn="l">
              <a:lnSpc>
                <a:spcPct val="100000"/>
              </a:lnSpc>
              <a:spcAft>
                <a:spcPts val="600"/>
              </a:spcAft>
              <a:defRPr sz="2300" b="0">
                <a:solidFill>
                  <a:srgbClr val="222222"/>
                </a:solidFill>
                <a:latin typeface="Calibri"/>
              </a:defRPr>
            </a:pPr>
            <a:r>
              <a:rPr sz="2300" b="0">
                <a:solidFill>
                  <a:srgbClr val="222222"/>
                </a:solidFill>
                <a:latin typeface="Calibri"/>
              </a:rPr>
              <a:t>4.  Put that same address into PS3_MAC_ADDRESS in the sketch.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PS3 way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Give every vehicle in the room a different one. If two vehicles share an address, one controller drives both of them.</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Suggested scheme:  02:02:03:04:05:NN, where NN is the vehicle number. Write it on a sticker on the vehicle AND the controller.</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The first pair of digits must be an EVEN number. An odd one silently fails to connect, which is a very confusing way to spend an afternoon.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PS3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Today you will press all of them and see what each is called.</a:t>
            </a:r>
          </a:p>
        </p:txBody>
      </p:sp>
      <p:pic>
        <p:nvPicPr>
          <p:cNvPr id="7" name="Picture 6" descr="ps3-button-map.png"/>
          <p:cNvPicPr>
            <a:picLocks noChangeAspect="1"/>
          </p:cNvPicPr>
          <p:nvPr/>
        </p:nvPicPr>
        <p:blipFill>
          <a:blip r:embed="rId2"/>
          <a:stretch>
            <a:fillRect/>
          </a:stretch>
        </p:blipFill>
        <p:spPr>
          <a:xfrm>
            <a:off x="3637502" y="2267712"/>
            <a:ext cx="4916691"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four shoulder buttons and triggers, and three in the middle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button is either pressed or it is not. true or false.</a:t>
            </a:r>
          </a:p>
          <a:p>
            <a:pPr algn="l">
              <a:lnSpc>
                <a:spcPct val="100000"/>
              </a:lnSpc>
              <a:spcAft>
                <a:spcPts val="800"/>
              </a:spcAft>
              <a:defRPr sz="1900" b="0">
                <a:solidFill>
                  <a:srgbClr val="222222"/>
                </a:solidFill>
                <a:latin typeface="Calibri"/>
              </a:defRPr>
            </a:pPr>
            <a:r>
              <a:rPr sz="1900" b="0">
                <a:solidFill>
                  <a:srgbClr val="222222"/>
                </a:solidFill>
                <a:latin typeface="Calibri"/>
              </a:rPr>
              <a:t>Face buttons, D-pad, shoulders, triggers, and clicking the sticks in.</a:t>
            </a:r>
          </a:p>
          <a:p>
            <a:pPr algn="l">
              <a:lnSpc>
                <a:spcPct val="100000"/>
              </a:lnSpc>
              <a:spcAft>
                <a:spcPts val="800"/>
              </a:spcAft>
              <a:defRPr sz="1900" b="0">
                <a:solidFill>
                  <a:srgbClr val="222222"/>
                </a:solidFill>
                <a:latin typeface="Calibri"/>
              </a:defRPr>
            </a:pPr>
            <a:r>
              <a:rPr sz="1900" b="0">
                <a:solidFill>
                  <a:srgbClr val="222222"/>
                </a:solidFill>
                <a:latin typeface="Calibri"/>
              </a:rPr>
              <a:t>Good for: on/off, mode changes, one-shot actions.</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Ps3.data.button.square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-128 to +127.</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Ps3.data.analog.stick.ly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PS3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and open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2.  Press the PS button on the controller.</a:t>
            </a:r>
          </a:p>
          <a:p>
            <a:pPr algn="l">
              <a:lnSpc>
                <a:spcPct val="100000"/>
              </a:lnSpc>
              <a:spcAft>
                <a:spcPts val="800"/>
              </a:spcAft>
              <a:defRPr sz="1900" b="0">
                <a:solidFill>
                  <a:srgbClr val="222222"/>
                </a:solidFill>
                <a:latin typeface="Calibri"/>
              </a:defRPr>
            </a:pPr>
            <a:r>
              <a:rPr sz="1900" b="0">
                <a:solidFill>
                  <a:srgbClr val="222222"/>
                </a:solidFill>
                <a:latin typeface="Calibri"/>
              </a:rPr>
              <a:t>3.  Press every button in turn and match it to the printed name.</a:t>
            </a:r>
          </a:p>
          <a:p>
            <a:pPr algn="l">
              <a:lnSpc>
                <a:spcPct val="100000"/>
              </a:lnSpc>
              <a:spcAft>
                <a:spcPts val="800"/>
              </a:spcAft>
              <a:defRPr sz="1900" b="0">
                <a:solidFill>
                  <a:srgbClr val="222222"/>
                </a:solidFill>
                <a:latin typeface="Calibri"/>
              </a:defRPr>
            </a:pPr>
            <a:r>
              <a:rPr sz="1900" b="0">
                <a:solidFill>
                  <a:srgbClr val="222222"/>
                </a:solidFill>
                <a:latin typeface="Calibri"/>
              </a:rPr>
              <a:t>4.  Push the left stick fully UP. Positive or negative?</a:t>
            </a:r>
          </a:p>
          <a:p>
            <a:pPr algn="l">
              <a:lnSpc>
                <a:spcPct val="100000"/>
              </a:lnSpc>
              <a:spcAft>
                <a:spcPts val="800"/>
              </a:spcAft>
              <a:defRPr sz="1900" b="0">
                <a:solidFill>
                  <a:srgbClr val="222222"/>
                </a:solidFill>
                <a:latin typeface="Calibri"/>
              </a:defRPr>
            </a:pPr>
            <a:r>
              <a:rPr sz="1900" b="0">
                <a:solidFill>
                  <a:srgbClr val="222222"/>
                </a:solidFill>
                <a:latin typeface="Calibri"/>
              </a:rPr>
              <a:t>5.  Let go of the sticks and DO NOT touch the controller. Does it print exactly 0, or does it drift?</a:t>
            </a:r>
          </a:p>
          <a:p>
            <a:pPr algn="l">
              <a:lnSpc>
                <a:spcPct val="100000"/>
              </a:lnSpc>
              <a:spcAft>
                <a:spcPts val="800"/>
              </a:spcAft>
              <a:defRPr sz="1900" b="0">
                <a:solidFill>
                  <a:srgbClr val="222222"/>
                </a:solidFill>
                <a:latin typeface="Calibri"/>
              </a:defRPr>
            </a:pPr>
            <a:r>
              <a:rPr sz="1900" b="0">
                <a:solidFill>
                  <a:srgbClr val="222222"/>
                </a:solidFill>
                <a:latin typeface="Calibri"/>
              </a:rPr>
              <a:t>6.  Push a stick diagonally. Watch x and y move together.</a:t>
            </a:r>
          </a:p>
          <a:p>
            <a:pPr algn="l">
              <a:lnSpc>
                <a:spcPct val="100000"/>
              </a:lnSpc>
              <a:spcAft>
                <a:spcPts val="800"/>
              </a:spcAft>
              <a:defRPr sz="1900" b="0">
                <a:solidFill>
                  <a:srgbClr val="222222"/>
                </a:solidFill>
                <a:latin typeface="Calibri"/>
              </a:defRPr>
            </a:pPr>
            <a:r>
              <a:rPr sz="1900" b="0">
                <a:solidFill>
                  <a:srgbClr val="222222"/>
                </a:solidFill>
                <a:latin typeface="Calibri"/>
              </a:rPr>
              <a:t>7.  Squeeze L2 slowly. It is not just on or off - watch the number.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20, which is about 16%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127</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921600"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921600"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613240" y="1600200"/>
            <a:ext cx="4930560"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470240"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887560"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2156040"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20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127,</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127, 0, 255)   -&gt;    0</a:t>
            </a:r>
          </a:p>
          <a:p>
            <a:pPr algn="l">
              <a:lnSpc>
                <a:spcPct val="100000"/>
              </a:lnSpc>
              <a:spcAft>
                <a:spcPts val="0"/>
              </a:spcAft>
              <a:defRPr sz="1650">
                <a:latin typeface="Consolas"/>
              </a:defRPr>
            </a:pPr>
            <a:r>
              <a:rPr sz="1650">
                <a:solidFill>
                  <a:srgbClr val="222222"/>
                </a:solidFill>
                <a:latin typeface="Consolas"/>
              </a:rPr>
              <a:t>map(63, 0, 63, 0, 255)   -&gt;  127</a:t>
            </a:r>
          </a:p>
          <a:p>
            <a:pPr algn="l">
              <a:lnSpc>
                <a:spcPct val="100000"/>
              </a:lnSpc>
              <a:spcAft>
                <a:spcPts val="0"/>
              </a:spcAft>
              <a:defRPr sz="1650">
                <a:latin typeface="Consolas"/>
              </a:defRPr>
            </a:pPr>
            <a:r>
              <a:rPr sz="1650">
                <a:solidFill>
                  <a:srgbClr val="222222"/>
                </a:solidFill>
                <a:latin typeface="Consolas"/>
              </a:rPr>
              <a:t>map(127, 0, 127,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20, 127,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101.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L3 (click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(!Ps3.isConnected())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Ps3.data.analog.stick.lx;</a:t>
            </a:r>
          </a:p>
          <a:p>
            <a:pPr algn="l">
              <a:lnSpc>
                <a:spcPct val="100000"/>
              </a:lnSpc>
              <a:spcAft>
                <a:spcPts val="0"/>
              </a:spcAft>
              <a:defRPr sz="1400">
                <a:latin typeface="Consolas"/>
              </a:defRPr>
            </a:pPr>
            <a:r>
              <a:rPr sz="1400">
                <a:solidFill>
                  <a:srgbClr val="222222"/>
                </a:solidFill>
                <a:latin typeface="Consolas"/>
              </a:rPr>
              <a:t>  int leftStickY = Ps3.data.analog.stick.ly;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975649"/>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A vehicle that goes where you point it.</a:t>
            </a:r>
          </a:p>
        </p:txBody>
      </p:sp>
      <p:sp>
        <p:nvSpPr>
          <p:cNvPr id="10" name="TextBox 9"/>
          <p:cNvSpPr txBox="1"/>
          <p:nvPr/>
        </p:nvSpPr>
        <p:spPr>
          <a:xfrm>
            <a:off x="7163537" y="33530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55425"/>
            <a:ext cx="4525238" cy="2508214"/>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What happened when the controller switched off, and which four lines made that happen?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