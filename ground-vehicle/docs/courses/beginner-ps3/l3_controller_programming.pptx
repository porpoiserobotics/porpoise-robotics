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Controllers charged and paired before the class starts. A flat pad costs you twenty minutes you do not have.</a:t>
            </a:r>
          </a:p>
          <a:p>
            <a:r>
              <a:rPr sz="1200">
                <a:latin typeface="Calibri"/>
              </a:rPr>
              <a:t>Today is the lesson they came for. Say so, then make them earn it - everything before the last hour is print-only.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six, the failsafe, is the one that matters beyond this course. Flag it now and come back to it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then straight on.</a:t>
            </a:r>
          </a:p>
          <a:p>
            <a:r>
              <a:rPr sz="1200">
                <a:latin typeface="Calibri"/>
              </a:rPr>
              <a:t>The note is the discipline for the day: see the numbers first, drive second. It stops a room full of vehicles bolting during the first upload.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Point out that the vehicle does not move until 2:35. Manage the disappointment early rather than fighting it all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the radio theory to two minutes. The one thing that must land is that every device has an address, and an address is like a phone number.</a:t>
            </a:r>
          </a:p>
          <a:p>
            <a:r>
              <a:rPr sz="1200">
                <a:latin typeface="Calibri"/>
              </a:rPr>
              <a:t>The channel-hopping detail answers the question they are about to ask: why twenty vehicles in one room actually works.</a:t>
            </a:r>
          </a:p>
          <a:p>
            <a:r>
              <a:rPr sz="1200">
                <a:latin typeface="Calibri"/>
              </a:rPr>
              <a:t>The 85% storage note is worth mentioning. It explains why a Bluetooth sketch takes so long to upload and why some boards run out of room.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PS3 pairing story is genuinely odd, so say the odd part plainly: the controller is told which vehicle to talk to, not the other way round.</a:t>
            </a:r>
          </a:p>
          <a:p>
            <a:r>
              <a:rPr sz="1200">
                <a:latin typeface="Calibri"/>
              </a:rPr>
              <a:t>SixaxisPairTool needs a Windows PC and a USB cable. If you have one machine for the room, do this as a queue during the break.</a:t>
            </a:r>
          </a:p>
          <a:p>
            <a:r>
              <a:rPr sz="1200">
                <a:latin typeface="Calibri"/>
              </a:rPr>
              <a:t>The address goes in TWO places and they must match: the controller, and PS3_MAC_ADDRESS in the sketch.</a:t>
            </a:r>
          </a:p>
          <a:p>
            <a:r>
              <a:rPr sz="1200">
                <a:latin typeface="Calibri"/>
              </a:rPr>
              <a:t>Stickers on both the vehicle and the pad. Every term somebody loses a morning to two vehicles sharing an address.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The PS3 pairing story is genuinely odd, so say the odd part plainly: the controller is told which vehicle to talk to, not the other way round.</a:t>
            </a:r>
          </a:p>
          <a:p>
            <a:r>
              <a:rPr sz="1200">
                <a:latin typeface="Calibri"/>
              </a:rPr>
              <a:t>SixaxisPairTool needs a Windows PC and a USB cable. If you have one machine for the room, do this as a queue during the break.</a:t>
            </a:r>
          </a:p>
          <a:p>
            <a:r>
              <a:rPr sz="1200">
                <a:latin typeface="Calibri"/>
              </a:rPr>
              <a:t>The address goes in TWO places and they must match: the controller, and PS3_MAC_ADDRESS in the sketch.</a:t>
            </a:r>
          </a:p>
          <a:p>
            <a:r>
              <a:rPr sz="1200">
                <a:latin typeface="Calibri"/>
              </a:rPr>
              <a:t>Stickers on both the vehicle and the pad. Every term somebody loses a morning to two vehicles sharing an address.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a real controller up alongside the picture and name the parts.</a:t>
            </a:r>
          </a:p>
          <a:p>
            <a:r>
              <a:rPr sz="1200">
                <a:latin typeface="Calibri"/>
              </a:rPr>
              <a:t>Tell them they are about to press every single one of these and see what the program calls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Digital and analog is a distinction they will use for the rest of their lives. Two minutes, properly.</a:t>
            </a:r>
          </a:p>
          <a:p>
            <a:r>
              <a:rPr sz="1200">
                <a:latin typeface="Calibri"/>
              </a:rPr>
              <a:t>The warning panel is the one to read out. Push a stick up and the number goes negative - it catches everybody, and it is why there is a minus sign in the driving code.</a:t>
            </a:r>
          </a:p>
          <a:p>
            <a:r>
              <a:rPr sz="1200">
                <a:latin typeface="Calibri"/>
              </a:rPr>
              <a:t>Have a controller in your hand and press the things as you name them.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degrees of freedom is genuinely useful vocabulary and it costs three minutes.</a:t>
            </a:r>
          </a:p>
          <a:p>
            <a:r>
              <a:rPr sz="1200">
                <a:latin typeface="Calibri"/>
              </a:rPr>
              <a:t>Demonstrate with your hand: three slides, three twists.</a:t>
            </a:r>
          </a:p>
          <a:p>
            <a:r>
              <a:rPr sz="1200">
                <a:latin typeface="Calibri"/>
              </a:rPr>
              <a:t>A rover on a flat floor really only has surge and yaw. That is why one stick is enough here and why a submersible pilot needs two.</a:t>
            </a:r>
          </a:p>
          <a:p>
            <a:r>
              <a:rPr sz="1200">
                <a:latin typeface="Calibri"/>
              </a:rPr>
              <a:t>The Sixaxis palindrome is a cheap laugh and it makes the name stick.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ways a rigid body can move. Three slides, three twists, and nothing else.</a:t>
            </a:r>
          </a:p>
          <a:p>
            <a:r>
              <a:rPr sz="1200">
                <a:latin typeface="Calibri"/>
              </a:rPr>
              <a:t>Demonstrate with your hand held flat before you show the diagram. Slide it forward, sideways, up. Then tip it, nose it down, spin it.</a:t>
            </a:r>
          </a:p>
          <a:p>
            <a:r>
              <a:rPr sz="1200">
                <a:latin typeface="Calibri"/>
              </a:rPr>
              <a:t>The two boxed in teal are the two a rover on a flat floor can actually control. That is why one stick with two axes is enough here.</a:t>
            </a:r>
          </a:p>
          <a:p>
            <a:r>
              <a:rPr sz="1200">
                <a:latin typeface="Calibri"/>
              </a:rPr>
              <a:t>A submersible or an aircraft controls all six, which is why an ROV pilot needs two sticks and far more practice.</a:t>
            </a:r>
          </a:p>
          <a:p>
            <a:r>
              <a:rPr sz="1200">
                <a:latin typeface="Calibri"/>
              </a:rPr>
              <a:t>Sway is the interesting one to ask about. A rover cannot slide sideways - it has to yaw and then surge. Ask them why.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reading exercise, not a driving one. Nothing moves.</a:t>
            </a:r>
          </a:p>
          <a:p>
            <a:r>
              <a:rPr sz="1200">
                <a:latin typeface="Calibri"/>
              </a:rPr>
              <a:t>Step 5 is the one that sets up the whole deadzone section: hands off, and watch the number refuse to sit at zero.</a:t>
            </a:r>
          </a:p>
          <a:p>
            <a:r>
              <a:rPr sz="1200">
                <a:latin typeface="Calibri"/>
              </a:rPr>
              <a:t>On the Switch track, step 7 gives them the MY_CONTROLLER line they need for the rest of the day. Make sure it is written down or pasted immediately - it is easy to lose.</a:t>
            </a:r>
          </a:p>
          <a:p>
            <a:r>
              <a:rPr sz="1200">
                <a:latin typeface="Calibri"/>
              </a:rPr>
              <a:t>Walk round with a list of button names. Somebody will find a button that prints nothing, and that is usually a third-party pad rather than a fault.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They measured the drift ten minutes ago. Ask for numbers before you explain anything.</a:t>
            </a:r>
          </a:p>
          <a:p>
            <a:r>
              <a:rPr sz="1200">
                <a:latin typeface="Calibri"/>
              </a:rPr>
              <a:t>Paint the picture: twenty vehicles creeping across a classroom floor with nobody touching a controller.</a:t>
            </a:r>
          </a:p>
          <a:p>
            <a:r>
              <a:rPr sz="1200">
                <a:latin typeface="Calibri"/>
              </a:rPr>
              <a:t>The deadzone value and percentage on this slide are read out of the sketch at build time, so they match the file they are about to edit.</a:t>
            </a:r>
          </a:p>
          <a:p>
            <a:r>
              <a:rPr sz="1200">
                <a:latin typeface="Calibri"/>
              </a:rPr>
              <a:t>The trade-off is the point: too small and it creeps, too big and you waste the stick. They will feel both in the next activity.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two numbers that matter are the deadzone and the top of the stick range. Everything else on the slide follows from those.</a:t>
            </a:r>
          </a:p>
          <a:p>
            <a:r>
              <a:rPr sz="1200">
                <a:latin typeface="Calibri"/>
              </a:rPr>
              <a:t>Ask why the line does not start at zero. The answer - a stick at rest is never exactly centred - is worth getting from the room rather than telling them.</a:t>
            </a:r>
          </a:p>
          <a:p>
            <a:r>
              <a:rPr sz="1200">
                <a:latin typeface="Calibri"/>
              </a:rPr>
              <a:t>The jump at the deadzone edge is deliberate: below the minimum duty the motor buzzes instead of turning, so the map skips straight past it.</a:t>
            </a:r>
          </a:p>
          <a:p>
            <a:r>
              <a:rPr sz="1200">
                <a:latin typeface="Calibri"/>
              </a:rPr>
              <a:t>Come back to this diagram when somebody's vehicle creeps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map() is just proportion. Say that first, then show the three worked examples.</a:t>
            </a:r>
          </a:p>
          <a:p>
            <a:r>
              <a:rPr sz="1200">
                <a:latin typeface="Calibri"/>
              </a:rPr>
              <a:t>The important subtlety is on the last line: the low end is the DEADZONE, not zero. Without that, the leftover travel could never reach full speed.</a:t>
            </a:r>
          </a:p>
          <a:p>
            <a:r>
              <a:rPr sz="1200">
                <a:latin typeface="Calibri"/>
              </a:rPr>
              <a:t>map() does not clamp. Feed it something outside the range and you get something outside the range - which is exactly why constrain() exists.</a:t>
            </a:r>
          </a:p>
          <a:p>
            <a:r>
              <a:rPr sz="1200">
                <a:latin typeface="Calibri"/>
              </a:rPr>
              <a:t>Get them to work out one example on paper before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Print only. Nothing moves, so nobody needs a block.</a:t>
            </a:r>
          </a:p>
          <a:p>
            <a:r>
              <a:rPr sz="1200">
                <a:latin typeface="Calibri"/>
              </a:rPr>
              <a:t>Step 3 is the demonstration of the whole idea: deadzone at zero, hands off, and the numbers will not sit still.</a:t>
            </a:r>
          </a:p>
          <a:p>
            <a:r>
              <a:rPr sz="1200">
                <a:latin typeface="Calibri"/>
              </a:rPr>
              <a:t>Step 4 makes the opposite mistake on purpose. Ask them how much of the stick is left.</a:t>
            </a:r>
          </a:p>
          <a:p>
            <a:r>
              <a:rPr sz="1200">
                <a:latin typeface="Calibri"/>
              </a:rPr>
              <a:t>Step 5 previews MOTOR_MIN, which they met in Lesson 2. The jump the instant they leave the deadzone is what a raised minimum feels like.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lines of arithmetic. Write them on the board and work an example with the room before you show the slide.</a:t>
            </a:r>
          </a:p>
          <a:p>
            <a:r>
              <a:rPr sz="1200">
                <a:latin typeface="Calibri"/>
              </a:rPr>
              <a:t>The half-power steering choice is a design decision, not a limitation. Explain the reasoning: full-power steering spins faster than anybody can correct for.</a:t>
            </a:r>
          </a:p>
          <a:p>
            <a:r>
              <a:rPr sz="1200">
                <a:latin typeface="Calibri"/>
              </a:rPr>
              <a:t>constrain() is what catches forward 200 plus turn 60. Ask what would happen without it - the number wraps past what the motor can take and the vehicle turns the wrong way.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first four lines twice. That is the failsafe, and it is the most important thing in the file.</a:t>
            </a:r>
          </a:p>
          <a:p>
            <a:r>
              <a:rPr sz="1200">
                <a:latin typeface="Calibri"/>
              </a:rPr>
              <a:t>The minus sign in front of leftStickY is the up-is-negative fix from earlier. Point back at it.</a:t>
            </a:r>
          </a:p>
          <a:p>
            <a:r>
              <a:rPr sz="1200">
                <a:latin typeface="Calibri"/>
              </a:rPr>
              <a:t>Ask which line sets speed and which sets steering, then which one limits steering to half.</a:t>
            </a:r>
          </a:p>
          <a:p>
            <a:r>
              <a:rPr sz="1200">
                <a:latin typeface="Calibri"/>
              </a:rPr>
              <a:t>This is the first program in the course they could plausibly have written themselves. Say so.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then clear the floor.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1 is not optional. Wheels off the ground, check up is forward and right is right, every single upload.</a:t>
            </a:r>
          </a:p>
          <a:p>
            <a:r>
              <a:rPr sz="1200">
                <a:latin typeface="Calibri"/>
              </a:rPr>
              <a:t>Step 3 is the failsafe demonstration. Have them do it deliberately, somewhere safe, and watch the vehicle stop dead.</a:t>
            </a:r>
          </a:p>
          <a:p>
            <a:r>
              <a:rPr sz="1200">
                <a:latin typeface="Calibri"/>
              </a:rPr>
              <a:t>Steps 5 and 6 are deliberate breakages. Swapped signs give you a vehicle that steers backwards; dropping the turn term entirely gives you something that can only go straight or spin.</a:t>
            </a:r>
          </a:p>
          <a:p>
            <a:r>
              <a:rPr sz="1200">
                <a:latin typeface="Calibri"/>
              </a:rPr>
              <a:t>Give this the full thirty minutes. It is the payoff for three lessons of groundwork.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Step 1 is not optional. Wheels off the ground, check up is forward and right is right, every single upload.</a:t>
            </a:r>
          </a:p>
          <a:p>
            <a:r>
              <a:rPr sz="1200">
                <a:latin typeface="Calibri"/>
              </a:rPr>
              <a:t>Step 3 is the failsafe demonstration. Have them do it deliberately, somewhere safe, and watch the vehicle stop dead.</a:t>
            </a:r>
          </a:p>
          <a:p>
            <a:r>
              <a:rPr sz="1200">
                <a:latin typeface="Calibri"/>
              </a:rPr>
              <a:t>Steps 5 and 6 are deliberate breakages. Swapped signs give you a vehicle that steers backwards; dropping the turn term entirely gives you something that can only go straight or spin.</a:t>
            </a:r>
          </a:p>
          <a:p>
            <a:r>
              <a:rPr sz="1200">
                <a:latin typeface="Calibri"/>
              </a:rPr>
              <a:t>Give this the full thirty minutes. It is the payoff for three lessons of groundwork.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This is the most transferable idea in the whole course.</a:t>
            </a:r>
          </a:p>
          <a:p>
            <a:r>
              <a:rPr sz="1200">
                <a:latin typeface="Calibri"/>
              </a:rPr>
              <a:t>The only safe behaviour is to stop. Not to carry on with the last command, and not to be clever.</a:t>
            </a:r>
          </a:p>
          <a:p>
            <a:r>
              <a:rPr sz="1200">
                <a:latin typeface="Calibri"/>
              </a:rPr>
              <a:t>Go round the examples: a drone hovers or returns home, a submersible surfaces, a ground vehicle stops. Ask why each is right for that vehicle.</a:t>
            </a:r>
          </a:p>
          <a:p>
            <a:r>
              <a:rPr sz="1200">
                <a:latin typeface="Calibri"/>
              </a:rPr>
              <a:t>End with the question on the slide and let it sit: on anything you ever build, what happens when the operator disappears?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table out. Point at it and tell them to use it during the activity.</a:t>
            </a:r>
          </a:p>
          <a:p>
            <a:r>
              <a:rPr sz="1200">
                <a:latin typeface="Calibri"/>
              </a:rPr>
              <a:t>Worth printing and taping to the wall for the rest of the course.</a:t>
            </a:r>
          </a:p>
          <a:p>
            <a:r>
              <a:rPr sz="1200">
                <a:latin typeface="Calibri"/>
              </a:rPr>
              <a:t>Row three - somebody else's vehicle moving - is the funny one and the one that will actually happen.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an address is the device's phone number and duplicates mean one pad drives two vehicles; the number is negative, hence the minus sign; a deadzone stops phantom creep, zero means it creeps and too big wastes the stick; map() is proportion.</a:t>
            </a:r>
          </a:p>
          <a:p>
            <a:r>
              <a:rPr sz="1200">
                <a:latin typeface="Calibri"/>
              </a:rPr>
              <a:t>For question 5: left gets 280 and right gets 80 before constrain, then 255 and 80 after.</a:t>
            </a:r>
          </a:p>
          <a:p>
            <a:r>
              <a:rPr sz="1200">
                <a:latin typeface="Calibri"/>
              </a:rPr>
              <a:t>For question 6: full-power steering is faster than a person can correct for.</a:t>
            </a:r>
          </a:p>
          <a:p>
            <a:r>
              <a:rPr sz="1200">
                <a:latin typeface="Calibri"/>
              </a:rPr>
              <a:t>Question 7 should be written out, not said. Check a few notebooks.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Controller Programming</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Bluetooth, thumbsticks, deadzones, and turning a number from your thumb into a speed for four wheels.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the PS3 controller paired to your vehicle.</a:t>
            </a:r>
          </a:p>
        </p:txBody>
      </p:sp>
      <p:pic>
        <p:nvPicPr>
          <p:cNvPr id="8" name="Picture 7" descr="vehicle-with-ps3-controller.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 controller reaches one vehicle and not another</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deadzone is for, and what goes wrong without one</a:t>
            </a:r>
          </a:p>
          <a:p>
            <a:pPr algn="l">
              <a:lnSpc>
                <a:spcPct val="100000"/>
              </a:lnSpc>
              <a:spcAft>
                <a:spcPts val="1300"/>
              </a:spcAft>
              <a:defRPr sz="1900" b="0">
                <a:solidFill>
                  <a:srgbClr val="222222"/>
                </a:solidFill>
                <a:latin typeface="Calibri"/>
              </a:defRPr>
            </a:pPr>
            <a:r>
              <a:rPr sz="1900" b="0">
                <a:solidFill>
                  <a:srgbClr val="222222"/>
                </a:solidFill>
                <a:latin typeface="Calibri"/>
              </a:rPr>
              <a:t>3.   Use map() to turn a stick reading into a motor speed</a:t>
            </a:r>
          </a:p>
          <a:p>
            <a:pPr algn="l">
              <a:lnSpc>
                <a:spcPct val="100000"/>
              </a:lnSpc>
              <a:spcAft>
                <a:spcPts val="1300"/>
              </a:spcAft>
              <a:defRPr sz="1900" b="0">
                <a:solidFill>
                  <a:srgbClr val="222222"/>
                </a:solidFill>
                <a:latin typeface="Calibri"/>
              </a:defRPr>
            </a:pPr>
            <a:r>
              <a:rPr sz="1900" b="0">
                <a:solidFill>
                  <a:srgbClr val="222222"/>
                </a:solidFill>
                <a:latin typeface="Calibri"/>
              </a:rPr>
              <a:t>4.   Mix a forward value and a turn value into two wheel speeds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under your own control</a:t>
            </a:r>
          </a:p>
          <a:p>
            <a:pPr algn="l">
              <a:lnSpc>
                <a:spcPct val="100000"/>
              </a:lnSpc>
              <a:spcAft>
                <a:spcPts val="1300"/>
              </a:spcAft>
              <a:defRPr sz="1900" b="0">
                <a:solidFill>
                  <a:srgbClr val="222222"/>
                </a:solidFill>
                <a:latin typeface="Calibri"/>
              </a:defRPr>
            </a:pPr>
            <a:r>
              <a:rPr sz="1900" b="0">
                <a:solidFill>
                  <a:srgbClr val="222222"/>
                </a:solidFill>
                <a:latin typeface="Calibri"/>
              </a:rPr>
              <a:t>6.   Write the failsafe that stops the motors when the controller drops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r>
              <a:rPr sz="3000" b="0">
                <a:solidFill>
                  <a:srgbClr val="222222"/>
                </a:solidFill>
                <a:latin typeface="Calibri"/>
              </a:rPr>
              <a:t>You know how an H-bridge reverses a motor, and how PWM sets its speed.</a:t>
            </a:r>
          </a:p>
          <a:p>
            <a:pPr algn="l">
              <a:lnSpc>
                <a:spcPct val="100000"/>
              </a:lnSpc>
              <a:spcAft>
                <a:spcPts val="900"/>
              </a:spcAft>
              <a:defRPr sz="3000" b="0">
                <a:solidFill>
                  <a:srgbClr val="222222"/>
                </a:solidFill>
                <a:latin typeface="Calibri"/>
              </a:defRPr>
            </a:pPr>
            <a:r>
              <a:rPr sz="3000" b="0">
                <a:solidFill>
                  <a:srgbClr val="222222"/>
                </a:solidFill>
                <a:latin typeface="Calibri"/>
              </a:rPr>
              <a:t>You measured your own vehicle's minimum turning speed.</a:t>
            </a:r>
          </a:p>
          <a:p>
            <a:pPr algn="l">
              <a:lnSpc>
                <a:spcPct val="100000"/>
              </a:lnSpc>
              <a:spcAft>
                <a:spcPts val="900"/>
              </a:spcAft>
              <a:defRPr sz="3000" b="0">
                <a:solidFill>
                  <a:srgbClr val="222222"/>
                </a:solidFill>
                <a:latin typeface="Calibri"/>
              </a:defRPr>
            </a:pPr>
            <a:r>
              <a:rPr sz="3000" b="0">
                <a:solidFill>
                  <a:srgbClr val="222222"/>
                </a:solidFill>
                <a:latin typeface="Calibri"/>
              </a:rPr>
              <a:t>You drove a square you calculated, and found out why it did not close.</a:t>
            </a:r>
          </a:p>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Today you take the wheel.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today until the last hour is print-only. Nothing moves until you have seen the numbers first.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What Bluetooth is, and how a pad finds a vehicle</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One vehicle, one controller</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l3a_controller_check. Find every button and axis</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The deadzone problem, and map()</a:t>
                      </a:r>
                    </a:p>
                  </a:txBody>
                  <a:tcPr marL="73152" marT="18288" marB="18288">
                    <a:solidFill>
                      <a:srgbClr val="FFFFFF"/>
                    </a:solidFill>
                  </a:tcPr>
                </a:tc>
              </a:tr>
              <a:tr h="457200">
                <a:tc>
                  <a:txBody>
                    <a:bodyPr/>
                    <a:lstStyle/>
                    <a:p>
                      <a:r>
                        <a:rPr sz="2400">
                          <a:solidFill>
                            <a:srgbClr val="222222"/>
                          </a:solidFill>
                          <a:latin typeface="Calibri"/>
                        </a:rPr>
                        <a:t>1:50</a:t>
                      </a:r>
                    </a:p>
                  </a:txBody>
                  <a:tcPr marL="73152" marT="18288" marB="18288">
                    <a:solidFill>
                      <a:srgbClr val="EEF3F8"/>
                    </a:solidFill>
                  </a:tcPr>
                </a:tc>
                <a:tc>
                  <a:txBody>
                    <a:bodyPr/>
                    <a:lstStyle/>
                    <a:p>
                      <a:r>
                        <a:rPr sz="2400">
                          <a:solidFill>
                            <a:srgbClr val="222222"/>
                          </a:solidFill>
                          <a:latin typeface="Calibri"/>
                        </a:rPr>
                        <a:t>Upload l3b_deadzone_and_map. Watch the arithmetic</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Mixing forward and turn</a:t>
                      </a:r>
                    </a:p>
                  </a:txBody>
                  <a:tcPr marL="73152" marT="18288" marB="18288">
                    <a:solidFill>
                      <a:srgbClr val="EEF3F8"/>
                    </a:solidFill>
                  </a:tcPr>
                </a:tc>
              </a:tr>
              <a:tr h="457200">
                <a:tc>
                  <a:txBody>
                    <a:bodyPr/>
                    <a:lstStyle/>
                    <a:p>
                      <a:r>
                        <a:rPr sz="2400">
                          <a:solidFill>
                            <a:srgbClr val="222222"/>
                          </a:solidFill>
                          <a:latin typeface="Calibri"/>
                        </a:rPr>
                        <a:t>2:35</a:t>
                      </a:r>
                    </a:p>
                  </a:txBody>
                  <a:tcPr marL="73152" marT="18288" marB="18288">
                    <a:solidFill>
                      <a:srgbClr val="FFFFFF"/>
                    </a:solidFill>
                  </a:tcPr>
                </a:tc>
                <a:tc>
                  <a:txBody>
                    <a:bodyPr/>
                    <a:lstStyle/>
                    <a:p>
                      <a:r>
                        <a:rPr sz="2400">
                          <a:solidFill>
                            <a:srgbClr val="222222"/>
                          </a:solidFill>
                          <a:latin typeface="Calibri"/>
                        </a:rPr>
                        <a:t>Upload l3c_tank_drive. Drive it</a:t>
                      </a:r>
                    </a:p>
                  </a:txBody>
                  <a:tcPr marL="73152" marT="18288" marB="18288">
                    <a:solidFill>
                      <a:srgbClr val="FFFFFF"/>
                    </a:solidFill>
                  </a:tcPr>
                </a:tc>
              </a:tr>
              <a:tr h="457200">
                <a:tc>
                  <a:txBody>
                    <a:bodyPr/>
                    <a:lstStyle/>
                    <a:p>
                      <a:r>
                        <a:rPr sz="2400">
                          <a:solidFill>
                            <a:srgbClr val="222222"/>
                          </a:solidFill>
                          <a:latin typeface="Calibri"/>
                        </a:rPr>
                        <a:t>2:55</a:t>
                      </a:r>
                    </a:p>
                  </a:txBody>
                  <a:tcPr marL="73152" marT="18288" marB="18288">
                    <a:solidFill>
                      <a:srgbClr val="EEF3F8"/>
                    </a:solidFill>
                  </a:tcPr>
                </a:tc>
                <a:tc>
                  <a:txBody>
                    <a:bodyPr/>
                    <a:lstStyle/>
                    <a:p>
                      <a:r>
                        <a:rPr sz="2400">
                          <a:solidFill>
                            <a:srgbClr val="222222"/>
                          </a:solidFill>
                          <a:latin typeface="Calibri"/>
                        </a:rPr>
                        <a:t>Failsafe, and what happens when the link drops</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Bluetooth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radio link, and a phone number for each device</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A short-range radio link in the 2.4 GHz band - the same band as Wi-Fi, microwave ovens and almost everything else.</a:t>
            </a:r>
          </a:p>
          <a:p>
            <a:pPr algn="l">
              <a:lnSpc>
                <a:spcPct val="100000"/>
              </a:lnSpc>
              <a:spcAft>
                <a:spcPts val="900"/>
              </a:spcAft>
              <a:defRPr sz="1900" b="0">
                <a:solidFill>
                  <a:srgbClr val="222222"/>
                </a:solidFill>
                <a:latin typeface="Calibri"/>
              </a:defRPr>
            </a:pPr>
            <a:r>
              <a:rPr sz="1900" b="0">
                <a:solidFill>
                  <a:srgbClr val="222222"/>
                </a:solidFill>
                <a:latin typeface="Calibri"/>
              </a:rPr>
              <a:t>It hops between 79 narrow channels many times a second, so a busy band does not stop it. That is why twenty vehicles in one room actually works.</a:t>
            </a:r>
          </a:p>
          <a:p>
            <a:pPr algn="l">
              <a:lnSpc>
                <a:spcPct val="100000"/>
              </a:lnSpc>
              <a:spcAft>
                <a:spcPts val="900"/>
              </a:spcAft>
              <a:defRPr sz="1900" b="0">
                <a:solidFill>
                  <a:srgbClr val="222222"/>
                </a:solidFill>
                <a:latin typeface="Calibri"/>
              </a:defRPr>
            </a:pPr>
            <a:r>
              <a:rPr sz="1900" b="0">
                <a:solidFill>
                  <a:srgbClr val="222222"/>
                </a:solidFill>
                <a:latin typeface="Calibri"/>
              </a:rPr>
              <a:t>Range is tens of metres, and it goes down sharply if somebody stands between the pad and the vehicle.</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Every Bluetooth device has an ADDRESS - six bytes, written as six pairs of hexadecimal digits, like 02:02:03:04:05:08. It is the equivalent of a phone number.</a:t>
            </a:r>
          </a:p>
          <a:p>
            <a:pPr algn="l">
              <a:lnSpc>
                <a:spcPct val="100000"/>
              </a:lnSpc>
              <a:spcAft>
                <a:spcPts val="900"/>
              </a:spcAft>
              <a:defRPr sz="190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The ESP32 has Bluetooth built into the chip. That is a large part of why we use it.</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Bluetooth sketch fills about 85% of the ESP32's program storage. That is the radio stack, not your code - but it does mean there is not much room left, so keep additions lean.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the PS3 way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600"/>
              </a:spcAft>
              <a:defRPr sz="2300" b="0">
                <a:solidFill>
                  <a:srgbClr val="222222"/>
                </a:solidFill>
                <a:latin typeface="Calibri"/>
              </a:defRPr>
            </a:pPr>
            <a:r>
              <a:rPr sz="2300" b="0">
                <a:solidFill>
                  <a:srgbClr val="222222"/>
                </a:solidFill>
                <a:latin typeface="Calibri"/>
              </a:rPr>
              <a:t>A PS3 controller has no discovery mode. It only ever talks to ONE address, and that address has to be written into the controller over a USB cable.</a:t>
            </a:r>
          </a:p>
          <a:p>
            <a:pPr algn="l">
              <a:lnSpc>
                <a:spcPct val="100000"/>
              </a:lnSpc>
              <a:spcAft>
                <a:spcPts val="600"/>
              </a:spcAft>
              <a:defRPr sz="2300" b="0">
                <a:solidFill>
                  <a:srgbClr val="222222"/>
                </a:solidFill>
                <a:latin typeface="Calibri"/>
              </a:defRPr>
            </a:pPr>
          </a:p>
          <a:p>
            <a:pPr algn="l">
              <a:lnSpc>
                <a:spcPct val="100000"/>
              </a:lnSpc>
              <a:spcAft>
                <a:spcPts val="600"/>
              </a:spcAft>
              <a:defRPr sz="2300" b="0">
                <a:solidFill>
                  <a:srgbClr val="222222"/>
                </a:solidFill>
                <a:latin typeface="Calibri"/>
              </a:defRPr>
            </a:pPr>
            <a:r>
              <a:rPr sz="2300" b="0">
                <a:solidFill>
                  <a:srgbClr val="222222"/>
                </a:solidFill>
                <a:latin typeface="Calibri"/>
              </a:rPr>
              <a:t>So on this track, the CONTROLLER is told which Bluetooth address to talk to.</a:t>
            </a:r>
          </a:p>
          <a:p>
            <a:pPr algn="l">
              <a:lnSpc>
                <a:spcPct val="100000"/>
              </a:lnSpc>
              <a:spcAft>
                <a:spcPts val="600"/>
              </a:spcAft>
              <a:defRPr sz="2300" b="0">
                <a:solidFill>
                  <a:srgbClr val="222222"/>
                </a:solidFill>
                <a:latin typeface="Calibri"/>
              </a:defRPr>
            </a:pPr>
          </a:p>
          <a:p>
            <a:pPr algn="l">
              <a:lnSpc>
                <a:spcPct val="100000"/>
              </a:lnSpc>
              <a:spcAft>
                <a:spcPts val="600"/>
              </a:spcAft>
              <a:defRPr sz="2300" b="0">
                <a:solidFill>
                  <a:srgbClr val="222222"/>
                </a:solidFill>
                <a:latin typeface="Calibri"/>
              </a:defRPr>
            </a:pPr>
            <a:r>
              <a:rPr sz="2300" b="0">
                <a:solidFill>
                  <a:srgbClr val="222222"/>
                </a:solidFill>
                <a:latin typeface="Calibri"/>
              </a:rPr>
              <a:t>The tool is SixaxisPairTool, on a Windows PC, over a USB cable.</a:t>
            </a:r>
          </a:p>
          <a:p>
            <a:pPr lvl="1" algn="l">
              <a:lnSpc>
                <a:spcPct val="100000"/>
              </a:lnSpc>
              <a:spcAft>
                <a:spcPts val="600"/>
              </a:spcAft>
              <a:defRPr sz="2300" b="0">
                <a:solidFill>
                  <a:srgbClr val="222222"/>
                </a:solidFill>
                <a:latin typeface="Calibri"/>
              </a:defRPr>
            </a:pPr>
            <a:r>
              <a:rPr sz="2300" b="0">
                <a:solidFill>
                  <a:srgbClr val="222222"/>
                </a:solidFill>
                <a:latin typeface="Calibri"/>
              </a:rPr>
              <a:t>1.  Plug the controller into a Windows PC with a USB cable.</a:t>
            </a:r>
          </a:p>
          <a:p>
            <a:pPr lvl="1" algn="l">
              <a:lnSpc>
                <a:spcPct val="100000"/>
              </a:lnSpc>
              <a:spcAft>
                <a:spcPts val="600"/>
              </a:spcAft>
              <a:defRPr sz="2300" b="0">
                <a:solidFill>
                  <a:srgbClr val="222222"/>
                </a:solidFill>
                <a:latin typeface="Calibri"/>
              </a:defRPr>
            </a:pPr>
            <a:r>
              <a:rPr sz="2300" b="0">
                <a:solidFill>
                  <a:srgbClr val="222222"/>
                </a:solidFill>
                <a:latin typeface="Calibri"/>
              </a:rPr>
              <a:t>2.  Open SixaxisPairTool. It shows the current master address.</a:t>
            </a:r>
          </a:p>
          <a:p>
            <a:pPr lvl="1" algn="l">
              <a:lnSpc>
                <a:spcPct val="100000"/>
              </a:lnSpc>
              <a:spcAft>
                <a:spcPts val="600"/>
              </a:spcAft>
              <a:defRPr sz="2300" b="0">
                <a:solidFill>
                  <a:srgbClr val="222222"/>
                </a:solidFill>
                <a:latin typeface="Calibri"/>
              </a:defRPr>
            </a:pPr>
            <a:r>
              <a:rPr sz="2300" b="0">
                <a:solidFill>
                  <a:srgbClr val="222222"/>
                </a:solidFill>
                <a:latin typeface="Calibri"/>
              </a:rPr>
              <a:t>3.  Type in the address you want and click Update.</a:t>
            </a:r>
          </a:p>
          <a:p>
            <a:pPr lvl="1" algn="l">
              <a:lnSpc>
                <a:spcPct val="100000"/>
              </a:lnSpc>
              <a:spcAft>
                <a:spcPts val="600"/>
              </a:spcAft>
              <a:defRPr sz="2300" b="0">
                <a:solidFill>
                  <a:srgbClr val="222222"/>
                </a:solidFill>
                <a:latin typeface="Calibri"/>
              </a:defRPr>
            </a:pPr>
            <a:r>
              <a:rPr sz="2300" b="0">
                <a:solidFill>
                  <a:srgbClr val="222222"/>
                </a:solidFill>
                <a:latin typeface="Calibri"/>
              </a:rPr>
              <a:t>4.  Put that same address into PS3_MAC_ADDRESS in the sketch.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the PS3 way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2900" b="0">
                <a:solidFill>
                  <a:srgbClr val="222222"/>
                </a:solidFill>
                <a:latin typeface="Calibri"/>
              </a:defRPr>
            </a:pPr>
          </a:p>
          <a:p>
            <a:pPr algn="l">
              <a:lnSpc>
                <a:spcPct val="100000"/>
              </a:lnSpc>
              <a:spcAft>
                <a:spcPts val="900"/>
              </a:spcAft>
              <a:defRPr sz="2900" b="0">
                <a:solidFill>
                  <a:srgbClr val="222222"/>
                </a:solidFill>
                <a:latin typeface="Calibri"/>
              </a:defRPr>
            </a:pPr>
            <a:r>
              <a:rPr sz="2900" b="0">
                <a:solidFill>
                  <a:srgbClr val="222222"/>
                </a:solidFill>
                <a:latin typeface="Calibri"/>
              </a:rPr>
              <a:t>Give every vehicle in the room a different one. If two vehicles share an address, one controller drives both of them.</a:t>
            </a:r>
          </a:p>
          <a:p>
            <a:pPr algn="l">
              <a:lnSpc>
                <a:spcPct val="100000"/>
              </a:lnSpc>
              <a:spcAft>
                <a:spcPts val="900"/>
              </a:spcAft>
              <a:defRPr sz="2900" b="0">
                <a:solidFill>
                  <a:srgbClr val="222222"/>
                </a:solidFill>
                <a:latin typeface="Calibri"/>
              </a:defRPr>
            </a:pPr>
          </a:p>
          <a:p>
            <a:pPr algn="l">
              <a:lnSpc>
                <a:spcPct val="100000"/>
              </a:lnSpc>
              <a:spcAft>
                <a:spcPts val="900"/>
              </a:spcAft>
              <a:defRPr sz="2900" b="0">
                <a:solidFill>
                  <a:srgbClr val="222222"/>
                </a:solidFill>
                <a:latin typeface="Calibri"/>
              </a:defRPr>
            </a:pPr>
            <a:r>
              <a:rPr sz="2900" b="0">
                <a:solidFill>
                  <a:srgbClr val="222222"/>
                </a:solidFill>
                <a:latin typeface="Calibri"/>
              </a:rPr>
              <a:t>Suggested scheme:  02:02:03:04:05:NN, where NN is the vehicle number. Write it on a sticker on the vehicle AND the controller.</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The first pair of digits must be an EVEN number. An odd one silently fails to connect, which is a very confusing way to spend an afternoon.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PS3 controller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Every one of those has a name in the program. Today you will press all of them and see what each is called.</a:t>
            </a:r>
          </a:p>
        </p:txBody>
      </p:sp>
      <p:pic>
        <p:nvPicPr>
          <p:cNvPr id="7" name="Picture 6" descr="ps3-button-map.png"/>
          <p:cNvPicPr>
            <a:picLocks noChangeAspect="1"/>
          </p:cNvPicPr>
          <p:nvPr/>
        </p:nvPicPr>
        <p:blipFill>
          <a:blip r:embed="rId2"/>
          <a:stretch>
            <a:fillRect/>
          </a:stretch>
        </p:blipFill>
        <p:spPr>
          <a:xfrm>
            <a:off x="3637502" y="2267712"/>
            <a:ext cx="4916691"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Two analog sticks, a D-pad, four face buttons, four shoulder buttons and triggers, and three in the middle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control, and the axes they move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Digital: buttons</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button is either pressed or it is not. true or false.</a:t>
            </a:r>
          </a:p>
          <a:p>
            <a:pPr algn="l">
              <a:lnSpc>
                <a:spcPct val="100000"/>
              </a:lnSpc>
              <a:spcAft>
                <a:spcPts val="800"/>
              </a:spcAft>
              <a:defRPr sz="1900" b="0">
                <a:solidFill>
                  <a:srgbClr val="222222"/>
                </a:solidFill>
                <a:latin typeface="Calibri"/>
              </a:defRPr>
            </a:pPr>
            <a:r>
              <a:rPr sz="1900" b="0">
                <a:solidFill>
                  <a:srgbClr val="222222"/>
                </a:solidFill>
                <a:latin typeface="Calibri"/>
              </a:rPr>
              <a:t>Face buttons, D-pad, shoulders, triggers, and clicking the sticks in.</a:t>
            </a:r>
          </a:p>
          <a:p>
            <a:pPr algn="l">
              <a:lnSpc>
                <a:spcPct val="100000"/>
              </a:lnSpc>
              <a:spcAft>
                <a:spcPts val="800"/>
              </a:spcAft>
              <a:defRPr sz="1900" b="0">
                <a:solidFill>
                  <a:srgbClr val="222222"/>
                </a:solidFill>
                <a:latin typeface="Calibri"/>
              </a:defRPr>
            </a:pPr>
            <a:r>
              <a:rPr sz="1900" b="0">
                <a:solidFill>
                  <a:srgbClr val="222222"/>
                </a:solidFill>
                <a:latin typeface="Calibri"/>
              </a:rPr>
              <a:t>Good for: on/off, mode changes, one-shot actions.</a:t>
            </a:r>
          </a:p>
          <a:p>
            <a:pPr algn="l">
              <a:lnSpc>
                <a:spcPct val="100000"/>
              </a:lnSpc>
              <a:spcAft>
                <a:spcPts val="800"/>
              </a:spcAft>
              <a:defRPr sz="1900" b="0">
                <a:solidFill>
                  <a:srgbClr val="222222"/>
                </a:solidFill>
                <a:latin typeface="Calibri"/>
              </a:defRPr>
            </a:pPr>
          </a:p>
          <a:p>
            <a:pPr algn="l">
              <a:lnSpc>
                <a:spcPct val="100000"/>
              </a:lnSpc>
              <a:spcAft>
                <a:spcPts val="800"/>
              </a:spcAft>
              <a:defRPr sz="1900" b="0">
                <a:solidFill>
                  <a:srgbClr val="222222"/>
                </a:solidFill>
                <a:latin typeface="Calibri"/>
              </a:defRPr>
            </a:pPr>
            <a:r>
              <a:rPr sz="1900" b="0">
                <a:solidFill>
                  <a:srgbClr val="222222"/>
                </a:solidFill>
                <a:latin typeface="Calibri"/>
              </a:rPr>
              <a:t>On this track:</a:t>
            </a:r>
          </a:p>
          <a:p>
            <a:pPr lvl="1" algn="l">
              <a:lnSpc>
                <a:spcPct val="100000"/>
              </a:lnSpc>
              <a:spcAft>
                <a:spcPts val="800"/>
              </a:spcAft>
              <a:defRPr sz="1900" b="0">
                <a:solidFill>
                  <a:srgbClr val="222222"/>
                </a:solidFill>
                <a:latin typeface="Calibri"/>
              </a:defRPr>
            </a:pPr>
            <a:r>
              <a:rPr sz="1900" b="0">
                <a:solidFill>
                  <a:srgbClr val="222222"/>
                </a:solidFill>
                <a:latin typeface="Calibri"/>
              </a:rPr>
              <a:t>Ps3.data.button.square</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Analog: thumbsticks</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stick reports HOW FAR it is pushed, on two axes.</a:t>
            </a:r>
          </a:p>
          <a:p>
            <a:pPr algn="l">
              <a:lnSpc>
                <a:spcPct val="100000"/>
              </a:lnSpc>
              <a:spcAft>
                <a:spcPts val="800"/>
              </a:spcAft>
              <a:defRPr sz="1900" b="0">
                <a:solidFill>
                  <a:srgbClr val="222222"/>
                </a:solidFill>
                <a:latin typeface="Calibri"/>
              </a:defRPr>
            </a:pPr>
            <a:r>
              <a:rPr sz="1900" b="0">
                <a:solidFill>
                  <a:srgbClr val="222222"/>
                </a:solidFill>
                <a:latin typeface="Calibri"/>
              </a:rPr>
              <a:t>On this track each axis reads -128 to +127.</a:t>
            </a:r>
          </a:p>
          <a:p>
            <a:pPr algn="l">
              <a:lnSpc>
                <a:spcPct val="100000"/>
              </a:lnSpc>
              <a:spcAft>
                <a:spcPts val="800"/>
              </a:spcAft>
              <a:defRPr sz="1900" b="0">
                <a:solidFill>
                  <a:srgbClr val="222222"/>
                </a:solidFill>
                <a:latin typeface="Calibri"/>
              </a:defRPr>
            </a:pPr>
            <a:r>
              <a:rPr sz="1900" b="0">
                <a:solidFill>
                  <a:srgbClr val="222222"/>
                </a:solidFill>
                <a:latin typeface="Calibri"/>
              </a:rPr>
              <a:t>Good for: speed, steering, aiming a servo.</a:t>
            </a:r>
          </a:p>
          <a:p>
            <a:pPr algn="l">
              <a:lnSpc>
                <a:spcPct val="100000"/>
              </a:lnSpc>
              <a:spcAft>
                <a:spcPts val="800"/>
              </a:spcAft>
              <a:defRPr sz="1900" b="0">
                <a:solidFill>
                  <a:srgbClr val="222222"/>
                </a:solidFill>
                <a:latin typeface="Calibri"/>
              </a:defRPr>
            </a:pPr>
          </a:p>
          <a:p>
            <a:pPr algn="l">
              <a:lnSpc>
                <a:spcPct val="100000"/>
              </a:lnSpc>
              <a:spcAft>
                <a:spcPts val="800"/>
              </a:spcAft>
              <a:defRPr sz="1900" b="0">
                <a:solidFill>
                  <a:srgbClr val="222222"/>
                </a:solidFill>
                <a:latin typeface="Calibri"/>
              </a:defRPr>
            </a:pPr>
            <a:r>
              <a:rPr sz="1900" b="0">
                <a:solidFill>
                  <a:srgbClr val="222222"/>
                </a:solidFill>
                <a:latin typeface="Calibri"/>
              </a:rPr>
              <a:t>On this track:</a:t>
            </a:r>
          </a:p>
          <a:p>
            <a:pPr lvl="1" algn="l">
              <a:lnSpc>
                <a:spcPct val="100000"/>
              </a:lnSpc>
              <a:spcAft>
                <a:spcPts val="800"/>
              </a:spcAft>
              <a:defRPr sz="1900" b="0">
                <a:solidFill>
                  <a:srgbClr val="222222"/>
                </a:solidFill>
                <a:latin typeface="Calibri"/>
              </a:defRPr>
            </a:pPr>
            <a:r>
              <a:rPr sz="1900" b="0">
                <a:solidFill>
                  <a:srgbClr val="222222"/>
                </a:solidFill>
                <a:latin typeface="Calibri"/>
              </a:rPr>
              <a:t>Ps3.data.analog.stick.lx     // left/right</a:t>
            </a:r>
          </a:p>
          <a:p>
            <a:pPr lvl="1" algn="l">
              <a:lnSpc>
                <a:spcPct val="100000"/>
              </a:lnSpc>
              <a:spcAft>
                <a:spcPts val="800"/>
              </a:spcAft>
              <a:defRPr sz="1900" b="0">
                <a:solidFill>
                  <a:srgbClr val="222222"/>
                </a:solidFill>
                <a:latin typeface="Calibri"/>
              </a:defRPr>
            </a:pPr>
            <a:r>
              <a:rPr sz="1900" b="0">
                <a:solidFill>
                  <a:srgbClr val="222222"/>
                </a:solidFill>
                <a:latin typeface="Calibri"/>
              </a:rPr>
              <a:t>Ps3.data.analog.stick.ly     // up/down</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Push a stick UP and the number goes NEGATIVE. That catches everybody. It is why the driving code has a minus sign in front of the Y reading.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Any rigid object in space can move in six independent ways. Three are translations - sliding along an axis - and three are rotations.</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TRANSLATION</a:t>
            </a:r>
          </a:p>
          <a:p>
            <a:pPr lvl="1" algn="l">
              <a:lnSpc>
                <a:spcPct val="100000"/>
              </a:lnSpc>
              <a:spcAft>
                <a:spcPts val="900"/>
              </a:spcAft>
              <a:defRPr sz="2000" b="0">
                <a:solidFill>
                  <a:srgbClr val="222222"/>
                </a:solidFill>
                <a:latin typeface="Calibri"/>
              </a:defRPr>
            </a:pPr>
            <a:r>
              <a:rPr sz="2000" b="0">
                <a:solidFill>
                  <a:srgbClr val="222222"/>
                </a:solidFill>
                <a:latin typeface="Calibri"/>
              </a:rPr>
              <a:t>Forward and back  -  surge</a:t>
            </a:r>
          </a:p>
          <a:p>
            <a:pPr lvl="1" algn="l">
              <a:lnSpc>
                <a:spcPct val="100000"/>
              </a:lnSpc>
              <a:spcAft>
                <a:spcPts val="900"/>
              </a:spcAft>
              <a:defRPr sz="2000" b="0">
                <a:solidFill>
                  <a:srgbClr val="222222"/>
                </a:solidFill>
                <a:latin typeface="Calibri"/>
              </a:defRPr>
            </a:pPr>
            <a:r>
              <a:rPr sz="2000" b="0">
                <a:solidFill>
                  <a:srgbClr val="222222"/>
                </a:solidFill>
                <a:latin typeface="Calibri"/>
              </a:rPr>
              <a:t>Side to side  -  sway</a:t>
            </a:r>
          </a:p>
          <a:p>
            <a:pPr lvl="1" algn="l">
              <a:lnSpc>
                <a:spcPct val="100000"/>
              </a:lnSpc>
              <a:spcAft>
                <a:spcPts val="900"/>
              </a:spcAft>
              <a:defRPr sz="2000" b="0">
                <a:solidFill>
                  <a:srgbClr val="222222"/>
                </a:solidFill>
                <a:latin typeface="Calibri"/>
              </a:defRPr>
            </a:pPr>
            <a:r>
              <a:rPr sz="2000" b="0">
                <a:solidFill>
                  <a:srgbClr val="222222"/>
                </a:solidFill>
                <a:latin typeface="Calibri"/>
              </a:rPr>
              <a:t>Up and down  -  heave</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ROTATION</a:t>
            </a:r>
          </a:p>
          <a:p>
            <a:pPr lvl="1" algn="l">
              <a:lnSpc>
                <a:spcPct val="100000"/>
              </a:lnSpc>
              <a:spcAft>
                <a:spcPts val="900"/>
              </a:spcAft>
              <a:defRPr sz="1800" b="0">
                <a:solidFill>
                  <a:srgbClr val="222222"/>
                </a:solidFill>
                <a:latin typeface="Calibri"/>
              </a:defRPr>
            </a:pPr>
            <a:r>
              <a:rPr sz="1800" b="0">
                <a:solidFill>
                  <a:srgbClr val="222222"/>
                </a:solidFill>
                <a:latin typeface="Calibri"/>
              </a:rPr>
              <a:t>Roll  -  tipping left or right about the fore-aft axis</a:t>
            </a:r>
          </a:p>
          <a:p>
            <a:pPr lvl="1" algn="l">
              <a:lnSpc>
                <a:spcPct val="100000"/>
              </a:lnSpc>
              <a:spcAft>
                <a:spcPts val="900"/>
              </a:spcAft>
              <a:defRPr sz="1800" b="0">
                <a:solidFill>
                  <a:srgbClr val="222222"/>
                </a:solidFill>
                <a:latin typeface="Calibri"/>
              </a:defRPr>
            </a:pPr>
            <a:r>
              <a:rPr sz="1800" b="0">
                <a:solidFill>
                  <a:srgbClr val="222222"/>
                </a:solidFill>
                <a:latin typeface="Calibri"/>
              </a:rPr>
              <a:t>Pitch  -  nose up or nose down</a:t>
            </a:r>
          </a:p>
          <a:p>
            <a:pPr lvl="1" algn="l">
              <a:lnSpc>
                <a:spcPct val="100000"/>
              </a:lnSpc>
              <a:spcAft>
                <a:spcPts val="900"/>
              </a:spcAft>
              <a:defRPr sz="1800" b="0">
                <a:solidFill>
                  <a:srgbClr val="222222"/>
                </a:solidFill>
                <a:latin typeface="Calibri"/>
              </a:defRPr>
            </a:pPr>
            <a:r>
              <a:rPr sz="1800" b="0">
                <a:solidFill>
                  <a:srgbClr val="222222"/>
                </a:solidFill>
                <a:latin typeface="Calibri"/>
              </a:rPr>
              <a:t>Yaw  -  turning left or right, which is your steering</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A ground vehicle on a flat floor really only controls surge and yaw. A submersible or an aircraft controls all six, which is why they need far more from the operator.</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PS3 controller was originally called the Sixaxis because it could sense all six. Spelled backwards, Sixaxis is still Sixaxis.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 and the two your rover has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TRANSLATION  -  sliding along an axis</a:t>
            </a:r>
          </a:p>
        </p:txBody>
      </p:sp>
      <p:sp>
        <p:nvSpPr>
          <p:cNvPr id="7" name="TextBox 6"/>
          <p:cNvSpPr txBox="1"/>
          <p:nvPr/>
        </p:nvSpPr>
        <p:spPr>
          <a:xfrm>
            <a:off x="640080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ROTATION  -  turning about an axis</a:t>
            </a:r>
          </a:p>
        </p:txBody>
      </p:sp>
      <p:sp>
        <p:nvSpPr>
          <p:cNvPr id="8" name="Rounded Rectangle 7"/>
          <p:cNvSpPr/>
          <p:nvPr/>
        </p:nvSpPr>
        <p:spPr>
          <a:xfrm>
            <a:off x="502920" y="1883664"/>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SURGE</a:t>
            </a:r>
          </a:p>
        </p:txBody>
      </p:sp>
      <p:sp>
        <p:nvSpPr>
          <p:cNvPr id="9" name="TextBox 8"/>
          <p:cNvSpPr txBox="1"/>
          <p:nvPr/>
        </p:nvSpPr>
        <p:spPr>
          <a:xfrm>
            <a:off x="205740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forward and back</a:t>
            </a:r>
          </a:p>
        </p:txBody>
      </p:sp>
      <p:sp>
        <p:nvSpPr>
          <p:cNvPr id="10" name="TextBox 9"/>
          <p:cNvSpPr txBox="1"/>
          <p:nvPr/>
        </p:nvSpPr>
        <p:spPr>
          <a:xfrm>
            <a:off x="448055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X axis</a:t>
            </a:r>
          </a:p>
        </p:txBody>
      </p:sp>
      <p:sp>
        <p:nvSpPr>
          <p:cNvPr id="11" name="TextBox 10"/>
          <p:cNvSpPr txBox="1"/>
          <p:nvPr/>
        </p:nvSpPr>
        <p:spPr>
          <a:xfrm>
            <a:off x="2057400" y="2267712"/>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12" name="Rounded Rectangle 11"/>
          <p:cNvSpPr/>
          <p:nvPr/>
        </p:nvSpPr>
        <p:spPr>
          <a:xfrm>
            <a:off x="50292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SWAY</a:t>
            </a:r>
          </a:p>
        </p:txBody>
      </p:sp>
      <p:sp>
        <p:nvSpPr>
          <p:cNvPr id="13" name="TextBox 12"/>
          <p:cNvSpPr txBox="1"/>
          <p:nvPr/>
        </p:nvSpPr>
        <p:spPr>
          <a:xfrm>
            <a:off x="205740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left and right</a:t>
            </a:r>
          </a:p>
        </p:txBody>
      </p:sp>
      <p:sp>
        <p:nvSpPr>
          <p:cNvPr id="14" name="TextBox 13"/>
          <p:cNvSpPr txBox="1"/>
          <p:nvPr/>
        </p:nvSpPr>
        <p:spPr>
          <a:xfrm>
            <a:off x="448055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Y axis</a:t>
            </a:r>
          </a:p>
        </p:txBody>
      </p:sp>
      <p:sp>
        <p:nvSpPr>
          <p:cNvPr id="15" name="Rounded Rectangle 14"/>
          <p:cNvSpPr/>
          <p:nvPr/>
        </p:nvSpPr>
        <p:spPr>
          <a:xfrm>
            <a:off x="502920" y="3566160"/>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HEAVE</a:t>
            </a:r>
          </a:p>
        </p:txBody>
      </p:sp>
      <p:sp>
        <p:nvSpPr>
          <p:cNvPr id="16" name="TextBox 15"/>
          <p:cNvSpPr txBox="1"/>
          <p:nvPr/>
        </p:nvSpPr>
        <p:spPr>
          <a:xfrm>
            <a:off x="205740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up and down</a:t>
            </a:r>
          </a:p>
        </p:txBody>
      </p:sp>
      <p:sp>
        <p:nvSpPr>
          <p:cNvPr id="17" name="TextBox 16"/>
          <p:cNvSpPr txBox="1"/>
          <p:nvPr/>
        </p:nvSpPr>
        <p:spPr>
          <a:xfrm>
            <a:off x="448055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Z axis</a:t>
            </a:r>
          </a:p>
        </p:txBody>
      </p:sp>
      <p:sp>
        <p:nvSpPr>
          <p:cNvPr id="18" name="Rounded Rectangle 17"/>
          <p:cNvSpPr/>
          <p:nvPr/>
        </p:nvSpPr>
        <p:spPr>
          <a:xfrm>
            <a:off x="6400800" y="1883664"/>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ROLL</a:t>
            </a:r>
          </a:p>
        </p:txBody>
      </p:sp>
      <p:sp>
        <p:nvSpPr>
          <p:cNvPr id="19" name="TextBox 18"/>
          <p:cNvSpPr txBox="1"/>
          <p:nvPr/>
        </p:nvSpPr>
        <p:spPr>
          <a:xfrm>
            <a:off x="795528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tipping left or right</a:t>
            </a:r>
          </a:p>
        </p:txBody>
      </p:sp>
      <p:sp>
        <p:nvSpPr>
          <p:cNvPr id="20" name="TextBox 19"/>
          <p:cNvSpPr txBox="1"/>
          <p:nvPr/>
        </p:nvSpPr>
        <p:spPr>
          <a:xfrm>
            <a:off x="1037843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X</a:t>
            </a:r>
          </a:p>
        </p:txBody>
      </p:sp>
      <p:sp>
        <p:nvSpPr>
          <p:cNvPr id="21" name="Rounded Rectangle 20"/>
          <p:cNvSpPr/>
          <p:nvPr/>
        </p:nvSpPr>
        <p:spPr>
          <a:xfrm>
            <a:off x="640080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PITCH</a:t>
            </a:r>
          </a:p>
        </p:txBody>
      </p:sp>
      <p:sp>
        <p:nvSpPr>
          <p:cNvPr id="22" name="TextBox 21"/>
          <p:cNvSpPr txBox="1"/>
          <p:nvPr/>
        </p:nvSpPr>
        <p:spPr>
          <a:xfrm>
            <a:off x="795528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nose up or nose down</a:t>
            </a:r>
          </a:p>
        </p:txBody>
      </p:sp>
      <p:sp>
        <p:nvSpPr>
          <p:cNvPr id="23" name="TextBox 22"/>
          <p:cNvSpPr txBox="1"/>
          <p:nvPr/>
        </p:nvSpPr>
        <p:spPr>
          <a:xfrm>
            <a:off x="1037843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Y</a:t>
            </a:r>
          </a:p>
        </p:txBody>
      </p:sp>
      <p:sp>
        <p:nvSpPr>
          <p:cNvPr id="24" name="Rounded Rectangle 23"/>
          <p:cNvSpPr/>
          <p:nvPr/>
        </p:nvSpPr>
        <p:spPr>
          <a:xfrm>
            <a:off x="6400800" y="3566160"/>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YAW</a:t>
            </a:r>
          </a:p>
        </p:txBody>
      </p:sp>
      <p:sp>
        <p:nvSpPr>
          <p:cNvPr id="25" name="TextBox 24"/>
          <p:cNvSpPr txBox="1"/>
          <p:nvPr/>
        </p:nvSpPr>
        <p:spPr>
          <a:xfrm>
            <a:off x="795528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turning left or right</a:t>
            </a:r>
          </a:p>
        </p:txBody>
      </p:sp>
      <p:sp>
        <p:nvSpPr>
          <p:cNvPr id="26" name="TextBox 25"/>
          <p:cNvSpPr txBox="1"/>
          <p:nvPr/>
        </p:nvSpPr>
        <p:spPr>
          <a:xfrm>
            <a:off x="1037843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Z</a:t>
            </a:r>
          </a:p>
        </p:txBody>
      </p:sp>
      <p:sp>
        <p:nvSpPr>
          <p:cNvPr id="27" name="TextBox 26"/>
          <p:cNvSpPr txBox="1"/>
          <p:nvPr/>
        </p:nvSpPr>
        <p:spPr>
          <a:xfrm>
            <a:off x="7955280" y="3950208"/>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28" name="Rounded Rectangle 27"/>
          <p:cNvSpPr/>
          <p:nvPr/>
        </p:nvSpPr>
        <p:spPr>
          <a:xfrm>
            <a:off x="50292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LEFT STICK on the PS3 controller  -&gt;  surge and yaw</a:t>
            </a:r>
          </a:p>
        </p:txBody>
      </p:sp>
      <p:sp>
        <p:nvSpPr>
          <p:cNvPr id="29" name="Rounded Rectangle 28"/>
          <p:cNvSpPr/>
          <p:nvPr/>
        </p:nvSpPr>
        <p:spPr>
          <a:xfrm>
            <a:off x="640080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RIGHT STICK  -&gt;  the four servos</a:t>
            </a:r>
          </a:p>
        </p:txBody>
      </p:sp>
      <p:sp>
        <p:nvSpPr>
          <p:cNvPr id="30" name="Rounded Rectangle 2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rover controls two of the six, so one stick drives it and the other is free to aim servos. A submersible controls all six, and an ROV pilot needs both sticks to fly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6168998"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Deadzone and map</a:t>
            </a:r>
          </a:p>
        </p:txBody>
      </p:sp>
      <p:sp>
        <p:nvSpPr>
          <p:cNvPr id="11" name="Rounded Rectangle 10"/>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does the controller actually send?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l3a_controller_check</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Upload it and open the Serial Monitor.</a:t>
            </a:r>
          </a:p>
          <a:p>
            <a:pPr algn="l">
              <a:lnSpc>
                <a:spcPct val="100000"/>
              </a:lnSpc>
              <a:spcAft>
                <a:spcPts val="400"/>
              </a:spcAft>
              <a:defRPr sz="1800" b="0">
                <a:solidFill>
                  <a:srgbClr val="222222"/>
                </a:solidFill>
                <a:latin typeface="Calibri"/>
              </a:defRPr>
            </a:pPr>
            <a:r>
              <a:rPr sz="1800" b="0">
                <a:solidFill>
                  <a:srgbClr val="222222"/>
                </a:solidFill>
                <a:latin typeface="Calibri"/>
              </a:rPr>
              <a:t>2.  Press the PS button on the controller.</a:t>
            </a:r>
          </a:p>
          <a:p>
            <a:pPr algn="l">
              <a:lnSpc>
                <a:spcPct val="100000"/>
              </a:lnSpc>
              <a:spcAft>
                <a:spcPts val="400"/>
              </a:spcAft>
              <a:defRPr sz="1800" b="0">
                <a:solidFill>
                  <a:srgbClr val="222222"/>
                </a:solidFill>
                <a:latin typeface="Calibri"/>
              </a:defRPr>
            </a:pPr>
            <a:r>
              <a:rPr sz="1800" b="0">
                <a:solidFill>
                  <a:srgbClr val="222222"/>
                </a:solidFill>
                <a:latin typeface="Calibri"/>
              </a:rPr>
              <a:t>3.  Press every button in turn and match it to the printed name.</a:t>
            </a:r>
          </a:p>
          <a:p>
            <a:pPr algn="l">
              <a:lnSpc>
                <a:spcPct val="100000"/>
              </a:lnSpc>
              <a:spcAft>
                <a:spcPts val="400"/>
              </a:spcAft>
              <a:defRPr sz="1800" b="0">
                <a:solidFill>
                  <a:srgbClr val="222222"/>
                </a:solidFill>
                <a:latin typeface="Calibri"/>
              </a:defRPr>
            </a:pPr>
            <a:r>
              <a:rPr sz="1800" b="0">
                <a:solidFill>
                  <a:srgbClr val="222222"/>
                </a:solidFill>
                <a:latin typeface="Calibri"/>
              </a:rPr>
              <a:t>4.  Push the left stick fully UP. Positive or negative?</a:t>
            </a:r>
          </a:p>
          <a:p>
            <a:pPr algn="l">
              <a:lnSpc>
                <a:spcPct val="100000"/>
              </a:lnSpc>
              <a:spcAft>
                <a:spcPts val="400"/>
              </a:spcAft>
              <a:defRPr sz="1800" b="0">
                <a:solidFill>
                  <a:srgbClr val="222222"/>
                </a:solidFill>
                <a:latin typeface="Calibri"/>
              </a:defRPr>
            </a:pPr>
            <a:r>
              <a:rPr sz="1800" b="0">
                <a:solidFill>
                  <a:srgbClr val="222222"/>
                </a:solidFill>
                <a:latin typeface="Calibri"/>
              </a:rPr>
              <a:t>5.  Let go of the sticks and DO NOT touch the controller. Does it print exactly 0, or does it drift?</a:t>
            </a:r>
          </a:p>
          <a:p>
            <a:pPr algn="l">
              <a:lnSpc>
                <a:spcPct val="100000"/>
              </a:lnSpc>
              <a:spcAft>
                <a:spcPts val="400"/>
              </a:spcAft>
              <a:defRPr sz="1800" b="0">
                <a:solidFill>
                  <a:srgbClr val="222222"/>
                </a:solidFill>
                <a:latin typeface="Calibri"/>
              </a:defRPr>
            </a:pPr>
            <a:r>
              <a:rPr sz="1800" b="0">
                <a:solidFill>
                  <a:srgbClr val="222222"/>
                </a:solidFill>
                <a:latin typeface="Calibri"/>
              </a:rPr>
              <a:t>6.  Push a stick diagonally. Watch x and y move together.</a:t>
            </a:r>
          </a:p>
          <a:p>
            <a:pPr algn="l">
              <a:lnSpc>
                <a:spcPct val="100000"/>
              </a:lnSpc>
              <a:spcAft>
                <a:spcPts val="400"/>
              </a:spcAft>
              <a:defRPr sz="1800" b="0">
                <a:solidFill>
                  <a:srgbClr val="222222"/>
                </a:solidFill>
                <a:latin typeface="Calibri"/>
              </a:defRPr>
            </a:pPr>
            <a:r>
              <a:rPr sz="1800" b="0">
                <a:solidFill>
                  <a:srgbClr val="222222"/>
                </a:solidFill>
                <a:latin typeface="Calibri"/>
              </a:rPr>
              <a:t>7.  Squeeze L2 slowly. It is not just on or off - watch the number.</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A line for every press, every release, and every stick movement.</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Which way is negative on the Y axis?</a:t>
            </a:r>
          </a:p>
          <a:p>
            <a:pPr algn="l">
              <a:lnSpc>
                <a:spcPct val="100000"/>
              </a:lnSpc>
              <a:spcAft>
                <a:spcPts val="300"/>
              </a:spcAft>
              <a:defRPr sz="2600" b="0">
                <a:solidFill>
                  <a:srgbClr val="222222"/>
                </a:solidFill>
                <a:latin typeface="Calibri"/>
              </a:defRPr>
            </a:pPr>
            <a:r>
              <a:rPr sz="2600" b="0">
                <a:solidFill>
                  <a:srgbClr val="222222"/>
                </a:solidFill>
                <a:latin typeface="Calibri"/>
              </a:rPr>
              <a:t>How far does your stick drift when nobody is touching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believing the stick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Deadzone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 thumbstick that has been thumbed by a hundred students does not come back to exactly zero.</a:t>
            </a:r>
          </a:p>
          <a:p>
            <a:pPr algn="l">
              <a:lnSpc>
                <a:spcPct val="100000"/>
              </a:lnSpc>
              <a:spcAft>
                <a:spcPts val="600"/>
              </a:spcAft>
              <a:defRPr sz="1800" b="0">
                <a:solidFill>
                  <a:srgbClr val="222222"/>
                </a:solidFill>
                <a:latin typeface="Calibri"/>
              </a:defRPr>
            </a:pPr>
            <a:r>
              <a:rPr sz="1800" b="0">
                <a:solidFill>
                  <a:srgbClr val="222222"/>
                </a:solidFill>
                <a:latin typeface="Calibri"/>
              </a:rPr>
              <a:t>You just measured it. Yours probably reads a few counts either side of centre when nobody is touching it.</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If we fed that straight to the motors, the vehicle would creep across the room on its own while the controller sat on the desk. In a classroom with twenty vehicles, that is not a minor annoyance.</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The answer is a DEADZONE: any reading smaller than a threshold is treated as a firm, deliberate zero.</a:t>
            </a:r>
          </a:p>
          <a:p>
            <a:pPr algn="l">
              <a:lnSpc>
                <a:spcPct val="100000"/>
              </a:lnSpc>
              <a:spcAft>
                <a:spcPts val="600"/>
              </a:spcAft>
              <a:defRPr sz="1800" b="0">
                <a:solidFill>
                  <a:srgbClr val="222222"/>
                </a:solidFill>
                <a:latin typeface="Calibri"/>
              </a:defRPr>
            </a:pPr>
            <a:r>
              <a:rPr sz="1800" b="0">
                <a:solidFill>
                  <a:srgbClr val="222222"/>
                </a:solidFill>
                <a:latin typeface="Calibri"/>
              </a:rPr>
              <a:t>On this track the deadzone is 20, which is about 16% of the stick travel.</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Too small and the vehicle creeps. Too big and you waste the stick.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From thumbstick to motor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cxnSp>
        <p:nvCxnSpPr>
          <p:cNvPr id="6" name="Connector 5"/>
          <p:cNvCxnSpPr/>
          <p:nvPr/>
        </p:nvCxnSpPr>
        <p:spPr>
          <a:xfrm>
            <a:off x="1691640" y="4892040"/>
            <a:ext cx="585216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91640" y="1600200"/>
            <a:ext cx="0" cy="329184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691640" y="5001768"/>
            <a:ext cx="585216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stick reading   0  to  127</a:t>
            </a:r>
          </a:p>
        </p:txBody>
      </p:sp>
      <p:sp>
        <p:nvSpPr>
          <p:cNvPr id="9" name="TextBox 8"/>
          <p:cNvSpPr txBox="1"/>
          <p:nvPr/>
        </p:nvSpPr>
        <p:spPr>
          <a:xfrm>
            <a:off x="548640" y="1554480"/>
            <a:ext cx="1051560" cy="950976"/>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motor</a:t>
            </a:r>
          </a:p>
          <a:p>
            <a:pPr algn="r">
              <a:lnSpc>
                <a:spcPct val="100000"/>
              </a:lnSpc>
              <a:spcAft>
                <a:spcPts val="0"/>
              </a:spcAft>
              <a:defRPr sz="1800" b="0">
                <a:solidFill>
                  <a:srgbClr val="666666"/>
                </a:solidFill>
                <a:latin typeface="Calibri"/>
              </a:defRPr>
            </a:pPr>
            <a:r>
              <a:rPr sz="1800" b="0">
                <a:solidFill>
                  <a:srgbClr val="666666"/>
                </a:solidFill>
                <a:latin typeface="Calibri"/>
              </a:rPr>
              <a:t>speed</a:t>
            </a:r>
          </a:p>
          <a:p>
            <a:pPr algn="r">
              <a:lnSpc>
                <a:spcPct val="100000"/>
              </a:lnSpc>
              <a:spcAft>
                <a:spcPts val="0"/>
              </a:spcAft>
              <a:defRPr sz="1800" b="0">
                <a:solidFill>
                  <a:srgbClr val="666666"/>
                </a:solidFill>
                <a:latin typeface="Calibri"/>
              </a:defRPr>
            </a:pPr>
            <a:r>
              <a:rPr sz="1800" b="0">
                <a:solidFill>
                  <a:srgbClr val="666666"/>
                </a:solidFill>
                <a:latin typeface="Calibri"/>
              </a:rPr>
              <a:t>0 to 255</a:t>
            </a:r>
          </a:p>
        </p:txBody>
      </p:sp>
      <p:sp>
        <p:nvSpPr>
          <p:cNvPr id="10" name="Rectangle 9"/>
          <p:cNvSpPr/>
          <p:nvPr/>
        </p:nvSpPr>
        <p:spPr>
          <a:xfrm>
            <a:off x="1691640" y="1600200"/>
            <a:ext cx="921600" cy="3291840"/>
          </a:xfrm>
          <a:prstGeom prst="rect">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 name="Connector 10"/>
          <p:cNvCxnSpPr/>
          <p:nvPr/>
        </p:nvCxnSpPr>
        <p:spPr>
          <a:xfrm>
            <a:off x="1691640" y="4892040"/>
            <a:ext cx="921600" cy="0"/>
          </a:xfrm>
          <a:prstGeom prst="line">
            <a:avLst/>
          </a:prstGeom>
          <a:ln w="3810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613240" y="1600200"/>
            <a:ext cx="4930560" cy="3291840"/>
          </a:xfrm>
          <a:prstGeom prst="line">
            <a:avLst/>
          </a:prstGeom>
          <a:ln w="38100">
            <a:solidFill>
              <a:srgbClr val="0E7C8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691640" y="1216152"/>
            <a:ext cx="1470240" cy="646684"/>
          </a:xfrm>
          <a:prstGeom prst="rect">
            <a:avLst/>
          </a:prstGeom>
          <a:noFill/>
        </p:spPr>
        <p:txBody>
          <a:bodyPr wrap="square" lIns="0" tIns="0" rIns="0" bIns="0">
            <a:spAutoFit/>
          </a:bodyPr>
          <a:lstStyle/>
          <a:p>
            <a:pPr algn="ctr">
              <a:lnSpc>
                <a:spcPct val="100000"/>
              </a:lnSpc>
              <a:spcAft>
                <a:spcPts val="0"/>
              </a:spcAft>
              <a:defRPr sz="1800" b="1">
                <a:solidFill>
                  <a:srgbClr val="A32A2A"/>
                </a:solidFill>
                <a:latin typeface="Calibri"/>
              </a:defRPr>
            </a:pPr>
            <a:r>
              <a:rPr sz="1800" b="1">
                <a:solidFill>
                  <a:srgbClr val="A32A2A"/>
                </a:solidFill>
                <a:latin typeface="Calibri"/>
              </a:rPr>
              <a:t>DEADZONE</a:t>
            </a:r>
            <a:br/>
            <a:r>
              <a:rPr sz="1800" b="1">
                <a:solidFill>
                  <a:srgbClr val="A32A2A"/>
                </a:solidFill>
                <a:latin typeface="Calibri"/>
              </a:rPr>
              <a:t>answer is 0</a:t>
            </a:r>
          </a:p>
        </p:txBody>
      </p:sp>
      <p:sp>
        <p:nvSpPr>
          <p:cNvPr id="14" name="TextBox 13"/>
          <p:cNvSpPr txBox="1"/>
          <p:nvPr/>
        </p:nvSpPr>
        <p:spPr>
          <a:xfrm>
            <a:off x="2887560" y="1691640"/>
            <a:ext cx="365760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map() stretches what is left</a:t>
            </a:r>
            <a:br/>
            <a:r>
              <a:rPr sz="1800" b="1">
                <a:solidFill>
                  <a:srgbClr val="0E7C86"/>
                </a:solidFill>
                <a:latin typeface="Calibri"/>
              </a:rPr>
              <a:t>across the whole speed range</a:t>
            </a:r>
          </a:p>
        </p:txBody>
      </p:sp>
      <p:sp>
        <p:nvSpPr>
          <p:cNvPr id="15" name="TextBox 14"/>
          <p:cNvSpPr txBox="1"/>
          <p:nvPr/>
        </p:nvSpPr>
        <p:spPr>
          <a:xfrm>
            <a:off x="2156040" y="5221224"/>
            <a:ext cx="1097280" cy="367792"/>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onsolas"/>
              </a:defRPr>
            </a:pPr>
            <a:r>
              <a:rPr sz="1800" b="0">
                <a:solidFill>
                  <a:srgbClr val="A32A2A"/>
                </a:solidFill>
                <a:latin typeface="Consolas"/>
              </a:rPr>
              <a:t>20</a:t>
            </a:r>
          </a:p>
        </p:txBody>
      </p:sp>
      <p:sp>
        <p:nvSpPr>
          <p:cNvPr id="16" name="TextBox 15"/>
          <p:cNvSpPr txBox="1"/>
          <p:nvPr/>
        </p:nvSpPr>
        <p:spPr>
          <a:xfrm>
            <a:off x="8595360" y="1325880"/>
            <a:ext cx="32918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stickToSpeed()</a:t>
            </a:r>
          </a:p>
        </p:txBody>
      </p:sp>
      <p:sp>
        <p:nvSpPr>
          <p:cNvPr id="17" name="Rectangle 16"/>
          <p:cNvSpPr/>
          <p:nvPr/>
        </p:nvSpPr>
        <p:spPr>
          <a:xfrm>
            <a:off x="8595360" y="1691640"/>
            <a:ext cx="3291840" cy="22860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if (abs(v) &lt; DEADZONE)</a:t>
            </a:r>
          </a:p>
          <a:p>
            <a:pPr algn="l">
              <a:lnSpc>
                <a:spcPct val="100000"/>
              </a:lnSpc>
              <a:spcAft>
                <a:spcPts val="0"/>
              </a:spcAft>
              <a:defRPr sz="1400" b="0">
                <a:solidFill>
                  <a:srgbClr val="222222"/>
                </a:solidFill>
                <a:latin typeface="Consolas"/>
              </a:defRPr>
            </a:pPr>
            <a:r>
              <a:rPr sz="1400" b="0">
                <a:solidFill>
                  <a:srgbClr val="222222"/>
                </a:solidFill>
                <a:latin typeface="Consolas"/>
              </a:rPr>
              <a:t>    return 0;</a:t>
            </a:r>
          </a:p>
          <a:p>
            <a:pPr algn="l">
              <a:lnSpc>
                <a:spcPct val="100000"/>
              </a:lnSpc>
              <a:spcAft>
                <a:spcPts val="0"/>
              </a:spcAft>
              <a:defRPr sz="14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size = map(abs(v),</a:t>
            </a:r>
          </a:p>
          <a:p>
            <a:pPr algn="l">
              <a:lnSpc>
                <a:spcPct val="100000"/>
              </a:lnSpc>
              <a:spcAft>
                <a:spcPts val="0"/>
              </a:spcAft>
              <a:defRPr sz="1400" b="0">
                <a:solidFill>
                  <a:srgbClr val="222222"/>
                </a:solidFill>
                <a:latin typeface="Consolas"/>
              </a:defRPr>
            </a:pPr>
            <a:r>
              <a:rPr sz="1400" b="0">
                <a:solidFill>
                  <a:srgbClr val="222222"/>
                </a:solidFill>
                <a:latin typeface="Consolas"/>
              </a:rPr>
              <a:t>           DEADZONE, 127,</a:t>
            </a:r>
          </a:p>
          <a:p>
            <a:pPr algn="l">
              <a:lnSpc>
                <a:spcPct val="100000"/>
              </a:lnSpc>
              <a:spcAft>
                <a:spcPts val="0"/>
              </a:spcAft>
              <a:defRPr sz="1400" b="0">
                <a:solidFill>
                  <a:srgbClr val="222222"/>
                </a:solidFill>
                <a:latin typeface="Consolas"/>
              </a:defRPr>
            </a:pPr>
            <a:r>
              <a:rPr sz="1400" b="0">
                <a:solidFill>
                  <a:srgbClr val="222222"/>
                </a:solidFill>
                <a:latin typeface="Consolas"/>
              </a:rPr>
              <a:t>           MOTOR_MIN, maxSpeed);</a:t>
            </a:r>
          </a:p>
          <a:p>
            <a:pPr algn="l">
              <a:lnSpc>
                <a:spcPct val="100000"/>
              </a:lnSpc>
              <a:spcAft>
                <a:spcPts val="0"/>
              </a:spcAft>
              <a:defRPr sz="14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return (v &gt; 0) ? size</a:t>
            </a:r>
          </a:p>
          <a:p>
            <a:pPr algn="l">
              <a:lnSpc>
                <a:spcPct val="100000"/>
              </a:lnSpc>
              <a:spcAft>
                <a:spcPts val="0"/>
              </a:spcAft>
              <a:defRPr sz="1400" b="0">
                <a:solidFill>
                  <a:srgbClr val="222222"/>
                </a:solidFill>
                <a:latin typeface="Consolas"/>
              </a:defRPr>
            </a:pPr>
            <a:r>
              <a:rPr sz="1400" b="0">
                <a:solidFill>
                  <a:srgbClr val="222222"/>
                </a:solidFill>
                <a:latin typeface="Consolas"/>
              </a:rPr>
              <a:t>                : -size;</a:t>
            </a:r>
          </a:p>
        </p:txBody>
      </p:sp>
      <p:sp>
        <p:nvSpPr>
          <p:cNvPr id="18" name="TextBox 17"/>
          <p:cNvSpPr txBox="1"/>
          <p:nvPr/>
        </p:nvSpPr>
        <p:spPr>
          <a:xfrm>
            <a:off x="8595360" y="4160520"/>
            <a:ext cx="3291840"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Why a deadzone at all?</a:t>
            </a:r>
          </a:p>
          <a:p>
            <a:pPr algn="l">
              <a:lnSpc>
                <a:spcPct val="100000"/>
              </a:lnSpc>
              <a:spcAft>
                <a:spcPts val="0"/>
              </a:spcAft>
              <a:defRPr sz="1800" b="0">
                <a:solidFill>
                  <a:srgbClr val="222222"/>
                </a:solidFill>
                <a:latin typeface="Calibri"/>
              </a:defRPr>
            </a:pPr>
            <a:r>
              <a:rPr sz="1800" b="0">
                <a:solidFill>
                  <a:srgbClr val="222222"/>
                </a:solidFill>
                <a:latin typeface="Calibri"/>
              </a:rPr>
              <a:t>A worn stick does not return</a:t>
            </a:r>
          </a:p>
          <a:p>
            <a:pPr algn="l">
              <a:lnSpc>
                <a:spcPct val="100000"/>
              </a:lnSpc>
              <a:spcAft>
                <a:spcPts val="0"/>
              </a:spcAft>
              <a:defRPr sz="1800" b="0">
                <a:solidFill>
                  <a:srgbClr val="222222"/>
                </a:solidFill>
                <a:latin typeface="Calibri"/>
              </a:defRPr>
            </a:pPr>
            <a:r>
              <a:rPr sz="1800" b="0">
                <a:solidFill>
                  <a:srgbClr val="222222"/>
                </a:solidFill>
                <a:latin typeface="Calibri"/>
              </a:rPr>
              <a:t>to exactly zero. Without this</a:t>
            </a:r>
          </a:p>
          <a:p>
            <a:pPr algn="l">
              <a:lnSpc>
                <a:spcPct val="100000"/>
              </a:lnSpc>
              <a:spcAft>
                <a:spcPts val="0"/>
              </a:spcAft>
              <a:defRPr sz="1800" b="0">
                <a:solidFill>
                  <a:srgbClr val="222222"/>
                </a:solidFill>
                <a:latin typeface="Calibri"/>
              </a:defRPr>
            </a:pPr>
            <a:r>
              <a:rPr sz="1800" b="0">
                <a:solidFill>
                  <a:srgbClr val="222222"/>
                </a:solidFill>
                <a:latin typeface="Calibri"/>
              </a:rPr>
              <a:t>the vehicle creeps away on</a:t>
            </a:r>
          </a:p>
          <a:p>
            <a:pPr algn="l">
              <a:lnSpc>
                <a:spcPct val="100000"/>
              </a:lnSpc>
              <a:spcAft>
                <a:spcPts val="0"/>
              </a:spcAft>
              <a:defRPr sz="1800" b="0">
                <a:solidFill>
                  <a:srgbClr val="222222"/>
                </a:solidFill>
                <a:latin typeface="Calibri"/>
              </a:defRPr>
            </a:pPr>
            <a:r>
              <a:rPr sz="1800" b="0">
                <a:solidFill>
                  <a:srgbClr val="222222"/>
                </a:solidFill>
                <a:latin typeface="Calibri"/>
              </a:rPr>
              <a:t>its own.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map()  -  the most useful function in the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idea, and how the program uses it</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50">
                <a:latin typeface="Consolas"/>
              </a:defRPr>
            </a:pPr>
            <a:r>
              <a:rPr sz="1650">
                <a:solidFill>
                  <a:srgbClr val="222222"/>
                </a:solidFill>
                <a:latin typeface="Consolas"/>
              </a:rPr>
              <a:t>map(value, fromLow, fromHigh, toLow,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"value sits somewhere between fromLow and fromHigh.</a:t>
            </a:r>
          </a:p>
          <a:p>
            <a:pPr algn="l">
              <a:lnSpc>
                <a:spcPct val="100000"/>
              </a:lnSpc>
              <a:spcAft>
                <a:spcPts val="0"/>
              </a:spcAft>
              <a:defRPr sz="1650">
                <a:latin typeface="Consolas"/>
              </a:defRPr>
            </a:pPr>
            <a:r>
              <a:rPr sz="1650">
                <a:solidFill>
                  <a:srgbClr val="666666"/>
                </a:solidFill>
                <a:latin typeface="Consolas"/>
              </a:rPr>
              <a:t>//  Where does it sit between toLow and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222222"/>
                </a:solidFill>
                <a:latin typeface="Consolas"/>
              </a:rPr>
              <a:t>map(0,   0, 127, 0, 255)   -&gt;    0</a:t>
            </a:r>
          </a:p>
          <a:p>
            <a:pPr algn="l">
              <a:lnSpc>
                <a:spcPct val="100000"/>
              </a:lnSpc>
              <a:spcAft>
                <a:spcPts val="0"/>
              </a:spcAft>
              <a:defRPr sz="1650">
                <a:latin typeface="Consolas"/>
              </a:defRPr>
            </a:pPr>
            <a:r>
              <a:rPr sz="1650">
                <a:solidFill>
                  <a:srgbClr val="222222"/>
                </a:solidFill>
                <a:latin typeface="Consolas"/>
              </a:rPr>
              <a:t>map(63, 0, 63, 0, 255)   -&gt;  127</a:t>
            </a:r>
          </a:p>
          <a:p>
            <a:pPr algn="l">
              <a:lnSpc>
                <a:spcPct val="100000"/>
              </a:lnSpc>
              <a:spcAft>
                <a:spcPts val="0"/>
              </a:spcAft>
              <a:defRPr sz="1650">
                <a:latin typeface="Consolas"/>
              </a:defRPr>
            </a:pPr>
            <a:r>
              <a:rPr sz="1650">
                <a:solidFill>
                  <a:srgbClr val="222222"/>
                </a:solidFill>
                <a:latin typeface="Consolas"/>
              </a:rPr>
              <a:t>map(127, 0, 127, 0, 255)   -&gt;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In stickToSpeed the low end is the DEADZONE, not zero,</a:t>
            </a:r>
          </a:p>
          <a:p>
            <a:pPr algn="l">
              <a:lnSpc>
                <a:spcPct val="100000"/>
              </a:lnSpc>
              <a:spcAft>
                <a:spcPts val="0"/>
              </a:spcAft>
              <a:defRPr sz="1650">
                <a:latin typeface="Consolas"/>
              </a:defRPr>
            </a:pPr>
            <a:r>
              <a:rPr sz="1650">
                <a:solidFill>
                  <a:srgbClr val="666666"/>
                </a:solidFill>
                <a:latin typeface="Consolas"/>
              </a:rPr>
              <a:t>// so the leftover travel is stretched across the whole</a:t>
            </a:r>
          </a:p>
          <a:p>
            <a:pPr algn="l">
              <a:lnSpc>
                <a:spcPct val="100000"/>
              </a:lnSpc>
              <a:spcAft>
                <a:spcPts val="0"/>
              </a:spcAft>
              <a:defRPr sz="1650">
                <a:latin typeface="Consolas"/>
              </a:defRPr>
            </a:pPr>
            <a:r>
              <a:rPr sz="1650">
                <a:solidFill>
                  <a:srgbClr val="666666"/>
                </a:solidFill>
                <a:latin typeface="Consolas"/>
              </a:rPr>
              <a:t>// speed range. Without that you could never reach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b="1">
                <a:solidFill>
                  <a:srgbClr val="0E7C86"/>
                </a:solidFill>
                <a:latin typeface="Consolas"/>
              </a:rPr>
              <a:t>size = map(abs(v), 20, 127, MOTOR_MIN, maxSpeed);</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map() is just proportion. Nothing more.</a:t>
            </a:r>
          </a:p>
          <a:p>
            <a:pPr algn="l">
              <a:lnSpc>
                <a:spcPct val="100000"/>
              </a:lnSpc>
              <a:spcAft>
                <a:spcPts val="700"/>
              </a:spcAft>
              <a:defRPr sz="2100" b="0">
                <a:solidFill>
                  <a:srgbClr val="222222"/>
                </a:solidFill>
                <a:latin typeface="Calibri"/>
              </a:defRPr>
            </a:pPr>
            <a:r>
              <a:rPr sz="2100" b="0">
                <a:solidFill>
                  <a:srgbClr val="222222"/>
                </a:solidFill>
                <a:latin typeface="Calibri"/>
              </a:rPr>
              <a:t>It does NOT clamp. Feed it something outside the input range and you get something outside the output range, which is why the program calls constrain() straight afterwards.</a:t>
            </a:r>
          </a:p>
          <a:p>
            <a:pPr algn="l">
              <a:lnSpc>
                <a:spcPct val="100000"/>
              </a:lnSpc>
              <a:spcAft>
                <a:spcPts val="700"/>
              </a:spcAft>
              <a:defRPr sz="2100" b="0">
                <a:solidFill>
                  <a:srgbClr val="222222"/>
                </a:solidFill>
                <a:latin typeface="Calibri"/>
              </a:defRPr>
            </a:pPr>
            <a:r>
              <a:rPr sz="2100" b="0">
                <a:solidFill>
                  <a:srgbClr val="222222"/>
                </a:solidFill>
                <a:latin typeface="Calibri"/>
              </a:rPr>
              <a:t>abs() throws away the sign, so we map the SIZE of the push and put the direction back at the end.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Deadzone and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watch the arithmetic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l3b_deadzone_and_map</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Upload it. Nothing moves - this is print only.</a:t>
            </a:r>
          </a:p>
          <a:p>
            <a:pPr algn="l">
              <a:lnSpc>
                <a:spcPct val="100000"/>
              </a:lnSpc>
              <a:spcAft>
                <a:spcPts val="800"/>
              </a:spcAft>
              <a:defRPr sz="1800" b="0">
                <a:solidFill>
                  <a:srgbClr val="222222"/>
                </a:solidFill>
                <a:latin typeface="Calibri"/>
              </a:defRPr>
            </a:pPr>
            <a:r>
              <a:rPr sz="1800" b="0">
                <a:solidFill>
                  <a:srgbClr val="222222"/>
                </a:solidFill>
                <a:latin typeface="Calibri"/>
              </a:rPr>
              <a:t>2.  Push the stick VERY slowly from centre to full forward. Watch both columns. Where does the speed stop being 0?</a:t>
            </a:r>
          </a:p>
          <a:p>
            <a:pPr algn="l">
              <a:lnSpc>
                <a:spcPct val="100000"/>
              </a:lnSpc>
              <a:spcAft>
                <a:spcPts val="800"/>
              </a:spcAft>
              <a:defRPr sz="1800" b="0">
                <a:solidFill>
                  <a:srgbClr val="222222"/>
                </a:solidFill>
                <a:latin typeface="Calibri"/>
              </a:defRPr>
            </a:pPr>
            <a:r>
              <a:rPr sz="1800" b="0">
                <a:solidFill>
                  <a:srgbClr val="222222"/>
                </a:solidFill>
                <a:latin typeface="Calibri"/>
              </a:rPr>
              <a:t>3.  Set STICK_DEADZONE to 0. Upload. Put the controller down and do not touch it. Does the speed stay at 0?</a:t>
            </a:r>
          </a:p>
          <a:p>
            <a:pPr algn="l">
              <a:lnSpc>
                <a:spcPct val="100000"/>
              </a:lnSpc>
              <a:spcAft>
                <a:spcPts val="800"/>
              </a:spcAft>
              <a:defRPr sz="1800" b="0">
                <a:solidFill>
                  <a:srgbClr val="222222"/>
                </a:solidFill>
                <a:latin typeface="Calibri"/>
              </a:defRPr>
            </a:pPr>
            <a:r>
              <a:rPr sz="1800" b="0">
                <a:solidFill>
                  <a:srgbClr val="222222"/>
                </a:solidFill>
                <a:latin typeface="Calibri"/>
              </a:rPr>
              <a:t>4.  Set it to 101. How much of the stick is now wasted?</a:t>
            </a:r>
          </a:p>
          <a:p>
            <a:pPr algn="l">
              <a:lnSpc>
                <a:spcPct val="100000"/>
              </a:lnSpc>
              <a:spcAft>
                <a:spcPts val="800"/>
              </a:spcAft>
              <a:defRPr sz="1800" b="0">
                <a:solidFill>
                  <a:srgbClr val="222222"/>
                </a:solidFill>
                <a:latin typeface="Calibri"/>
              </a:defRPr>
            </a:pPr>
            <a:r>
              <a:rPr sz="1800" b="0">
                <a:solidFill>
                  <a:srgbClr val="222222"/>
                </a:solidFill>
                <a:latin typeface="Calibri"/>
              </a:rPr>
              <a:t>5.  Put it back. Now set MOTOR_MIN to 60 and watch what happens the instant you leave the deadzone.</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Two columns: the raw number from the controller, and the motor speed it turns into.</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With the deadzone at 0, what does the vehicle do when nobody is holding the controller?</a:t>
            </a:r>
          </a:p>
          <a:p>
            <a:pPr algn="l">
              <a:lnSpc>
                <a:spcPct val="100000"/>
              </a:lnSpc>
              <a:spcAft>
                <a:spcPts val="300"/>
              </a:spcAft>
              <a:defRPr sz="2000" b="0">
                <a:solidFill>
                  <a:srgbClr val="222222"/>
                </a:solidFill>
                <a:latin typeface="Calibri"/>
              </a:defRPr>
            </a:pPr>
            <a:r>
              <a:rPr sz="2000" b="0">
                <a:solidFill>
                  <a:srgbClr val="222222"/>
                </a:solidFill>
                <a:latin typeface="Calibri"/>
              </a:rPr>
              <a:t>What does MOTOR_MIN = 60 change, and when would you want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and why steering has its own limit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Full speed forwards, half speed steering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left = forward + turn        right = forward - turn</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Driving gets the full MOTOR_MAX of 255.</a:t>
            </a:r>
          </a:p>
          <a:p>
            <a:pPr algn="l">
              <a:lnSpc>
                <a:spcPct val="100000"/>
              </a:lnSpc>
              <a:spcAft>
                <a:spcPts val="600"/>
              </a:spcAft>
              <a:defRPr sz="1800" b="0">
                <a:solidFill>
                  <a:srgbClr val="222222"/>
                </a:solidFill>
                <a:latin typeface="Calibri"/>
              </a:defRPr>
            </a:pPr>
            <a:r>
              <a:rPr sz="1800" b="0">
                <a:solidFill>
                  <a:srgbClr val="222222"/>
                </a:solidFill>
                <a:latin typeface="Calibri"/>
              </a:rPr>
              <a:t>Steering gets turnMax, which is HALF of that by default.</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Why? Because at full power a small nudge sideways spins the vehicle faster than anybody can correct for. Half-power steering makes it controllable without making it slow.</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The full program lets you switch between the two with L3 (click the left stick in). Sharp mode is for spinning on the spot deliberately; normal mode is for actually getting somewhere.</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constrain() catches the overflow. forward 200 plus turn 60 is 260, which is more than a motor can take.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l3c_tank_drive  -  the whole of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l3c_tank_drive.ino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b="1">
                <a:solidFill>
                  <a:srgbClr val="0E7C86"/>
                </a:solidFill>
                <a:latin typeface="Consolas"/>
              </a:rPr>
              <a:t>  if (!Ps3.isConnected()) {</a:t>
            </a:r>
          </a:p>
          <a:p>
            <a:pPr algn="l">
              <a:lnSpc>
                <a:spcPct val="100000"/>
              </a:lnSpc>
              <a:spcAft>
                <a:spcPts val="0"/>
              </a:spcAft>
              <a:defRPr sz="1400">
                <a:latin typeface="Consolas"/>
              </a:defRPr>
            </a:pPr>
            <a:r>
              <a:rPr sz="1400" b="1">
                <a:solidFill>
                  <a:srgbClr val="0E7C86"/>
                </a:solidFill>
                <a:latin typeface="Consolas"/>
              </a:rPr>
              <a:t>    drive(0, 0);        // never drive without a controller</a:t>
            </a:r>
          </a:p>
          <a:p>
            <a:pPr algn="l">
              <a:lnSpc>
                <a:spcPct val="100000"/>
              </a:lnSpc>
              <a:spcAft>
                <a:spcPts val="0"/>
              </a:spcAft>
              <a:defRPr sz="1400">
                <a:latin typeface="Consolas"/>
              </a:defRPr>
            </a:pPr>
            <a:r>
              <a:rPr sz="1400" b="1">
                <a:solidFill>
                  <a:srgbClr val="0E7C86"/>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leftStickX = Ps3.data.analog.stick.lx;</a:t>
            </a:r>
          </a:p>
          <a:p>
            <a:pPr algn="l">
              <a:lnSpc>
                <a:spcPct val="100000"/>
              </a:lnSpc>
              <a:spcAft>
                <a:spcPts val="0"/>
              </a:spcAft>
              <a:defRPr sz="1400">
                <a:latin typeface="Consolas"/>
              </a:defRPr>
            </a:pPr>
            <a:r>
              <a:rPr sz="1400">
                <a:solidFill>
                  <a:srgbClr val="222222"/>
                </a:solidFill>
                <a:latin typeface="Consolas"/>
              </a:rPr>
              <a:t>  int leftStickY = Ps3.data.analog.stick.ly;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b="1">
                <a:solidFill>
                  <a:srgbClr val="0E7C86"/>
                </a:solidFill>
                <a:latin typeface="Consolas"/>
              </a:rPr>
              <a:t>  int forward = stickToSpeed(-leftStickY, MOTOR_MAX);</a:t>
            </a:r>
          </a:p>
          <a:p>
            <a:pPr algn="l">
              <a:lnSpc>
                <a:spcPct val="100000"/>
              </a:lnSpc>
              <a:spcAft>
                <a:spcPts val="0"/>
              </a:spcAft>
              <a:defRPr sz="1400">
                <a:latin typeface="Consolas"/>
              </a:defRPr>
            </a:pPr>
            <a:r>
              <a:rPr sz="1400" b="1">
                <a:solidFill>
                  <a:srgbClr val="0E7C86"/>
                </a:solidFill>
                <a:latin typeface="Consolas"/>
              </a:rPr>
              <a:t>  int turn    = stickToSpeed(leftStickX,  turnMax);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leftSpeed  = constrain(forward + turn, -MOTOR_MAX, MOTOR_MAX);</a:t>
            </a:r>
          </a:p>
          <a:p>
            <a:pPr algn="l">
              <a:lnSpc>
                <a:spcPct val="100000"/>
              </a:lnSpc>
              <a:spcAft>
                <a:spcPts val="0"/>
              </a:spcAft>
              <a:defRPr sz="1400">
                <a:latin typeface="Consolas"/>
              </a:defRPr>
            </a:pPr>
            <a:r>
              <a:rPr sz="1400">
                <a:solidFill>
                  <a:srgbClr val="222222"/>
                </a:solidFill>
                <a:latin typeface="Consolas"/>
              </a:rPr>
              <a:t>  int rightSpeed = constrain(forward - turn, -MOTOR_MAX, MOTOR_MAX);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drive(leftSpeed, rightSpeed);</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Read the first four lines again. If there is no controller, the motors stop and we go round again. That is the FAILSAFE, and it is the most important part of the program.</a:t>
            </a:r>
          </a:p>
          <a:p>
            <a:pPr algn="l">
              <a:lnSpc>
                <a:spcPct val="100000"/>
              </a:lnSpc>
              <a:spcAft>
                <a:spcPts val="700"/>
              </a:spcAft>
              <a:defRPr sz="2100" b="0">
                <a:solidFill>
                  <a:srgbClr val="222222"/>
                </a:solidFill>
                <a:latin typeface="Calibri"/>
              </a:defRPr>
            </a:pPr>
            <a:r>
              <a:rPr sz="2100" b="0">
                <a:solidFill>
                  <a:srgbClr val="222222"/>
                </a:solidFill>
                <a:latin typeface="Calibri"/>
              </a:rPr>
              <a:t>Note the minus sign on leftStickY. Up is negative.</a:t>
            </a:r>
          </a:p>
          <a:p>
            <a:pPr algn="l">
              <a:lnSpc>
                <a:spcPct val="100000"/>
              </a:lnSpc>
              <a:spcAft>
                <a:spcPts val="700"/>
              </a:spcAft>
              <a:defRPr sz="2100" b="0">
                <a:solidFill>
                  <a:srgbClr val="222222"/>
                </a:solidFill>
                <a:latin typeface="Calibri"/>
              </a:defRPr>
            </a:pPr>
            <a:r>
              <a:rPr sz="2100" b="0">
                <a:solidFill>
                  <a:srgbClr val="222222"/>
                </a:solidFill>
                <a:latin typeface="Calibri"/>
              </a:rPr>
              <a:t>Driving gets MOTOR_MAX; steering gets turnMax.</a:t>
            </a:r>
          </a:p>
          <a:p>
            <a:pPr algn="l">
              <a:lnSpc>
                <a:spcPct val="100000"/>
              </a:lnSpc>
              <a:spcAft>
                <a:spcPts val="700"/>
              </a:spcAft>
              <a:defRPr sz="2100" b="0">
                <a:solidFill>
                  <a:srgbClr val="222222"/>
                </a:solidFill>
                <a:latin typeface="Calibri"/>
              </a:defRPr>
            </a:pPr>
            <a:r>
              <a:rPr sz="2100" b="0">
                <a:solidFill>
                  <a:srgbClr val="222222"/>
                </a:solidFill>
                <a:latin typeface="Calibri"/>
              </a:rPr>
              <a:t>Everything else you have already seen.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Deadzone and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9002037"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Driving it</a:t>
            </a:r>
          </a:p>
        </p:txBody>
      </p:sp>
      <p:sp>
        <p:nvSpPr>
          <p:cNvPr id="13" name="TextBox 12"/>
          <p:cNvSpPr txBox="1"/>
          <p:nvPr/>
        </p:nvSpPr>
        <p:spPr>
          <a:xfrm>
            <a:off x="9002037"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r>
              <a:rPr sz="1200">
                <a:solidFill>
                  <a:srgbClr val="FFFFFF"/>
                </a:solidFill>
                <a:latin typeface="Calibri"/>
              </a:rPr>
              <a:t>     (30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off the ground. Upload. Check that up is forward and right is right BEFORE you put it down.</a:t>
            </a:r>
          </a:p>
          <a:p>
            <a:pPr algn="l">
              <a:lnSpc>
                <a:spcPct val="100000"/>
              </a:lnSpc>
              <a:spcAft>
                <a:spcPts val="800"/>
              </a:spcAft>
              <a:defRPr sz="1800" b="0">
                <a:solidFill>
                  <a:srgbClr val="222222"/>
                </a:solidFill>
                <a:latin typeface="Calibri"/>
              </a:defRPr>
            </a:pPr>
            <a:r>
              <a:rPr sz="1800" b="0">
                <a:solidFill>
                  <a:srgbClr val="222222"/>
                </a:solidFill>
                <a:latin typeface="Calibri"/>
              </a:rPr>
              <a:t>2.  Now put it on the floor in a clear space and drive.</a:t>
            </a:r>
          </a:p>
          <a:p>
            <a:pPr algn="l">
              <a:lnSpc>
                <a:spcPct val="100000"/>
              </a:lnSpc>
              <a:spcAft>
                <a:spcPts val="800"/>
              </a:spcAft>
              <a:defRPr sz="1800" b="0">
                <a:solidFill>
                  <a:srgbClr val="222222"/>
                </a:solidFill>
                <a:latin typeface="Calibri"/>
              </a:defRPr>
            </a:pPr>
            <a:r>
              <a:rPr sz="1800" b="0">
                <a:solidFill>
                  <a:srgbClr val="222222"/>
                </a:solidFill>
                <a:latin typeface="Calibri"/>
              </a:rPr>
              <a:t>3.  While driving, switch the controller off. What happens?</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A vehicle that goes where you point it.</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600"/>
              </a:spcAft>
              <a:defRPr sz="2900" b="0">
                <a:solidFill>
                  <a:srgbClr val="222222"/>
                </a:solidFill>
                <a:latin typeface="Calibri"/>
              </a:defRPr>
            </a:pPr>
            <a:r>
              <a:rPr sz="2900" b="0">
                <a:solidFill>
                  <a:srgbClr val="222222"/>
                </a:solidFill>
                <a:latin typeface="Calibri"/>
              </a:rPr>
              <a:t>What happened when the controller switched off, and which four lines made that happen?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p>
        </p:txBody>
      </p:sp>
      <p:sp>
        <p:nvSpPr>
          <p:cNvPr id="7" name="TextBox 6"/>
          <p:cNvSpPr txBox="1"/>
          <p:nvPr/>
        </p:nvSpPr>
        <p:spPr>
          <a:xfrm>
            <a:off x="502920" y="1901952"/>
            <a:ext cx="11185855" cy="317296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4.  Set turnMax to MOTOR_MAX and drive again. Which is easier?</a:t>
            </a:r>
          </a:p>
          <a:p>
            <a:pPr algn="l">
              <a:lnSpc>
                <a:spcPct val="100000"/>
              </a:lnSpc>
              <a:spcAft>
                <a:spcPts val="800"/>
              </a:spcAft>
              <a:defRPr sz="1800" b="0">
                <a:solidFill>
                  <a:srgbClr val="222222"/>
                </a:solidFill>
                <a:latin typeface="Calibri"/>
              </a:defRPr>
            </a:pPr>
            <a:r>
              <a:rPr sz="1800" b="0">
                <a:solidFill>
                  <a:srgbClr val="222222"/>
                </a:solidFill>
                <a:latin typeface="Calibri"/>
              </a:rPr>
              <a:t>5.  Swap the + and the - in the mixing lines and drive. What is wrong now?</a:t>
            </a:r>
          </a:p>
          <a:p>
            <a:pPr algn="l">
              <a:lnSpc>
                <a:spcPct val="100000"/>
              </a:lnSpc>
              <a:spcAft>
                <a:spcPts val="800"/>
              </a:spcAft>
              <a:defRPr sz="1800" b="0">
                <a:solidFill>
                  <a:srgbClr val="222222"/>
                </a:solidFill>
                <a:latin typeface="Calibri"/>
              </a:defRPr>
            </a:pPr>
            <a:r>
              <a:rPr sz="1800" b="0">
                <a:solidFill>
                  <a:srgbClr val="222222"/>
                </a:solidFill>
                <a:latin typeface="Calibri"/>
              </a:rPr>
              <a:t>6.  Try  right = forward  with no turn term at all. Why is that a worse way to steer?</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Check the controls with the wheels off the ground first. Every time you upload a change.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Failsafe: what a robot does when it stops hearing you</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 radio link is not reliable. Batteries go flat, people walk between the pad and the vehicle, controllers get switched off.</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The only safe behaviour is to STOP. Not carry on with the last command, and not do something clever.</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Three lines at the top of loop() do it:</a:t>
            </a:r>
          </a:p>
          <a:p>
            <a:pPr lvl="1" algn="l">
              <a:lnSpc>
                <a:spcPct val="100000"/>
              </a:lnSpc>
              <a:spcAft>
                <a:spcPts val="900"/>
              </a:spcAft>
              <a:defRPr sz="2000" b="0">
                <a:solidFill>
                  <a:srgbClr val="222222"/>
                </a:solidFill>
                <a:latin typeface="Calibri"/>
              </a:defRPr>
            </a:pPr>
            <a:r>
              <a:rPr sz="2000" b="0">
                <a:solidFill>
                  <a:srgbClr val="222222"/>
                </a:solidFill>
                <a:latin typeface="Calibri"/>
              </a:rPr>
              <a:t>if (!connected) { drive(0, 0); return; }</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This is not a Pathfinder detail. Every unmanned vehicle has a failsafe, and what it should do when the link drops is a real engineering decision. A drone hovers, or returns home. A submersible surfaces. A ground vehicle stops.</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Ask yourself, on any system you build: what happens when the operator disappears?</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If you take one habit away from this course, take this one.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it will not connect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graphicFrame>
        <p:nvGraphicFramePr>
          <p:cNvPr id="6" name="Table 5"/>
          <p:cNvGraphicFramePr>
            <a:graphicFrameLocks noGrp="1"/>
          </p:cNvGraphicFramePr>
          <p:nvPr/>
        </p:nvGraphicFramePr>
        <p:xfrm>
          <a:off x="502920" y="1188720"/>
          <a:ext cx="11185854" cy="5073650"/>
        </p:xfrm>
        <a:graphic>
          <a:graphicData uri="http://schemas.openxmlformats.org/drawingml/2006/table">
            <a:tbl>
              <a:tblPr firstRow="1" bandRow="1">
                <a:tableStyleId>{5C22544A-7EE6-4342-B048-85BDC9FD1C3A}</a:tableStyleId>
              </a:tblPr>
              <a:tblGrid>
                <a:gridCol w="3728618"/>
                <a:gridCol w="3195958"/>
                <a:gridCol w="4261278"/>
              </a:tblGrid>
              <a:tr h="724807">
                <a:tc>
                  <a:txBody>
                    <a:bodyPr/>
                    <a:lstStyle/>
                    <a:p>
                      <a:r>
                        <a:rPr sz="2200" b="1">
                          <a:solidFill>
                            <a:srgbClr val="FFFFFF"/>
                          </a:solidFill>
                          <a:latin typeface="Calibri"/>
                        </a:rPr>
                        <a:t>Symptom</a:t>
                      </a:r>
                    </a:p>
                  </a:txBody>
                  <a:tcPr marL="73152" marT="18288" marB="18288">
                    <a:solidFill>
                      <a:srgbClr val="1F3A5F"/>
                    </a:solidFill>
                  </a:tcPr>
                </a:tc>
                <a:tc>
                  <a:txBody>
                    <a:bodyPr/>
                    <a:lstStyle/>
                    <a:p>
                      <a:r>
                        <a:rPr sz="2200" b="1">
                          <a:solidFill>
                            <a:srgbClr val="FFFFFF"/>
                          </a:solidFill>
                          <a:latin typeface="Calibri"/>
                        </a:rPr>
                        <a:t>Most likely cause</a:t>
                      </a:r>
                    </a:p>
                  </a:txBody>
                  <a:tcPr marL="73152" marT="18288" marB="18288">
                    <a:solidFill>
                      <a:srgbClr val="1F3A5F"/>
                    </a:solidFill>
                  </a:tcPr>
                </a:tc>
                <a:tc>
                  <a:txBody>
                    <a:bodyPr/>
                    <a:lstStyle/>
                    <a:p>
                      <a:r>
                        <a:rPr sz="2200" b="1">
                          <a:solidFill>
                            <a:srgbClr val="FFFFFF"/>
                          </a:solidFill>
                          <a:latin typeface="Calibri"/>
                        </a:rPr>
                        <a:t>What to do</a:t>
                      </a:r>
                    </a:p>
                  </a:txBody>
                  <a:tcPr marL="73152" marT="18288" marB="18288">
                    <a:solidFill>
                      <a:srgbClr val="1F3A5F"/>
                    </a:solidFill>
                  </a:tcPr>
                </a:tc>
              </a:tr>
              <a:tr h="724807">
                <a:tc>
                  <a:txBody>
                    <a:bodyPr/>
                    <a:lstStyle/>
                    <a:p>
                      <a:r>
                        <a:rPr sz="2200">
                          <a:solidFill>
                            <a:srgbClr val="222222"/>
                          </a:solidFill>
                          <a:latin typeface="Calibri"/>
                        </a:rPr>
                        <a:t>Nothing connects at all</a:t>
                      </a:r>
                    </a:p>
                  </a:txBody>
                  <a:tcPr marL="73152" marT="18288" marB="18288">
                    <a:solidFill>
                      <a:srgbClr val="FFFFFF"/>
                    </a:solidFill>
                  </a:tcPr>
                </a:tc>
                <a:tc>
                  <a:txBody>
                    <a:bodyPr/>
                    <a:lstStyle/>
                    <a:p>
                      <a:r>
                        <a:rPr sz="2200">
                          <a:solidFill>
                            <a:srgbClr val="222222"/>
                          </a:solidFill>
                          <a:latin typeface="Calibri"/>
                        </a:rPr>
                        <a:t>Address mismatch</a:t>
                      </a:r>
                    </a:p>
                  </a:txBody>
                  <a:tcPr marL="73152" marT="18288" marB="18288">
                    <a:solidFill>
                      <a:srgbClr val="FFFFFF"/>
                    </a:solidFill>
                  </a:tcPr>
                </a:tc>
                <a:tc>
                  <a:txBody>
                    <a:bodyPr/>
                    <a:lstStyle/>
                    <a:p>
                      <a:r>
                        <a:rPr sz="2200">
                          <a:solidFill>
                            <a:srgbClr val="222222"/>
                          </a:solidFill>
                          <a:latin typeface="Calibri"/>
                        </a:rPr>
                        <a:t>Check the address in the sketch matches the pad</a:t>
                      </a:r>
                    </a:p>
                  </a:txBody>
                  <a:tcPr marL="73152" marT="18288" marB="18288">
                    <a:solidFill>
                      <a:srgbClr val="FFFFFF"/>
                    </a:solidFill>
                  </a:tcPr>
                </a:tc>
              </a:tr>
              <a:tr h="724807">
                <a:tc>
                  <a:txBody>
                    <a:bodyPr/>
                    <a:lstStyle/>
                    <a:p>
                      <a:r>
                        <a:rPr sz="2200">
                          <a:solidFill>
                            <a:srgbClr val="222222"/>
                          </a:solidFill>
                          <a:latin typeface="Calibri"/>
                        </a:rPr>
                        <a:t>Connects, then drops</a:t>
                      </a:r>
                    </a:p>
                  </a:txBody>
                  <a:tcPr marL="73152" marT="18288" marB="18288">
                    <a:solidFill>
                      <a:srgbClr val="EEF3F8"/>
                    </a:solidFill>
                  </a:tcPr>
                </a:tc>
                <a:tc>
                  <a:txBody>
                    <a:bodyPr/>
                    <a:lstStyle/>
                    <a:p>
                      <a:r>
                        <a:rPr sz="2200">
                          <a:solidFill>
                            <a:srgbClr val="222222"/>
                          </a:solidFill>
                          <a:latin typeface="Calibri"/>
                        </a:rPr>
                        <a:t>Flat controller battery</a:t>
                      </a:r>
                    </a:p>
                  </a:txBody>
                  <a:tcPr marL="73152" marT="18288" marB="18288">
                    <a:solidFill>
                      <a:srgbClr val="EEF3F8"/>
                    </a:solidFill>
                  </a:tcPr>
                </a:tc>
                <a:tc>
                  <a:txBody>
                    <a:bodyPr/>
                    <a:lstStyle/>
                    <a:p>
                      <a:r>
                        <a:rPr sz="2200">
                          <a:solidFill>
                            <a:srgbClr val="222222"/>
                          </a:solidFill>
                          <a:latin typeface="Calibri"/>
                        </a:rPr>
                        <a:t>Charge it over USB for a few minutes</a:t>
                      </a:r>
                    </a:p>
                  </a:txBody>
                  <a:tcPr marL="73152" marT="18288" marB="18288">
                    <a:solidFill>
                      <a:srgbClr val="EEF3F8"/>
                    </a:solidFill>
                  </a:tcPr>
                </a:tc>
              </a:tr>
              <a:tr h="724807">
                <a:tc>
                  <a:txBody>
                    <a:bodyPr/>
                    <a:lstStyle/>
                    <a:p>
                      <a:r>
                        <a:rPr sz="2200">
                          <a:solidFill>
                            <a:srgbClr val="222222"/>
                          </a:solidFill>
                          <a:latin typeface="Calibri"/>
                        </a:rPr>
                        <a:t>Somebody else's vehicle moves</a:t>
                      </a:r>
                    </a:p>
                  </a:txBody>
                  <a:tcPr marL="73152" marT="18288" marB="18288">
                    <a:solidFill>
                      <a:srgbClr val="FFFFFF"/>
                    </a:solidFill>
                  </a:tcPr>
                </a:tc>
                <a:tc>
                  <a:txBody>
                    <a:bodyPr/>
                    <a:lstStyle/>
                    <a:p>
                      <a:r>
                        <a:rPr sz="2200">
                          <a:solidFill>
                            <a:srgbClr val="222222"/>
                          </a:solidFill>
                          <a:latin typeface="Calibri"/>
                        </a:rPr>
                        <a:t>Two vehicles on one address</a:t>
                      </a:r>
                    </a:p>
                  </a:txBody>
                  <a:tcPr marL="73152" marT="18288" marB="18288">
                    <a:solidFill>
                      <a:srgbClr val="FFFFFF"/>
                    </a:solidFill>
                  </a:tcPr>
                </a:tc>
                <a:tc>
                  <a:txBody>
                    <a:bodyPr/>
                    <a:lstStyle/>
                    <a:p>
                      <a:r>
                        <a:rPr sz="2200">
                          <a:solidFill>
                            <a:srgbClr val="222222"/>
                          </a:solidFill>
                          <a:latin typeface="Calibri"/>
                        </a:rPr>
                        <a:t>Give every vehicle a different address</a:t>
                      </a:r>
                    </a:p>
                  </a:txBody>
                  <a:tcPr marL="73152" marT="18288" marB="18288">
                    <a:solidFill>
                      <a:srgbClr val="FFFFFF"/>
                    </a:solidFill>
                  </a:tcPr>
                </a:tc>
              </a:tr>
              <a:tr h="724807">
                <a:tc>
                  <a:txBody>
                    <a:bodyPr/>
                    <a:lstStyle/>
                    <a:p>
                      <a:r>
                        <a:rPr sz="2200">
                          <a:solidFill>
                            <a:srgbClr val="222222"/>
                          </a:solidFill>
                          <a:latin typeface="Calibri"/>
                        </a:rPr>
                        <a:t>Wheels spin the wrong way</a:t>
                      </a:r>
                    </a:p>
                  </a:txBody>
                  <a:tcPr marL="73152" marT="18288" marB="18288">
                    <a:solidFill>
                      <a:srgbClr val="EEF3F8"/>
                    </a:solidFill>
                  </a:tcPr>
                </a:tc>
                <a:tc>
                  <a:txBody>
                    <a:bodyPr/>
                    <a:lstStyle/>
                    <a:p>
                      <a:r>
                        <a:rPr sz="2200">
                          <a:solidFill>
                            <a:srgbClr val="222222"/>
                          </a:solidFill>
                          <a:latin typeface="Calibri"/>
                        </a:rPr>
                        <a:t>Motor pins swapped</a:t>
                      </a:r>
                    </a:p>
                  </a:txBody>
                  <a:tcPr marL="73152" marT="18288" marB="18288">
                    <a:solidFill>
                      <a:srgbClr val="EEF3F8"/>
                    </a:solidFill>
                  </a:tcPr>
                </a:tc>
                <a:tc>
                  <a:txBody>
                    <a:bodyPr/>
                    <a:lstStyle/>
                    <a:p>
                      <a:r>
                        <a:rPr sz="2200">
                          <a:solidFill>
                            <a:srgbClr val="222222"/>
                          </a:solidFill>
                          <a:latin typeface="Calibri"/>
                        </a:rPr>
                        <a:t>Swap that motor's two pin numbers in the sketch</a:t>
                      </a:r>
                    </a:p>
                  </a:txBody>
                  <a:tcPr marL="73152" marT="18288" marB="18288">
                    <a:solidFill>
                      <a:srgbClr val="EEF3F8"/>
                    </a:solidFill>
                  </a:tcPr>
                </a:tc>
              </a:tr>
              <a:tr h="724807">
                <a:tc>
                  <a:txBody>
                    <a:bodyPr/>
                    <a:lstStyle/>
                    <a:p>
                      <a:r>
                        <a:rPr sz="2200">
                          <a:solidFill>
                            <a:srgbClr val="222222"/>
                          </a:solidFill>
                          <a:latin typeface="Calibri"/>
                        </a:rPr>
                        <a:t>It creeps with the stick centred</a:t>
                      </a:r>
                    </a:p>
                  </a:txBody>
                  <a:tcPr marL="73152" marT="18288" marB="18288">
                    <a:solidFill>
                      <a:srgbClr val="FFFFFF"/>
                    </a:solidFill>
                  </a:tcPr>
                </a:tc>
                <a:tc>
                  <a:txBody>
                    <a:bodyPr/>
                    <a:lstStyle/>
                    <a:p>
                      <a:r>
                        <a:rPr sz="2200">
                          <a:solidFill>
                            <a:srgbClr val="222222"/>
                          </a:solidFill>
                          <a:latin typeface="Calibri"/>
                        </a:rPr>
                        <a:t>Deadzone too small</a:t>
                      </a:r>
                    </a:p>
                  </a:txBody>
                  <a:tcPr marL="73152" marT="18288" marB="18288">
                    <a:solidFill>
                      <a:srgbClr val="FFFFFF"/>
                    </a:solidFill>
                  </a:tcPr>
                </a:tc>
                <a:tc>
                  <a:txBody>
                    <a:bodyPr/>
                    <a:lstStyle/>
                    <a:p>
                      <a:r>
                        <a:rPr sz="2200">
                          <a:solidFill>
                            <a:srgbClr val="222222"/>
                          </a:solidFill>
                          <a:latin typeface="Calibri"/>
                        </a:rPr>
                        <a:t>Raise STICK_DEADZONE</a:t>
                      </a:r>
                    </a:p>
                  </a:txBody>
                  <a:tcPr marL="73152" marT="18288" marB="18288">
                    <a:solidFill>
                      <a:srgbClr val="FFFFFF"/>
                    </a:solidFill>
                  </a:tcPr>
                </a:tc>
              </a:tr>
              <a:tr h="724808">
                <a:tc>
                  <a:txBody>
                    <a:bodyPr/>
                    <a:lstStyle/>
                    <a:p>
                      <a:r>
                        <a:rPr sz="2200">
                          <a:solidFill>
                            <a:srgbClr val="222222"/>
                          </a:solidFill>
                          <a:latin typeface="Calibri"/>
                        </a:rPr>
                        <a:t>Nothing at all, no serial output</a:t>
                      </a:r>
                    </a:p>
                  </a:txBody>
                  <a:tcPr marL="73152" marT="18288" marB="18288">
                    <a:solidFill>
                      <a:srgbClr val="EEF3F8"/>
                    </a:solidFill>
                  </a:tcPr>
                </a:tc>
                <a:tc>
                  <a:txBody>
                    <a:bodyPr/>
                    <a:lstStyle/>
                    <a:p>
                      <a:r>
                        <a:rPr sz="2200">
                          <a:solidFill>
                            <a:srgbClr val="222222"/>
                          </a:solidFill>
                          <a:latin typeface="Calibri"/>
                        </a:rPr>
                        <a:t>Wrong board selected</a:t>
                      </a:r>
                    </a:p>
                  </a:txBody>
                  <a:tcPr marL="73152" marT="18288" marB="18288">
                    <a:solidFill>
                      <a:srgbClr val="EEF3F8"/>
                    </a:solidFill>
                  </a:tcPr>
                </a:tc>
                <a:tc>
                  <a:txBody>
                    <a:bodyPr/>
                    <a:lstStyle/>
                    <a:p>
                      <a:r>
                        <a:rPr sz="2200">
                          <a:solidFill>
                            <a:srgbClr val="222222"/>
                          </a:solidFill>
                          <a:latin typeface="Calibri"/>
                        </a:rPr>
                        <a:t>Check the board menu - see Lesson 1</a:t>
                      </a:r>
                    </a:p>
                  </a:txBody>
                  <a:tcPr marL="73152" marT="18288" marB="18288">
                    <a:solidFill>
                      <a:srgbClr val="EEF3F8"/>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the 32 LEDs, and what colour actually is.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000" b="0">
                <a:solidFill>
                  <a:srgbClr val="222222"/>
                </a:solidFill>
                <a:latin typeface="Calibri"/>
              </a:defRPr>
            </a:pPr>
            <a:r>
              <a:rPr sz="2000" b="0">
                <a:solidFill>
                  <a:srgbClr val="222222"/>
                </a:solidFill>
                <a:latin typeface="Calibri"/>
              </a:rPr>
              <a:t>1.  What is a Bluetooth address, and why must every vehicle in the room have a different one?</a:t>
            </a:r>
          </a:p>
          <a:p>
            <a:pPr algn="l">
              <a:lnSpc>
                <a:spcPct val="100000"/>
              </a:lnSpc>
              <a:spcAft>
                <a:spcPts val="1100"/>
              </a:spcAft>
              <a:defRPr sz="2000" b="0">
                <a:solidFill>
                  <a:srgbClr val="222222"/>
                </a:solidFill>
                <a:latin typeface="Calibri"/>
              </a:defRPr>
            </a:pPr>
            <a:r>
              <a:rPr sz="2000" b="0">
                <a:solidFill>
                  <a:srgbClr val="222222"/>
                </a:solidFill>
                <a:latin typeface="Calibri"/>
              </a:rPr>
              <a:t>2.  Push the left stick fully forward. Is the number positive or negative? Why does the program put a minus sign in front of it?</a:t>
            </a:r>
          </a:p>
          <a:p>
            <a:pPr algn="l">
              <a:lnSpc>
                <a:spcPct val="100000"/>
              </a:lnSpc>
              <a:spcAft>
                <a:spcPts val="1100"/>
              </a:spcAft>
              <a:defRPr sz="2000" b="0">
                <a:solidFill>
                  <a:srgbClr val="222222"/>
                </a:solidFill>
                <a:latin typeface="Calibri"/>
              </a:defRPr>
            </a:pPr>
            <a:r>
              <a:rPr sz="2000" b="0">
                <a:solidFill>
                  <a:srgbClr val="222222"/>
                </a:solidFill>
                <a:latin typeface="Calibri"/>
              </a:rPr>
              <a:t>3.  What is a deadzone for? What goes wrong if it is 0? What goes wrong if it is far too big?</a:t>
            </a:r>
          </a:p>
          <a:p>
            <a:pPr algn="l">
              <a:lnSpc>
                <a:spcPct val="100000"/>
              </a:lnSpc>
              <a:spcAft>
                <a:spcPts val="1100"/>
              </a:spcAft>
              <a:defRPr sz="2000" b="0">
                <a:solidFill>
                  <a:srgbClr val="222222"/>
                </a:solidFill>
                <a:latin typeface="Calibri"/>
              </a:defRPr>
            </a:pPr>
            <a:r>
              <a:rPr sz="2000" b="0">
                <a:solidFill>
                  <a:srgbClr val="222222"/>
                </a:solidFill>
                <a:latin typeface="Calibri"/>
              </a:rPr>
              <a:t>4.  In your own words, what does map() do?</a:t>
            </a:r>
          </a:p>
          <a:p>
            <a:pPr algn="l">
              <a:lnSpc>
                <a:spcPct val="100000"/>
              </a:lnSpc>
              <a:spcAft>
                <a:spcPts val="1100"/>
              </a:spcAft>
              <a:defRPr sz="2000" b="0">
                <a:solidFill>
                  <a:srgbClr val="222222"/>
                </a:solidFill>
                <a:latin typeface="Calibri"/>
              </a:defRPr>
            </a:pPr>
            <a:r>
              <a:rPr sz="2000" b="0">
                <a:solidFill>
                  <a:srgbClr val="222222"/>
                </a:solidFill>
                <a:latin typeface="Calibri"/>
              </a:rPr>
              <a:t>5.  forward is 180 and turn is 100. What speed does each side get, before and after constrain()?</a:t>
            </a:r>
          </a:p>
          <a:p>
            <a:pPr algn="l">
              <a:lnSpc>
                <a:spcPct val="100000"/>
              </a:lnSpc>
              <a:spcAft>
                <a:spcPts val="1100"/>
              </a:spcAft>
              <a:defRPr sz="2000" b="0">
                <a:solidFill>
                  <a:srgbClr val="222222"/>
                </a:solidFill>
                <a:latin typeface="Calibri"/>
              </a:defRPr>
            </a:pPr>
            <a:r>
              <a:rPr sz="2000" b="0">
                <a:solidFill>
                  <a:srgbClr val="222222"/>
                </a:solidFill>
                <a:latin typeface="Calibri"/>
              </a:rPr>
              <a:t>6.  Why is steering limited to half power by default?</a:t>
            </a:r>
          </a:p>
          <a:p>
            <a:pPr algn="l">
              <a:lnSpc>
                <a:spcPct val="100000"/>
              </a:lnSpc>
              <a:spcAft>
                <a:spcPts val="1100"/>
              </a:spcAft>
              <a:defRPr sz="2000" b="0">
                <a:solidFill>
                  <a:srgbClr val="222222"/>
                </a:solidFill>
                <a:latin typeface="Calibri"/>
              </a:defRPr>
            </a:pPr>
            <a:r>
              <a:rPr sz="2000" b="0">
                <a:solidFill>
                  <a:srgbClr val="222222"/>
                </a:solidFill>
                <a:latin typeface="Calibri"/>
              </a:rPr>
              <a:t>7.  Write the three lines that stop the vehicle when the controller disconnects.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