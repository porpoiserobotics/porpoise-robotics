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Mixing forward and turn</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Upload l3c_tank_drive. Drive it</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800" b="0">
                <a:solidFill>
                  <a:srgbClr val="222222"/>
                </a:solidFill>
                <a:latin typeface="Calibri"/>
              </a:defRPr>
            </a:pPr>
            <a:r>
              <a:rPr sz="18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800" b="0">
                <a:solidFill>
                  <a:srgbClr val="222222"/>
                </a:solidFill>
                <a:latin typeface="Calibri"/>
              </a:defRPr>
            </a:pPr>
            <a:r>
              <a:rPr sz="1800" b="0">
                <a:solidFill>
                  <a:srgbClr val="222222"/>
                </a:solidFill>
                <a:latin typeface="Calibri"/>
              </a:rPr>
              <a:t>Range is tens of metres, and it goes down sharply if somebody stands between the pad and the vehicle.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Every Bluetooth device has an ADDRESS - six bytes, written as six pairs of hexadecimal digits, like 02:02:03:04:05:08. It is the equivalent of a phone number.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Bluetooth built into the chip. That is a large part of why we use it.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CONTROLLER is told which Bluetooth address to talk to.</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tool is SixaxisPairTool, on a Windows PC, over a USB cable.</a:t>
            </a:r>
          </a:p>
          <a:p>
            <a:pPr lvl="1" algn="l">
              <a:lnSpc>
                <a:spcPct val="100000"/>
              </a:lnSpc>
              <a:spcAft>
                <a:spcPts val="900"/>
              </a:spcAft>
              <a:defRPr sz="1800" b="0">
                <a:solidFill>
                  <a:srgbClr val="222222"/>
                </a:solidFill>
                <a:latin typeface="Calibri"/>
              </a:defRPr>
            </a:pPr>
            <a:r>
              <a:rPr sz="1800" b="0">
                <a:solidFill>
                  <a:srgbClr val="222222"/>
                </a:solidFill>
                <a:latin typeface="Calibri"/>
              </a:rPr>
              <a:t>1.  Plug the controller into a Windows PC with a USB cable.</a:t>
            </a:r>
          </a:p>
          <a:p>
            <a:pPr lvl="1" algn="l">
              <a:lnSpc>
                <a:spcPct val="100000"/>
              </a:lnSpc>
              <a:spcAft>
                <a:spcPts val="900"/>
              </a:spcAft>
              <a:defRPr sz="1800" b="0">
                <a:solidFill>
                  <a:srgbClr val="222222"/>
                </a:solidFill>
                <a:latin typeface="Calibri"/>
              </a:defRPr>
            </a:pPr>
            <a:r>
              <a:rPr sz="1800" b="0">
                <a:solidFill>
                  <a:srgbClr val="222222"/>
                </a:solidFill>
                <a:latin typeface="Calibri"/>
              </a:rPr>
              <a:t>2.  Open SixaxisPairTool. It shows the current master 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3.  Type in the address you want and click Update.</a:t>
            </a:r>
          </a:p>
          <a:p>
            <a:pPr lvl="1" algn="l">
              <a:lnSpc>
                <a:spcPct val="100000"/>
              </a:lnSpc>
              <a:spcAft>
                <a:spcPts val="900"/>
              </a:spcAft>
              <a:defRPr sz="1800" b="0">
                <a:solidFill>
                  <a:srgbClr val="222222"/>
                </a:solidFill>
                <a:latin typeface="Calibri"/>
              </a:defRPr>
            </a:pPr>
            <a:r>
              <a:rPr sz="1800" b="0">
                <a:solidFill>
                  <a:srgbClr val="222222"/>
                </a:solidFill>
                <a:latin typeface="Calibri"/>
              </a:rPr>
              <a:t>4.  Put that same address into PS3_MAC_ADDRESS in the sketch.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Give every vehicle in the room a different one. If two vehicles share an address, one controller drives both of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637501" y="2267712"/>
            <a:ext cx="4916692"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Digital: buttons</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button is either pressed or it is not. true or false.</a:t>
            </a:r>
          </a:p>
          <a:p>
            <a:pPr algn="l">
              <a:lnSpc>
                <a:spcPct val="100000"/>
              </a:lnSpc>
              <a:spcAft>
                <a:spcPts val="400"/>
              </a:spcAft>
              <a:defRPr sz="1800" b="0">
                <a:solidFill>
                  <a:srgbClr val="222222"/>
                </a:solidFill>
                <a:latin typeface="Calibri"/>
              </a:defRPr>
            </a:pPr>
            <a:r>
              <a:rPr sz="1800" b="0">
                <a:solidFill>
                  <a:srgbClr val="222222"/>
                </a:solidFill>
                <a:latin typeface="Calibri"/>
              </a:rPr>
              <a:t>Face buttons, D-pad, shoulders, triggers, and clicking the sticks in.</a:t>
            </a:r>
          </a:p>
          <a:p>
            <a:pPr algn="l">
              <a:lnSpc>
                <a:spcPct val="100000"/>
              </a:lnSpc>
              <a:spcAft>
                <a:spcPts val="400"/>
              </a:spcAft>
              <a:defRPr sz="1800" b="0">
                <a:solidFill>
                  <a:srgbClr val="222222"/>
                </a:solidFill>
                <a:latin typeface="Calibri"/>
              </a:defRPr>
            </a:pPr>
            <a:r>
              <a:rPr sz="1800" b="0">
                <a:solidFill>
                  <a:srgbClr val="222222"/>
                </a:solidFill>
                <a:latin typeface="Calibri"/>
              </a:rPr>
              <a:t>Good for: on/off, mode changes, one-shot actions.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Analog: thumbsticks</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stick reports HOW FAR it is pushed, on two axes.</a:t>
            </a:r>
          </a:p>
          <a:p>
            <a:pPr algn="l">
              <a:lnSpc>
                <a:spcPct val="100000"/>
              </a:lnSpc>
              <a:spcAft>
                <a:spcPts val="400"/>
              </a:spcAft>
              <a:defRPr sz="1800" b="0">
                <a:solidFill>
                  <a:srgbClr val="222222"/>
                </a:solidFill>
                <a:latin typeface="Calibri"/>
              </a:defRPr>
            </a:pPr>
            <a:r>
              <a:rPr sz="1800" b="0">
                <a:solidFill>
                  <a:srgbClr val="222222"/>
                </a:solidFill>
                <a:latin typeface="Calibri"/>
              </a:rPr>
              <a:t>On this track each axis reads -128 to +127.</a:t>
            </a:r>
          </a:p>
          <a:p>
            <a:pPr algn="l">
              <a:lnSpc>
                <a:spcPct val="100000"/>
              </a:lnSpc>
              <a:spcAft>
                <a:spcPts val="400"/>
              </a:spcAft>
              <a:defRPr sz="1800" b="0">
                <a:solidFill>
                  <a:srgbClr val="222222"/>
                </a:solidFill>
                <a:latin typeface="Calibri"/>
              </a:defRPr>
            </a:pPr>
            <a:r>
              <a:rPr sz="1800" b="0">
                <a:solidFill>
                  <a:srgbClr val="222222"/>
                </a:solidFill>
                <a:latin typeface="Calibri"/>
              </a:rPr>
              <a:t>Good for: speed, steering, aiming a servo.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Ps3.data.analog.stick.lx     // left/right</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TRANSLATION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Forward and back  -  surge</a:t>
            </a:r>
          </a:p>
          <a:p>
            <a:pPr lvl="1" algn="l">
              <a:lnSpc>
                <a:spcPct val="100000"/>
              </a:lnSpc>
              <a:spcAft>
                <a:spcPts val="900"/>
              </a:spcAft>
              <a:defRPr sz="1800" b="0">
                <a:solidFill>
                  <a:srgbClr val="222222"/>
                </a:solidFill>
                <a:latin typeface="Calibri"/>
              </a:defRPr>
            </a:pPr>
            <a:r>
              <a:rPr sz="1800" b="0">
                <a:solidFill>
                  <a:srgbClr val="222222"/>
                </a:solidFill>
                <a:latin typeface="Calibri"/>
              </a:rPr>
              <a:t>Side to side  -  sway</a:t>
            </a:r>
          </a:p>
          <a:p>
            <a:pPr lvl="1" algn="l">
              <a:lnSpc>
                <a:spcPct val="100000"/>
              </a:lnSpc>
              <a:spcAft>
                <a:spcPts val="900"/>
              </a:spcAft>
              <a:defRPr sz="1800" b="0">
                <a:solidFill>
                  <a:srgbClr val="222222"/>
                </a:solidFill>
                <a:latin typeface="Calibri"/>
              </a:defRPr>
            </a:pPr>
            <a:r>
              <a:rPr sz="1800" b="0">
                <a:solidFill>
                  <a:srgbClr val="222222"/>
                </a:solidFill>
                <a:latin typeface="Calibri"/>
              </a:rPr>
              <a:t>Up and down  -  heave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Press the PS button on the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way is negative on the Y axis?</a:t>
            </a:r>
          </a:p>
          <a:p>
            <a:pPr algn="l">
              <a:lnSpc>
                <a:spcPct val="100000"/>
              </a:lnSpc>
              <a:spcAft>
                <a:spcPts val="200"/>
              </a:spcAft>
              <a:defRPr sz="1800" b="0">
                <a:solidFill>
                  <a:srgbClr val="222222"/>
                </a:solidFill>
                <a:latin typeface="Calibri"/>
              </a:defRPr>
            </a:pPr>
            <a:r>
              <a:rPr sz="1800" b="0">
                <a:solidFill>
                  <a:srgbClr val="222222"/>
                </a:solidFill>
                <a:latin typeface="Calibri"/>
              </a:rPr>
              <a:t>How far does your stick drift when nobody is touching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Squeeze L2 slowly. It is not just on or off - watch the number.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9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900"/>
              </a:spcAft>
              <a:defRPr sz="1800" b="0">
                <a:solidFill>
                  <a:srgbClr val="222222"/>
                </a:solidFill>
                <a:latin typeface="Calibri"/>
              </a:defRPr>
            </a:pPr>
            <a:r>
              <a:rPr sz="1800" b="0">
                <a:solidFill>
                  <a:srgbClr val="222222"/>
                </a:solidFill>
                <a:latin typeface="Calibri"/>
              </a:rPr>
              <a:t>On this track the deadzone is 20, which is about 16% of the stick travel.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127, 0, 255)   -&gt;    0</a:t>
            </a:r>
          </a:p>
          <a:p>
            <a:pPr algn="l">
              <a:lnSpc>
                <a:spcPct val="100000"/>
              </a:lnSpc>
              <a:spcAft>
                <a:spcPts val="0"/>
              </a:spcAft>
              <a:defRPr sz="1300">
                <a:latin typeface="Consolas"/>
              </a:defRPr>
            </a:pPr>
            <a:r>
              <a:rPr sz="1300">
                <a:solidFill>
                  <a:srgbClr val="222222"/>
                </a:solidFill>
                <a:latin typeface="Consolas"/>
              </a:rPr>
              <a:t>map(63, 0, 63, 0, 255)   -&gt;  127</a:t>
            </a:r>
          </a:p>
          <a:p>
            <a:pPr algn="l">
              <a:lnSpc>
                <a:spcPct val="100000"/>
              </a:lnSpc>
              <a:spcAft>
                <a:spcPts val="0"/>
              </a:spcAft>
              <a:defRPr sz="1300">
                <a:latin typeface="Consolas"/>
              </a:defRPr>
            </a:pPr>
            <a:r>
              <a:rPr sz="1300">
                <a:solidFill>
                  <a:srgbClr val="222222"/>
                </a:solidFill>
                <a:latin typeface="Consolas"/>
              </a:rPr>
              <a:t>map(127, 0, 127,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map() is just proportion. Nothing more.</a:t>
            </a:r>
          </a:p>
          <a:p>
            <a:pPr algn="l">
              <a:lnSpc>
                <a:spcPct val="100000"/>
              </a:lnSpc>
              <a:spcAft>
                <a:spcPts val="600"/>
              </a:spcAft>
              <a:defRPr sz="1800" b="0">
                <a:solidFill>
                  <a:srgbClr val="222222"/>
                </a:solidFill>
                <a:latin typeface="Calibri"/>
              </a:defRPr>
            </a:pPr>
            <a:r>
              <a:rPr sz="18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600"/>
              </a:spcAft>
              <a:defRPr sz="1800" b="0">
                <a:solidFill>
                  <a:srgbClr val="222222"/>
                </a:solidFill>
                <a:latin typeface="Calibri"/>
              </a:defRPr>
            </a:pPr>
            <a:r>
              <a:rPr sz="1800" b="0">
                <a:solidFill>
                  <a:srgbClr val="222222"/>
                </a:solidFill>
                <a:latin typeface="Calibri"/>
              </a:rPr>
              <a:t>abs() throws away the sign, so we map the SIZE of the push and put the direction back at the 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4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4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400"/>
              </a:spcAft>
              <a:defRPr sz="1800" b="0">
                <a:solidFill>
                  <a:srgbClr val="222222"/>
                </a:solidFill>
                <a:latin typeface="Calibri"/>
              </a:defRPr>
            </a:pPr>
            <a:r>
              <a:rPr sz="1800" b="0">
                <a:solidFill>
                  <a:srgbClr val="222222"/>
                </a:solidFill>
                <a:latin typeface="Calibri"/>
              </a:rPr>
              <a:t>4.  Set it to 101. How much of the stick is now wasted?</a:t>
            </a:r>
          </a:p>
          <a:p>
            <a:pPr algn="l">
              <a:lnSpc>
                <a:spcPct val="100000"/>
              </a:lnSpc>
              <a:spcAft>
                <a:spcPts val="4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With the deadzone at 0, what does the vehicle do when nobody is holding the controller?</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MOTOR_MIN = 60 change, and when would you want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9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full program lets you switch between the two with L3 (click the left stick in). Sharp mode is for spinning on the spot deliberately; normal mode is for actually getting somewhere.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(!Ps3.isConnected())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Ps3.data.analog.stick.lx;</a:t>
            </a:r>
          </a:p>
          <a:p>
            <a:pPr algn="l">
              <a:lnSpc>
                <a:spcPct val="100000"/>
              </a:lnSpc>
              <a:spcAft>
                <a:spcPts val="0"/>
              </a:spcAft>
              <a:defRPr sz="1300">
                <a:latin typeface="Consolas"/>
              </a:defRPr>
            </a:pPr>
            <a:r>
              <a:rPr sz="1300">
                <a:solidFill>
                  <a:srgbClr val="222222"/>
                </a:solidFill>
                <a:latin typeface="Consolas"/>
              </a:rPr>
              <a:t>  int leftStickY = Ps3.data.analog.stick.ly;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600"/>
              </a:spcAft>
              <a:defRPr sz="1800" b="0">
                <a:solidFill>
                  <a:srgbClr val="222222"/>
                </a:solidFill>
                <a:latin typeface="Calibri"/>
              </a:defRPr>
            </a:pPr>
            <a:r>
              <a:rPr sz="1800" b="0">
                <a:solidFill>
                  <a:srgbClr val="222222"/>
                </a:solidFill>
                <a:latin typeface="Calibri"/>
              </a:rPr>
              <a:t>Note the minus sign on leftStickY. Up is negative.</a:t>
            </a:r>
          </a:p>
          <a:p>
            <a:pPr algn="l">
              <a:lnSpc>
                <a:spcPct val="100000"/>
              </a:lnSpc>
              <a:spcAft>
                <a:spcPts val="600"/>
              </a:spcAft>
              <a:defRPr sz="1800" b="0">
                <a:solidFill>
                  <a:srgbClr val="222222"/>
                </a:solidFill>
                <a:latin typeface="Calibri"/>
              </a:defRPr>
            </a:pPr>
            <a:r>
              <a:rPr sz="1800" b="0">
                <a:solidFill>
                  <a:srgbClr val="222222"/>
                </a:solidFill>
                <a:latin typeface="Calibri"/>
              </a:rPr>
              <a:t>Driving gets MOTOR_MAX; steering gets turnMax.</a:t>
            </a:r>
          </a:p>
          <a:p>
            <a:pPr algn="l">
              <a:lnSpc>
                <a:spcPct val="100000"/>
              </a:lnSpc>
              <a:spcAft>
                <a:spcPts val="600"/>
              </a:spcAft>
              <a:defRPr sz="1800" b="0">
                <a:solidFill>
                  <a:srgbClr val="222222"/>
                </a:solidFill>
                <a:latin typeface="Calibri"/>
              </a:defRPr>
            </a:pPr>
            <a:r>
              <a:rPr sz="1800" b="0">
                <a:solidFill>
                  <a:srgbClr val="222222"/>
                </a:solidFill>
                <a:latin typeface="Calibri"/>
              </a:rPr>
              <a:t>Everything else you have already seen.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4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400"/>
              </a:spcAft>
              <a:defRPr sz="1800" b="0">
                <a:solidFill>
                  <a:srgbClr val="222222"/>
                </a:solidFill>
                <a:latin typeface="Calibri"/>
              </a:defRPr>
            </a:pPr>
            <a:r>
              <a:rPr sz="1800" b="0">
                <a:solidFill>
                  <a:srgbClr val="222222"/>
                </a:solidFill>
                <a:latin typeface="Calibri"/>
              </a:rPr>
              <a:t>3.  While driving, switch the controller off. What happens?</a:t>
            </a:r>
          </a:p>
          <a:p>
            <a:pPr algn="l">
              <a:lnSpc>
                <a:spcPct val="100000"/>
              </a:lnSpc>
              <a:spcAft>
                <a:spcPts val="400"/>
              </a:spcAft>
              <a:defRPr sz="1800" b="0">
                <a:solidFill>
                  <a:srgbClr val="222222"/>
                </a:solidFill>
                <a:latin typeface="Calibri"/>
              </a:defRPr>
            </a:pPr>
            <a:r>
              <a:rPr sz="1800" b="0">
                <a:solidFill>
                  <a:srgbClr val="222222"/>
                </a:solidFill>
                <a:latin typeface="Calibri"/>
              </a:rPr>
              <a:t>4.  Set turnMax to MOTOR_MAX and drive again. Which is easier?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happened when the controller switched off, and which four lines made that happen?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4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only safe behaviour is to STOP. Not carry on with the last command, and not do something clever.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Failsafe: what a robot does when it stops hearing you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Bluetooth address, and why must every vehicle in the room have a different one?</a:t>
            </a:r>
          </a:p>
          <a:p>
            <a:pPr algn="l">
              <a:lnSpc>
                <a:spcPct val="100000"/>
              </a:lnSpc>
              <a:spcAft>
                <a:spcPts val="1000"/>
              </a:spcAft>
              <a:defRPr sz="1800" b="0">
                <a:solidFill>
                  <a:srgbClr val="222222"/>
                </a:solidFill>
                <a:latin typeface="Calibri"/>
              </a:defRPr>
            </a:pPr>
            <a:r>
              <a:rPr sz="1800" b="0">
                <a:solidFill>
                  <a:srgbClr val="222222"/>
                </a:solidFill>
                <a:latin typeface="Calibri"/>
              </a:rPr>
              <a:t>2.  Push the left stick fully forward. Is the number positive or negative? Why does the program put a minus sign in front of it?</a:t>
            </a:r>
          </a:p>
          <a:p>
            <a:pPr algn="l">
              <a:lnSpc>
                <a:spcPct val="100000"/>
              </a:lnSpc>
              <a:spcAft>
                <a:spcPts val="1000"/>
              </a:spcAft>
              <a:defRPr sz="1800" b="0">
                <a:solidFill>
                  <a:srgbClr val="222222"/>
                </a:solidFill>
                <a:latin typeface="Calibri"/>
              </a:defRPr>
            </a:pPr>
            <a:r>
              <a:rPr sz="1800" b="0">
                <a:solidFill>
                  <a:srgbClr val="222222"/>
                </a:solidFill>
                <a:latin typeface="Calibri"/>
              </a:rPr>
              <a:t>3.  What is a deadzone for? What goes wrong if it is 0? What goes wrong if it is far too big?</a:t>
            </a:r>
          </a:p>
          <a:p>
            <a:pPr algn="l">
              <a:lnSpc>
                <a:spcPct val="100000"/>
              </a:lnSpc>
              <a:spcAft>
                <a:spcPts val="1000"/>
              </a:spcAft>
              <a:defRPr sz="1800" b="0">
                <a:solidFill>
                  <a:srgbClr val="222222"/>
                </a:solidFill>
                <a:latin typeface="Calibri"/>
              </a:defRPr>
            </a:pPr>
            <a:r>
              <a:rPr sz="1800" b="0">
                <a:solidFill>
                  <a:srgbClr val="222222"/>
                </a:solidFill>
                <a:latin typeface="Calibri"/>
              </a:rPr>
              <a:t>4.  In your own words, what does map() do?</a:t>
            </a:r>
          </a:p>
          <a:p>
            <a:pPr algn="l">
              <a:lnSpc>
                <a:spcPct val="100000"/>
              </a:lnSpc>
              <a:spcAft>
                <a:spcPts val="1000"/>
              </a:spcAft>
              <a:defRPr sz="1800" b="0">
                <a:solidFill>
                  <a:srgbClr val="222222"/>
                </a:solidFill>
                <a:latin typeface="Calibri"/>
              </a:defRPr>
            </a:pPr>
            <a:r>
              <a:rPr sz="1800" b="0">
                <a:solidFill>
                  <a:srgbClr val="222222"/>
                </a:solidFill>
                <a:latin typeface="Calibri"/>
              </a:rPr>
              <a:t>5.  forward is 180 and turn is 100. What speed does each side get, before and after constrain()?</a:t>
            </a:r>
          </a:p>
          <a:p>
            <a:pPr algn="l">
              <a:lnSpc>
                <a:spcPct val="100000"/>
              </a:lnSpc>
              <a:spcAft>
                <a:spcPts val="1000"/>
              </a:spcAft>
              <a:defRPr sz="1800" b="0">
                <a:solidFill>
                  <a:srgbClr val="222222"/>
                </a:solidFill>
                <a:latin typeface="Calibri"/>
              </a:defRPr>
            </a:pPr>
            <a:r>
              <a:rPr sz="1800" b="0">
                <a:solidFill>
                  <a:srgbClr val="222222"/>
                </a:solidFill>
                <a:latin typeface="Calibri"/>
              </a:rPr>
              <a:t>6.  Why is steering limited to half power by default?</a:t>
            </a:r>
          </a:p>
          <a:p>
            <a:pPr algn="l">
              <a:lnSpc>
                <a:spcPct val="100000"/>
              </a:lnSpc>
              <a:spcAft>
                <a:spcPts val="1000"/>
              </a:spcAft>
              <a:defRPr sz="1800" b="0">
                <a:solidFill>
                  <a:srgbClr val="222222"/>
                </a:solidFill>
                <a:latin typeface="Calibri"/>
              </a:defRPr>
            </a:pPr>
            <a:r>
              <a:rPr sz="18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