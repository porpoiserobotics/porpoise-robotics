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201168"/>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1051560"/>
            <a:ext cx="6492240" cy="365760"/>
          </a:xfrm>
          <a:prstGeom prst="rect">
            <a:avLst/>
          </a:prstGeom>
          <a:noFill/>
        </p:spPr>
        <p:txBody>
          <a:bodyPr wrap="square" lIns="0" tIns="0" rIns="0" bIns="0">
            <a:spAutoFit/>
          </a:bodyPr>
          <a:lstStyle/>
          <a:p>
            <a:pPr algn="l">
              <a:lnSpc>
                <a:spcPct val="100000"/>
              </a:lnSpc>
              <a:spcAft>
                <a:spcPts val="0"/>
              </a:spcAft>
              <a:defRPr sz="1600" b="1">
                <a:solidFill>
                  <a:srgbClr val="0E7C86"/>
                </a:solidFill>
                <a:latin typeface="Calibri"/>
              </a:defRPr>
            </a:pPr>
            <a:r>
              <a:rPr sz="1600" b="1">
                <a:solidFill>
                  <a:srgbClr val="0E7C86"/>
                </a:solidFill>
                <a:latin typeface="Calibri"/>
              </a:rPr>
              <a:t>LESSON 3</a:t>
            </a:r>
          </a:p>
        </p:txBody>
      </p:sp>
      <p:sp>
        <p:nvSpPr>
          <p:cNvPr id="4" name="TextBox 3"/>
          <p:cNvSpPr txBox="1"/>
          <p:nvPr/>
        </p:nvSpPr>
        <p:spPr>
          <a:xfrm>
            <a:off x="502920" y="1481328"/>
            <a:ext cx="6492240" cy="1554480"/>
          </a:xfrm>
          <a:prstGeom prst="rect">
            <a:avLst/>
          </a:prstGeom>
          <a:noFill/>
        </p:spPr>
        <p:txBody>
          <a:bodyPr wrap="square" lIns="0" tIns="0" rIns="0" bIns="0">
            <a:spAutoFit/>
          </a:bodyPr>
          <a:lstStyle/>
          <a:p>
            <a:pPr algn="l">
              <a:lnSpc>
                <a:spcPct val="95000"/>
              </a:lnSpc>
              <a:spcAft>
                <a:spcPts val="0"/>
              </a:spcAft>
              <a:defRPr sz="4000" b="1">
                <a:solidFill>
                  <a:srgbClr val="1F3A5F"/>
                </a:solidFill>
                <a:latin typeface="Calibri"/>
              </a:defRPr>
            </a:pPr>
            <a:r>
              <a:rPr sz="4000" b="1">
                <a:solidFill>
                  <a:srgbClr val="1F3A5F"/>
                </a:solidFill>
                <a:latin typeface="Calibri"/>
              </a:rPr>
              <a:t>Controller Programming</a:t>
            </a:r>
          </a:p>
        </p:txBody>
      </p:sp>
      <p:sp>
        <p:nvSpPr>
          <p:cNvPr id="5" name="TextBox 4"/>
          <p:cNvSpPr txBox="1"/>
          <p:nvPr/>
        </p:nvSpPr>
        <p:spPr>
          <a:xfrm>
            <a:off x="502920" y="3154680"/>
            <a:ext cx="6492240" cy="960120"/>
          </a:xfrm>
          <a:prstGeom prst="rect">
            <a:avLst/>
          </a:prstGeom>
          <a:noFill/>
        </p:spPr>
        <p:txBody>
          <a:bodyPr wrap="square" lIns="0" tIns="0" rIns="0" bIns="0">
            <a:spAutoFit/>
          </a:bodyPr>
          <a:lstStyle/>
          <a:p>
            <a:pPr algn="l">
              <a:lnSpc>
                <a:spcPct val="100000"/>
              </a:lnSpc>
              <a:spcAft>
                <a:spcPts val="0"/>
              </a:spcAft>
              <a:defRPr sz="1700" b="0">
                <a:solidFill>
                  <a:srgbClr val="222222"/>
                </a:solidFill>
                <a:latin typeface="Calibri"/>
              </a:defRPr>
            </a:pPr>
            <a:r>
              <a:rPr sz="1700" b="0">
                <a:solidFill>
                  <a:srgbClr val="222222"/>
                </a:solidFill>
                <a:latin typeface="Calibri"/>
              </a:rPr>
              <a:t>Bluetooth, thumbsticks, deadzones, and turning a number from your thumb into a speed for four wheels.</a:t>
            </a:r>
          </a:p>
        </p:txBody>
      </p:sp>
      <p:sp>
        <p:nvSpPr>
          <p:cNvPr id="6" name="TextBox 5"/>
          <p:cNvSpPr txBox="1"/>
          <p:nvPr/>
        </p:nvSpPr>
        <p:spPr>
          <a:xfrm>
            <a:off x="502920" y="4224528"/>
            <a:ext cx="6492240" cy="1371600"/>
          </a:xfrm>
          <a:prstGeom prst="rect">
            <a:avLst/>
          </a:prstGeom>
          <a:noFill/>
        </p:spPr>
        <p:txBody>
          <a:bodyPr wrap="square" lIns="0" tIns="0" rIns="0" bIns="0">
            <a:spAutoFit/>
          </a:bodyPr>
          <a:lstStyle/>
          <a:p>
            <a:pPr algn="l">
              <a:lnSpc>
                <a:spcPct val="100000"/>
              </a:lnSpc>
              <a:spcAft>
                <a:spcPts val="200"/>
              </a:spcAft>
              <a:defRPr sz="1300" b="0">
                <a:solidFill>
                  <a:srgbClr val="666666"/>
                </a:solidFill>
                <a:latin typeface="Calibri"/>
              </a:defRPr>
            </a:pPr>
            <a:r>
              <a:rPr sz="1300" b="0">
                <a:solidFill>
                  <a:srgbClr val="666666"/>
                </a:solidFill>
                <a:latin typeface="Calibri"/>
              </a:rPr>
              <a:t>Porpoise Robotics  -  porpoiserobotics.org</a:t>
            </a:r>
          </a:p>
          <a:p>
            <a:pPr algn="l">
              <a:lnSpc>
                <a:spcPct val="100000"/>
              </a:lnSpc>
              <a:spcAft>
                <a:spcPts val="200"/>
              </a:spcAft>
              <a:defRPr sz="1300" b="0">
                <a:solidFill>
                  <a:srgbClr val="666666"/>
                </a:solidFill>
                <a:latin typeface="Calibri"/>
              </a:defRPr>
            </a:pPr>
            <a:r>
              <a:rPr sz="1300" b="0">
                <a:solidFill>
                  <a:srgbClr val="666666"/>
                </a:solidFill>
                <a:latin typeface="Calibri"/>
              </a:rPr>
              <a:t>Kevin P. Bowen, President  -  kbowen6@icloud.com</a:t>
            </a:r>
          </a:p>
          <a:p>
            <a:pPr algn="l">
              <a:lnSpc>
                <a:spcPct val="100000"/>
              </a:lnSpc>
              <a:spcAft>
                <a:spcPts val="200"/>
              </a:spcAft>
              <a:defRPr sz="1300" b="0">
                <a:solidFill>
                  <a:srgbClr val="666666"/>
                </a:solidFill>
                <a:latin typeface="Calibri"/>
              </a:defRPr>
            </a:pPr>
          </a:p>
          <a:p>
            <a:pPr algn="l">
              <a:lnSpc>
                <a:spcPct val="100000"/>
              </a:lnSpc>
              <a:spcAft>
                <a:spcPts val="200"/>
              </a:spcAft>
              <a:defRPr sz="1300" b="0">
                <a:solidFill>
                  <a:srgbClr val="666666"/>
                </a:solidFill>
                <a:latin typeface="Calibri"/>
              </a:defRPr>
            </a:pPr>
            <a:r>
              <a:rPr sz="1300" b="0">
                <a:solidFill>
                  <a:srgbClr val="666666"/>
                </a:solidFill>
                <a:latin typeface="Calibri"/>
              </a:rPr>
              <a:t>Three hours.  Bring the PS3 controller paired to your vehicle.</a:t>
            </a:r>
          </a:p>
        </p:txBody>
      </p:sp>
      <p:pic>
        <p:nvPicPr>
          <p:cNvPr id="7" name="Picture 6" descr="vehicle-with-ps3-controller.jpg"/>
          <p:cNvPicPr>
            <a:picLocks noChangeAspect="1"/>
          </p:cNvPicPr>
          <p:nvPr/>
        </p:nvPicPr>
        <p:blipFill>
          <a:blip r:embed="rId2"/>
          <a:stretch>
            <a:fillRect/>
          </a:stretch>
        </p:blipFill>
        <p:spPr>
          <a:xfrm>
            <a:off x="7223760" y="1371600"/>
            <a:ext cx="4480560" cy="3360420"/>
          </a:xfrm>
          <a:prstGeom prst="rect">
            <a:avLst/>
          </a:prstGeom>
        </p:spPr>
      </p:pic>
      <p:sp>
        <p:nvSpPr>
          <p:cNvPr id="8" name="TextBox 7"/>
          <p:cNvSpPr txBox="1"/>
          <p:nvPr/>
        </p:nvSpPr>
        <p:spPr>
          <a:xfrm>
            <a:off x="502920" y="6144768"/>
            <a:ext cx="11185855" cy="502920"/>
          </a:xfrm>
          <a:prstGeom prst="rect">
            <a:avLst/>
          </a:prstGeom>
          <a:noFill/>
        </p:spPr>
        <p:txBody>
          <a:bodyPr wrap="square" lIns="0" tIns="0" rIns="0" b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Porpoise Robotics - proprietary. For use with Porpoise Robotics lessons.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we got to last week</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1</a:t>
            </a:r>
          </a:p>
        </p:txBody>
      </p:sp>
      <p:sp>
        <p:nvSpPr>
          <p:cNvPr id="6" name="TextBox 5"/>
          <p:cNvSpPr txBox="1"/>
          <p:nvPr/>
        </p:nvSpPr>
        <p:spPr>
          <a:xfrm>
            <a:off x="502920" y="1188720"/>
            <a:ext cx="11185855" cy="4023360"/>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r>
              <a:rPr sz="1800" b="0">
                <a:solidFill>
                  <a:srgbClr val="222222"/>
                </a:solidFill>
                <a:latin typeface="Calibri"/>
              </a:rPr>
              <a:t>You know how an H-bridge reverses a motor, and how PWM sets its speed.</a:t>
            </a:r>
          </a:p>
          <a:p>
            <a:pPr algn="l">
              <a:lnSpc>
                <a:spcPct val="100000"/>
              </a:lnSpc>
              <a:spcAft>
                <a:spcPts val="900"/>
              </a:spcAft>
              <a:defRPr sz="1800" b="0">
                <a:solidFill>
                  <a:srgbClr val="222222"/>
                </a:solidFill>
                <a:latin typeface="Calibri"/>
              </a:defRPr>
            </a:pPr>
            <a:r>
              <a:rPr sz="1800" b="0">
                <a:solidFill>
                  <a:srgbClr val="222222"/>
                </a:solidFill>
                <a:latin typeface="Calibri"/>
              </a:rPr>
              <a:t>You measured your own vehicle's minimum turning speed.</a:t>
            </a:r>
          </a:p>
          <a:p>
            <a:pPr algn="l">
              <a:lnSpc>
                <a:spcPct val="100000"/>
              </a:lnSpc>
              <a:spcAft>
                <a:spcPts val="900"/>
              </a:spcAft>
              <a:defRPr sz="1800" b="0">
                <a:solidFill>
                  <a:srgbClr val="222222"/>
                </a:solidFill>
                <a:latin typeface="Calibri"/>
              </a:defRPr>
            </a:pPr>
            <a:r>
              <a:rPr sz="1800" b="0">
                <a:solidFill>
                  <a:srgbClr val="222222"/>
                </a:solidFill>
                <a:latin typeface="Calibri"/>
              </a:rPr>
              <a:t>You drove a square you calculated, and found out why it did not close.</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Today you take the wheel.</a:t>
            </a:r>
          </a:p>
        </p:txBody>
      </p:sp>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Everything today until the last hour is print-only. Nothing moves until you have seen the numbers first.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Today, in order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2</a:t>
            </a:r>
          </a:p>
        </p:txBody>
      </p:sp>
      <p:graphicFrame>
        <p:nvGraphicFramePr>
          <p:cNvPr id="6" name="Table 5"/>
          <p:cNvGraphicFramePr>
            <a:graphicFrameLocks noGrp="1"/>
          </p:cNvGraphicFramePr>
          <p:nvPr/>
        </p:nvGraphicFramePr>
        <p:xfrm>
          <a:off x="502920" y="1188720"/>
          <a:ext cx="11185854" cy="2984500"/>
        </p:xfrm>
        <a:graphic>
          <a:graphicData uri="http://schemas.openxmlformats.org/drawingml/2006/table">
            <a:tbl>
              <a:tblPr firstRow="1" bandRow="1">
                <a:tableStyleId>{5C22544A-7EE6-4342-B048-85BDC9FD1C3A}</a:tableStyleId>
              </a:tblPr>
              <a:tblGrid>
                <a:gridCol w="1118585"/>
                <a:gridCol w="10067269"/>
              </a:tblGrid>
              <a:tr h="298450">
                <a:tc>
                  <a:txBody>
                    <a:bodyPr/>
                    <a:lstStyle/>
                    <a:p>
                      <a:r>
                        <a:rPr sz="1400" b="1">
                          <a:solidFill>
                            <a:srgbClr val="FFFFFF"/>
                          </a:solidFill>
                          <a:latin typeface="Calibri"/>
                        </a:rPr>
                        <a:t>Time</a:t>
                      </a:r>
                    </a:p>
                  </a:txBody>
                  <a:tcPr marL="73152" marT="18288" marB="18288">
                    <a:solidFill>
                      <a:srgbClr val="1F3A5F"/>
                    </a:solidFill>
                  </a:tcPr>
                </a:tc>
                <a:tc>
                  <a:txBody>
                    <a:bodyPr/>
                    <a:lstStyle/>
                    <a:p>
                      <a:r>
                        <a:rPr sz="1400" b="1">
                          <a:solidFill>
                            <a:srgbClr val="FFFFFF"/>
                          </a:solidFill>
                          <a:latin typeface="Calibri"/>
                        </a:rPr>
                        <a:t>What we do</a:t>
                      </a:r>
                    </a:p>
                  </a:txBody>
                  <a:tcPr marL="73152" marT="18288" marB="18288">
                    <a:solidFill>
                      <a:srgbClr val="1F3A5F"/>
                    </a:solidFill>
                  </a:tcPr>
                </a:tc>
              </a:tr>
              <a:tr h="298450">
                <a:tc>
                  <a:txBody>
                    <a:bodyPr/>
                    <a:lstStyle/>
                    <a:p>
                      <a:r>
                        <a:rPr sz="1400">
                          <a:solidFill>
                            <a:srgbClr val="222222"/>
                          </a:solidFill>
                          <a:latin typeface="Calibri"/>
                        </a:rPr>
                        <a:t>0:00</a:t>
                      </a:r>
                    </a:p>
                  </a:txBody>
                  <a:tcPr marL="73152" marT="18288" marB="18288">
                    <a:solidFill>
                      <a:srgbClr val="FFFFFF"/>
                    </a:solidFill>
                  </a:tcPr>
                </a:tc>
                <a:tc>
                  <a:txBody>
                    <a:bodyPr/>
                    <a:lstStyle/>
                    <a:p>
                      <a:r>
                        <a:rPr sz="1400">
                          <a:solidFill>
                            <a:srgbClr val="222222"/>
                          </a:solidFill>
                          <a:latin typeface="Calibri"/>
                        </a:rPr>
                        <a:t>Recap. What Bluetooth is, and how a pad finds a vehicle</a:t>
                      </a:r>
                    </a:p>
                  </a:txBody>
                  <a:tcPr marL="73152" marT="18288" marB="18288">
                    <a:solidFill>
                      <a:srgbClr val="FFFFFF"/>
                    </a:solidFill>
                  </a:tcPr>
                </a:tc>
              </a:tr>
              <a:tr h="298450">
                <a:tc>
                  <a:txBody>
                    <a:bodyPr/>
                    <a:lstStyle/>
                    <a:p>
                      <a:r>
                        <a:rPr sz="1400">
                          <a:solidFill>
                            <a:srgbClr val="222222"/>
                          </a:solidFill>
                          <a:latin typeface="Calibri"/>
                        </a:rPr>
                        <a:t>0:25</a:t>
                      </a:r>
                    </a:p>
                  </a:txBody>
                  <a:tcPr marL="73152" marT="18288" marB="18288">
                    <a:solidFill>
                      <a:srgbClr val="EEF3F8"/>
                    </a:solidFill>
                  </a:tcPr>
                </a:tc>
                <a:tc>
                  <a:txBody>
                    <a:bodyPr/>
                    <a:lstStyle/>
                    <a:p>
                      <a:r>
                        <a:rPr sz="1400">
                          <a:solidFill>
                            <a:srgbClr val="222222"/>
                          </a:solidFill>
                          <a:latin typeface="Calibri"/>
                        </a:rPr>
                        <a:t>One vehicle, one controller: pairing the pad</a:t>
                      </a:r>
                    </a:p>
                  </a:txBody>
                  <a:tcPr marL="73152" marT="18288" marB="18288">
                    <a:solidFill>
                      <a:srgbClr val="EEF3F8"/>
                    </a:solidFill>
                  </a:tcPr>
                </a:tc>
              </a:tr>
              <a:tr h="298450">
                <a:tc>
                  <a:txBody>
                    <a:bodyPr/>
                    <a:lstStyle/>
                    <a:p>
                      <a:r>
                        <a:rPr sz="1400">
                          <a:solidFill>
                            <a:srgbClr val="222222"/>
                          </a:solidFill>
                          <a:latin typeface="Calibri"/>
                        </a:rPr>
                        <a:t>0:50</a:t>
                      </a:r>
                    </a:p>
                  </a:txBody>
                  <a:tcPr marL="73152" marT="18288" marB="18288">
                    <a:solidFill>
                      <a:srgbClr val="FFFFFF"/>
                    </a:solidFill>
                  </a:tcPr>
                </a:tc>
                <a:tc>
                  <a:txBody>
                    <a:bodyPr/>
                    <a:lstStyle/>
                    <a:p>
                      <a:r>
                        <a:rPr sz="1400">
                          <a:solidFill>
                            <a:srgbClr val="222222"/>
                          </a:solidFill>
                          <a:latin typeface="Calibri"/>
                        </a:rPr>
                        <a:t>Upload l3a_controller_check. Find every button and axis</a:t>
                      </a:r>
                    </a:p>
                  </a:txBody>
                  <a:tcPr marL="73152" marT="18288" marB="18288">
                    <a:solidFill>
                      <a:srgbClr val="FFFFFF"/>
                    </a:solidFill>
                  </a:tcPr>
                </a:tc>
              </a:tr>
              <a:tr h="298450">
                <a:tc>
                  <a:txBody>
                    <a:bodyPr/>
                    <a:lstStyle/>
                    <a:p>
                      <a:r>
                        <a:rPr sz="1400">
                          <a:solidFill>
                            <a:srgbClr val="222222"/>
                          </a:solidFill>
                          <a:latin typeface="Calibri"/>
                        </a:rPr>
                        <a:t>1:20</a:t>
                      </a:r>
                    </a:p>
                  </a:txBody>
                  <a:tcPr marL="73152" marT="18288" marB="18288">
                    <a:solidFill>
                      <a:srgbClr val="EEF3F8"/>
                    </a:solidFill>
                  </a:tcPr>
                </a:tc>
                <a:tc>
                  <a:txBody>
                    <a:bodyPr/>
                    <a:lstStyle/>
                    <a:p>
                      <a:r>
                        <a:rPr sz="1400">
                          <a:solidFill>
                            <a:srgbClr val="222222"/>
                          </a:solidFill>
                          <a:latin typeface="Calibri"/>
                        </a:rPr>
                        <a:t>Break</a:t>
                      </a:r>
                    </a:p>
                  </a:txBody>
                  <a:tcPr marL="73152" marT="18288" marB="18288">
                    <a:solidFill>
                      <a:srgbClr val="EEF3F8"/>
                    </a:solidFill>
                  </a:tcPr>
                </a:tc>
              </a:tr>
              <a:tr h="298450">
                <a:tc>
                  <a:txBody>
                    <a:bodyPr/>
                    <a:lstStyle/>
                    <a:p>
                      <a:r>
                        <a:rPr sz="1400">
                          <a:solidFill>
                            <a:srgbClr val="222222"/>
                          </a:solidFill>
                          <a:latin typeface="Calibri"/>
                        </a:rPr>
                        <a:t>1:30</a:t>
                      </a:r>
                    </a:p>
                  </a:txBody>
                  <a:tcPr marL="73152" marT="18288" marB="18288">
                    <a:solidFill>
                      <a:srgbClr val="FFFFFF"/>
                    </a:solidFill>
                  </a:tcPr>
                </a:tc>
                <a:tc>
                  <a:txBody>
                    <a:bodyPr/>
                    <a:lstStyle/>
                    <a:p>
                      <a:r>
                        <a:rPr sz="1400">
                          <a:solidFill>
                            <a:srgbClr val="222222"/>
                          </a:solidFill>
                          <a:latin typeface="Calibri"/>
                        </a:rPr>
                        <a:t>The deadzone problem, and map()</a:t>
                      </a:r>
                    </a:p>
                  </a:txBody>
                  <a:tcPr marL="73152" marT="18288" marB="18288">
                    <a:solidFill>
                      <a:srgbClr val="FFFFFF"/>
                    </a:solidFill>
                  </a:tcPr>
                </a:tc>
              </a:tr>
              <a:tr h="298450">
                <a:tc>
                  <a:txBody>
                    <a:bodyPr/>
                    <a:lstStyle/>
                    <a:p>
                      <a:r>
                        <a:rPr sz="1400">
                          <a:solidFill>
                            <a:srgbClr val="222222"/>
                          </a:solidFill>
                          <a:latin typeface="Calibri"/>
                        </a:rPr>
                        <a:t>1:55</a:t>
                      </a:r>
                    </a:p>
                  </a:txBody>
                  <a:tcPr marL="73152" marT="18288" marB="18288">
                    <a:solidFill>
                      <a:srgbClr val="EEF3F8"/>
                    </a:solidFill>
                  </a:tcPr>
                </a:tc>
                <a:tc>
                  <a:txBody>
                    <a:bodyPr/>
                    <a:lstStyle/>
                    <a:p>
                      <a:r>
                        <a:rPr sz="1400">
                          <a:solidFill>
                            <a:srgbClr val="222222"/>
                          </a:solidFill>
                          <a:latin typeface="Calibri"/>
                        </a:rPr>
                        <a:t>Upload l3b_deadzone_and_map. Watch the arithmetic</a:t>
                      </a:r>
                    </a:p>
                  </a:txBody>
                  <a:tcPr marL="73152" marT="18288" marB="18288">
                    <a:solidFill>
                      <a:srgbClr val="EEF3F8"/>
                    </a:solidFill>
                  </a:tcPr>
                </a:tc>
              </a:tr>
              <a:tr h="298450">
                <a:tc>
                  <a:txBody>
                    <a:bodyPr/>
                    <a:lstStyle/>
                    <a:p>
                      <a:r>
                        <a:rPr sz="1400">
                          <a:solidFill>
                            <a:srgbClr val="222222"/>
                          </a:solidFill>
                          <a:latin typeface="Calibri"/>
                        </a:rPr>
                        <a:t>2:15</a:t>
                      </a:r>
                    </a:p>
                  </a:txBody>
                  <a:tcPr marL="73152" marT="18288" marB="18288">
                    <a:solidFill>
                      <a:srgbClr val="FFFFFF"/>
                    </a:solidFill>
                  </a:tcPr>
                </a:tc>
                <a:tc>
                  <a:txBody>
                    <a:bodyPr/>
                    <a:lstStyle/>
                    <a:p>
                      <a:r>
                        <a:rPr sz="1400">
                          <a:solidFill>
                            <a:srgbClr val="222222"/>
                          </a:solidFill>
                          <a:latin typeface="Calibri"/>
                        </a:rPr>
                        <a:t>Mixing forward and turn</a:t>
                      </a:r>
                    </a:p>
                  </a:txBody>
                  <a:tcPr marL="73152" marT="18288" marB="18288">
                    <a:solidFill>
                      <a:srgbClr val="FFFFFF"/>
                    </a:solidFill>
                  </a:tcPr>
                </a:tc>
              </a:tr>
              <a:tr h="298450">
                <a:tc>
                  <a:txBody>
                    <a:bodyPr/>
                    <a:lstStyle/>
                    <a:p>
                      <a:r>
                        <a:rPr sz="1400">
                          <a:solidFill>
                            <a:srgbClr val="222222"/>
                          </a:solidFill>
                          <a:latin typeface="Calibri"/>
                        </a:rPr>
                        <a:t>2:30</a:t>
                      </a:r>
                    </a:p>
                  </a:txBody>
                  <a:tcPr marL="73152" marT="18288" marB="18288">
                    <a:solidFill>
                      <a:srgbClr val="EEF3F8"/>
                    </a:solidFill>
                  </a:tcPr>
                </a:tc>
                <a:tc>
                  <a:txBody>
                    <a:bodyPr/>
                    <a:lstStyle/>
                    <a:p>
                      <a:r>
                        <a:rPr sz="1400">
                          <a:solidFill>
                            <a:srgbClr val="222222"/>
                          </a:solidFill>
                          <a:latin typeface="Calibri"/>
                        </a:rPr>
                        <a:t>Upload l3c_tank_drive. Drive it</a:t>
                      </a:r>
                    </a:p>
                  </a:txBody>
                  <a:tcPr marL="73152" marT="18288" marB="18288">
                    <a:solidFill>
                      <a:srgbClr val="EEF3F8"/>
                    </a:solidFill>
                  </a:tcPr>
                </a:tc>
              </a:tr>
              <a:tr h="298450">
                <a:tc>
                  <a:txBody>
                    <a:bodyPr/>
                    <a:lstStyle/>
                    <a:p>
                      <a:r>
                        <a:rPr sz="1400">
                          <a:solidFill>
                            <a:srgbClr val="222222"/>
                          </a:solidFill>
                          <a:latin typeface="Calibri"/>
                        </a:rPr>
                        <a:t>2:50</a:t>
                      </a:r>
                    </a:p>
                  </a:txBody>
                  <a:tcPr marL="73152" marT="18288" marB="18288">
                    <a:solidFill>
                      <a:srgbClr val="FFFFFF"/>
                    </a:solidFill>
                  </a:tcPr>
                </a:tc>
                <a:tc>
                  <a:txBody>
                    <a:bodyPr/>
                    <a:lstStyle/>
                    <a:p>
                      <a:r>
                        <a:rPr sz="1400">
                          <a:solidFill>
                            <a:srgbClr val="222222"/>
                          </a:solidFill>
                          <a:latin typeface="Calibri"/>
                        </a:rPr>
                        <a:t>Failsafe, and what happens when the link drops</a:t>
                      </a:r>
                    </a:p>
                  </a:txBody>
                  <a:tcPr marL="73152" marT="18288" marB="18288">
                    <a:solidFill>
                      <a:srgbClr val="FFFFFF"/>
                    </a:solidFill>
                  </a:tcPr>
                </a:tc>
              </a:tr>
            </a:tbl>
          </a:graphicData>
        </a:graphic>
      </p:graphicFrame>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What Bluetooth is doing</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3</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A radio link, and a phone number for each device</a:t>
            </a:r>
          </a:p>
        </p:txBody>
      </p:sp>
      <p:sp>
        <p:nvSpPr>
          <p:cNvPr id="7" name="TextBox 6"/>
          <p:cNvSpPr txBox="1"/>
          <p:nvPr/>
        </p:nvSpPr>
        <p:spPr>
          <a:xfrm>
            <a:off x="502920" y="1755648"/>
            <a:ext cx="11185855" cy="3456432"/>
          </a:xfrm>
          <a:prstGeom prst="rect">
            <a:avLst/>
          </a:prstGeom>
          <a:noFill/>
        </p:spPr>
        <p:txBody>
          <a:bodyPr wrap="square" lIns="0" tIns="0" rIns="0" bIns="0">
            <a:spAutoFit/>
          </a:bodyPr>
          <a:lstStyle/>
          <a:p>
            <a:pPr algn="l">
              <a:lnSpc>
                <a:spcPct val="100000"/>
              </a:lnSpc>
              <a:spcAft>
                <a:spcPts val="900"/>
              </a:spcAft>
              <a:defRPr sz="1600" b="0">
                <a:solidFill>
                  <a:srgbClr val="222222"/>
                </a:solidFill>
                <a:latin typeface="Calibri"/>
              </a:defRPr>
            </a:pPr>
            <a:r>
              <a:rPr sz="1600" b="0">
                <a:solidFill>
                  <a:srgbClr val="222222"/>
                </a:solidFill>
                <a:latin typeface="Calibri"/>
              </a:rPr>
              <a:t>A short-range radio link in the 2.4 GHz band - the same band as Wi-Fi, microwave ovens and almost everything else.</a:t>
            </a:r>
          </a:p>
          <a:p>
            <a:pPr algn="l">
              <a:lnSpc>
                <a:spcPct val="100000"/>
              </a:lnSpc>
              <a:spcAft>
                <a:spcPts val="900"/>
              </a:spcAft>
              <a:defRPr sz="1600" b="0">
                <a:solidFill>
                  <a:srgbClr val="222222"/>
                </a:solidFill>
                <a:latin typeface="Calibri"/>
              </a:defRPr>
            </a:pPr>
            <a:r>
              <a:rPr sz="1600" b="0">
                <a:solidFill>
                  <a:srgbClr val="222222"/>
                </a:solidFill>
                <a:latin typeface="Calibri"/>
              </a:rPr>
              <a:t>It hops between 79 narrow channels many times a second, so a busy band does not stop it. That is why twenty vehicles in one room actually works.</a:t>
            </a:r>
          </a:p>
          <a:p>
            <a:pPr algn="l">
              <a:lnSpc>
                <a:spcPct val="100000"/>
              </a:lnSpc>
              <a:spcAft>
                <a:spcPts val="900"/>
              </a:spcAft>
              <a:defRPr sz="1600" b="0">
                <a:solidFill>
                  <a:srgbClr val="222222"/>
                </a:solidFill>
                <a:latin typeface="Calibri"/>
              </a:defRPr>
            </a:pPr>
            <a:r>
              <a:rPr sz="1600" b="0">
                <a:solidFill>
                  <a:srgbClr val="222222"/>
                </a:solidFill>
                <a:latin typeface="Calibri"/>
              </a:rPr>
              <a:t>Range is tens of metres, and it goes down sharply if somebody stands between the pad and the vehicle.</a:t>
            </a:r>
          </a:p>
          <a:p>
            <a:pPr algn="l">
              <a:lnSpc>
                <a:spcPct val="100000"/>
              </a:lnSpc>
              <a:spcAft>
                <a:spcPts val="900"/>
              </a:spcAft>
              <a:defRPr sz="1600" b="0">
                <a:solidFill>
                  <a:srgbClr val="222222"/>
                </a:solidFill>
                <a:latin typeface="Calibri"/>
              </a:defRPr>
            </a:pPr>
          </a:p>
          <a:p>
            <a:pPr algn="l">
              <a:lnSpc>
                <a:spcPct val="100000"/>
              </a:lnSpc>
              <a:spcAft>
                <a:spcPts val="900"/>
              </a:spcAft>
              <a:defRPr sz="1600" b="0">
                <a:solidFill>
                  <a:srgbClr val="222222"/>
                </a:solidFill>
                <a:latin typeface="Calibri"/>
              </a:defRPr>
            </a:pPr>
            <a:r>
              <a:rPr sz="1600" b="0">
                <a:solidFill>
                  <a:srgbClr val="222222"/>
                </a:solidFill>
                <a:latin typeface="Calibri"/>
              </a:rPr>
              <a:t>Every Bluetooth device has an ADDRESS - six bytes, written as six pairs of hexadecimal digits, like 02:02:03:04:05:08. It is the equivalent of a phone number.</a:t>
            </a:r>
          </a:p>
          <a:p>
            <a:pPr algn="l">
              <a:lnSpc>
                <a:spcPct val="100000"/>
              </a:lnSpc>
              <a:spcAft>
                <a:spcPts val="900"/>
              </a:spcAft>
              <a:defRPr sz="1600" b="0">
                <a:solidFill>
                  <a:srgbClr val="222222"/>
                </a:solidFill>
                <a:latin typeface="Calibri"/>
              </a:defRPr>
            </a:pPr>
          </a:p>
          <a:p>
            <a:pPr algn="l">
              <a:lnSpc>
                <a:spcPct val="100000"/>
              </a:lnSpc>
              <a:spcAft>
                <a:spcPts val="900"/>
              </a:spcAft>
              <a:defRPr sz="1600" b="0">
                <a:solidFill>
                  <a:srgbClr val="222222"/>
                </a:solidFill>
                <a:latin typeface="Calibri"/>
              </a:defRPr>
            </a:pPr>
            <a:r>
              <a:rPr sz="1600" b="0">
                <a:solidFill>
                  <a:srgbClr val="222222"/>
                </a:solidFill>
                <a:latin typeface="Calibri"/>
              </a:rPr>
              <a:t>The ESP32 has Bluetooth built into the chip. That is a large part of why we use it.</a:t>
            </a:r>
          </a:p>
        </p:txBody>
      </p:sp>
      <p:sp>
        <p:nvSpPr>
          <p:cNvPr id="8" name="Rounded Rectangle 7"/>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A Bluetooth sketch fills about 85% of the ESP32's program storage. That is the radio stack, not your code - but it does mean there is not much room left, so keep additions lean.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One vehicle, one controller  -  the PS3 way</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4</a:t>
            </a:r>
          </a:p>
        </p:txBody>
      </p:sp>
      <p:sp>
        <p:nvSpPr>
          <p:cNvPr id="6" name="TextBox 5"/>
          <p:cNvSpPr txBox="1"/>
          <p:nvPr/>
        </p:nvSpPr>
        <p:spPr>
          <a:xfrm>
            <a:off x="502920" y="1188720"/>
            <a:ext cx="11185855" cy="4023360"/>
          </a:xfrm>
          <a:prstGeom prst="rect">
            <a:avLst/>
          </a:prstGeom>
          <a:noFill/>
        </p:spPr>
        <p:txBody>
          <a:bodyPr wrap="square" lIns="0" tIns="0" rIns="0" bIns="0">
            <a:spAutoFit/>
          </a:bodyPr>
          <a:lstStyle/>
          <a:p>
            <a:pPr algn="l">
              <a:lnSpc>
                <a:spcPct val="100000"/>
              </a:lnSpc>
              <a:spcAft>
                <a:spcPts val="600"/>
              </a:spcAft>
              <a:defRPr sz="1300" b="0">
                <a:solidFill>
                  <a:srgbClr val="222222"/>
                </a:solidFill>
                <a:latin typeface="Calibri"/>
              </a:defRPr>
            </a:pPr>
            <a:r>
              <a:rPr sz="1300" b="0">
                <a:solidFill>
                  <a:srgbClr val="222222"/>
                </a:solidFill>
                <a:latin typeface="Calibri"/>
              </a:rPr>
              <a:t>A PS3 controller has no discovery mode. It only ever talks to ONE address, and that address has to be written into the controller over a USB cable.</a:t>
            </a:r>
          </a:p>
          <a:p>
            <a:pPr algn="l">
              <a:lnSpc>
                <a:spcPct val="100000"/>
              </a:lnSpc>
              <a:spcAft>
                <a:spcPts val="600"/>
              </a:spcAft>
              <a:defRPr sz="1300" b="0">
                <a:solidFill>
                  <a:srgbClr val="222222"/>
                </a:solidFill>
                <a:latin typeface="Calibri"/>
              </a:defRPr>
            </a:pPr>
          </a:p>
          <a:p>
            <a:pPr algn="l">
              <a:lnSpc>
                <a:spcPct val="100000"/>
              </a:lnSpc>
              <a:spcAft>
                <a:spcPts val="600"/>
              </a:spcAft>
              <a:defRPr sz="1300" b="0">
                <a:solidFill>
                  <a:srgbClr val="222222"/>
                </a:solidFill>
                <a:latin typeface="Calibri"/>
              </a:defRPr>
            </a:pPr>
            <a:r>
              <a:rPr sz="1300" b="0">
                <a:solidFill>
                  <a:srgbClr val="222222"/>
                </a:solidFill>
                <a:latin typeface="Calibri"/>
              </a:rPr>
              <a:t>So on this track, the CONTROLLER is told which Bluetooth address to talk to.</a:t>
            </a:r>
          </a:p>
          <a:p>
            <a:pPr algn="l">
              <a:lnSpc>
                <a:spcPct val="100000"/>
              </a:lnSpc>
              <a:spcAft>
                <a:spcPts val="600"/>
              </a:spcAft>
              <a:defRPr sz="1300" b="0">
                <a:solidFill>
                  <a:srgbClr val="222222"/>
                </a:solidFill>
                <a:latin typeface="Calibri"/>
              </a:defRPr>
            </a:pPr>
          </a:p>
          <a:p>
            <a:pPr algn="l">
              <a:lnSpc>
                <a:spcPct val="100000"/>
              </a:lnSpc>
              <a:spcAft>
                <a:spcPts val="600"/>
              </a:spcAft>
              <a:defRPr sz="1300" b="0">
                <a:solidFill>
                  <a:srgbClr val="222222"/>
                </a:solidFill>
                <a:latin typeface="Calibri"/>
              </a:defRPr>
            </a:pPr>
            <a:r>
              <a:rPr sz="1300" b="0">
                <a:solidFill>
                  <a:srgbClr val="222222"/>
                </a:solidFill>
                <a:latin typeface="Calibri"/>
              </a:rPr>
              <a:t>The tool is SixaxisPairTool, on a Windows PC, over a USB cable.</a:t>
            </a:r>
          </a:p>
          <a:p>
            <a:pPr lvl="1" algn="l">
              <a:lnSpc>
                <a:spcPct val="100000"/>
              </a:lnSpc>
              <a:spcAft>
                <a:spcPts val="600"/>
              </a:spcAft>
              <a:defRPr sz="1300" b="0">
                <a:solidFill>
                  <a:srgbClr val="222222"/>
                </a:solidFill>
                <a:latin typeface="Calibri"/>
              </a:defRPr>
            </a:pPr>
            <a:r>
              <a:rPr sz="1300" b="0">
                <a:solidFill>
                  <a:srgbClr val="222222"/>
                </a:solidFill>
                <a:latin typeface="Calibri"/>
              </a:rPr>
              <a:t>1.  Plug the controller into a Windows PC with a USB cable.</a:t>
            </a:r>
          </a:p>
          <a:p>
            <a:pPr lvl="1" algn="l">
              <a:lnSpc>
                <a:spcPct val="100000"/>
              </a:lnSpc>
              <a:spcAft>
                <a:spcPts val="600"/>
              </a:spcAft>
              <a:defRPr sz="1300" b="0">
                <a:solidFill>
                  <a:srgbClr val="222222"/>
                </a:solidFill>
                <a:latin typeface="Calibri"/>
              </a:defRPr>
            </a:pPr>
            <a:r>
              <a:rPr sz="1300" b="0">
                <a:solidFill>
                  <a:srgbClr val="222222"/>
                </a:solidFill>
                <a:latin typeface="Calibri"/>
              </a:rPr>
              <a:t>2.  Open SixaxisPairTool. It shows the current master address.</a:t>
            </a:r>
          </a:p>
          <a:p>
            <a:pPr lvl="1" algn="l">
              <a:lnSpc>
                <a:spcPct val="100000"/>
              </a:lnSpc>
              <a:spcAft>
                <a:spcPts val="600"/>
              </a:spcAft>
              <a:defRPr sz="1300" b="0">
                <a:solidFill>
                  <a:srgbClr val="222222"/>
                </a:solidFill>
                <a:latin typeface="Calibri"/>
              </a:defRPr>
            </a:pPr>
            <a:r>
              <a:rPr sz="1300" b="0">
                <a:solidFill>
                  <a:srgbClr val="222222"/>
                </a:solidFill>
                <a:latin typeface="Calibri"/>
              </a:rPr>
              <a:t>3.  Type in the address you want and click Update.</a:t>
            </a:r>
          </a:p>
          <a:p>
            <a:pPr lvl="1" algn="l">
              <a:lnSpc>
                <a:spcPct val="100000"/>
              </a:lnSpc>
              <a:spcAft>
                <a:spcPts val="600"/>
              </a:spcAft>
              <a:defRPr sz="1300" b="0">
                <a:solidFill>
                  <a:srgbClr val="222222"/>
                </a:solidFill>
                <a:latin typeface="Calibri"/>
              </a:defRPr>
            </a:pPr>
            <a:r>
              <a:rPr sz="1300" b="0">
                <a:solidFill>
                  <a:srgbClr val="222222"/>
                </a:solidFill>
                <a:latin typeface="Calibri"/>
              </a:rPr>
              <a:t>4.  Put that same address into PS3_MAC_ADDRESS in the sketch.</a:t>
            </a:r>
          </a:p>
          <a:p>
            <a:pPr algn="l">
              <a:lnSpc>
                <a:spcPct val="100000"/>
              </a:lnSpc>
              <a:spcAft>
                <a:spcPts val="600"/>
              </a:spcAft>
              <a:defRPr sz="1300" b="0">
                <a:solidFill>
                  <a:srgbClr val="222222"/>
                </a:solidFill>
                <a:latin typeface="Calibri"/>
              </a:defRPr>
            </a:pPr>
          </a:p>
          <a:p>
            <a:pPr algn="l">
              <a:lnSpc>
                <a:spcPct val="100000"/>
              </a:lnSpc>
              <a:spcAft>
                <a:spcPts val="600"/>
              </a:spcAft>
              <a:defRPr sz="1300" b="0">
                <a:solidFill>
                  <a:srgbClr val="222222"/>
                </a:solidFill>
                <a:latin typeface="Calibri"/>
              </a:defRPr>
            </a:pPr>
            <a:r>
              <a:rPr sz="1300" b="0">
                <a:solidFill>
                  <a:srgbClr val="222222"/>
                </a:solidFill>
                <a:latin typeface="Calibri"/>
              </a:rPr>
              <a:t>Give every vehicle in the room a different one. If two vehicles share an address, one controller drives both of them.</a:t>
            </a:r>
          </a:p>
          <a:p>
            <a:pPr algn="l">
              <a:lnSpc>
                <a:spcPct val="100000"/>
              </a:lnSpc>
              <a:spcAft>
                <a:spcPts val="600"/>
              </a:spcAft>
              <a:defRPr sz="1300" b="0">
                <a:solidFill>
                  <a:srgbClr val="222222"/>
                </a:solidFill>
                <a:latin typeface="Calibri"/>
              </a:defRPr>
            </a:pPr>
          </a:p>
          <a:p>
            <a:pPr algn="l">
              <a:lnSpc>
                <a:spcPct val="100000"/>
              </a:lnSpc>
              <a:spcAft>
                <a:spcPts val="600"/>
              </a:spcAft>
              <a:defRPr sz="1300" b="0">
                <a:solidFill>
                  <a:srgbClr val="222222"/>
                </a:solidFill>
                <a:latin typeface="Calibri"/>
              </a:defRPr>
            </a:pPr>
            <a:r>
              <a:rPr sz="1300" b="0">
                <a:solidFill>
                  <a:srgbClr val="222222"/>
                </a:solidFill>
                <a:latin typeface="Calibri"/>
              </a:rPr>
              <a:t>Suggested scheme:  02:02:03:04:05:NN, where NN is the vehicle number. Write it on a sticker on the vehicle AND the controller.</a:t>
            </a:r>
          </a:p>
        </p:txBody>
      </p:sp>
      <p:sp>
        <p:nvSpPr>
          <p:cNvPr id="7" name="Rounded Rectangle 6"/>
          <p:cNvSpPr/>
          <p:nvPr/>
        </p:nvSpPr>
        <p:spPr>
          <a:xfrm>
            <a:off x="502920" y="5303520"/>
            <a:ext cx="11185855" cy="960120"/>
          </a:xfrm>
          <a:prstGeom prst="roundRect">
            <a:avLst>
              <a:gd name="adj" fmla="val 4000"/>
            </a:avLst>
          </a:prstGeom>
          <a:solidFill>
            <a:srgbClr val="FDF3E3"/>
          </a:solidFill>
          <a:ln w="1270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B46A0F"/>
                </a:solidFill>
                <a:latin typeface="Calibri"/>
              </a:rPr>
              <a:t>WATCH OUT   </a:t>
            </a:r>
            <a:r>
              <a:rPr sz="1500">
                <a:solidFill>
                  <a:srgbClr val="222222"/>
                </a:solidFill>
                <a:latin typeface="Calibri"/>
              </a:rPr>
              <a:t>The first pair of digits must be an EVEN number. An odd one silently fails to connect, which is a very confusing way to spend an afternoon.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PS3 controller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5</a:t>
            </a:r>
          </a:p>
        </p:txBody>
      </p:sp>
      <p:sp>
        <p:nvSpPr>
          <p:cNvPr id="6" name="TextBox 5"/>
          <p:cNvSpPr txBox="1"/>
          <p:nvPr/>
        </p:nvSpPr>
        <p:spPr>
          <a:xfrm>
            <a:off x="502920" y="1188720"/>
            <a:ext cx="11185855" cy="1005840"/>
          </a:xfrm>
          <a:prstGeom prst="rect">
            <a:avLst/>
          </a:prstGeom>
          <a:noFill/>
        </p:spPr>
        <p:txBody>
          <a:bodyPr wrap="square" lIns="0" tIns="0" rIns="0" bIns="0">
            <a:spAutoFit/>
          </a:bodyPr>
          <a:lstStyle/>
          <a:p>
            <a:pPr algn="l">
              <a:lnSpc>
                <a:spcPct val="100000"/>
              </a:lnSpc>
              <a:spcAft>
                <a:spcPts val="600"/>
              </a:spcAft>
              <a:defRPr sz="1600" b="0">
                <a:solidFill>
                  <a:srgbClr val="222222"/>
                </a:solidFill>
                <a:latin typeface="Calibri"/>
              </a:defRPr>
            </a:pPr>
            <a:r>
              <a:rPr sz="1600" b="0">
                <a:solidFill>
                  <a:srgbClr val="222222"/>
                </a:solidFill>
                <a:latin typeface="Calibri"/>
              </a:rPr>
              <a:t>Every one of those has a name in the program. Today you will press all of them and see what each is called.</a:t>
            </a:r>
          </a:p>
        </p:txBody>
      </p:sp>
      <p:pic>
        <p:nvPicPr>
          <p:cNvPr id="7" name="Picture 6" descr="ps3-button-map.png"/>
          <p:cNvPicPr>
            <a:picLocks noChangeAspect="1"/>
          </p:cNvPicPr>
          <p:nvPr/>
        </p:nvPicPr>
        <p:blipFill>
          <a:blip r:embed="rId2"/>
          <a:stretch>
            <a:fillRect/>
          </a:stretch>
        </p:blipFill>
        <p:spPr>
          <a:xfrm>
            <a:off x="3348284" y="2267712"/>
            <a:ext cx="5495126" cy="3648456"/>
          </a:xfrm>
          <a:prstGeom prst="rect">
            <a:avLst/>
          </a:prstGeom>
        </p:spPr>
      </p:pic>
      <p:sp>
        <p:nvSpPr>
          <p:cNvPr id="8" name="TextBox 7"/>
          <p:cNvSpPr txBox="1"/>
          <p:nvPr/>
        </p:nvSpPr>
        <p:spPr>
          <a:xfrm>
            <a:off x="502920" y="5971032"/>
            <a:ext cx="11185855" cy="310896"/>
          </a:xfrm>
          <a:prstGeom prst="rect">
            <a:avLst/>
          </a:prstGeom>
          <a:noFill/>
        </p:spPr>
        <p:txBody>
          <a:bodyPr wrap="square" lIns="0" tIns="0" rIns="0" bIns="0">
            <a:spAutoFit/>
          </a:bodyPr>
          <a:lstStyle/>
          <a:p>
            <a:pPr algn="ctr">
              <a:lnSpc>
                <a:spcPct val="100000"/>
              </a:lnSpc>
              <a:spcAft>
                <a:spcPts val="600"/>
              </a:spcAft>
              <a:defRPr sz="1000" b="0">
                <a:solidFill>
                  <a:srgbClr val="666666"/>
                </a:solidFill>
                <a:latin typeface="Calibri"/>
              </a:defRPr>
            </a:pPr>
            <a:r>
              <a:rPr sz="1000" b="0">
                <a:solidFill>
                  <a:srgbClr val="666666"/>
                </a:solidFill>
                <a:latin typeface="Calibri"/>
              </a:rPr>
              <a:t>Two analog sticks, a D-pad, four face buttons, four shoulder buttons and triggers, and three in the middle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Two kinds of control, and the axes they move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6</a:t>
            </a:r>
          </a:p>
        </p:txBody>
      </p:sp>
      <p:sp>
        <p:nvSpPr>
          <p:cNvPr id="6" name="TextBox 5"/>
          <p:cNvSpPr txBox="1"/>
          <p:nvPr/>
        </p:nvSpPr>
        <p:spPr>
          <a:xfrm>
            <a:off x="502920" y="1188720"/>
            <a:ext cx="5364327" cy="402336"/>
          </a:xfrm>
          <a:prstGeom prst="rect">
            <a:avLst/>
          </a:prstGeom>
          <a:noFill/>
        </p:spPr>
        <p:txBody>
          <a:bodyPr wrap="square" lIns="0" tIns="0" rIns="0" bIns="0">
            <a:spAutoFit/>
          </a:bodyPr>
          <a:lstStyle/>
          <a:p>
            <a:pPr algn="l">
              <a:lnSpc>
                <a:spcPct val="100000"/>
              </a:lnSpc>
              <a:spcAft>
                <a:spcPts val="600"/>
              </a:spcAft>
              <a:defRPr sz="1600" b="1">
                <a:solidFill>
                  <a:srgbClr val="0E7C86"/>
                </a:solidFill>
                <a:latin typeface="Calibri"/>
              </a:defRPr>
            </a:pPr>
            <a:r>
              <a:rPr sz="1600" b="1">
                <a:solidFill>
                  <a:srgbClr val="0E7C86"/>
                </a:solidFill>
                <a:latin typeface="Calibri"/>
              </a:rPr>
              <a:t>Digital: buttons</a:t>
            </a:r>
          </a:p>
        </p:txBody>
      </p:sp>
      <p:sp>
        <p:nvSpPr>
          <p:cNvPr id="7" name="TextBox 6"/>
          <p:cNvSpPr txBox="1"/>
          <p:nvPr/>
        </p:nvSpPr>
        <p:spPr>
          <a:xfrm>
            <a:off x="502920" y="1645920"/>
            <a:ext cx="5364327" cy="3474720"/>
          </a:xfrm>
          <a:prstGeom prst="rect">
            <a:avLst/>
          </a:prstGeom>
          <a:noFill/>
        </p:spPr>
        <p:txBody>
          <a:bodyPr wrap="square" lIns="0" tIns="0" rIns="0" bIns="0">
            <a:spAutoFit/>
          </a:bodyPr>
          <a:lstStyle/>
          <a:p>
            <a:pPr algn="l">
              <a:lnSpc>
                <a:spcPct val="100000"/>
              </a:lnSpc>
              <a:spcAft>
                <a:spcPts val="800"/>
              </a:spcAft>
              <a:defRPr sz="1600" b="0">
                <a:solidFill>
                  <a:srgbClr val="222222"/>
                </a:solidFill>
                <a:latin typeface="Calibri"/>
              </a:defRPr>
            </a:pPr>
            <a:r>
              <a:rPr sz="1600" b="0">
                <a:solidFill>
                  <a:srgbClr val="222222"/>
                </a:solidFill>
                <a:latin typeface="Calibri"/>
              </a:rPr>
              <a:t>A button is either pressed or it is not. true or false.</a:t>
            </a:r>
          </a:p>
          <a:p>
            <a:pPr algn="l">
              <a:lnSpc>
                <a:spcPct val="100000"/>
              </a:lnSpc>
              <a:spcAft>
                <a:spcPts val="800"/>
              </a:spcAft>
              <a:defRPr sz="1600" b="0">
                <a:solidFill>
                  <a:srgbClr val="222222"/>
                </a:solidFill>
                <a:latin typeface="Calibri"/>
              </a:defRPr>
            </a:pPr>
            <a:r>
              <a:rPr sz="1600" b="0">
                <a:solidFill>
                  <a:srgbClr val="222222"/>
                </a:solidFill>
                <a:latin typeface="Calibri"/>
              </a:rPr>
              <a:t>Face buttons, D-pad, shoulders, triggers, and clicking the sticks in.</a:t>
            </a:r>
          </a:p>
          <a:p>
            <a:pPr algn="l">
              <a:lnSpc>
                <a:spcPct val="100000"/>
              </a:lnSpc>
              <a:spcAft>
                <a:spcPts val="800"/>
              </a:spcAft>
              <a:defRPr sz="1600" b="0">
                <a:solidFill>
                  <a:srgbClr val="222222"/>
                </a:solidFill>
                <a:latin typeface="Calibri"/>
              </a:defRPr>
            </a:pPr>
            <a:r>
              <a:rPr sz="1600" b="0">
                <a:solidFill>
                  <a:srgbClr val="222222"/>
                </a:solidFill>
                <a:latin typeface="Calibri"/>
              </a:rPr>
              <a:t>Good for: on/off, mode changes, one-shot actions.</a:t>
            </a:r>
          </a:p>
          <a:p>
            <a:pPr algn="l">
              <a:lnSpc>
                <a:spcPct val="100000"/>
              </a:lnSpc>
              <a:spcAft>
                <a:spcPts val="800"/>
              </a:spcAft>
              <a:defRPr sz="1600" b="0">
                <a:solidFill>
                  <a:srgbClr val="222222"/>
                </a:solidFill>
                <a:latin typeface="Calibri"/>
              </a:defRPr>
            </a:pPr>
          </a:p>
          <a:p>
            <a:pPr algn="l">
              <a:lnSpc>
                <a:spcPct val="100000"/>
              </a:lnSpc>
              <a:spcAft>
                <a:spcPts val="800"/>
              </a:spcAft>
              <a:defRPr sz="1600" b="0">
                <a:solidFill>
                  <a:srgbClr val="222222"/>
                </a:solidFill>
                <a:latin typeface="Calibri"/>
              </a:defRPr>
            </a:pPr>
            <a:r>
              <a:rPr sz="1600" b="0">
                <a:solidFill>
                  <a:srgbClr val="222222"/>
                </a:solidFill>
                <a:latin typeface="Calibri"/>
              </a:rPr>
              <a:t>On this track:</a:t>
            </a:r>
          </a:p>
          <a:p>
            <a:pPr lvl="1" algn="l">
              <a:lnSpc>
                <a:spcPct val="100000"/>
              </a:lnSpc>
              <a:spcAft>
                <a:spcPts val="800"/>
              </a:spcAft>
              <a:defRPr sz="1600" b="0">
                <a:solidFill>
                  <a:srgbClr val="222222"/>
                </a:solidFill>
                <a:latin typeface="Calibri"/>
              </a:defRPr>
            </a:pPr>
            <a:r>
              <a:rPr sz="1600" b="0">
                <a:solidFill>
                  <a:srgbClr val="222222"/>
                </a:solidFill>
                <a:latin typeface="Calibri"/>
              </a:rPr>
              <a:t>Ps3.data.button.square</a:t>
            </a:r>
          </a:p>
        </p:txBody>
      </p:sp>
      <p:sp>
        <p:nvSpPr>
          <p:cNvPr id="8" name="TextBox 7"/>
          <p:cNvSpPr txBox="1"/>
          <p:nvPr/>
        </p:nvSpPr>
        <p:spPr>
          <a:xfrm>
            <a:off x="6324447" y="1188720"/>
            <a:ext cx="5364327" cy="402336"/>
          </a:xfrm>
          <a:prstGeom prst="rect">
            <a:avLst/>
          </a:prstGeom>
          <a:noFill/>
        </p:spPr>
        <p:txBody>
          <a:bodyPr wrap="square" lIns="0" tIns="0" rIns="0" bIns="0">
            <a:spAutoFit/>
          </a:bodyPr>
          <a:lstStyle/>
          <a:p>
            <a:pPr algn="l">
              <a:lnSpc>
                <a:spcPct val="100000"/>
              </a:lnSpc>
              <a:spcAft>
                <a:spcPts val="600"/>
              </a:spcAft>
              <a:defRPr sz="1600" b="1">
                <a:solidFill>
                  <a:srgbClr val="0E7C86"/>
                </a:solidFill>
                <a:latin typeface="Calibri"/>
              </a:defRPr>
            </a:pPr>
            <a:r>
              <a:rPr sz="1600" b="1">
                <a:solidFill>
                  <a:srgbClr val="0E7C86"/>
                </a:solidFill>
                <a:latin typeface="Calibri"/>
              </a:rPr>
              <a:t>Analog: thumbsticks</a:t>
            </a:r>
          </a:p>
        </p:txBody>
      </p:sp>
      <p:sp>
        <p:nvSpPr>
          <p:cNvPr id="9" name="TextBox 8"/>
          <p:cNvSpPr txBox="1"/>
          <p:nvPr/>
        </p:nvSpPr>
        <p:spPr>
          <a:xfrm>
            <a:off x="6324447" y="1645920"/>
            <a:ext cx="5364327" cy="3474720"/>
          </a:xfrm>
          <a:prstGeom prst="rect">
            <a:avLst/>
          </a:prstGeom>
          <a:noFill/>
        </p:spPr>
        <p:txBody>
          <a:bodyPr wrap="square" lIns="0" tIns="0" rIns="0" bIns="0">
            <a:spAutoFit/>
          </a:bodyPr>
          <a:lstStyle/>
          <a:p>
            <a:pPr algn="l">
              <a:lnSpc>
                <a:spcPct val="100000"/>
              </a:lnSpc>
              <a:spcAft>
                <a:spcPts val="800"/>
              </a:spcAft>
              <a:defRPr sz="1600" b="0">
                <a:solidFill>
                  <a:srgbClr val="222222"/>
                </a:solidFill>
                <a:latin typeface="Calibri"/>
              </a:defRPr>
            </a:pPr>
            <a:r>
              <a:rPr sz="1600" b="0">
                <a:solidFill>
                  <a:srgbClr val="222222"/>
                </a:solidFill>
                <a:latin typeface="Calibri"/>
              </a:rPr>
              <a:t>A stick reports HOW FAR it is pushed, on two axes.</a:t>
            </a:r>
          </a:p>
          <a:p>
            <a:pPr algn="l">
              <a:lnSpc>
                <a:spcPct val="100000"/>
              </a:lnSpc>
              <a:spcAft>
                <a:spcPts val="800"/>
              </a:spcAft>
              <a:defRPr sz="1600" b="0">
                <a:solidFill>
                  <a:srgbClr val="222222"/>
                </a:solidFill>
                <a:latin typeface="Calibri"/>
              </a:defRPr>
            </a:pPr>
            <a:r>
              <a:rPr sz="1600" b="0">
                <a:solidFill>
                  <a:srgbClr val="222222"/>
                </a:solidFill>
                <a:latin typeface="Calibri"/>
              </a:rPr>
              <a:t>On this track each axis reads -128 to +127.</a:t>
            </a:r>
          </a:p>
          <a:p>
            <a:pPr algn="l">
              <a:lnSpc>
                <a:spcPct val="100000"/>
              </a:lnSpc>
              <a:spcAft>
                <a:spcPts val="800"/>
              </a:spcAft>
              <a:defRPr sz="1600" b="0">
                <a:solidFill>
                  <a:srgbClr val="222222"/>
                </a:solidFill>
                <a:latin typeface="Calibri"/>
              </a:defRPr>
            </a:pPr>
            <a:r>
              <a:rPr sz="1600" b="0">
                <a:solidFill>
                  <a:srgbClr val="222222"/>
                </a:solidFill>
                <a:latin typeface="Calibri"/>
              </a:rPr>
              <a:t>Good for: speed, steering, aiming a servo.</a:t>
            </a:r>
          </a:p>
          <a:p>
            <a:pPr algn="l">
              <a:lnSpc>
                <a:spcPct val="100000"/>
              </a:lnSpc>
              <a:spcAft>
                <a:spcPts val="800"/>
              </a:spcAft>
              <a:defRPr sz="1600" b="0">
                <a:solidFill>
                  <a:srgbClr val="222222"/>
                </a:solidFill>
                <a:latin typeface="Calibri"/>
              </a:defRPr>
            </a:pPr>
          </a:p>
          <a:p>
            <a:pPr algn="l">
              <a:lnSpc>
                <a:spcPct val="100000"/>
              </a:lnSpc>
              <a:spcAft>
                <a:spcPts val="800"/>
              </a:spcAft>
              <a:defRPr sz="1600" b="0">
                <a:solidFill>
                  <a:srgbClr val="222222"/>
                </a:solidFill>
                <a:latin typeface="Calibri"/>
              </a:defRPr>
            </a:pPr>
            <a:r>
              <a:rPr sz="1600" b="0">
                <a:solidFill>
                  <a:srgbClr val="222222"/>
                </a:solidFill>
                <a:latin typeface="Calibri"/>
              </a:rPr>
              <a:t>On this track:</a:t>
            </a:r>
          </a:p>
          <a:p>
            <a:pPr lvl="1" algn="l">
              <a:lnSpc>
                <a:spcPct val="100000"/>
              </a:lnSpc>
              <a:spcAft>
                <a:spcPts val="800"/>
              </a:spcAft>
              <a:defRPr sz="1600" b="0">
                <a:solidFill>
                  <a:srgbClr val="222222"/>
                </a:solidFill>
                <a:latin typeface="Calibri"/>
              </a:defRPr>
            </a:pPr>
            <a:r>
              <a:rPr sz="1600" b="0">
                <a:solidFill>
                  <a:srgbClr val="222222"/>
                </a:solidFill>
                <a:latin typeface="Calibri"/>
              </a:rPr>
              <a:t>Ps3.data.analog.stick.lx     // left/right</a:t>
            </a:r>
          </a:p>
          <a:p>
            <a:pPr lvl="1" algn="l">
              <a:lnSpc>
                <a:spcPct val="100000"/>
              </a:lnSpc>
              <a:spcAft>
                <a:spcPts val="800"/>
              </a:spcAft>
              <a:defRPr sz="1600" b="0">
                <a:solidFill>
                  <a:srgbClr val="222222"/>
                </a:solidFill>
                <a:latin typeface="Calibri"/>
              </a:defRPr>
            </a:pPr>
            <a:r>
              <a:rPr sz="1600" b="0">
                <a:solidFill>
                  <a:srgbClr val="222222"/>
                </a:solidFill>
                <a:latin typeface="Calibri"/>
              </a:rPr>
              <a:t>Ps3.data.analog.stick.ly     // up/down</a:t>
            </a:r>
          </a:p>
        </p:txBody>
      </p:sp>
      <p:sp>
        <p:nvSpPr>
          <p:cNvPr id="10" name="Rounded Rectangle 9"/>
          <p:cNvSpPr/>
          <p:nvPr/>
        </p:nvSpPr>
        <p:spPr>
          <a:xfrm>
            <a:off x="502920" y="5303520"/>
            <a:ext cx="11185855" cy="960120"/>
          </a:xfrm>
          <a:prstGeom prst="roundRect">
            <a:avLst>
              <a:gd name="adj" fmla="val 4000"/>
            </a:avLst>
          </a:prstGeom>
          <a:solidFill>
            <a:srgbClr val="FDF3E3"/>
          </a:solidFill>
          <a:ln w="1270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B46A0F"/>
                </a:solidFill>
                <a:latin typeface="Calibri"/>
              </a:rPr>
              <a:t>WATCH OUT   </a:t>
            </a:r>
            <a:r>
              <a:rPr sz="1500">
                <a:solidFill>
                  <a:srgbClr val="222222"/>
                </a:solidFill>
                <a:latin typeface="Calibri"/>
              </a:rPr>
              <a:t>Push a stick UP and the number goes NEGATIVE. That catches everybody. It is why the driving code has a minus sign in front of the Y reading.</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Six degrees of freedom</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7</a:t>
            </a:r>
          </a:p>
        </p:txBody>
      </p:sp>
      <p:sp>
        <p:nvSpPr>
          <p:cNvPr id="6" name="TextBox 5"/>
          <p:cNvSpPr txBox="1"/>
          <p:nvPr/>
        </p:nvSpPr>
        <p:spPr>
          <a:xfrm>
            <a:off x="502920" y="1188720"/>
            <a:ext cx="11185855" cy="4023360"/>
          </a:xfrm>
          <a:prstGeom prst="rect">
            <a:avLst/>
          </a:prstGeom>
          <a:noFill/>
        </p:spPr>
        <p:txBody>
          <a:bodyPr wrap="square" lIns="0" tIns="0" rIns="0" bIns="0">
            <a:spAutoFit/>
          </a:bodyPr>
          <a:lstStyle/>
          <a:p>
            <a:pPr algn="l">
              <a:lnSpc>
                <a:spcPct val="100000"/>
              </a:lnSpc>
              <a:spcAft>
                <a:spcPts val="600"/>
              </a:spcAft>
              <a:defRPr sz="1300" b="0">
                <a:solidFill>
                  <a:srgbClr val="222222"/>
                </a:solidFill>
                <a:latin typeface="Calibri"/>
              </a:defRPr>
            </a:pPr>
            <a:r>
              <a:rPr sz="1300" b="0">
                <a:solidFill>
                  <a:srgbClr val="222222"/>
                </a:solidFill>
                <a:latin typeface="Calibri"/>
              </a:rPr>
              <a:t>Any rigid object in space can move in six independent ways. Three are translations - sliding along an axis - and three are rotations.</a:t>
            </a:r>
          </a:p>
          <a:p>
            <a:pPr algn="l">
              <a:lnSpc>
                <a:spcPct val="100000"/>
              </a:lnSpc>
              <a:spcAft>
                <a:spcPts val="600"/>
              </a:spcAft>
              <a:defRPr sz="1300" b="0">
                <a:solidFill>
                  <a:srgbClr val="222222"/>
                </a:solidFill>
                <a:latin typeface="Calibri"/>
              </a:defRPr>
            </a:pPr>
          </a:p>
          <a:p>
            <a:pPr algn="l">
              <a:lnSpc>
                <a:spcPct val="100000"/>
              </a:lnSpc>
              <a:spcAft>
                <a:spcPts val="600"/>
              </a:spcAft>
              <a:defRPr sz="1300" b="0">
                <a:solidFill>
                  <a:srgbClr val="222222"/>
                </a:solidFill>
                <a:latin typeface="Calibri"/>
              </a:defRPr>
            </a:pPr>
            <a:r>
              <a:rPr sz="1300" b="0">
                <a:solidFill>
                  <a:srgbClr val="222222"/>
                </a:solidFill>
                <a:latin typeface="Calibri"/>
              </a:rPr>
              <a:t>TRANSLATION</a:t>
            </a:r>
          </a:p>
          <a:p>
            <a:pPr lvl="1" algn="l">
              <a:lnSpc>
                <a:spcPct val="100000"/>
              </a:lnSpc>
              <a:spcAft>
                <a:spcPts val="600"/>
              </a:spcAft>
              <a:defRPr sz="1300" b="0">
                <a:solidFill>
                  <a:srgbClr val="222222"/>
                </a:solidFill>
                <a:latin typeface="Calibri"/>
              </a:defRPr>
            </a:pPr>
            <a:r>
              <a:rPr sz="1300" b="0">
                <a:solidFill>
                  <a:srgbClr val="222222"/>
                </a:solidFill>
                <a:latin typeface="Calibri"/>
              </a:rPr>
              <a:t>Forward and back  -  surge</a:t>
            </a:r>
          </a:p>
          <a:p>
            <a:pPr lvl="1" algn="l">
              <a:lnSpc>
                <a:spcPct val="100000"/>
              </a:lnSpc>
              <a:spcAft>
                <a:spcPts val="600"/>
              </a:spcAft>
              <a:defRPr sz="1300" b="0">
                <a:solidFill>
                  <a:srgbClr val="222222"/>
                </a:solidFill>
                <a:latin typeface="Calibri"/>
              </a:defRPr>
            </a:pPr>
            <a:r>
              <a:rPr sz="1300" b="0">
                <a:solidFill>
                  <a:srgbClr val="222222"/>
                </a:solidFill>
                <a:latin typeface="Calibri"/>
              </a:rPr>
              <a:t>Side to side  -  sway</a:t>
            </a:r>
          </a:p>
          <a:p>
            <a:pPr lvl="1" algn="l">
              <a:lnSpc>
                <a:spcPct val="100000"/>
              </a:lnSpc>
              <a:spcAft>
                <a:spcPts val="600"/>
              </a:spcAft>
              <a:defRPr sz="1300" b="0">
                <a:solidFill>
                  <a:srgbClr val="222222"/>
                </a:solidFill>
                <a:latin typeface="Calibri"/>
              </a:defRPr>
            </a:pPr>
            <a:r>
              <a:rPr sz="1300" b="0">
                <a:solidFill>
                  <a:srgbClr val="222222"/>
                </a:solidFill>
                <a:latin typeface="Calibri"/>
              </a:rPr>
              <a:t>Up and down  -  heave</a:t>
            </a:r>
          </a:p>
          <a:p>
            <a:pPr algn="l">
              <a:lnSpc>
                <a:spcPct val="100000"/>
              </a:lnSpc>
              <a:spcAft>
                <a:spcPts val="600"/>
              </a:spcAft>
              <a:defRPr sz="1300" b="0">
                <a:solidFill>
                  <a:srgbClr val="222222"/>
                </a:solidFill>
                <a:latin typeface="Calibri"/>
              </a:defRPr>
            </a:pPr>
          </a:p>
          <a:p>
            <a:pPr algn="l">
              <a:lnSpc>
                <a:spcPct val="100000"/>
              </a:lnSpc>
              <a:spcAft>
                <a:spcPts val="600"/>
              </a:spcAft>
              <a:defRPr sz="1300" b="0">
                <a:solidFill>
                  <a:srgbClr val="222222"/>
                </a:solidFill>
                <a:latin typeface="Calibri"/>
              </a:defRPr>
            </a:pPr>
            <a:r>
              <a:rPr sz="1300" b="0">
                <a:solidFill>
                  <a:srgbClr val="222222"/>
                </a:solidFill>
                <a:latin typeface="Calibri"/>
              </a:rPr>
              <a:t>ROTATION</a:t>
            </a:r>
          </a:p>
          <a:p>
            <a:pPr lvl="1" algn="l">
              <a:lnSpc>
                <a:spcPct val="100000"/>
              </a:lnSpc>
              <a:spcAft>
                <a:spcPts val="600"/>
              </a:spcAft>
              <a:defRPr sz="1300" b="0">
                <a:solidFill>
                  <a:srgbClr val="222222"/>
                </a:solidFill>
                <a:latin typeface="Calibri"/>
              </a:defRPr>
            </a:pPr>
            <a:r>
              <a:rPr sz="1300" b="0">
                <a:solidFill>
                  <a:srgbClr val="222222"/>
                </a:solidFill>
                <a:latin typeface="Calibri"/>
              </a:rPr>
              <a:t>Roll  -  tipping left or right about the fore-aft axis</a:t>
            </a:r>
          </a:p>
          <a:p>
            <a:pPr lvl="1" algn="l">
              <a:lnSpc>
                <a:spcPct val="100000"/>
              </a:lnSpc>
              <a:spcAft>
                <a:spcPts val="600"/>
              </a:spcAft>
              <a:defRPr sz="1300" b="0">
                <a:solidFill>
                  <a:srgbClr val="222222"/>
                </a:solidFill>
                <a:latin typeface="Calibri"/>
              </a:defRPr>
            </a:pPr>
            <a:r>
              <a:rPr sz="1300" b="0">
                <a:solidFill>
                  <a:srgbClr val="222222"/>
                </a:solidFill>
                <a:latin typeface="Calibri"/>
              </a:rPr>
              <a:t>Pitch  -  nose up or nose down</a:t>
            </a:r>
          </a:p>
          <a:p>
            <a:pPr lvl="1" algn="l">
              <a:lnSpc>
                <a:spcPct val="100000"/>
              </a:lnSpc>
              <a:spcAft>
                <a:spcPts val="600"/>
              </a:spcAft>
              <a:defRPr sz="1300" b="0">
                <a:solidFill>
                  <a:srgbClr val="222222"/>
                </a:solidFill>
                <a:latin typeface="Calibri"/>
              </a:defRPr>
            </a:pPr>
            <a:r>
              <a:rPr sz="1300" b="0">
                <a:solidFill>
                  <a:srgbClr val="222222"/>
                </a:solidFill>
                <a:latin typeface="Calibri"/>
              </a:rPr>
              <a:t>Yaw  -  turning left or right, which is your steering</a:t>
            </a:r>
          </a:p>
          <a:p>
            <a:pPr algn="l">
              <a:lnSpc>
                <a:spcPct val="100000"/>
              </a:lnSpc>
              <a:spcAft>
                <a:spcPts val="600"/>
              </a:spcAft>
              <a:defRPr sz="1300" b="0">
                <a:solidFill>
                  <a:srgbClr val="222222"/>
                </a:solidFill>
                <a:latin typeface="Calibri"/>
              </a:defRPr>
            </a:pPr>
          </a:p>
          <a:p>
            <a:pPr algn="l">
              <a:lnSpc>
                <a:spcPct val="100000"/>
              </a:lnSpc>
              <a:spcAft>
                <a:spcPts val="600"/>
              </a:spcAft>
              <a:defRPr sz="1300" b="0">
                <a:solidFill>
                  <a:srgbClr val="222222"/>
                </a:solidFill>
                <a:latin typeface="Calibri"/>
              </a:defRPr>
            </a:pPr>
            <a:r>
              <a:rPr sz="1300" b="0">
                <a:solidFill>
                  <a:srgbClr val="222222"/>
                </a:solidFill>
                <a:latin typeface="Calibri"/>
              </a:rPr>
              <a:t>A ground vehicle on a flat floor really only controls surge and yaw. A submersible or an aircraft controls all six, which is why they need far more from the operator.</a:t>
            </a:r>
          </a:p>
        </p:txBody>
      </p:sp>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The PS3 controller was originally called the Sixaxis because it could sense all six. Spelled backwards, Sixaxis is still Sixaxis.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what does the controller actually send?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8</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l3a_controller_check</a:t>
            </a:r>
            <a:r>
              <a:rPr sz="1200">
                <a:solidFill>
                  <a:srgbClr val="FFFFFF"/>
                </a:solidFill>
                <a:latin typeface="Calibri"/>
              </a:rPr>
              <a:t>     (25 minutes)</a:t>
            </a:r>
          </a:p>
        </p:txBody>
      </p:sp>
      <p:sp>
        <p:nvSpPr>
          <p:cNvPr id="7" name="TextBox 6"/>
          <p:cNvSpPr txBox="1"/>
          <p:nvPr/>
        </p:nvSpPr>
        <p:spPr>
          <a:xfrm>
            <a:off x="502920" y="1901952"/>
            <a:ext cx="5387187" cy="4361688"/>
          </a:xfrm>
          <a:prstGeom prst="rect">
            <a:avLst/>
          </a:prstGeom>
          <a:noFill/>
        </p:spPr>
        <p:txBody>
          <a:bodyPr wrap="square" lIns="0" tIns="0" rIns="0" bIns="0">
            <a:spAutoFit/>
          </a:bodyPr>
          <a:lstStyle/>
          <a:p>
            <a:pPr algn="l">
              <a:lnSpc>
                <a:spcPct val="100000"/>
              </a:lnSpc>
              <a:spcAft>
                <a:spcPts val="800"/>
              </a:spcAft>
              <a:defRPr sz="1600" b="0">
                <a:solidFill>
                  <a:srgbClr val="222222"/>
                </a:solidFill>
                <a:latin typeface="Calibri"/>
              </a:defRPr>
            </a:pPr>
            <a:r>
              <a:rPr sz="1600" b="0">
                <a:solidFill>
                  <a:srgbClr val="222222"/>
                </a:solidFill>
                <a:latin typeface="Calibri"/>
              </a:rPr>
              <a:t>1.  Upload it and open the Serial Monitor.</a:t>
            </a:r>
          </a:p>
          <a:p>
            <a:pPr algn="l">
              <a:lnSpc>
                <a:spcPct val="100000"/>
              </a:lnSpc>
              <a:spcAft>
                <a:spcPts val="800"/>
              </a:spcAft>
              <a:defRPr sz="1600" b="0">
                <a:solidFill>
                  <a:srgbClr val="222222"/>
                </a:solidFill>
                <a:latin typeface="Calibri"/>
              </a:defRPr>
            </a:pPr>
            <a:r>
              <a:rPr sz="1600" b="0">
                <a:solidFill>
                  <a:srgbClr val="222222"/>
                </a:solidFill>
                <a:latin typeface="Calibri"/>
              </a:rPr>
              <a:t>2.  Press the PS button on the controller.</a:t>
            </a:r>
          </a:p>
          <a:p>
            <a:pPr algn="l">
              <a:lnSpc>
                <a:spcPct val="100000"/>
              </a:lnSpc>
              <a:spcAft>
                <a:spcPts val="800"/>
              </a:spcAft>
              <a:defRPr sz="1600" b="0">
                <a:solidFill>
                  <a:srgbClr val="222222"/>
                </a:solidFill>
                <a:latin typeface="Calibri"/>
              </a:defRPr>
            </a:pPr>
            <a:r>
              <a:rPr sz="1600" b="0">
                <a:solidFill>
                  <a:srgbClr val="222222"/>
                </a:solidFill>
                <a:latin typeface="Calibri"/>
              </a:rPr>
              <a:t>3.  Press every button in turn and match it to the printed name.</a:t>
            </a:r>
          </a:p>
          <a:p>
            <a:pPr algn="l">
              <a:lnSpc>
                <a:spcPct val="100000"/>
              </a:lnSpc>
              <a:spcAft>
                <a:spcPts val="800"/>
              </a:spcAft>
              <a:defRPr sz="1600" b="0">
                <a:solidFill>
                  <a:srgbClr val="222222"/>
                </a:solidFill>
                <a:latin typeface="Calibri"/>
              </a:defRPr>
            </a:pPr>
            <a:r>
              <a:rPr sz="1600" b="0">
                <a:solidFill>
                  <a:srgbClr val="222222"/>
                </a:solidFill>
                <a:latin typeface="Calibri"/>
              </a:rPr>
              <a:t>4.  Push the left stick fully UP. Positive or negative?</a:t>
            </a:r>
          </a:p>
          <a:p>
            <a:pPr algn="l">
              <a:lnSpc>
                <a:spcPct val="100000"/>
              </a:lnSpc>
              <a:spcAft>
                <a:spcPts val="800"/>
              </a:spcAft>
              <a:defRPr sz="1600" b="0">
                <a:solidFill>
                  <a:srgbClr val="222222"/>
                </a:solidFill>
                <a:latin typeface="Calibri"/>
              </a:defRPr>
            </a:pPr>
            <a:r>
              <a:rPr sz="1600" b="0">
                <a:solidFill>
                  <a:srgbClr val="222222"/>
                </a:solidFill>
                <a:latin typeface="Calibri"/>
              </a:rPr>
              <a:t>5.  Let go of the sticks and DO NOT touch the controller. Does it print exactly 0, or does it drift?</a:t>
            </a:r>
          </a:p>
          <a:p>
            <a:pPr algn="l">
              <a:lnSpc>
                <a:spcPct val="100000"/>
              </a:lnSpc>
              <a:spcAft>
                <a:spcPts val="800"/>
              </a:spcAft>
              <a:defRPr sz="1600" b="0">
                <a:solidFill>
                  <a:srgbClr val="222222"/>
                </a:solidFill>
                <a:latin typeface="Calibri"/>
              </a:defRPr>
            </a:pPr>
            <a:r>
              <a:rPr sz="1600" b="0">
                <a:solidFill>
                  <a:srgbClr val="222222"/>
                </a:solidFill>
                <a:latin typeface="Calibri"/>
              </a:rPr>
              <a:t>6.  Push a stick diagonally. Watch x and y move together.</a:t>
            </a:r>
          </a:p>
          <a:p>
            <a:pPr algn="l">
              <a:lnSpc>
                <a:spcPct val="100000"/>
              </a:lnSpc>
              <a:spcAft>
                <a:spcPts val="800"/>
              </a:spcAft>
              <a:defRPr sz="1600" b="0">
                <a:solidFill>
                  <a:srgbClr val="222222"/>
                </a:solidFill>
                <a:latin typeface="Calibri"/>
              </a:defRPr>
            </a:pPr>
            <a:r>
              <a:rPr sz="1600" b="0">
                <a:solidFill>
                  <a:srgbClr val="222222"/>
                </a:solidFill>
                <a:latin typeface="Calibri"/>
              </a:rPr>
              <a:t>7.  Squeeze L2 slowly. It is not just on or off - watch the number.</a:t>
            </a:r>
          </a:p>
        </p:txBody>
      </p:sp>
      <p:sp>
        <p:nvSpPr>
          <p:cNvPr id="8" name="TextBox 7"/>
          <p:cNvSpPr txBox="1"/>
          <p:nvPr/>
        </p:nvSpPr>
        <p:spPr>
          <a:xfrm>
            <a:off x="6301587" y="1901952"/>
            <a:ext cx="5387187" cy="310896"/>
          </a:xfrm>
          <a:prstGeom prst="rect">
            <a:avLst/>
          </a:prstGeom>
          <a:noFill/>
        </p:spPr>
        <p:txBody>
          <a:bodyPr wrap="square" lIns="0" tIns="0" rIns="0" bIns="0">
            <a:spAutoFit/>
          </a:bodyPr>
          <a:lstStyle/>
          <a:p>
            <a:pPr algn="l">
              <a:lnSpc>
                <a:spcPct val="100000"/>
              </a:lnSpc>
              <a:spcAft>
                <a:spcPts val="300"/>
              </a:spcAft>
              <a:defRPr sz="1200" b="1">
                <a:solidFill>
                  <a:srgbClr val="0E7C86"/>
                </a:solidFill>
                <a:latin typeface="Calibri"/>
              </a:defRPr>
            </a:pPr>
            <a:r>
              <a:rPr sz="1200" b="1">
                <a:solidFill>
                  <a:srgbClr val="0E7C86"/>
                </a:solidFill>
                <a:latin typeface="Calibri"/>
              </a:rPr>
              <a:t>What you should see</a:t>
            </a:r>
          </a:p>
        </p:txBody>
      </p:sp>
      <p:sp>
        <p:nvSpPr>
          <p:cNvPr id="9" name="TextBox 8"/>
          <p:cNvSpPr txBox="1"/>
          <p:nvPr/>
        </p:nvSpPr>
        <p:spPr>
          <a:xfrm>
            <a:off x="6301587" y="2249424"/>
            <a:ext cx="5387187" cy="1815084"/>
          </a:xfrm>
          <a:prstGeom prst="rect">
            <a:avLst/>
          </a:prstGeom>
          <a:noFill/>
        </p:spPr>
        <p:txBody>
          <a:bodyPr wrap="square" lIns="0" tIns="0" rIns="0" bIns="0">
            <a:spAutoFit/>
          </a:bodyPr>
          <a:lstStyle/>
          <a:p>
            <a:pPr algn="l">
              <a:lnSpc>
                <a:spcPct val="100000"/>
              </a:lnSpc>
              <a:spcAft>
                <a:spcPts val="600"/>
              </a:spcAft>
              <a:defRPr sz="1500" b="0">
                <a:solidFill>
                  <a:srgbClr val="222222"/>
                </a:solidFill>
                <a:latin typeface="Calibri"/>
              </a:defRPr>
            </a:pPr>
            <a:r>
              <a:rPr sz="1500" b="0">
                <a:solidFill>
                  <a:srgbClr val="222222"/>
                </a:solidFill>
                <a:latin typeface="Calibri"/>
              </a:rPr>
              <a:t>A line for every press, every release, and every stick movement.</a:t>
            </a:r>
          </a:p>
        </p:txBody>
      </p:sp>
      <p:sp>
        <p:nvSpPr>
          <p:cNvPr id="10" name="TextBox 9"/>
          <p:cNvSpPr txBox="1"/>
          <p:nvPr/>
        </p:nvSpPr>
        <p:spPr>
          <a:xfrm>
            <a:off x="6301587" y="4101084"/>
            <a:ext cx="5387187" cy="310896"/>
          </a:xfrm>
          <a:prstGeom prst="rect">
            <a:avLst/>
          </a:prstGeom>
          <a:noFill/>
        </p:spPr>
        <p:txBody>
          <a:bodyPr wrap="square" lIns="0" tIns="0" rIns="0" bIns="0">
            <a:spAutoFit/>
          </a:bodyPr>
          <a:lstStyle/>
          <a:p>
            <a:pPr algn="l">
              <a:lnSpc>
                <a:spcPct val="100000"/>
              </a:lnSpc>
              <a:spcAft>
                <a:spcPts val="300"/>
              </a:spcAft>
              <a:defRPr sz="1200" b="1">
                <a:solidFill>
                  <a:srgbClr val="0E7C86"/>
                </a:solidFill>
                <a:latin typeface="Calibri"/>
              </a:defRPr>
            </a:pPr>
            <a:r>
              <a:rPr sz="1200" b="1">
                <a:solidFill>
                  <a:srgbClr val="0E7C86"/>
                </a:solidFill>
                <a:latin typeface="Calibri"/>
              </a:rPr>
              <a:t>Answer these</a:t>
            </a:r>
          </a:p>
        </p:txBody>
      </p:sp>
      <p:sp>
        <p:nvSpPr>
          <p:cNvPr id="11" name="TextBox 10"/>
          <p:cNvSpPr txBox="1"/>
          <p:nvPr/>
        </p:nvSpPr>
        <p:spPr>
          <a:xfrm>
            <a:off x="6301587" y="4448556"/>
            <a:ext cx="5387187" cy="1815084"/>
          </a:xfrm>
          <a:prstGeom prst="rect">
            <a:avLst/>
          </a:prstGeom>
          <a:noFill/>
        </p:spPr>
        <p:txBody>
          <a:bodyPr wrap="square" lIns="0" tIns="0" rIns="0" bIns="0">
            <a:spAutoFit/>
          </a:bodyPr>
          <a:lstStyle/>
          <a:p>
            <a:pPr algn="l">
              <a:lnSpc>
                <a:spcPct val="100000"/>
              </a:lnSpc>
              <a:spcAft>
                <a:spcPts val="600"/>
              </a:spcAft>
              <a:defRPr sz="1500" b="0">
                <a:solidFill>
                  <a:srgbClr val="222222"/>
                </a:solidFill>
                <a:latin typeface="Calibri"/>
              </a:defRPr>
            </a:pPr>
            <a:r>
              <a:rPr sz="1500" b="0">
                <a:solidFill>
                  <a:srgbClr val="222222"/>
                </a:solidFill>
                <a:latin typeface="Calibri"/>
              </a:rPr>
              <a:t>Which way is negative on the Y axis?</a:t>
            </a:r>
          </a:p>
          <a:p>
            <a:pPr algn="l">
              <a:lnSpc>
                <a:spcPct val="100000"/>
              </a:lnSpc>
              <a:spcAft>
                <a:spcPts val="600"/>
              </a:spcAft>
              <a:defRPr sz="1500" b="0">
                <a:solidFill>
                  <a:srgbClr val="222222"/>
                </a:solidFill>
                <a:latin typeface="Calibri"/>
              </a:defRPr>
            </a:pPr>
            <a:r>
              <a:rPr sz="1500" b="0">
                <a:solidFill>
                  <a:srgbClr val="222222"/>
                </a:solidFill>
                <a:latin typeface="Calibri"/>
              </a:rPr>
              <a:t>How far does your stick drift when nobody is touching it?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problem with believing the stick</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9</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Deadzone</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900"/>
              </a:spcAft>
              <a:defRPr sz="1700" b="0">
                <a:solidFill>
                  <a:srgbClr val="222222"/>
                </a:solidFill>
                <a:latin typeface="Calibri"/>
              </a:defRPr>
            </a:pPr>
            <a:r>
              <a:rPr sz="1700" b="0">
                <a:solidFill>
                  <a:srgbClr val="222222"/>
                </a:solidFill>
                <a:latin typeface="Calibri"/>
              </a:rPr>
              <a:t>A thumbstick that has been thumbed by a hundred students does not come back to exactly zero.</a:t>
            </a:r>
          </a:p>
          <a:p>
            <a:pPr algn="l">
              <a:lnSpc>
                <a:spcPct val="100000"/>
              </a:lnSpc>
              <a:spcAft>
                <a:spcPts val="900"/>
              </a:spcAft>
              <a:defRPr sz="1700" b="0">
                <a:solidFill>
                  <a:srgbClr val="222222"/>
                </a:solidFill>
                <a:latin typeface="Calibri"/>
              </a:defRPr>
            </a:pPr>
            <a:r>
              <a:rPr sz="1700" b="0">
                <a:solidFill>
                  <a:srgbClr val="222222"/>
                </a:solidFill>
                <a:latin typeface="Calibri"/>
              </a:rPr>
              <a:t>You just measured it. Yours probably reads a few counts either side of centre when nobody is touching it.</a:t>
            </a:r>
          </a:p>
          <a:p>
            <a:pPr algn="l">
              <a:lnSpc>
                <a:spcPct val="100000"/>
              </a:lnSpc>
              <a:spcAft>
                <a:spcPts val="900"/>
              </a:spcAft>
              <a:defRPr sz="1700" b="0">
                <a:solidFill>
                  <a:srgbClr val="222222"/>
                </a:solidFill>
                <a:latin typeface="Calibri"/>
              </a:defRPr>
            </a:pPr>
          </a:p>
          <a:p>
            <a:pPr algn="l">
              <a:lnSpc>
                <a:spcPct val="100000"/>
              </a:lnSpc>
              <a:spcAft>
                <a:spcPts val="900"/>
              </a:spcAft>
              <a:defRPr sz="1700" b="0">
                <a:solidFill>
                  <a:srgbClr val="222222"/>
                </a:solidFill>
                <a:latin typeface="Calibri"/>
              </a:defRPr>
            </a:pPr>
            <a:r>
              <a:rPr sz="1700" b="0">
                <a:solidFill>
                  <a:srgbClr val="222222"/>
                </a:solidFill>
                <a:latin typeface="Calibri"/>
              </a:rPr>
              <a:t>If we fed that straight to the motors, the vehicle would creep across the room on its own while the controller sat on the desk. In a classroom with twenty vehicles, that is not a minor annoyance.</a:t>
            </a:r>
          </a:p>
          <a:p>
            <a:pPr algn="l">
              <a:lnSpc>
                <a:spcPct val="100000"/>
              </a:lnSpc>
              <a:spcAft>
                <a:spcPts val="900"/>
              </a:spcAft>
              <a:defRPr sz="1700" b="0">
                <a:solidFill>
                  <a:srgbClr val="222222"/>
                </a:solidFill>
                <a:latin typeface="Calibri"/>
              </a:defRPr>
            </a:pPr>
          </a:p>
          <a:p>
            <a:pPr algn="l">
              <a:lnSpc>
                <a:spcPct val="100000"/>
              </a:lnSpc>
              <a:spcAft>
                <a:spcPts val="900"/>
              </a:spcAft>
              <a:defRPr sz="1700" b="0">
                <a:solidFill>
                  <a:srgbClr val="222222"/>
                </a:solidFill>
                <a:latin typeface="Calibri"/>
              </a:defRPr>
            </a:pPr>
            <a:r>
              <a:rPr sz="1700" b="0">
                <a:solidFill>
                  <a:srgbClr val="222222"/>
                </a:solidFill>
                <a:latin typeface="Calibri"/>
              </a:rPr>
              <a:t>The answer is a DEADZONE: any reading smaller than a threshold is treated as a firm, deliberate zero.</a:t>
            </a:r>
          </a:p>
          <a:p>
            <a:pPr algn="l">
              <a:lnSpc>
                <a:spcPct val="100000"/>
              </a:lnSpc>
              <a:spcAft>
                <a:spcPts val="900"/>
              </a:spcAft>
              <a:defRPr sz="1700" b="0">
                <a:solidFill>
                  <a:srgbClr val="222222"/>
                </a:solidFill>
                <a:latin typeface="Calibri"/>
              </a:defRPr>
            </a:pPr>
            <a:r>
              <a:rPr sz="1700" b="0">
                <a:solidFill>
                  <a:srgbClr val="222222"/>
                </a:solidFill>
                <a:latin typeface="Calibri"/>
              </a:rPr>
              <a:t>On this track the deadzone is 20, which is about 16% of the stick travel.</a:t>
            </a:r>
          </a:p>
          <a:p>
            <a:pPr algn="l">
              <a:lnSpc>
                <a:spcPct val="100000"/>
              </a:lnSpc>
              <a:spcAft>
                <a:spcPts val="900"/>
              </a:spcAft>
              <a:defRPr sz="1700" b="0">
                <a:solidFill>
                  <a:srgbClr val="222222"/>
                </a:solidFill>
                <a:latin typeface="Calibri"/>
              </a:defRPr>
            </a:pPr>
          </a:p>
          <a:p>
            <a:pPr algn="l">
              <a:lnSpc>
                <a:spcPct val="100000"/>
              </a:lnSpc>
              <a:spcAft>
                <a:spcPts val="900"/>
              </a:spcAft>
              <a:defRPr sz="1700" b="0">
                <a:solidFill>
                  <a:srgbClr val="222222"/>
                </a:solidFill>
                <a:latin typeface="Calibri"/>
              </a:defRPr>
            </a:pPr>
            <a:r>
              <a:rPr sz="1700" b="0">
                <a:solidFill>
                  <a:srgbClr val="222222"/>
                </a:solidFill>
                <a:latin typeface="Calibri"/>
              </a:rPr>
              <a:t>Too small and the vehicle creeps. Too big and you waste the stick.</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From thumbstick to motor speed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10</a:t>
            </a:r>
          </a:p>
        </p:txBody>
      </p:sp>
      <p:cxnSp>
        <p:nvCxnSpPr>
          <p:cNvPr id="6" name="Connector 5"/>
          <p:cNvCxnSpPr/>
          <p:nvPr/>
        </p:nvCxnSpPr>
        <p:spPr>
          <a:xfrm>
            <a:off x="1691640" y="4892040"/>
            <a:ext cx="5852160" cy="0"/>
          </a:xfrm>
          <a:prstGeom prst="line">
            <a:avLst/>
          </a:prstGeom>
          <a:ln w="22225">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1691640" y="1600200"/>
            <a:ext cx="0" cy="3291840"/>
          </a:xfrm>
          <a:prstGeom prst="line">
            <a:avLst/>
          </a:prstGeom>
          <a:ln w="22225">
            <a:solidFill>
              <a:srgbClr val="1F3A5F"/>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1691640" y="5001768"/>
            <a:ext cx="5852160" cy="274320"/>
          </a:xfrm>
          <a:prstGeom prst="rect">
            <a:avLst/>
          </a:prstGeom>
          <a:noFill/>
        </p:spPr>
        <p:txBody>
          <a:bodyPr wrap="square" lIns="0" tIns="0" rIns="0" bIns="0">
            <a:spAutoFit/>
          </a:bodyPr>
          <a:lstStyle/>
          <a:p>
            <a:pPr algn="ctr">
              <a:lnSpc>
                <a:spcPct val="100000"/>
              </a:lnSpc>
              <a:spcAft>
                <a:spcPts val="100"/>
              </a:spcAft>
              <a:defRPr sz="1100" b="0">
                <a:solidFill>
                  <a:srgbClr val="666666"/>
                </a:solidFill>
                <a:latin typeface="Calibri"/>
              </a:defRPr>
            </a:pPr>
            <a:r>
              <a:rPr sz="1100" b="0">
                <a:solidFill>
                  <a:srgbClr val="666666"/>
                </a:solidFill>
                <a:latin typeface="Calibri"/>
              </a:rPr>
              <a:t>stick reading   0  to  127</a:t>
            </a:r>
          </a:p>
        </p:txBody>
      </p:sp>
      <p:sp>
        <p:nvSpPr>
          <p:cNvPr id="9" name="TextBox 8"/>
          <p:cNvSpPr txBox="1"/>
          <p:nvPr/>
        </p:nvSpPr>
        <p:spPr>
          <a:xfrm>
            <a:off x="548640" y="1554480"/>
            <a:ext cx="1051560" cy="822960"/>
          </a:xfrm>
          <a:prstGeom prst="rect">
            <a:avLst/>
          </a:prstGeom>
          <a:noFill/>
        </p:spPr>
        <p:txBody>
          <a:bodyPr wrap="square" lIns="0" tIns="0" rIns="0" bIns="0">
            <a:spAutoFit/>
          </a:bodyPr>
          <a:lstStyle/>
          <a:p>
            <a:pPr algn="r">
              <a:lnSpc>
                <a:spcPct val="100000"/>
              </a:lnSpc>
              <a:spcAft>
                <a:spcPts val="100"/>
              </a:spcAft>
              <a:defRPr sz="1200" b="0">
                <a:solidFill>
                  <a:srgbClr val="666666"/>
                </a:solidFill>
                <a:latin typeface="Calibri"/>
              </a:defRPr>
            </a:pPr>
            <a:r>
              <a:rPr sz="1200" b="0">
                <a:solidFill>
                  <a:srgbClr val="666666"/>
                </a:solidFill>
                <a:latin typeface="Calibri"/>
              </a:rPr>
              <a:t>motor</a:t>
            </a:r>
          </a:p>
          <a:p>
            <a:pPr algn="r">
              <a:lnSpc>
                <a:spcPct val="100000"/>
              </a:lnSpc>
              <a:spcAft>
                <a:spcPts val="100"/>
              </a:spcAft>
              <a:defRPr sz="1200" b="0">
                <a:solidFill>
                  <a:srgbClr val="666666"/>
                </a:solidFill>
                <a:latin typeface="Calibri"/>
              </a:defRPr>
            </a:pPr>
            <a:r>
              <a:rPr sz="1200" b="0">
                <a:solidFill>
                  <a:srgbClr val="666666"/>
                </a:solidFill>
                <a:latin typeface="Calibri"/>
              </a:rPr>
              <a:t>speed</a:t>
            </a:r>
          </a:p>
          <a:p>
            <a:pPr algn="r">
              <a:lnSpc>
                <a:spcPct val="100000"/>
              </a:lnSpc>
              <a:spcAft>
                <a:spcPts val="100"/>
              </a:spcAft>
              <a:defRPr sz="1200" b="0">
                <a:solidFill>
                  <a:srgbClr val="666666"/>
                </a:solidFill>
                <a:latin typeface="Calibri"/>
              </a:defRPr>
            </a:pPr>
            <a:r>
              <a:rPr sz="1200" b="0">
                <a:solidFill>
                  <a:srgbClr val="666666"/>
                </a:solidFill>
                <a:latin typeface="Calibri"/>
              </a:rPr>
              <a:t>0 to 255</a:t>
            </a:r>
          </a:p>
        </p:txBody>
      </p:sp>
      <p:sp>
        <p:nvSpPr>
          <p:cNvPr id="10" name="Rectangle 9"/>
          <p:cNvSpPr/>
          <p:nvPr/>
        </p:nvSpPr>
        <p:spPr>
          <a:xfrm>
            <a:off x="1691640" y="1600200"/>
            <a:ext cx="921600" cy="3291840"/>
          </a:xfrm>
          <a:prstGeom prst="rect">
            <a:avLst/>
          </a:prstGeom>
          <a:solidFill>
            <a:srgbClr val="F6D8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11" name="Connector 10"/>
          <p:cNvCxnSpPr/>
          <p:nvPr/>
        </p:nvCxnSpPr>
        <p:spPr>
          <a:xfrm>
            <a:off x="1691640" y="4892040"/>
            <a:ext cx="921600" cy="0"/>
          </a:xfrm>
          <a:prstGeom prst="line">
            <a:avLst/>
          </a:prstGeom>
          <a:ln w="38100">
            <a:solidFill>
              <a:srgbClr val="A32A2A"/>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2613240" y="1600200"/>
            <a:ext cx="4930560" cy="3291840"/>
          </a:xfrm>
          <a:prstGeom prst="line">
            <a:avLst/>
          </a:prstGeom>
          <a:ln w="38100">
            <a:solidFill>
              <a:srgbClr val="0E7C86"/>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1691640" y="1216152"/>
            <a:ext cx="1470240" cy="548640"/>
          </a:xfrm>
          <a:prstGeom prst="rect">
            <a:avLst/>
          </a:prstGeom>
          <a:noFill/>
        </p:spPr>
        <p:txBody>
          <a:bodyPr wrap="square" lIns="0" tIns="0" rIns="0" bIns="0">
            <a:spAutoFit/>
          </a:bodyPr>
          <a:lstStyle/>
          <a:p>
            <a:pPr algn="ctr">
              <a:lnSpc>
                <a:spcPct val="100000"/>
              </a:lnSpc>
              <a:spcAft>
                <a:spcPts val="100"/>
              </a:spcAft>
              <a:defRPr sz="1100" b="1">
                <a:solidFill>
                  <a:srgbClr val="A32A2A"/>
                </a:solidFill>
                <a:latin typeface="Calibri"/>
              </a:defRPr>
            </a:pPr>
            <a:r>
              <a:rPr sz="1100" b="1">
                <a:solidFill>
                  <a:srgbClr val="A32A2A"/>
                </a:solidFill>
                <a:latin typeface="Calibri"/>
              </a:rPr>
              <a:t>DEADZONE</a:t>
            </a:r>
            <a:br/>
            <a:r>
              <a:rPr sz="1100" b="1">
                <a:solidFill>
                  <a:srgbClr val="A32A2A"/>
                </a:solidFill>
                <a:latin typeface="Calibri"/>
              </a:rPr>
              <a:t>answer is 0</a:t>
            </a:r>
          </a:p>
        </p:txBody>
      </p:sp>
      <p:sp>
        <p:nvSpPr>
          <p:cNvPr id="14" name="TextBox 13"/>
          <p:cNvSpPr txBox="1"/>
          <p:nvPr/>
        </p:nvSpPr>
        <p:spPr>
          <a:xfrm>
            <a:off x="2887560" y="1691640"/>
            <a:ext cx="3657600" cy="640080"/>
          </a:xfrm>
          <a:prstGeom prst="rect">
            <a:avLst/>
          </a:prstGeom>
          <a:noFill/>
        </p:spPr>
        <p:txBody>
          <a:bodyPr wrap="square" lIns="0" tIns="0" rIns="0" bIns="0">
            <a:spAutoFit/>
          </a:bodyPr>
          <a:lstStyle/>
          <a:p>
            <a:pPr algn="l">
              <a:lnSpc>
                <a:spcPct val="100000"/>
              </a:lnSpc>
              <a:spcAft>
                <a:spcPts val="100"/>
              </a:spcAft>
              <a:defRPr sz="1300" b="1">
                <a:solidFill>
                  <a:srgbClr val="0E7C86"/>
                </a:solidFill>
                <a:latin typeface="Calibri"/>
              </a:defRPr>
            </a:pPr>
            <a:r>
              <a:rPr sz="1300" b="1">
                <a:solidFill>
                  <a:srgbClr val="0E7C86"/>
                </a:solidFill>
                <a:latin typeface="Calibri"/>
              </a:rPr>
              <a:t>map() stretches what is left</a:t>
            </a:r>
            <a:br/>
            <a:r>
              <a:rPr sz="1300" b="1">
                <a:solidFill>
                  <a:srgbClr val="0E7C86"/>
                </a:solidFill>
                <a:latin typeface="Calibri"/>
              </a:rPr>
              <a:t>across the whole speed range</a:t>
            </a:r>
          </a:p>
        </p:txBody>
      </p:sp>
      <p:sp>
        <p:nvSpPr>
          <p:cNvPr id="15" name="TextBox 14"/>
          <p:cNvSpPr txBox="1"/>
          <p:nvPr/>
        </p:nvSpPr>
        <p:spPr>
          <a:xfrm>
            <a:off x="2156040" y="5221224"/>
            <a:ext cx="1097280" cy="274320"/>
          </a:xfrm>
          <a:prstGeom prst="rect">
            <a:avLst/>
          </a:prstGeom>
          <a:noFill/>
        </p:spPr>
        <p:txBody>
          <a:bodyPr wrap="square" lIns="0" tIns="0" rIns="0" bIns="0">
            <a:spAutoFit/>
          </a:bodyPr>
          <a:lstStyle/>
          <a:p>
            <a:pPr algn="ctr">
              <a:lnSpc>
                <a:spcPct val="100000"/>
              </a:lnSpc>
              <a:spcAft>
                <a:spcPts val="100"/>
              </a:spcAft>
              <a:defRPr sz="1100" b="0">
                <a:solidFill>
                  <a:srgbClr val="A32A2A"/>
                </a:solidFill>
                <a:latin typeface="Consolas"/>
              </a:defRPr>
            </a:pPr>
            <a:r>
              <a:rPr sz="1100" b="0">
                <a:solidFill>
                  <a:srgbClr val="A32A2A"/>
                </a:solidFill>
                <a:latin typeface="Consolas"/>
              </a:rPr>
              <a:t>20</a:t>
            </a:r>
          </a:p>
        </p:txBody>
      </p:sp>
      <p:sp>
        <p:nvSpPr>
          <p:cNvPr id="16" name="TextBox 15"/>
          <p:cNvSpPr txBox="1"/>
          <p:nvPr/>
        </p:nvSpPr>
        <p:spPr>
          <a:xfrm>
            <a:off x="8595360" y="1325880"/>
            <a:ext cx="3291840" cy="274320"/>
          </a:xfrm>
          <a:prstGeom prst="rect">
            <a:avLst/>
          </a:prstGeom>
          <a:noFill/>
        </p:spPr>
        <p:txBody>
          <a:bodyPr wrap="square" lIns="0" tIns="0" rIns="0" bIns="0">
            <a:spAutoFit/>
          </a:bodyPr>
          <a:lstStyle/>
          <a:p>
            <a:pPr algn="l">
              <a:lnSpc>
                <a:spcPct val="100000"/>
              </a:lnSpc>
              <a:spcAft>
                <a:spcPts val="100"/>
              </a:spcAft>
              <a:defRPr sz="1100" b="1">
                <a:solidFill>
                  <a:srgbClr val="0E7C86"/>
                </a:solidFill>
                <a:latin typeface="Consolas"/>
              </a:defRPr>
            </a:pPr>
            <a:r>
              <a:rPr sz="1100" b="1">
                <a:solidFill>
                  <a:srgbClr val="0E7C86"/>
                </a:solidFill>
                <a:latin typeface="Consolas"/>
              </a:rPr>
              <a:t>stickToSpeed()</a:t>
            </a:r>
          </a:p>
        </p:txBody>
      </p:sp>
      <p:sp>
        <p:nvSpPr>
          <p:cNvPr id="17" name="Rectangle 16"/>
          <p:cNvSpPr/>
          <p:nvPr/>
        </p:nvSpPr>
        <p:spPr>
          <a:xfrm>
            <a:off x="8595360" y="1691640"/>
            <a:ext cx="3291840" cy="2286000"/>
          </a:xfrm>
          <a:prstGeom prst="rect">
            <a:avLst/>
          </a:prstGeom>
          <a:solidFill>
            <a:srgbClr val="F4F6F8"/>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lnSpc>
                <a:spcPct val="100000"/>
              </a:lnSpc>
              <a:spcAft>
                <a:spcPts val="0"/>
              </a:spcAft>
              <a:defRPr sz="1100" b="0">
                <a:solidFill>
                  <a:srgbClr val="222222"/>
                </a:solidFill>
                <a:latin typeface="Consolas"/>
              </a:defRPr>
            </a:pPr>
            <a:r>
              <a:rPr sz="1100" b="0">
                <a:solidFill>
                  <a:srgbClr val="222222"/>
                </a:solidFill>
                <a:latin typeface="Consolas"/>
              </a:rPr>
              <a:t>if (abs(v) &lt; DEADZONE)</a:t>
            </a:r>
          </a:p>
          <a:p>
            <a:pPr algn="l">
              <a:lnSpc>
                <a:spcPct val="100000"/>
              </a:lnSpc>
              <a:spcAft>
                <a:spcPts val="0"/>
              </a:spcAft>
              <a:defRPr sz="1100" b="0">
                <a:solidFill>
                  <a:srgbClr val="222222"/>
                </a:solidFill>
                <a:latin typeface="Consolas"/>
              </a:defRPr>
            </a:pPr>
            <a:r>
              <a:rPr sz="1100" b="0">
                <a:solidFill>
                  <a:srgbClr val="222222"/>
                </a:solidFill>
                <a:latin typeface="Consolas"/>
              </a:rPr>
              <a:t>    return 0;</a:t>
            </a:r>
          </a:p>
          <a:p>
            <a:pPr algn="l">
              <a:lnSpc>
                <a:spcPct val="100000"/>
              </a:lnSpc>
              <a:spcAft>
                <a:spcPts val="0"/>
              </a:spcAft>
              <a:defRPr sz="1100" b="0">
                <a:solidFill>
                  <a:srgbClr val="222222"/>
                </a:solidFill>
                <a:latin typeface="Consolas"/>
              </a:defRPr>
            </a:pPr>
          </a:p>
          <a:p>
            <a:pPr algn="l">
              <a:lnSpc>
                <a:spcPct val="100000"/>
              </a:lnSpc>
              <a:spcAft>
                <a:spcPts val="0"/>
              </a:spcAft>
              <a:defRPr sz="1100" b="0">
                <a:solidFill>
                  <a:srgbClr val="222222"/>
                </a:solidFill>
                <a:latin typeface="Consolas"/>
              </a:defRPr>
            </a:pPr>
            <a:r>
              <a:rPr sz="1100" b="0">
                <a:solidFill>
                  <a:srgbClr val="222222"/>
                </a:solidFill>
                <a:latin typeface="Consolas"/>
              </a:rPr>
              <a:t>size = map(abs(v),</a:t>
            </a:r>
          </a:p>
          <a:p>
            <a:pPr algn="l">
              <a:lnSpc>
                <a:spcPct val="100000"/>
              </a:lnSpc>
              <a:spcAft>
                <a:spcPts val="0"/>
              </a:spcAft>
              <a:defRPr sz="1100" b="0">
                <a:solidFill>
                  <a:srgbClr val="222222"/>
                </a:solidFill>
                <a:latin typeface="Consolas"/>
              </a:defRPr>
            </a:pPr>
            <a:r>
              <a:rPr sz="1100" b="0">
                <a:solidFill>
                  <a:srgbClr val="222222"/>
                </a:solidFill>
                <a:latin typeface="Consolas"/>
              </a:rPr>
              <a:t>           DEADZONE, 127,</a:t>
            </a:r>
          </a:p>
          <a:p>
            <a:pPr algn="l">
              <a:lnSpc>
                <a:spcPct val="100000"/>
              </a:lnSpc>
              <a:spcAft>
                <a:spcPts val="0"/>
              </a:spcAft>
              <a:defRPr sz="1100" b="0">
                <a:solidFill>
                  <a:srgbClr val="222222"/>
                </a:solidFill>
                <a:latin typeface="Consolas"/>
              </a:defRPr>
            </a:pPr>
            <a:r>
              <a:rPr sz="1100" b="0">
                <a:solidFill>
                  <a:srgbClr val="222222"/>
                </a:solidFill>
                <a:latin typeface="Consolas"/>
              </a:rPr>
              <a:t>           MOTOR_MIN, maxSpeed);</a:t>
            </a:r>
          </a:p>
          <a:p>
            <a:pPr algn="l">
              <a:lnSpc>
                <a:spcPct val="100000"/>
              </a:lnSpc>
              <a:spcAft>
                <a:spcPts val="0"/>
              </a:spcAft>
              <a:defRPr sz="1100" b="0">
                <a:solidFill>
                  <a:srgbClr val="222222"/>
                </a:solidFill>
                <a:latin typeface="Consolas"/>
              </a:defRPr>
            </a:pPr>
          </a:p>
          <a:p>
            <a:pPr algn="l">
              <a:lnSpc>
                <a:spcPct val="100000"/>
              </a:lnSpc>
              <a:spcAft>
                <a:spcPts val="0"/>
              </a:spcAft>
              <a:defRPr sz="1100" b="0">
                <a:solidFill>
                  <a:srgbClr val="222222"/>
                </a:solidFill>
                <a:latin typeface="Consolas"/>
              </a:defRPr>
            </a:pPr>
            <a:r>
              <a:rPr sz="1100" b="0">
                <a:solidFill>
                  <a:srgbClr val="222222"/>
                </a:solidFill>
                <a:latin typeface="Consolas"/>
              </a:rPr>
              <a:t>return (v &gt; 0) ? size</a:t>
            </a:r>
          </a:p>
          <a:p>
            <a:pPr algn="l">
              <a:lnSpc>
                <a:spcPct val="100000"/>
              </a:lnSpc>
              <a:spcAft>
                <a:spcPts val="0"/>
              </a:spcAft>
              <a:defRPr sz="1100" b="0">
                <a:solidFill>
                  <a:srgbClr val="222222"/>
                </a:solidFill>
                <a:latin typeface="Consolas"/>
              </a:defRPr>
            </a:pPr>
            <a:r>
              <a:rPr sz="1100" b="0">
                <a:solidFill>
                  <a:srgbClr val="222222"/>
                </a:solidFill>
                <a:latin typeface="Consolas"/>
              </a:rPr>
              <a:t>                : -size;</a:t>
            </a:r>
          </a:p>
        </p:txBody>
      </p:sp>
      <p:sp>
        <p:nvSpPr>
          <p:cNvPr id="18" name="TextBox 17"/>
          <p:cNvSpPr txBox="1"/>
          <p:nvPr/>
        </p:nvSpPr>
        <p:spPr>
          <a:xfrm>
            <a:off x="8595360" y="4160520"/>
            <a:ext cx="3291840" cy="1028700"/>
          </a:xfrm>
          <a:prstGeom prst="rect">
            <a:avLst/>
          </a:prstGeom>
          <a:noFill/>
        </p:spPr>
        <p:txBody>
          <a:bodyPr wrap="square" lIns="0" tIns="0" rIns="0" bIns="0">
            <a:spAutoFit/>
          </a:bodyPr>
          <a:lstStyle/>
          <a:p>
            <a:pPr algn="l">
              <a:lnSpc>
                <a:spcPct val="100000"/>
              </a:lnSpc>
              <a:spcAft>
                <a:spcPts val="100"/>
              </a:spcAft>
              <a:defRPr sz="1100" b="0">
                <a:solidFill>
                  <a:srgbClr val="222222"/>
                </a:solidFill>
                <a:latin typeface="Calibri"/>
              </a:defRPr>
            </a:pPr>
            <a:r>
              <a:rPr sz="1100" b="0">
                <a:solidFill>
                  <a:srgbClr val="222222"/>
                </a:solidFill>
                <a:latin typeface="Calibri"/>
              </a:rPr>
              <a:t>Why a deadzone at all?</a:t>
            </a:r>
          </a:p>
          <a:p>
            <a:pPr algn="l">
              <a:lnSpc>
                <a:spcPct val="100000"/>
              </a:lnSpc>
              <a:spcAft>
                <a:spcPts val="100"/>
              </a:spcAft>
              <a:defRPr sz="1100" b="0">
                <a:solidFill>
                  <a:srgbClr val="222222"/>
                </a:solidFill>
                <a:latin typeface="Calibri"/>
              </a:defRPr>
            </a:pPr>
            <a:r>
              <a:rPr sz="1100" b="0">
                <a:solidFill>
                  <a:srgbClr val="222222"/>
                </a:solidFill>
                <a:latin typeface="Calibri"/>
              </a:rPr>
              <a:t>A worn stick does not return</a:t>
            </a:r>
          </a:p>
          <a:p>
            <a:pPr algn="l">
              <a:lnSpc>
                <a:spcPct val="100000"/>
              </a:lnSpc>
              <a:spcAft>
                <a:spcPts val="100"/>
              </a:spcAft>
              <a:defRPr sz="1100" b="0">
                <a:solidFill>
                  <a:srgbClr val="222222"/>
                </a:solidFill>
                <a:latin typeface="Calibri"/>
              </a:defRPr>
            </a:pPr>
            <a:r>
              <a:rPr sz="1100" b="0">
                <a:solidFill>
                  <a:srgbClr val="222222"/>
                </a:solidFill>
                <a:latin typeface="Calibri"/>
              </a:rPr>
              <a:t>to exactly zero. Without this</a:t>
            </a:r>
          </a:p>
          <a:p>
            <a:pPr algn="l">
              <a:lnSpc>
                <a:spcPct val="100000"/>
              </a:lnSpc>
              <a:spcAft>
                <a:spcPts val="100"/>
              </a:spcAft>
              <a:defRPr sz="1100" b="0">
                <a:solidFill>
                  <a:srgbClr val="222222"/>
                </a:solidFill>
                <a:latin typeface="Calibri"/>
              </a:defRPr>
            </a:pPr>
            <a:r>
              <a:rPr sz="1100" b="0">
                <a:solidFill>
                  <a:srgbClr val="222222"/>
                </a:solidFill>
                <a:latin typeface="Calibri"/>
              </a:rPr>
              <a:t>the vehicle creeps away on</a:t>
            </a:r>
          </a:p>
          <a:p>
            <a:pPr algn="l">
              <a:lnSpc>
                <a:spcPct val="100000"/>
              </a:lnSpc>
              <a:spcAft>
                <a:spcPts val="100"/>
              </a:spcAft>
              <a:defRPr sz="1100" b="0">
                <a:solidFill>
                  <a:srgbClr val="222222"/>
                </a:solidFill>
                <a:latin typeface="Calibri"/>
              </a:defRPr>
            </a:pPr>
            <a:r>
              <a:rPr sz="1100" b="0">
                <a:solidFill>
                  <a:srgbClr val="222222"/>
                </a:solidFill>
                <a:latin typeface="Calibri"/>
              </a:rPr>
              <a:t>its own.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map()  -  the most useful function in the course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11</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300"/>
              </a:spcAft>
              <a:defRPr sz="900" b="1">
                <a:solidFill>
                  <a:srgbClr val="0E7C86"/>
                </a:solidFill>
                <a:latin typeface="Consolas"/>
              </a:defRPr>
            </a:pPr>
            <a:r>
              <a:rPr sz="900" b="1">
                <a:solidFill>
                  <a:srgbClr val="0E7C86"/>
                </a:solidFill>
                <a:latin typeface="Consolas"/>
              </a:rPr>
              <a:t>the idea, and how the program uses it</a:t>
            </a:r>
          </a:p>
        </p:txBody>
      </p:sp>
      <p:sp>
        <p:nvSpPr>
          <p:cNvPr id="7" name="Rounded Rectangle 6"/>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tIns="91440" bIns="73152"/>
          <a:lstStyle/>
          <a:p>
            <a:pPr algn="l">
              <a:lnSpc>
                <a:spcPct val="100000"/>
              </a:lnSpc>
              <a:spcAft>
                <a:spcPts val="0"/>
              </a:spcAft>
              <a:defRPr sz="1300">
                <a:latin typeface="Consolas"/>
              </a:defRPr>
            </a:pPr>
            <a:r>
              <a:rPr sz="1300">
                <a:solidFill>
                  <a:srgbClr val="222222"/>
                </a:solidFill>
                <a:latin typeface="Consolas"/>
              </a:rPr>
              <a:t>map(value, fromLow, fromHigh, toLow, toHigh)</a:t>
            </a:r>
          </a:p>
          <a:p>
            <a:pPr algn="l">
              <a:lnSpc>
                <a:spcPct val="100000"/>
              </a:lnSpc>
              <a:spcAft>
                <a:spcPts val="0"/>
              </a:spcAft>
              <a:defRPr sz="1300">
                <a:latin typeface="Consolas"/>
              </a:defRPr>
            </a:pPr>
            <a:r>
              <a:rPr sz="1300">
                <a:solidFill>
                  <a:srgbClr val="222222"/>
                </a:solidFill>
                <a:latin typeface="Consolas"/>
              </a:rPr>
              <a:t> </a:t>
            </a:r>
          </a:p>
          <a:p>
            <a:pPr algn="l">
              <a:lnSpc>
                <a:spcPct val="100000"/>
              </a:lnSpc>
              <a:spcAft>
                <a:spcPts val="0"/>
              </a:spcAft>
              <a:defRPr sz="1300">
                <a:latin typeface="Consolas"/>
              </a:defRPr>
            </a:pPr>
            <a:r>
              <a:rPr sz="1300">
                <a:solidFill>
                  <a:srgbClr val="666666"/>
                </a:solidFill>
                <a:latin typeface="Consolas"/>
              </a:rPr>
              <a:t>// "value sits somewhere between fromLow and fromHigh.</a:t>
            </a:r>
          </a:p>
          <a:p>
            <a:pPr algn="l">
              <a:lnSpc>
                <a:spcPct val="100000"/>
              </a:lnSpc>
              <a:spcAft>
                <a:spcPts val="0"/>
              </a:spcAft>
              <a:defRPr sz="1300">
                <a:latin typeface="Consolas"/>
              </a:defRPr>
            </a:pPr>
            <a:r>
              <a:rPr sz="1300">
                <a:solidFill>
                  <a:srgbClr val="666666"/>
                </a:solidFill>
                <a:latin typeface="Consolas"/>
              </a:rPr>
              <a:t>//  Where does it sit between toLow and toHigh?"</a:t>
            </a:r>
          </a:p>
          <a:p>
            <a:pPr algn="l">
              <a:lnSpc>
                <a:spcPct val="100000"/>
              </a:lnSpc>
              <a:spcAft>
                <a:spcPts val="0"/>
              </a:spcAft>
              <a:defRPr sz="1300">
                <a:latin typeface="Consolas"/>
              </a:defRPr>
            </a:pPr>
            <a:r>
              <a:rPr sz="1300">
                <a:solidFill>
                  <a:srgbClr val="222222"/>
                </a:solidFill>
                <a:latin typeface="Consolas"/>
              </a:rPr>
              <a:t> </a:t>
            </a:r>
          </a:p>
          <a:p>
            <a:pPr algn="l">
              <a:lnSpc>
                <a:spcPct val="100000"/>
              </a:lnSpc>
              <a:spcAft>
                <a:spcPts val="0"/>
              </a:spcAft>
              <a:defRPr sz="1300">
                <a:latin typeface="Consolas"/>
              </a:defRPr>
            </a:pPr>
            <a:r>
              <a:rPr sz="1300">
                <a:solidFill>
                  <a:srgbClr val="222222"/>
                </a:solidFill>
                <a:latin typeface="Consolas"/>
              </a:rPr>
              <a:t>map(0,   0, 127, 0, 255)   -&gt;    0</a:t>
            </a:r>
          </a:p>
          <a:p>
            <a:pPr algn="l">
              <a:lnSpc>
                <a:spcPct val="100000"/>
              </a:lnSpc>
              <a:spcAft>
                <a:spcPts val="0"/>
              </a:spcAft>
              <a:defRPr sz="1300">
                <a:latin typeface="Consolas"/>
              </a:defRPr>
            </a:pPr>
            <a:r>
              <a:rPr sz="1300">
                <a:solidFill>
                  <a:srgbClr val="222222"/>
                </a:solidFill>
                <a:latin typeface="Consolas"/>
              </a:rPr>
              <a:t>map(63, 0, 63, 0, 255)   -&gt;  127</a:t>
            </a:r>
          </a:p>
          <a:p>
            <a:pPr algn="l">
              <a:lnSpc>
                <a:spcPct val="100000"/>
              </a:lnSpc>
              <a:spcAft>
                <a:spcPts val="0"/>
              </a:spcAft>
              <a:defRPr sz="1300">
                <a:latin typeface="Consolas"/>
              </a:defRPr>
            </a:pPr>
            <a:r>
              <a:rPr sz="1300">
                <a:solidFill>
                  <a:srgbClr val="222222"/>
                </a:solidFill>
                <a:latin typeface="Consolas"/>
              </a:rPr>
              <a:t>map(127, 0, 127, 0, 255)   -&gt;  255</a:t>
            </a:r>
          </a:p>
          <a:p>
            <a:pPr algn="l">
              <a:lnSpc>
                <a:spcPct val="100000"/>
              </a:lnSpc>
              <a:spcAft>
                <a:spcPts val="0"/>
              </a:spcAft>
              <a:defRPr sz="1300">
                <a:latin typeface="Consolas"/>
              </a:defRPr>
            </a:pPr>
            <a:r>
              <a:rPr sz="1300">
                <a:solidFill>
                  <a:srgbClr val="222222"/>
                </a:solidFill>
                <a:latin typeface="Consolas"/>
              </a:rPr>
              <a:t> </a:t>
            </a:r>
          </a:p>
          <a:p>
            <a:pPr algn="l">
              <a:lnSpc>
                <a:spcPct val="100000"/>
              </a:lnSpc>
              <a:spcAft>
                <a:spcPts val="0"/>
              </a:spcAft>
              <a:defRPr sz="1300">
                <a:latin typeface="Consolas"/>
              </a:defRPr>
            </a:pPr>
            <a:r>
              <a:rPr sz="1300">
                <a:solidFill>
                  <a:srgbClr val="666666"/>
                </a:solidFill>
                <a:latin typeface="Consolas"/>
              </a:rPr>
              <a:t>// In stickToSpeed the low end is the DEADZONE, not zero,</a:t>
            </a:r>
          </a:p>
          <a:p>
            <a:pPr algn="l">
              <a:lnSpc>
                <a:spcPct val="100000"/>
              </a:lnSpc>
              <a:spcAft>
                <a:spcPts val="0"/>
              </a:spcAft>
              <a:defRPr sz="1300">
                <a:latin typeface="Consolas"/>
              </a:defRPr>
            </a:pPr>
            <a:r>
              <a:rPr sz="1300">
                <a:solidFill>
                  <a:srgbClr val="666666"/>
                </a:solidFill>
                <a:latin typeface="Consolas"/>
              </a:rPr>
              <a:t>// so the leftover travel is stretched across the whole</a:t>
            </a:r>
          </a:p>
          <a:p>
            <a:pPr algn="l">
              <a:lnSpc>
                <a:spcPct val="100000"/>
              </a:lnSpc>
              <a:spcAft>
                <a:spcPts val="0"/>
              </a:spcAft>
              <a:defRPr sz="1300">
                <a:latin typeface="Consolas"/>
              </a:defRPr>
            </a:pPr>
            <a:r>
              <a:rPr sz="1300">
                <a:solidFill>
                  <a:srgbClr val="666666"/>
                </a:solidFill>
                <a:latin typeface="Consolas"/>
              </a:rPr>
              <a:t>// speed range. Without that you could never reach 255.</a:t>
            </a:r>
          </a:p>
          <a:p>
            <a:pPr algn="l">
              <a:lnSpc>
                <a:spcPct val="100000"/>
              </a:lnSpc>
              <a:spcAft>
                <a:spcPts val="0"/>
              </a:spcAft>
              <a:defRPr sz="1300">
                <a:latin typeface="Consolas"/>
              </a:defRPr>
            </a:pPr>
            <a:r>
              <a:rPr sz="1300">
                <a:solidFill>
                  <a:srgbClr val="222222"/>
                </a:solidFill>
                <a:latin typeface="Consolas"/>
              </a:rPr>
              <a:t> </a:t>
            </a:r>
          </a:p>
          <a:p>
            <a:pPr algn="l">
              <a:lnSpc>
                <a:spcPct val="100000"/>
              </a:lnSpc>
              <a:spcAft>
                <a:spcPts val="0"/>
              </a:spcAft>
              <a:defRPr sz="1300">
                <a:latin typeface="Consolas"/>
              </a:defRPr>
            </a:pPr>
            <a:r>
              <a:rPr sz="1300" b="1">
                <a:solidFill>
                  <a:srgbClr val="0E7C86"/>
                </a:solidFill>
                <a:latin typeface="Consolas"/>
              </a:rPr>
              <a:t>size = map(abs(v), 20, 127, MOTOR_MIN, maxSpeed);</a:t>
            </a:r>
          </a:p>
        </p:txBody>
      </p:sp>
      <p:sp>
        <p:nvSpPr>
          <p:cNvPr id="8" name="TextBox 7"/>
          <p:cNvSpPr txBox="1"/>
          <p:nvPr/>
        </p:nvSpPr>
        <p:spPr>
          <a:xfrm>
            <a:off x="7870048" y="1517904"/>
            <a:ext cx="3818727" cy="4745736"/>
          </a:xfrm>
          <a:prstGeom prst="rect">
            <a:avLst/>
          </a:prstGeom>
          <a:noFill/>
        </p:spPr>
        <p:txBody>
          <a:bodyPr wrap="square" lIns="0" tIns="0" rIns="0" bIns="0">
            <a:spAutoFit/>
          </a:bodyPr>
          <a:lstStyle/>
          <a:p>
            <a:pPr algn="l">
              <a:lnSpc>
                <a:spcPct val="100000"/>
              </a:lnSpc>
              <a:spcAft>
                <a:spcPts val="1100"/>
              </a:spcAft>
              <a:defRPr sz="1500" b="0">
                <a:solidFill>
                  <a:srgbClr val="222222"/>
                </a:solidFill>
                <a:latin typeface="Calibri"/>
              </a:defRPr>
            </a:pPr>
            <a:r>
              <a:rPr sz="1500" b="0">
                <a:solidFill>
                  <a:srgbClr val="222222"/>
                </a:solidFill>
                <a:latin typeface="Calibri"/>
              </a:rPr>
              <a:t>map() is just proportion. Nothing more.</a:t>
            </a:r>
          </a:p>
          <a:p>
            <a:pPr algn="l">
              <a:lnSpc>
                <a:spcPct val="100000"/>
              </a:lnSpc>
              <a:spcAft>
                <a:spcPts val="1100"/>
              </a:spcAft>
              <a:defRPr sz="1500" b="0">
                <a:solidFill>
                  <a:srgbClr val="222222"/>
                </a:solidFill>
                <a:latin typeface="Calibri"/>
              </a:defRPr>
            </a:pPr>
            <a:r>
              <a:rPr sz="1500" b="0">
                <a:solidFill>
                  <a:srgbClr val="222222"/>
                </a:solidFill>
                <a:latin typeface="Calibri"/>
              </a:rPr>
              <a:t>It does NOT clamp. Feed it something outside the input range and you get something outside the output range, which is why the program calls constrain() straight afterwards.</a:t>
            </a:r>
          </a:p>
          <a:p>
            <a:pPr algn="l">
              <a:lnSpc>
                <a:spcPct val="100000"/>
              </a:lnSpc>
              <a:spcAft>
                <a:spcPts val="1100"/>
              </a:spcAft>
              <a:defRPr sz="1500" b="0">
                <a:solidFill>
                  <a:srgbClr val="222222"/>
                </a:solidFill>
                <a:latin typeface="Calibri"/>
              </a:defRPr>
            </a:pPr>
            <a:r>
              <a:rPr sz="1500" b="0">
                <a:solidFill>
                  <a:srgbClr val="222222"/>
                </a:solidFill>
                <a:latin typeface="Calibri"/>
              </a:rPr>
              <a:t>abs() throws away the sign, so we map the SIZE of the push and put the direction back at the end.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watch the arithmetic</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12</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l3b_deadzone_and_map</a:t>
            </a:r>
            <a:r>
              <a:rPr sz="1200">
                <a:solidFill>
                  <a:srgbClr val="FFFFFF"/>
                </a:solidFill>
                <a:latin typeface="Calibri"/>
              </a:rPr>
              <a:t>     (20 minutes)</a:t>
            </a:r>
          </a:p>
        </p:txBody>
      </p:sp>
      <p:sp>
        <p:nvSpPr>
          <p:cNvPr id="7" name="TextBox 6"/>
          <p:cNvSpPr txBox="1"/>
          <p:nvPr/>
        </p:nvSpPr>
        <p:spPr>
          <a:xfrm>
            <a:off x="502920" y="1901952"/>
            <a:ext cx="5387187" cy="4361688"/>
          </a:xfrm>
          <a:prstGeom prst="rect">
            <a:avLst/>
          </a:prstGeom>
          <a:noFill/>
        </p:spPr>
        <p:txBody>
          <a:bodyPr wrap="square" lIns="0" tIns="0" rIns="0" bIns="0">
            <a:spAutoFit/>
          </a:bodyPr>
          <a:lstStyle/>
          <a:p>
            <a:pPr algn="l">
              <a:lnSpc>
                <a:spcPct val="100000"/>
              </a:lnSpc>
              <a:spcAft>
                <a:spcPts val="800"/>
              </a:spcAft>
              <a:defRPr sz="1600" b="0">
                <a:solidFill>
                  <a:srgbClr val="222222"/>
                </a:solidFill>
                <a:latin typeface="Calibri"/>
              </a:defRPr>
            </a:pPr>
            <a:r>
              <a:rPr sz="1600" b="0">
                <a:solidFill>
                  <a:srgbClr val="222222"/>
                </a:solidFill>
                <a:latin typeface="Calibri"/>
              </a:rPr>
              <a:t>1.  Upload it. Nothing moves - this is print only.</a:t>
            </a:r>
          </a:p>
          <a:p>
            <a:pPr algn="l">
              <a:lnSpc>
                <a:spcPct val="100000"/>
              </a:lnSpc>
              <a:spcAft>
                <a:spcPts val="800"/>
              </a:spcAft>
              <a:defRPr sz="1600" b="0">
                <a:solidFill>
                  <a:srgbClr val="222222"/>
                </a:solidFill>
                <a:latin typeface="Calibri"/>
              </a:defRPr>
            </a:pPr>
            <a:r>
              <a:rPr sz="1600" b="0">
                <a:solidFill>
                  <a:srgbClr val="222222"/>
                </a:solidFill>
                <a:latin typeface="Calibri"/>
              </a:rPr>
              <a:t>2.  Push the stick VERY slowly from centre to full forward. Watch both columns. Where does the speed stop being 0?</a:t>
            </a:r>
          </a:p>
          <a:p>
            <a:pPr algn="l">
              <a:lnSpc>
                <a:spcPct val="100000"/>
              </a:lnSpc>
              <a:spcAft>
                <a:spcPts val="800"/>
              </a:spcAft>
              <a:defRPr sz="1600" b="0">
                <a:solidFill>
                  <a:srgbClr val="222222"/>
                </a:solidFill>
                <a:latin typeface="Calibri"/>
              </a:defRPr>
            </a:pPr>
            <a:r>
              <a:rPr sz="1600" b="0">
                <a:solidFill>
                  <a:srgbClr val="222222"/>
                </a:solidFill>
                <a:latin typeface="Calibri"/>
              </a:rPr>
              <a:t>3.  Set STICK_DEADZONE to 0. Upload. Put the controller down and do not touch it. Does the speed stay at 0?</a:t>
            </a:r>
          </a:p>
          <a:p>
            <a:pPr algn="l">
              <a:lnSpc>
                <a:spcPct val="100000"/>
              </a:lnSpc>
              <a:spcAft>
                <a:spcPts val="800"/>
              </a:spcAft>
              <a:defRPr sz="1600" b="0">
                <a:solidFill>
                  <a:srgbClr val="222222"/>
                </a:solidFill>
                <a:latin typeface="Calibri"/>
              </a:defRPr>
            </a:pPr>
            <a:r>
              <a:rPr sz="1600" b="0">
                <a:solidFill>
                  <a:srgbClr val="222222"/>
                </a:solidFill>
                <a:latin typeface="Calibri"/>
              </a:rPr>
              <a:t>4.  Set it to 101. How much of the stick is now wasted?</a:t>
            </a:r>
          </a:p>
          <a:p>
            <a:pPr algn="l">
              <a:lnSpc>
                <a:spcPct val="100000"/>
              </a:lnSpc>
              <a:spcAft>
                <a:spcPts val="800"/>
              </a:spcAft>
              <a:defRPr sz="1600" b="0">
                <a:solidFill>
                  <a:srgbClr val="222222"/>
                </a:solidFill>
                <a:latin typeface="Calibri"/>
              </a:defRPr>
            </a:pPr>
            <a:r>
              <a:rPr sz="1600" b="0">
                <a:solidFill>
                  <a:srgbClr val="222222"/>
                </a:solidFill>
                <a:latin typeface="Calibri"/>
              </a:rPr>
              <a:t>5.  Put it back. Now set MOTOR_MIN to 60 and watch what happens the instant you leave the deadzone.</a:t>
            </a:r>
          </a:p>
        </p:txBody>
      </p:sp>
      <p:sp>
        <p:nvSpPr>
          <p:cNvPr id="8" name="TextBox 7"/>
          <p:cNvSpPr txBox="1"/>
          <p:nvPr/>
        </p:nvSpPr>
        <p:spPr>
          <a:xfrm>
            <a:off x="6301587" y="1901952"/>
            <a:ext cx="5387187" cy="310896"/>
          </a:xfrm>
          <a:prstGeom prst="rect">
            <a:avLst/>
          </a:prstGeom>
          <a:noFill/>
        </p:spPr>
        <p:txBody>
          <a:bodyPr wrap="square" lIns="0" tIns="0" rIns="0" bIns="0">
            <a:spAutoFit/>
          </a:bodyPr>
          <a:lstStyle/>
          <a:p>
            <a:pPr algn="l">
              <a:lnSpc>
                <a:spcPct val="100000"/>
              </a:lnSpc>
              <a:spcAft>
                <a:spcPts val="300"/>
              </a:spcAft>
              <a:defRPr sz="1200" b="1">
                <a:solidFill>
                  <a:srgbClr val="0E7C86"/>
                </a:solidFill>
                <a:latin typeface="Calibri"/>
              </a:defRPr>
            </a:pPr>
            <a:r>
              <a:rPr sz="1200" b="1">
                <a:solidFill>
                  <a:srgbClr val="0E7C86"/>
                </a:solidFill>
                <a:latin typeface="Calibri"/>
              </a:rPr>
              <a:t>What you should see</a:t>
            </a:r>
          </a:p>
        </p:txBody>
      </p:sp>
      <p:sp>
        <p:nvSpPr>
          <p:cNvPr id="9" name="TextBox 8"/>
          <p:cNvSpPr txBox="1"/>
          <p:nvPr/>
        </p:nvSpPr>
        <p:spPr>
          <a:xfrm>
            <a:off x="6301587" y="2249424"/>
            <a:ext cx="5387187" cy="1815084"/>
          </a:xfrm>
          <a:prstGeom prst="rect">
            <a:avLst/>
          </a:prstGeom>
          <a:noFill/>
        </p:spPr>
        <p:txBody>
          <a:bodyPr wrap="square" lIns="0" tIns="0" rIns="0" bIns="0">
            <a:spAutoFit/>
          </a:bodyPr>
          <a:lstStyle/>
          <a:p>
            <a:pPr algn="l">
              <a:lnSpc>
                <a:spcPct val="100000"/>
              </a:lnSpc>
              <a:spcAft>
                <a:spcPts val="600"/>
              </a:spcAft>
              <a:defRPr sz="1500" b="0">
                <a:solidFill>
                  <a:srgbClr val="222222"/>
                </a:solidFill>
                <a:latin typeface="Calibri"/>
              </a:defRPr>
            </a:pPr>
            <a:r>
              <a:rPr sz="1500" b="0">
                <a:solidFill>
                  <a:srgbClr val="222222"/>
                </a:solidFill>
                <a:latin typeface="Calibri"/>
              </a:rPr>
              <a:t>Two columns: the raw number from the controller, and the motor speed it turns into.</a:t>
            </a:r>
          </a:p>
        </p:txBody>
      </p:sp>
      <p:sp>
        <p:nvSpPr>
          <p:cNvPr id="10" name="TextBox 9"/>
          <p:cNvSpPr txBox="1"/>
          <p:nvPr/>
        </p:nvSpPr>
        <p:spPr>
          <a:xfrm>
            <a:off x="6301587" y="4101084"/>
            <a:ext cx="5387187" cy="310896"/>
          </a:xfrm>
          <a:prstGeom prst="rect">
            <a:avLst/>
          </a:prstGeom>
          <a:noFill/>
        </p:spPr>
        <p:txBody>
          <a:bodyPr wrap="square" lIns="0" tIns="0" rIns="0" bIns="0">
            <a:spAutoFit/>
          </a:bodyPr>
          <a:lstStyle/>
          <a:p>
            <a:pPr algn="l">
              <a:lnSpc>
                <a:spcPct val="100000"/>
              </a:lnSpc>
              <a:spcAft>
                <a:spcPts val="300"/>
              </a:spcAft>
              <a:defRPr sz="1200" b="1">
                <a:solidFill>
                  <a:srgbClr val="0E7C86"/>
                </a:solidFill>
                <a:latin typeface="Calibri"/>
              </a:defRPr>
            </a:pPr>
            <a:r>
              <a:rPr sz="1200" b="1">
                <a:solidFill>
                  <a:srgbClr val="0E7C86"/>
                </a:solidFill>
                <a:latin typeface="Calibri"/>
              </a:rPr>
              <a:t>Answer these</a:t>
            </a:r>
          </a:p>
        </p:txBody>
      </p:sp>
      <p:sp>
        <p:nvSpPr>
          <p:cNvPr id="11" name="TextBox 10"/>
          <p:cNvSpPr txBox="1"/>
          <p:nvPr/>
        </p:nvSpPr>
        <p:spPr>
          <a:xfrm>
            <a:off x="6301587" y="4448556"/>
            <a:ext cx="5387187" cy="1815084"/>
          </a:xfrm>
          <a:prstGeom prst="rect">
            <a:avLst/>
          </a:prstGeom>
          <a:noFill/>
        </p:spPr>
        <p:txBody>
          <a:bodyPr wrap="square" lIns="0" tIns="0" rIns="0" bIns="0">
            <a:spAutoFit/>
          </a:bodyPr>
          <a:lstStyle/>
          <a:p>
            <a:pPr algn="l">
              <a:lnSpc>
                <a:spcPct val="100000"/>
              </a:lnSpc>
              <a:spcAft>
                <a:spcPts val="600"/>
              </a:spcAft>
              <a:defRPr sz="1500" b="0">
                <a:solidFill>
                  <a:srgbClr val="222222"/>
                </a:solidFill>
                <a:latin typeface="Calibri"/>
              </a:defRPr>
            </a:pPr>
            <a:r>
              <a:rPr sz="1500" b="0">
                <a:solidFill>
                  <a:srgbClr val="222222"/>
                </a:solidFill>
                <a:latin typeface="Calibri"/>
              </a:rPr>
              <a:t>With the deadzone at 0, what does the vehicle do when nobody is holding the controller?</a:t>
            </a:r>
          </a:p>
          <a:p>
            <a:pPr algn="l">
              <a:lnSpc>
                <a:spcPct val="100000"/>
              </a:lnSpc>
              <a:spcAft>
                <a:spcPts val="600"/>
              </a:spcAft>
              <a:defRPr sz="1500" b="0">
                <a:solidFill>
                  <a:srgbClr val="222222"/>
                </a:solidFill>
                <a:latin typeface="Calibri"/>
              </a:defRPr>
            </a:pPr>
            <a:r>
              <a:rPr sz="1500" b="0">
                <a:solidFill>
                  <a:srgbClr val="222222"/>
                </a:solidFill>
                <a:latin typeface="Calibri"/>
              </a:rPr>
              <a:t>What does MOTOR_MIN = 60 change, and when would you want it?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Mixing, and why steering has its own limit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13</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Full speed forwards, half speed steering</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900"/>
              </a:spcAft>
              <a:defRPr sz="1700" b="0">
                <a:solidFill>
                  <a:srgbClr val="222222"/>
                </a:solidFill>
                <a:latin typeface="Calibri"/>
              </a:defRPr>
            </a:pPr>
            <a:r>
              <a:rPr sz="1700" b="0">
                <a:solidFill>
                  <a:srgbClr val="222222"/>
                </a:solidFill>
                <a:latin typeface="Calibri"/>
              </a:rPr>
              <a:t>left = forward + turn        right = forward - turn</a:t>
            </a:r>
          </a:p>
          <a:p>
            <a:pPr algn="l">
              <a:lnSpc>
                <a:spcPct val="100000"/>
              </a:lnSpc>
              <a:spcAft>
                <a:spcPts val="900"/>
              </a:spcAft>
              <a:defRPr sz="1700" b="0">
                <a:solidFill>
                  <a:srgbClr val="222222"/>
                </a:solidFill>
                <a:latin typeface="Calibri"/>
              </a:defRPr>
            </a:pPr>
          </a:p>
          <a:p>
            <a:pPr algn="l">
              <a:lnSpc>
                <a:spcPct val="100000"/>
              </a:lnSpc>
              <a:spcAft>
                <a:spcPts val="900"/>
              </a:spcAft>
              <a:defRPr sz="1700" b="0">
                <a:solidFill>
                  <a:srgbClr val="222222"/>
                </a:solidFill>
                <a:latin typeface="Calibri"/>
              </a:defRPr>
            </a:pPr>
            <a:r>
              <a:rPr sz="1700" b="0">
                <a:solidFill>
                  <a:srgbClr val="222222"/>
                </a:solidFill>
                <a:latin typeface="Calibri"/>
              </a:rPr>
              <a:t>Driving gets the full MOTOR_MAX of 255.</a:t>
            </a:r>
          </a:p>
          <a:p>
            <a:pPr algn="l">
              <a:lnSpc>
                <a:spcPct val="100000"/>
              </a:lnSpc>
              <a:spcAft>
                <a:spcPts val="900"/>
              </a:spcAft>
              <a:defRPr sz="1700" b="0">
                <a:solidFill>
                  <a:srgbClr val="222222"/>
                </a:solidFill>
                <a:latin typeface="Calibri"/>
              </a:defRPr>
            </a:pPr>
            <a:r>
              <a:rPr sz="1700" b="0">
                <a:solidFill>
                  <a:srgbClr val="222222"/>
                </a:solidFill>
                <a:latin typeface="Calibri"/>
              </a:rPr>
              <a:t>Steering gets turnMax, which is HALF of that by default.</a:t>
            </a:r>
          </a:p>
          <a:p>
            <a:pPr algn="l">
              <a:lnSpc>
                <a:spcPct val="100000"/>
              </a:lnSpc>
              <a:spcAft>
                <a:spcPts val="900"/>
              </a:spcAft>
              <a:defRPr sz="1700" b="0">
                <a:solidFill>
                  <a:srgbClr val="222222"/>
                </a:solidFill>
                <a:latin typeface="Calibri"/>
              </a:defRPr>
            </a:pPr>
          </a:p>
          <a:p>
            <a:pPr algn="l">
              <a:lnSpc>
                <a:spcPct val="100000"/>
              </a:lnSpc>
              <a:spcAft>
                <a:spcPts val="900"/>
              </a:spcAft>
              <a:defRPr sz="1700" b="0">
                <a:solidFill>
                  <a:srgbClr val="222222"/>
                </a:solidFill>
                <a:latin typeface="Calibri"/>
              </a:defRPr>
            </a:pPr>
            <a:r>
              <a:rPr sz="1700" b="0">
                <a:solidFill>
                  <a:srgbClr val="222222"/>
                </a:solidFill>
                <a:latin typeface="Calibri"/>
              </a:rPr>
              <a:t>Why? Because at full power a small nudge sideways spins the vehicle faster than anybody can correct for. Half-power steering makes it controllable without making it slow.</a:t>
            </a:r>
          </a:p>
          <a:p>
            <a:pPr algn="l">
              <a:lnSpc>
                <a:spcPct val="100000"/>
              </a:lnSpc>
              <a:spcAft>
                <a:spcPts val="900"/>
              </a:spcAft>
              <a:defRPr sz="1700" b="0">
                <a:solidFill>
                  <a:srgbClr val="222222"/>
                </a:solidFill>
                <a:latin typeface="Calibri"/>
              </a:defRPr>
            </a:pPr>
          </a:p>
          <a:p>
            <a:pPr algn="l">
              <a:lnSpc>
                <a:spcPct val="100000"/>
              </a:lnSpc>
              <a:spcAft>
                <a:spcPts val="900"/>
              </a:spcAft>
              <a:defRPr sz="1700" b="0">
                <a:solidFill>
                  <a:srgbClr val="222222"/>
                </a:solidFill>
                <a:latin typeface="Calibri"/>
              </a:defRPr>
            </a:pPr>
            <a:r>
              <a:rPr sz="1700" b="0">
                <a:solidFill>
                  <a:srgbClr val="222222"/>
                </a:solidFill>
                <a:latin typeface="Calibri"/>
              </a:rPr>
              <a:t>The full program lets you switch between the two with L3 (click the left stick in). Sharp mode is for spinning on the spot deliberately; normal mode is for actually getting somewhere.</a:t>
            </a:r>
          </a:p>
          <a:p>
            <a:pPr algn="l">
              <a:lnSpc>
                <a:spcPct val="100000"/>
              </a:lnSpc>
              <a:spcAft>
                <a:spcPts val="900"/>
              </a:spcAft>
              <a:defRPr sz="1700" b="0">
                <a:solidFill>
                  <a:srgbClr val="222222"/>
                </a:solidFill>
                <a:latin typeface="Calibri"/>
              </a:defRPr>
            </a:pPr>
          </a:p>
          <a:p>
            <a:pPr algn="l">
              <a:lnSpc>
                <a:spcPct val="100000"/>
              </a:lnSpc>
              <a:spcAft>
                <a:spcPts val="900"/>
              </a:spcAft>
              <a:defRPr sz="1700" b="0">
                <a:solidFill>
                  <a:srgbClr val="222222"/>
                </a:solidFill>
                <a:latin typeface="Calibri"/>
              </a:defRPr>
            </a:pPr>
            <a:r>
              <a:rPr sz="1700" b="0">
                <a:solidFill>
                  <a:srgbClr val="222222"/>
                </a:solidFill>
                <a:latin typeface="Calibri"/>
              </a:rPr>
              <a:t>constrain() catches the overflow. forward 200 plus turn 60 is 260, which is more than a motor can take.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l3c_tank_drive  -  the whole of loop()</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14</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300"/>
              </a:spcAft>
              <a:defRPr sz="900" b="1">
                <a:solidFill>
                  <a:srgbClr val="0E7C86"/>
                </a:solidFill>
                <a:latin typeface="Consolas"/>
              </a:defRPr>
            </a:pPr>
            <a:r>
              <a:rPr sz="900" b="1">
                <a:solidFill>
                  <a:srgbClr val="0E7C86"/>
                </a:solidFill>
                <a:latin typeface="Consolas"/>
              </a:rPr>
              <a:t>l3c_tank_drive.ino</a:t>
            </a:r>
          </a:p>
        </p:txBody>
      </p:sp>
      <p:sp>
        <p:nvSpPr>
          <p:cNvPr id="7" name="Rounded Rectangle 6"/>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tIns="91440" bIns="73152"/>
          <a:lstStyle/>
          <a:p>
            <a:pPr algn="l">
              <a:lnSpc>
                <a:spcPct val="100000"/>
              </a:lnSpc>
              <a:spcAft>
                <a:spcPts val="0"/>
              </a:spcAft>
              <a:defRPr sz="1300">
                <a:latin typeface="Consolas"/>
              </a:defRPr>
            </a:pPr>
            <a:r>
              <a:rPr sz="1300">
                <a:solidFill>
                  <a:srgbClr val="222222"/>
                </a:solidFill>
                <a:latin typeface="Consolas"/>
              </a:rPr>
              <a:t>void loop() {</a:t>
            </a:r>
          </a:p>
          <a:p>
            <a:pPr algn="l">
              <a:lnSpc>
                <a:spcPct val="100000"/>
              </a:lnSpc>
              <a:spcAft>
                <a:spcPts val="0"/>
              </a:spcAft>
              <a:defRPr sz="1300">
                <a:latin typeface="Consolas"/>
              </a:defRPr>
            </a:pPr>
            <a:r>
              <a:rPr sz="1300" b="1">
                <a:solidFill>
                  <a:srgbClr val="0E7C86"/>
                </a:solidFill>
                <a:latin typeface="Consolas"/>
              </a:rPr>
              <a:t>  if (!Ps3.isConnected()) {</a:t>
            </a:r>
          </a:p>
          <a:p>
            <a:pPr algn="l">
              <a:lnSpc>
                <a:spcPct val="100000"/>
              </a:lnSpc>
              <a:spcAft>
                <a:spcPts val="0"/>
              </a:spcAft>
              <a:defRPr sz="1300">
                <a:latin typeface="Consolas"/>
              </a:defRPr>
            </a:pPr>
            <a:r>
              <a:rPr sz="1300" b="1">
                <a:solidFill>
                  <a:srgbClr val="0E7C86"/>
                </a:solidFill>
                <a:latin typeface="Consolas"/>
              </a:rPr>
              <a:t>    drive(0, 0);        // never drive without a controller</a:t>
            </a:r>
          </a:p>
          <a:p>
            <a:pPr algn="l">
              <a:lnSpc>
                <a:spcPct val="100000"/>
              </a:lnSpc>
              <a:spcAft>
                <a:spcPts val="0"/>
              </a:spcAft>
              <a:defRPr sz="1300">
                <a:latin typeface="Consolas"/>
              </a:defRPr>
            </a:pPr>
            <a:r>
              <a:rPr sz="1300" b="1">
                <a:solidFill>
                  <a:srgbClr val="0E7C86"/>
                </a:solidFill>
                <a:latin typeface="Consolas"/>
              </a:rPr>
              <a:t>    return;</a:t>
            </a:r>
          </a:p>
          <a:p>
            <a:pPr algn="l">
              <a:lnSpc>
                <a:spcPct val="100000"/>
              </a:lnSpc>
              <a:spcAft>
                <a:spcPts val="0"/>
              </a:spcAft>
              <a:defRPr sz="1300">
                <a:latin typeface="Consolas"/>
              </a:defRPr>
            </a:pPr>
            <a:r>
              <a:rPr sz="1300">
                <a:solidFill>
                  <a:srgbClr val="222222"/>
                </a:solidFill>
                <a:latin typeface="Consolas"/>
              </a:rPr>
              <a:t>  }</a:t>
            </a:r>
          </a:p>
          <a:p>
            <a:pPr algn="l">
              <a:lnSpc>
                <a:spcPct val="100000"/>
              </a:lnSpc>
              <a:spcAft>
                <a:spcPts val="0"/>
              </a:spcAft>
              <a:defRPr sz="1300">
                <a:latin typeface="Consolas"/>
              </a:defRPr>
            </a:pPr>
            <a:r>
              <a:rPr sz="1300">
                <a:solidFill>
                  <a:srgbClr val="222222"/>
                </a:solidFill>
                <a:latin typeface="Consolas"/>
              </a:rPr>
              <a:t> </a:t>
            </a:r>
          </a:p>
          <a:p>
            <a:pPr algn="l">
              <a:lnSpc>
                <a:spcPct val="100000"/>
              </a:lnSpc>
              <a:spcAft>
                <a:spcPts val="0"/>
              </a:spcAft>
              <a:defRPr sz="1300">
                <a:latin typeface="Consolas"/>
              </a:defRPr>
            </a:pPr>
            <a:r>
              <a:rPr sz="1300">
                <a:solidFill>
                  <a:srgbClr val="222222"/>
                </a:solidFill>
                <a:latin typeface="Consolas"/>
              </a:rPr>
              <a:t>  int leftStickX = Ps3.data.analog.stick.lx;</a:t>
            </a:r>
          </a:p>
          <a:p>
            <a:pPr algn="l">
              <a:lnSpc>
                <a:spcPct val="100000"/>
              </a:lnSpc>
              <a:spcAft>
                <a:spcPts val="0"/>
              </a:spcAft>
              <a:defRPr sz="1300">
                <a:latin typeface="Consolas"/>
              </a:defRPr>
            </a:pPr>
            <a:r>
              <a:rPr sz="1300">
                <a:solidFill>
                  <a:srgbClr val="222222"/>
                </a:solidFill>
                <a:latin typeface="Consolas"/>
              </a:rPr>
              <a:t>  int leftStickY = Ps3.data.analog.stick.ly;</a:t>
            </a:r>
          </a:p>
          <a:p>
            <a:pPr algn="l">
              <a:lnSpc>
                <a:spcPct val="100000"/>
              </a:lnSpc>
              <a:spcAft>
                <a:spcPts val="0"/>
              </a:spcAft>
              <a:defRPr sz="1300">
                <a:latin typeface="Consolas"/>
              </a:defRPr>
            </a:pPr>
            <a:r>
              <a:rPr sz="1300">
                <a:solidFill>
                  <a:srgbClr val="222222"/>
                </a:solidFill>
                <a:latin typeface="Consolas"/>
              </a:rPr>
              <a:t> </a:t>
            </a:r>
          </a:p>
          <a:p>
            <a:pPr algn="l">
              <a:lnSpc>
                <a:spcPct val="100000"/>
              </a:lnSpc>
              <a:spcAft>
                <a:spcPts val="0"/>
              </a:spcAft>
              <a:defRPr sz="1300">
                <a:latin typeface="Consolas"/>
              </a:defRPr>
            </a:pPr>
            <a:r>
              <a:rPr sz="1300" b="1">
                <a:solidFill>
                  <a:srgbClr val="0E7C86"/>
                </a:solidFill>
                <a:latin typeface="Consolas"/>
              </a:rPr>
              <a:t>  int forward = stickToSpeed(-leftStickY, MOTOR_MAX);</a:t>
            </a:r>
          </a:p>
          <a:p>
            <a:pPr algn="l">
              <a:lnSpc>
                <a:spcPct val="100000"/>
              </a:lnSpc>
              <a:spcAft>
                <a:spcPts val="0"/>
              </a:spcAft>
              <a:defRPr sz="1300">
                <a:latin typeface="Consolas"/>
              </a:defRPr>
            </a:pPr>
            <a:r>
              <a:rPr sz="1300" b="1">
                <a:solidFill>
                  <a:srgbClr val="0E7C86"/>
                </a:solidFill>
                <a:latin typeface="Consolas"/>
              </a:rPr>
              <a:t>  int turn    = stickToSpeed(leftStickX,  turnMax);</a:t>
            </a:r>
          </a:p>
          <a:p>
            <a:pPr algn="l">
              <a:lnSpc>
                <a:spcPct val="100000"/>
              </a:lnSpc>
              <a:spcAft>
                <a:spcPts val="0"/>
              </a:spcAft>
              <a:defRPr sz="1300">
                <a:latin typeface="Consolas"/>
              </a:defRPr>
            </a:pPr>
            <a:r>
              <a:rPr sz="1300">
                <a:solidFill>
                  <a:srgbClr val="222222"/>
                </a:solidFill>
                <a:latin typeface="Consolas"/>
              </a:rPr>
              <a:t> </a:t>
            </a:r>
          </a:p>
          <a:p>
            <a:pPr algn="l">
              <a:lnSpc>
                <a:spcPct val="100000"/>
              </a:lnSpc>
              <a:spcAft>
                <a:spcPts val="0"/>
              </a:spcAft>
              <a:defRPr sz="1300">
                <a:latin typeface="Consolas"/>
              </a:defRPr>
            </a:pPr>
            <a:r>
              <a:rPr sz="1300">
                <a:solidFill>
                  <a:srgbClr val="222222"/>
                </a:solidFill>
                <a:latin typeface="Consolas"/>
              </a:rPr>
              <a:t>  int leftSpeed  = constrain(forward + turn, -255, 255);</a:t>
            </a:r>
          </a:p>
          <a:p>
            <a:pPr algn="l">
              <a:lnSpc>
                <a:spcPct val="100000"/>
              </a:lnSpc>
              <a:spcAft>
                <a:spcPts val="0"/>
              </a:spcAft>
              <a:defRPr sz="1300">
                <a:latin typeface="Consolas"/>
              </a:defRPr>
            </a:pPr>
            <a:r>
              <a:rPr sz="1300">
                <a:solidFill>
                  <a:srgbClr val="222222"/>
                </a:solidFill>
                <a:latin typeface="Consolas"/>
              </a:rPr>
              <a:t>  int rightSpeed = constrain(forward - turn, -255, 255);</a:t>
            </a:r>
          </a:p>
          <a:p>
            <a:pPr algn="l">
              <a:lnSpc>
                <a:spcPct val="100000"/>
              </a:lnSpc>
              <a:spcAft>
                <a:spcPts val="0"/>
              </a:spcAft>
              <a:defRPr sz="1300">
                <a:latin typeface="Consolas"/>
              </a:defRPr>
            </a:pPr>
            <a:r>
              <a:rPr sz="1300">
                <a:solidFill>
                  <a:srgbClr val="222222"/>
                </a:solidFill>
                <a:latin typeface="Consolas"/>
              </a:rPr>
              <a:t> </a:t>
            </a:r>
          </a:p>
          <a:p>
            <a:pPr algn="l">
              <a:lnSpc>
                <a:spcPct val="100000"/>
              </a:lnSpc>
              <a:spcAft>
                <a:spcPts val="0"/>
              </a:spcAft>
              <a:defRPr sz="1300">
                <a:latin typeface="Consolas"/>
              </a:defRPr>
            </a:pPr>
            <a:r>
              <a:rPr sz="1300">
                <a:solidFill>
                  <a:srgbClr val="222222"/>
                </a:solidFill>
                <a:latin typeface="Consolas"/>
              </a:rPr>
              <a:t>  drive(leftSpeed, rightSpeed);</a:t>
            </a:r>
          </a:p>
          <a:p>
            <a:pPr algn="l">
              <a:lnSpc>
                <a:spcPct val="100000"/>
              </a:lnSpc>
              <a:spcAft>
                <a:spcPts val="0"/>
              </a:spcAft>
              <a:defRPr sz="1300">
                <a:latin typeface="Consolas"/>
              </a:defRPr>
            </a:pPr>
            <a:r>
              <a:rPr sz="1300">
                <a:solidFill>
                  <a:srgbClr val="222222"/>
                </a:solidFill>
                <a:latin typeface="Consolas"/>
              </a:rPr>
              <a:t>}</a:t>
            </a:r>
          </a:p>
        </p:txBody>
      </p:sp>
      <p:sp>
        <p:nvSpPr>
          <p:cNvPr id="8" name="TextBox 7"/>
          <p:cNvSpPr txBox="1"/>
          <p:nvPr/>
        </p:nvSpPr>
        <p:spPr>
          <a:xfrm>
            <a:off x="7870048" y="1517904"/>
            <a:ext cx="3818727" cy="4745736"/>
          </a:xfrm>
          <a:prstGeom prst="rect">
            <a:avLst/>
          </a:prstGeom>
          <a:noFill/>
        </p:spPr>
        <p:txBody>
          <a:bodyPr wrap="square" lIns="0" tIns="0" rIns="0" bIns="0">
            <a:spAutoFit/>
          </a:bodyPr>
          <a:lstStyle/>
          <a:p>
            <a:pPr algn="l">
              <a:lnSpc>
                <a:spcPct val="100000"/>
              </a:lnSpc>
              <a:spcAft>
                <a:spcPts val="1100"/>
              </a:spcAft>
              <a:defRPr sz="1500" b="0">
                <a:solidFill>
                  <a:srgbClr val="222222"/>
                </a:solidFill>
                <a:latin typeface="Calibri"/>
              </a:defRPr>
            </a:pPr>
            <a:r>
              <a:rPr sz="1500" b="0">
                <a:solidFill>
                  <a:srgbClr val="222222"/>
                </a:solidFill>
                <a:latin typeface="Calibri"/>
              </a:rPr>
              <a:t>Read the first four lines again. If there is no controller, the motors stop and we go round again. That is the FAILSAFE, and it is the most important part of the program.</a:t>
            </a:r>
          </a:p>
          <a:p>
            <a:pPr algn="l">
              <a:lnSpc>
                <a:spcPct val="100000"/>
              </a:lnSpc>
              <a:spcAft>
                <a:spcPts val="1100"/>
              </a:spcAft>
              <a:defRPr sz="1500" b="0">
                <a:solidFill>
                  <a:srgbClr val="222222"/>
                </a:solidFill>
                <a:latin typeface="Calibri"/>
              </a:defRPr>
            </a:pPr>
            <a:r>
              <a:rPr sz="1500" b="0">
                <a:solidFill>
                  <a:srgbClr val="222222"/>
                </a:solidFill>
                <a:latin typeface="Calibri"/>
              </a:rPr>
              <a:t>Note the minus sign on leftStickY. Up is negative.</a:t>
            </a:r>
          </a:p>
          <a:p>
            <a:pPr algn="l">
              <a:lnSpc>
                <a:spcPct val="100000"/>
              </a:lnSpc>
              <a:spcAft>
                <a:spcPts val="1100"/>
              </a:spcAft>
              <a:defRPr sz="1500" b="0">
                <a:solidFill>
                  <a:srgbClr val="222222"/>
                </a:solidFill>
                <a:latin typeface="Calibri"/>
              </a:defRPr>
            </a:pPr>
            <a:r>
              <a:rPr sz="1500" b="0">
                <a:solidFill>
                  <a:srgbClr val="222222"/>
                </a:solidFill>
                <a:latin typeface="Calibri"/>
              </a:rPr>
              <a:t>Driving gets MOTOR_MAX; steering gets turnMax.</a:t>
            </a:r>
          </a:p>
          <a:p>
            <a:pPr algn="l">
              <a:lnSpc>
                <a:spcPct val="100000"/>
              </a:lnSpc>
              <a:spcAft>
                <a:spcPts val="1100"/>
              </a:spcAft>
              <a:defRPr sz="1500" b="0">
                <a:solidFill>
                  <a:srgbClr val="222222"/>
                </a:solidFill>
                <a:latin typeface="Calibri"/>
              </a:defRPr>
            </a:pPr>
            <a:r>
              <a:rPr sz="1500" b="0">
                <a:solidFill>
                  <a:srgbClr val="222222"/>
                </a:solidFill>
                <a:latin typeface="Calibri"/>
              </a:rPr>
              <a:t>Everything else you have already seen.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drive it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15</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l3c_tank_drive</a:t>
            </a:r>
            <a:r>
              <a:rPr sz="1200">
                <a:solidFill>
                  <a:srgbClr val="FFFFFF"/>
                </a:solidFill>
                <a:latin typeface="Calibri"/>
              </a:rPr>
              <a:t>     (30 minutes)</a:t>
            </a:r>
          </a:p>
        </p:txBody>
      </p:sp>
      <p:sp>
        <p:nvSpPr>
          <p:cNvPr id="7" name="TextBox 6"/>
          <p:cNvSpPr txBox="1"/>
          <p:nvPr/>
        </p:nvSpPr>
        <p:spPr>
          <a:xfrm>
            <a:off x="502920" y="1901952"/>
            <a:ext cx="5387187" cy="3172968"/>
          </a:xfrm>
          <a:prstGeom prst="rect">
            <a:avLst/>
          </a:prstGeom>
          <a:noFill/>
        </p:spPr>
        <p:txBody>
          <a:bodyPr wrap="square" lIns="0" tIns="0" rIns="0" bIns="0">
            <a:spAutoFit/>
          </a:bodyPr>
          <a:lstStyle/>
          <a:p>
            <a:pPr algn="l">
              <a:lnSpc>
                <a:spcPct val="100000"/>
              </a:lnSpc>
              <a:spcAft>
                <a:spcPts val="800"/>
              </a:spcAft>
              <a:defRPr sz="1400" b="0">
                <a:solidFill>
                  <a:srgbClr val="222222"/>
                </a:solidFill>
                <a:latin typeface="Calibri"/>
              </a:defRPr>
            </a:pPr>
            <a:r>
              <a:rPr sz="1400" b="0">
                <a:solidFill>
                  <a:srgbClr val="222222"/>
                </a:solidFill>
                <a:latin typeface="Calibri"/>
              </a:rPr>
              <a:t>1.  Wheels off the ground. Upload. Check that up is forward and right is right BEFORE you put it down.</a:t>
            </a:r>
          </a:p>
          <a:p>
            <a:pPr algn="l">
              <a:lnSpc>
                <a:spcPct val="100000"/>
              </a:lnSpc>
              <a:spcAft>
                <a:spcPts val="800"/>
              </a:spcAft>
              <a:defRPr sz="1400" b="0">
                <a:solidFill>
                  <a:srgbClr val="222222"/>
                </a:solidFill>
                <a:latin typeface="Calibri"/>
              </a:defRPr>
            </a:pPr>
            <a:r>
              <a:rPr sz="1400" b="0">
                <a:solidFill>
                  <a:srgbClr val="222222"/>
                </a:solidFill>
                <a:latin typeface="Calibri"/>
              </a:rPr>
              <a:t>2.  Now put it on the floor in a clear space and drive.</a:t>
            </a:r>
          </a:p>
          <a:p>
            <a:pPr algn="l">
              <a:lnSpc>
                <a:spcPct val="100000"/>
              </a:lnSpc>
              <a:spcAft>
                <a:spcPts val="800"/>
              </a:spcAft>
              <a:defRPr sz="1400" b="0">
                <a:solidFill>
                  <a:srgbClr val="222222"/>
                </a:solidFill>
                <a:latin typeface="Calibri"/>
              </a:defRPr>
            </a:pPr>
            <a:r>
              <a:rPr sz="1400" b="0">
                <a:solidFill>
                  <a:srgbClr val="222222"/>
                </a:solidFill>
                <a:latin typeface="Calibri"/>
              </a:rPr>
              <a:t>3.  While driving, switch the controller off. What happens?</a:t>
            </a:r>
          </a:p>
          <a:p>
            <a:pPr algn="l">
              <a:lnSpc>
                <a:spcPct val="100000"/>
              </a:lnSpc>
              <a:spcAft>
                <a:spcPts val="800"/>
              </a:spcAft>
              <a:defRPr sz="1400" b="0">
                <a:solidFill>
                  <a:srgbClr val="222222"/>
                </a:solidFill>
                <a:latin typeface="Calibri"/>
              </a:defRPr>
            </a:pPr>
            <a:r>
              <a:rPr sz="1400" b="0">
                <a:solidFill>
                  <a:srgbClr val="222222"/>
                </a:solidFill>
                <a:latin typeface="Calibri"/>
              </a:rPr>
              <a:t>4.  Set turnMax to MOTOR_MAX and drive again. Which is easier?</a:t>
            </a:r>
          </a:p>
          <a:p>
            <a:pPr algn="l">
              <a:lnSpc>
                <a:spcPct val="100000"/>
              </a:lnSpc>
              <a:spcAft>
                <a:spcPts val="800"/>
              </a:spcAft>
              <a:defRPr sz="1400" b="0">
                <a:solidFill>
                  <a:srgbClr val="222222"/>
                </a:solidFill>
                <a:latin typeface="Calibri"/>
              </a:defRPr>
            </a:pPr>
            <a:r>
              <a:rPr sz="1400" b="0">
                <a:solidFill>
                  <a:srgbClr val="222222"/>
                </a:solidFill>
                <a:latin typeface="Calibri"/>
              </a:rPr>
              <a:t>5.  Swap the + and the - in the mixing lines and drive. What is wrong now?</a:t>
            </a:r>
          </a:p>
          <a:p>
            <a:pPr algn="l">
              <a:lnSpc>
                <a:spcPct val="100000"/>
              </a:lnSpc>
              <a:spcAft>
                <a:spcPts val="800"/>
              </a:spcAft>
              <a:defRPr sz="1400" b="0">
                <a:solidFill>
                  <a:srgbClr val="222222"/>
                </a:solidFill>
                <a:latin typeface="Calibri"/>
              </a:defRPr>
            </a:pPr>
            <a:r>
              <a:rPr sz="1400" b="0">
                <a:solidFill>
                  <a:srgbClr val="222222"/>
                </a:solidFill>
                <a:latin typeface="Calibri"/>
              </a:rPr>
              <a:t>6.  Try  right = forward  with no turn term at all. Why is that a worse way to steer?</a:t>
            </a:r>
          </a:p>
        </p:txBody>
      </p:sp>
      <p:sp>
        <p:nvSpPr>
          <p:cNvPr id="8" name="TextBox 7"/>
          <p:cNvSpPr txBox="1"/>
          <p:nvPr/>
        </p:nvSpPr>
        <p:spPr>
          <a:xfrm>
            <a:off x="6301587" y="1901952"/>
            <a:ext cx="5387187" cy="310896"/>
          </a:xfrm>
          <a:prstGeom prst="rect">
            <a:avLst/>
          </a:prstGeom>
          <a:noFill/>
        </p:spPr>
        <p:txBody>
          <a:bodyPr wrap="square" lIns="0" tIns="0" rIns="0" bIns="0">
            <a:spAutoFit/>
          </a:bodyPr>
          <a:lstStyle/>
          <a:p>
            <a:pPr algn="l">
              <a:lnSpc>
                <a:spcPct val="100000"/>
              </a:lnSpc>
              <a:spcAft>
                <a:spcPts val="300"/>
              </a:spcAft>
              <a:defRPr sz="1200" b="1">
                <a:solidFill>
                  <a:srgbClr val="0E7C86"/>
                </a:solidFill>
                <a:latin typeface="Calibri"/>
              </a:defRPr>
            </a:pPr>
            <a:r>
              <a:rPr sz="1200" b="1">
                <a:solidFill>
                  <a:srgbClr val="0E7C86"/>
                </a:solidFill>
                <a:latin typeface="Calibri"/>
              </a:rPr>
              <a:t>What you should see</a:t>
            </a:r>
          </a:p>
        </p:txBody>
      </p:sp>
      <p:sp>
        <p:nvSpPr>
          <p:cNvPr id="9" name="TextBox 8"/>
          <p:cNvSpPr txBox="1"/>
          <p:nvPr/>
        </p:nvSpPr>
        <p:spPr>
          <a:xfrm>
            <a:off x="6301587" y="2249424"/>
            <a:ext cx="5387187" cy="1220724"/>
          </a:xfrm>
          <a:prstGeom prst="rect">
            <a:avLst/>
          </a:prstGeom>
          <a:noFill/>
        </p:spPr>
        <p:txBody>
          <a:bodyPr wrap="square" lIns="0" tIns="0" rIns="0" bIns="0">
            <a:spAutoFit/>
          </a:bodyPr>
          <a:lstStyle/>
          <a:p>
            <a:pPr algn="l">
              <a:lnSpc>
                <a:spcPct val="100000"/>
              </a:lnSpc>
              <a:spcAft>
                <a:spcPts val="600"/>
              </a:spcAft>
              <a:defRPr sz="1500" b="0">
                <a:solidFill>
                  <a:srgbClr val="222222"/>
                </a:solidFill>
                <a:latin typeface="Calibri"/>
              </a:defRPr>
            </a:pPr>
            <a:r>
              <a:rPr sz="1500" b="0">
                <a:solidFill>
                  <a:srgbClr val="222222"/>
                </a:solidFill>
                <a:latin typeface="Calibri"/>
              </a:rPr>
              <a:t>A vehicle that goes where you point it.</a:t>
            </a:r>
          </a:p>
        </p:txBody>
      </p:sp>
      <p:sp>
        <p:nvSpPr>
          <p:cNvPr id="10" name="TextBox 9"/>
          <p:cNvSpPr txBox="1"/>
          <p:nvPr/>
        </p:nvSpPr>
        <p:spPr>
          <a:xfrm>
            <a:off x="6301587" y="3506724"/>
            <a:ext cx="5387187" cy="310896"/>
          </a:xfrm>
          <a:prstGeom prst="rect">
            <a:avLst/>
          </a:prstGeom>
          <a:noFill/>
        </p:spPr>
        <p:txBody>
          <a:bodyPr wrap="square" lIns="0" tIns="0" rIns="0" bIns="0">
            <a:spAutoFit/>
          </a:bodyPr>
          <a:lstStyle/>
          <a:p>
            <a:pPr algn="l">
              <a:lnSpc>
                <a:spcPct val="100000"/>
              </a:lnSpc>
              <a:spcAft>
                <a:spcPts val="300"/>
              </a:spcAft>
              <a:defRPr sz="1200" b="1">
                <a:solidFill>
                  <a:srgbClr val="0E7C86"/>
                </a:solidFill>
                <a:latin typeface="Calibri"/>
              </a:defRPr>
            </a:pPr>
            <a:r>
              <a:rPr sz="1200" b="1">
                <a:solidFill>
                  <a:srgbClr val="0E7C86"/>
                </a:solidFill>
                <a:latin typeface="Calibri"/>
              </a:rPr>
              <a:t>Answer these</a:t>
            </a:r>
          </a:p>
        </p:txBody>
      </p:sp>
      <p:sp>
        <p:nvSpPr>
          <p:cNvPr id="11" name="TextBox 10"/>
          <p:cNvSpPr txBox="1"/>
          <p:nvPr/>
        </p:nvSpPr>
        <p:spPr>
          <a:xfrm>
            <a:off x="6301587" y="3854196"/>
            <a:ext cx="5387187" cy="1220724"/>
          </a:xfrm>
          <a:prstGeom prst="rect">
            <a:avLst/>
          </a:prstGeom>
          <a:noFill/>
        </p:spPr>
        <p:txBody>
          <a:bodyPr wrap="square" lIns="0" tIns="0" rIns="0" bIns="0">
            <a:spAutoFit/>
          </a:bodyPr>
          <a:lstStyle/>
          <a:p>
            <a:pPr algn="l">
              <a:lnSpc>
                <a:spcPct val="100000"/>
              </a:lnSpc>
              <a:spcAft>
                <a:spcPts val="600"/>
              </a:spcAft>
              <a:defRPr sz="1500" b="0">
                <a:solidFill>
                  <a:srgbClr val="222222"/>
                </a:solidFill>
                <a:latin typeface="Calibri"/>
              </a:defRPr>
            </a:pPr>
            <a:r>
              <a:rPr sz="1500" b="0">
                <a:solidFill>
                  <a:srgbClr val="222222"/>
                </a:solidFill>
                <a:latin typeface="Calibri"/>
              </a:rPr>
              <a:t>What happened when the controller switched off, and which four lines made that happen?</a:t>
            </a:r>
          </a:p>
        </p:txBody>
      </p:sp>
      <p:sp>
        <p:nvSpPr>
          <p:cNvPr id="12" name="Rounded Rectangle 11"/>
          <p:cNvSpPr/>
          <p:nvPr/>
        </p:nvSpPr>
        <p:spPr>
          <a:xfrm>
            <a:off x="502920" y="5303520"/>
            <a:ext cx="11185855" cy="960120"/>
          </a:xfrm>
          <a:prstGeom prst="roundRect">
            <a:avLst>
              <a:gd name="adj" fmla="val 4000"/>
            </a:avLst>
          </a:prstGeom>
          <a:solidFill>
            <a:srgbClr val="FBECEC"/>
          </a:solidFill>
          <a:ln w="12700">
            <a:solidFill>
              <a:srgbClr val="A32A2A"/>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A32A2A"/>
                </a:solidFill>
                <a:latin typeface="Calibri"/>
              </a:rPr>
              <a:t>SAFETY   </a:t>
            </a:r>
            <a:r>
              <a:rPr sz="1500">
                <a:solidFill>
                  <a:srgbClr val="222222"/>
                </a:solidFill>
                <a:latin typeface="Calibri"/>
              </a:rPr>
              <a:t>Check the controls with the wheels off the ground first. Every time you upload a change.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Failsafe: what a robot does when it stops hearing you</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16</a:t>
            </a:r>
          </a:p>
        </p:txBody>
      </p:sp>
      <p:sp>
        <p:nvSpPr>
          <p:cNvPr id="6" name="TextBox 5"/>
          <p:cNvSpPr txBox="1"/>
          <p:nvPr/>
        </p:nvSpPr>
        <p:spPr>
          <a:xfrm>
            <a:off x="502920" y="1188720"/>
            <a:ext cx="11185855" cy="4023360"/>
          </a:xfrm>
          <a:prstGeom prst="rect">
            <a:avLst/>
          </a:prstGeom>
          <a:noFill/>
        </p:spPr>
        <p:txBody>
          <a:bodyPr wrap="square" lIns="0" tIns="0" rIns="0" bIns="0">
            <a:spAutoFit/>
          </a:bodyPr>
          <a:lstStyle/>
          <a:p>
            <a:pPr algn="l">
              <a:lnSpc>
                <a:spcPct val="100000"/>
              </a:lnSpc>
              <a:spcAft>
                <a:spcPts val="600"/>
              </a:spcAft>
              <a:defRPr sz="1500" b="0">
                <a:solidFill>
                  <a:srgbClr val="222222"/>
                </a:solidFill>
                <a:latin typeface="Calibri"/>
              </a:defRPr>
            </a:pPr>
            <a:r>
              <a:rPr sz="1500" b="0">
                <a:solidFill>
                  <a:srgbClr val="222222"/>
                </a:solidFill>
                <a:latin typeface="Calibri"/>
              </a:rPr>
              <a:t>A radio link is not reliable. Batteries go flat, people walk between the pad and the vehicle, controllers get switched off.</a:t>
            </a:r>
          </a:p>
          <a:p>
            <a:pPr algn="l">
              <a:lnSpc>
                <a:spcPct val="100000"/>
              </a:lnSpc>
              <a:spcAft>
                <a:spcPts val="600"/>
              </a:spcAft>
              <a:defRPr sz="1500" b="0">
                <a:solidFill>
                  <a:srgbClr val="222222"/>
                </a:solidFill>
                <a:latin typeface="Calibri"/>
              </a:defRPr>
            </a:pPr>
          </a:p>
          <a:p>
            <a:pPr algn="l">
              <a:lnSpc>
                <a:spcPct val="100000"/>
              </a:lnSpc>
              <a:spcAft>
                <a:spcPts val="600"/>
              </a:spcAft>
              <a:defRPr sz="1500" b="0">
                <a:solidFill>
                  <a:srgbClr val="222222"/>
                </a:solidFill>
                <a:latin typeface="Calibri"/>
              </a:defRPr>
            </a:pPr>
            <a:r>
              <a:rPr sz="1500" b="0">
                <a:solidFill>
                  <a:srgbClr val="222222"/>
                </a:solidFill>
                <a:latin typeface="Calibri"/>
              </a:rPr>
              <a:t>The only safe behaviour is to STOP. Not carry on with the last command, and not do something clever.</a:t>
            </a:r>
          </a:p>
          <a:p>
            <a:pPr algn="l">
              <a:lnSpc>
                <a:spcPct val="100000"/>
              </a:lnSpc>
              <a:spcAft>
                <a:spcPts val="600"/>
              </a:spcAft>
              <a:defRPr sz="1500" b="0">
                <a:solidFill>
                  <a:srgbClr val="222222"/>
                </a:solidFill>
                <a:latin typeface="Calibri"/>
              </a:defRPr>
            </a:pPr>
          </a:p>
          <a:p>
            <a:pPr algn="l">
              <a:lnSpc>
                <a:spcPct val="100000"/>
              </a:lnSpc>
              <a:spcAft>
                <a:spcPts val="600"/>
              </a:spcAft>
              <a:defRPr sz="1500" b="0">
                <a:solidFill>
                  <a:srgbClr val="222222"/>
                </a:solidFill>
                <a:latin typeface="Calibri"/>
              </a:defRPr>
            </a:pPr>
            <a:r>
              <a:rPr sz="1500" b="0">
                <a:solidFill>
                  <a:srgbClr val="222222"/>
                </a:solidFill>
                <a:latin typeface="Calibri"/>
              </a:rPr>
              <a:t>Three lines at the top of loop() do it:</a:t>
            </a:r>
          </a:p>
          <a:p>
            <a:pPr lvl="1" algn="l">
              <a:lnSpc>
                <a:spcPct val="100000"/>
              </a:lnSpc>
              <a:spcAft>
                <a:spcPts val="600"/>
              </a:spcAft>
              <a:defRPr sz="1500" b="0">
                <a:solidFill>
                  <a:srgbClr val="222222"/>
                </a:solidFill>
                <a:latin typeface="Calibri"/>
              </a:defRPr>
            </a:pPr>
            <a:r>
              <a:rPr sz="1500" b="0">
                <a:solidFill>
                  <a:srgbClr val="222222"/>
                </a:solidFill>
                <a:latin typeface="Calibri"/>
              </a:rPr>
              <a:t>if (!connected) { drive(0, 0); return; }</a:t>
            </a:r>
          </a:p>
          <a:p>
            <a:pPr algn="l">
              <a:lnSpc>
                <a:spcPct val="100000"/>
              </a:lnSpc>
              <a:spcAft>
                <a:spcPts val="600"/>
              </a:spcAft>
              <a:defRPr sz="1500" b="0">
                <a:solidFill>
                  <a:srgbClr val="222222"/>
                </a:solidFill>
                <a:latin typeface="Calibri"/>
              </a:defRPr>
            </a:pPr>
          </a:p>
          <a:p>
            <a:pPr algn="l">
              <a:lnSpc>
                <a:spcPct val="100000"/>
              </a:lnSpc>
              <a:spcAft>
                <a:spcPts val="600"/>
              </a:spcAft>
              <a:defRPr sz="1500" b="0">
                <a:solidFill>
                  <a:srgbClr val="222222"/>
                </a:solidFill>
                <a:latin typeface="Calibri"/>
              </a:defRPr>
            </a:pPr>
            <a:r>
              <a:rPr sz="1500" b="0">
                <a:solidFill>
                  <a:srgbClr val="222222"/>
                </a:solidFill>
                <a:latin typeface="Calibri"/>
              </a:rPr>
              <a:t>This is not a Pathfinder detail. Every unmanned vehicle has a failsafe, and what it should do when the link drops is a real engineering decision. A drone hovers, or returns home. A submersible surfaces. A ground vehicle stops.</a:t>
            </a:r>
          </a:p>
          <a:p>
            <a:pPr algn="l">
              <a:lnSpc>
                <a:spcPct val="100000"/>
              </a:lnSpc>
              <a:spcAft>
                <a:spcPts val="600"/>
              </a:spcAft>
              <a:defRPr sz="1500" b="0">
                <a:solidFill>
                  <a:srgbClr val="222222"/>
                </a:solidFill>
                <a:latin typeface="Calibri"/>
              </a:defRPr>
            </a:pPr>
          </a:p>
          <a:p>
            <a:pPr algn="l">
              <a:lnSpc>
                <a:spcPct val="100000"/>
              </a:lnSpc>
              <a:spcAft>
                <a:spcPts val="600"/>
              </a:spcAft>
              <a:defRPr sz="1500" b="0">
                <a:solidFill>
                  <a:srgbClr val="222222"/>
                </a:solidFill>
                <a:latin typeface="Calibri"/>
              </a:defRPr>
            </a:pPr>
            <a:r>
              <a:rPr sz="1500" b="0">
                <a:solidFill>
                  <a:srgbClr val="222222"/>
                </a:solidFill>
                <a:latin typeface="Calibri"/>
              </a:rPr>
              <a:t>Ask yourself, on any system you build: what happens when the operator disappears?</a:t>
            </a:r>
          </a:p>
        </p:txBody>
      </p:sp>
      <p:sp>
        <p:nvSpPr>
          <p:cNvPr id="7" name="Rounded Rectangle 6"/>
          <p:cNvSpPr/>
          <p:nvPr/>
        </p:nvSpPr>
        <p:spPr>
          <a:xfrm>
            <a:off x="502920" y="5303520"/>
            <a:ext cx="11185855" cy="960120"/>
          </a:xfrm>
          <a:prstGeom prst="roundRect">
            <a:avLst>
              <a:gd name="adj" fmla="val 4000"/>
            </a:avLst>
          </a:prstGeom>
          <a:solidFill>
            <a:srgbClr val="FBECEC"/>
          </a:solidFill>
          <a:ln w="12700">
            <a:solidFill>
              <a:srgbClr val="A32A2A"/>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A32A2A"/>
                </a:solidFill>
                <a:latin typeface="Calibri"/>
              </a:rPr>
              <a:t>SAFETY   </a:t>
            </a:r>
            <a:r>
              <a:rPr sz="1500">
                <a:solidFill>
                  <a:srgbClr val="222222"/>
                </a:solidFill>
                <a:latin typeface="Calibri"/>
              </a:rPr>
              <a:t>If you take one habit away from this course, take this one.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When it will not connect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17</a:t>
            </a:r>
          </a:p>
        </p:txBody>
      </p:sp>
      <p:graphicFrame>
        <p:nvGraphicFramePr>
          <p:cNvPr id="6" name="Table 5"/>
          <p:cNvGraphicFramePr>
            <a:graphicFrameLocks noGrp="1"/>
          </p:cNvGraphicFramePr>
          <p:nvPr/>
        </p:nvGraphicFramePr>
        <p:xfrm>
          <a:off x="502920" y="1188720"/>
          <a:ext cx="11185854" cy="1978025"/>
        </p:xfrm>
        <a:graphic>
          <a:graphicData uri="http://schemas.openxmlformats.org/drawingml/2006/table">
            <a:tbl>
              <a:tblPr firstRow="1" bandRow="1">
                <a:tableStyleId>{5C22544A-7EE6-4342-B048-85BDC9FD1C3A}</a:tableStyleId>
              </a:tblPr>
              <a:tblGrid>
                <a:gridCol w="3728618"/>
                <a:gridCol w="3195958"/>
                <a:gridCol w="4261278"/>
              </a:tblGrid>
              <a:tr h="282575">
                <a:tc>
                  <a:txBody>
                    <a:bodyPr/>
                    <a:lstStyle/>
                    <a:p>
                      <a:r>
                        <a:rPr sz="1300" b="1">
                          <a:solidFill>
                            <a:srgbClr val="FFFFFF"/>
                          </a:solidFill>
                          <a:latin typeface="Calibri"/>
                        </a:rPr>
                        <a:t>Symptom</a:t>
                      </a:r>
                    </a:p>
                  </a:txBody>
                  <a:tcPr marL="73152" marT="18288" marB="18288">
                    <a:solidFill>
                      <a:srgbClr val="1F3A5F"/>
                    </a:solidFill>
                  </a:tcPr>
                </a:tc>
                <a:tc>
                  <a:txBody>
                    <a:bodyPr/>
                    <a:lstStyle/>
                    <a:p>
                      <a:r>
                        <a:rPr sz="1300" b="1">
                          <a:solidFill>
                            <a:srgbClr val="FFFFFF"/>
                          </a:solidFill>
                          <a:latin typeface="Calibri"/>
                        </a:rPr>
                        <a:t>Most likely cause</a:t>
                      </a:r>
                    </a:p>
                  </a:txBody>
                  <a:tcPr marL="73152" marT="18288" marB="18288">
                    <a:solidFill>
                      <a:srgbClr val="1F3A5F"/>
                    </a:solidFill>
                  </a:tcPr>
                </a:tc>
                <a:tc>
                  <a:txBody>
                    <a:bodyPr/>
                    <a:lstStyle/>
                    <a:p>
                      <a:r>
                        <a:rPr sz="1300" b="1">
                          <a:solidFill>
                            <a:srgbClr val="FFFFFF"/>
                          </a:solidFill>
                          <a:latin typeface="Calibri"/>
                        </a:rPr>
                        <a:t>What to do</a:t>
                      </a:r>
                    </a:p>
                  </a:txBody>
                  <a:tcPr marL="73152" marT="18288" marB="18288">
                    <a:solidFill>
                      <a:srgbClr val="1F3A5F"/>
                    </a:solidFill>
                  </a:tcPr>
                </a:tc>
              </a:tr>
              <a:tr h="282575">
                <a:tc>
                  <a:txBody>
                    <a:bodyPr/>
                    <a:lstStyle/>
                    <a:p>
                      <a:r>
                        <a:rPr sz="1300">
                          <a:solidFill>
                            <a:srgbClr val="222222"/>
                          </a:solidFill>
                          <a:latin typeface="Calibri"/>
                        </a:rPr>
                        <a:t>Nothing connects at all</a:t>
                      </a:r>
                    </a:p>
                  </a:txBody>
                  <a:tcPr marL="73152" marT="18288" marB="18288">
                    <a:solidFill>
                      <a:srgbClr val="FFFFFF"/>
                    </a:solidFill>
                  </a:tcPr>
                </a:tc>
                <a:tc>
                  <a:txBody>
                    <a:bodyPr/>
                    <a:lstStyle/>
                    <a:p>
                      <a:r>
                        <a:rPr sz="1300">
                          <a:solidFill>
                            <a:srgbClr val="222222"/>
                          </a:solidFill>
                          <a:latin typeface="Calibri"/>
                        </a:rPr>
                        <a:t>Address mismatch</a:t>
                      </a:r>
                    </a:p>
                  </a:txBody>
                  <a:tcPr marL="73152" marT="18288" marB="18288">
                    <a:solidFill>
                      <a:srgbClr val="FFFFFF"/>
                    </a:solidFill>
                  </a:tcPr>
                </a:tc>
                <a:tc>
                  <a:txBody>
                    <a:bodyPr/>
                    <a:lstStyle/>
                    <a:p>
                      <a:r>
                        <a:rPr sz="1300">
                          <a:solidFill>
                            <a:srgbClr val="222222"/>
                          </a:solidFill>
                          <a:latin typeface="Calibri"/>
                        </a:rPr>
                        <a:t>Check the address in the sketch matches the pad</a:t>
                      </a:r>
                    </a:p>
                  </a:txBody>
                  <a:tcPr marL="73152" marT="18288" marB="18288">
                    <a:solidFill>
                      <a:srgbClr val="FFFFFF"/>
                    </a:solidFill>
                  </a:tcPr>
                </a:tc>
              </a:tr>
              <a:tr h="282575">
                <a:tc>
                  <a:txBody>
                    <a:bodyPr/>
                    <a:lstStyle/>
                    <a:p>
                      <a:r>
                        <a:rPr sz="1300">
                          <a:solidFill>
                            <a:srgbClr val="222222"/>
                          </a:solidFill>
                          <a:latin typeface="Calibri"/>
                        </a:rPr>
                        <a:t>Connects, then drops</a:t>
                      </a:r>
                    </a:p>
                  </a:txBody>
                  <a:tcPr marL="73152" marT="18288" marB="18288">
                    <a:solidFill>
                      <a:srgbClr val="EEF3F8"/>
                    </a:solidFill>
                  </a:tcPr>
                </a:tc>
                <a:tc>
                  <a:txBody>
                    <a:bodyPr/>
                    <a:lstStyle/>
                    <a:p>
                      <a:r>
                        <a:rPr sz="1300">
                          <a:solidFill>
                            <a:srgbClr val="222222"/>
                          </a:solidFill>
                          <a:latin typeface="Calibri"/>
                        </a:rPr>
                        <a:t>Flat controller battery</a:t>
                      </a:r>
                    </a:p>
                  </a:txBody>
                  <a:tcPr marL="73152" marT="18288" marB="18288">
                    <a:solidFill>
                      <a:srgbClr val="EEF3F8"/>
                    </a:solidFill>
                  </a:tcPr>
                </a:tc>
                <a:tc>
                  <a:txBody>
                    <a:bodyPr/>
                    <a:lstStyle/>
                    <a:p>
                      <a:r>
                        <a:rPr sz="1300">
                          <a:solidFill>
                            <a:srgbClr val="222222"/>
                          </a:solidFill>
                          <a:latin typeface="Calibri"/>
                        </a:rPr>
                        <a:t>Charge it over USB for a few minutes</a:t>
                      </a:r>
                    </a:p>
                  </a:txBody>
                  <a:tcPr marL="73152" marT="18288" marB="18288">
                    <a:solidFill>
                      <a:srgbClr val="EEF3F8"/>
                    </a:solidFill>
                  </a:tcPr>
                </a:tc>
              </a:tr>
              <a:tr h="282575">
                <a:tc>
                  <a:txBody>
                    <a:bodyPr/>
                    <a:lstStyle/>
                    <a:p>
                      <a:r>
                        <a:rPr sz="1300">
                          <a:solidFill>
                            <a:srgbClr val="222222"/>
                          </a:solidFill>
                          <a:latin typeface="Calibri"/>
                        </a:rPr>
                        <a:t>Somebody else's vehicle moves</a:t>
                      </a:r>
                    </a:p>
                  </a:txBody>
                  <a:tcPr marL="73152" marT="18288" marB="18288">
                    <a:solidFill>
                      <a:srgbClr val="FFFFFF"/>
                    </a:solidFill>
                  </a:tcPr>
                </a:tc>
                <a:tc>
                  <a:txBody>
                    <a:bodyPr/>
                    <a:lstStyle/>
                    <a:p>
                      <a:r>
                        <a:rPr sz="1300">
                          <a:solidFill>
                            <a:srgbClr val="222222"/>
                          </a:solidFill>
                          <a:latin typeface="Calibri"/>
                        </a:rPr>
                        <a:t>Two vehicles on one address</a:t>
                      </a:r>
                    </a:p>
                  </a:txBody>
                  <a:tcPr marL="73152" marT="18288" marB="18288">
                    <a:solidFill>
                      <a:srgbClr val="FFFFFF"/>
                    </a:solidFill>
                  </a:tcPr>
                </a:tc>
                <a:tc>
                  <a:txBody>
                    <a:bodyPr/>
                    <a:lstStyle/>
                    <a:p>
                      <a:r>
                        <a:rPr sz="1300">
                          <a:solidFill>
                            <a:srgbClr val="222222"/>
                          </a:solidFill>
                          <a:latin typeface="Calibri"/>
                        </a:rPr>
                        <a:t>Give every vehicle a different address</a:t>
                      </a:r>
                    </a:p>
                  </a:txBody>
                  <a:tcPr marL="73152" marT="18288" marB="18288">
                    <a:solidFill>
                      <a:srgbClr val="FFFFFF"/>
                    </a:solidFill>
                  </a:tcPr>
                </a:tc>
              </a:tr>
              <a:tr h="282575">
                <a:tc>
                  <a:txBody>
                    <a:bodyPr/>
                    <a:lstStyle/>
                    <a:p>
                      <a:r>
                        <a:rPr sz="1300">
                          <a:solidFill>
                            <a:srgbClr val="222222"/>
                          </a:solidFill>
                          <a:latin typeface="Calibri"/>
                        </a:rPr>
                        <a:t>Wheels spin the wrong way</a:t>
                      </a:r>
                    </a:p>
                  </a:txBody>
                  <a:tcPr marL="73152" marT="18288" marB="18288">
                    <a:solidFill>
                      <a:srgbClr val="EEF3F8"/>
                    </a:solidFill>
                  </a:tcPr>
                </a:tc>
                <a:tc>
                  <a:txBody>
                    <a:bodyPr/>
                    <a:lstStyle/>
                    <a:p>
                      <a:r>
                        <a:rPr sz="1300">
                          <a:solidFill>
                            <a:srgbClr val="222222"/>
                          </a:solidFill>
                          <a:latin typeface="Calibri"/>
                        </a:rPr>
                        <a:t>Motor pins swapped</a:t>
                      </a:r>
                    </a:p>
                  </a:txBody>
                  <a:tcPr marL="73152" marT="18288" marB="18288">
                    <a:solidFill>
                      <a:srgbClr val="EEF3F8"/>
                    </a:solidFill>
                  </a:tcPr>
                </a:tc>
                <a:tc>
                  <a:txBody>
                    <a:bodyPr/>
                    <a:lstStyle/>
                    <a:p>
                      <a:r>
                        <a:rPr sz="1300">
                          <a:solidFill>
                            <a:srgbClr val="222222"/>
                          </a:solidFill>
                          <a:latin typeface="Calibri"/>
                        </a:rPr>
                        <a:t>Swap that motor's two pin numbers in the sketch</a:t>
                      </a:r>
                    </a:p>
                  </a:txBody>
                  <a:tcPr marL="73152" marT="18288" marB="18288">
                    <a:solidFill>
                      <a:srgbClr val="EEF3F8"/>
                    </a:solidFill>
                  </a:tcPr>
                </a:tc>
              </a:tr>
              <a:tr h="282575">
                <a:tc>
                  <a:txBody>
                    <a:bodyPr/>
                    <a:lstStyle/>
                    <a:p>
                      <a:r>
                        <a:rPr sz="1300">
                          <a:solidFill>
                            <a:srgbClr val="222222"/>
                          </a:solidFill>
                          <a:latin typeface="Calibri"/>
                        </a:rPr>
                        <a:t>It creeps with the stick centred</a:t>
                      </a:r>
                    </a:p>
                  </a:txBody>
                  <a:tcPr marL="73152" marT="18288" marB="18288">
                    <a:solidFill>
                      <a:srgbClr val="FFFFFF"/>
                    </a:solidFill>
                  </a:tcPr>
                </a:tc>
                <a:tc>
                  <a:txBody>
                    <a:bodyPr/>
                    <a:lstStyle/>
                    <a:p>
                      <a:r>
                        <a:rPr sz="1300">
                          <a:solidFill>
                            <a:srgbClr val="222222"/>
                          </a:solidFill>
                          <a:latin typeface="Calibri"/>
                        </a:rPr>
                        <a:t>Deadzone too small</a:t>
                      </a:r>
                    </a:p>
                  </a:txBody>
                  <a:tcPr marL="73152" marT="18288" marB="18288">
                    <a:solidFill>
                      <a:srgbClr val="FFFFFF"/>
                    </a:solidFill>
                  </a:tcPr>
                </a:tc>
                <a:tc>
                  <a:txBody>
                    <a:bodyPr/>
                    <a:lstStyle/>
                    <a:p>
                      <a:r>
                        <a:rPr sz="1300">
                          <a:solidFill>
                            <a:srgbClr val="222222"/>
                          </a:solidFill>
                          <a:latin typeface="Calibri"/>
                        </a:rPr>
                        <a:t>Raise STICK_DEADZONE</a:t>
                      </a:r>
                    </a:p>
                  </a:txBody>
                  <a:tcPr marL="73152" marT="18288" marB="18288">
                    <a:solidFill>
                      <a:srgbClr val="FFFFFF"/>
                    </a:solidFill>
                  </a:tcPr>
                </a:tc>
              </a:tr>
              <a:tr h="282575">
                <a:tc>
                  <a:txBody>
                    <a:bodyPr/>
                    <a:lstStyle/>
                    <a:p>
                      <a:r>
                        <a:rPr sz="1300">
                          <a:solidFill>
                            <a:srgbClr val="222222"/>
                          </a:solidFill>
                          <a:latin typeface="Calibri"/>
                        </a:rPr>
                        <a:t>Nothing at all, no serial output</a:t>
                      </a:r>
                    </a:p>
                  </a:txBody>
                  <a:tcPr marL="73152" marT="18288" marB="18288">
                    <a:solidFill>
                      <a:srgbClr val="EEF3F8"/>
                    </a:solidFill>
                  </a:tcPr>
                </a:tc>
                <a:tc>
                  <a:txBody>
                    <a:bodyPr/>
                    <a:lstStyle/>
                    <a:p>
                      <a:r>
                        <a:rPr sz="1300">
                          <a:solidFill>
                            <a:srgbClr val="222222"/>
                          </a:solidFill>
                          <a:latin typeface="Calibri"/>
                        </a:rPr>
                        <a:t>Wrong board selected</a:t>
                      </a:r>
                    </a:p>
                  </a:txBody>
                  <a:tcPr marL="73152" marT="18288" marB="18288">
                    <a:solidFill>
                      <a:srgbClr val="EEF3F8"/>
                    </a:solidFill>
                  </a:tcPr>
                </a:tc>
                <a:tc>
                  <a:txBody>
                    <a:bodyPr/>
                    <a:lstStyle/>
                    <a:p>
                      <a:r>
                        <a:rPr sz="1300">
                          <a:solidFill>
                            <a:srgbClr val="222222"/>
                          </a:solidFill>
                          <a:latin typeface="Calibri"/>
                        </a:rPr>
                        <a:t>Check the board menu - see Lesson 1</a:t>
                      </a:r>
                    </a:p>
                  </a:txBody>
                  <a:tcPr marL="73152" marT="18288" marB="18288">
                    <a:solidFill>
                      <a:srgbClr val="EEF3F8"/>
                    </a:solidFill>
                  </a:tcPr>
                </a:tc>
              </a:tr>
            </a:tbl>
          </a:graphicData>
        </a:graphic>
      </p:graphicFrame>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Check yourself</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18</a:t>
            </a:r>
          </a:p>
        </p:txBody>
      </p:sp>
      <p:sp>
        <p:nvSpPr>
          <p:cNvPr id="6" name="TextBox 5"/>
          <p:cNvSpPr txBox="1"/>
          <p:nvPr/>
        </p:nvSpPr>
        <p:spPr>
          <a:xfrm>
            <a:off x="502920" y="1188720"/>
            <a:ext cx="11185855" cy="411480"/>
          </a:xfrm>
          <a:prstGeom prst="rect">
            <a:avLst/>
          </a:prstGeom>
          <a:noFill/>
        </p:spPr>
        <p:txBody>
          <a:bodyPr wrap="square" lIns="0" tIns="0" rIns="0" bIns="0">
            <a:spAutoFit/>
          </a:bodyPr>
          <a:lstStyle/>
          <a:p>
            <a:pPr algn="l">
              <a:lnSpc>
                <a:spcPct val="100000"/>
              </a:lnSpc>
              <a:spcAft>
                <a:spcPts val="600"/>
              </a:spcAft>
              <a:defRPr sz="1600" b="0">
                <a:solidFill>
                  <a:srgbClr val="666666"/>
                </a:solidFill>
                <a:latin typeface="Calibri"/>
              </a:defRPr>
            </a:pPr>
            <a:r>
              <a:rPr sz="1600" b="0">
                <a:solidFill>
                  <a:srgbClr val="666666"/>
                </a:solidFill>
                <a:latin typeface="Calibri"/>
              </a:rPr>
              <a:t>Next week: the 32 LEDs, and what colour actually is.</a:t>
            </a:r>
          </a:p>
        </p:txBody>
      </p:sp>
      <p:sp>
        <p:nvSpPr>
          <p:cNvPr id="7" name="TextBox 6"/>
          <p:cNvSpPr txBox="1"/>
          <p:nvPr/>
        </p:nvSpPr>
        <p:spPr>
          <a:xfrm>
            <a:off x="502920" y="1664208"/>
            <a:ext cx="11185855" cy="4599432"/>
          </a:xfrm>
          <a:prstGeom prst="rect">
            <a:avLst/>
          </a:prstGeom>
          <a:noFill/>
        </p:spPr>
        <p:txBody>
          <a:bodyPr wrap="square" lIns="0" tIns="0" rIns="0" bIns="0">
            <a:spAutoFit/>
          </a:bodyPr>
          <a:lstStyle/>
          <a:p>
            <a:pPr algn="l">
              <a:lnSpc>
                <a:spcPct val="100000"/>
              </a:lnSpc>
              <a:spcAft>
                <a:spcPts val="1400"/>
              </a:spcAft>
              <a:defRPr sz="1700" b="0">
                <a:solidFill>
                  <a:srgbClr val="222222"/>
                </a:solidFill>
                <a:latin typeface="Calibri"/>
              </a:defRPr>
            </a:pPr>
            <a:r>
              <a:rPr sz="1700" b="0">
                <a:solidFill>
                  <a:srgbClr val="222222"/>
                </a:solidFill>
                <a:latin typeface="Calibri"/>
              </a:rPr>
              <a:t>1.  What is a Bluetooth address, and why must every vehicle in the room have a different one?</a:t>
            </a:r>
          </a:p>
          <a:p>
            <a:pPr algn="l">
              <a:lnSpc>
                <a:spcPct val="100000"/>
              </a:lnSpc>
              <a:spcAft>
                <a:spcPts val="1400"/>
              </a:spcAft>
              <a:defRPr sz="1700" b="0">
                <a:solidFill>
                  <a:srgbClr val="222222"/>
                </a:solidFill>
                <a:latin typeface="Calibri"/>
              </a:defRPr>
            </a:pPr>
            <a:r>
              <a:rPr sz="1700" b="0">
                <a:solidFill>
                  <a:srgbClr val="222222"/>
                </a:solidFill>
                <a:latin typeface="Calibri"/>
              </a:rPr>
              <a:t>2.  Push the left stick fully forward. Is the number positive or negative? Why does the program put a minus sign in front of it?</a:t>
            </a:r>
          </a:p>
          <a:p>
            <a:pPr algn="l">
              <a:lnSpc>
                <a:spcPct val="100000"/>
              </a:lnSpc>
              <a:spcAft>
                <a:spcPts val="1400"/>
              </a:spcAft>
              <a:defRPr sz="1700" b="0">
                <a:solidFill>
                  <a:srgbClr val="222222"/>
                </a:solidFill>
                <a:latin typeface="Calibri"/>
              </a:defRPr>
            </a:pPr>
            <a:r>
              <a:rPr sz="1700" b="0">
                <a:solidFill>
                  <a:srgbClr val="222222"/>
                </a:solidFill>
                <a:latin typeface="Calibri"/>
              </a:rPr>
              <a:t>3.  What is a deadzone for? What goes wrong if it is 0? What goes wrong if it is far too big?</a:t>
            </a:r>
          </a:p>
          <a:p>
            <a:pPr algn="l">
              <a:lnSpc>
                <a:spcPct val="100000"/>
              </a:lnSpc>
              <a:spcAft>
                <a:spcPts val="1400"/>
              </a:spcAft>
              <a:defRPr sz="1700" b="0">
                <a:solidFill>
                  <a:srgbClr val="222222"/>
                </a:solidFill>
                <a:latin typeface="Calibri"/>
              </a:defRPr>
            </a:pPr>
            <a:r>
              <a:rPr sz="1700" b="0">
                <a:solidFill>
                  <a:srgbClr val="222222"/>
                </a:solidFill>
                <a:latin typeface="Calibri"/>
              </a:rPr>
              <a:t>4.  In your own words, what does map() do?</a:t>
            </a:r>
          </a:p>
          <a:p>
            <a:pPr algn="l">
              <a:lnSpc>
                <a:spcPct val="100000"/>
              </a:lnSpc>
              <a:spcAft>
                <a:spcPts val="1400"/>
              </a:spcAft>
              <a:defRPr sz="1700" b="0">
                <a:solidFill>
                  <a:srgbClr val="222222"/>
                </a:solidFill>
                <a:latin typeface="Calibri"/>
              </a:defRPr>
            </a:pPr>
            <a:r>
              <a:rPr sz="1700" b="0">
                <a:solidFill>
                  <a:srgbClr val="222222"/>
                </a:solidFill>
                <a:latin typeface="Calibri"/>
              </a:rPr>
              <a:t>5.  forward is 180 and turn is 100. What speed does each side get, before and after constrain()?</a:t>
            </a:r>
          </a:p>
          <a:p>
            <a:pPr algn="l">
              <a:lnSpc>
                <a:spcPct val="100000"/>
              </a:lnSpc>
              <a:spcAft>
                <a:spcPts val="1400"/>
              </a:spcAft>
              <a:defRPr sz="1700" b="0">
                <a:solidFill>
                  <a:srgbClr val="222222"/>
                </a:solidFill>
                <a:latin typeface="Calibri"/>
              </a:defRPr>
            </a:pPr>
            <a:r>
              <a:rPr sz="1700" b="0">
                <a:solidFill>
                  <a:srgbClr val="222222"/>
                </a:solidFill>
                <a:latin typeface="Calibri"/>
              </a:rPr>
              <a:t>6.  Why is steering limited to half power by default?</a:t>
            </a:r>
          </a:p>
          <a:p>
            <a:pPr algn="l">
              <a:lnSpc>
                <a:spcPct val="100000"/>
              </a:lnSpc>
              <a:spcAft>
                <a:spcPts val="1400"/>
              </a:spcAft>
              <a:defRPr sz="1700" b="0">
                <a:solidFill>
                  <a:srgbClr val="222222"/>
                </a:solidFill>
                <a:latin typeface="Calibri"/>
              </a:defRPr>
            </a:pPr>
            <a:r>
              <a:rPr sz="1700" b="0">
                <a:solidFill>
                  <a:srgbClr val="222222"/>
                </a:solidFill>
                <a:latin typeface="Calibri"/>
              </a:rPr>
              <a:t>7.  Write the three lines that stop the vehicle when the controller disconnects.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