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do not make students worry about how. Tell them what the sticker means and move on.</a:t>
            </a:r>
          </a:p>
          <a:p>
            <a:r>
              <a:rPr sz="1200">
                <a:latin typeface="Calibri"/>
              </a:rPr>
              <a:t>Say the odd part plainly all the same: on a PS3 pad it is the CONTROLLER that is told which vehicle to talk to, not the vehicle that chooses a controller.</a:t>
            </a:r>
          </a:p>
          <a:p>
            <a:r>
              <a:rPr sz="1200">
                <a:latin typeface="Calibri"/>
              </a:rPr>
              <a:t>FOR YOU, NOT FOR THE SLIDE - how the labelling is done. Plug the pad into a Windows PC over USB, open SixaxisPairTool, type the address in and click Update, then put the same address into PS3_MAC_ADDRESS in the sketch. The scheme is 02:02:03:04:05:NN, where NN is the vehicle number.</a:t>
            </a:r>
          </a:p>
          <a:p>
            <a:r>
              <a:rPr sz="1200">
                <a:latin typeface="Calibri"/>
              </a:rPr>
              <a:t>Also for you: the first pair of digits must be EVEN. An odd one silently fails to connect,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buttons and the face buttons - a Sixaxis reports pressure on all of them. Almost every program reads them as digital anyway, which is why it is easy to get wrong.</a:t>
            </a:r>
          </a:p>
          <a:p>
            <a:r>
              <a:rPr sz="1200">
                <a:latin typeface="Calibri"/>
              </a:rPr>
              <a:t>A hard press on a trigger reads differently from a light one. You can still read any of them as a plain yes or no, and mostly we do, which is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PS3 controller has no discovery mode. It talks to ONE vehicle and no other, and that is decided before you get it - we program and label every pad and every vehicle before the lesson.</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So all you have to do is match the stickers.</a:t>
            </a:r>
          </a:p>
          <a:p>
            <a:pPr lvl="1" algn="l">
              <a:lnSpc>
                <a:spcPct val="100000"/>
              </a:lnSpc>
              <a:spcAft>
                <a:spcPts val="600"/>
              </a:spcAft>
              <a:defRPr sz="2000" b="0">
                <a:solidFill>
                  <a:srgbClr val="222222"/>
                </a:solidFill>
                <a:latin typeface="Calibri"/>
              </a:defRPr>
            </a:pPr>
            <a:r>
              <a:rPr sz="2000" b="0">
                <a:solidFill>
                  <a:srgbClr val="222222"/>
                </a:solidFill>
                <a:latin typeface="Calibri"/>
              </a:rPr>
              <a:t>The sticker on the pad and the sticker on the vehicle carry the same number.</a:t>
            </a:r>
          </a:p>
          <a:p>
            <a:pPr lvl="1" algn="l">
              <a:lnSpc>
                <a:spcPct val="100000"/>
              </a:lnSpc>
              <a:spcAft>
                <a:spcPts val="600"/>
              </a:spcAft>
              <a:defRPr sz="2000" b="0">
                <a:solidFill>
                  <a:srgbClr val="222222"/>
                </a:solidFill>
                <a:latin typeface="Calibri"/>
              </a:defRPr>
            </a:pPr>
            <a:r>
              <a:rPr sz="2000" b="0">
                <a:solidFill>
                  <a:srgbClr val="222222"/>
                </a:solidFill>
                <a:latin typeface="Calibri"/>
              </a:rPr>
              <a:t>Same number, they work together. Different numbers, nothing happens at all.</a:t>
            </a:r>
          </a:p>
          <a:p>
            <a:pPr lvl="1" algn="l">
              <a:lnSpc>
                <a:spcPct val="100000"/>
              </a:lnSpc>
              <a:spcAft>
                <a:spcPts val="600"/>
              </a:spcAft>
              <a:defRPr sz="2000" b="0">
                <a:solidFill>
                  <a:srgbClr val="222222"/>
                </a:solidFill>
                <a:latin typeface="Calibri"/>
              </a:defRPr>
            </a:pPr>
            <a:r>
              <a:rPr sz="2000" b="0">
                <a:solidFill>
                  <a:srgbClr val="222222"/>
                </a:solidFill>
                <a:latin typeface="Calibri"/>
              </a:rPr>
              <a:t>If your pad will not connect, check the stickers before you check anything else.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number is really a Bluetooth address written into both the pad and the sketch. You do not have to set it, but it is worth knowing that is what the sticker stands for.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Do not swap pads between vehicles. A pad only ever drives the vehicle with the same number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On a PS3 pad the TRIGGERS are analog too, and so are the shoulder and face buttons.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HALF of that by default.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pad off. What happens?</a:t>
            </a:r>
          </a:p>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150 and 151: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151: make it  rightSpeed = forward;  with no turn term. Why is that worse steering?</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7091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7163537" y="304835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50695"/>
            <a:ext cx="4525238" cy="17248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