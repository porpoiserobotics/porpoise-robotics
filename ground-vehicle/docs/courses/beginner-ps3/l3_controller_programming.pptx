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instruction, 2026-09-05: we program and label the controllers, so do not make students worry about how. Tell them what the sticker means and move on.</a:t>
            </a:r>
          </a:p>
          <a:p>
            <a:r>
              <a:rPr sz="1200">
                <a:latin typeface="Calibri"/>
              </a:rPr>
              <a:t>Say the odd part plainly all the same: on a PS3 pad it is the CONTROLLER that is told which vehicle to talk to, not the vehicle that chooses a controller.</a:t>
            </a:r>
          </a:p>
          <a:p>
            <a:r>
              <a:rPr sz="1200">
                <a:latin typeface="Calibri"/>
              </a:rPr>
              <a:t>FOR YOU, NOT FOR THE SLIDE - how the labelling is done. Plug the pad into a Windows PC over USB, open SixaxisPairTool, type the address in and click Update, then put the same address into PS3_MAC_ADDRESS in the sketch. The scheme is 02:02:03:04:05:NN, where NN is the vehicle number.</a:t>
            </a:r>
          </a:p>
          <a:p>
            <a:r>
              <a:rPr sz="1200">
                <a:latin typeface="Calibri"/>
              </a:rPr>
              <a:t>Also for you: the first pair of digits must be EVEN. An odd one silently fails to connect, which is a very confusing way to spend an afternoon.</a:t>
            </a:r>
          </a:p>
          <a:p>
            <a:r>
              <a:rPr sz="1200">
                <a:latin typeface="Calibri"/>
              </a:rPr>
              <a:t>Check the stickers around the room now, before anybody uploads. Every term somebody loses a morning to a pad that was picked up off the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and it is deliberately nothing but the picture. Leave it up while they work.</a:t>
            </a:r>
          </a:p>
          <a:p>
            <a:r>
              <a:rPr sz="1200">
                <a:latin typeface="Calibri"/>
              </a:rPr>
              <a:t>Hold a real controller alongside it and name the parts. Two analog sticks, a D-pad, four face buttons, four shoulder buttons, two triggers, and three in the middle.</a:t>
            </a:r>
          </a:p>
          <a:p>
            <a:r>
              <a:rPr sz="1200">
                <a:latin typeface="Calibri"/>
              </a:rPr>
              <a:t>Every one of those has a name in the program, and they are about to press all of them and see what each is called.</a:t>
            </a:r>
          </a:p>
          <a:p>
            <a:r>
              <a:rPr sz="1200">
                <a:latin typeface="Calibri"/>
              </a:rPr>
              <a:t>Tell them to photograph this slide. They will want it again in Lessons 4 and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and face buttons - a Sixaxis reports pressure on all of them. Almost every program reads them as digital anyway, which is why it is easy to get wrong.</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centered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read the sticker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PS3 controller has no discovery mode. It talks to ONE vehicle and no other, and that is decided before you get it - we program and label every pad and every vehicle before the lesson.</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So all you have to do is match the stickers.</a:t>
            </a:r>
          </a:p>
          <a:p>
            <a:pPr lvl="1" algn="l">
              <a:lnSpc>
                <a:spcPct val="100000"/>
              </a:lnSpc>
              <a:spcAft>
                <a:spcPts val="600"/>
              </a:spcAft>
              <a:defRPr sz="2000" b="0">
                <a:solidFill>
                  <a:srgbClr val="222222"/>
                </a:solidFill>
                <a:latin typeface="Calibri"/>
              </a:defRPr>
            </a:pPr>
            <a:r>
              <a:rPr sz="2000" b="0">
                <a:solidFill>
                  <a:srgbClr val="222222"/>
                </a:solidFill>
                <a:latin typeface="Calibri"/>
              </a:rPr>
              <a:t>The sticker on the pad and the sticker on the vehicle carry the same number.</a:t>
            </a:r>
          </a:p>
          <a:p>
            <a:pPr lvl="1" algn="l">
              <a:lnSpc>
                <a:spcPct val="100000"/>
              </a:lnSpc>
              <a:spcAft>
                <a:spcPts val="600"/>
              </a:spcAft>
              <a:defRPr sz="2000" b="0">
                <a:solidFill>
                  <a:srgbClr val="222222"/>
                </a:solidFill>
                <a:latin typeface="Calibri"/>
              </a:defRPr>
            </a:pPr>
            <a:r>
              <a:rPr sz="2000" b="0">
                <a:solidFill>
                  <a:srgbClr val="222222"/>
                </a:solidFill>
                <a:latin typeface="Calibri"/>
              </a:rPr>
              <a:t>Same number, they work together. Different numbers, nothing happens at all.</a:t>
            </a:r>
          </a:p>
          <a:p>
            <a:pPr lvl="1" algn="l">
              <a:lnSpc>
                <a:spcPct val="100000"/>
              </a:lnSpc>
              <a:spcAft>
                <a:spcPts val="600"/>
              </a:spcAft>
              <a:defRPr sz="2000" b="0">
                <a:solidFill>
                  <a:srgbClr val="222222"/>
                </a:solidFill>
                <a:latin typeface="Calibri"/>
              </a:defRPr>
            </a:pPr>
            <a:r>
              <a:rPr sz="2000" b="0">
                <a:solidFill>
                  <a:srgbClr val="222222"/>
                </a:solidFill>
                <a:latin typeface="Calibri"/>
              </a:rPr>
              <a:t>If your pad will not connect, check the stickers before you check anything else.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number is really a Bluetooth address written into both the pad and the sketch. You do not have to set it, but it is worth knowing that is what the sticker stands for.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Do not swap pads between vehicles. A pad only ever drives the vehicle with the same number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  -  every name you will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pic>
        <p:nvPicPr>
          <p:cNvPr id="6" name="Picture 5" descr="ps3-button-map.png"/>
          <p:cNvPicPr>
            <a:picLocks noChangeAspect="1"/>
          </p:cNvPicPr>
          <p:nvPr/>
        </p:nvPicPr>
        <p:blipFill>
          <a:blip r:embed="rId2"/>
          <a:stretch>
            <a:fillRect/>
          </a:stretch>
        </p:blipFill>
        <p:spPr>
          <a:xfrm>
            <a:off x="2274049" y="1188720"/>
            <a:ext cx="7643596"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and so are the shoulder and face buttons - a Sixaxis reports how hard you press.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and open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Press the PS button on the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3.  Press every button in turn and match it to the printed name.</a:t>
            </a:r>
          </a:p>
          <a:p>
            <a:pPr algn="l">
              <a:lnSpc>
                <a:spcPct val="100000"/>
              </a:lnSpc>
              <a:spcAft>
                <a:spcPts val="800"/>
              </a:spcAft>
              <a:defRPr sz="1900" b="0">
                <a:solidFill>
                  <a:srgbClr val="222222"/>
                </a:solidFill>
                <a:latin typeface="Calibri"/>
              </a:defRPr>
            </a:pPr>
            <a:r>
              <a:rPr sz="1900" b="0">
                <a:solidFill>
                  <a:srgbClr val="222222"/>
                </a:solidFill>
                <a:latin typeface="Calibri"/>
              </a:rPr>
              <a:t>4.  Push the left stick fully UP. Positive or negative?</a:t>
            </a:r>
          </a:p>
          <a:p>
            <a:pPr algn="l">
              <a:lnSpc>
                <a:spcPct val="100000"/>
              </a:lnSpc>
              <a:spcAft>
                <a:spcPts val="800"/>
              </a:spcAft>
              <a:defRPr sz="1900" b="0">
                <a:solidFill>
                  <a:srgbClr val="222222"/>
                </a:solidFill>
                <a:latin typeface="Calibri"/>
              </a:defRPr>
            </a:pPr>
            <a:r>
              <a:rPr sz="1900" b="0">
                <a:solidFill>
                  <a:srgbClr val="222222"/>
                </a:solidFill>
                <a:latin typeface="Calibri"/>
              </a:rPr>
              <a:t>5.  Let go of the sticks and DO NOT touch the controller. Does it print exactly 0, or does it drift?</a:t>
            </a:r>
          </a:p>
          <a:p>
            <a:pPr algn="l">
              <a:lnSpc>
                <a:spcPct val="100000"/>
              </a:lnSpc>
              <a:spcAft>
                <a:spcPts val="800"/>
              </a:spcAft>
              <a:defRPr sz="1900" b="0">
                <a:solidFill>
                  <a:srgbClr val="222222"/>
                </a:solidFill>
                <a:latin typeface="Calibri"/>
              </a:defRPr>
            </a:pPr>
            <a:r>
              <a:rPr sz="1900" b="0">
                <a:solidFill>
                  <a:srgbClr val="222222"/>
                </a:solidFill>
                <a:latin typeface="Calibri"/>
              </a:rPr>
              <a:t>6.  Push a stick diagonally. Watch x and y move together.</a:t>
            </a:r>
          </a:p>
          <a:p>
            <a:pPr algn="l">
              <a:lnSpc>
                <a:spcPct val="100000"/>
              </a:lnSpc>
              <a:spcAft>
                <a:spcPts val="800"/>
              </a:spcAft>
              <a:defRPr sz="1900" b="0">
                <a:solidFill>
                  <a:srgbClr val="222222"/>
                </a:solidFill>
                <a:latin typeface="Calibri"/>
              </a:defRPr>
            </a:pPr>
            <a:r>
              <a:rPr sz="1900" b="0">
                <a:solidFill>
                  <a:srgbClr val="222222"/>
                </a:solidFill>
                <a:latin typeface="Calibri"/>
              </a:rPr>
              <a:t>7.  Squeeze L2 slowly. It is not just on or off - watch the number.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20, which is about 16%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101.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150 and 151: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151: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 Every time you upload a change.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If you take one habit away from this course, take this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centered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