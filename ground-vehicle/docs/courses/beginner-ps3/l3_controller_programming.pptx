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buttons and the face buttons - a Sixaxis reports pressure on all of them. Almost every program reads them as digital anyway, which is why it is easy to get wrong.</a:t>
            </a:r>
          </a:p>
          <a:p>
            <a:r>
              <a:rPr sz="1200">
                <a:latin typeface="Calibri"/>
              </a:rPr>
              <a:t>A hard press on a trigger reads differently from a light one. You can still read any of them as a plain yes or no, and mostly we do, which is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know how an H-bridge reverses a motor, and how PWM sets its speed.</a:t>
            </a:r>
          </a:p>
          <a:p>
            <a:pPr algn="l">
              <a:lnSpc>
                <a:spcPct val="100000"/>
              </a:lnSpc>
              <a:spcAft>
                <a:spcPts val="600"/>
              </a:spcAft>
              <a:defRPr sz="2700" b="0">
                <a:solidFill>
                  <a:srgbClr val="222222"/>
                </a:solidFill>
                <a:latin typeface="Calibri"/>
              </a:defRPr>
            </a:pPr>
            <a:r>
              <a:rPr sz="2700" b="0">
                <a:solidFill>
                  <a:srgbClr val="222222"/>
                </a:solidFill>
                <a:latin typeface="Calibri"/>
              </a:rPr>
              <a:t>You watched duty and speed change together on the Serial Monitor.</a:t>
            </a:r>
          </a:p>
          <a:p>
            <a:pPr algn="l">
              <a:lnSpc>
                <a:spcPct val="100000"/>
              </a:lnSpc>
              <a:spcAft>
                <a:spcPts val="600"/>
              </a:spcAft>
              <a:defRPr sz="2700" b="0">
                <a:solidFill>
                  <a:srgbClr val="222222"/>
                </a:solidFill>
                <a:latin typeface="Calibri"/>
              </a:defRPr>
            </a:pPr>
            <a:r>
              <a:rPr sz="2700" b="0">
                <a:solidFill>
                  <a:srgbClr val="222222"/>
                </a:solidFill>
                <a:latin typeface="Calibri"/>
              </a:rPr>
              <a:t>You drove a square you calculated, and found out why it did not close.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 all you have to do is match the stickers.</a:t>
            </a:r>
          </a:p>
          <a:p>
            <a:pPr lvl="1" algn="l">
              <a:lnSpc>
                <a:spcPct val="100000"/>
              </a:lnSpc>
              <a:spcAft>
                <a:spcPts val="600"/>
              </a:spcAft>
              <a:defRPr sz="1900" b="0">
                <a:solidFill>
                  <a:srgbClr val="222222"/>
                </a:solidFill>
                <a:latin typeface="Calibri"/>
              </a:defRPr>
            </a:pPr>
            <a:r>
              <a:rPr sz="1900" b="0">
                <a:solidFill>
                  <a:srgbClr val="222222"/>
                </a:solidFill>
                <a:latin typeface="Calibri"/>
              </a:rPr>
              <a:t>The sticker on the pad and the sticker on the vehicle carry the same number.</a:t>
            </a:r>
          </a:p>
          <a:p>
            <a:pPr lvl="1" algn="l">
              <a:lnSpc>
                <a:spcPct val="100000"/>
              </a:lnSpc>
              <a:spcAft>
                <a:spcPts val="600"/>
              </a:spcAft>
              <a:defRPr sz="1900" b="0">
                <a:solidFill>
                  <a:srgbClr val="222222"/>
                </a:solidFill>
                <a:latin typeface="Calibri"/>
              </a:defRPr>
            </a:pPr>
            <a:r>
              <a:rPr sz="1900" b="0">
                <a:solidFill>
                  <a:srgbClr val="222222"/>
                </a:solidFill>
                <a:latin typeface="Calibri"/>
              </a:rPr>
              <a:t>Same number, they work together. Different numbers, nothing happens at all.</a:t>
            </a:r>
          </a:p>
          <a:p>
            <a:pPr lvl="1" algn="l">
              <a:lnSpc>
                <a:spcPct val="100000"/>
              </a:lnSpc>
              <a:spcAft>
                <a:spcPts val="600"/>
              </a:spcAft>
              <a:defRPr sz="1900" b="0">
                <a:solidFill>
                  <a:srgbClr val="222222"/>
                </a:solidFill>
                <a:latin typeface="Calibri"/>
              </a:defRPr>
            </a:pPr>
            <a:r>
              <a:rPr sz="1900" b="0">
                <a:solidFill>
                  <a:srgbClr val="222222"/>
                </a:solidFill>
                <a:latin typeface="Calibri"/>
              </a:rPr>
              <a:t>If your pad will not connect, check the stickers before you check anything else.</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On a PS3 pad the TRIGGERS are analog too, and so are the shoulder and face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center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20, which is about 16%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