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Charged batteries and a cleared floor. Today has the most driving of any lesson in the course.</a:t>
            </a:r>
          </a:p>
          <a:p>
            <a:r>
              <a:rPr sz="1200">
                <a:latin typeface="Calibri"/>
              </a:rPr>
              <a:t>Tell them at the start that by the end they will be running the same program that leaves the factory on a finished vehicle. It changes how they read it.</a:t>
            </a:r>
          </a:p>
          <a:p>
            <a:r>
              <a:rPr sz="1200">
                <a:latin typeface="Calibri"/>
              </a:rPr>
              <a:t>If you are racing at the end, tape the course out before the class starts.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two - write the millis() pattern from memory - is a genuine test. Come back to it in the quiz.</a:t>
            </a:r>
          </a:p>
          <a:p>
            <a:r>
              <a:rPr sz="1200">
                <a:latin typeface="Calibri"/>
              </a:rPr>
              <a:t>The last objective ties the whole term together: they calculated a speed in Lesson 2, and today they find out whether they were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minutes. Point at each lesson and get one sentence from the room rather than reading it yourself.</a:t>
            </a:r>
          </a:p>
          <a:p>
            <a:r>
              <a:rPr sz="1200">
                <a:latin typeface="Calibri"/>
              </a:rPr>
              <a:t>The note is the promise for today. Say it and then deliver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The racing is at 2:35, and it will overrun if you let it - protect the last five minutes for where the course goes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distinction on the lead line is the whole lesson: delay() does not wait, it stops.</a:t>
            </a:r>
          </a:p>
          <a:p>
            <a:r>
              <a:rPr sz="1200">
                <a:latin typeface="Calibri"/>
              </a:rPr>
              <a:t>Give the concrete numbers: a turn signal every 300 ms, a scanner every 40 ms, the motors as fast as possible. Ask them to write those as delays and watch it fall apart.</a:t>
            </a:r>
          </a:p>
          <a:p>
            <a:r>
              <a:rPr sz="1200">
                <a:latin typeface="Calibri"/>
              </a:rPr>
              <a:t>The old System Test story is worth telling. A real program, a real freeze, and a real reason it was replaced.</a:t>
            </a:r>
          </a:p>
          <a:p>
            <a:r>
              <a:rPr sz="1200">
                <a:latin typeface="Calibri"/>
              </a:rPr>
              <a:t>This is the difference between something that works on the bench and something that works on a vehicle.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slide that explains the whole of Lesson 5. Do not rush it.</a:t>
            </a:r>
          </a:p>
          <a:p>
            <a:r>
              <a:rPr sz="1200">
                <a:latin typeface="Calibri"/>
              </a:rPr>
              <a:t>Two jobs at different rates cannot both be done with delay(). Draw the two timelines on the board and let them see the collision.</a:t>
            </a:r>
          </a:p>
          <a:p>
            <a:r>
              <a:rPr sz="1200">
                <a:latin typeface="Calibri"/>
              </a:rPr>
              <a:t>millis() is not a timer you start. It is a clock that has been running since power-up, and all you ever do is subtract.</a:t>
            </a:r>
          </a:p>
          <a:p>
            <a:r>
              <a:rPr sz="1200">
                <a:latin typeface="Calibri"/>
              </a:rPr>
              <a:t>Subtracting rather than comparing is what survives the wrap at 49 days. Mention it, do not dwell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lines. Get them to copy it into a notebook, because they will write it from memory in the quiz.</a:t>
            </a:r>
          </a:p>
          <a:p>
            <a:r>
              <a:rPr sz="1200">
                <a:latin typeface="Calibri"/>
              </a:rPr>
              <a:t>millis() is not a timer you start - it has been running since power-up, and all you ever do is subtract.</a:t>
            </a:r>
          </a:p>
          <a:p>
            <a:r>
              <a:rPr sz="1200">
                <a:latin typeface="Calibri"/>
              </a:rPr>
              <a:t>Each job needs its OWN lastRun variable. That is the bit people get wrong when they first try it.</a:t>
            </a:r>
          </a:p>
          <a:p>
            <a:r>
              <a:rPr sz="1200">
                <a:latin typeface="Calibri"/>
              </a:rPr>
              <a:t>unsigned long matters because it is what millis() returns. On an ESP32 an int is the same size but signed, so it would go negative after about 25 days. On a classic Arduino Uno, where an int is only 16 bits, it goes wrong after 33 seconds - which is where most of the warnings they will read online come from. Subtracting rather than comparing is also what survives the wrap at 49 days.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of four.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loop counter is the star of this activity. Get the number written down before step 3, or the comparison means nothing.</a:t>
            </a:r>
          </a:p>
          <a:p>
            <a:r>
              <a:rPr sz="1200">
                <a:latin typeface="Calibri"/>
              </a:rPr>
              <a:t>Step 4 is the demonstration: one delay, and a counter in the tens of thousands falls to 1.</a:t>
            </a:r>
          </a:p>
          <a:p>
            <a:r>
              <a:rPr sz="1200">
                <a:latin typeface="Calibri"/>
              </a:rPr>
              <a:t>Step 6 - a third light on its own timer without touching the other two - is the proof they have understood the pattern.</a:t>
            </a:r>
          </a:p>
          <a:p>
            <a:r>
              <a:rPr sz="1200">
                <a:latin typeface="Calibri"/>
              </a:rPr>
              <a:t>Nothing moves in this one, so no blocks needed.</a:t>
            </a:r>
          </a:p>
          <a:p>
            <a:r>
              <a:rPr sz="1200">
                <a:latin typeface="Calibri"/>
              </a:rPr>
              <a:t>ANSWERS. Without the delay, loop() runs tens of thousands of times a second - the exact number varies, so take theirs. With delay(1000) it runs once a second, so the count reads 1: the vehicle has gone from checking everything tens of thousands of times a second to once, and for the other 999 milliseconds it is not reading the controller, the lights or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out loud: loop() runs tens of thousands of times a second, a finger holds a button for about a tenth of a second.</a:t>
            </a:r>
          </a:p>
          <a:p>
            <a:r>
              <a:rPr sz="1200">
                <a:latin typeface="Calibri"/>
              </a:rPr>
              <a:t>So one press is thousands of trips round the loop, and the naive version flips the lights thousands of times. Whether they end up on or off is luck.</a:t>
            </a:r>
          </a:p>
          <a:p>
            <a:r>
              <a:rPr sz="1200">
                <a:latin typeface="Calibri"/>
              </a:rPr>
              <a:t>The level is not the event. That sentence is worth writing on the board.</a:t>
            </a:r>
          </a:p>
          <a:p>
            <a:r>
              <a:rPr sz="1200">
                <a:latin typeface="Calibri"/>
              </a:rPr>
              <a:t>To find an edge you must remember what it was doing last time. That is the whole of justPressed().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Two of four.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sketch ships with a deliberately broken button next to a correct one. That is on purpose - do not let anybody fix it.</a:t>
            </a:r>
          </a:p>
          <a:p>
            <a:r>
              <a:rPr sz="1200">
                <a:latin typeface="Calibri"/>
              </a:rPr>
              <a:t>Step 4 is the moment: one press, hundreds of reported changes.</a:t>
            </a:r>
          </a:p>
          <a:p>
            <a:r>
              <a:rPr sz="1200">
                <a:latin typeface="Calibri"/>
              </a:rPr>
              <a:t>The broken version sometimes appears to work because an odd number of flips lands on the answer you wanted. Pure luck.</a:t>
            </a:r>
          </a:p>
          <a:p>
            <a:r>
              <a:rPr sz="1200">
                <a:latin typeface="Calibri"/>
              </a:rPr>
              <a:t>The &amp; in bool &amp;wasDown is a reference, so the function can update the caller's variable. Worth two minutes - it is their first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State is the word for it. A variable that survives from one pass to the next is what makes a program feel like it has a mind.</a:t>
            </a:r>
          </a:p>
          <a:p>
            <a:r>
              <a:rPr sz="1200">
                <a:latin typeface="Calibri"/>
              </a:rPr>
              <a:t>Read the six down. Ask which ones a driver can change and which the program works out for itself.</a:t>
            </a:r>
          </a:p>
          <a:p>
            <a:r>
              <a:rPr sz="1200">
                <a:latin typeface="Calibri"/>
              </a:rPr>
              <a:t>lightsChanged is the odd one out and gets its own slide next. Flag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about a millisecond to push 32 LEDs out, tens of thousands of loops a second. Redrawing every pass wastes almost everything.</a:t>
            </a:r>
          </a:p>
          <a:p>
            <a:r>
              <a:rPr sz="1200">
                <a:latin typeface="Calibri"/>
              </a:rPr>
              <a:t>The dirty flag idea is worth naming properly, because it turns up in graphics engines, spreadsheets and web browsers.</a:t>
            </a:r>
          </a:p>
          <a:p>
            <a:r>
              <a:rPr sz="1200">
                <a:latin typeface="Calibri"/>
              </a:rPr>
              <a:t>Anywhere redrawing is expensive, something is keeping track of what actually changed. That is a genuinely transferable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lights are not on a button. They follow what the vehicle is already doing, which is how a real car works.</a:t>
            </a:r>
          </a:p>
          <a:p>
            <a:r>
              <a:rPr sz="1200">
                <a:latin typeface="Calibri"/>
              </a:rPr>
              <a:t>Introduce enum properly. A named list of the states something can be in, which the compiler can check and a human can read.</a:t>
            </a:r>
          </a:p>
          <a:p>
            <a:r>
              <a:rPr sz="1200">
                <a:latin typeface="Calibri"/>
              </a:rPr>
              <a:t>The else-if chain means exactly one pattern wins, and driving forward beats turning. Ask whether they agree with that priority.</a:t>
            </a:r>
          </a:p>
          <a:p>
            <a:r>
              <a:rPr sz="1200">
                <a:latin typeface="Calibri"/>
              </a:rPr>
              <a:t>The last two lines are the dirty flag again - only set it if something actually changed.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Three of four.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Blocks first, every time. Then the floor.</a:t>
            </a:r>
          </a:p>
          <a:p>
            <a:r>
              <a:rPr sz="1200">
                <a:latin typeface="Calibri"/>
              </a:rPr>
              <a:t>Step 2 is the payoff for the whole term. Let them drive for a few minutes before you push them on to step 5.</a:t>
            </a:r>
          </a:p>
          <a:p>
            <a:r>
              <a:rPr sz="1200">
                <a:latin typeface="Calibri"/>
              </a:rPr>
              <a:t>Step 5 - blinking turn signals - is the exercise that proves they can use millis(). Anybody who reaches for delay() will feel the vehicle stutter immediately, which is the best possible feedback.</a:t>
            </a:r>
          </a:p>
          <a:p>
            <a:r>
              <a:rPr sz="1200">
                <a:latin typeface="Calibri"/>
              </a:rPr>
              <a:t>The amber only appears on one side because the pattern picks a side from the sign of the turn value.</a:t>
            </a:r>
          </a:p>
          <a:p>
            <a:r>
              <a:rPr sz="1200">
                <a:latin typeface="Calibri"/>
              </a:rPr>
              <a:t>ANSWER, brake lights: line 288 starts every pass assuming LIGHTS_STOPPED, and only driving or turning changes it. Then line 179, in showDrivingLights(), turns the rear bar brake red whenever the pattern is LIGHTS_STOPPED. So letting go of the stick IS what puts the brake lights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55 minutes on the real program, the race included. Have it open on the projector.</a:t>
            </a:r>
          </a:p>
          <a:p>
            <a:r>
              <a:rPr sz="1200">
                <a:latin typeface="Calibri"/>
              </a:rPr>
              <a:t>Frame it honestly: they already wrote most of this. Today is about the last few pieces and about reading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Go down the right-hand column and let them realize how much of it they recognize. That is the point of the table.</a:t>
            </a:r>
          </a:p>
          <a:p>
            <a:r>
              <a:rPr sz="1200">
                <a:latin typeface="Calibri"/>
              </a:rPr>
              <a:t>Only four rows say New today. Everything else is theirs already.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servo does not listen to voltage, or to duty in the way a motor does. It listens to how LONG the pulse is, and it wants one every 20 ms.</a:t>
            </a:r>
          </a:p>
          <a:p>
            <a:r>
              <a:rPr sz="1200">
                <a:latin typeface="Calibri"/>
              </a:rPr>
              <a:t>1.0 ms is one end, 1.5 ms is center, 2.0 ms is the other end. Those three numbers are the whole protocol.</a:t>
            </a:r>
          </a:p>
          <a:p>
            <a:r>
              <a:rPr sz="1200">
                <a:latin typeface="Calibri"/>
              </a:rPr>
              <a:t>The ESP32 counts duty, not microseconds, so the program has to convert. Walk the arithmetic once, slowly.</a:t>
            </a:r>
          </a:p>
          <a:p>
            <a:r>
              <a:rPr sz="1200">
                <a:latin typeface="Calibri"/>
              </a:rPr>
              <a:t>Continuous-rotation servos read the same pulse as a SPEED rather than a position. Worth flagging before somebody buys the wrong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Have the pan and tilt unit on the desk if you have one. It is much more convincing in the hand.</a:t>
            </a:r>
          </a:p>
          <a:p>
            <a:r>
              <a:rPr sz="1200">
                <a:latin typeface="Calibri"/>
              </a:rPr>
              <a:t>Point at the headers on a real board before you say anything else. Kevin caught this in the 2026-09-08 review: the slide used to put them on the top plate, and a student hunting for them up there will not find them.</a:t>
            </a:r>
          </a:p>
          <a:p>
            <a:r>
              <a:rPr sz="1200">
                <a:latin typeface="Calibri"/>
              </a:rPr>
              <a:t>The one-direction-per-servo scheme surprises people. Draw the stick on the board and mark which servo owns which push.</a:t>
            </a:r>
          </a:p>
          <a:p>
            <a:r>
              <a:rPr sz="1200">
                <a:latin typeface="Calibri"/>
              </a:rPr>
              <a:t>The continuous-rotation warning is the practical one. Somebody will buy the wrong kind and wonder why it never stops.</a:t>
            </a:r>
          </a:p>
          <a:p>
            <a:r>
              <a:rPr sz="1200">
                <a:latin typeface="Calibri"/>
              </a:rPr>
              <a:t>This is where the range finder goes in the projects list a few slides from now.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scanner is the same idea as Lesson 4 with delay() taken out. Ask them what had to change - the answer is a lastMove variable and a millis() test.</a:t>
            </a:r>
          </a:p>
          <a:p>
            <a:r>
              <a:rPr sz="1200">
                <a:latin typeface="Calibri"/>
              </a:rPr>
              <a:t>Sharp steering is a design choice they can now evaluate rather than just accept. Ask which mode they would want by default.</a:t>
            </a:r>
          </a:p>
          <a:p>
            <a:r>
              <a:rPr sz="1200">
                <a:latin typeface="Calibri"/>
              </a:rPr>
              <a:t>The startup light show is the one place delay() is still fine, because nothing else needs to happen yet. Say why explicitly, or it looks like an inconsistency.</a:t>
            </a:r>
          </a:p>
          <a:p>
            <a:r>
              <a:rPr sz="1200">
                <a:latin typeface="Calibri"/>
              </a:rPr>
              <a:t>The SETTINGS block at the top of the file is where everything tunable lives. Show it on the projector.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the full ten minutes and stay quiet for most of it.</a:t>
            </a:r>
          </a:p>
          <a:p>
            <a:r>
              <a:rPr sz="1200">
                <a:latin typeface="Calibri"/>
              </a:rPr>
              <a:t>The order matters. Vocabulary first, then the skeleton, then the detail - the same habit the advanced course opens with.</a:t>
            </a:r>
          </a:p>
          <a:p>
            <a:r>
              <a:rPr sz="1200">
                <a:latin typeface="Calibri"/>
              </a:rPr>
              <a:t>Section 2 is the confidence builder. They will recognize STICK_DEADZONE, MOTOR_MAX and the LED count as numbers they have already changed with their own hands.</a:t>
            </a:r>
          </a:p>
          <a:p>
            <a:r>
              <a:rPr sz="1200">
                <a:latin typeface="Calibri"/>
              </a:rPr>
              <a:t>Section 6 is the assessment. Walk round and ask groups to point at the failsafe. Anybody who can find it has understood Lesson 3.</a:t>
            </a:r>
          </a:p>
          <a:p>
            <a:r>
              <a:rPr sz="1200">
                <a:latin typeface="Calibri"/>
              </a:rPr>
              <a:t>Collect answers out loud before moving on, one section per group.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 this straight after the six sections, as a conversation.</a:t>
            </a:r>
          </a:p>
          <a:p>
            <a:r>
              <a:rPr sz="1200">
                <a:latin typeface="Calibri"/>
              </a:rPr>
              <a:t>Answers: the NeoPixel protocol is fussy enough to be worth a library, whereas a motor is two pins and a duty value - ledcWrite is already in the core.</a:t>
            </a:r>
          </a:p>
          <a:p>
            <a:r>
              <a:rPr sz="1200">
                <a:latin typeface="Calibri"/>
              </a:rPr>
              <a:t>The four arguments are how many pixels, which pin, the color order these parts want, and the speed they are clocked at.</a:t>
            </a:r>
          </a:p>
          <a:p>
            <a:r>
              <a:rPr sz="1200">
                <a:latin typeface="Calibri"/>
              </a:rPr>
              <a:t>The deadzone stops a stick that never quite centers from driving the vehicle. At 0 it creeps across the room on its own.</a:t>
            </a:r>
          </a:p>
          <a:p>
            <a:r>
              <a:rPr sz="1200">
                <a:latin typeface="Calibri"/>
              </a:rPr>
              <a:t>An enum because the compiler can check it and a person can read it. LIGHTS_REVERSE says what it means; 3 does not.</a:t>
            </a:r>
          </a:p>
          <a:p>
            <a:r>
              <a:rPr sz="1200">
                <a:latin typeface="Calibri"/>
              </a:rPr>
              <a:t>Four motors, and the two on a side always get the same number - that IS tank steering.</a:t>
            </a:r>
          </a:p>
          <a:p>
            <a:r>
              <a:rPr sz="1200">
                <a:latin typeface="Calibri"/>
              </a:rPr>
              <a:t>The failsafe calls drive(0, 0) and then return, which skips the whole of the rest of loop() and starts it again.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2 is not optional. Read it before uploading it - that is the habit the whole course has been building.</a:t>
            </a:r>
          </a:p>
          <a:p>
            <a:r>
              <a:rPr sz="1200">
                <a:latin typeface="Calibri"/>
              </a:rPr>
              <a:t>Step 6 is the assessment: three things they have not seen, and what they do. Collect the answers, they are a good measure of the term.</a:t>
            </a:r>
          </a:p>
          <a:p>
            <a:r>
              <a:rPr sz="1200">
                <a:latin typeface="Calibri"/>
              </a:rPr>
              <a:t>The green blink means it is waiting for a controller. They saw showWaitingLights() in the code. A green blink that never stops usually means step 3 was skipped - the Serial Monitor says which address it is listening as.</a:t>
            </a:r>
          </a:p>
          <a:p>
            <a:r>
              <a:rPr sz="1200">
                <a:latin typeface="Calibri"/>
              </a:rPr>
              <a:t>Give this the full thirty minutes and circulate. This is the last time they get help before the race.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Calibrate before racing. If you let them race first you will never get them back to the measurement.</a:t>
            </a:r>
          </a:p>
          <a:p>
            <a:r>
              <a:rPr sz="1200">
                <a:latin typeface="Calibri"/>
              </a:rPr>
              <a:t>The comparison with their Lesson 2 calculation is the whole point. Ask each group how close they were before you start the racing.</a:t>
            </a:r>
          </a:p>
          <a:p>
            <a:r>
              <a:rPr sz="1200">
                <a:latin typeface="Calibri"/>
              </a:rPr>
              <a:t>Braking by reversing is the detail that decides the drag race. Half power for a short time is usually right.</a:t>
            </a:r>
          </a:p>
          <a:p>
            <a:r>
              <a:rPr sz="1200">
                <a:latin typeface="Calibri"/>
              </a:rPr>
              <a:t>Keeping it straight is harder than going fast, because only one command runs at a time. Let them discover that.</a:t>
            </a:r>
          </a:p>
          <a:p>
            <a:r>
              <a:rPr sz="1200">
                <a:latin typeface="Calibri"/>
              </a:rPr>
              <a:t>For the course race, two seconds per cone touched keeps it honest.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real projects, not filler. Each one is a genuine addition to the program they now understand.</a:t>
            </a:r>
          </a:p>
          <a:p>
            <a:r>
              <a:rPr sz="1200">
                <a:latin typeface="Calibri"/>
              </a:rPr>
              <a:t>The waypoint list and the servos are the two that need nothing bought. Point that out - it is the difference between an idea and a plan.</a:t>
            </a:r>
          </a:p>
          <a:p>
            <a:r>
              <a:rPr sz="1200">
                <a:latin typeface="Calibri"/>
              </a:rPr>
              <a:t>FOR YOU, NOT FOR THEM: all five of these are written out in full in src/projects/, one folder each, for both tracks. Each one is l5c_drive_with_lights plus the one thing, so you can put the two files side by side and the difference IS the project. Kevin asked for these in the 2026-09-08 review, and the reason was blunt: an instructor who cannot help a stuck student is not acceptable.</a:t>
            </a:r>
          </a:p>
          <a:p>
            <a:r>
              <a:rPr sz="1200">
                <a:latin typeface="Calibri"/>
              </a:rPr>
              <a:t>Do not hand them out. Read the one a student has picked before the session they start it in, and the questions they get stuck on will be the ones you have already met. The header of each file has a section called THE IDEA, which is the part worth understanding rather than the feature.</a:t>
            </a:r>
          </a:p>
          <a:p>
            <a:r>
              <a:rPr sz="1200">
                <a:latin typeface="Calibri"/>
              </a:rPr>
              <a:t>If anybody is staying on after the course, get them to pick one today while the enthusiasm is high. The cheat sheet from Lesson 1 covers all the C++ these projects need.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these AFTER the projects list, not before. The point is that the list is not hypothetical.</a:t>
            </a:r>
          </a:p>
          <a:p>
            <a:r>
              <a:rPr sz="1200">
                <a:latin typeface="Calibri"/>
              </a:rPr>
              <a:t>The arm is servo outputs, which they met earlier today. The range finder is one new sensor and a threshold.</a:t>
            </a:r>
          </a:p>
          <a:p>
            <a:r>
              <a:rPr sz="1200">
                <a:latin typeface="Calibri"/>
              </a:rPr>
              <a:t>Neither needed a different vehicle. That is the message.</a:t>
            </a:r>
          </a:p>
          <a:p>
            <a:r>
              <a:rPr sz="1200">
                <a:latin typeface="Calibri"/>
              </a:rPr>
              <a:t>If either is in the room, get it out and let people handle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Left column is where robotics goes. Right column is the advanced course, which is the same vehicle taken apart properly.</a:t>
            </a:r>
          </a:p>
          <a:p>
            <a:r>
              <a:rPr sz="1200">
                <a:latin typeface="Calibri"/>
              </a:rPr>
              <a:t>Everything they learned this term transfers directly. Say so - the advanced course opens by dismantling this program.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real quotes from a real panel. Say who the people are, briefly, so the names mean something.</a:t>
            </a:r>
          </a:p>
          <a:p>
            <a:r>
              <a:rPr sz="1200">
                <a:latin typeface="Calibri"/>
              </a:rPr>
              <a:t>The paragraph that matters is the last one: reading someone else's code, changing one thing at a time, measuring instead of guessing, and locating a fault. Those four habits are the job.</a:t>
            </a:r>
          </a:p>
          <a:p>
            <a:r>
              <a:rPr sz="1200">
                <a:latin typeface="Calibri"/>
              </a:rPr>
              <a:t>Finish on the line about the vehicle being the excuse. It is true, and it is the right note to end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 it as a conversation, and take your time - this is the last thing they do.</a:t>
            </a:r>
          </a:p>
          <a:p>
            <a:r>
              <a:rPr sz="1200">
                <a:latin typeface="Calibri"/>
              </a:rPr>
              <a:t>Answers, in order: delay stops everything, so two different rates cannot both be served; the four-line pattern, written out:  unsigned long last = 0;  then in loop()  if (millis() - last &gt;= INTERVAL) { last = millis(); ...do the thing... }; unsigned long because it is what millis() returns and it never goes negative - an int would after about 25 days.</a:t>
            </a:r>
          </a:p>
          <a:p>
            <a:r>
              <a:rPr sz="1200">
                <a:latin typeface="Calibri"/>
              </a:rPr>
              <a:t>Edge detection catches the moment a button goes down; without it one press registers thousands of times. A dirty flag saves redrawing the strip when nothing changed.</a:t>
            </a:r>
          </a:p>
          <a:p>
            <a:r>
              <a:rPr sz="1200">
                <a:latin typeface="Calibri"/>
              </a:rPr>
              <a:t>A servo centers on a 1.5 ms pulse, sent every 20 ms.</a:t>
            </a:r>
          </a:p>
          <a:p>
            <a:r>
              <a:rPr sz="1200">
                <a:latin typeface="Calibri"/>
              </a:rPr>
              <a:t>For question 7, any three of: two servos aimed with the right stick, the KITT scanner without delay(), the sharp-steering toggle on the stick click, and the startup light show.</a:t>
            </a:r>
          </a:p>
          <a:p>
            <a:r>
              <a:rPr sz="1200">
                <a:latin typeface="Calibri"/>
              </a:rPr>
              <a:t>For question 8: mechanically, one motor weaker or a wheel dragging; in software, a small turn correction added to the straight-line command.</a:t>
            </a:r>
          </a:p>
          <a:p>
            <a:r>
              <a:rPr sz="1200">
                <a:latin typeface="Calibri"/>
              </a:rPr>
              <a:t>Thank them properly, and mean the last 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5</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Maneuvers with Lights</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Non-blocking timing, edge detection, and the full pathfinder_ps3 program.</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Bring a charged battery.</a:t>
            </a:r>
          </a:p>
        </p:txBody>
      </p:sp>
      <p:pic>
        <p:nvPicPr>
          <p:cNvPr id="8" name="Picture 7" descr="vehicle-turn-signal-right.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why delay() breaks a program that has to do two things at once</a:t>
            </a:r>
          </a:p>
          <a:p>
            <a:pPr algn="l">
              <a:lnSpc>
                <a:spcPct val="100000"/>
              </a:lnSpc>
              <a:spcAft>
                <a:spcPts val="1300"/>
              </a:spcAft>
              <a:defRPr sz="1900" b="0">
                <a:solidFill>
                  <a:srgbClr val="222222"/>
                </a:solidFill>
                <a:latin typeface="Calibri"/>
              </a:defRPr>
            </a:pPr>
            <a:r>
              <a:rPr sz="1900" b="0">
                <a:solidFill>
                  <a:srgbClr val="222222"/>
                </a:solidFill>
                <a:latin typeface="Calibri"/>
              </a:rPr>
              <a:t>2.   Write the millis() pattern from memory</a:t>
            </a:r>
          </a:p>
          <a:p>
            <a:pPr algn="l">
              <a:lnSpc>
                <a:spcPct val="100000"/>
              </a:lnSpc>
              <a:spcAft>
                <a:spcPts val="1300"/>
              </a:spcAft>
              <a:defRPr sz="1900" b="0">
                <a:solidFill>
                  <a:srgbClr val="222222"/>
                </a:solidFill>
                <a:latin typeface="Calibri"/>
              </a:defRPr>
            </a:pPr>
            <a:r>
              <a:rPr sz="1900" b="0">
                <a:solidFill>
                  <a:srgbClr val="222222"/>
                </a:solidFill>
                <a:latin typeface="Calibri"/>
              </a:rPr>
              <a:t>3.   Detect the edge of a button press, and say what happens without it</a:t>
            </a:r>
          </a:p>
          <a:p>
            <a:pPr algn="l">
              <a:lnSpc>
                <a:spcPct val="100000"/>
              </a:lnSpc>
              <a:spcAft>
                <a:spcPts val="1300"/>
              </a:spcAft>
              <a:defRPr sz="1900" b="0">
                <a:solidFill>
                  <a:srgbClr val="222222"/>
                </a:solidFill>
                <a:latin typeface="Calibri"/>
              </a:defRPr>
            </a:pPr>
            <a:r>
              <a:rPr sz="1900" b="0">
                <a:solidFill>
                  <a:srgbClr val="222222"/>
                </a:solidFill>
                <a:latin typeface="Calibri"/>
              </a:rPr>
              <a:t>4.   Explain what a dirty flag saves</a:t>
            </a:r>
          </a:p>
          <a:p>
            <a:pPr algn="l">
              <a:lnSpc>
                <a:spcPct val="100000"/>
              </a:lnSpc>
              <a:spcAft>
                <a:spcPts val="1300"/>
              </a:spcAft>
              <a:defRPr sz="1900" b="0">
                <a:solidFill>
                  <a:srgbClr val="222222"/>
                </a:solidFill>
                <a:latin typeface="Calibri"/>
              </a:defRPr>
            </a:pPr>
            <a:r>
              <a:rPr sz="1900" b="0">
                <a:solidFill>
                  <a:srgbClr val="222222"/>
                </a:solidFill>
                <a:latin typeface="Calibri"/>
              </a:rPr>
              <a:t>5.   Drive the vehicle with its full lighting behavior running</a:t>
            </a:r>
          </a:p>
          <a:p>
            <a:pPr algn="l">
              <a:lnSpc>
                <a:spcPct val="100000"/>
              </a:lnSpc>
              <a:spcAft>
                <a:spcPts val="1300"/>
              </a:spcAft>
              <a:defRPr sz="1900" b="0">
                <a:solidFill>
                  <a:srgbClr val="222222"/>
                </a:solidFill>
                <a:latin typeface="Calibri"/>
              </a:defRPr>
            </a:pPr>
            <a:r>
              <a:rPr sz="1900" b="0">
                <a:solidFill>
                  <a:srgbClr val="222222"/>
                </a:solidFill>
                <a:latin typeface="Calibri"/>
              </a:rPr>
              <a:t>6.   Calibrate your vehicle's speed and race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Everything so far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300" b="0">
                <a:solidFill>
                  <a:srgbClr val="222222"/>
                </a:solidFill>
                <a:latin typeface="Calibri"/>
              </a:defRPr>
            </a:pPr>
            <a:r>
              <a:rPr sz="2300" b="0">
                <a:solidFill>
                  <a:srgbClr val="222222"/>
                </a:solidFill>
                <a:latin typeface="Calibri"/>
              </a:rPr>
              <a:t>Lesson 1  -  the toolchain, the three parts of a program, digital output, the Serial Monitor.</a:t>
            </a:r>
          </a:p>
          <a:p>
            <a:pPr algn="l">
              <a:lnSpc>
                <a:spcPct val="100000"/>
              </a:lnSpc>
              <a:spcAft>
                <a:spcPts val="600"/>
              </a:spcAft>
              <a:defRPr sz="2300" b="0">
                <a:solidFill>
                  <a:srgbClr val="222222"/>
                </a:solidFill>
                <a:latin typeface="Calibri"/>
              </a:defRPr>
            </a:pPr>
            <a:r>
              <a:rPr sz="2300" b="0">
                <a:solidFill>
                  <a:srgbClr val="222222"/>
                </a:solidFill>
                <a:latin typeface="Calibri"/>
              </a:rPr>
              <a:t>Lesson 2  -  H-bridges, PWM and duty cycle, tank drive, dead reckoning, and the math that predicts where the vehicle ends up.</a:t>
            </a:r>
          </a:p>
          <a:p>
            <a:pPr algn="l">
              <a:lnSpc>
                <a:spcPct val="100000"/>
              </a:lnSpc>
              <a:spcAft>
                <a:spcPts val="600"/>
              </a:spcAft>
              <a:defRPr sz="2300" b="0">
                <a:solidFill>
                  <a:srgbClr val="222222"/>
                </a:solidFill>
                <a:latin typeface="Calibri"/>
              </a:defRPr>
            </a:pPr>
            <a:r>
              <a:rPr sz="2300" b="0">
                <a:solidFill>
                  <a:srgbClr val="222222"/>
                </a:solidFill>
                <a:latin typeface="Calibri"/>
              </a:rPr>
              <a:t>Lesson 3  -  Bluetooth, one vehicle per controller, deadzones, map(), mixing, and the failsafe.</a:t>
            </a:r>
          </a:p>
          <a:p>
            <a:pPr algn="l">
              <a:lnSpc>
                <a:spcPct val="100000"/>
              </a:lnSpc>
              <a:spcAft>
                <a:spcPts val="600"/>
              </a:spcAft>
              <a:defRPr sz="2300" b="0">
                <a:solidFill>
                  <a:srgbClr val="222222"/>
                </a:solidFill>
                <a:latin typeface="Calibri"/>
              </a:defRPr>
            </a:pPr>
            <a:r>
              <a:rPr sz="2300" b="0">
                <a:solidFill>
                  <a:srgbClr val="222222"/>
                </a:solidFill>
                <a:latin typeface="Calibri"/>
              </a:rPr>
              <a:t>Lesson 4  -  addressable LEDs, color and perception, the power budget, the LED map, and four patterns.</a:t>
            </a:r>
          </a:p>
          <a:p>
            <a:pPr algn="l">
              <a:lnSpc>
                <a:spcPct val="100000"/>
              </a:lnSpc>
              <a:spcAft>
                <a:spcPts val="600"/>
              </a:spcAft>
              <a:defRPr sz="1150" b="0">
                <a:solidFill>
                  <a:srgbClr val="222222"/>
                </a:solidFill>
                <a:latin typeface="Calibri"/>
              </a:defRPr>
            </a:pPr>
          </a:p>
          <a:p>
            <a:pPr algn="l">
              <a:lnSpc>
                <a:spcPct val="100000"/>
              </a:lnSpc>
              <a:spcAft>
                <a:spcPts val="600"/>
              </a:spcAft>
              <a:defRPr sz="2300" b="0">
                <a:solidFill>
                  <a:srgbClr val="222222"/>
                </a:solidFill>
                <a:latin typeface="Calibri"/>
              </a:defRPr>
            </a:pPr>
            <a:r>
              <a:rPr sz="2300" b="0">
                <a:solidFill>
                  <a:srgbClr val="222222"/>
                </a:solidFill>
                <a:latin typeface="Calibri"/>
              </a:rPr>
              <a:t>Today: two more ideas, and then all of it at once.</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By the end of today you will be driving the same program that leaves the factory on a finished vehicle.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29200"/>
        </p:xfrm>
        <a:graphic>
          <a:graphicData uri="http://schemas.openxmlformats.org/drawingml/2006/table">
            <a:tbl>
              <a:tblPr firstRow="1" bandRow="1">
                <a:tableStyleId>{5C22544A-7EE6-4342-B048-85BDC9FD1C3A}</a:tableStyleId>
              </a:tblPr>
              <a:tblGrid>
                <a:gridCol w="1118585"/>
                <a:gridCol w="10067269"/>
              </a:tblGrid>
              <a:tr h="457200">
                <a:tc>
                  <a:txBody>
                    <a:bodyPr/>
                    <a:lstStyle/>
                    <a:p>
                      <a:r>
                        <a:rPr sz="2400" b="1">
                          <a:solidFill>
                            <a:srgbClr val="FFFFFF"/>
                          </a:solidFill>
                          <a:latin typeface="Calibri"/>
                        </a:rPr>
                        <a:t>Time</a:t>
                      </a:r>
                    </a:p>
                  </a:txBody>
                  <a:tcPr marL="73152" marT="18288" marB="18288">
                    <a:solidFill>
                      <a:srgbClr val="1F3A5F"/>
                    </a:solidFill>
                  </a:tcPr>
                </a:tc>
                <a:tc>
                  <a:txBody>
                    <a:bodyPr/>
                    <a:lstStyle/>
                    <a:p>
                      <a:r>
                        <a:rPr sz="2400" b="1">
                          <a:solidFill>
                            <a:srgbClr val="FFFFFF"/>
                          </a:solidFill>
                          <a:latin typeface="Calibri"/>
                        </a:rPr>
                        <a:t>What we do</a:t>
                      </a:r>
                    </a:p>
                  </a:txBody>
                  <a:tcPr marL="73152" marT="18288" marB="18288">
                    <a:solidFill>
                      <a:srgbClr val="1F3A5F"/>
                    </a:solidFill>
                  </a:tcPr>
                </a:tc>
              </a:tr>
              <a:tr h="457200">
                <a:tc>
                  <a:txBody>
                    <a:bodyPr/>
                    <a:lstStyle/>
                    <a:p>
                      <a:r>
                        <a:rPr sz="2400">
                          <a:solidFill>
                            <a:srgbClr val="222222"/>
                          </a:solidFill>
                          <a:latin typeface="Calibri"/>
                        </a:rPr>
                        <a:t>0:00</a:t>
                      </a:r>
                    </a:p>
                  </a:txBody>
                  <a:tcPr marL="73152" marT="18288" marB="18288">
                    <a:solidFill>
                      <a:srgbClr val="FFFFFF"/>
                    </a:solidFill>
                  </a:tcPr>
                </a:tc>
                <a:tc>
                  <a:txBody>
                    <a:bodyPr/>
                    <a:lstStyle/>
                    <a:p>
                      <a:r>
                        <a:rPr sz="2400">
                          <a:solidFill>
                            <a:srgbClr val="222222"/>
                          </a:solidFill>
                          <a:latin typeface="Calibri"/>
                        </a:rPr>
                        <a:t>Recap. Why delay() has to go</a:t>
                      </a:r>
                    </a:p>
                  </a:txBody>
                  <a:tcPr marL="73152" marT="18288" marB="18288">
                    <a:solidFill>
                      <a:srgbClr val="FFFFFF"/>
                    </a:solidFill>
                  </a:tcPr>
                </a:tc>
              </a:tr>
              <a:tr h="457200">
                <a:tc>
                  <a:txBody>
                    <a:bodyPr/>
                    <a:lstStyle/>
                    <a:p>
                      <a:r>
                        <a:rPr sz="2400">
                          <a:solidFill>
                            <a:srgbClr val="222222"/>
                          </a:solidFill>
                          <a:latin typeface="Calibri"/>
                        </a:rPr>
                        <a:t>0:25</a:t>
                      </a:r>
                    </a:p>
                  </a:txBody>
                  <a:tcPr marL="73152" marT="18288" marB="18288">
                    <a:solidFill>
                      <a:srgbClr val="EEF3F8"/>
                    </a:solidFill>
                  </a:tcPr>
                </a:tc>
                <a:tc>
                  <a:txBody>
                    <a:bodyPr/>
                    <a:lstStyle/>
                    <a:p>
                      <a:r>
                        <a:rPr sz="2400">
                          <a:solidFill>
                            <a:srgbClr val="222222"/>
                          </a:solidFill>
                          <a:latin typeface="Calibri"/>
                        </a:rPr>
                        <a:t>Upload l5a_millis_not_delay</a:t>
                      </a:r>
                    </a:p>
                  </a:txBody>
                  <a:tcPr marL="73152" marT="18288" marB="18288">
                    <a:solidFill>
                      <a:srgbClr val="EEF3F8"/>
                    </a:solidFill>
                  </a:tcPr>
                </a:tc>
              </a:tr>
              <a:tr h="457200">
                <a:tc>
                  <a:txBody>
                    <a:bodyPr/>
                    <a:lstStyle/>
                    <a:p>
                      <a:r>
                        <a:rPr sz="2400">
                          <a:solidFill>
                            <a:srgbClr val="222222"/>
                          </a:solidFill>
                          <a:latin typeface="Calibri"/>
                        </a:rPr>
                        <a:t>0:45</a:t>
                      </a:r>
                    </a:p>
                  </a:txBody>
                  <a:tcPr marL="73152" marT="18288" marB="18288">
                    <a:solidFill>
                      <a:srgbClr val="FFFFFF"/>
                    </a:solidFill>
                  </a:tcPr>
                </a:tc>
                <a:tc>
                  <a:txBody>
                    <a:bodyPr/>
                    <a:lstStyle/>
                    <a:p>
                      <a:r>
                        <a:rPr sz="2400">
                          <a:solidFill>
                            <a:srgbClr val="222222"/>
                          </a:solidFill>
                          <a:latin typeface="Calibri"/>
                        </a:rPr>
                        <a:t>Edge detection. Upload l5b_button_toggle</a:t>
                      </a:r>
                    </a:p>
                  </a:txBody>
                  <a:tcPr marL="73152" marT="18288" marB="18288">
                    <a:solidFill>
                      <a:srgbClr val="FFFFFF"/>
                    </a:solidFill>
                  </a:tcPr>
                </a:tc>
              </a:tr>
              <a:tr h="457200">
                <a:tc>
                  <a:txBody>
                    <a:bodyPr/>
                    <a:lstStyle/>
                    <a:p>
                      <a:r>
                        <a:rPr sz="2400">
                          <a:solidFill>
                            <a:srgbClr val="222222"/>
                          </a:solidFill>
                          <a:latin typeface="Calibri"/>
                        </a:rPr>
                        <a:t>1:10</a:t>
                      </a:r>
                    </a:p>
                  </a:txBody>
                  <a:tcPr marL="73152" marT="18288" marB="18288">
                    <a:solidFill>
                      <a:srgbClr val="EEF3F8"/>
                    </a:solidFill>
                  </a:tcPr>
                </a:tc>
                <a:tc>
                  <a:txBody>
                    <a:bodyPr/>
                    <a:lstStyle/>
                    <a:p>
                      <a:r>
                        <a:rPr sz="2400">
                          <a:solidFill>
                            <a:srgbClr val="222222"/>
                          </a:solidFill>
                          <a:latin typeface="Calibri"/>
                        </a:rPr>
                        <a:t>BREAK  (10 minutes)</a:t>
                      </a:r>
                    </a:p>
                  </a:txBody>
                  <a:tcPr marL="73152" marT="18288" marB="18288">
                    <a:solidFill>
                      <a:srgbClr val="EEF3F8"/>
                    </a:solidFill>
                  </a:tcPr>
                </a:tc>
              </a:tr>
              <a:tr h="457200">
                <a:tc>
                  <a:txBody>
                    <a:bodyPr/>
                    <a:lstStyle/>
                    <a:p>
                      <a:r>
                        <a:rPr sz="2400">
                          <a:solidFill>
                            <a:srgbClr val="222222"/>
                          </a:solidFill>
                          <a:latin typeface="Calibri"/>
                        </a:rPr>
                        <a:t>1:20</a:t>
                      </a:r>
                    </a:p>
                  </a:txBody>
                  <a:tcPr marL="73152" marT="18288" marB="18288">
                    <a:solidFill>
                      <a:srgbClr val="FFFFFF"/>
                    </a:solidFill>
                  </a:tcPr>
                </a:tc>
                <a:tc>
                  <a:txBody>
                    <a:bodyPr/>
                    <a:lstStyle/>
                    <a:p>
                      <a:r>
                        <a:rPr sz="2400">
                          <a:solidFill>
                            <a:srgbClr val="222222"/>
                          </a:solidFill>
                          <a:latin typeface="Calibri"/>
                        </a:rPr>
                        <a:t>Driving lights from driving state. Upload l5c_drive_with_lights</a:t>
                      </a:r>
                    </a:p>
                  </a:txBody>
                  <a:tcPr marL="73152" marT="18288" marB="18288">
                    <a:solidFill>
                      <a:srgbClr val="FFFFFF"/>
                    </a:solidFill>
                  </a:tcPr>
                </a:tc>
              </a:tr>
              <a:tr h="457200">
                <a:tc>
                  <a:txBody>
                    <a:bodyPr/>
                    <a:lstStyle/>
                    <a:p>
                      <a:r>
                        <a:rPr sz="2400">
                          <a:solidFill>
                            <a:srgbClr val="222222"/>
                          </a:solidFill>
                          <a:latin typeface="Calibri"/>
                        </a:rPr>
                        <a:t>1:50</a:t>
                      </a:r>
                    </a:p>
                  </a:txBody>
                  <a:tcPr marL="73152" marT="18288" marB="18288">
                    <a:solidFill>
                      <a:srgbClr val="EEF3F8"/>
                    </a:solidFill>
                  </a:tcPr>
                </a:tc>
                <a:tc>
                  <a:txBody>
                    <a:bodyPr/>
                    <a:lstStyle/>
                    <a:p>
                      <a:r>
                        <a:rPr sz="2400">
                          <a:solidFill>
                            <a:srgbClr val="222222"/>
                          </a:solidFill>
                          <a:latin typeface="Calibri"/>
                        </a:rPr>
                        <a:t>A tour of the full program</a:t>
                      </a:r>
                    </a:p>
                  </a:txBody>
                  <a:tcPr marL="73152" marT="18288" marB="18288">
                    <a:solidFill>
                      <a:srgbClr val="EEF3F8"/>
                    </a:solidFill>
                  </a:tcPr>
                </a:tc>
              </a:tr>
              <a:tr h="457200">
                <a:tc>
                  <a:txBody>
                    <a:bodyPr/>
                    <a:lstStyle/>
                    <a:p>
                      <a:r>
                        <a:rPr sz="2400">
                          <a:solidFill>
                            <a:srgbClr val="222222"/>
                          </a:solidFill>
                          <a:latin typeface="Calibri"/>
                        </a:rPr>
                        <a:t>2:10</a:t>
                      </a:r>
                    </a:p>
                  </a:txBody>
                  <a:tcPr marL="73152" marT="18288" marB="18288">
                    <a:solidFill>
                      <a:srgbClr val="FFFFFF"/>
                    </a:solidFill>
                  </a:tcPr>
                </a:tc>
                <a:tc>
                  <a:txBody>
                    <a:bodyPr/>
                    <a:lstStyle/>
                    <a:p>
                      <a:r>
                        <a:rPr sz="2400">
                          <a:solidFill>
                            <a:srgbClr val="222222"/>
                          </a:solidFill>
                          <a:latin typeface="Calibri"/>
                        </a:rPr>
                        <a:t>BREAK  (10 minutes)</a:t>
                      </a:r>
                    </a:p>
                  </a:txBody>
                  <a:tcPr marL="73152" marT="18288" marB="18288">
                    <a:solidFill>
                      <a:srgbClr val="FFFFFF"/>
                    </a:solidFill>
                  </a:tcPr>
                </a:tc>
              </a:tr>
              <a:tr h="457200">
                <a:tc>
                  <a:txBody>
                    <a:bodyPr/>
                    <a:lstStyle/>
                    <a:p>
                      <a:r>
                        <a:rPr sz="2400">
                          <a:solidFill>
                            <a:srgbClr val="222222"/>
                          </a:solidFill>
                          <a:latin typeface="Calibri"/>
                        </a:rPr>
                        <a:t>2:20</a:t>
                      </a:r>
                    </a:p>
                  </a:txBody>
                  <a:tcPr marL="73152" marT="18288" marB="18288">
                    <a:solidFill>
                      <a:srgbClr val="EEF3F8"/>
                    </a:solidFill>
                  </a:tcPr>
                </a:tc>
                <a:tc>
                  <a:txBody>
                    <a:bodyPr/>
                    <a:lstStyle/>
                    <a:p>
                      <a:r>
                        <a:rPr sz="2400">
                          <a:solidFill>
                            <a:srgbClr val="222222"/>
                          </a:solidFill>
                          <a:latin typeface="Calibri"/>
                        </a:rPr>
                        <a:t>Servos, the scanner, and sharp steering</a:t>
                      </a:r>
                    </a:p>
                  </a:txBody>
                  <a:tcPr marL="73152" marT="18288" marB="18288">
                    <a:solidFill>
                      <a:srgbClr val="EEF3F8"/>
                    </a:solidFill>
                  </a:tcPr>
                </a:tc>
              </a:tr>
              <a:tr h="457200">
                <a:tc>
                  <a:txBody>
                    <a:bodyPr/>
                    <a:lstStyle/>
                    <a:p>
                      <a:r>
                        <a:rPr sz="2400">
                          <a:solidFill>
                            <a:srgbClr val="222222"/>
                          </a:solidFill>
                          <a:latin typeface="Calibri"/>
                        </a:rPr>
                        <a:t>2:35</a:t>
                      </a:r>
                    </a:p>
                  </a:txBody>
                  <a:tcPr marL="73152" marT="18288" marB="18288">
                    <a:solidFill>
                      <a:srgbClr val="FFFFFF"/>
                    </a:solidFill>
                  </a:tcPr>
                </a:tc>
                <a:tc>
                  <a:txBody>
                    <a:bodyPr/>
                    <a:lstStyle/>
                    <a:p>
                      <a:r>
                        <a:rPr sz="2400">
                          <a:solidFill>
                            <a:srgbClr val="222222"/>
                          </a:solidFill>
                          <a:latin typeface="Calibri"/>
                        </a:rPr>
                        <a:t>Calibrate, then race</a:t>
                      </a:r>
                    </a:p>
                  </a:txBody>
                  <a:tcPr marL="73152" marT="18288" marB="18288">
                    <a:solidFill>
                      <a:srgbClr val="FFFFFF"/>
                    </a:solidFill>
                  </a:tcPr>
                </a:tc>
              </a:tr>
              <a:tr h="457200">
                <a:tc>
                  <a:txBody>
                    <a:bodyPr/>
                    <a:lstStyle/>
                    <a:p>
                      <a:r>
                        <a:rPr sz="2400">
                          <a:solidFill>
                            <a:srgbClr val="222222"/>
                          </a:solidFill>
                          <a:latin typeface="Calibri"/>
                        </a:rPr>
                        <a:t>2:57</a:t>
                      </a:r>
                    </a:p>
                  </a:txBody>
                  <a:tcPr marL="73152" marT="18288" marB="18288">
                    <a:solidFill>
                      <a:srgbClr val="EEF3F8"/>
                    </a:solidFill>
                  </a:tcPr>
                </a:tc>
                <a:tc>
                  <a:txBody>
                    <a:bodyPr/>
                    <a:lstStyle/>
                    <a:p>
                      <a:r>
                        <a:rPr sz="2400">
                          <a:solidFill>
                            <a:srgbClr val="222222"/>
                          </a:solidFill>
                          <a:latin typeface="Calibri"/>
                        </a:rPr>
                        <a:t>Where this course goes next</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problem with delay()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It does not wait. It stops.</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delay(1000) does not mean "come back in a second". It means "stand here and do nothing for a second".</a:t>
            </a:r>
          </a:p>
          <a:p>
            <a:pPr algn="l">
              <a:lnSpc>
                <a:spcPct val="100000"/>
              </a:lnSpc>
              <a:spcAft>
                <a:spcPts val="600"/>
              </a:spcAft>
              <a:defRPr sz="2100" b="0">
                <a:solidFill>
                  <a:srgbClr val="222222"/>
                </a:solidFill>
                <a:latin typeface="Calibri"/>
              </a:defRPr>
            </a:pPr>
            <a:r>
              <a:rPr sz="2100" b="0">
                <a:solidFill>
                  <a:srgbClr val="222222"/>
                </a:solidFill>
                <a:latin typeface="Calibri"/>
              </a:rPr>
              <a:t>Inside a delay() the ESP32 is not reading the controller, not checking anything, not updating any other light.</a:t>
            </a:r>
          </a:p>
          <a:p>
            <a:pPr algn="l">
              <a:lnSpc>
                <a:spcPct val="100000"/>
              </a:lnSpc>
              <a:spcAft>
                <a:spcPts val="600"/>
              </a:spcAft>
              <a:defRPr sz="2100" b="0">
                <a:solidFill>
                  <a:srgbClr val="222222"/>
                </a:solidFill>
                <a:latin typeface="Calibri"/>
              </a:defRPr>
            </a:pPr>
            <a:r>
              <a:rPr sz="2100" b="0">
                <a:solidFill>
                  <a:srgbClr val="222222"/>
                </a:solidFill>
                <a:latin typeface="Calibri"/>
              </a:rPr>
              <a:t>In Lesson 2 that was fine. Now we need a turn signal every 300 ms, a scanner every 40 ms, and the motors as fast as possible - and those three cannot all be delays.</a:t>
            </a:r>
          </a:p>
          <a:p>
            <a:pPr algn="l">
              <a:lnSpc>
                <a:spcPct val="100000"/>
              </a:lnSpc>
              <a:spcAft>
                <a:spcPts val="600"/>
              </a:spcAft>
              <a:defRPr sz="2100" b="0">
                <a:solidFill>
                  <a:srgbClr val="222222"/>
                </a:solidFill>
                <a:latin typeface="Calibri"/>
              </a:defRPr>
            </a:pPr>
            <a:r>
              <a:rPr sz="2100" b="0">
                <a:solidFill>
                  <a:srgbClr val="222222"/>
                </a:solidFill>
                <a:latin typeface="Calibri"/>
              </a:rPr>
              <a:t>The old System Test program did exactly this: press a button and the vehicle froze for two seconds, still holding the last motor command. That is why it was replaced.</a:t>
            </a:r>
          </a:p>
        </p:txBody>
      </p:sp>
      <p:sp>
        <p:nvSpPr>
          <p:cNvPr id="8" name="Rounded Rectangle 7"/>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This is the single biggest difference between a program that works on the bench and one that works on a vehicle.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the vehicle programs never call delay()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61288"/>
            <a:ext cx="6400800" cy="367792"/>
          </a:xfrm>
          <a:prstGeom prst="rect">
            <a:avLst/>
          </a:prstGeom>
          <a:noFill/>
        </p:spPr>
        <p:txBody>
          <a:bodyPr wrap="square" lIns="0" tIns="0" rIns="0" bIns="0">
            <a:spAutoFit/>
          </a:bodyPr>
          <a:lstStyle/>
          <a:p>
            <a:pPr algn="l">
              <a:lnSpc>
                <a:spcPct val="100000"/>
              </a:lnSpc>
              <a:spcAft>
                <a:spcPts val="0"/>
              </a:spcAft>
              <a:defRPr sz="1800" b="1">
                <a:solidFill>
                  <a:srgbClr val="A32A2A"/>
                </a:solidFill>
                <a:latin typeface="Calibri"/>
              </a:defRPr>
            </a:pPr>
            <a:r>
              <a:rPr sz="1800" b="1">
                <a:solidFill>
                  <a:srgbClr val="A32A2A"/>
                </a:solidFill>
                <a:latin typeface="Calibri"/>
              </a:rPr>
              <a:t>with delay()  -  one job, and nothing else runs</a:t>
            </a:r>
          </a:p>
        </p:txBody>
      </p:sp>
      <p:sp>
        <p:nvSpPr>
          <p:cNvPr id="7" name="Rectangle 6"/>
          <p:cNvSpPr/>
          <p:nvPr/>
        </p:nvSpPr>
        <p:spPr>
          <a:xfrm>
            <a:off x="2240280" y="1600200"/>
            <a:ext cx="850392" cy="502920"/>
          </a:xfrm>
          <a:prstGeom prst="rect">
            <a:avLst/>
          </a:prstGeom>
          <a:solidFill>
            <a:srgbClr val="D6ECEE"/>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blink</a:t>
            </a:r>
          </a:p>
        </p:txBody>
      </p:sp>
      <p:sp>
        <p:nvSpPr>
          <p:cNvPr id="8" name="Rectangle 7"/>
          <p:cNvSpPr/>
          <p:nvPr/>
        </p:nvSpPr>
        <p:spPr>
          <a:xfrm>
            <a:off x="3090672" y="1600200"/>
            <a:ext cx="3401568" cy="502920"/>
          </a:xfrm>
          <a:prstGeom prst="rect">
            <a:avLst/>
          </a:prstGeom>
          <a:solidFill>
            <a:srgbClr val="F6D8D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frozen - delay(1000)</a:t>
            </a:r>
          </a:p>
        </p:txBody>
      </p:sp>
      <p:sp>
        <p:nvSpPr>
          <p:cNvPr id="9" name="Rectangle 8"/>
          <p:cNvSpPr/>
          <p:nvPr/>
        </p:nvSpPr>
        <p:spPr>
          <a:xfrm>
            <a:off x="6492240" y="1600200"/>
            <a:ext cx="850392" cy="502920"/>
          </a:xfrm>
          <a:prstGeom prst="rect">
            <a:avLst/>
          </a:prstGeom>
          <a:solidFill>
            <a:srgbClr val="D6ECEE"/>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blink</a:t>
            </a:r>
          </a:p>
        </p:txBody>
      </p:sp>
      <p:sp>
        <p:nvSpPr>
          <p:cNvPr id="10" name="Rectangle 9"/>
          <p:cNvSpPr/>
          <p:nvPr/>
        </p:nvSpPr>
        <p:spPr>
          <a:xfrm>
            <a:off x="7342632" y="1600200"/>
            <a:ext cx="3401568" cy="502920"/>
          </a:xfrm>
          <a:prstGeom prst="rect">
            <a:avLst/>
          </a:prstGeom>
          <a:solidFill>
            <a:srgbClr val="F6D8D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frozen - delay(1000)</a:t>
            </a:r>
          </a:p>
        </p:txBody>
      </p:sp>
      <p:sp>
        <p:nvSpPr>
          <p:cNvPr id="11" name="TextBox 10"/>
          <p:cNvSpPr txBox="1"/>
          <p:nvPr/>
        </p:nvSpPr>
        <p:spPr>
          <a:xfrm>
            <a:off x="2240280" y="2167128"/>
            <a:ext cx="8503920" cy="646684"/>
          </a:xfrm>
          <a:prstGeom prst="rect">
            <a:avLst/>
          </a:prstGeom>
          <a:noFill/>
        </p:spPr>
        <p:txBody>
          <a:bodyPr wrap="square" lIns="0" tIns="0" rIns="0" bIns="0">
            <a:spAutoFit/>
          </a:bodyPr>
          <a:lstStyle/>
          <a:p>
            <a:pPr algn="ctr">
              <a:lnSpc>
                <a:spcPct val="100000"/>
              </a:lnSpc>
              <a:spcAft>
                <a:spcPts val="0"/>
              </a:spcAft>
              <a:defRPr sz="1800" b="0">
                <a:solidFill>
                  <a:srgbClr val="A32A2A"/>
                </a:solidFill>
                <a:latin typeface="Calibri"/>
              </a:defRPr>
            </a:pPr>
            <a:r>
              <a:rPr sz="1800" b="0">
                <a:solidFill>
                  <a:srgbClr val="A32A2A"/>
                </a:solidFill>
                <a:latin typeface="Calibri"/>
              </a:rPr>
              <a:t>while it is frozen it is not reading the controller, not checking the battery, and not updating any other light</a:t>
            </a:r>
          </a:p>
        </p:txBody>
      </p:sp>
      <p:sp>
        <p:nvSpPr>
          <p:cNvPr id="12" name="TextBox 11"/>
          <p:cNvSpPr txBox="1"/>
          <p:nvPr/>
        </p:nvSpPr>
        <p:spPr>
          <a:xfrm>
            <a:off x="502920" y="3063239"/>
            <a:ext cx="640080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with millis()  -  many jobs, none of them waiting</a:t>
            </a:r>
          </a:p>
        </p:txBody>
      </p:sp>
      <p:sp>
        <p:nvSpPr>
          <p:cNvPr id="13" name="TextBox 12"/>
          <p:cNvSpPr txBox="1"/>
          <p:nvPr/>
        </p:nvSpPr>
        <p:spPr>
          <a:xfrm>
            <a:off x="548640" y="3557015"/>
            <a:ext cx="1600200" cy="367792"/>
          </a:xfrm>
          <a:prstGeom prst="rect">
            <a:avLst/>
          </a:prstGeom>
          <a:noFill/>
        </p:spPr>
        <p:txBody>
          <a:bodyPr wrap="square" lIns="0" tIns="0" rIns="0" bIns="0">
            <a:spAutoFit/>
          </a:bodyPr>
          <a:lstStyle/>
          <a:p>
            <a:pPr algn="r">
              <a:lnSpc>
                <a:spcPct val="100000"/>
              </a:lnSpc>
              <a:spcAft>
                <a:spcPts val="0"/>
              </a:spcAft>
              <a:defRPr sz="1800" b="0">
                <a:solidFill>
                  <a:srgbClr val="0E7C86"/>
                </a:solidFill>
                <a:latin typeface="Calibri"/>
              </a:defRPr>
            </a:pPr>
            <a:r>
              <a:rPr sz="1800" b="0">
                <a:solidFill>
                  <a:srgbClr val="0E7C86"/>
                </a:solidFill>
                <a:latin typeface="Calibri"/>
              </a:rPr>
              <a:t>drive motors</a:t>
            </a:r>
          </a:p>
        </p:txBody>
      </p:sp>
      <p:cxnSp>
        <p:nvCxnSpPr>
          <p:cNvPr id="14" name="Connector 13"/>
          <p:cNvCxnSpPr/>
          <p:nvPr/>
        </p:nvCxnSpPr>
        <p:spPr>
          <a:xfrm>
            <a:off x="2240280" y="368503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4028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1035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58043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75051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92059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09067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6075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3082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090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7098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4106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1114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28122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5129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2137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9145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96153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3161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0169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7176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4184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1192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8200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5208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32216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9224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66231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83239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00247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7255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34263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51271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68278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5286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02294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19302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6310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53318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0325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7333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04341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1349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38357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55365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72372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89380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06388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23396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40404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57412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74420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48640" y="3922775"/>
            <a:ext cx="1600200" cy="367792"/>
          </a:xfrm>
          <a:prstGeom prst="rect">
            <a:avLst/>
          </a:prstGeom>
          <a:noFill/>
        </p:spPr>
        <p:txBody>
          <a:bodyPr wrap="square" lIns="0" tIns="0" rIns="0" bIns="0">
            <a:spAutoFit/>
          </a:bodyPr>
          <a:lstStyle/>
          <a:p>
            <a:pPr algn="r">
              <a:lnSpc>
                <a:spcPct val="100000"/>
              </a:lnSpc>
              <a:spcAft>
                <a:spcPts val="0"/>
              </a:spcAft>
              <a:defRPr sz="1800" b="0">
                <a:solidFill>
                  <a:srgbClr val="B46A0F"/>
                </a:solidFill>
                <a:latin typeface="Calibri"/>
              </a:defRPr>
            </a:pPr>
            <a:r>
              <a:rPr sz="1800" b="0">
                <a:solidFill>
                  <a:srgbClr val="B46A0F"/>
                </a:solidFill>
                <a:latin typeface="Calibri"/>
              </a:rPr>
              <a:t>scanner frame</a:t>
            </a:r>
          </a:p>
        </p:txBody>
      </p:sp>
      <p:cxnSp>
        <p:nvCxnSpPr>
          <p:cNvPr id="67" name="Connector 66"/>
          <p:cNvCxnSpPr/>
          <p:nvPr/>
        </p:nvCxnSpPr>
        <p:spPr>
          <a:xfrm>
            <a:off x="2240280" y="405079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240280"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920593"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600907"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281220"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961534"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641848"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22161"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002475"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682788"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363102"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043416"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723729"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404043"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640" y="4288535"/>
            <a:ext cx="1600200" cy="367792"/>
          </a:xfrm>
          <a:prstGeom prst="rect">
            <a:avLst/>
          </a:prstGeom>
          <a:noFill/>
        </p:spPr>
        <p:txBody>
          <a:bodyPr wrap="square" lIns="0" tIns="0" rIns="0" bIns="0">
            <a:spAutoFit/>
          </a:bodyPr>
          <a:lstStyle/>
          <a:p>
            <a:pPr algn="r">
              <a:lnSpc>
                <a:spcPct val="100000"/>
              </a:lnSpc>
              <a:spcAft>
                <a:spcPts val="0"/>
              </a:spcAft>
              <a:defRPr sz="1800" b="0">
                <a:solidFill>
                  <a:srgbClr val="1F3A5F"/>
                </a:solidFill>
                <a:latin typeface="Calibri"/>
              </a:defRPr>
            </a:pPr>
            <a:r>
              <a:rPr sz="1800" b="0">
                <a:solidFill>
                  <a:srgbClr val="1F3A5F"/>
                </a:solidFill>
                <a:latin typeface="Calibri"/>
              </a:rPr>
              <a:t>turn signal</a:t>
            </a:r>
          </a:p>
        </p:txBody>
      </p:sp>
      <p:cxnSp>
        <p:nvCxnSpPr>
          <p:cNvPr id="82" name="Connector 81"/>
          <p:cNvCxnSpPr/>
          <p:nvPr/>
        </p:nvCxnSpPr>
        <p:spPr>
          <a:xfrm>
            <a:off x="2240280" y="441655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240280"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600907"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961534"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322161"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682788"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043416"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404043"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48640" y="4654295"/>
            <a:ext cx="1600200"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battery check</a:t>
            </a:r>
          </a:p>
        </p:txBody>
      </p:sp>
      <p:cxnSp>
        <p:nvCxnSpPr>
          <p:cNvPr id="91" name="Connector 90"/>
          <p:cNvCxnSpPr/>
          <p:nvPr/>
        </p:nvCxnSpPr>
        <p:spPr>
          <a:xfrm>
            <a:off x="2240280" y="478231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2240280" y="4672583"/>
            <a:ext cx="0" cy="219456"/>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492240" y="4672583"/>
            <a:ext cx="0" cy="219456"/>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744200" y="4672583"/>
            <a:ext cx="0" cy="219456"/>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240280" y="5093207"/>
            <a:ext cx="8503920" cy="367792"/>
          </a:xfrm>
          <a:prstGeom prst="rect">
            <a:avLst/>
          </a:prstGeom>
          <a:noFill/>
        </p:spPr>
        <p:txBody>
          <a:bodyPr wrap="square" lIns="0" tIns="0" rIns="0" bIns="0">
            <a:spAutoFit/>
          </a:bodyPr>
          <a:lstStyle/>
          <a:p>
            <a:pPr algn="ctr">
              <a:lnSpc>
                <a:spcPct val="100000"/>
              </a:lnSpc>
              <a:spcAft>
                <a:spcPts val="0"/>
              </a:spcAft>
              <a:defRPr sz="1800" b="0">
                <a:solidFill>
                  <a:srgbClr val="0E7C86"/>
                </a:solidFill>
                <a:latin typeface="Calibri"/>
              </a:defRPr>
            </a:pPr>
            <a:r>
              <a:rPr sz="1800" b="0">
                <a:solidFill>
                  <a:srgbClr val="0E7C86"/>
                </a:solidFill>
                <a:latin typeface="Calibri"/>
              </a:rPr>
              <a:t>each job fires on its own schedule, and loop() never stops running</a:t>
            </a:r>
          </a:p>
        </p:txBody>
      </p:sp>
      <p:sp>
        <p:nvSpPr>
          <p:cNvPr id="96" name="Rectangle 95"/>
          <p:cNvSpPr/>
          <p:nvPr/>
        </p:nvSpPr>
        <p:spPr>
          <a:xfrm>
            <a:off x="502920" y="5349240"/>
            <a:ext cx="11185855" cy="658368"/>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500" b="0">
                <a:solidFill>
                  <a:srgbClr val="222222"/>
                </a:solidFill>
                <a:latin typeface="Consolas"/>
              </a:defRPr>
            </a:pPr>
            <a:r>
              <a:rPr sz="1500" b="0">
                <a:solidFill>
                  <a:srgbClr val="222222"/>
                </a:solidFill>
                <a:latin typeface="Consolas"/>
              </a:rPr>
              <a:t>if (millis() - lastTime &gt;= INTERVAL) {  lastTime = millis();  ...do the thing...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pattern, in four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millis() instead of delay()</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2000">
                <a:latin typeface="Consolas"/>
              </a:defRPr>
            </a:pPr>
            <a:r>
              <a:rPr sz="2000">
                <a:solidFill>
                  <a:srgbClr val="222222"/>
                </a:solidFill>
                <a:latin typeface="Consolas"/>
              </a:rPr>
              <a:t>unsigned long lastBlink = 0;</a:t>
            </a:r>
          </a:p>
          <a:p>
            <a:pPr algn="l">
              <a:lnSpc>
                <a:spcPct val="100000"/>
              </a:lnSpc>
              <a:spcAft>
                <a:spcPts val="0"/>
              </a:spcAft>
              <a:defRPr sz="2000">
                <a:latin typeface="Consolas"/>
              </a:defRPr>
            </a:pPr>
            <a:r>
              <a:rPr sz="2000">
                <a:solidFill>
                  <a:srgbClr val="222222"/>
                </a:solidFill>
                <a:latin typeface="Consolas"/>
              </a:rPr>
              <a:t>const unsigned long INTERVAL = 1000;</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b="1">
                <a:solidFill>
                  <a:srgbClr val="0E7C86"/>
                </a:solidFill>
                <a:latin typeface="Consolas"/>
              </a:rPr>
              <a:t>void loop() {</a:t>
            </a:r>
          </a:p>
          <a:p>
            <a:pPr algn="l">
              <a:lnSpc>
                <a:spcPct val="100000"/>
              </a:lnSpc>
              <a:spcAft>
                <a:spcPts val="0"/>
              </a:spcAft>
              <a:defRPr sz="2000">
                <a:latin typeface="Consolas"/>
              </a:defRPr>
            </a:pPr>
            <a:r>
              <a:rPr sz="2000" b="1">
                <a:solidFill>
                  <a:srgbClr val="0E7C86"/>
                </a:solidFill>
                <a:latin typeface="Consolas"/>
              </a:rPr>
              <a:t>  if (millis() - lastBlink &gt;= INTERVAL) {</a:t>
            </a:r>
          </a:p>
          <a:p>
            <a:pPr algn="l">
              <a:lnSpc>
                <a:spcPct val="100000"/>
              </a:lnSpc>
              <a:spcAft>
                <a:spcPts val="0"/>
              </a:spcAft>
              <a:defRPr sz="2000">
                <a:latin typeface="Consolas"/>
              </a:defRPr>
            </a:pPr>
            <a:r>
              <a:rPr sz="2000">
                <a:solidFill>
                  <a:srgbClr val="222222"/>
                </a:solidFill>
                <a:latin typeface="Consolas"/>
              </a:rPr>
              <a:t>    lastBlink = millis();</a:t>
            </a:r>
          </a:p>
          <a:p>
            <a:pPr algn="l">
              <a:lnSpc>
                <a:spcPct val="100000"/>
              </a:lnSpc>
              <a:spcAft>
                <a:spcPts val="0"/>
              </a:spcAft>
              <a:defRPr sz="2000">
                <a:latin typeface="Consolas"/>
              </a:defRPr>
            </a:pPr>
            <a:r>
              <a:rPr sz="2000">
                <a:solidFill>
                  <a:srgbClr val="666666"/>
                </a:solidFill>
                <a:latin typeface="Consolas"/>
              </a:rPr>
              <a:t>    // ...do the thing...</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666666"/>
                </a:solidFill>
                <a:latin typeface="Consolas"/>
              </a:rPr>
              <a:t>  // ...and everything else keeps running...</a:t>
            </a:r>
          </a:p>
          <a:p>
            <a:pPr algn="l">
              <a:lnSpc>
                <a:spcPct val="100000"/>
              </a:lnSpc>
              <a:spcAft>
                <a:spcPts val="0"/>
              </a:spcAft>
              <a:defRPr sz="2000">
                <a:latin typeface="Consolas"/>
              </a:defRPr>
            </a:pPr>
            <a:r>
              <a:rPr sz="20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millis() returns how many milliseconds the board has been switched on. Reading it costs nothing.</a:t>
            </a:r>
          </a:p>
          <a:p>
            <a:pPr algn="l">
              <a:lnSpc>
                <a:spcPct val="100000"/>
              </a:lnSpc>
              <a:spcAft>
                <a:spcPts val="700"/>
              </a:spcAft>
              <a:defRPr sz="1800" b="0">
                <a:solidFill>
                  <a:srgbClr val="222222"/>
                </a:solidFill>
                <a:latin typeface="Calibri"/>
              </a:defRPr>
            </a:pPr>
            <a:r>
              <a:rPr sz="1800" b="0">
                <a:solidFill>
                  <a:srgbClr val="222222"/>
                </a:solidFill>
                <a:latin typeface="Calibri"/>
              </a:rPr>
              <a:t>Each job needs its OWN "when did I last run" variable.</a:t>
            </a:r>
          </a:p>
          <a:p>
            <a:pPr algn="l">
              <a:lnSpc>
                <a:spcPct val="100000"/>
              </a:lnSpc>
              <a:spcAft>
                <a:spcPts val="700"/>
              </a:spcAft>
              <a:defRPr sz="1800" b="0">
                <a:solidFill>
                  <a:srgbClr val="222222"/>
                </a:solidFill>
                <a:latin typeface="Calibri"/>
              </a:defRPr>
            </a:pPr>
            <a:r>
              <a:rPr sz="1800" b="0">
                <a:solidFill>
                  <a:srgbClr val="222222"/>
                </a:solidFill>
                <a:latin typeface="Calibri"/>
              </a:rPr>
              <a:t>unsigned long, because that is what millis() returns. It never goes negative.</a:t>
            </a:r>
          </a:p>
          <a:p>
            <a:pPr algn="l">
              <a:lnSpc>
                <a:spcPct val="100000"/>
              </a:lnSpc>
              <a:spcAft>
                <a:spcPts val="700"/>
              </a:spcAft>
              <a:defRPr sz="1800" b="0">
                <a:solidFill>
                  <a:srgbClr val="222222"/>
                </a:solidFill>
                <a:latin typeface="Calibri"/>
              </a:defRPr>
            </a:pPr>
            <a:r>
              <a:rPr sz="1800" b="0">
                <a:solidFill>
                  <a:srgbClr val="222222"/>
                </a:solidFill>
                <a:latin typeface="Calibri"/>
              </a:rPr>
              <a:t>Subtracting like this also survives the moment millis() wraps back to zero, which happens after 49 days.</a:t>
            </a:r>
          </a:p>
          <a:p>
            <a:pPr algn="l">
              <a:lnSpc>
                <a:spcPct val="100000"/>
              </a:lnSpc>
              <a:spcAft>
                <a:spcPts val="700"/>
              </a:spcAft>
              <a:defRPr sz="1800" b="0">
                <a:solidFill>
                  <a:srgbClr val="222222"/>
                </a:solidFill>
                <a:latin typeface="Calibri"/>
              </a:defRPr>
            </a:pPr>
            <a:r>
              <a:rPr sz="1800" b="0">
                <a:solidFill>
                  <a:srgbClr val="222222"/>
                </a:solidFill>
                <a:latin typeface="Calibri"/>
              </a:rPr>
              <a:t>The full vehicle program uses this exact pattern for its waiting blink and for the scanner.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Two speeds at once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20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5035782"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Edge detection</a:t>
            </a:r>
          </a:p>
        </p:txBody>
      </p:sp>
      <p:sp>
        <p:nvSpPr>
          <p:cNvPr id="12" name="Rounded Rectangle 11"/>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Lights from state</a:t>
            </a:r>
          </a:p>
        </p:txBody>
      </p:sp>
      <p:sp>
        <p:nvSpPr>
          <p:cNvPr id="13" name="Rounded Rectangle 12"/>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full program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two speeds at once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l5a_millis_not_delay</a:t>
            </a:r>
            <a:r>
              <a:rPr sz="1200">
                <a:solidFill>
                  <a:srgbClr val="FFFFFF"/>
                </a:solidFill>
                <a:latin typeface="Calibri"/>
              </a:rPr>
              <a:t>     (20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1.  Upload it. Two LEDs blink at different rates, and the Serial Monitor counts how many times loop() runs per second.</a:t>
            </a:r>
          </a:p>
          <a:p>
            <a:pPr algn="l">
              <a:lnSpc>
                <a:spcPct val="100000"/>
              </a:lnSpc>
              <a:spcAft>
                <a:spcPts val="800"/>
              </a:spcAft>
              <a:defRPr sz="2100" b="0">
                <a:solidFill>
                  <a:srgbClr val="222222"/>
                </a:solidFill>
                <a:latin typeface="Calibri"/>
              </a:defRPr>
            </a:pPr>
            <a:r>
              <a:rPr sz="2100" b="0">
                <a:solidFill>
                  <a:srgbClr val="222222"/>
                </a:solidFill>
                <a:latin typeface="Calibri"/>
              </a:rPr>
              <a:t>2.  Write down that number. It is enormous.</a:t>
            </a:r>
          </a:p>
          <a:p>
            <a:pPr algn="l">
              <a:lnSpc>
                <a:spcPct val="100000"/>
              </a:lnSpc>
              <a:spcAft>
                <a:spcPts val="800"/>
              </a:spcAft>
              <a:defRPr sz="2100" b="0">
                <a:solidFill>
                  <a:srgbClr val="222222"/>
                </a:solidFill>
                <a:latin typeface="Calibri"/>
              </a:defRPr>
            </a:pPr>
            <a:r>
              <a:rPr sz="2100" b="0">
                <a:solidFill>
                  <a:srgbClr val="222222"/>
                </a:solidFill>
                <a:latin typeface="Calibri"/>
              </a:rPr>
              <a:t>3.  Uncomment the delay(1000) at the bottom of loop(). Upload.</a:t>
            </a:r>
          </a:p>
          <a:p>
            <a:pPr algn="l">
              <a:lnSpc>
                <a:spcPct val="100000"/>
              </a:lnSpc>
              <a:spcAft>
                <a:spcPts val="800"/>
              </a:spcAft>
              <a:defRPr sz="2100" b="0">
                <a:solidFill>
                  <a:srgbClr val="222222"/>
                </a:solidFill>
                <a:latin typeface="Calibri"/>
              </a:defRPr>
            </a:pPr>
            <a:r>
              <a:rPr sz="2100" b="0">
                <a:solidFill>
                  <a:srgbClr val="222222"/>
                </a:solidFill>
                <a:latin typeface="Calibri"/>
              </a:rPr>
              <a:t>4.  Watch both lights break, and watch the loop counter fall to 1.</a:t>
            </a:r>
          </a:p>
          <a:p>
            <a:pPr algn="l">
              <a:lnSpc>
                <a:spcPct val="100000"/>
              </a:lnSpc>
              <a:spcAft>
                <a:spcPts val="800"/>
              </a:spcAft>
              <a:defRPr sz="2100" b="0">
                <a:solidFill>
                  <a:srgbClr val="222222"/>
                </a:solidFill>
                <a:latin typeface="Calibri"/>
              </a:defRPr>
            </a:pPr>
            <a:r>
              <a:rPr sz="2100" b="0">
                <a:solidFill>
                  <a:srgbClr val="222222"/>
                </a:solidFill>
                <a:latin typeface="Calibri"/>
              </a:rPr>
              <a:t>5.  Comment it back out.</a:t>
            </a:r>
          </a:p>
          <a:p>
            <a:pPr algn="l">
              <a:lnSpc>
                <a:spcPct val="100000"/>
              </a:lnSpc>
              <a:spcAft>
                <a:spcPts val="800"/>
              </a:spcAft>
              <a:defRPr sz="2100" b="0">
                <a:solidFill>
                  <a:srgbClr val="222222"/>
                </a:solidFill>
                <a:latin typeface="Calibri"/>
              </a:defRPr>
            </a:pPr>
            <a:r>
              <a:rPr sz="2100" b="0">
                <a:solidFill>
                  <a:srgbClr val="222222"/>
                </a:solidFill>
                <a:latin typeface="Calibri"/>
              </a:rPr>
              <a:t>6.  Add a THIRD light on its own timer without touching the other two.</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61288"/>
          </a:xfrm>
          <a:prstGeom prst="rect">
            <a:avLst/>
          </a:prstGeom>
          <a:noFill/>
        </p:spPr>
        <p:txBody>
          <a:bodyPr wrap="square" lIns="0" tIns="0" rIns="0" bIns="0">
            <a:spAutoFit/>
          </a:bodyPr>
          <a:lstStyle/>
          <a:p>
            <a:pPr algn="l">
              <a:lnSpc>
                <a:spcPct val="100000"/>
              </a:lnSpc>
              <a:spcAft>
                <a:spcPts val="300"/>
              </a:spcAft>
              <a:defRPr sz="2000" b="0">
                <a:solidFill>
                  <a:srgbClr val="222222"/>
                </a:solidFill>
                <a:latin typeface="Calibri"/>
              </a:defRPr>
            </a:pPr>
            <a:r>
              <a:rPr sz="2000" b="0">
                <a:solidFill>
                  <a:srgbClr val="222222"/>
                </a:solidFill>
                <a:latin typeface="Calibri"/>
              </a:rPr>
              <a:t>LED 0 blinking once a second, LED 15 blinking about seven times a second, and a very large loop count.</a:t>
            </a:r>
          </a:p>
        </p:txBody>
      </p:sp>
      <p:sp>
        <p:nvSpPr>
          <p:cNvPr id="10" name="TextBox 9"/>
          <p:cNvSpPr txBox="1"/>
          <p:nvPr/>
        </p:nvSpPr>
        <p:spPr>
          <a:xfrm>
            <a:off x="7163537" y="353872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41064"/>
            <a:ext cx="4525238" cy="2322576"/>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How many times per second does loop() run?</a:t>
            </a:r>
          </a:p>
          <a:p>
            <a:pPr algn="l">
              <a:lnSpc>
                <a:spcPct val="100000"/>
              </a:lnSpc>
              <a:spcAft>
                <a:spcPts val="300"/>
              </a:spcAft>
              <a:defRPr sz="2200" b="0">
                <a:solidFill>
                  <a:srgbClr val="222222"/>
                </a:solidFill>
                <a:latin typeface="Calibri"/>
              </a:defRPr>
            </a:pPr>
            <a:r>
              <a:rPr sz="2200" b="0">
                <a:solidFill>
                  <a:srgbClr val="222222"/>
                </a:solidFill>
                <a:latin typeface="Calibri"/>
              </a:rPr>
              <a:t>With the delay in place, what is the loop count, and what does that tell you about how much attention the vehicle has left over?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Edge detection: one press, one action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level is not the event</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100" b="0">
                <a:solidFill>
                  <a:srgbClr val="222222"/>
                </a:solidFill>
                <a:latin typeface="Calibri"/>
              </a:defRPr>
            </a:pPr>
            <a:r>
              <a:rPr sz="2100" b="0">
                <a:solidFill>
                  <a:srgbClr val="222222"/>
                </a:solidFill>
                <a:latin typeface="Calibri"/>
              </a:rPr>
              <a:t>loop() runs tens of thousands of times a second. A finger holds a button for about 100 milliseconds - thousands of trips round the loop.</a:t>
            </a:r>
          </a:p>
          <a:p>
            <a:pPr algn="l">
              <a:lnSpc>
                <a:spcPct val="100000"/>
              </a:lnSpc>
              <a:spcAft>
                <a:spcPts val="900"/>
              </a:spcAft>
              <a:defRPr sz="1050" b="0">
                <a:solidFill>
                  <a:srgbClr val="222222"/>
                </a:solidFill>
                <a:latin typeface="Calibri"/>
              </a:defRPr>
            </a:pPr>
          </a:p>
          <a:p>
            <a:pPr algn="l">
              <a:lnSpc>
                <a:spcPct val="100000"/>
              </a:lnSpc>
              <a:spcAft>
                <a:spcPts val="900"/>
              </a:spcAft>
              <a:defRPr sz="2100" b="0">
                <a:solidFill>
                  <a:srgbClr val="222222"/>
                </a:solidFill>
                <a:latin typeface="Calibri"/>
              </a:defRPr>
            </a:pPr>
            <a:r>
              <a:rPr sz="2100" b="0">
                <a:solidFill>
                  <a:srgbClr val="222222"/>
                </a:solidFill>
                <a:latin typeface="Calibri"/>
              </a:rPr>
              <a:t>So this is wrong:</a:t>
            </a:r>
          </a:p>
          <a:p>
            <a:pPr lvl="1" algn="l">
              <a:lnSpc>
                <a:spcPct val="100000"/>
              </a:lnSpc>
              <a:spcAft>
                <a:spcPts val="900"/>
              </a:spcAft>
              <a:defRPr sz="2100" b="0">
                <a:solidFill>
                  <a:srgbClr val="222222"/>
                </a:solidFill>
                <a:latin typeface="Calibri"/>
              </a:defRPr>
            </a:pPr>
            <a:r>
              <a:rPr sz="2100" b="0">
                <a:solidFill>
                  <a:srgbClr val="222222"/>
                </a:solidFill>
                <a:latin typeface="Calibri"/>
              </a:rPr>
              <a:t>if (Ps3.data.button.square) lightsOn = !lightsOn;</a:t>
            </a:r>
          </a:p>
          <a:p>
            <a:pPr algn="l">
              <a:lnSpc>
                <a:spcPct val="100000"/>
              </a:lnSpc>
              <a:spcAft>
                <a:spcPts val="900"/>
              </a:spcAft>
              <a:defRPr sz="1050" b="0">
                <a:solidFill>
                  <a:srgbClr val="222222"/>
                </a:solidFill>
                <a:latin typeface="Calibri"/>
              </a:defRPr>
            </a:pPr>
          </a:p>
          <a:p>
            <a:pPr algn="l">
              <a:lnSpc>
                <a:spcPct val="100000"/>
              </a:lnSpc>
              <a:spcAft>
                <a:spcPts val="900"/>
              </a:spcAft>
              <a:defRPr sz="2100" b="0">
                <a:solidFill>
                  <a:srgbClr val="222222"/>
                </a:solidFill>
                <a:latin typeface="Calibri"/>
              </a:defRPr>
            </a:pPr>
            <a:r>
              <a:rPr sz="2100" b="0">
                <a:solidFill>
                  <a:srgbClr val="222222"/>
                </a:solidFill>
                <a:latin typeface="Calibri"/>
              </a:rPr>
              <a:t>It flips the lights thousands of times during ONE press. Whether they end up on or off is pure luck.</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200" b="0">
                <a:solidFill>
                  <a:srgbClr val="222222"/>
                </a:solidFill>
                <a:latin typeface="Calibri"/>
              </a:defRPr>
            </a:pPr>
            <a:r>
              <a:rPr sz="2200" b="0">
                <a:solidFill>
                  <a:srgbClr val="222222"/>
                </a:solidFill>
                <a:latin typeface="Calibri"/>
              </a:rPr>
              <a:t>What we want is the MOMENT the button goes down - the edge, not the level. To find an edge you have to remember what it was doing last time round:</a:t>
            </a:r>
          </a:p>
          <a:p>
            <a:pPr lvl="1" algn="l">
              <a:lnSpc>
                <a:spcPct val="100000"/>
              </a:lnSpc>
              <a:spcAft>
                <a:spcPts val="900"/>
              </a:spcAft>
              <a:defRPr sz="2200" b="0">
                <a:solidFill>
                  <a:srgbClr val="222222"/>
                </a:solidFill>
                <a:latin typeface="Calibri"/>
              </a:defRPr>
            </a:pPr>
            <a:r>
              <a:rPr sz="2200" b="0">
                <a:solidFill>
                  <a:srgbClr val="222222"/>
                </a:solidFill>
                <a:latin typeface="Calibri"/>
              </a:rPr>
              <a:t>bool isNewPress = isDown &amp;&amp; !wasDown;</a:t>
            </a:r>
          </a:p>
          <a:p>
            <a:pPr lvl="1" algn="l">
              <a:lnSpc>
                <a:spcPct val="100000"/>
              </a:lnSpc>
              <a:spcAft>
                <a:spcPts val="900"/>
              </a:spcAft>
              <a:defRPr sz="2200" b="0">
                <a:solidFill>
                  <a:srgbClr val="222222"/>
                </a:solidFill>
                <a:latin typeface="Calibri"/>
              </a:defRPr>
            </a:pPr>
            <a:r>
              <a:rPr sz="2200" b="0">
                <a:solidFill>
                  <a:srgbClr val="222222"/>
                </a:solidFill>
                <a:latin typeface="Calibri"/>
              </a:rPr>
              <a:t>wasDown = isDown;</a:t>
            </a:r>
          </a:p>
          <a:p>
            <a:pPr algn="l">
              <a:lnSpc>
                <a:spcPct val="100000"/>
              </a:lnSpc>
              <a:spcAft>
                <a:spcPts val="900"/>
              </a:spcAft>
              <a:defRPr sz="1100" b="0">
                <a:solidFill>
                  <a:srgbClr val="222222"/>
                </a:solidFill>
                <a:latin typeface="Calibri"/>
              </a:defRPr>
            </a:pPr>
          </a:p>
          <a:p>
            <a:pPr algn="l">
              <a:lnSpc>
                <a:spcPct val="100000"/>
              </a:lnSpc>
              <a:spcAft>
                <a:spcPts val="900"/>
              </a:spcAft>
              <a:defRPr sz="2200" b="0">
                <a:solidFill>
                  <a:srgbClr val="222222"/>
                </a:solidFill>
                <a:latin typeface="Calibri"/>
              </a:defRPr>
            </a:pPr>
            <a:r>
              <a:rPr sz="2200" b="0">
                <a:solidFill>
                  <a:srgbClr val="222222"/>
                </a:solidFill>
                <a:latin typeface="Calibri"/>
              </a:rPr>
              <a:t>That is justPressed(), and the full program uses it for every single button.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Edge detection</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Edge detection</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Lights from state</a:t>
            </a:r>
          </a:p>
        </p:txBody>
      </p:sp>
      <p:sp>
        <p:nvSpPr>
          <p:cNvPr id="14" name="Rounded Rectangle 13"/>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full program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see the bug, then the fix</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l5b_button_toggle</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200" b="0">
                <a:solidFill>
                  <a:srgbClr val="222222"/>
                </a:solidFill>
                <a:latin typeface="Calibri"/>
              </a:defRPr>
            </a:pPr>
            <a:r>
              <a:rPr sz="2200" b="0">
                <a:solidFill>
                  <a:srgbClr val="222222"/>
                </a:solidFill>
                <a:latin typeface="Calibri"/>
              </a:rPr>
              <a:t>1.  Set PS3_MAC_ADDRESS. Upload it.</a:t>
            </a:r>
          </a:p>
          <a:p>
            <a:pPr algn="l">
              <a:lnSpc>
                <a:spcPct val="100000"/>
              </a:lnSpc>
              <a:spcAft>
                <a:spcPts val="800"/>
              </a:spcAft>
              <a:defRPr sz="2200" b="0">
                <a:solidFill>
                  <a:srgbClr val="222222"/>
                </a:solidFill>
                <a:latin typeface="Calibri"/>
              </a:defRPr>
            </a:pPr>
            <a:r>
              <a:rPr sz="2200" b="0">
                <a:solidFill>
                  <a:srgbClr val="222222"/>
                </a:solidFill>
                <a:latin typeface="Calibri"/>
              </a:rPr>
              <a:t>2.  Press SQUARE a few times. One press, one change, every time.</a:t>
            </a:r>
          </a:p>
          <a:p>
            <a:pPr algn="l">
              <a:lnSpc>
                <a:spcPct val="100000"/>
              </a:lnSpc>
              <a:spcAft>
                <a:spcPts val="800"/>
              </a:spcAft>
              <a:defRPr sz="2200" b="0">
                <a:solidFill>
                  <a:srgbClr val="222222"/>
                </a:solidFill>
                <a:latin typeface="Calibri"/>
              </a:defRPr>
            </a:pPr>
            <a:r>
              <a:rPr sz="2200" b="0">
                <a:solidFill>
                  <a:srgbClr val="222222"/>
                </a:solidFill>
                <a:latin typeface="Calibri"/>
              </a:rPr>
              <a:t>3.  Now press TRIANGLE ONCE and read the Serial Monitor.</a:t>
            </a:r>
          </a:p>
          <a:p>
            <a:pPr algn="l">
              <a:lnSpc>
                <a:spcPct val="100000"/>
              </a:lnSpc>
              <a:spcAft>
                <a:spcPts val="800"/>
              </a:spcAft>
              <a:defRPr sz="2200" b="0">
                <a:solidFill>
                  <a:srgbClr val="222222"/>
                </a:solidFill>
                <a:latin typeface="Calibri"/>
              </a:defRPr>
            </a:pPr>
            <a:r>
              <a:rPr sz="2200" b="0">
                <a:solidFill>
                  <a:srgbClr val="222222"/>
                </a:solidFill>
                <a:latin typeface="Calibri"/>
              </a:rPr>
              <a:t>4.  How many times did one press register?</a:t>
            </a:r>
          </a:p>
          <a:p>
            <a:pPr algn="l">
              <a:lnSpc>
                <a:spcPct val="100000"/>
              </a:lnSpc>
              <a:spcAft>
                <a:spcPts val="800"/>
              </a:spcAft>
              <a:defRPr sz="2200" b="0">
                <a:solidFill>
                  <a:srgbClr val="222222"/>
                </a:solidFill>
                <a:latin typeface="Calibri"/>
              </a:defRPr>
            </a:pPr>
            <a:r>
              <a:rPr sz="2200" b="0">
                <a:solidFill>
                  <a:srgbClr val="222222"/>
                </a:solidFill>
                <a:latin typeface="Calibri"/>
              </a:rPr>
              <a:t>5.  Hold the good button down for five seconds. Does anything extra happen? Should it?</a:t>
            </a:r>
          </a:p>
          <a:p>
            <a:pPr algn="l">
              <a:lnSpc>
                <a:spcPct val="100000"/>
              </a:lnSpc>
              <a:spcAft>
                <a:spcPts val="800"/>
              </a:spcAft>
              <a:defRPr sz="2200" b="0">
                <a:solidFill>
                  <a:srgbClr val="222222"/>
                </a:solidFill>
                <a:latin typeface="Calibri"/>
              </a:defRPr>
            </a:pPr>
            <a:r>
              <a:rPr sz="2200" b="0">
                <a:solidFill>
                  <a:srgbClr val="222222"/>
                </a:solidFill>
                <a:latin typeface="Calibri"/>
              </a:rPr>
              <a:t>6.  Change justPressed so it fires on RELEASE instead. Which feels better to use?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903830"/>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The good button toggles the headlights cleanly. The broken one reports flipping the value hundreds or thousands of times.</a:t>
            </a:r>
          </a:p>
        </p:txBody>
      </p:sp>
      <p:sp>
        <p:nvSpPr>
          <p:cNvPr id="10" name="TextBox 9"/>
          <p:cNvSpPr txBox="1"/>
          <p:nvPr/>
        </p:nvSpPr>
        <p:spPr>
          <a:xfrm>
            <a:off x="7163537" y="4281270"/>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683606"/>
            <a:ext cx="4525238" cy="1580033"/>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Why does the broken version sometimes appear to work?</a:t>
            </a:r>
          </a:p>
          <a:p>
            <a:pPr algn="l">
              <a:lnSpc>
                <a:spcPct val="100000"/>
              </a:lnSpc>
              <a:spcAft>
                <a:spcPts val="300"/>
              </a:spcAft>
              <a:defRPr sz="2300" b="0">
                <a:solidFill>
                  <a:srgbClr val="222222"/>
                </a:solidFill>
                <a:latin typeface="Calibri"/>
              </a:defRPr>
            </a:pPr>
            <a:r>
              <a:rPr sz="2300" b="0">
                <a:solidFill>
                  <a:srgbClr val="222222"/>
                </a:solidFill>
                <a:latin typeface="Calibri"/>
              </a:rPr>
              <a:t>What does the &amp; mean in  bool &amp;wasDown?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State: what the vehicle remembers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Variables that live between passes</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A variable that survives from one pass of loop() to the next is STATE. It is what makes a program feel like it has a mind rather than just reflexes.</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The vehicle remembers:</a:t>
            </a:r>
          </a:p>
          <a:p>
            <a:pPr lvl="1" algn="l">
              <a:lnSpc>
                <a:spcPct val="100000"/>
              </a:lnSpc>
              <a:spcAft>
                <a:spcPts val="600"/>
              </a:spcAft>
              <a:defRPr sz="2100" b="0">
                <a:solidFill>
                  <a:srgbClr val="222222"/>
                </a:solidFill>
                <a:latin typeface="Calibri"/>
              </a:defRPr>
            </a:pPr>
            <a:r>
              <a:rPr sz="2100" b="0">
                <a:solidFill>
                  <a:srgbClr val="222222"/>
                </a:solidFill>
                <a:latin typeface="Calibri"/>
              </a:rPr>
              <a:t>lightsOn        -  are the running lights on at all</a:t>
            </a:r>
          </a:p>
          <a:p>
            <a:pPr lvl="1" algn="l">
              <a:lnSpc>
                <a:spcPct val="100000"/>
              </a:lnSpc>
              <a:spcAft>
                <a:spcPts val="600"/>
              </a:spcAft>
              <a:defRPr sz="2100" b="0">
                <a:solidFill>
                  <a:srgbClr val="222222"/>
                </a:solidFill>
                <a:latin typeface="Calibri"/>
              </a:defRPr>
            </a:pPr>
            <a:r>
              <a:rPr sz="2100" b="0">
                <a:solidFill>
                  <a:srgbClr val="222222"/>
                </a:solidFill>
                <a:latin typeface="Calibri"/>
              </a:rPr>
              <a:t>headlightLevel  -  dim or bright</a:t>
            </a:r>
          </a:p>
          <a:p>
            <a:pPr lvl="1" algn="l">
              <a:lnSpc>
                <a:spcPct val="100000"/>
              </a:lnSpc>
              <a:spcAft>
                <a:spcPts val="600"/>
              </a:spcAft>
              <a:defRPr sz="2100" b="0">
                <a:solidFill>
                  <a:srgbClr val="222222"/>
                </a:solidFill>
                <a:latin typeface="Calibri"/>
              </a:defRPr>
            </a:pPr>
            <a:r>
              <a:rPr sz="2100" b="0">
                <a:solidFill>
                  <a:srgbClr val="222222"/>
                </a:solidFill>
                <a:latin typeface="Calibri"/>
              </a:rPr>
              <a:t>lightPattern    -  stopped, forward, reverse, left or right</a:t>
            </a:r>
          </a:p>
          <a:p>
            <a:pPr lvl="1" algn="l">
              <a:lnSpc>
                <a:spcPct val="100000"/>
              </a:lnSpc>
              <a:spcAft>
                <a:spcPts val="600"/>
              </a:spcAft>
              <a:defRPr sz="2100" b="0">
                <a:solidFill>
                  <a:srgbClr val="222222"/>
                </a:solidFill>
                <a:latin typeface="Calibri"/>
              </a:defRPr>
            </a:pPr>
            <a:r>
              <a:rPr sz="2100" b="0">
                <a:solidFill>
                  <a:srgbClr val="222222"/>
                </a:solidFill>
                <a:latin typeface="Calibri"/>
              </a:rPr>
              <a:t>lightsChanged   -  does the strip need redrawing</a:t>
            </a:r>
          </a:p>
          <a:p>
            <a:pPr lvl="1" algn="l">
              <a:lnSpc>
                <a:spcPct val="100000"/>
              </a:lnSpc>
              <a:spcAft>
                <a:spcPts val="600"/>
              </a:spcAft>
              <a:defRPr sz="2100" b="0">
                <a:solidFill>
                  <a:srgbClr val="222222"/>
                </a:solidFill>
                <a:latin typeface="Calibri"/>
              </a:defRPr>
            </a:pPr>
            <a:r>
              <a:rPr sz="2100" b="0">
                <a:solidFill>
                  <a:srgbClr val="222222"/>
                </a:solidFill>
                <a:latin typeface="Calibri"/>
              </a:rPr>
              <a:t>turnMax         -  normal or sharp steering</a:t>
            </a:r>
          </a:p>
          <a:p>
            <a:pPr lvl="1" algn="l">
              <a:lnSpc>
                <a:spcPct val="100000"/>
              </a:lnSpc>
              <a:spcAft>
                <a:spcPts val="600"/>
              </a:spcAft>
              <a:defRPr sz="2100" b="0">
                <a:solidFill>
                  <a:srgbClr val="222222"/>
                </a:solidFill>
                <a:latin typeface="Calibri"/>
              </a:defRPr>
            </a:pPr>
            <a:r>
              <a:rPr sz="2100" b="0">
                <a:solidFill>
                  <a:srgbClr val="222222"/>
                </a:solidFill>
                <a:latin typeface="Calibri"/>
              </a:rPr>
              <a:t>scannerOn       -  is the KITT scanner running</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That last flag is worth a slide of its 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Draw only when something changed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dirty flag</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Pushing 32 LEDs out to the strip takes about a millisecond. loop() runs tens of thousands of times a second.</a:t>
            </a:r>
          </a:p>
          <a:p>
            <a:pPr algn="l">
              <a:lnSpc>
                <a:spcPct val="100000"/>
              </a:lnSpc>
              <a:spcAft>
                <a:spcPts val="600"/>
              </a:spcAft>
              <a:defRPr sz="1800" b="0">
                <a:solidFill>
                  <a:srgbClr val="222222"/>
                </a:solidFill>
                <a:latin typeface="Calibri"/>
              </a:defRPr>
            </a:pPr>
            <a:r>
              <a:rPr sz="1800" b="0">
                <a:solidFill>
                  <a:srgbClr val="222222"/>
                </a:solidFill>
                <a:latin typeface="Calibri"/>
              </a:rPr>
              <a:t>Redrawing every pass would waste most of the vehicle's attention and make the lights flicker.</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So the program keeps a flag: lightsChanged.</a:t>
            </a:r>
          </a:p>
          <a:p>
            <a:pPr lvl="1" algn="l">
              <a:lnSpc>
                <a:spcPct val="100000"/>
              </a:lnSpc>
              <a:spcAft>
                <a:spcPts val="600"/>
              </a:spcAft>
              <a:defRPr sz="1800" b="0">
                <a:solidFill>
                  <a:srgbClr val="222222"/>
                </a:solidFill>
                <a:latin typeface="Calibri"/>
              </a:defRPr>
            </a:pPr>
            <a:r>
              <a:rPr sz="1800" b="0">
                <a:solidFill>
                  <a:srgbClr val="222222"/>
                </a:solidFill>
                <a:latin typeface="Calibri"/>
              </a:rPr>
              <a:t>Anything that would alter the picture sets it to true.</a:t>
            </a:r>
          </a:p>
          <a:p>
            <a:pPr lvl="1" algn="l">
              <a:lnSpc>
                <a:spcPct val="100000"/>
              </a:lnSpc>
              <a:spcAft>
                <a:spcPts val="600"/>
              </a:spcAft>
              <a:defRPr sz="1800" b="0">
                <a:solidFill>
                  <a:srgbClr val="222222"/>
                </a:solidFill>
                <a:latin typeface="Calibri"/>
              </a:defRPr>
            </a:pPr>
            <a:r>
              <a:rPr sz="1800" b="0">
                <a:solidFill>
                  <a:srgbClr val="222222"/>
                </a:solidFill>
                <a:latin typeface="Calibri"/>
              </a:rPr>
              <a:t>The drawing code at the bottom of loop() runs only when it is set, and then clears it.</a:t>
            </a:r>
          </a:p>
          <a:p>
            <a:pPr algn="l">
              <a:lnSpc>
                <a:spcPct val="100000"/>
              </a:lnSpc>
              <a:spcAft>
                <a:spcPts val="600"/>
              </a:spcAft>
              <a:defRPr sz="900" b="0">
                <a:solidFill>
                  <a:srgbClr val="222222"/>
                </a:solidFill>
                <a:latin typeface="Calibri"/>
              </a:defRPr>
            </a:pPr>
          </a:p>
          <a:p>
            <a:pPr lvl="1" algn="l">
              <a:lnSpc>
                <a:spcPct val="100000"/>
              </a:lnSpc>
              <a:spcAft>
                <a:spcPts val="600"/>
              </a:spcAft>
              <a:defRPr sz="1800" b="0">
                <a:solidFill>
                  <a:srgbClr val="222222"/>
                </a:solidFill>
                <a:latin typeface="Calibri"/>
              </a:defRPr>
            </a:pPr>
            <a:r>
              <a:rPr sz="1800" b="0">
                <a:solidFill>
                  <a:srgbClr val="222222"/>
                </a:solidFill>
                <a:latin typeface="Calibri"/>
              </a:rPr>
              <a:t>if (lightsChanged) { lightsChanged = false; showDrivingLights(); }</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This is called a DIRTY FLAG, and you will find the same idea in graphics engines, spreadsheets and web browsers. Anywhere redrawing is expensive, something is keeping track of what actually changed.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Choosing the lighting picture from what the vehicle is doing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from l5c_drive_with_lights.ino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900">
                <a:latin typeface="Consolas"/>
              </a:defRPr>
            </a:pPr>
            <a:r>
              <a:rPr sz="1900">
                <a:solidFill>
                  <a:srgbClr val="222222"/>
                </a:solidFill>
                <a:latin typeface="Consolas"/>
              </a:rPr>
              <a:t>LightPattern newPattern = LIGHTS_STOPPED;</a:t>
            </a:r>
          </a:p>
          <a:p>
            <a:pPr algn="l">
              <a:lnSpc>
                <a:spcPct val="100000"/>
              </a:lnSpc>
              <a:spcAft>
                <a:spcPts val="0"/>
              </a:spcAft>
              <a:defRPr sz="1900">
                <a:latin typeface="Consolas"/>
              </a:defRPr>
            </a:pPr>
            <a:r>
              <a:rPr sz="1900">
                <a:solidFill>
                  <a:srgbClr val="222222"/>
                </a:solidFill>
                <a:latin typeface="Consolas"/>
              </a:rPr>
              <a:t>if      (forward &gt; 0) newPattern = LIGHTS_FORWARD;</a:t>
            </a:r>
          </a:p>
          <a:p>
            <a:pPr algn="l">
              <a:lnSpc>
                <a:spcPct val="100000"/>
              </a:lnSpc>
              <a:spcAft>
                <a:spcPts val="0"/>
              </a:spcAft>
              <a:defRPr sz="1900">
                <a:latin typeface="Consolas"/>
              </a:defRPr>
            </a:pPr>
            <a:r>
              <a:rPr sz="1900">
                <a:solidFill>
                  <a:srgbClr val="222222"/>
                </a:solidFill>
                <a:latin typeface="Consolas"/>
              </a:rPr>
              <a:t>else if (forward &lt; 0) newPattern = LIGHTS_REVERSE;</a:t>
            </a:r>
          </a:p>
          <a:p>
            <a:pPr algn="l">
              <a:lnSpc>
                <a:spcPct val="100000"/>
              </a:lnSpc>
              <a:spcAft>
                <a:spcPts val="0"/>
              </a:spcAft>
              <a:defRPr sz="1900">
                <a:latin typeface="Consolas"/>
              </a:defRPr>
            </a:pPr>
            <a:r>
              <a:rPr sz="1900">
                <a:solidFill>
                  <a:srgbClr val="222222"/>
                </a:solidFill>
                <a:latin typeface="Consolas"/>
              </a:rPr>
              <a:t>else if (turn &gt; 0)    newPattern = LIGHTS_RIGHT;</a:t>
            </a:r>
          </a:p>
          <a:p>
            <a:pPr algn="l">
              <a:lnSpc>
                <a:spcPct val="100000"/>
              </a:lnSpc>
              <a:spcAft>
                <a:spcPts val="0"/>
              </a:spcAft>
              <a:defRPr sz="1900">
                <a:latin typeface="Consolas"/>
              </a:defRPr>
            </a:pPr>
            <a:r>
              <a:rPr sz="1900">
                <a:solidFill>
                  <a:srgbClr val="222222"/>
                </a:solidFill>
                <a:latin typeface="Consolas"/>
              </a:rPr>
              <a:t>else if (turn &lt; 0)    newPattern = LIGHTS_LEFT;</a:t>
            </a:r>
          </a:p>
          <a:p>
            <a:pPr algn="l">
              <a:lnSpc>
                <a:spcPct val="100000"/>
              </a:lnSpc>
              <a:spcAft>
                <a:spcPts val="0"/>
              </a:spcAft>
              <a:defRPr sz="1900">
                <a:latin typeface="Consolas"/>
              </a:defRPr>
            </a:pPr>
            <a:r>
              <a:rPr sz="1900">
                <a:solidFill>
                  <a:srgbClr val="222222"/>
                </a:solidFill>
                <a:latin typeface="Consolas"/>
              </a:rPr>
              <a:t> </a:t>
            </a:r>
          </a:p>
          <a:p>
            <a:pPr algn="l">
              <a:lnSpc>
                <a:spcPct val="100000"/>
              </a:lnSpc>
              <a:spcAft>
                <a:spcPts val="0"/>
              </a:spcAft>
              <a:defRPr sz="1900">
                <a:latin typeface="Consolas"/>
              </a:defRPr>
            </a:pPr>
            <a:r>
              <a:rPr sz="1900" b="1">
                <a:solidFill>
                  <a:srgbClr val="0E7C86"/>
                </a:solidFill>
                <a:latin typeface="Consolas"/>
              </a:rPr>
              <a:t>if (newPattern != lightPattern) {</a:t>
            </a:r>
          </a:p>
          <a:p>
            <a:pPr algn="l">
              <a:lnSpc>
                <a:spcPct val="100000"/>
              </a:lnSpc>
              <a:spcAft>
                <a:spcPts val="0"/>
              </a:spcAft>
              <a:defRPr sz="1900">
                <a:latin typeface="Consolas"/>
              </a:defRPr>
            </a:pPr>
            <a:r>
              <a:rPr sz="1900" b="1">
                <a:solidFill>
                  <a:srgbClr val="0E7C86"/>
                </a:solidFill>
                <a:latin typeface="Consolas"/>
              </a:rPr>
              <a:t>  lightPattern = newPattern;</a:t>
            </a:r>
          </a:p>
          <a:p>
            <a:pPr algn="l">
              <a:lnSpc>
                <a:spcPct val="100000"/>
              </a:lnSpc>
              <a:spcAft>
                <a:spcPts val="0"/>
              </a:spcAft>
              <a:defRPr sz="1900">
                <a:latin typeface="Consolas"/>
              </a:defRPr>
            </a:pPr>
            <a:r>
              <a:rPr sz="1900" b="1">
                <a:solidFill>
                  <a:srgbClr val="0E7C86"/>
                </a:solidFill>
                <a:latin typeface="Consolas"/>
              </a:rPr>
              <a:t>  lightsChanged = true;</a:t>
            </a:r>
          </a:p>
          <a:p>
            <a:pPr algn="l">
              <a:lnSpc>
                <a:spcPct val="100000"/>
              </a:lnSpc>
              <a:spcAft>
                <a:spcPts val="0"/>
              </a:spcAft>
              <a:defRPr sz="1900">
                <a:latin typeface="Consolas"/>
              </a:defRPr>
            </a:pPr>
            <a:r>
              <a:rPr sz="19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900" b="0">
                <a:solidFill>
                  <a:srgbClr val="222222"/>
                </a:solidFill>
                <a:latin typeface="Calibri"/>
              </a:defRPr>
            </a:pPr>
            <a:r>
              <a:rPr sz="1900" b="0">
                <a:solidFill>
                  <a:srgbClr val="222222"/>
                </a:solidFill>
                <a:latin typeface="Calibri"/>
              </a:rPr>
              <a:t>The lights are not controlled by a button. They follow what the vehicle is ALREADY doing, which is how a real car works.</a:t>
            </a:r>
          </a:p>
          <a:p>
            <a:pPr algn="l">
              <a:lnSpc>
                <a:spcPct val="100000"/>
              </a:lnSpc>
              <a:spcAft>
                <a:spcPts val="700"/>
              </a:spcAft>
              <a:defRPr sz="1900" b="0">
                <a:solidFill>
                  <a:srgbClr val="222222"/>
                </a:solidFill>
                <a:latin typeface="Calibri"/>
              </a:defRPr>
            </a:pPr>
            <a:r>
              <a:rPr sz="1900" b="0">
                <a:solidFill>
                  <a:srgbClr val="222222"/>
                </a:solidFill>
                <a:latin typeface="Calibri"/>
              </a:rPr>
              <a:t>An enum is a named list of the states something can be in. Better than 1, 2, 3, 4, 5, because the compiler can check it and you can read it.</a:t>
            </a:r>
          </a:p>
          <a:p>
            <a:pPr algn="l">
              <a:lnSpc>
                <a:spcPct val="100000"/>
              </a:lnSpc>
              <a:spcAft>
                <a:spcPts val="700"/>
              </a:spcAft>
              <a:defRPr sz="1900" b="0">
                <a:solidFill>
                  <a:srgbClr val="222222"/>
                </a:solidFill>
                <a:latin typeface="Calibri"/>
              </a:defRPr>
            </a:pPr>
            <a:r>
              <a:rPr sz="1900" b="0">
                <a:solidFill>
                  <a:srgbClr val="222222"/>
                </a:solidFill>
                <a:latin typeface="Calibri"/>
              </a:rPr>
              <a:t>The else-if chain means exactly one pattern is chosen. Driving forward wins over turning.</a:t>
            </a:r>
          </a:p>
          <a:p>
            <a:pPr algn="l">
              <a:lnSpc>
                <a:spcPct val="100000"/>
              </a:lnSpc>
              <a:spcAft>
                <a:spcPts val="700"/>
              </a:spcAft>
              <a:defRPr sz="1900" b="0">
                <a:solidFill>
                  <a:srgbClr val="222222"/>
                </a:solidFill>
                <a:latin typeface="Calibri"/>
              </a:defRPr>
            </a:pPr>
            <a:r>
              <a:rPr sz="1900" b="0">
                <a:solidFill>
                  <a:srgbClr val="222222"/>
                </a:solidFill>
                <a:latin typeface="Calibri"/>
              </a:rPr>
              <a:t>Only if it CHANGED do we set the dirty flag.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Lights from state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30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Edge detection</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Lights from state</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5" name="Rounded Rectangle 14"/>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full program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with lights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l5c_drive_with_lights</a:t>
            </a:r>
            <a:r>
              <a:rPr sz="1200">
                <a:solidFill>
                  <a:srgbClr val="FFFFFF"/>
                </a:solidFill>
                <a:latin typeface="Calibri"/>
              </a:rPr>
              <a:t>     (30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Set PS3_MAC_ADDRESS. Wheels off the ground. Upload. Check the controls.</a:t>
            </a:r>
          </a:p>
          <a:p>
            <a:pPr algn="l">
              <a:lnSpc>
                <a:spcPct val="100000"/>
              </a:lnSpc>
              <a:spcAft>
                <a:spcPts val="800"/>
              </a:spcAft>
              <a:defRPr sz="1800" b="0">
                <a:solidFill>
                  <a:srgbClr val="222222"/>
                </a:solidFill>
                <a:latin typeface="Calibri"/>
              </a:defRPr>
            </a:pPr>
            <a:r>
              <a:rPr sz="1800" b="0">
                <a:solidFill>
                  <a:srgbClr val="222222"/>
                </a:solidFill>
                <a:latin typeface="Calibri"/>
              </a:rPr>
              <a:t>2.  Put it down and drive. The lights follow the stick: headlights, brake lights when you stop, white in reverse, amber on the side you turn toward.</a:t>
            </a:r>
          </a:p>
          <a:p>
            <a:pPr algn="l">
              <a:lnSpc>
                <a:spcPct val="100000"/>
              </a:lnSpc>
              <a:spcAft>
                <a:spcPts val="800"/>
              </a:spcAft>
              <a:defRPr sz="1800" b="0">
                <a:solidFill>
                  <a:srgbClr val="222222"/>
                </a:solidFill>
                <a:latin typeface="Calibri"/>
              </a:defRPr>
            </a:pPr>
            <a:r>
              <a:rPr sz="1800" b="0">
                <a:solidFill>
                  <a:srgbClr val="222222"/>
                </a:solidFill>
                <a:latin typeface="Calibri"/>
              </a:rPr>
              <a:t>3.  Press SQUARE to toggle the lights.</a:t>
            </a:r>
          </a:p>
          <a:p>
            <a:pPr algn="l">
              <a:lnSpc>
                <a:spcPct val="100000"/>
              </a:lnSpc>
              <a:spcAft>
                <a:spcPts val="800"/>
              </a:spcAft>
              <a:defRPr sz="1800" b="0">
                <a:solidFill>
                  <a:srgbClr val="222222"/>
                </a:solidFill>
                <a:latin typeface="Calibri"/>
              </a:defRPr>
            </a:pPr>
            <a:r>
              <a:rPr sz="1800" b="0">
                <a:solidFill>
                  <a:srgbClr val="222222"/>
                </a:solidFill>
                <a:latin typeface="Calibri"/>
              </a:rPr>
              <a:t>4.  D-pad up and down for bright and dim headlights.</a:t>
            </a:r>
          </a:p>
          <a:p>
            <a:pPr algn="l">
              <a:lnSpc>
                <a:spcPct val="100000"/>
              </a:lnSpc>
              <a:spcAft>
                <a:spcPts val="800"/>
              </a:spcAft>
              <a:defRPr sz="1800" b="0">
                <a:solidFill>
                  <a:srgbClr val="222222"/>
                </a:solidFill>
                <a:latin typeface="Calibri"/>
              </a:defRPr>
            </a:pPr>
            <a:r>
              <a:rPr sz="1800" b="0">
                <a:solidFill>
                  <a:srgbClr val="222222"/>
                </a:solidFill>
                <a:latin typeface="Calibri"/>
              </a:rPr>
              <a:t>5.  Make the turn signals BLINK rather than stay on. Use millis(), not delay(), or the vehicle will stutter.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002823"/>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 vehicle that drives and lights itself correctly at the same time, with no stuttering.</a:t>
            </a:r>
          </a:p>
        </p:txBody>
      </p:sp>
      <p:sp>
        <p:nvSpPr>
          <p:cNvPr id="10" name="TextBox 9"/>
          <p:cNvSpPr txBox="1"/>
          <p:nvPr/>
        </p:nvSpPr>
        <p:spPr>
          <a:xfrm>
            <a:off x="7163537" y="338026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782599"/>
            <a:ext cx="4525238" cy="1392904"/>
          </a:xfrm>
          <a:prstGeom prst="rect">
            <a:avLst/>
          </a:prstGeom>
          <a:noFill/>
        </p:spPr>
        <p:txBody>
          <a:bodyPr wrap="square" lIns="0" tIns="0" rIns="0" bIns="0">
            <a:spAutoFit/>
          </a:bodyPr>
          <a:lstStyle/>
          <a:p>
            <a:pPr algn="l">
              <a:lnSpc>
                <a:spcPct val="100000"/>
              </a:lnSpc>
              <a:spcAft>
                <a:spcPts val="300"/>
              </a:spcAft>
              <a:defRPr sz="2000" b="0">
                <a:solidFill>
                  <a:srgbClr val="222222"/>
                </a:solidFill>
                <a:latin typeface="Calibri"/>
              </a:defRPr>
            </a:pPr>
            <a:r>
              <a:rPr sz="2000" b="0">
                <a:solidFill>
                  <a:srgbClr val="222222"/>
                </a:solidFill>
                <a:latin typeface="Calibri"/>
              </a:rPr>
              <a:t>Which lines make the brake lights come on?</a:t>
            </a:r>
          </a:p>
          <a:p>
            <a:pPr algn="l">
              <a:lnSpc>
                <a:spcPct val="100000"/>
              </a:lnSpc>
              <a:spcAft>
                <a:spcPts val="300"/>
              </a:spcAft>
              <a:defRPr sz="2000" b="0">
                <a:solidFill>
                  <a:srgbClr val="222222"/>
                </a:solidFill>
                <a:latin typeface="Calibri"/>
              </a:defRPr>
            </a:pPr>
            <a:r>
              <a:rPr sz="2000" b="0">
                <a:solidFill>
                  <a:srgbClr val="222222"/>
                </a:solidFill>
                <a:latin typeface="Calibri"/>
              </a:rPr>
              <a:t>Why does the amber only appear on one side?</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Check the controls with the wheels off the ground 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full program</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Edge detection</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Lights from state</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5" name="Rounded Rectangle 14"/>
          <p:cNvSpPr/>
          <p:nvPr/>
        </p:nvSpPr>
        <p:spPr>
          <a:xfrm>
            <a:off x="9568644"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full program</a:t>
            </a:r>
          </a:p>
        </p:txBody>
      </p:sp>
      <p:sp>
        <p:nvSpPr>
          <p:cNvPr id="16" name="TextBox 15"/>
          <p:cNvSpPr txBox="1"/>
          <p:nvPr/>
        </p:nvSpPr>
        <p:spPr>
          <a:xfrm>
            <a:off x="9568644"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pathfinder_ps3  -  what it adds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You have already written most of it. Here is what is left.</a:t>
            </a:r>
          </a:p>
        </p:txBody>
      </p:sp>
      <p:graphicFrame>
        <p:nvGraphicFramePr>
          <p:cNvPr id="7" name="Table 6"/>
          <p:cNvGraphicFramePr>
            <a:graphicFrameLocks noGrp="1"/>
          </p:cNvGraphicFramePr>
          <p:nvPr/>
        </p:nvGraphicFramePr>
        <p:xfrm>
          <a:off x="502920" y="1691640"/>
          <a:ext cx="11185854" cy="4418012"/>
        </p:xfrm>
        <a:graphic>
          <a:graphicData uri="http://schemas.openxmlformats.org/drawingml/2006/table">
            <a:tbl>
              <a:tblPr firstRow="1" bandRow="1">
                <a:tableStyleId>{5C22544A-7EE6-4342-B048-85BDC9FD1C3A}</a:tableStyleId>
              </a:tblPr>
              <a:tblGrid>
                <a:gridCol w="5592927"/>
                <a:gridCol w="5592927"/>
              </a:tblGrid>
              <a:tr h="401637">
                <a:tc>
                  <a:txBody>
                    <a:bodyPr/>
                    <a:lstStyle/>
                    <a:p>
                      <a:r>
                        <a:rPr sz="2050" b="1">
                          <a:solidFill>
                            <a:srgbClr val="FFFFFF"/>
                          </a:solidFill>
                          <a:latin typeface="Calibri"/>
                        </a:rPr>
                        <a:t>Feature</a:t>
                      </a:r>
                    </a:p>
                  </a:txBody>
                  <a:tcPr marL="73152" marT="18288" marB="18288">
                    <a:solidFill>
                      <a:srgbClr val="1F3A5F"/>
                    </a:solidFill>
                  </a:tcPr>
                </a:tc>
                <a:tc>
                  <a:txBody>
                    <a:bodyPr/>
                    <a:lstStyle/>
                    <a:p>
                      <a:r>
                        <a:rPr sz="2050" b="1">
                          <a:solidFill>
                            <a:srgbClr val="FFFFFF"/>
                          </a:solidFill>
                          <a:latin typeface="Calibri"/>
                        </a:rPr>
                        <a:t>Where you have seen it</a:t>
                      </a:r>
                    </a:p>
                  </a:txBody>
                  <a:tcPr marL="73152" marT="18288" marB="18288">
                    <a:solidFill>
                      <a:srgbClr val="1F3A5F"/>
                    </a:solidFill>
                  </a:tcPr>
                </a:tc>
              </a:tr>
              <a:tr h="401637">
                <a:tc>
                  <a:txBody>
                    <a:bodyPr/>
                    <a:lstStyle/>
                    <a:p>
                      <a:r>
                        <a:rPr sz="2050">
                          <a:solidFill>
                            <a:srgbClr val="222222"/>
                          </a:solidFill>
                          <a:latin typeface="Calibri"/>
                        </a:rPr>
                        <a:t>Tank drive with mixing</a:t>
                      </a:r>
                    </a:p>
                  </a:txBody>
                  <a:tcPr marL="73152" marT="18288" marB="18288">
                    <a:solidFill>
                      <a:srgbClr val="FFFFFF"/>
                    </a:solidFill>
                  </a:tcPr>
                </a:tc>
                <a:tc>
                  <a:txBody>
                    <a:bodyPr/>
                    <a:lstStyle/>
                    <a:p>
                      <a:r>
                        <a:rPr sz="2050">
                          <a:solidFill>
                            <a:srgbClr val="222222"/>
                          </a:solidFill>
                          <a:latin typeface="Calibri"/>
                        </a:rPr>
                        <a:t>Lesson 3 - l3c_tank_drive</a:t>
                      </a:r>
                    </a:p>
                  </a:txBody>
                  <a:tcPr marL="73152" marT="18288" marB="18288">
                    <a:solidFill>
                      <a:srgbClr val="FFFFFF"/>
                    </a:solidFill>
                  </a:tcPr>
                </a:tc>
              </a:tr>
              <a:tr h="401637">
                <a:tc>
                  <a:txBody>
                    <a:bodyPr/>
                    <a:lstStyle/>
                    <a:p>
                      <a:r>
                        <a:rPr sz="2050">
                          <a:solidFill>
                            <a:srgbClr val="222222"/>
                          </a:solidFill>
                          <a:latin typeface="Calibri"/>
                        </a:rPr>
                        <a:t>Deadzone and map</a:t>
                      </a:r>
                    </a:p>
                  </a:txBody>
                  <a:tcPr marL="73152" marT="18288" marB="18288">
                    <a:solidFill>
                      <a:srgbClr val="EEF3F8"/>
                    </a:solidFill>
                  </a:tcPr>
                </a:tc>
                <a:tc>
                  <a:txBody>
                    <a:bodyPr/>
                    <a:lstStyle/>
                    <a:p>
                      <a:r>
                        <a:rPr sz="2050">
                          <a:solidFill>
                            <a:srgbClr val="222222"/>
                          </a:solidFill>
                          <a:latin typeface="Calibri"/>
                        </a:rPr>
                        <a:t>Lesson 3 - l3b_deadzone_and_map</a:t>
                      </a:r>
                    </a:p>
                  </a:txBody>
                  <a:tcPr marL="73152" marT="18288" marB="18288">
                    <a:solidFill>
                      <a:srgbClr val="EEF3F8"/>
                    </a:solidFill>
                  </a:tcPr>
                </a:tc>
              </a:tr>
              <a:tr h="401637">
                <a:tc>
                  <a:txBody>
                    <a:bodyPr/>
                    <a:lstStyle/>
                    <a:p>
                      <a:r>
                        <a:rPr sz="2050">
                          <a:solidFill>
                            <a:srgbClr val="222222"/>
                          </a:solidFill>
                          <a:latin typeface="Calibri"/>
                        </a:rPr>
                        <a:t>Failsafe on disconnect</a:t>
                      </a:r>
                    </a:p>
                  </a:txBody>
                  <a:tcPr marL="73152" marT="18288" marB="18288">
                    <a:solidFill>
                      <a:srgbClr val="FFFFFF"/>
                    </a:solidFill>
                  </a:tcPr>
                </a:tc>
                <a:tc>
                  <a:txBody>
                    <a:bodyPr/>
                    <a:lstStyle/>
                    <a:p>
                      <a:r>
                        <a:rPr sz="2050">
                          <a:solidFill>
                            <a:srgbClr val="222222"/>
                          </a:solidFill>
                          <a:latin typeface="Calibri"/>
                        </a:rPr>
                        <a:t>Lesson 3 - the top of loop()</a:t>
                      </a:r>
                    </a:p>
                  </a:txBody>
                  <a:tcPr marL="73152" marT="18288" marB="18288">
                    <a:solidFill>
                      <a:srgbClr val="FFFFFF"/>
                    </a:solidFill>
                  </a:tcPr>
                </a:tc>
              </a:tr>
              <a:tr h="401637">
                <a:tc>
                  <a:txBody>
                    <a:bodyPr/>
                    <a:lstStyle/>
                    <a:p>
                      <a:r>
                        <a:rPr sz="2050">
                          <a:solidFill>
                            <a:srgbClr val="222222"/>
                          </a:solidFill>
                          <a:latin typeface="Calibri"/>
                        </a:rPr>
                        <a:t>Headlights, tail, brake, reverse, signals</a:t>
                      </a:r>
                    </a:p>
                  </a:txBody>
                  <a:tcPr marL="73152" marT="18288" marB="18288">
                    <a:solidFill>
                      <a:srgbClr val="EEF3F8"/>
                    </a:solidFill>
                  </a:tcPr>
                </a:tc>
                <a:tc>
                  <a:txBody>
                    <a:bodyPr/>
                    <a:lstStyle/>
                    <a:p>
                      <a:r>
                        <a:rPr sz="2050">
                          <a:solidFill>
                            <a:srgbClr val="222222"/>
                          </a:solidFill>
                          <a:latin typeface="Calibri"/>
                        </a:rPr>
                        <a:t>Lesson 5 - l5c</a:t>
                      </a:r>
                    </a:p>
                  </a:txBody>
                  <a:tcPr marL="73152" marT="18288" marB="18288">
                    <a:solidFill>
                      <a:srgbClr val="EEF3F8"/>
                    </a:solidFill>
                  </a:tcPr>
                </a:tc>
              </a:tr>
              <a:tr h="401637">
                <a:tc>
                  <a:txBody>
                    <a:bodyPr/>
                    <a:lstStyle/>
                    <a:p>
                      <a:r>
                        <a:rPr sz="2050">
                          <a:solidFill>
                            <a:srgbClr val="222222"/>
                          </a:solidFill>
                          <a:latin typeface="Calibri"/>
                        </a:rPr>
                        <a:t>The dirty flag</a:t>
                      </a:r>
                    </a:p>
                  </a:txBody>
                  <a:tcPr marL="73152" marT="18288" marB="18288">
                    <a:solidFill>
                      <a:srgbClr val="FFFFFF"/>
                    </a:solidFill>
                  </a:tcPr>
                </a:tc>
                <a:tc>
                  <a:txBody>
                    <a:bodyPr/>
                    <a:lstStyle/>
                    <a:p>
                      <a:r>
                        <a:rPr sz="2050">
                          <a:solidFill>
                            <a:srgbClr val="222222"/>
                          </a:solidFill>
                          <a:latin typeface="Calibri"/>
                        </a:rPr>
                        <a:t>Lesson 5 - l5c</a:t>
                      </a:r>
                    </a:p>
                  </a:txBody>
                  <a:tcPr marL="73152" marT="18288" marB="18288">
                    <a:solidFill>
                      <a:srgbClr val="FFFFFF"/>
                    </a:solidFill>
                  </a:tcPr>
                </a:tc>
              </a:tr>
              <a:tr h="401637">
                <a:tc>
                  <a:txBody>
                    <a:bodyPr/>
                    <a:lstStyle/>
                    <a:p>
                      <a:r>
                        <a:rPr sz="2050">
                          <a:solidFill>
                            <a:srgbClr val="222222"/>
                          </a:solidFill>
                          <a:latin typeface="Calibri"/>
                        </a:rPr>
                        <a:t>Edge-detected buttons</a:t>
                      </a:r>
                    </a:p>
                  </a:txBody>
                  <a:tcPr marL="73152" marT="18288" marB="18288">
                    <a:solidFill>
                      <a:srgbClr val="EEF3F8"/>
                    </a:solidFill>
                  </a:tcPr>
                </a:tc>
                <a:tc>
                  <a:txBody>
                    <a:bodyPr/>
                    <a:lstStyle/>
                    <a:p>
                      <a:r>
                        <a:rPr sz="2050">
                          <a:solidFill>
                            <a:srgbClr val="222222"/>
                          </a:solidFill>
                          <a:latin typeface="Calibri"/>
                        </a:rPr>
                        <a:t>Lesson 5 - l5b</a:t>
                      </a:r>
                    </a:p>
                  </a:txBody>
                  <a:tcPr marL="73152" marT="18288" marB="18288">
                    <a:solidFill>
                      <a:srgbClr val="EEF3F8"/>
                    </a:solidFill>
                  </a:tcPr>
                </a:tc>
              </a:tr>
              <a:tr h="401637">
                <a:tc>
                  <a:txBody>
                    <a:bodyPr/>
                    <a:lstStyle/>
                    <a:p>
                      <a:r>
                        <a:rPr sz="2050">
                          <a:solidFill>
                            <a:srgbClr val="222222"/>
                          </a:solidFill>
                          <a:latin typeface="Calibri"/>
                        </a:rPr>
                        <a:t>Two servos on the right stick</a:t>
                      </a:r>
                    </a:p>
                  </a:txBody>
                  <a:tcPr marL="73152" marT="18288" marB="18288">
                    <a:solidFill>
                      <a:srgbClr val="FFFFFF"/>
                    </a:solidFill>
                  </a:tcPr>
                </a:tc>
                <a:tc>
                  <a:txBody>
                    <a:bodyPr/>
                    <a:lstStyle/>
                    <a:p>
                      <a:r>
                        <a:rPr sz="2050">
                          <a:solidFill>
                            <a:srgbClr val="222222"/>
                          </a:solidFill>
                          <a:latin typeface="Calibri"/>
                        </a:rPr>
                        <a:t>New today</a:t>
                      </a:r>
                    </a:p>
                  </a:txBody>
                  <a:tcPr marL="73152" marT="18288" marB="18288">
                    <a:solidFill>
                      <a:srgbClr val="FFFFFF"/>
                    </a:solidFill>
                  </a:tcPr>
                </a:tc>
              </a:tr>
              <a:tr h="401637">
                <a:tc>
                  <a:txBody>
                    <a:bodyPr/>
                    <a:lstStyle/>
                    <a:p>
                      <a:r>
                        <a:rPr sz="2050">
                          <a:solidFill>
                            <a:srgbClr val="222222"/>
                          </a:solidFill>
                          <a:latin typeface="Calibri"/>
                        </a:rPr>
                        <a:t>The KITT scanner, non-blocking</a:t>
                      </a:r>
                    </a:p>
                  </a:txBody>
                  <a:tcPr marL="73152" marT="18288" marB="18288">
                    <a:solidFill>
                      <a:srgbClr val="EEF3F8"/>
                    </a:solidFill>
                  </a:tcPr>
                </a:tc>
                <a:tc>
                  <a:txBody>
                    <a:bodyPr/>
                    <a:lstStyle/>
                    <a:p>
                      <a:r>
                        <a:rPr sz="2050">
                          <a:solidFill>
                            <a:srgbClr val="222222"/>
                          </a:solidFill>
                          <a:latin typeface="Calibri"/>
                        </a:rPr>
                        <a:t>Lesson 4 - l4c, made non-blocking</a:t>
                      </a:r>
                    </a:p>
                  </a:txBody>
                  <a:tcPr marL="73152" marT="18288" marB="18288">
                    <a:solidFill>
                      <a:srgbClr val="EEF3F8"/>
                    </a:solidFill>
                  </a:tcPr>
                </a:tc>
              </a:tr>
              <a:tr h="401637">
                <a:tc>
                  <a:txBody>
                    <a:bodyPr/>
                    <a:lstStyle/>
                    <a:p>
                      <a:r>
                        <a:rPr sz="2050">
                          <a:solidFill>
                            <a:srgbClr val="222222"/>
                          </a:solidFill>
                          <a:latin typeface="Calibri"/>
                        </a:rPr>
                        <a:t>Sharp steering toggle</a:t>
                      </a:r>
                    </a:p>
                  </a:txBody>
                  <a:tcPr marL="73152" marT="18288" marB="18288">
                    <a:solidFill>
                      <a:srgbClr val="FFFFFF"/>
                    </a:solidFill>
                  </a:tcPr>
                </a:tc>
                <a:tc>
                  <a:txBody>
                    <a:bodyPr/>
                    <a:lstStyle/>
                    <a:p>
                      <a:r>
                        <a:rPr sz="2050">
                          <a:solidFill>
                            <a:srgbClr val="222222"/>
                          </a:solidFill>
                          <a:latin typeface="Calibri"/>
                        </a:rPr>
                        <a:t>New today</a:t>
                      </a:r>
                    </a:p>
                  </a:txBody>
                  <a:tcPr marL="73152" marT="18288" marB="18288">
                    <a:solidFill>
                      <a:srgbClr val="FFFFFF"/>
                    </a:solidFill>
                  </a:tcPr>
                </a:tc>
              </a:tr>
              <a:tr h="401642">
                <a:tc>
                  <a:txBody>
                    <a:bodyPr/>
                    <a:lstStyle/>
                    <a:p>
                      <a:r>
                        <a:rPr sz="2050">
                          <a:solidFill>
                            <a:srgbClr val="222222"/>
                          </a:solidFill>
                          <a:latin typeface="Calibri"/>
                        </a:rPr>
                        <a:t>A startup light show</a:t>
                      </a:r>
                    </a:p>
                  </a:txBody>
                  <a:tcPr marL="73152" marT="18288" marB="18288">
                    <a:solidFill>
                      <a:srgbClr val="EEF3F8"/>
                    </a:solidFill>
                  </a:tcPr>
                </a:tc>
                <a:tc>
                  <a:txBody>
                    <a:bodyPr/>
                    <a:lstStyle/>
                    <a:p>
                      <a:r>
                        <a:rPr sz="2050">
                          <a:solidFill>
                            <a:srgbClr val="222222"/>
                          </a:solidFill>
                          <a:latin typeface="Calibri"/>
                        </a:rPr>
                        <a:t>New today - it proves every LED works</a:t>
                      </a:r>
                    </a:p>
                  </a:txBody>
                  <a:tcPr marL="73152" marT="18288" marB="18288">
                    <a:solidFill>
                      <a:srgbClr val="EEF3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 servo listens to the LENGTH of a pulse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536192"/>
            <a:ext cx="146304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onsolas"/>
              </a:defRPr>
            </a:pPr>
            <a:r>
              <a:rPr sz="1800" b="1">
                <a:solidFill>
                  <a:srgbClr val="0E7C86"/>
                </a:solidFill>
                <a:latin typeface="Consolas"/>
              </a:rPr>
              <a:t>1.0 ms</a:t>
            </a:r>
          </a:p>
        </p:txBody>
      </p:sp>
      <p:cxnSp>
        <p:nvCxnSpPr>
          <p:cNvPr id="7" name="Connector 6"/>
          <p:cNvCxnSpPr/>
          <p:nvPr/>
        </p:nvCxnSpPr>
        <p:spPr>
          <a:xfrm>
            <a:off x="2057400" y="1975104"/>
            <a:ext cx="7315200"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057400" y="1444752"/>
            <a:ext cx="0" cy="530352"/>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57400" y="1444752"/>
            <a:ext cx="3657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23160" y="1444752"/>
            <a:ext cx="0" cy="530352"/>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60320" y="1499616"/>
            <a:ext cx="411480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one end of the travel</a:t>
            </a:r>
          </a:p>
        </p:txBody>
      </p:sp>
      <p:sp>
        <p:nvSpPr>
          <p:cNvPr id="12" name="TextBox 11"/>
          <p:cNvSpPr txBox="1"/>
          <p:nvPr/>
        </p:nvSpPr>
        <p:spPr>
          <a:xfrm>
            <a:off x="502920" y="2560320"/>
            <a:ext cx="146304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onsolas"/>
              </a:defRPr>
            </a:pPr>
            <a:r>
              <a:rPr sz="1800" b="1">
                <a:solidFill>
                  <a:srgbClr val="1F3A5F"/>
                </a:solidFill>
                <a:latin typeface="Consolas"/>
              </a:rPr>
              <a:t>1.5 ms</a:t>
            </a:r>
          </a:p>
        </p:txBody>
      </p:sp>
      <p:cxnSp>
        <p:nvCxnSpPr>
          <p:cNvPr id="13" name="Connector 12"/>
          <p:cNvCxnSpPr/>
          <p:nvPr/>
        </p:nvCxnSpPr>
        <p:spPr>
          <a:xfrm>
            <a:off x="2057400" y="2999232"/>
            <a:ext cx="7315200"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57400" y="2468880"/>
            <a:ext cx="0" cy="530352"/>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57400" y="2468880"/>
            <a:ext cx="54864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06040" y="2468880"/>
            <a:ext cx="0" cy="530352"/>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0" y="2523744"/>
            <a:ext cx="411480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centered</a:t>
            </a:r>
          </a:p>
        </p:txBody>
      </p:sp>
      <p:sp>
        <p:nvSpPr>
          <p:cNvPr id="18" name="TextBox 17"/>
          <p:cNvSpPr txBox="1"/>
          <p:nvPr/>
        </p:nvSpPr>
        <p:spPr>
          <a:xfrm>
            <a:off x="502920" y="3584448"/>
            <a:ext cx="1463040" cy="367792"/>
          </a:xfrm>
          <a:prstGeom prst="rect">
            <a:avLst/>
          </a:prstGeom>
          <a:noFill/>
        </p:spPr>
        <p:txBody>
          <a:bodyPr wrap="square" lIns="0" tIns="0" rIns="0" bIns="0">
            <a:spAutoFit/>
          </a:bodyPr>
          <a:lstStyle/>
          <a:p>
            <a:pPr algn="l">
              <a:lnSpc>
                <a:spcPct val="100000"/>
              </a:lnSpc>
              <a:spcAft>
                <a:spcPts val="0"/>
              </a:spcAft>
              <a:defRPr sz="1800" b="1">
                <a:solidFill>
                  <a:srgbClr val="B46A0F"/>
                </a:solidFill>
                <a:latin typeface="Consolas"/>
              </a:defRPr>
            </a:pPr>
            <a:r>
              <a:rPr sz="1800" b="1">
                <a:solidFill>
                  <a:srgbClr val="B46A0F"/>
                </a:solidFill>
                <a:latin typeface="Consolas"/>
              </a:rPr>
              <a:t>2.0 ms</a:t>
            </a:r>
          </a:p>
        </p:txBody>
      </p:sp>
      <p:cxnSp>
        <p:nvCxnSpPr>
          <p:cNvPr id="19" name="Connector 18"/>
          <p:cNvCxnSpPr/>
          <p:nvPr/>
        </p:nvCxnSpPr>
        <p:spPr>
          <a:xfrm>
            <a:off x="2057400" y="4023360"/>
            <a:ext cx="7315200"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57400" y="3493008"/>
            <a:ext cx="0" cy="530352"/>
          </a:xfrm>
          <a:prstGeom prst="line">
            <a:avLst/>
          </a:prstGeom>
          <a:ln w="3175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57400" y="3493008"/>
            <a:ext cx="731520" cy="0"/>
          </a:xfrm>
          <a:prstGeom prst="line">
            <a:avLst/>
          </a:prstGeom>
          <a:ln w="3175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88920" y="3493008"/>
            <a:ext cx="0" cy="530352"/>
          </a:xfrm>
          <a:prstGeom prst="line">
            <a:avLst/>
          </a:prstGeom>
          <a:ln w="31750">
            <a:solidFill>
              <a:srgbClr val="B46A0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926080" y="3547872"/>
            <a:ext cx="411480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the other end</a:t>
            </a:r>
          </a:p>
        </p:txBody>
      </p:sp>
      <p:sp>
        <p:nvSpPr>
          <p:cNvPr id="24" name="TextBox 23"/>
          <p:cNvSpPr txBox="1"/>
          <p:nvPr/>
        </p:nvSpPr>
        <p:spPr>
          <a:xfrm>
            <a:off x="2057400" y="4517136"/>
            <a:ext cx="731520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the whole cycle is 20 ms, repeated 50 times a second</a:t>
            </a:r>
          </a:p>
        </p:txBody>
      </p:sp>
      <p:sp>
        <p:nvSpPr>
          <p:cNvPr id="25" name="Rectangle 24"/>
          <p:cNvSpPr/>
          <p:nvPr/>
        </p:nvSpPr>
        <p:spPr>
          <a:xfrm>
            <a:off x="502920" y="5010911"/>
            <a:ext cx="11185855"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The ESP32 counts duty, not microseconds. At 16-bit resolution one 20 ms cycle is 65536 counts:</a:t>
            </a:r>
          </a:p>
          <a:p>
            <a:pPr algn="l">
              <a:lnSpc>
                <a:spcPct val="100000"/>
              </a:lnSpc>
              <a:spcAft>
                <a:spcPts val="0"/>
              </a:spcAft>
              <a:defRPr sz="1400" b="0">
                <a:solidFill>
                  <a:srgbClr val="222222"/>
                </a:solidFill>
                <a:latin typeface="Consolas"/>
              </a:defRPr>
            </a:pPr>
            <a:r>
              <a:rPr sz="1400" b="0">
                <a:solidFill>
                  <a:srgbClr val="222222"/>
                </a:solidFill>
                <a:latin typeface="Consolas"/>
              </a:rPr>
              <a:t>duty = microseconds * 65536 / 20000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the servo outputs are for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6345753" cy="5074920"/>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There are four servo headers on the MAIN CONTROL BOARD, under the top plate, and the full program drives them from the RIGHT stick. What you bolt on goes on the top plate; its leads come down to the board through the cutout.</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Each servo owns one direction of the stick, so one stick aims four independent things and each sits centered when the stick is not pushed its way.</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A pan and tilt mount is the obvious first use: two servos, one for left and right and one for up and down, with a camera or a range finder on top.</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Watch out for which kind you have. A standard servo takes a position, across about 180 degrees. A CONTINUOUS ROTATION servo reads the same pulse as a SPEED and will just keep turning.</a:t>
            </a:r>
          </a:p>
        </p:txBody>
      </p:sp>
      <p:pic>
        <p:nvPicPr>
          <p:cNvPr id="7" name="Picture 6" descr="vehicle-with-pan-tilt.jpg"/>
          <p:cNvPicPr>
            <a:picLocks noChangeAspect="1"/>
          </p:cNvPicPr>
          <p:nvPr/>
        </p:nvPicPr>
        <p:blipFill>
          <a:blip r:embed="rId2"/>
          <a:stretch>
            <a:fillRect/>
          </a:stretch>
        </p:blipFill>
        <p:spPr>
          <a:xfrm>
            <a:off x="7214433" y="1431082"/>
            <a:ext cx="4474342" cy="3355756"/>
          </a:xfrm>
          <a:prstGeom prst="rect">
            <a:avLst/>
          </a:prstGeom>
        </p:spPr>
      </p:pic>
      <p:sp>
        <p:nvSpPr>
          <p:cNvPr id="8" name="TextBox 7"/>
          <p:cNvSpPr txBox="1"/>
          <p:nvPr/>
        </p:nvSpPr>
        <p:spPr>
          <a:xfrm>
            <a:off x="7214433" y="4841702"/>
            <a:ext cx="4474342"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Two servos, driven from opposite sides of the vehicle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last three additions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KITT SCANNER, done properly.</a:t>
            </a:r>
          </a:p>
          <a:p>
            <a:pPr lvl="1" algn="l">
              <a:lnSpc>
                <a:spcPct val="100000"/>
              </a:lnSpc>
              <a:spcAft>
                <a:spcPts val="600"/>
              </a:spcAft>
              <a:defRPr sz="1800" b="0">
                <a:solidFill>
                  <a:srgbClr val="222222"/>
                </a:solidFill>
                <a:latin typeface="Calibri"/>
              </a:defRPr>
            </a:pPr>
            <a:r>
              <a:rPr sz="1800" b="0">
                <a:solidFill>
                  <a:srgbClr val="222222"/>
                </a:solidFill>
                <a:latin typeface="Calibri"/>
              </a:rPr>
              <a:t>Lesson 4 used delay(), so the vehicle froze while it swept. The full program moves the dot every 40 ms off millis(), so you can drive with it running.</a:t>
            </a:r>
          </a:p>
          <a:p>
            <a:pPr lvl="1" algn="l">
              <a:lnSpc>
                <a:spcPct val="100000"/>
              </a:lnSpc>
              <a:spcAft>
                <a:spcPts val="600"/>
              </a:spcAft>
              <a:defRPr sz="1800" b="0">
                <a:solidFill>
                  <a:srgbClr val="222222"/>
                </a:solidFill>
                <a:latin typeface="Calibri"/>
              </a:defRPr>
            </a:pPr>
            <a:r>
              <a:rPr sz="1800" b="0">
                <a:solidFill>
                  <a:srgbClr val="222222"/>
                </a:solidFill>
                <a:latin typeface="Calibri"/>
              </a:rPr>
              <a:t>Toggled with TRIANGLE.</a:t>
            </a:r>
          </a:p>
          <a:p>
            <a:pPr algn="l">
              <a:lnSpc>
                <a:spcPct val="100000"/>
              </a:lnSpc>
              <a:spcAft>
                <a:spcPts val="600"/>
              </a:spcAft>
              <a:defRPr sz="1800" b="0">
                <a:solidFill>
                  <a:srgbClr val="222222"/>
                </a:solidFill>
                <a:latin typeface="Calibri"/>
              </a:defRPr>
            </a:pPr>
            <a:r>
              <a:rPr sz="1800" b="0">
                <a:solidFill>
                  <a:srgbClr val="222222"/>
                </a:solidFill>
                <a:latin typeface="Calibri"/>
              </a:rPr>
              <a:t>SHARP STEERING.</a:t>
            </a:r>
          </a:p>
          <a:p>
            <a:pPr lvl="1" algn="l">
              <a:lnSpc>
                <a:spcPct val="100000"/>
              </a:lnSpc>
              <a:spcAft>
                <a:spcPts val="600"/>
              </a:spcAft>
              <a:defRPr sz="1800" b="0">
                <a:solidFill>
                  <a:srgbClr val="222222"/>
                </a:solidFill>
                <a:latin typeface="Calibri"/>
              </a:defRPr>
            </a:pPr>
            <a:r>
              <a:rPr sz="1800" b="0">
                <a:solidFill>
                  <a:srgbClr val="222222"/>
                </a:solidFill>
                <a:latin typeface="Calibri"/>
              </a:rPr>
              <a:t>turnMax is normally 75% of MOTOR_MAX - 191 of 255 - which makes it easy to aim. L3 (click the left stick in) flips it to full power, for spinning on the spot.</a:t>
            </a:r>
          </a:p>
          <a:p>
            <a:pPr lvl="1" algn="l">
              <a:lnSpc>
                <a:spcPct val="100000"/>
              </a:lnSpc>
              <a:spcAft>
                <a:spcPts val="600"/>
              </a:spcAft>
              <a:defRPr sz="1800" b="0">
                <a:solidFill>
                  <a:srgbClr val="222222"/>
                </a:solidFill>
                <a:latin typeface="Calibri"/>
              </a:defRPr>
            </a:pPr>
            <a:r>
              <a:rPr sz="1800" b="0">
                <a:solidFill>
                  <a:srgbClr val="222222"/>
                </a:solidFill>
                <a:latin typeface="Calibri"/>
              </a:rPr>
              <a:t>The bottom of the range is the same either way, so a gentle turn still breaks the wheels loose.</a:t>
            </a:r>
          </a:p>
          <a:p>
            <a:pPr algn="l">
              <a:lnSpc>
                <a:spcPct val="100000"/>
              </a:lnSpc>
              <a:spcAft>
                <a:spcPts val="600"/>
              </a:spcAft>
              <a:defRPr sz="1800" b="0">
                <a:solidFill>
                  <a:srgbClr val="222222"/>
                </a:solidFill>
                <a:latin typeface="Calibri"/>
              </a:defRPr>
            </a:pPr>
            <a:r>
              <a:rPr sz="1800" b="0">
                <a:solidFill>
                  <a:srgbClr val="222222"/>
                </a:solidFill>
                <a:latin typeface="Calibri"/>
              </a:rPr>
              <a:t>THE STARTUP LIGHT SHOW.</a:t>
            </a:r>
          </a:p>
          <a:p>
            <a:pPr lvl="1" algn="l">
              <a:lnSpc>
                <a:spcPct val="100000"/>
              </a:lnSpc>
              <a:spcAft>
                <a:spcPts val="600"/>
              </a:spcAft>
              <a:defRPr sz="1800" b="0">
                <a:solidFill>
                  <a:srgbClr val="222222"/>
                </a:solidFill>
                <a:latin typeface="Calibri"/>
              </a:defRPr>
            </a:pPr>
            <a:r>
              <a:rPr sz="1800" b="0">
                <a:solidFill>
                  <a:srgbClr val="222222"/>
                </a:solidFill>
                <a:latin typeface="Calibri"/>
              </a:rPr>
              <a:t>One scanner sweep at power-up. delay() is fine THERE, because nothing else needs to happen yet, and it proves every LED works before you drive off.</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Read the top of the file. Every setting you might want to change is in the SETTINGS block, with a comment saying what it does.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Putting it all together  -  read pathfinder_ps3 in six sections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500" b="0">
                <a:solidFill>
                  <a:srgbClr val="222222"/>
                </a:solidFill>
                <a:latin typeface="Calibri"/>
              </a:defRPr>
            </a:pPr>
            <a:r>
              <a:rPr sz="1500" b="0">
                <a:solidFill>
                  <a:srgbClr val="222222"/>
                </a:solidFill>
                <a:latin typeface="Calibri"/>
              </a:rPr>
              <a:t>Six sections, ten minutes, in your groups. Do not start at line one and read to the end - it is the slowest way in.</a:t>
            </a:r>
          </a:p>
        </p:txBody>
      </p:sp>
      <p:graphicFrame>
        <p:nvGraphicFramePr>
          <p:cNvPr id="7" name="Table 6"/>
          <p:cNvGraphicFramePr>
            <a:graphicFrameLocks noGrp="1"/>
          </p:cNvGraphicFramePr>
          <p:nvPr/>
        </p:nvGraphicFramePr>
        <p:xfrm>
          <a:off x="502920" y="1691640"/>
          <a:ext cx="11185853" cy="2835275"/>
        </p:xfrm>
        <a:graphic>
          <a:graphicData uri="http://schemas.openxmlformats.org/drawingml/2006/table">
            <a:tbl>
              <a:tblPr firstRow="1" bandRow="1">
                <a:tableStyleId>{5C22544A-7EE6-4342-B048-85BDC9FD1C3A}</a:tableStyleId>
              </a:tblPr>
              <a:tblGrid>
                <a:gridCol w="1118585"/>
                <a:gridCol w="4576031"/>
                <a:gridCol w="5491237"/>
              </a:tblGrid>
              <a:tr h="405039">
                <a:tc>
                  <a:txBody>
                    <a:bodyPr/>
                    <a:lstStyle/>
                    <a:p>
                      <a:r>
                        <a:rPr sz="1450" b="1">
                          <a:solidFill>
                            <a:srgbClr val="FFFFFF"/>
                          </a:solidFill>
                          <a:latin typeface="Calibri"/>
                        </a:rPr>
                        <a:t>Section</a:t>
                      </a:r>
                    </a:p>
                  </a:txBody>
                  <a:tcPr marL="73152" marT="18288" marB="18288">
                    <a:solidFill>
                      <a:srgbClr val="1F3A5F"/>
                    </a:solidFill>
                  </a:tcPr>
                </a:tc>
                <a:tc>
                  <a:txBody>
                    <a:bodyPr/>
                    <a:lstStyle/>
                    <a:p>
                      <a:r>
                        <a:rPr sz="1450" b="1">
                          <a:solidFill>
                            <a:srgbClr val="FFFFFF"/>
                          </a:solidFill>
                          <a:latin typeface="Calibri"/>
                        </a:rPr>
                        <a:t>What you are reading</a:t>
                      </a:r>
                    </a:p>
                  </a:txBody>
                  <a:tcPr marL="73152" marT="18288" marB="18288">
                    <a:solidFill>
                      <a:srgbClr val="1F3A5F"/>
                    </a:solidFill>
                  </a:tcPr>
                </a:tc>
                <a:tc>
                  <a:txBody>
                    <a:bodyPr/>
                    <a:lstStyle/>
                    <a:p>
                      <a:r>
                        <a:rPr sz="1450" b="1">
                          <a:solidFill>
                            <a:srgbClr val="FFFFFF"/>
                          </a:solidFill>
                          <a:latin typeface="Calibri"/>
                        </a:rPr>
                        <a:t>Ask yourself</a:t>
                      </a:r>
                    </a:p>
                  </a:txBody>
                  <a:tcPr marL="73152" marT="18288" marB="18288">
                    <a:solidFill>
                      <a:srgbClr val="1F3A5F"/>
                    </a:solidFill>
                  </a:tcPr>
                </a:tc>
              </a:tr>
              <a:tr h="405039">
                <a:tc>
                  <a:txBody>
                    <a:bodyPr/>
                    <a:lstStyle/>
                    <a:p>
                      <a:r>
                        <a:rPr sz="1450">
                          <a:solidFill>
                            <a:srgbClr val="222222"/>
                          </a:solidFill>
                          <a:latin typeface="Calibri"/>
                        </a:rPr>
                        <a:t>1</a:t>
                      </a:r>
                    </a:p>
                  </a:txBody>
                  <a:tcPr marL="73152" marT="18288" marB="18288">
                    <a:solidFill>
                      <a:srgbClr val="FFFFFF"/>
                    </a:solidFill>
                  </a:tcPr>
                </a:tc>
                <a:tc>
                  <a:txBody>
                    <a:bodyPr/>
                    <a:lstStyle/>
                    <a:p>
                      <a:r>
                        <a:rPr sz="1450">
                          <a:solidFill>
                            <a:srgbClr val="222222"/>
                          </a:solidFill>
                          <a:latin typeface="Calibri"/>
                        </a:rPr>
                        <a:t>The header comment and the #includes</a:t>
                      </a:r>
                    </a:p>
                  </a:txBody>
                  <a:tcPr marL="73152" marT="18288" marB="18288">
                    <a:solidFill>
                      <a:srgbClr val="FFFFFF"/>
                    </a:solidFill>
                  </a:tcPr>
                </a:tc>
                <a:tc>
                  <a:txBody>
                    <a:bodyPr/>
                    <a:lstStyle/>
                    <a:p>
                      <a:r>
                        <a:rPr sz="1450">
                          <a:solidFill>
                            <a:srgbClr val="222222"/>
                          </a:solidFill>
                          <a:latin typeface="Calibri"/>
                        </a:rPr>
                        <a:t>What does each library bring in, and which lesson met it?</a:t>
                      </a:r>
                    </a:p>
                  </a:txBody>
                  <a:tcPr marL="73152" marT="18288" marB="18288">
                    <a:solidFill>
                      <a:srgbClr val="FFFFFF"/>
                    </a:solidFill>
                  </a:tcPr>
                </a:tc>
              </a:tr>
              <a:tr h="405039">
                <a:tc>
                  <a:txBody>
                    <a:bodyPr/>
                    <a:lstStyle/>
                    <a:p>
                      <a:r>
                        <a:rPr sz="1450">
                          <a:solidFill>
                            <a:srgbClr val="222222"/>
                          </a:solidFill>
                          <a:latin typeface="Calibri"/>
                        </a:rPr>
                        <a:t>2</a:t>
                      </a:r>
                    </a:p>
                  </a:txBody>
                  <a:tcPr marL="73152" marT="18288" marB="18288">
                    <a:solidFill>
                      <a:srgbClr val="EEF3F8"/>
                    </a:solidFill>
                  </a:tcPr>
                </a:tc>
                <a:tc>
                  <a:txBody>
                    <a:bodyPr/>
                    <a:lstStyle/>
                    <a:p>
                      <a:r>
                        <a:rPr sz="1450">
                          <a:solidFill>
                            <a:srgbClr val="222222"/>
                          </a:solidFill>
                          <a:latin typeface="Calibri"/>
                        </a:rPr>
                        <a:t>The SETTINGS block</a:t>
                      </a:r>
                    </a:p>
                  </a:txBody>
                  <a:tcPr marL="73152" marT="18288" marB="18288">
                    <a:solidFill>
                      <a:srgbClr val="EEF3F8"/>
                    </a:solidFill>
                  </a:tcPr>
                </a:tc>
                <a:tc>
                  <a:txBody>
                    <a:bodyPr/>
                    <a:lstStyle/>
                    <a:p>
                      <a:r>
                        <a:rPr sz="1450">
                          <a:solidFill>
                            <a:srgbClr val="222222"/>
                          </a:solidFill>
                          <a:latin typeface="Calibri"/>
                        </a:rPr>
                        <a:t>Which numbers here did you change in an earlier lesson?</a:t>
                      </a:r>
                    </a:p>
                  </a:txBody>
                  <a:tcPr marL="73152" marT="18288" marB="18288">
                    <a:solidFill>
                      <a:srgbClr val="EEF3F8"/>
                    </a:solidFill>
                  </a:tcPr>
                </a:tc>
              </a:tr>
              <a:tr h="405039">
                <a:tc>
                  <a:txBody>
                    <a:bodyPr/>
                    <a:lstStyle/>
                    <a:p>
                      <a:r>
                        <a:rPr sz="1450">
                          <a:solidFill>
                            <a:srgbClr val="222222"/>
                          </a:solidFill>
                          <a:latin typeface="Calibri"/>
                        </a:rPr>
                        <a:t>3</a:t>
                      </a:r>
                    </a:p>
                  </a:txBody>
                  <a:tcPr marL="73152" marT="18288" marB="18288">
                    <a:solidFill>
                      <a:srgbClr val="FFFFFF"/>
                    </a:solidFill>
                  </a:tcPr>
                </a:tc>
                <a:tc>
                  <a:txBody>
                    <a:bodyPr/>
                    <a:lstStyle/>
                    <a:p>
                      <a:r>
                        <a:rPr sz="1450">
                          <a:solidFill>
                            <a:srgbClr val="222222"/>
                          </a:solidFill>
                          <a:latin typeface="Calibri"/>
                        </a:rPr>
                        <a:t>The state variables and the LightPattern enum</a:t>
                      </a:r>
                    </a:p>
                  </a:txBody>
                  <a:tcPr marL="73152" marT="18288" marB="18288">
                    <a:solidFill>
                      <a:srgbClr val="FFFFFF"/>
                    </a:solidFill>
                  </a:tcPr>
                </a:tc>
                <a:tc>
                  <a:txBody>
                    <a:bodyPr/>
                    <a:lstStyle/>
                    <a:p>
                      <a:r>
                        <a:rPr sz="1450">
                          <a:solidFill>
                            <a:srgbClr val="222222"/>
                          </a:solidFill>
                          <a:latin typeface="Calibri"/>
                        </a:rPr>
                        <a:t>Which of these survive between passes of loop(), and why?</a:t>
                      </a:r>
                    </a:p>
                  </a:txBody>
                  <a:tcPr marL="73152" marT="18288" marB="18288">
                    <a:solidFill>
                      <a:srgbClr val="FFFFFF"/>
                    </a:solidFill>
                  </a:tcPr>
                </a:tc>
              </a:tr>
              <a:tr h="405039">
                <a:tc>
                  <a:txBody>
                    <a:bodyPr/>
                    <a:lstStyle/>
                    <a:p>
                      <a:r>
                        <a:rPr sz="1450">
                          <a:solidFill>
                            <a:srgbClr val="222222"/>
                          </a:solidFill>
                          <a:latin typeface="Calibri"/>
                        </a:rPr>
                        <a:t>4</a:t>
                      </a:r>
                    </a:p>
                  </a:txBody>
                  <a:tcPr marL="73152" marT="18288" marB="18288">
                    <a:solidFill>
                      <a:srgbClr val="EEF3F8"/>
                    </a:solidFill>
                  </a:tcPr>
                </a:tc>
                <a:tc>
                  <a:txBody>
                    <a:bodyPr/>
                    <a:lstStyle/>
                    <a:p>
                      <a:r>
                        <a:rPr sz="1450">
                          <a:solidFill>
                            <a:srgbClr val="222222"/>
                          </a:solidFill>
                          <a:latin typeface="Calibri"/>
                        </a:rPr>
                        <a:t>stickToSpeed(), drive() and setMotor()</a:t>
                      </a:r>
                    </a:p>
                  </a:txBody>
                  <a:tcPr marL="73152" marT="18288" marB="18288">
                    <a:solidFill>
                      <a:srgbClr val="EEF3F8"/>
                    </a:solidFill>
                  </a:tcPr>
                </a:tc>
                <a:tc>
                  <a:txBody>
                    <a:bodyPr/>
                    <a:lstStyle/>
                    <a:p>
                      <a:r>
                        <a:rPr sz="1450">
                          <a:solidFill>
                            <a:srgbClr val="222222"/>
                          </a:solidFill>
                          <a:latin typeface="Calibri"/>
                        </a:rPr>
                        <a:t>Where does the deadzone go, and where does map() stretch what is left?</a:t>
                      </a:r>
                    </a:p>
                  </a:txBody>
                  <a:tcPr marL="73152" marT="18288" marB="18288">
                    <a:solidFill>
                      <a:srgbClr val="EEF3F8"/>
                    </a:solidFill>
                  </a:tcPr>
                </a:tc>
              </a:tr>
              <a:tr h="405039">
                <a:tc>
                  <a:txBody>
                    <a:bodyPr/>
                    <a:lstStyle/>
                    <a:p>
                      <a:r>
                        <a:rPr sz="1450">
                          <a:solidFill>
                            <a:srgbClr val="222222"/>
                          </a:solidFill>
                          <a:latin typeface="Calibri"/>
                        </a:rPr>
                        <a:t>5</a:t>
                      </a:r>
                    </a:p>
                  </a:txBody>
                  <a:tcPr marL="73152" marT="18288" marB="18288">
                    <a:solidFill>
                      <a:srgbClr val="FFFFFF"/>
                    </a:solidFill>
                  </a:tcPr>
                </a:tc>
                <a:tc>
                  <a:txBody>
                    <a:bodyPr/>
                    <a:lstStyle/>
                    <a:p>
                      <a:r>
                        <a:rPr sz="1450">
                          <a:solidFill>
                            <a:srgbClr val="222222"/>
                          </a:solidFill>
                          <a:latin typeface="Calibri"/>
                        </a:rPr>
                        <a:t>setup()</a:t>
                      </a:r>
                    </a:p>
                  </a:txBody>
                  <a:tcPr marL="73152" marT="18288" marB="18288">
                    <a:solidFill>
                      <a:srgbClr val="FFFFFF"/>
                    </a:solidFill>
                  </a:tcPr>
                </a:tc>
                <a:tc>
                  <a:txBody>
                    <a:bodyPr/>
                    <a:lstStyle/>
                    <a:p>
                      <a:r>
                        <a:rPr sz="1450">
                          <a:solidFill>
                            <a:srgbClr val="222222"/>
                          </a:solidFill>
                          <a:latin typeface="Calibri"/>
                        </a:rPr>
                        <a:t>Why are the motors set up before the LEDs, and the radio last?</a:t>
                      </a:r>
                    </a:p>
                  </a:txBody>
                  <a:tcPr marL="73152" marT="18288" marB="18288">
                    <a:solidFill>
                      <a:srgbClr val="FFFFFF"/>
                    </a:solidFill>
                  </a:tcPr>
                </a:tc>
              </a:tr>
              <a:tr h="405041">
                <a:tc>
                  <a:txBody>
                    <a:bodyPr/>
                    <a:lstStyle/>
                    <a:p>
                      <a:r>
                        <a:rPr sz="1450">
                          <a:solidFill>
                            <a:srgbClr val="222222"/>
                          </a:solidFill>
                          <a:latin typeface="Calibri"/>
                        </a:rPr>
                        <a:t>6</a:t>
                      </a:r>
                    </a:p>
                  </a:txBody>
                  <a:tcPr marL="73152" marT="18288" marB="18288">
                    <a:solidFill>
                      <a:srgbClr val="EEF3F8"/>
                    </a:solidFill>
                  </a:tcPr>
                </a:tc>
                <a:tc>
                  <a:txBody>
                    <a:bodyPr/>
                    <a:lstStyle/>
                    <a:p>
                      <a:r>
                        <a:rPr sz="1450">
                          <a:solidFill>
                            <a:srgbClr val="222222"/>
                          </a:solidFill>
                          <a:latin typeface="Calibri"/>
                        </a:rPr>
                        <a:t>loop(), top to bottom</a:t>
                      </a:r>
                    </a:p>
                  </a:txBody>
                  <a:tcPr marL="73152" marT="18288" marB="18288">
                    <a:solidFill>
                      <a:srgbClr val="EEF3F8"/>
                    </a:solidFill>
                  </a:tcPr>
                </a:tc>
                <a:tc>
                  <a:txBody>
                    <a:bodyPr/>
                    <a:lstStyle/>
                    <a:p>
                      <a:r>
                        <a:rPr sz="1450">
                          <a:solidFill>
                            <a:srgbClr val="222222"/>
                          </a:solidFill>
                          <a:latin typeface="Calibri"/>
                        </a:rPr>
                        <a:t>Find the failsafe, the button edges, the mixing, and the one place the lights are drawn.</a:t>
                      </a:r>
                    </a:p>
                  </a:txBody>
                  <a:tcPr marL="73152" marT="18288" marB="18288">
                    <a:solidFill>
                      <a:srgbClr val="EEF3F8"/>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This is the same order you would use on any program you did not write: what it depends on, what it can be tuned to do, what it remembers, then how it works.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Six things to be able to explain before you upload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500" b="0">
                <a:solidFill>
                  <a:srgbClr val="666666"/>
                </a:solidFill>
                <a:latin typeface="Calibri"/>
              </a:defRPr>
            </a:pPr>
            <a:r>
              <a:rPr sz="1500" b="0">
                <a:solidFill>
                  <a:srgbClr val="666666"/>
                </a:solidFill>
                <a:latin typeface="Calibri"/>
              </a:rPr>
              <a:t>You have written or read every one of these in an earlier lesson. This is the point where they are all in one file.</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200" b="0">
                <a:solidFill>
                  <a:srgbClr val="222222"/>
                </a:solidFill>
                <a:latin typeface="Calibri"/>
              </a:defRPr>
            </a:pPr>
            <a:r>
              <a:rPr sz="2200" b="0">
                <a:solidFill>
                  <a:srgbClr val="222222"/>
                </a:solidFill>
                <a:latin typeface="Calibri"/>
              </a:rPr>
              <a:t>1.  Why does the program #include a NeoPixel library but not a motor library?</a:t>
            </a:r>
          </a:p>
          <a:p>
            <a:pPr algn="l">
              <a:lnSpc>
                <a:spcPct val="100000"/>
              </a:lnSpc>
              <a:spcAft>
                <a:spcPts val="1100"/>
              </a:spcAft>
              <a:defRPr sz="2200" b="0">
                <a:solidFill>
                  <a:srgbClr val="222222"/>
                </a:solidFill>
                <a:latin typeface="Calibri"/>
              </a:defRPr>
            </a:pPr>
            <a:r>
              <a:rPr sz="2200" b="0">
                <a:solidFill>
                  <a:srgbClr val="222222"/>
                </a:solidFill>
                <a:latin typeface="Calibri"/>
              </a:rPr>
              <a:t>2.  strip(LED_COUNT, LED_PIN, NEO_GRB + NEO_KHZ800) - what is each of those four things telling the library?</a:t>
            </a:r>
          </a:p>
          <a:p>
            <a:pPr algn="l">
              <a:lnSpc>
                <a:spcPct val="100000"/>
              </a:lnSpc>
              <a:spcAft>
                <a:spcPts val="1100"/>
              </a:spcAft>
              <a:defRPr sz="2200" b="0">
                <a:solidFill>
                  <a:srgbClr val="222222"/>
                </a:solidFill>
                <a:latin typeface="Calibri"/>
              </a:defRPr>
            </a:pPr>
            <a:r>
              <a:rPr sz="2200" b="0">
                <a:solidFill>
                  <a:srgbClr val="222222"/>
                </a:solidFill>
                <a:latin typeface="Calibri"/>
              </a:rPr>
              <a:t>3.  What is STICK_DEADZONE for, and what would the vehicle do if it were 0?</a:t>
            </a:r>
          </a:p>
          <a:p>
            <a:pPr algn="l">
              <a:lnSpc>
                <a:spcPct val="100000"/>
              </a:lnSpc>
              <a:spcAft>
                <a:spcPts val="1100"/>
              </a:spcAft>
              <a:defRPr sz="2200" b="0">
                <a:solidFill>
                  <a:srgbClr val="222222"/>
                </a:solidFill>
                <a:latin typeface="Calibri"/>
              </a:defRPr>
            </a:pPr>
            <a:r>
              <a:rPr sz="2200" b="0">
                <a:solidFill>
                  <a:srgbClr val="222222"/>
                </a:solidFill>
                <a:latin typeface="Calibri"/>
              </a:rPr>
              <a:t>4.  enum LightPattern lists five values. Why an enum rather than the numbers 1 to 5?</a:t>
            </a:r>
          </a:p>
          <a:p>
            <a:pPr algn="l">
              <a:lnSpc>
                <a:spcPct val="100000"/>
              </a:lnSpc>
              <a:spcAft>
                <a:spcPts val="1100"/>
              </a:spcAft>
              <a:defRPr sz="2200" b="0">
                <a:solidFill>
                  <a:srgbClr val="222222"/>
                </a:solidFill>
                <a:latin typeface="Calibri"/>
              </a:defRPr>
            </a:pPr>
            <a:r>
              <a:rPr sz="2200" b="0">
                <a:solidFill>
                  <a:srgbClr val="222222"/>
                </a:solidFill>
                <a:latin typeface="Calibri"/>
              </a:rPr>
              <a:t>5.  drive() calls setMotor() four times. Why four, and why do two of them get the same number?</a:t>
            </a:r>
          </a:p>
          <a:p>
            <a:pPr algn="l">
              <a:lnSpc>
                <a:spcPct val="100000"/>
              </a:lnSpc>
              <a:spcAft>
                <a:spcPts val="1100"/>
              </a:spcAft>
              <a:defRPr sz="2200" b="0">
                <a:solidFill>
                  <a:srgbClr val="222222"/>
                </a:solidFill>
                <a:latin typeface="Calibri"/>
              </a:defRPr>
            </a:pPr>
            <a:r>
              <a:rPr sz="2200" b="0">
                <a:solidFill>
                  <a:srgbClr val="222222"/>
                </a:solidFill>
                <a:latin typeface="Calibri"/>
              </a:rPr>
              <a:t>6.  Find the four lines that stop the motors when the controller drops. What happens to the rest of loop() when they run?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the real thing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pathfinder_ps3</a:t>
            </a:r>
            <a:r>
              <a:rPr sz="1200">
                <a:solidFill>
                  <a:srgbClr val="FFFFFF"/>
                </a:solidFill>
                <a:latin typeface="Calibri"/>
              </a:rPr>
              <a:t>     (30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Open pathfinder_ps3.ino.</a:t>
            </a:r>
          </a:p>
          <a:p>
            <a:pPr algn="l">
              <a:lnSpc>
                <a:spcPct val="100000"/>
              </a:lnSpc>
              <a:spcAft>
                <a:spcPts val="400"/>
              </a:spcAft>
              <a:defRPr sz="1800" b="0">
                <a:solidFill>
                  <a:srgbClr val="222222"/>
                </a:solidFill>
                <a:latin typeface="Calibri"/>
              </a:defRPr>
            </a:pPr>
            <a:r>
              <a:rPr sz="1800" b="0">
                <a:solidFill>
                  <a:srgbClr val="222222"/>
                </a:solidFill>
                <a:latin typeface="Calibri"/>
              </a:rPr>
              <a:t>2.  READ IT FIRST. You will recognize almost all of it.</a:t>
            </a:r>
          </a:p>
          <a:p>
            <a:pPr algn="l">
              <a:lnSpc>
                <a:spcPct val="100000"/>
              </a:lnSpc>
              <a:spcAft>
                <a:spcPts val="400"/>
              </a:spcAft>
              <a:defRPr sz="1800" b="0">
                <a:solidFill>
                  <a:srgbClr val="222222"/>
                </a:solidFill>
                <a:latin typeface="Calibri"/>
              </a:defRPr>
            </a:pPr>
            <a:r>
              <a:rPr sz="1800" b="0">
                <a:solidFill>
                  <a:srgbClr val="222222"/>
                </a:solidFill>
                <a:latin typeface="Calibri"/>
              </a:rPr>
              <a:t>3.  Set PS3_MAC_ADDRESS to the number on your controller's sticker.</a:t>
            </a:r>
          </a:p>
          <a:p>
            <a:pPr algn="l">
              <a:lnSpc>
                <a:spcPct val="100000"/>
              </a:lnSpc>
              <a:spcAft>
                <a:spcPts val="400"/>
              </a:spcAft>
              <a:defRPr sz="1800" b="0">
                <a:solidFill>
                  <a:srgbClr val="222222"/>
                </a:solidFill>
                <a:latin typeface="Calibri"/>
              </a:defRPr>
            </a:pPr>
            <a:r>
              <a:rPr sz="1800" b="0">
                <a:solidFill>
                  <a:srgbClr val="222222"/>
                </a:solidFill>
                <a:latin typeface="Calibri"/>
              </a:rPr>
              <a:t>4.  Wheels off the ground. Upload. Check every control.</a:t>
            </a:r>
          </a:p>
          <a:p>
            <a:pPr algn="l">
              <a:lnSpc>
                <a:spcPct val="100000"/>
              </a:lnSpc>
              <a:spcAft>
                <a:spcPts val="400"/>
              </a:spcAft>
              <a:defRPr sz="1800" b="0">
                <a:solidFill>
                  <a:srgbClr val="222222"/>
                </a:solidFill>
                <a:latin typeface="Calibri"/>
              </a:defRPr>
            </a:pPr>
            <a:r>
              <a:rPr sz="1800" b="0">
                <a:solidFill>
                  <a:srgbClr val="222222"/>
                </a:solidFill>
                <a:latin typeface="Calibri"/>
              </a:rPr>
              <a:t>5.  Put it down and drive properly.</a:t>
            </a:r>
          </a:p>
          <a:p>
            <a:pPr algn="l">
              <a:lnSpc>
                <a:spcPct val="100000"/>
              </a:lnSpc>
              <a:spcAft>
                <a:spcPts val="400"/>
              </a:spcAft>
              <a:defRPr sz="1800" b="0">
                <a:solidFill>
                  <a:srgbClr val="222222"/>
                </a:solidFill>
                <a:latin typeface="Calibri"/>
              </a:defRPr>
            </a:pPr>
            <a:r>
              <a:rPr sz="1800" b="0">
                <a:solidFill>
                  <a:srgbClr val="222222"/>
                </a:solidFill>
                <a:latin typeface="Calibri"/>
              </a:rPr>
              <a:t>6.  Find three things in the file you have NOT seen before, and work out what they do.</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47456"/>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 startup sweep, then a green blink while it waits, then full driving with lights, servos and the scanner.</a:t>
            </a:r>
          </a:p>
        </p:txBody>
      </p:sp>
      <p:sp>
        <p:nvSpPr>
          <p:cNvPr id="10" name="TextBox 9"/>
          <p:cNvSpPr txBox="1"/>
          <p:nvPr/>
        </p:nvSpPr>
        <p:spPr>
          <a:xfrm>
            <a:off x="7163537" y="3724896"/>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127232"/>
            <a:ext cx="4525238" cy="1048271"/>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What does the green blink mean?</a:t>
            </a:r>
          </a:p>
          <a:p>
            <a:pPr algn="l">
              <a:lnSpc>
                <a:spcPct val="100000"/>
              </a:lnSpc>
              <a:spcAft>
                <a:spcPts val="300"/>
              </a:spcAft>
              <a:defRPr sz="1900" b="0">
                <a:solidFill>
                  <a:srgbClr val="222222"/>
                </a:solidFill>
                <a:latin typeface="Calibri"/>
              </a:defRPr>
            </a:pPr>
            <a:r>
              <a:rPr sz="1900" b="0">
                <a:solidFill>
                  <a:srgbClr val="222222"/>
                </a:solidFill>
                <a:latin typeface="Calibri"/>
              </a:rPr>
              <a:t>What are the three things you found?</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until every control is checked.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Calibrate, then race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Measure first. Then argue about who is fastest.</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CALIBRATE FIRST.</a:t>
            </a:r>
          </a:p>
          <a:p>
            <a:pPr lvl="1" algn="l">
              <a:lnSpc>
                <a:spcPct val="100000"/>
              </a:lnSpc>
              <a:spcAft>
                <a:spcPts val="900"/>
              </a:spcAft>
              <a:defRPr sz="2000" b="0">
                <a:solidFill>
                  <a:srgbClr val="222222"/>
                </a:solidFill>
                <a:latin typeface="Calibri"/>
              </a:defRPr>
            </a:pPr>
            <a:r>
              <a:rPr sz="2000" b="0">
                <a:solidFill>
                  <a:srgbClr val="222222"/>
                </a:solidFill>
                <a:latin typeface="Calibri"/>
              </a:rPr>
              <a:t>Mark a start and a finish line with tape. Measure the distance.</a:t>
            </a:r>
          </a:p>
          <a:p>
            <a:pPr lvl="1" algn="l">
              <a:lnSpc>
                <a:spcPct val="100000"/>
              </a:lnSpc>
              <a:spcAft>
                <a:spcPts val="900"/>
              </a:spcAft>
              <a:defRPr sz="2000" b="0">
                <a:solidFill>
                  <a:srgbClr val="222222"/>
                </a:solidFill>
                <a:latin typeface="Calibri"/>
              </a:defRPr>
            </a:pPr>
            <a:r>
              <a:rPr sz="2000" b="0">
                <a:solidFill>
                  <a:srgbClr val="222222"/>
                </a:solidFill>
                <a:latin typeface="Calibri"/>
              </a:rPr>
              <a:t>Drive it flat out and time it. Speed = distance / time.</a:t>
            </a:r>
          </a:p>
          <a:p>
            <a:pPr lvl="1" algn="l">
              <a:lnSpc>
                <a:spcPct val="100000"/>
              </a:lnSpc>
              <a:spcAft>
                <a:spcPts val="900"/>
              </a:spcAft>
              <a:defRPr sz="2000" b="0">
                <a:solidFill>
                  <a:srgbClr val="222222"/>
                </a:solidFill>
                <a:latin typeface="Calibri"/>
              </a:defRPr>
            </a:pPr>
            <a:r>
              <a:rPr sz="2000" b="0">
                <a:solidFill>
                  <a:srgbClr val="222222"/>
                </a:solidFill>
                <a:latin typeface="Calibri"/>
              </a:rPr>
              <a:t>Compare with the number you calculated in Lesson 2. Were you right?</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DRAG RACE.</a:t>
            </a:r>
          </a:p>
          <a:p>
            <a:pPr lvl="1" algn="l">
              <a:lnSpc>
                <a:spcPct val="100000"/>
              </a:lnSpc>
              <a:spcAft>
                <a:spcPts val="900"/>
              </a:spcAft>
              <a:defRPr sz="2000" b="0">
                <a:solidFill>
                  <a:srgbClr val="222222"/>
                </a:solidFill>
                <a:latin typeface="Calibri"/>
              </a:defRPr>
            </a:pPr>
            <a:r>
              <a:rPr sz="2000" b="0">
                <a:solidFill>
                  <a:srgbClr val="222222"/>
                </a:solidFill>
                <a:latin typeface="Calibri"/>
              </a:rPr>
              <a:t>Two or three vehicles side by side. First across the line INSIDE the lane wins - leaving the lane does not count.</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DRAG RACE  (cont.)</a:t>
            </a:r>
          </a:p>
          <a:p>
            <a:pPr lvl="1" algn="l">
              <a:lnSpc>
                <a:spcPct val="100000"/>
              </a:lnSpc>
              <a:spcAft>
                <a:spcPts val="900"/>
              </a:spcAft>
              <a:defRPr sz="2000" b="0">
                <a:solidFill>
                  <a:srgbClr val="222222"/>
                </a:solidFill>
                <a:latin typeface="Calibri"/>
              </a:defRPr>
            </a:pPr>
            <a:r>
              <a:rPr sz="2000" b="0">
                <a:solidFill>
                  <a:srgbClr val="222222"/>
                </a:solidFill>
                <a:latin typeface="Calibri"/>
              </a:rPr>
              <a:t>Straight-line speed is not the whole problem. Keeping it straight is, because only one command runs at a time.</a:t>
            </a:r>
          </a:p>
          <a:p>
            <a:pPr lvl="1" algn="l">
              <a:lnSpc>
                <a:spcPct val="100000"/>
              </a:lnSpc>
              <a:spcAft>
                <a:spcPts val="900"/>
              </a:spcAft>
              <a:defRPr sz="2000" b="0">
                <a:solidFill>
                  <a:srgbClr val="222222"/>
                </a:solidFill>
                <a:latin typeface="Calibri"/>
              </a:defRPr>
            </a:pPr>
            <a:r>
              <a:rPr sz="2000" b="0">
                <a:solidFill>
                  <a:srgbClr val="222222"/>
                </a:solidFill>
                <a:latin typeface="Calibri"/>
              </a:rPr>
              <a:t>You can only brake by reversing. Half power for a short time is usually right.</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COURSE RACE.</a:t>
            </a:r>
          </a:p>
          <a:p>
            <a:pPr lvl="1" algn="l">
              <a:lnSpc>
                <a:spcPct val="100000"/>
              </a:lnSpc>
              <a:spcAft>
                <a:spcPts val="900"/>
              </a:spcAft>
              <a:defRPr sz="2000" b="0">
                <a:solidFill>
                  <a:srgbClr val="222222"/>
                </a:solidFill>
                <a:latin typeface="Calibri"/>
              </a:defRPr>
            </a:pPr>
            <a:r>
              <a:rPr sz="2000" b="0">
                <a:solidFill>
                  <a:srgbClr val="222222"/>
                </a:solidFill>
                <a:latin typeface="Calibri"/>
              </a:rPr>
              <a:t>Tape out a course with corners. Now sharp steering earns its keep.</a:t>
            </a:r>
          </a:p>
          <a:p>
            <a:pPr lvl="1" algn="l">
              <a:lnSpc>
                <a:spcPct val="100000"/>
              </a:lnSpc>
              <a:spcAft>
                <a:spcPts val="900"/>
              </a:spcAft>
              <a:defRPr sz="2000" b="0">
                <a:solidFill>
                  <a:srgbClr val="222222"/>
                </a:solidFill>
                <a:latin typeface="Calibri"/>
              </a:defRPr>
            </a:pPr>
            <a:r>
              <a:rPr sz="2000" b="0">
                <a:solidFill>
                  <a:srgbClr val="222222"/>
                </a:solidFill>
                <a:latin typeface="Calibri"/>
              </a:rPr>
              <a:t>Fastest clean lap. Touching a cone costs you two seconds.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Take it further  -  projects that fit on this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TextBox 5"/>
          <p:cNvSpPr txBox="1"/>
          <p:nvPr/>
        </p:nvSpPr>
        <p:spPr>
          <a:xfrm>
            <a:off x="502920" y="1188720"/>
            <a:ext cx="11185855" cy="3881628"/>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Each is a real addition to the program you now understand. Pick one and build it.</a:t>
            </a:r>
          </a:p>
          <a:p>
            <a:pPr algn="l">
              <a:lnSpc>
                <a:spcPct val="100000"/>
              </a:lnSpc>
              <a:spcAft>
                <a:spcPts val="600"/>
              </a:spcAft>
              <a:defRPr sz="1900" b="0">
                <a:solidFill>
                  <a:srgbClr val="222222"/>
                </a:solidFill>
                <a:latin typeface="Calibri"/>
              </a:defRPr>
            </a:pPr>
            <a:r>
              <a:rPr sz="1900" b="0">
                <a:solidFill>
                  <a:srgbClr val="222222"/>
                </a:solidFill>
                <a:latin typeface="Calibri"/>
              </a:rPr>
              <a:t>LOW BATTERY WARNING.  Flash yellow below 12 volts and red below 10. A 4S pack should never be run flat, and the vehicle notices sooner than you do.</a:t>
            </a:r>
          </a:p>
          <a:p>
            <a:pPr algn="l">
              <a:lnSpc>
                <a:spcPct val="100000"/>
              </a:lnSpc>
              <a:spcAft>
                <a:spcPts val="600"/>
              </a:spcAft>
              <a:defRPr sz="1900" b="0">
                <a:solidFill>
                  <a:srgbClr val="222222"/>
                </a:solidFill>
                <a:latin typeface="Calibri"/>
              </a:defRPr>
            </a:pPr>
            <a:r>
              <a:rPr sz="1900" b="0">
                <a:solidFill>
                  <a:srgbClr val="222222"/>
                </a:solidFill>
                <a:latin typeface="Calibri"/>
              </a:rPr>
              <a:t>COLLISION WARNING.  An ultrasonic range finder on the top plate. Closer than 20 inches: stop, flash red, wait three seconds, carry on.</a:t>
            </a:r>
          </a:p>
          <a:p>
            <a:pPr algn="l">
              <a:lnSpc>
                <a:spcPct val="100000"/>
              </a:lnSpc>
              <a:spcAft>
                <a:spcPts val="600"/>
              </a:spcAft>
              <a:defRPr sz="1900" b="0">
                <a:solidFill>
                  <a:srgbClr val="222222"/>
                </a:solidFill>
                <a:latin typeface="Calibri"/>
              </a:defRPr>
            </a:pPr>
            <a:r>
              <a:rPr sz="1900" b="0">
                <a:solidFill>
                  <a:srgbClr val="222222"/>
                </a:solidFill>
                <a:latin typeface="Calibri"/>
              </a:rPr>
              <a:t>AUTOMATIC LIGHTS.  Reversing beeps, hazard lights, or headlights that come on only when the vehicle is moving.</a:t>
            </a:r>
          </a:p>
          <a:p>
            <a:pPr algn="l">
              <a:lnSpc>
                <a:spcPct val="100000"/>
              </a:lnSpc>
              <a:spcAft>
                <a:spcPts val="600"/>
              </a:spcAft>
              <a:defRPr sz="1900" b="0">
                <a:solidFill>
                  <a:srgbClr val="222222"/>
                </a:solidFill>
                <a:latin typeface="Calibri"/>
              </a:defRPr>
            </a:pPr>
            <a:r>
              <a:rPr sz="1900" b="0">
                <a:solidFill>
                  <a:srgbClr val="222222"/>
                </a:solidFill>
                <a:latin typeface="Calibri"/>
              </a:rPr>
              <a:t>WAYPOINT NAVIGATION.  Give the program a LIST of moves - distance and heading - instead of one hard-coded square.</a:t>
            </a:r>
          </a:p>
          <a:p>
            <a:pPr algn="l">
              <a:lnSpc>
                <a:spcPct val="100000"/>
              </a:lnSpc>
              <a:spcAft>
                <a:spcPts val="600"/>
              </a:spcAft>
              <a:defRPr sz="1900" b="0">
                <a:solidFill>
                  <a:srgbClr val="222222"/>
                </a:solidFill>
                <a:latin typeface="Calibri"/>
              </a:defRPr>
            </a:pPr>
            <a:r>
              <a:rPr sz="1900" b="0">
                <a:solidFill>
                  <a:srgbClr val="222222"/>
                </a:solidFill>
                <a:latin typeface="Calibri"/>
              </a:rPr>
              <a:t>SERVO PAN AND TILT.  Two servos and a bracket, aimed with the right stick. The headers are already on the board.</a:t>
            </a:r>
          </a:p>
        </p:txBody>
      </p:sp>
      <p:sp>
        <p:nvSpPr>
          <p:cNvPr id="7" name="Rounded Rectangle 6"/>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All five are within reach of what you learned in five lessons. Two of them need nothing bought at all: the list of moves needs no new parts, and the servo headers are already on the board.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of those, already built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Both of these are the same vehicle you have been driving, with something bolted to the top plate and a few hundred lines added to the program.</a:t>
            </a:r>
          </a:p>
        </p:txBody>
      </p:sp>
      <p:pic>
        <p:nvPicPr>
          <p:cNvPr id="7" name="Picture 6" descr="vehicle-with-arm.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robot-arm-6dof.jpg"/>
          <p:cNvPicPr>
            <a:picLocks noChangeAspect="1"/>
          </p:cNvPicPr>
          <p:nvPr/>
        </p:nvPicPr>
        <p:blipFill>
          <a:blip r:embed="rId3"/>
          <a:stretch>
            <a:fillRect/>
          </a:stretch>
        </p:blipFill>
        <p:spPr>
          <a:xfrm>
            <a:off x="7156650" y="1810512"/>
            <a:ext cx="3654201" cy="3675887"/>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A gripper arm on the top plate, driven from the servo headers on the board below it</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The same idea taken further: six joints, six servos, one program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this goes next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sp>
        <p:nvSpPr>
          <p:cNvPr id="6" name="TextBox 5"/>
          <p:cNvSpPr txBox="1"/>
          <p:nvPr/>
        </p:nvSpPr>
        <p:spPr>
          <a:xfrm>
            <a:off x="502920" y="1188720"/>
            <a:ext cx="509296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Straight on from here</a:t>
            </a:r>
          </a:p>
        </p:txBody>
      </p:sp>
      <p:sp>
        <p:nvSpPr>
          <p:cNvPr id="7" name="TextBox 6"/>
          <p:cNvSpPr txBox="1"/>
          <p:nvPr/>
        </p:nvSpPr>
        <p:spPr>
          <a:xfrm>
            <a:off x="502920" y="1700784"/>
            <a:ext cx="5092963"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SENSORS - a range finder that stops the vehicle before it hits something, line followers, light and temperature. Once it can sense the world, dead reckoning stops being the only way it knows where it is.</a:t>
            </a:r>
          </a:p>
          <a:p>
            <a:pPr algn="l">
              <a:lnSpc>
                <a:spcPct val="100000"/>
              </a:lnSpc>
              <a:spcAft>
                <a:spcPts val="800"/>
              </a:spcAft>
              <a:defRPr sz="1800" b="0">
                <a:solidFill>
                  <a:srgbClr val="222222"/>
                </a:solidFill>
                <a:latin typeface="Calibri"/>
              </a:defRPr>
            </a:pPr>
            <a:r>
              <a:rPr sz="1800" b="0">
                <a:solidFill>
                  <a:srgbClr val="222222"/>
                </a:solidFill>
                <a:latin typeface="Calibri"/>
              </a:rPr>
              <a:t>VEHICLE TO VEHICLE - ESP-NOW lets ESP32s talk directly to each other, with no router in between.</a:t>
            </a:r>
          </a:p>
          <a:p>
            <a:pPr algn="l">
              <a:lnSpc>
                <a:spcPct val="100000"/>
              </a:lnSpc>
              <a:spcAft>
                <a:spcPts val="800"/>
              </a:spcAft>
              <a:defRPr sz="1800" b="0">
                <a:solidFill>
                  <a:srgbClr val="222222"/>
                </a:solidFill>
                <a:latin typeface="Calibri"/>
              </a:defRPr>
            </a:pPr>
            <a:r>
              <a:rPr sz="1800" b="0">
                <a:solidFill>
                  <a:srgbClr val="222222"/>
                </a:solidFill>
                <a:latin typeface="Calibri"/>
              </a:rPr>
              <a:t>CAMERAS AND AI - object recognition, and a 6-DOF arm that picks things up.</a:t>
            </a:r>
          </a:p>
        </p:txBody>
      </p:sp>
      <p:sp>
        <p:nvSpPr>
          <p:cNvPr id="8" name="TextBox 7"/>
          <p:cNvSpPr txBox="1"/>
          <p:nvPr/>
        </p:nvSpPr>
        <p:spPr>
          <a:xfrm>
            <a:off x="6053083" y="1188720"/>
            <a:ext cx="563569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advanced program</a:t>
            </a:r>
          </a:p>
        </p:txBody>
      </p:sp>
      <p:sp>
        <p:nvSpPr>
          <p:cNvPr id="9" name="TextBox 8"/>
          <p:cNvSpPr txBox="1"/>
          <p:nvPr/>
        </p:nvSpPr>
        <p:spPr>
          <a:xfrm>
            <a:off x="6053083" y="1700784"/>
            <a:ext cx="5635692"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Pathfinder_Op_Program12 is the same vehicle with:</a:t>
            </a:r>
          </a:p>
          <a:p>
            <a:pPr lvl="1" algn="l">
              <a:lnSpc>
                <a:spcPct val="100000"/>
              </a:lnSpc>
              <a:spcAft>
                <a:spcPts val="800"/>
              </a:spcAft>
              <a:defRPr sz="1800" b="0">
                <a:solidFill>
                  <a:srgbClr val="222222"/>
                </a:solidFill>
                <a:latin typeface="Calibri"/>
              </a:defRPr>
            </a:pPr>
            <a:r>
              <a:rPr sz="1800" b="0">
                <a:solidFill>
                  <a:srgbClr val="222222"/>
                </a:solidFill>
                <a:latin typeface="Calibri"/>
              </a:rPr>
              <a:t>eight files, split by subsystem</a:t>
            </a:r>
          </a:p>
          <a:p>
            <a:pPr lvl="1" algn="l">
              <a:lnSpc>
                <a:spcPct val="100000"/>
              </a:lnSpc>
              <a:spcAft>
                <a:spcPts val="800"/>
              </a:spcAft>
              <a:defRPr sz="1800" b="0">
                <a:solidFill>
                  <a:srgbClr val="222222"/>
                </a:solidFill>
                <a:latin typeface="Calibri"/>
              </a:defRPr>
            </a:pPr>
            <a:r>
              <a:rPr sz="1800" b="0">
                <a:solidFill>
                  <a:srgbClr val="222222"/>
                </a:solidFill>
                <a:latin typeface="Calibri"/>
              </a:rPr>
              <a:t>10-bit PWM and hybrid drive at low speed</a:t>
            </a:r>
          </a:p>
          <a:p>
            <a:pPr lvl="1" algn="l">
              <a:lnSpc>
                <a:spcPct val="100000"/>
              </a:lnSpc>
              <a:spcAft>
                <a:spcPts val="800"/>
              </a:spcAft>
              <a:defRPr sz="1800" b="0">
                <a:solidFill>
                  <a:srgbClr val="222222"/>
                </a:solidFill>
                <a:latin typeface="Calibri"/>
              </a:defRPr>
            </a:pPr>
            <a:r>
              <a:rPr sz="1800" b="0">
                <a:solidFill>
                  <a:srgbClr val="222222"/>
                </a:solidFill>
                <a:latin typeface="Calibri"/>
              </a:rPr>
              <a:t>speed ramping, so it does not lurch</a:t>
            </a:r>
          </a:p>
          <a:p>
            <a:pPr lvl="1" algn="l">
              <a:lnSpc>
                <a:spcPct val="100000"/>
              </a:lnSpc>
              <a:spcAft>
                <a:spcPts val="800"/>
              </a:spcAft>
              <a:defRPr sz="1800" b="0">
                <a:solidFill>
                  <a:srgbClr val="222222"/>
                </a:solidFill>
                <a:latin typeface="Calibri"/>
              </a:defRPr>
            </a:pPr>
            <a:r>
              <a:rPr sz="1800" b="0">
                <a:solidFill>
                  <a:srgbClr val="222222"/>
                </a:solidFill>
                <a:latin typeface="Calibri"/>
              </a:rPr>
              <a:t>a serial console for tuning without recompiling</a:t>
            </a:r>
          </a:p>
          <a:p>
            <a:pPr lvl="1" algn="l">
              <a:lnSpc>
                <a:spcPct val="100000"/>
              </a:lnSpc>
              <a:spcAft>
                <a:spcPts val="800"/>
              </a:spcAft>
              <a:defRPr sz="1800" b="0">
                <a:solidFill>
                  <a:srgbClr val="222222"/>
                </a:solidFill>
                <a:latin typeface="Calibri"/>
              </a:defRPr>
            </a:pPr>
            <a:r>
              <a:rPr sz="1800" b="0">
                <a:solidFill>
                  <a:srgbClr val="222222"/>
                </a:solidFill>
                <a:latin typeface="Calibri"/>
              </a:rPr>
              <a:t>settings saved to EEPROM</a:t>
            </a:r>
          </a:p>
          <a:p>
            <a:pPr lvl="1" algn="l">
              <a:lnSpc>
                <a:spcPct val="100000"/>
              </a:lnSpc>
              <a:spcAft>
                <a:spcPts val="800"/>
              </a:spcAft>
              <a:defRPr sz="1800" b="0">
                <a:solidFill>
                  <a:srgbClr val="222222"/>
                </a:solidFill>
                <a:latin typeface="Calibri"/>
              </a:defRPr>
            </a:pPr>
            <a:r>
              <a:rPr sz="1800" b="0">
                <a:solidFill>
                  <a:srgbClr val="222222"/>
                </a:solidFill>
                <a:latin typeface="Calibri"/>
              </a:rPr>
              <a:t>a current sensor and a powered self-test</a:t>
            </a:r>
          </a:p>
          <a:p>
            <a:pPr algn="l">
              <a:lnSpc>
                <a:spcPct val="100000"/>
              </a:lnSpc>
              <a:spcAft>
                <a:spcPts val="800"/>
              </a:spcAft>
              <a:defRPr sz="1800" b="0">
                <a:solidFill>
                  <a:srgbClr val="222222"/>
                </a:solidFill>
                <a:latin typeface="Calibri"/>
              </a:defRPr>
            </a:pPr>
            <a:r>
              <a:rPr sz="1800" b="0">
                <a:solidFill>
                  <a:srgbClr val="222222"/>
                </a:solidFill>
                <a:latin typeface="Calibri"/>
              </a:rPr>
              <a:t>A five-lesson course of its own.</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Everything you learned this term transfers directly. The advanced course starts by taking this program apart.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this is worth your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Robotics and STEM, and where they lead</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At Oceanology International Americas in San Diego, we asked a panel what the transition opportunities are:</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Dr Rick Spinrad, NOAA Administrator, said a knowledge of robotics and STEM is a competitive advantage for entry-level positions.</a:t>
            </a:r>
          </a:p>
          <a:p>
            <a:pPr algn="l">
              <a:lnSpc>
                <a:spcPct val="100000"/>
              </a:lnSpc>
              <a:spcAft>
                <a:spcPts val="900"/>
              </a:spcAft>
              <a:defRPr sz="2000" b="0">
                <a:solidFill>
                  <a:srgbClr val="222222"/>
                </a:solidFill>
                <a:latin typeface="Calibri"/>
              </a:defRPr>
            </a:pPr>
            <a:r>
              <a:rPr sz="2000" b="0">
                <a:solidFill>
                  <a:srgbClr val="222222"/>
                </a:solidFill>
                <a:latin typeface="Calibri"/>
              </a:rPr>
              <a:t>Rear Admiral Ron Piret, USN, said they are looking for students with robotics and STEM education for operational careers.</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Kendra MacDonald, CEO of Canada's Ocean Supercluster, said that whether you become a doctor, a lawyer or a scientist, STEM will help you.</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What you have actually practiced this term: reading somebody else's code, changing one thing at a time, measuring instead of guessing, and working out whether a fault is mechanical, electrical or software.</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Those four habits are the job. The vehicle was just the excuse.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31</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Thank you. Go and break something interesting.</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100" b="0">
                <a:solidFill>
                  <a:srgbClr val="222222"/>
                </a:solidFill>
                <a:latin typeface="Calibri"/>
              </a:defRPr>
            </a:pPr>
            <a:r>
              <a:rPr sz="2100" b="0">
                <a:solidFill>
                  <a:srgbClr val="222222"/>
                </a:solidFill>
                <a:latin typeface="Calibri"/>
              </a:rPr>
              <a:t>1.  Why can a program not use delay() if it has to do two things at different rates?</a:t>
            </a:r>
          </a:p>
          <a:p>
            <a:pPr algn="l">
              <a:lnSpc>
                <a:spcPct val="100000"/>
              </a:lnSpc>
              <a:spcAft>
                <a:spcPts val="1100"/>
              </a:spcAft>
              <a:defRPr sz="2100" b="0">
                <a:solidFill>
                  <a:srgbClr val="222222"/>
                </a:solidFill>
                <a:latin typeface="Calibri"/>
              </a:defRPr>
            </a:pPr>
            <a:r>
              <a:rPr sz="2100" b="0">
                <a:solidFill>
                  <a:srgbClr val="222222"/>
                </a:solidFill>
                <a:latin typeface="Calibri"/>
              </a:rPr>
              <a:t>2.  Write the four-line millis() pattern from memory.</a:t>
            </a:r>
          </a:p>
          <a:p>
            <a:pPr algn="l">
              <a:lnSpc>
                <a:spcPct val="100000"/>
              </a:lnSpc>
              <a:spcAft>
                <a:spcPts val="1100"/>
              </a:spcAft>
              <a:defRPr sz="2100" b="0">
                <a:solidFill>
                  <a:srgbClr val="222222"/>
                </a:solidFill>
                <a:latin typeface="Calibri"/>
              </a:defRPr>
            </a:pPr>
            <a:r>
              <a:rPr sz="2100" b="0">
                <a:solidFill>
                  <a:srgbClr val="222222"/>
                </a:solidFill>
                <a:latin typeface="Calibri"/>
              </a:rPr>
              <a:t>3.  Why does unsigned long matter for millis()?</a:t>
            </a:r>
          </a:p>
          <a:p>
            <a:pPr algn="l">
              <a:lnSpc>
                <a:spcPct val="100000"/>
              </a:lnSpc>
              <a:spcAft>
                <a:spcPts val="1100"/>
              </a:spcAft>
              <a:defRPr sz="2100" b="0">
                <a:solidFill>
                  <a:srgbClr val="222222"/>
                </a:solidFill>
                <a:latin typeface="Calibri"/>
              </a:defRPr>
            </a:pPr>
            <a:r>
              <a:rPr sz="2100" b="0">
                <a:solidFill>
                  <a:srgbClr val="222222"/>
                </a:solidFill>
                <a:latin typeface="Calibri"/>
              </a:rPr>
              <a:t>4.  What is edge detection, and what goes wrong without it?</a:t>
            </a:r>
          </a:p>
          <a:p>
            <a:pPr algn="l">
              <a:lnSpc>
                <a:spcPct val="100000"/>
              </a:lnSpc>
              <a:spcAft>
                <a:spcPts val="1100"/>
              </a:spcAft>
              <a:defRPr sz="2100" b="0">
                <a:solidFill>
                  <a:srgbClr val="222222"/>
                </a:solidFill>
                <a:latin typeface="Calibri"/>
              </a:defRPr>
            </a:pPr>
            <a:r>
              <a:rPr sz="2100" b="0">
                <a:solidFill>
                  <a:srgbClr val="222222"/>
                </a:solidFill>
                <a:latin typeface="Calibri"/>
              </a:rPr>
              <a:t>5.  What is a dirty flag, and what does it save?</a:t>
            </a:r>
          </a:p>
          <a:p>
            <a:pPr algn="l">
              <a:lnSpc>
                <a:spcPct val="100000"/>
              </a:lnSpc>
              <a:spcAft>
                <a:spcPts val="1100"/>
              </a:spcAft>
              <a:defRPr sz="2100" b="0">
                <a:solidFill>
                  <a:srgbClr val="222222"/>
                </a:solidFill>
                <a:latin typeface="Calibri"/>
              </a:defRPr>
            </a:pPr>
            <a:r>
              <a:rPr sz="2100" b="0">
                <a:solidFill>
                  <a:srgbClr val="222222"/>
                </a:solidFill>
                <a:latin typeface="Calibri"/>
              </a:rPr>
              <a:t>6.  A servo is centered by a pulse of what length? How often is it sent?</a:t>
            </a:r>
          </a:p>
          <a:p>
            <a:pPr algn="l">
              <a:lnSpc>
                <a:spcPct val="100000"/>
              </a:lnSpc>
              <a:spcAft>
                <a:spcPts val="1100"/>
              </a:spcAft>
              <a:defRPr sz="2100" b="0">
                <a:solidFill>
                  <a:srgbClr val="222222"/>
                </a:solidFill>
                <a:latin typeface="Calibri"/>
              </a:defRPr>
            </a:pPr>
            <a:r>
              <a:rPr sz="2100" b="0">
                <a:solidFill>
                  <a:srgbClr val="222222"/>
                </a:solidFill>
                <a:latin typeface="Calibri"/>
              </a:rPr>
              <a:t>7.  Name three things the full program does that l5c does not.</a:t>
            </a:r>
          </a:p>
          <a:p>
            <a:pPr algn="l">
              <a:lnSpc>
                <a:spcPct val="100000"/>
              </a:lnSpc>
              <a:spcAft>
                <a:spcPts val="1100"/>
              </a:spcAft>
              <a:defRPr sz="2100" b="0">
                <a:solidFill>
                  <a:srgbClr val="222222"/>
                </a:solidFill>
                <a:latin typeface="Calibri"/>
              </a:defRPr>
            </a:pPr>
            <a:r>
              <a:rPr sz="2100" b="0">
                <a:solidFill>
                  <a:srgbClr val="222222"/>
                </a:solidFill>
                <a:latin typeface="Calibri"/>
              </a:rPr>
              <a:t>8.  Your vehicle drifts left on the drag strip. Give one mechanical cause and one software fix.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