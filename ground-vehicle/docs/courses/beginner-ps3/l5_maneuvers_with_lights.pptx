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Maneuvers with 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Non-blocking timing, edge detection, and the full pathfinder_ps3 program.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Bring a charged battery.</a:t>
            </a:r>
          </a:p>
        </p:txBody>
      </p:sp>
      <p:pic>
        <p:nvPicPr>
          <p:cNvPr id="8" name="Picture 7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Everything so 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1  -  the toolchain, the three parts of a program, digital output, the Serial Monitor.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2  -  H-bridges, PWM and duty cycle, tank drive, dead reckoning, and the maths that predicts where the vehicle ends up.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3  -  Bluetooth, one vehicle per controller, deadzones, map(), mixing, and the failsafe.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4  -  addressable LEDs, colour and perception, the power budget, the LED map, and four patterns.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Today: two more ideas, and then all of it at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today you will be driving the same program that leaves the factory on a finished vehicle.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98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Recap. Why delay() has to go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l5a_millis_not_delay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Edge detection. Upload l5b_button_toggle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Driving lights from driving state. Upload l5c_drive_with_lights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tour of pathfinder_ps3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Servos, the scanner, and sharp steering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Calibrate, then race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Where this course goes next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It does not wait. It stops.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delay(1000) does not mean "come back in a second". It means "stand here and do absolutely nothing for a second".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While the ESP32 is inside a delay() it is not reading the controller, not checking anything, and not updating any other light. Everything stops.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In Lesson 2 that was fine, because blinking was all we wanted. But now we need a turn signal every 300 ms, a scanner every 40 ms, and the motors updated as fast as possible - and you cannot write those three numbers as delays without them fighting.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old System Test program did exactly this. Press a button and the vehicle froze for two seconds while the light pattern played, still holding whatever motor command was last set. That is why it was replaced.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single biggest difference between a program that works on the bench and one that works on a vehicle.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the vehicle programs never call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8191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300" b="1">
                <a:solidFill>
                  <a:srgbClr val="A32A2A"/>
                </a:solidFill>
                <a:latin typeface="Calibri"/>
              </a:defRPr>
            </a:pPr>
            <a:r>
              <a:rPr sz="1300" b="1">
                <a:solidFill>
                  <a:srgbClr val="A32A2A"/>
                </a:solidFill>
                <a:latin typeface="Calibri"/>
              </a:rPr>
              <a:t>with delay()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300" b="1">
                <a:solidFill>
                  <a:srgbClr val="A32A2A"/>
                </a:solidFill>
                <a:latin typeface="Calibri"/>
              </a:defRPr>
            </a:pPr>
            <a:r>
              <a:rPr sz="1300" b="1">
                <a:solidFill>
                  <a:srgbClr val="A32A2A"/>
                </a:solidFill>
                <a:latin typeface="Calibri"/>
              </a:rPr>
              <a:t>one job only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4263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167128"/>
            <a:ext cx="8503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A32A2A"/>
                </a:solidFill>
                <a:latin typeface="Calibri"/>
              </a:defRPr>
            </a:pPr>
            <a:r>
              <a:rPr sz="1100" b="0">
                <a:solidFill>
                  <a:srgbClr val="A32A2A"/>
                </a:solidFill>
                <a:latin typeface="Calibri"/>
              </a:rPr>
              <a:t>while it is frozen it is not reading the controller, not checking the battery, and not updating any other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3639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300" b="1">
                <a:solidFill>
                  <a:srgbClr val="0E7C86"/>
                </a:solidFill>
                <a:latin typeface="Calibri"/>
              </a:defRPr>
            </a:pPr>
            <a:r>
              <a:rPr sz="1300" b="1">
                <a:solidFill>
                  <a:srgbClr val="0E7C86"/>
                </a:solidFill>
                <a:latin typeface="Calibri"/>
              </a:rPr>
              <a:t>with millis()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300" b="1">
                <a:solidFill>
                  <a:srgbClr val="0E7C86"/>
                </a:solidFill>
                <a:latin typeface="Calibri"/>
              </a:defRPr>
            </a:pPr>
            <a:r>
              <a:rPr sz="1300" b="1">
                <a:solidFill>
                  <a:srgbClr val="0E7C86"/>
                </a:solidFill>
                <a:latin typeface="Calibri"/>
              </a:rPr>
              <a:t>many jobs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91256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0E7C86"/>
                </a:solidFill>
                <a:latin typeface="Calibri"/>
              </a:defRPr>
            </a:pPr>
            <a:r>
              <a:rPr sz="1100" b="0">
                <a:solidFill>
                  <a:srgbClr val="0E7C86"/>
                </a:solidFill>
                <a:latin typeface="Calibri"/>
              </a:rPr>
              <a:t>drive motors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40280" y="3319272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4028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1035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8043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5051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92059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9067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6075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43082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0090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7098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4106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11114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8122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5129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137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79145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6153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3161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0169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47176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4184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1192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8200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5208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2216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49224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66231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83239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00247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17255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4263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51271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68278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286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2294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19302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36310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53318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70325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87333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4341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1349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8357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55365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72372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89380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06388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23396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40404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57412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74420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48640" y="3575304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B46A0F"/>
                </a:solidFill>
                <a:latin typeface="Calibri"/>
              </a:defRPr>
            </a:pPr>
            <a:r>
              <a:rPr sz="1100" b="0">
                <a:solidFill>
                  <a:srgbClr val="B46A0F"/>
                </a:solidFill>
                <a:latin typeface="Calibri"/>
              </a:rPr>
              <a:t>scanner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40280" y="3703320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40280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20593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600907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81220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961534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641848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322161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002475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82788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363102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043416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3729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404043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48640" y="3959352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1F3A5F"/>
                </a:solidFill>
                <a:latin typeface="Calibri"/>
              </a:defRPr>
            </a:pPr>
            <a:r>
              <a:rPr sz="1100" b="0">
                <a:solidFill>
                  <a:srgbClr val="1F3A5F"/>
                </a:solidFill>
                <a:latin typeface="Calibri"/>
              </a:rPr>
              <a:t>turn signal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240280" y="4087368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40280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600907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961534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322161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682788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043416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404043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48640" y="434340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battery check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240280" y="4471416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24028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49224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74420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240280" y="4800600"/>
            <a:ext cx="8503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0E7C86"/>
                </a:solidFill>
                <a:latin typeface="Calibri"/>
              </a:defRPr>
            </a:pPr>
            <a:r>
              <a:rPr sz="1100" b="0">
                <a:solidFill>
                  <a:srgbClr val="0E7C86"/>
                </a:solidFill>
                <a:latin typeface="Calibri"/>
              </a:rPr>
              <a:t>each job fires on its own schedule, and loop() never stops running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349240"/>
            <a:ext cx="11185855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Consolas"/>
              </a:defRPr>
            </a:pPr>
            <a:r>
              <a:rPr sz="1500" b="0">
                <a:solidFill>
                  <a:srgbClr val="222222"/>
                </a:solidFill>
                <a:latin typeface="Consolas"/>
              </a:rPr>
              <a:t>if (millis() - lastTime &gt;= INTERVAL) {  lastTime = millis();  ...do the thing... 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pattern, in four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millis() instead of delay()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unsigned long lastBlink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if (millis() - lastBlink &gt;= INTERVAL)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  lastBlink = millis();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666666"/>
                </a:solidFill>
                <a:latin typeface="Consolas"/>
              </a:rPr>
              <a:t>    // ...do the thing...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666666"/>
                </a:solidFill>
                <a:latin typeface="Consolas"/>
              </a:rPr>
              <a:t>  // ...and everything else keeps running...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millis() returns how many milliseconds the board has been switched on. Reading it costs nothing.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Each job needs its OWN "when did I last run" variable.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unsigned long, because millis() counts past what an int can hold in under an hour.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Subtracting like this also survives the moment millis() wraps back to zero, which happens after 49 days.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This exact pattern appears five times in the full vehicle program.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two speeds at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l5a_millis_not_delay</a:t>
            </a:r>
            <a:r>
              <a:rPr sz="1200">
                <a:solidFill>
                  <a:srgbClr val="FFFFFF"/>
                </a:solidFill>
                <a:latin typeface="Calibri"/>
              </a:rPr>
              <a:t>     (20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 it. Two LEDs blink at different rates, and the Serial Monitor counts how many times loop() runs per second.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Write down that number. It is enormous.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Uncomment the delay(1000) at the bottom of loop().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Watch both lights break, and watch the loop counter fall to 1.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Comment it back out.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Add a THIRD light on its own timer without touching the other two.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LED 0 blinking once a second, LED 15 blinking about seven times a second, and a very large loop 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How many times per second does loop() run?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With the delay in place, what is the loop count, and what does that tell you about how much attention the vehicle has left over?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level is not the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loop() runs tens of thousands of times a second. A finger holds a button for about 100 milliseconds - thousands of trips round the loop.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So this is wrong: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if (Ps3.data.button.square) lightsOn = !lightsOn;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It flips the lights thousands of times during ONE press. Whether they end up on or off is pure luck.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we want is the MOMENT the button goes down - the edge, not the level. To find an edge you have to remember what it was doing last time round: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bool isNewPress = isDown &amp;&amp; !wasDown;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wasDown = isDown;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That is justPressed(), and the full program uses it for every single button.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see the bug, then the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l5b_button_toggle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Press SQUARE a few times. One press, one change, every time.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Now press TRIANGLE ONCE and read the Serial Monitor.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How many times did one press register?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Hold the good button down for five seconds. Does anything extra happen? Should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Change justPressed so it fires on RELEASE instead. Which feels better to use?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good button toggles the headlights cleanly. The broken one reports flipping the value hundreds or thousands of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does the broken version sometimes appear to work?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does the &amp; mean in  bool &amp;wasDown?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Variables that live between 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 variable that survives from one pass of loop() to the next is STATE. It is what makes a program feel like it has a mind rather than just reflexes.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The vehicle remembers: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lightsOn        -  are the running lights on at all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headlightLevel  -  dim or bright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lightPattern    -  stopped, forward, reverse, left or right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lightsChanged   -  does the strip need redrawing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turnMax         -  normal or sharp steering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scannerOn       -  is the KITT scanner running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That last flag is worth a slide of its own.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dirty flag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Pushing 32 LEDs out to the strip takes about a millisecond.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Redrawing every pass would waste most of the vehicle's attention and make the lights flicker.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So the program keeps a flag: lightsChanged.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Anything that would alter the picture sets it to true.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The drawing code at the bottom of loop() runs only when it is set, and then clears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if (lightsChanged) { lightsChanged = false; showDrivingLights(); }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This is called a DIRTY FLAG, and you will find the same idea in graphics engines, spreadsheets and web browsers. Anywhere redrawing is expensive, something is keeping track of what actually changed.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Choosing the lighting picture from what the vehicle is doing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from l5c_drive_with_lights.ino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LightPattern newPattern = LIGHTS_STOPPED;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if      (forward &gt; 0) newPattern = LIGHTS_FORWARD;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(forward &lt; 0) newPattern = LIGHTS_REVERSE;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(turn &gt; 0)    newPattern = LIGHTS_RIGHT;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(turn &lt; 0)    newPattern = LIGHTS_LEFT;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if (newPattern != lightPattern)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lightPattern = newPattern;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lightsChanged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lights are not controlled by a button. They follow what the vehicle is ALREADY doing, which is how a real car works.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An enum is a named list of the states something can be in. Better than 1, 2, 3, 4, 5, because the compiler can check it and you can read it.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else-if chain means exactly one pattern is chosen. Driving forward wins over turning.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Only if it CHANGED do we set the dirty flag.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1.  Wheels off the ground. Upload. Check the controls.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2.  Put it down and drive. Watch the lights follow the stick: headlights, tail lights, brake lights when you stop, white in reverse, amber on the side you are turning towards.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3.  Press SQUARE to toggle the 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4.  D-pad up and down for bright and dim headlights.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5.  Make the turn signals BLINK rather than stay on. Use millis(), not delay(), or the vehicle will stutter.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vehicle that drives and lights itself correctly at the same time, with no stuttering.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350672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3854196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Which lines make the brake lights come on?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does the amber only appear on one side?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Check the controls with the wheels off the ground first.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45 minutes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pathfinder_ps3  -  what it adds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 have already written most of it. Here is what is left.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328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7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Where you have seen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Tank drive with mixing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Deadzone and 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Failsafe on disconnect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the top of loop()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Headlights, tail, brake, reverse, signals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dirty flag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Edge-detected buttons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l5b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Two servos on the right 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KITT scanner,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4 - l4c, made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Sharp steering 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startup light show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 - it proves every LED works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0E7C86"/>
                </a:solidFill>
                <a:latin typeface="Consolas"/>
              </a:defRPr>
            </a:pPr>
            <a:r>
              <a:rPr sz="11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2130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600200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655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1F3A5F"/>
                </a:solidFill>
                <a:latin typeface="Consolas"/>
              </a:defRPr>
            </a:pPr>
            <a:r>
              <a:rPr sz="11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3273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74320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798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centred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977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B46A0F"/>
                </a:solidFill>
                <a:latin typeface="Consolas"/>
              </a:defRPr>
            </a:pPr>
            <a:r>
              <a:rPr sz="11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416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886200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941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5029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the whole cycle is 20 ms, repeated 50 times a second, whatever the pulse length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12080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KITT SCANNER, done properly.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version in Lesson 4 used delay(), so the vehicle froze while it swept. The full program moves the dot one step every 40 ms off millis(), so you can drive with the scanner running.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Toggled with TRIANGLE.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SHARP STEERING.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turnMax is normally MOTOR_MAX / 2, which makes the vehicle easy to aim. L3 (click the left stick in) flips it to full power, for spinning on the spot.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bottom of the range stays the same in both modes, so a gentle turn still breaks the wheels loose.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STARTUP LIGHT SHOW.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One scanner sweep at power-up. delay() is fine THERE, because nothing else needs to happen yet - and it proves every LED works before you drive 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the top of the file. Every setting you might want to change is in the SETTINGS block, with a comment saying what it does.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pathfinder_ps3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Open pathfinder_ps3.ino.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READ IT FIRST. You will recognise almost all of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Set PS3_MAC_ADDRESS to your vehicle's address.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Wheels off the ground. Upload. Check every control.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Put it down and drive properly.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Find three things in the file you have NOT seen before, and work out what they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startup sweep, then a green blink while it waits, then full driving with lights, servos and the scanner.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350672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3854196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does the green blink mean?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are the three things you found?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 until every control is checked.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Measure first. Then argue about who is fastest.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CALIBRATE FIRST.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Mark a start and a finish line with tape. Measure the distance.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Drive it flat out and time it. Speed = distance /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Compare with the number you calculated in Lesson 2. Were you right?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DRAG RACE.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Two or three vehicles side by side. First across the line INSIDE the lane wins - leaving the lane does not count.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Straight-line speed is not the whole problem. Keeping it straight is, because only one command runs at a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You can only brake by reversing. Half power for a short time is usually right.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COURSE RACE.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Tape out a course with corners. Now sharp steering earns its keep.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Fastest clean lap. Touching a cone costs you two seconds.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Take it further  -  projects that fit on this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Each of these is a real addition to the program you now understand. Pick one and build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LOW BATTERY WARNING.  Flash the LEDs yellow below 12 volts and red below 10. A 4S pack should never be run flat, and the vehicle is in a better position to notice than you are.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COLLISION WARNING.  An ultrasonic range finder on the top plate. Closer than 20 inches: stop the motors, flash red, wait three seconds, then carry on.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AUTOMATIC LIGHTS.  You already switch the turn signals from the stick. Add reversing beeps, hazard lights, or headlights that come on only when the vehicle is moving.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WAYPOINT NAVIGATION.  Lesson 2 drove one square. Give the program a LIST of moves - distance and heading - and drive a course you typed in rather than one that was hard-coded.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SERVO PAN AND TILT.  Two servos and a bracket, aimed with the right stick. The mount points are already on the top plate.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All five are within reach of what you learned in five lessons. The range finder and the servos are the two the kit already has parts for.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Straight on from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SENSORS - a range finder that stops the vehicle before it hits something, line followers, light and temperature.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Once the vehicle can sense the world, dead reckoning stops being the only way it knows where it is.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VEHICLE TO VEHICLE - ESP-NOW lets ESP32s talk directly to each other with no router in between.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CAMERAS AND AI - object recognition, and a 6-DOF arm that picks things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The advanced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Pathfinder_Op_Program12 is the same vehicle with: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program split across eight files by subsystem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10-bit PWM and hybrid drive for finer low-speed control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speed ramping, so it does not lurch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 serial console for tuning without recompiling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settings saved to EEPROM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 current sensor and a powered self-test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It is a five-lesson course of its own.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you learned this term transfers directly. The advanced course starts by taking this program apart.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Robotics and STEM, and where they lead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At Oceanology International Americas in San Diego, we asked a panel what the transition opportunities are: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Dr Rick Spinrad, NOAA Administrator, said a knowledge of robotics and STEM is a competitive advantage for entry-level positions.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Rear Admiral Ron Piret, USN, said they are looking for students with robotics and STEM education for operational careers.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Kendra MacDonald, CEO of Canada's Ocean Supercluster, said that whether you become a doctor, a lawyer or a scientist, STEM will help you.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What you have actually practised this term: reading somebody else's code, changing one thing at a time, measuring instead of guessing, and working out whether a fault is mechanical, electrical or software.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Those four habits are the job. The vehicle was just the excuse.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Thank you. Go and break something interesting.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1.  Why can a program not use delay() if it has to do two things at different rates?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2.  Write the four-line millis() pattern from memory.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3.  Why does unsigned long matter for millis()?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4.  What is edge detection, and what goes wrong without it?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5.  What is a dirty flag, and what does it save?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6.  A servo is centred by a pulse of what length? How often is it sent?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7.  Name three things the full program does that l5c does not.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8.  Your vehicle drifts left on the drag strip. Give one mechanical cause and one software fix.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