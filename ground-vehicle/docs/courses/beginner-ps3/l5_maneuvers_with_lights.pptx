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Charged batteries and a cleared floor. Today has the most driving of any lesson in the course.</a:t>
            </a:r>
          </a:p>
          <a:p>
            <a:r>
              <a:rPr sz="1200">
                <a:latin typeface="Calibri"/>
              </a:rPr>
              <a:t>Tell them at the start that by the end they will be running the same program that leaves the factory on a finished vehicle. It changes how they read it.</a:t>
            </a:r>
          </a:p>
          <a:p>
            <a:r>
              <a:rPr sz="1200">
                <a:latin typeface="Calibri"/>
              </a:rPr>
              <a:t>If you are racing at the end, tape the course out before the class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two - write the millis() pattern from memory - is a genuine test. Come back to it in the quiz.</a:t>
            </a:r>
          </a:p>
          <a:p>
            <a:r>
              <a:rPr sz="1200">
                <a:latin typeface="Calibri"/>
              </a:rPr>
              <a:t>The last objective ties the whole term together: they calculated a speed in Lesson 2, and today they find out whether they were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minutes. Point at each lesson and get one sentence from the room rather than reading it yourself.</a:t>
            </a:r>
          </a:p>
          <a:p>
            <a:r>
              <a:rPr sz="1200">
                <a:latin typeface="Calibri"/>
              </a:rPr>
              <a:t>The note is the promise for today. Say it and then deliver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racing is at 2:35, and it will overrun if you let it - protect the last five minutes for where the course goes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that explains the whole of Lesson 5. Do not rush it.</a:t>
            </a:r>
          </a:p>
          <a:p>
            <a:r>
              <a:rPr sz="1200">
                <a:latin typeface="Calibri"/>
              </a:rPr>
              <a:t>Two jobs at different rates cannot both be done with delay(). Draw the two timelines on the board and let them see the collision.</a:t>
            </a:r>
          </a:p>
          <a:p>
            <a:r>
              <a:rPr sz="1200">
                <a:latin typeface="Calibri"/>
              </a:rPr>
              <a:t>millis() is not a timer you start. It is a clock that has been running since power-up, and all you ever do is subtract.</a:t>
            </a:r>
          </a:p>
          <a:p>
            <a:r>
              <a:rPr sz="1200">
                <a:latin typeface="Calibri"/>
              </a:rPr>
              <a:t>Subtracting rather than comparing is what survives the wrap at 49 days. Mention it, do not dwell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lines. Get them to copy it into a notebook, because they will write it from memory in the quiz.</a:t>
            </a:r>
          </a:p>
          <a:p>
            <a:r>
              <a:rPr sz="1200">
                <a:latin typeface="Calibri"/>
              </a:rPr>
              <a:t>millis() is not a timer you start - it has been running since power-up, and all you ever do is subtract.</a:t>
            </a:r>
          </a:p>
          <a:p>
            <a:r>
              <a:rPr sz="1200">
                <a:latin typeface="Calibri"/>
              </a:rPr>
              <a:t>Each job needs its OWN lastRun variable. That is the bit people get wrong when they first try it.</a:t>
            </a:r>
          </a:p>
          <a:p>
            <a:r>
              <a:rPr sz="1200">
                <a:latin typeface="Calibri"/>
              </a:rPr>
              <a:t>unsigned long matters: an int overflows in under an hour. Subtracting rather than comparing is also what survives the wrap at 49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loop counter is the star of this activity. Get the number written down before step 3, or the comparison means nothing.</a:t>
            </a:r>
          </a:p>
          <a:p>
            <a:r>
              <a:rPr sz="1200">
                <a:latin typeface="Calibri"/>
              </a:rPr>
              <a:t>Step 4 is the demonstration: one delay, and a counter in the tens of thousands falls to 1.</a:t>
            </a:r>
          </a:p>
          <a:p>
            <a:r>
              <a:rPr sz="1200">
                <a:latin typeface="Calibri"/>
              </a:rPr>
              <a:t>Step 6 - a third light on its own timer without touching the other two - is the proof they have understood the pattern.</a:t>
            </a:r>
          </a:p>
          <a:p>
            <a:r>
              <a:rPr sz="1200">
                <a:latin typeface="Calibri"/>
              </a:rPr>
              <a:t>Nothing moves in this one, so no blocks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sketch ships with a deliberately broken button next to a correct one. That is on purpose - do not let anybody fix it.</a:t>
            </a:r>
          </a:p>
          <a:p>
            <a:r>
              <a:rPr sz="1200">
                <a:latin typeface="Calibri"/>
              </a:rPr>
              <a:t>Step 4 is the moment: one press, hundreds of reported changes.</a:t>
            </a:r>
          </a:p>
          <a:p>
            <a:r>
              <a:rPr sz="1200">
                <a:latin typeface="Calibri"/>
              </a:rPr>
              <a:t>The broken version sometimes appears to work because an odd number of flips lands on the answer you wanted. Pure luck.</a:t>
            </a:r>
          </a:p>
          <a:p>
            <a:r>
              <a:rPr sz="1200">
                <a:latin typeface="Calibri"/>
              </a:rPr>
              <a:t>The &amp; in bool &amp;wasDown is a reference, so the function can update the caller's variable. Worth two minutes - it is their first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lights are not on a button. They follow what the vehicle is already doing, which is how a real car works.</a:t>
            </a:r>
          </a:p>
          <a:p>
            <a:r>
              <a:rPr sz="1200">
                <a:latin typeface="Calibri"/>
              </a:rPr>
              <a:t>Introduce enum properly. A named list of the states something can be in, which the compiler can check and a human can read.</a:t>
            </a:r>
          </a:p>
          <a:p>
            <a:r>
              <a:rPr sz="1200">
                <a:latin typeface="Calibri"/>
              </a:rPr>
              <a:t>The else-if chain means exactly one pattern wins, and driving forward beats turning. Ask whether they agree with that priority.</a:t>
            </a:r>
          </a:p>
          <a:p>
            <a:r>
              <a:rPr sz="1200">
                <a:latin typeface="Calibri"/>
              </a:rPr>
              <a:t>The last two lines are the dirty flag again - only set it if something actually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Three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Forty-five minutes on the real program. Have it open on the projector.</a:t>
            </a:r>
          </a:p>
          <a:p>
            <a:r>
              <a:rPr sz="1200">
                <a:latin typeface="Calibri"/>
              </a:rPr>
              <a:t>Frame it honestly: they already wrote most of this. Today is about the last few pieces and about reading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Go down the right-hand column and let them realise how much of it they recognise. That is the point of the table.</a:t>
            </a:r>
          </a:p>
          <a:p>
            <a:r>
              <a:rPr sz="1200">
                <a:latin typeface="Calibri"/>
              </a:rPr>
              <a:t>Only four rows say New today. Everything else is theirs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Have the pan and tilt unit on the desk if you have one. It is much more convincing in the hand.</a:t>
            </a:r>
          </a:p>
          <a:p>
            <a:r>
              <a:rPr sz="1200">
                <a:latin typeface="Calibri"/>
              </a:rPr>
              <a:t>The one-direction-per-servo scheme surprises people. Draw the stick on the board and mark which servo owns which push.</a:t>
            </a:r>
          </a:p>
          <a:p>
            <a:r>
              <a:rPr sz="1200">
                <a:latin typeface="Calibri"/>
              </a:rPr>
              <a:t>The continuous-rotation warning is the practical one. Somebody will buy the wrong kind and wonder why it never stops.</a:t>
            </a:r>
          </a:p>
          <a:p>
            <a:r>
              <a:rPr sz="1200">
                <a:latin typeface="Calibri"/>
              </a:rPr>
              <a:t>This is where the range finder goes in the projects list a few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the full ten minutes and stay quiet for most of it.</a:t>
            </a:r>
          </a:p>
          <a:p>
            <a:r>
              <a:rPr sz="1200">
                <a:latin typeface="Calibri"/>
              </a:rPr>
              <a:t>The order matters. Vocabulary first, then the skeleton, then the detail - the same habit the advanced course opens with.</a:t>
            </a:r>
          </a:p>
          <a:p>
            <a:r>
              <a:rPr sz="1200">
                <a:latin typeface="Calibri"/>
              </a:rPr>
              <a:t>Pass 2 is the confidence builder. They will recognise STICK_DEADZONE, MOTOR_MAX and the LED count as numbers they have already changed with their own hands.</a:t>
            </a:r>
          </a:p>
          <a:p>
            <a:r>
              <a:rPr sz="1200">
                <a:latin typeface="Calibri"/>
              </a:rPr>
              <a:t>Pass 6 is the assessment. Walk round and ask groups to point at the failsafe. Anybody who can find it has understood Lesson 3.</a:t>
            </a:r>
          </a:p>
          <a:p>
            <a:r>
              <a:rPr sz="1200">
                <a:latin typeface="Calibri"/>
              </a:rPr>
              <a:t>Collect answers out loud before moving on, one pass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straight after the six passes, as a conversation.</a:t>
            </a:r>
          </a:p>
          <a:p>
            <a:r>
              <a:rPr sz="1200">
                <a:latin typeface="Calibri"/>
              </a:rPr>
              <a:t>Answers: the NeoPixel protocol is fussy enough to be worth a library, whereas a motor is two pins and a duty value - ledcWrite is already in the core.</a:t>
            </a:r>
          </a:p>
          <a:p>
            <a:r>
              <a:rPr sz="1200">
                <a:latin typeface="Calibri"/>
              </a:rPr>
              <a:t>The four arguments are how many pixels, which pin, the color order these parts want, and the speed they are clocked at.</a:t>
            </a:r>
          </a:p>
          <a:p>
            <a:r>
              <a:rPr sz="1200">
                <a:latin typeface="Calibri"/>
              </a:rPr>
              <a:t>The deadzone stops a stick that never quite centers from driving the vehicle. At 0 it creeps across the room on its own.</a:t>
            </a:r>
          </a:p>
          <a:p>
            <a:r>
              <a:rPr sz="1200">
                <a:latin typeface="Calibri"/>
              </a:rPr>
              <a:t>An enum because the compiler can check it and a person can read it. LIGHTS_REVERSE says what it means; 3 does not.</a:t>
            </a:r>
          </a:p>
          <a:p>
            <a:r>
              <a:rPr sz="1200">
                <a:latin typeface="Calibri"/>
              </a:rPr>
              <a:t>Four motors, and the two on a side always get the same number - that IS tank steering.</a:t>
            </a:r>
          </a:p>
          <a:p>
            <a:r>
              <a:rPr sz="1200">
                <a:latin typeface="Calibri"/>
              </a:rPr>
              <a:t>The failsafe calls drive(0, 0) and then return, which skips the whole of the rest of loop() and starts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Last one, and it is the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Show these AFTER the projects list, not before. The point is that the list is not hypothetical.</a:t>
            </a:r>
          </a:p>
          <a:p>
            <a:r>
              <a:rPr sz="1200">
                <a:latin typeface="Calibri"/>
              </a:rPr>
              <a:t>The arm is servo outputs, which they met earlier today. The range finder is one new sensor and a threshold.</a:t>
            </a:r>
          </a:p>
          <a:p>
            <a:r>
              <a:rPr sz="1200">
                <a:latin typeface="Calibri"/>
              </a:rPr>
              <a:t>Neither needed a different vehicle. That is the message.</a:t>
            </a:r>
          </a:p>
          <a:p>
            <a:r>
              <a:rPr sz="1200">
                <a:latin typeface="Calibri"/>
              </a:rPr>
              <a:t>If either is in the room, get it out and let people handle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it as a conversation, and take your time - this is the last thing they do.</a:t>
            </a:r>
          </a:p>
          <a:p>
            <a:r>
              <a:rPr sz="1200">
                <a:latin typeface="Calibri"/>
              </a:rPr>
              <a:t>Answers, in order: delay stops everything, so two different rates cannot both be served; the four-line pattern should be written out and checked; unsigned long because an int overflows in under an hour.</a:t>
            </a:r>
          </a:p>
          <a:p>
            <a:r>
              <a:rPr sz="1200">
                <a:latin typeface="Calibri"/>
              </a:rPr>
              <a:t>Edge detection catches the moment a button goes down; without it one press registers thousands of times. A dirty flag saves redrawing the strip when nothing changed.</a:t>
            </a:r>
          </a:p>
          <a:p>
            <a:r>
              <a:rPr sz="1200">
                <a:latin typeface="Calibri"/>
              </a:rPr>
              <a:t>A servo centers on a 1.5 ms pulse, sent every 20 ms.</a:t>
            </a:r>
          </a:p>
          <a:p>
            <a:r>
              <a:rPr sz="1200">
                <a:latin typeface="Calibri"/>
              </a:rPr>
              <a:t>For question 8: mechanically, one motor weaker or a wheel dragging; in software, a small turn correction added to the straight-line command.</a:t>
            </a:r>
          </a:p>
          <a:p>
            <a:r>
              <a:rPr sz="1200">
                <a:latin typeface="Calibri"/>
              </a:rPr>
              <a:t>Thank them properly, and mean the last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pathfinder_ps3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 that predicts where the vehicle ends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4  -  addressable LEDs, color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57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  -  one job, and nothing else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39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  -  many jobs, none of them waiting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5701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68503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92277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405079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428853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41655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65429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78231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5093207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(Ps3.data.button.square)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Press SQUARE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Now press TRIANGLE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SQUARE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pathfinder_ps3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4418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401637"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42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the servo outputs are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345753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There are four servo headers on the top plate, and the full program drives them from the RIGHT stick.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Each servo owns one direction of the stick, so one stick aims four independent things and each sits centerd when the stick is not pushed its way.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pan and tilt mount is the obvious first use: two servos, one for left and right and one for up and down, with a camera or a range finder on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Watch out for which kind you have. A standard servo takes a position, plus or minus 180 degrees. A CONTINUOUS ROTATION servo reads the same pulse as a SPEED and will just keep turning.</a:t>
            </a:r>
          </a:p>
        </p:txBody>
      </p:sp>
      <p:pic>
        <p:nvPicPr>
          <p:cNvPr id="7" name="Picture 6" descr="vehicle-with-pan-ti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1431082"/>
            <a:ext cx="4474342" cy="33557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14433" y="4841702"/>
            <a:ext cx="447434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servos, driven from opposite sides of the vehicle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Toggled with TRIANGLE.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turnMax is normally MOTOR_MAX / 2, which makes the vehicle easy to aim. L3 (click the left stick in)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Putting it all together  -  read pathfinder_ps3 in six passes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passes, ten minutes, in your groups. Do not start at line one and read to the end - it is the slowest way in.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516"/>
                <a:gridCol w="4677721"/>
                <a:gridCol w="5694617"/>
              </a:tblGrid>
              <a:tr h="416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you are reading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Ask yourself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header comment and the #includes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What does each library bring in, and which lesson met it?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SETTINGS block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numbers here did you change in an earlier lesson?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state variables and the LightPattern enum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of these survive between passes of loop(), and why?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stickToSpeed(), drive() and setMotor()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Where does the deadzone go, and where does map() stretch what is left?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setup()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Why are the motors set up before the LEDs, and the radio last?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8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loop(), top to bottom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Find the failsafe, the button edges, the mixing, and the one place the lights are drawn.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same order you would use on any program you did not write: what it depends on, what it can be tuned to do, what it remembers, then how it works.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Six things to be able to explain before you upload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666666"/>
                </a:solidFill>
                <a:latin typeface="Calibri"/>
              </a:defRPr>
            </a:pPr>
            <a:r>
              <a:rPr sz="1500" b="0">
                <a:solidFill>
                  <a:srgbClr val="666666"/>
                </a:solidFill>
                <a:latin typeface="Calibri"/>
              </a:rPr>
              <a:t>You have written or read every one of these in an earlier lesson. This is the point where they are all in one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Why does the program #include a NeoPixel library but not a motor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strip(LED_COUNT, LED_PIN, NEO_GRB + NEO_KHZ800) - what is each of those four things telling the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What is STICK_DEADZONE for, and what would the vehicle do if it were 0?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enum LightPattern lists five values. Why an enum rather than the numbers 1 to 5?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drive() calls setMotor() four times. Why four, and why do two of them get the same number?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6.  Find the four lines that stop the motors when the controller drops. What happens to the rest of loop() when they run?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pathfinder_ps3.ino.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Set PS3_MAC_ADDRESS to your vehicle's address.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700" b="0">
                <a:solidFill>
                  <a:srgbClr val="222222"/>
                </a:solidFill>
                <a:latin typeface="Calibri"/>
              </a:defRPr>
            </a:pPr>
            <a:r>
              <a:rPr sz="27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of those, already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of these are the same vehicle you have been driving, with something bolted to the top plate and a few hundred lines added to the program.</a:t>
            </a:r>
          </a:p>
        </p:txBody>
      </p:sp>
      <p:pic>
        <p:nvPicPr>
          <p:cNvPr id="7" name="Picture 6" descr="vehicle-with-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robot-arm-6do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650" y="1810512"/>
            <a:ext cx="3654201" cy="3675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gripper arm on the top plate, driven from the servo headers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same idea taken further: six joints, six servos, one program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you have actually practiced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6.  A servo is centerd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