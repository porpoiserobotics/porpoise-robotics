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2614" autoAdjust="0"/>
  </p:normalViewPr>
  <p:slideViewPr>
    <p:cSldViewPr snapToGrid="0" snapToObjects="1">
      <p:cViewPr varScale="1">
        <p:scale>
          <a:sx n="68" d="100"/>
          <a:sy n="68" d="100"/>
        </p:scale>
        <p:origin x="1234"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Bowen" userId="ee6702fae12807e4" providerId="LiveId" clId="{5CB6C98B-5151-4E5D-BF39-3ED613ABF9A3}"/>
    <pc:docChg chg="modSld">
      <pc:chgData name="Kevin Bowen" userId="ee6702fae12807e4" providerId="LiveId" clId="{5CB6C98B-5151-4E5D-BF39-3ED613ABF9A3}" dt="2026-09-07T18:29:54.778" v="33" actId="1036"/>
      <pc:docMkLst>
        <pc:docMk/>
      </pc:docMkLst>
      <pc:sldChg chg="modSp mod">
        <pc:chgData name="Kevin Bowen" userId="ee6702fae12807e4" providerId="LiveId" clId="{5CB6C98B-5151-4E5D-BF39-3ED613ABF9A3}" dt="2026-09-07T17:32:29.105" v="32" actId="20577"/>
        <pc:sldMkLst>
          <pc:docMk/>
          <pc:sldMk cId="0" sldId="262"/>
        </pc:sldMkLst>
        <pc:spChg chg="mod">
          <ac:chgData name="Kevin Bowen" userId="ee6702fae12807e4" providerId="LiveId" clId="{5CB6C98B-5151-4E5D-BF39-3ED613ABF9A3}" dt="2026-09-07T17:32:29.105" v="32" actId="20577"/>
          <ac:spMkLst>
            <pc:docMk/>
            <pc:sldMk cId="0" sldId="262"/>
            <ac:spMk id="7" creationId="{00000000-0000-0000-0000-000000000000}"/>
          </ac:spMkLst>
        </pc:spChg>
      </pc:sldChg>
      <pc:sldChg chg="modSp mod">
        <pc:chgData name="Kevin Bowen" userId="ee6702fae12807e4" providerId="LiveId" clId="{5CB6C98B-5151-4E5D-BF39-3ED613ABF9A3}" dt="2026-09-07T18:29:54.778" v="33" actId="1036"/>
        <pc:sldMkLst>
          <pc:docMk/>
          <pc:sldMk cId="0" sldId="276"/>
        </pc:sldMkLst>
        <pc:spChg chg="mod">
          <ac:chgData name="Kevin Bowen" userId="ee6702fae12807e4" providerId="LiveId" clId="{5CB6C98B-5151-4E5D-BF39-3ED613ABF9A3}" dt="2026-09-07T18:29:54.778" v="33" actId="1036"/>
          <ac:spMkLst>
            <pc:docMk/>
            <pc:sldMk cId="0" sldId="276"/>
            <ac:spMk id="4"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2772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Twenty seconds. First of four.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Twenty seconds. Two of four.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Twenty seconds. Three of four.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8.xml"/><Relationship Id="rId1" Type="http://schemas.openxmlformats.org/officeDocument/2006/relationships/slideLayout" Target="../slideLayouts/slideLayout6.xml"/><Relationship Id="rId4" Type="http://schemas.openxmlformats.org/officeDocument/2006/relationships/image" Target="../media/image5.jp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porpoise-logo.png"/>
          <p:cNvPicPr>
            <a:picLocks noChangeAspect="1"/>
          </p:cNvPicPr>
          <p:nvPr/>
        </p:nvPicPr>
        <p:blipFill>
          <a:blip r:embed="rId3"/>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endParaRPr sz="1200" b="0">
              <a:solidFill>
                <a:srgbClr val="666666"/>
              </a:solidFill>
              <a:latin typeface="Calibri"/>
            </a:endParaR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endParaRPr sz="1200" b="0">
              <a:solidFill>
                <a:srgbClr val="666666"/>
              </a:solidFill>
              <a:latin typeface="Calibri"/>
            </a:endParaR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turn-signal-right.jpg"/>
          <p:cNvPicPr>
            <a:picLocks noChangeAspect="1"/>
          </p:cNvPicPr>
          <p:nvPr/>
        </p:nvPicPr>
        <p:blipFill>
          <a:blip r:embed="rId4"/>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endParaRPr sz="2300" b="0">
              <a:solidFill>
                <a:srgbClr val="222222"/>
              </a:solidFill>
              <a:latin typeface="Calibri"/>
            </a:endParaR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extLst>
                    <a:ext uri="{9D8B030D-6E8A-4147-A177-3AD203B41FA5}">
                      <a16:colId xmlns:a16="http://schemas.microsoft.com/office/drawing/2014/main" val="20000"/>
                    </a:ext>
                  </a:extLst>
                </a:gridCol>
                <a:gridCol w="10067269">
                  <a:extLst>
                    <a:ext uri="{9D8B030D-6E8A-4147-A177-3AD203B41FA5}">
                      <a16:colId xmlns:a16="http://schemas.microsoft.com/office/drawing/2014/main" val="20001"/>
                    </a:ext>
                  </a:extLst>
                </a:gridCol>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extLst>
                  <a:ext uri="{0D108BD9-81ED-4DB2-BD59-A6C34878D82A}">
                    <a16:rowId xmlns:a16="http://schemas.microsoft.com/office/drawing/2014/main" val="10000"/>
                  </a:ext>
                </a:extLst>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extLst>
                  <a:ext uri="{0D108BD9-81ED-4DB2-BD59-A6C34878D82A}">
                    <a16:rowId xmlns:a16="http://schemas.microsoft.com/office/drawing/2014/main" val="10001"/>
                  </a:ext>
                </a:extLst>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extLst>
                  <a:ext uri="{0D108BD9-81ED-4DB2-BD59-A6C34878D82A}">
                    <a16:rowId xmlns:a16="http://schemas.microsoft.com/office/drawing/2014/main" val="10002"/>
                  </a:ext>
                </a:extLst>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extLst>
                  <a:ext uri="{0D108BD9-81ED-4DB2-BD59-A6C34878D82A}">
                    <a16:rowId xmlns:a16="http://schemas.microsoft.com/office/drawing/2014/main" val="10003"/>
                  </a:ext>
                </a:extLst>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extLst>
                  <a:ext uri="{0D108BD9-81ED-4DB2-BD59-A6C34878D82A}">
                    <a16:rowId xmlns:a16="http://schemas.microsoft.com/office/drawing/2014/main" val="10004"/>
                  </a:ext>
                </a:extLst>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extLst>
                  <a:ext uri="{0D108BD9-81ED-4DB2-BD59-A6C34878D82A}">
                    <a16:rowId xmlns:a16="http://schemas.microsoft.com/office/drawing/2014/main" val="10005"/>
                  </a:ext>
                </a:extLst>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extLst>
                  <a:ext uri="{0D108BD9-81ED-4DB2-BD59-A6C34878D82A}">
                    <a16:rowId xmlns:a16="http://schemas.microsoft.com/office/drawing/2014/main" val="10006"/>
                  </a:ext>
                </a:extLst>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extLst>
                  <a:ext uri="{0D108BD9-81ED-4DB2-BD59-A6C34878D82A}">
                    <a16:rowId xmlns:a16="http://schemas.microsoft.com/office/drawing/2014/main" val="10007"/>
                  </a:ext>
                </a:extLst>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extLst>
                  <a:ext uri="{0D108BD9-81ED-4DB2-BD59-A6C34878D82A}">
                    <a16:rowId xmlns:a16="http://schemas.microsoft.com/office/drawing/2014/main" val="10008"/>
                  </a:ext>
                </a:extLst>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extLst>
                  <a:ext uri="{0D108BD9-81ED-4DB2-BD59-A6C34878D82A}">
                    <a16:rowId xmlns:a16="http://schemas.microsoft.com/office/drawing/2014/main" val="10009"/>
                  </a:ext>
                </a:extLst>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B46A0F"/>
                </a:solidFill>
                <a:latin typeface="Calibri"/>
              </a:rPr>
              <a:t>WATCH OUT   </a:t>
            </a:r>
            <a:r>
              <a:rPr sz="18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2000">
                <a:latin typeface="Consolas"/>
              </a:defRPr>
            </a:pPr>
            <a:r>
              <a:rPr sz="2000" dirty="0">
                <a:solidFill>
                  <a:srgbClr val="222222"/>
                </a:solidFill>
                <a:latin typeface="Consolas"/>
              </a:rPr>
              <a:t>unsigned long </a:t>
            </a:r>
            <a:r>
              <a:rPr sz="2000" dirty="0" err="1">
                <a:solidFill>
                  <a:srgbClr val="222222"/>
                </a:solidFill>
                <a:latin typeface="Consolas"/>
              </a:rPr>
              <a:t>lastBlink</a:t>
            </a:r>
            <a:r>
              <a:rPr sz="2000" dirty="0">
                <a:solidFill>
                  <a:srgbClr val="222222"/>
                </a:solidFill>
                <a:latin typeface="Consolas"/>
              </a:rPr>
              <a:t> = 0;</a:t>
            </a:r>
          </a:p>
          <a:p>
            <a:pPr algn="l">
              <a:lnSpc>
                <a:spcPct val="100000"/>
              </a:lnSpc>
              <a:spcAft>
                <a:spcPts val="0"/>
              </a:spcAft>
              <a:defRPr sz="2000">
                <a:latin typeface="Consolas"/>
              </a:defRPr>
            </a:pPr>
            <a:endParaRPr lang="en-US" sz="2000" dirty="0">
              <a:solidFill>
                <a:srgbClr val="222222"/>
              </a:solidFill>
              <a:latin typeface="Consolas"/>
            </a:endParaRPr>
          </a:p>
          <a:p>
            <a:pPr algn="l">
              <a:lnSpc>
                <a:spcPct val="100000"/>
              </a:lnSpc>
              <a:spcAft>
                <a:spcPts val="0"/>
              </a:spcAft>
              <a:defRPr sz="2000">
                <a:latin typeface="Consolas"/>
              </a:defRPr>
            </a:pPr>
            <a:r>
              <a:rPr lang="en-US" sz="2000" dirty="0">
                <a:solidFill>
                  <a:srgbClr val="222222"/>
                </a:solidFill>
                <a:latin typeface="Consolas"/>
              </a:rPr>
              <a:t>INTERVAL = 1000;</a:t>
            </a:r>
          </a:p>
          <a:p>
            <a:pPr algn="l">
              <a:lnSpc>
                <a:spcPct val="100000"/>
              </a:lnSpc>
              <a:spcAft>
                <a:spcPts val="0"/>
              </a:spcAft>
              <a:defRPr sz="2000">
                <a:latin typeface="Consolas"/>
              </a:defRPr>
            </a:pPr>
            <a:endParaRPr sz="2000" dirty="0">
              <a:solidFill>
                <a:srgbClr val="222222"/>
              </a:solidFill>
              <a:latin typeface="Consolas"/>
            </a:endParaRPr>
          </a:p>
          <a:p>
            <a:pPr algn="l">
              <a:lnSpc>
                <a:spcPct val="100000"/>
              </a:lnSpc>
              <a:spcAft>
                <a:spcPts val="0"/>
              </a:spcAft>
              <a:defRPr sz="2000">
                <a:latin typeface="Consolas"/>
              </a:defRPr>
            </a:pPr>
            <a:r>
              <a:rPr sz="2000" dirty="0">
                <a:solidFill>
                  <a:srgbClr val="222222"/>
                </a:solidFill>
                <a:latin typeface="Consolas"/>
              </a:rPr>
              <a:t>void loop() {</a:t>
            </a:r>
          </a:p>
          <a:p>
            <a:pPr algn="l">
              <a:lnSpc>
                <a:spcPct val="100000"/>
              </a:lnSpc>
              <a:spcAft>
                <a:spcPts val="0"/>
              </a:spcAft>
              <a:defRPr sz="2000">
                <a:latin typeface="Consolas"/>
              </a:defRPr>
            </a:pPr>
            <a:r>
              <a:rPr sz="2000" b="1" dirty="0">
                <a:solidFill>
                  <a:srgbClr val="0E7C86"/>
                </a:solidFill>
                <a:latin typeface="Consolas"/>
              </a:rPr>
              <a:t>  if (</a:t>
            </a:r>
            <a:r>
              <a:rPr sz="2000" b="1" dirty="0" err="1">
                <a:solidFill>
                  <a:srgbClr val="0E7C86"/>
                </a:solidFill>
                <a:latin typeface="Consolas"/>
              </a:rPr>
              <a:t>millis</a:t>
            </a:r>
            <a:r>
              <a:rPr sz="2000" b="1" dirty="0">
                <a:solidFill>
                  <a:srgbClr val="0E7C86"/>
                </a:solidFill>
                <a:latin typeface="Consolas"/>
              </a:rPr>
              <a:t>() - </a:t>
            </a:r>
            <a:r>
              <a:rPr sz="2000" b="1" dirty="0" err="1">
                <a:solidFill>
                  <a:srgbClr val="0E7C86"/>
                </a:solidFill>
                <a:latin typeface="Consolas"/>
              </a:rPr>
              <a:t>lastBlink</a:t>
            </a:r>
            <a:r>
              <a:rPr sz="2000" b="1" dirty="0">
                <a:solidFill>
                  <a:srgbClr val="0E7C86"/>
                </a:solidFill>
                <a:latin typeface="Consolas"/>
              </a:rPr>
              <a:t> &gt;= INTERVAL) {</a:t>
            </a:r>
          </a:p>
          <a:p>
            <a:pPr algn="l">
              <a:lnSpc>
                <a:spcPct val="100000"/>
              </a:lnSpc>
              <a:spcAft>
                <a:spcPts val="0"/>
              </a:spcAft>
              <a:defRPr sz="2000">
                <a:latin typeface="Consolas"/>
              </a:defRPr>
            </a:pPr>
            <a:r>
              <a:rPr sz="2000" b="1" dirty="0">
                <a:solidFill>
                  <a:srgbClr val="0E7C86"/>
                </a:solidFill>
                <a:latin typeface="Consolas"/>
              </a:rPr>
              <a:t>    </a:t>
            </a:r>
            <a:r>
              <a:rPr sz="2000" b="1" dirty="0" err="1">
                <a:solidFill>
                  <a:srgbClr val="0E7C86"/>
                </a:solidFill>
                <a:latin typeface="Consolas"/>
              </a:rPr>
              <a:t>lastBlink</a:t>
            </a:r>
            <a:r>
              <a:rPr sz="2000" b="1" dirty="0">
                <a:solidFill>
                  <a:srgbClr val="0E7C86"/>
                </a:solidFill>
                <a:latin typeface="Consolas"/>
              </a:rPr>
              <a:t> = </a:t>
            </a:r>
            <a:r>
              <a:rPr sz="2000" b="1" dirty="0" err="1">
                <a:solidFill>
                  <a:srgbClr val="0E7C86"/>
                </a:solidFill>
                <a:latin typeface="Consolas"/>
              </a:rPr>
              <a:t>millis</a:t>
            </a:r>
            <a:r>
              <a:rPr sz="2000" b="1" dirty="0">
                <a:solidFill>
                  <a:srgbClr val="0E7C86"/>
                </a:solidFill>
                <a:latin typeface="Consolas"/>
              </a:rPr>
              <a:t>();</a:t>
            </a:r>
          </a:p>
          <a:p>
            <a:pPr algn="l">
              <a:lnSpc>
                <a:spcPct val="100000"/>
              </a:lnSpc>
              <a:spcAft>
                <a:spcPts val="0"/>
              </a:spcAft>
              <a:defRPr sz="2000">
                <a:latin typeface="Consolas"/>
              </a:defRPr>
            </a:pPr>
            <a:r>
              <a:rPr sz="2000" dirty="0">
                <a:solidFill>
                  <a:srgbClr val="666666"/>
                </a:solidFill>
                <a:latin typeface="Consolas"/>
              </a:rPr>
              <a:t>    // ...do the thing...</a:t>
            </a:r>
          </a:p>
          <a:p>
            <a:pPr algn="l">
              <a:lnSpc>
                <a:spcPct val="100000"/>
              </a:lnSpc>
              <a:spcAft>
                <a:spcPts val="0"/>
              </a:spcAft>
              <a:defRPr sz="2000">
                <a:latin typeface="Consolas"/>
              </a:defRPr>
            </a:pPr>
            <a:r>
              <a:rPr sz="2000" dirty="0">
                <a:solidFill>
                  <a:srgbClr val="222222"/>
                </a:solidFill>
                <a:latin typeface="Consolas"/>
              </a:rPr>
              <a:t>  }</a:t>
            </a:r>
          </a:p>
          <a:p>
            <a:pPr algn="l">
              <a:lnSpc>
                <a:spcPct val="100000"/>
              </a:lnSpc>
              <a:spcAft>
                <a:spcPts val="0"/>
              </a:spcAft>
              <a:defRPr sz="2000">
                <a:latin typeface="Consolas"/>
              </a:defRPr>
            </a:pPr>
            <a:r>
              <a:rPr sz="2000" dirty="0">
                <a:solidFill>
                  <a:srgbClr val="222222"/>
                </a:solidFill>
                <a:latin typeface="Consolas"/>
              </a:rPr>
              <a:t> </a:t>
            </a:r>
          </a:p>
          <a:p>
            <a:pPr algn="l">
              <a:lnSpc>
                <a:spcPct val="100000"/>
              </a:lnSpc>
              <a:spcAft>
                <a:spcPts val="0"/>
              </a:spcAft>
              <a:defRPr sz="2000">
                <a:latin typeface="Consolas"/>
              </a:defRPr>
            </a:pPr>
            <a:r>
              <a:rPr sz="2000" dirty="0">
                <a:solidFill>
                  <a:srgbClr val="666666"/>
                </a:solidFill>
                <a:latin typeface="Consolas"/>
              </a:rPr>
              <a:t>  // ...and everything else keeps running...</a:t>
            </a:r>
          </a:p>
          <a:p>
            <a:pPr algn="l">
              <a:lnSpc>
                <a:spcPct val="100000"/>
              </a:lnSpc>
              <a:spcAft>
                <a:spcPts val="0"/>
              </a:spcAft>
              <a:defRPr sz="2000">
                <a:latin typeface="Consolas"/>
              </a:defRPr>
            </a:pPr>
            <a:r>
              <a:rPr sz="2000" dirty="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endParaRPr sz="2100" b="0">
              <a:solidFill>
                <a:srgbClr val="222222"/>
              </a:solidFill>
              <a:latin typeface="Calibri"/>
            </a:endParaR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endParaRPr sz="2100" b="0">
              <a:solidFill>
                <a:srgbClr val="222222"/>
              </a:solidFill>
              <a:latin typeface="Calibri"/>
            </a:endParaR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endParaRPr sz="2200" b="0">
              <a:solidFill>
                <a:srgbClr val="222222"/>
              </a:solidFill>
              <a:latin typeface="Calibri"/>
            </a:endParaR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endParaRPr sz="2100" b="0">
              <a:solidFill>
                <a:srgbClr val="222222"/>
              </a:solidFill>
              <a:latin typeface="Calibri"/>
            </a:endParaR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endParaRPr sz="2100" b="0">
              <a:solidFill>
                <a:srgbClr val="222222"/>
              </a:solidFill>
              <a:latin typeface="Calibri"/>
            </a:endParaR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endParaRPr sz="1800" b="0">
              <a:solidFill>
                <a:srgbClr val="222222"/>
              </a:solidFill>
              <a:latin typeface="Calibri"/>
            </a:endParaR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endParaRPr sz="1800" b="0">
              <a:solidFill>
                <a:srgbClr val="222222"/>
              </a:solidFill>
              <a:latin typeface="Calibri"/>
            </a:endParaR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endParaRPr sz="1800" b="0">
              <a:solidFill>
                <a:srgbClr val="222222"/>
              </a:solidFill>
              <a:latin typeface="Calibri"/>
            </a:endParaR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146304" tIns="91440" bIns="73152" rtlCol="0" anchor="t"/>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dirty="0">
                <a:solidFill>
                  <a:srgbClr val="222222"/>
                </a:solidFill>
                <a:latin typeface="Calibri"/>
              </a:rPr>
              <a:t>1.  Wheels off the ground. Upload. Check the controls.</a:t>
            </a:r>
          </a:p>
          <a:p>
            <a:pPr algn="l">
              <a:lnSpc>
                <a:spcPct val="100000"/>
              </a:lnSpc>
              <a:spcAft>
                <a:spcPts val="800"/>
              </a:spcAft>
              <a:defRPr sz="1800" b="0">
                <a:solidFill>
                  <a:srgbClr val="222222"/>
                </a:solidFill>
                <a:latin typeface="Calibri"/>
              </a:defRPr>
            </a:pPr>
            <a:r>
              <a:rPr sz="1800" b="0" dirty="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800"/>
              </a:spcAft>
              <a:defRPr sz="1800" b="0">
                <a:solidFill>
                  <a:srgbClr val="222222"/>
                </a:solidFill>
                <a:latin typeface="Calibri"/>
              </a:defRPr>
            </a:pPr>
            <a:r>
              <a:rPr sz="1800" b="0" dirty="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dirty="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dirty="0">
                <a:solidFill>
                  <a:srgbClr val="222222"/>
                </a:solidFill>
                <a:latin typeface="Calibri"/>
              </a:rPr>
              <a:t>5.  Make the turn signals BLINK rather than stay on. Use </a:t>
            </a:r>
            <a:r>
              <a:rPr sz="1800" b="0" dirty="0" err="1">
                <a:solidFill>
                  <a:srgbClr val="222222"/>
                </a:solidFill>
                <a:latin typeface="Calibri"/>
              </a:rPr>
              <a:t>millis</a:t>
            </a:r>
            <a:r>
              <a:rPr sz="1800" b="0" dirty="0">
                <a:solidFill>
                  <a:srgbClr val="222222"/>
                </a:solidFill>
                <a:latin typeface="Calibri"/>
              </a:rPr>
              <a:t>(),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A32A2A"/>
                </a:solidFill>
                <a:latin typeface="Calibri"/>
              </a:rPr>
              <a:t>SAFETY   </a:t>
            </a:r>
            <a:r>
              <a:rPr sz="18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extLst>
                    <a:ext uri="{9D8B030D-6E8A-4147-A177-3AD203B41FA5}">
                      <a16:colId xmlns:a16="http://schemas.microsoft.com/office/drawing/2014/main" val="20000"/>
                    </a:ext>
                  </a:extLst>
                </a:gridCol>
                <a:gridCol w="5592927">
                  <a:extLst>
                    <a:ext uri="{9D8B030D-6E8A-4147-A177-3AD203B41FA5}">
                      <a16:colId xmlns:a16="http://schemas.microsoft.com/office/drawing/2014/main" val="20001"/>
                    </a:ext>
                  </a:extLst>
                </a:gridCol>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extLst>
                  <a:ext uri="{0D108BD9-81ED-4DB2-BD59-A6C34878D82A}">
                    <a16:rowId xmlns:a16="http://schemas.microsoft.com/office/drawing/2014/main" val="10000"/>
                  </a:ext>
                </a:extLst>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extLst>
                  <a:ext uri="{0D108BD9-81ED-4DB2-BD59-A6C34878D82A}">
                    <a16:rowId xmlns:a16="http://schemas.microsoft.com/office/drawing/2014/main" val="10001"/>
                  </a:ext>
                </a:extLst>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extLst>
                  <a:ext uri="{0D108BD9-81ED-4DB2-BD59-A6C34878D82A}">
                    <a16:rowId xmlns:a16="http://schemas.microsoft.com/office/drawing/2014/main" val="10002"/>
                  </a:ext>
                </a:extLst>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extLst>
                  <a:ext uri="{0D108BD9-81ED-4DB2-BD59-A6C34878D82A}">
                    <a16:rowId xmlns:a16="http://schemas.microsoft.com/office/drawing/2014/main" val="10003"/>
                  </a:ext>
                </a:extLst>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extLst>
                  <a:ext uri="{0D108BD9-81ED-4DB2-BD59-A6C34878D82A}">
                    <a16:rowId xmlns:a16="http://schemas.microsoft.com/office/drawing/2014/main" val="10004"/>
                  </a:ext>
                </a:extLst>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extLst>
                  <a:ext uri="{0D108BD9-81ED-4DB2-BD59-A6C34878D82A}">
                    <a16:rowId xmlns:a16="http://schemas.microsoft.com/office/drawing/2014/main" val="10005"/>
                  </a:ext>
                </a:extLst>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extLst>
                  <a:ext uri="{0D108BD9-81ED-4DB2-BD59-A6C34878D82A}">
                    <a16:rowId xmlns:a16="http://schemas.microsoft.com/office/drawing/2014/main" val="10006"/>
                  </a:ext>
                </a:extLst>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extLst>
                  <a:ext uri="{0D108BD9-81ED-4DB2-BD59-A6C34878D82A}">
                    <a16:rowId xmlns:a16="http://schemas.microsoft.com/office/drawing/2014/main" val="10007"/>
                  </a:ext>
                </a:extLst>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extLst>
                  <a:ext uri="{0D108BD9-81ED-4DB2-BD59-A6C34878D82A}">
                    <a16:rowId xmlns:a16="http://schemas.microsoft.com/office/drawing/2014/main" val="10008"/>
                  </a:ext>
                </a:extLst>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extLst>
                  <a:ext uri="{0D108BD9-81ED-4DB2-BD59-A6C34878D82A}">
                    <a16:rowId xmlns:a16="http://schemas.microsoft.com/office/drawing/2014/main" val="10009"/>
                  </a:ext>
                </a:extLst>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centered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93801"/>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dirty="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endParaRPr sz="1900" b="0" dirty="0">
              <a:solidFill>
                <a:srgbClr val="222222"/>
              </a:solidFill>
              <a:latin typeface="Calibri"/>
            </a:endParaRPr>
          </a:p>
          <a:p>
            <a:pPr algn="l">
              <a:lnSpc>
                <a:spcPct val="100000"/>
              </a:lnSpc>
              <a:spcAft>
                <a:spcPts val="600"/>
              </a:spcAft>
              <a:defRPr sz="1900" b="0">
                <a:solidFill>
                  <a:srgbClr val="222222"/>
                </a:solidFill>
                <a:latin typeface="Calibri"/>
              </a:defRPr>
            </a:pPr>
            <a:r>
              <a:rPr sz="1900" b="0" dirty="0">
                <a:solidFill>
                  <a:srgbClr val="222222"/>
                </a:solidFill>
                <a:latin typeface="Calibri"/>
              </a:rPr>
              <a:t>Each servo owns one direction of the stick, so one stick aims four independent things and each sits centered when the stick is not pushed its way.</a:t>
            </a:r>
          </a:p>
          <a:p>
            <a:pPr algn="l">
              <a:lnSpc>
                <a:spcPct val="100000"/>
              </a:lnSpc>
              <a:spcAft>
                <a:spcPts val="600"/>
              </a:spcAft>
              <a:defRPr sz="950" b="0">
                <a:solidFill>
                  <a:srgbClr val="222222"/>
                </a:solidFill>
                <a:latin typeface="Calibri"/>
              </a:defRPr>
            </a:pPr>
            <a:endParaRPr sz="1900" b="0" dirty="0">
              <a:solidFill>
                <a:srgbClr val="222222"/>
              </a:solidFill>
              <a:latin typeface="Calibri"/>
            </a:endParaRPr>
          </a:p>
          <a:p>
            <a:pPr algn="l">
              <a:lnSpc>
                <a:spcPct val="100000"/>
              </a:lnSpc>
              <a:spcAft>
                <a:spcPts val="600"/>
              </a:spcAft>
              <a:defRPr sz="1900" b="0">
                <a:solidFill>
                  <a:srgbClr val="222222"/>
                </a:solidFill>
                <a:latin typeface="Calibri"/>
              </a:defRPr>
            </a:pPr>
            <a:r>
              <a:rPr sz="1900" b="0" dirty="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endParaRPr sz="1900" b="0" dirty="0">
              <a:solidFill>
                <a:srgbClr val="222222"/>
              </a:solidFill>
              <a:latin typeface="Calibri"/>
            </a:endParaRPr>
          </a:p>
          <a:p>
            <a:pPr algn="l">
              <a:lnSpc>
                <a:spcPct val="100000"/>
              </a:lnSpc>
              <a:spcAft>
                <a:spcPts val="600"/>
              </a:spcAft>
              <a:defRPr sz="1900" b="0">
                <a:solidFill>
                  <a:srgbClr val="222222"/>
                </a:solidFill>
                <a:latin typeface="Calibri"/>
              </a:defRPr>
            </a:pPr>
            <a:r>
              <a:rPr sz="1900" b="0" dirty="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3"/>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dirty="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dirty="0">
                <a:solidFill>
                  <a:srgbClr val="222222"/>
                </a:solidFill>
                <a:latin typeface="Calibri"/>
              </a:rPr>
              <a:t>Lesson 4 used delay(), so the vehicle froze while it swept. The full program moves the dot every 40 </a:t>
            </a:r>
            <a:r>
              <a:rPr sz="1800" b="0" dirty="0" err="1">
                <a:solidFill>
                  <a:srgbClr val="222222"/>
                </a:solidFill>
                <a:latin typeface="Calibri"/>
              </a:rPr>
              <a:t>ms</a:t>
            </a:r>
            <a:r>
              <a:rPr sz="1800" b="0" dirty="0">
                <a:solidFill>
                  <a:srgbClr val="222222"/>
                </a:solidFill>
                <a:latin typeface="Calibri"/>
              </a:rPr>
              <a:t> off </a:t>
            </a:r>
            <a:r>
              <a:rPr sz="1800" b="0" dirty="0" err="1">
                <a:solidFill>
                  <a:srgbClr val="222222"/>
                </a:solidFill>
                <a:latin typeface="Calibri"/>
              </a:rPr>
              <a:t>millis</a:t>
            </a:r>
            <a:r>
              <a:rPr sz="1800" b="0" dirty="0">
                <a:solidFill>
                  <a:srgbClr val="222222"/>
                </a:solidFill>
                <a:latin typeface="Calibri"/>
              </a:rPr>
              <a:t>(), so you can drive with it running.</a:t>
            </a:r>
          </a:p>
          <a:p>
            <a:pPr lvl="1" algn="l">
              <a:lnSpc>
                <a:spcPct val="100000"/>
              </a:lnSpc>
              <a:spcAft>
                <a:spcPts val="600"/>
              </a:spcAft>
              <a:defRPr sz="1800" b="0">
                <a:solidFill>
                  <a:srgbClr val="222222"/>
                </a:solidFill>
                <a:latin typeface="Calibri"/>
              </a:defRPr>
            </a:pPr>
            <a:r>
              <a:rPr sz="1800" b="0" dirty="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dirty="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dirty="0" err="1">
                <a:solidFill>
                  <a:srgbClr val="222222"/>
                </a:solidFill>
                <a:latin typeface="Calibri"/>
              </a:rPr>
              <a:t>turnMax</a:t>
            </a:r>
            <a:r>
              <a:rPr sz="1800" b="0" dirty="0">
                <a:solidFill>
                  <a:srgbClr val="222222"/>
                </a:solidFill>
                <a:latin typeface="Calibri"/>
              </a:rPr>
              <a:t> is normally MOTOR_MAX / 2,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dirty="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dirty="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dirty="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Putting it all together  -  read pathfinder_ps3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3069442"/>
        </p:xfrm>
        <a:graphic>
          <a:graphicData uri="http://schemas.openxmlformats.org/drawingml/2006/table">
            <a:tbl>
              <a:tblPr firstRow="1" bandRow="1">
                <a:tableStyleId>{5C22544A-7EE6-4342-B048-85BDC9FD1C3A}</a:tableStyleId>
              </a:tblPr>
              <a:tblGrid>
                <a:gridCol w="813516">
                  <a:extLst>
                    <a:ext uri="{9D8B030D-6E8A-4147-A177-3AD203B41FA5}">
                      <a16:colId xmlns:a16="http://schemas.microsoft.com/office/drawing/2014/main" val="20000"/>
                    </a:ext>
                  </a:extLst>
                </a:gridCol>
                <a:gridCol w="4677721">
                  <a:extLst>
                    <a:ext uri="{9D8B030D-6E8A-4147-A177-3AD203B41FA5}">
                      <a16:colId xmlns:a16="http://schemas.microsoft.com/office/drawing/2014/main" val="20001"/>
                    </a:ext>
                  </a:extLst>
                </a:gridCol>
                <a:gridCol w="5694617">
                  <a:extLst>
                    <a:ext uri="{9D8B030D-6E8A-4147-A177-3AD203B41FA5}">
                      <a16:colId xmlns:a16="http://schemas.microsoft.com/office/drawing/2014/main" val="20002"/>
                    </a:ext>
                  </a:extLst>
                </a:gridCol>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extLst>
                  <a:ext uri="{0D108BD9-81ED-4DB2-BD59-A6C34878D82A}">
                    <a16:rowId xmlns:a16="http://schemas.microsoft.com/office/drawing/2014/main" val="10000"/>
                  </a:ext>
                </a:extLst>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dirty="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extLst>
                  <a:ext uri="{0D108BD9-81ED-4DB2-BD59-A6C34878D82A}">
                    <a16:rowId xmlns:a16="http://schemas.microsoft.com/office/drawing/2014/main" val="10001"/>
                  </a:ext>
                </a:extLst>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dirty="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extLst>
                  <a:ext uri="{0D108BD9-81ED-4DB2-BD59-A6C34878D82A}">
                    <a16:rowId xmlns:a16="http://schemas.microsoft.com/office/drawing/2014/main" val="10002"/>
                  </a:ext>
                </a:extLst>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dirty="0">
                          <a:solidFill>
                            <a:srgbClr val="222222"/>
                          </a:solidFill>
                          <a:latin typeface="Calibri"/>
                        </a:rPr>
                        <a:t>The state variables and the </a:t>
                      </a:r>
                      <a:r>
                        <a:rPr sz="1500" dirty="0" err="1">
                          <a:solidFill>
                            <a:srgbClr val="222222"/>
                          </a:solidFill>
                          <a:latin typeface="Calibri"/>
                        </a:rPr>
                        <a:t>LightPattern</a:t>
                      </a:r>
                      <a:r>
                        <a:rPr sz="1500" dirty="0">
                          <a:solidFill>
                            <a:srgbClr val="222222"/>
                          </a:solidFill>
                          <a:latin typeface="Calibri"/>
                        </a:rPr>
                        <a:t> </a:t>
                      </a:r>
                      <a:r>
                        <a:rPr sz="1500" dirty="0" err="1">
                          <a:solidFill>
                            <a:srgbClr val="222222"/>
                          </a:solidFill>
                          <a:latin typeface="Calibri"/>
                        </a:rPr>
                        <a:t>enum</a:t>
                      </a:r>
                      <a:endParaRPr sz="1500" dirty="0">
                        <a:solidFill>
                          <a:srgbClr val="222222"/>
                        </a:solidFill>
                        <a:latin typeface="Calibri"/>
                      </a:endParaRP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extLst>
                  <a:ext uri="{0D108BD9-81ED-4DB2-BD59-A6C34878D82A}">
                    <a16:rowId xmlns:a16="http://schemas.microsoft.com/office/drawing/2014/main" val="10003"/>
                  </a:ext>
                </a:extLst>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dirty="0" err="1">
                          <a:solidFill>
                            <a:srgbClr val="222222"/>
                          </a:solidFill>
                          <a:latin typeface="Calibri"/>
                        </a:rPr>
                        <a:t>stickToSpeed</a:t>
                      </a:r>
                      <a:r>
                        <a:rPr sz="1500" dirty="0">
                          <a:solidFill>
                            <a:srgbClr val="222222"/>
                          </a:solidFill>
                          <a:latin typeface="Calibri"/>
                        </a:rPr>
                        <a:t>(), drive() and </a:t>
                      </a:r>
                      <a:r>
                        <a:rPr sz="1500" dirty="0" err="1">
                          <a:solidFill>
                            <a:srgbClr val="222222"/>
                          </a:solidFill>
                          <a:latin typeface="Calibri"/>
                        </a:rPr>
                        <a:t>setMotor</a:t>
                      </a:r>
                      <a:r>
                        <a:rPr sz="1500" dirty="0">
                          <a:solidFill>
                            <a:srgbClr val="222222"/>
                          </a:solidFill>
                          <a:latin typeface="Calibri"/>
                        </a:rPr>
                        <a:t>()</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extLst>
                  <a:ext uri="{0D108BD9-81ED-4DB2-BD59-A6C34878D82A}">
                    <a16:rowId xmlns:a16="http://schemas.microsoft.com/office/drawing/2014/main" val="10004"/>
                  </a:ext>
                </a:extLst>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dirty="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extLst>
                  <a:ext uri="{0D108BD9-81ED-4DB2-BD59-A6C34878D82A}">
                    <a16:rowId xmlns:a16="http://schemas.microsoft.com/office/drawing/2014/main" val="10005"/>
                  </a:ext>
                </a:extLst>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dirty="0">
                          <a:solidFill>
                            <a:srgbClr val="222222"/>
                          </a:solidFill>
                          <a:latin typeface="Calibri"/>
                        </a:rPr>
                        <a:t>loop(), top to bottom</a:t>
                      </a:r>
                    </a:p>
                  </a:txBody>
                  <a:tcPr marL="73152" marT="18288" marB="18288">
                    <a:solidFill>
                      <a:srgbClr val="EEF3F8"/>
                    </a:solidFill>
                  </a:tcPr>
                </a:tc>
                <a:tc>
                  <a:txBody>
                    <a:bodyPr/>
                    <a:lstStyle/>
                    <a:p>
                      <a:r>
                        <a:rPr sz="1500" dirty="0">
                          <a:solidFill>
                            <a:srgbClr val="222222"/>
                          </a:solidFill>
                          <a:latin typeface="Calibri"/>
                        </a:rPr>
                        <a:t>Find the failsafe, the button edges, the mixing, and the one place the lights are drawn.</a:t>
                      </a:r>
                    </a:p>
                  </a:txBody>
                  <a:tcPr marL="73152" marT="18288" marB="18288">
                    <a:solidFill>
                      <a:srgbClr val="EEF3F8"/>
                    </a:solidFill>
                  </a:tcPr>
                </a:tc>
                <a:extLst>
                  <a:ext uri="{0D108BD9-81ED-4DB2-BD59-A6C34878D82A}">
                    <a16:rowId xmlns:a16="http://schemas.microsoft.com/office/drawing/2014/main" val="10006"/>
                  </a:ext>
                </a:extLst>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wrap="square" lIns="182880" rtlCol="0" anchor="ctr"/>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Set PS3_MAC_ADDRESS to your vehicle's address.</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A32A2A"/>
                </a:solidFill>
                <a:latin typeface="Calibri"/>
              </a:rPr>
              <a:t>SAFETY   </a:t>
            </a:r>
            <a:r>
              <a:rPr sz="18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endParaRPr sz="2000" b="0">
              <a:solidFill>
                <a:srgbClr val="222222"/>
              </a:solidFill>
              <a:latin typeface="Calibri"/>
            </a:endParaR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endParaRPr sz="2000" b="0">
              <a:solidFill>
                <a:srgbClr val="222222"/>
              </a:solidFill>
              <a:latin typeface="Calibri"/>
            </a:endParaR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3"/>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4"/>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wrap="square" lIns="164592" tIns="73152" rIns="164592" bIns="73152" rtlCol="0" anchor="ctr"/>
          <a:lstStyle/>
          <a:p>
            <a:pPr algn="l"/>
            <a:r>
              <a:rPr sz="1300" b="1">
                <a:solidFill>
                  <a:srgbClr val="0E7C86"/>
                </a:solidFill>
                <a:latin typeface="Calibri"/>
              </a:rPr>
              <a:t>KEY POINT   </a:t>
            </a:r>
            <a:r>
              <a:rPr sz="18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endParaRPr sz="2000" b="0">
              <a:solidFill>
                <a:srgbClr val="222222"/>
              </a:solidFill>
              <a:latin typeface="Calibri"/>
            </a:endParaR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endParaRPr sz="2000" b="0">
              <a:solidFill>
                <a:srgbClr val="222222"/>
              </a:solidFill>
              <a:latin typeface="Calibri"/>
            </a:endParaR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endParaRPr sz="2000" b="0">
              <a:solidFill>
                <a:srgbClr val="222222"/>
              </a:solidFill>
              <a:latin typeface="Calibri"/>
            </a:endParaR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centered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TotalTime>
  <Words>6510</Words>
  <Application>Microsoft Office PowerPoint</Application>
  <PresentationFormat>Widescreen</PresentationFormat>
  <Paragraphs>555</Paragraphs>
  <Slides>31</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Consolas</vt:lpstr>
      <vt:lpstr>Office Theme</vt:lpstr>
      <vt:lpstr>PowerPoint Presentation</vt:lpstr>
      <vt:lpstr>What you will be able to do by the end</vt:lpstr>
      <vt:lpstr>Everything so far</vt:lpstr>
      <vt:lpstr>Today, in order</vt:lpstr>
      <vt:lpstr>The problem with delay()</vt:lpstr>
      <vt:lpstr>Why the vehicle programs never call delay()</vt:lpstr>
      <vt:lpstr>The pattern, in four lines</vt:lpstr>
      <vt:lpstr>PowerPoint Presentation</vt:lpstr>
      <vt:lpstr>Do it now  -  two speeds at once</vt:lpstr>
      <vt:lpstr>Edge detection: one press, one action</vt:lpstr>
      <vt:lpstr>PowerPoint Presentation</vt:lpstr>
      <vt:lpstr>Do it now  -  see the bug, then the fix</vt:lpstr>
      <vt:lpstr>State: what the vehicle remembers</vt:lpstr>
      <vt:lpstr>Draw only when something changed</vt:lpstr>
      <vt:lpstr>Choosing the lighting picture from what the vehicle is doing</vt:lpstr>
      <vt:lpstr>PowerPoint Presentation</vt:lpstr>
      <vt:lpstr>Do it now  -  drive with lights</vt:lpstr>
      <vt:lpstr>PowerPoint Presentation</vt:lpstr>
      <vt:lpstr>pathfinder_ps3  -  what it adds</vt:lpstr>
      <vt:lpstr>A servo listens to the LENGTH of a pulse</vt:lpstr>
      <vt:lpstr>What the servo outputs are for</vt:lpstr>
      <vt:lpstr>The last two additions</vt:lpstr>
      <vt:lpstr>Putting it all together  -  read pathfinder_ps3 in six passes</vt:lpstr>
      <vt:lpstr>Six things to be able to explain before you upload it</vt:lpstr>
      <vt:lpstr>Do it now  -  the real thing</vt:lpstr>
      <vt:lpstr>Calibrate, then race</vt:lpstr>
      <vt:lpstr>Take it further  -  projects that fit on this vehicle</vt:lpstr>
      <vt:lpstr>Two of those, already built</vt:lpstr>
      <vt:lpstr>Where this goes next</vt:lpstr>
      <vt:lpstr>Why this is worth your time</vt:lpstr>
      <vt:lpstr>Check yourself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Kevin Bowen</cp:lastModifiedBy>
  <cp:revision>1</cp:revision>
  <dcterms:created xsi:type="dcterms:W3CDTF">2013-01-27T09:14:16Z</dcterms:created>
  <dcterms:modified xsi:type="dcterms:W3CDTF">2026-09-07T18:35:18Z</dcterms:modified>
  <cp:category/>
</cp:coreProperties>
</file>