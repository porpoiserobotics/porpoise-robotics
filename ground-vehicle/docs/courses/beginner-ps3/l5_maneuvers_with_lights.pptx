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201168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1051560"/>
            <a:ext cx="6492240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defRPr sz="1600" b="1">
                <a:solidFill>
                  <a:srgbClr val="0E7C86"/>
                </a:solidFill>
                <a:latin typeface="Calibri"/>
              </a:defRPr>
            </a:pPr>
            <a:r>
              <a:rPr sz="1600" b="1">
                <a:solidFill>
                  <a:srgbClr val="0E7C86"/>
                </a:solidFill>
                <a:latin typeface="Calibri"/>
              </a:rPr>
              <a:t>LESSON 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481328"/>
            <a:ext cx="6492240" cy="15544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95000"/>
              </a:lnSpc>
              <a:spcAft>
                <a:spcPts val="0"/>
              </a:spcAft>
              <a:defRPr sz="4000" b="1">
                <a:solidFill>
                  <a:srgbClr val="1F3A5F"/>
                </a:solidFill>
                <a:latin typeface="Calibri"/>
              </a:defRPr>
            </a:pPr>
            <a:r>
              <a:rPr sz="4000" b="1">
                <a:solidFill>
                  <a:srgbClr val="1F3A5F"/>
                </a:solidFill>
                <a:latin typeface="Calibri"/>
              </a:rPr>
              <a:t>Maneuvers with Lights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3154680"/>
            <a:ext cx="6492240" cy="9601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defRPr sz="1700" b="0">
                <a:solidFill>
                  <a:srgbClr val="222222"/>
                </a:solidFill>
                <a:latin typeface="Calibri"/>
              </a:defRPr>
            </a:pPr>
            <a:r>
              <a:rPr sz="1700" b="0">
                <a:solidFill>
                  <a:srgbClr val="222222"/>
                </a:solidFill>
                <a:latin typeface="Calibri"/>
              </a:rPr>
              <a:t>Non-blocking timing, edge detection, and the full pathfinder_ps3 program.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4224528"/>
            <a:ext cx="6492240" cy="13716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  <a:defRPr sz="1300" b="0">
                <a:solidFill>
                  <a:srgbClr val="666666"/>
                </a:solidFill>
                <a:latin typeface="Calibri"/>
              </a:defRPr>
            </a:pPr>
            <a:r>
              <a:rPr sz="1300" b="0">
                <a:solidFill>
                  <a:srgbClr val="666666"/>
                </a:solidFill>
                <a:latin typeface="Calibri"/>
              </a:rPr>
              <a:t>Porpoise Robotics  -  porpoiserobotics.org</a:t>
            </a:r>
          </a:p>
          <a:p>
            <a:pPr algn="l">
              <a:lnSpc>
                <a:spcPct val="100000"/>
              </a:lnSpc>
              <a:spcAft>
                <a:spcPts val="200"/>
              </a:spcAft>
              <a:defRPr sz="1300" b="0">
                <a:solidFill>
                  <a:srgbClr val="666666"/>
                </a:solidFill>
                <a:latin typeface="Calibri"/>
              </a:defRPr>
            </a:pPr>
            <a:r>
              <a:rPr sz="1300" b="0">
                <a:solidFill>
                  <a:srgbClr val="666666"/>
                </a:solidFill>
                <a:latin typeface="Calibri"/>
              </a:rPr>
              <a:t>Kevin P. Bowen, President  -  kbowen6@icloud.com</a:t>
            </a:r>
          </a:p>
          <a:p>
            <a:pPr algn="l">
              <a:lnSpc>
                <a:spcPct val="100000"/>
              </a:lnSpc>
              <a:spcAft>
                <a:spcPts val="200"/>
              </a:spcAft>
              <a:defRPr sz="1300" b="0">
                <a:solidFill>
                  <a:srgbClr val="666666"/>
                </a:solidFill>
                <a:latin typeface="Calibri"/>
              </a:defRPr>
            </a:pPr>
          </a:p>
          <a:p>
            <a:pPr algn="l">
              <a:lnSpc>
                <a:spcPct val="100000"/>
              </a:lnSpc>
              <a:spcAft>
                <a:spcPts val="200"/>
              </a:spcAft>
              <a:defRPr sz="1300" b="0">
                <a:solidFill>
                  <a:srgbClr val="666666"/>
                </a:solidFill>
                <a:latin typeface="Calibri"/>
              </a:defRPr>
            </a:pPr>
            <a:r>
              <a:rPr sz="1300" b="0">
                <a:solidFill>
                  <a:srgbClr val="666666"/>
                </a:solidFill>
                <a:latin typeface="Calibri"/>
              </a:rPr>
              <a:t>Three hours.  Bring a charged battery.</a:t>
            </a:r>
          </a:p>
        </p:txBody>
      </p:sp>
      <p:pic>
        <p:nvPicPr>
          <p:cNvPr id="7" name="Picture 6" descr="vehicle-side-blue-leds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223760" y="1371600"/>
            <a:ext cx="4480560" cy="336042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502920" y="6144768"/>
            <a:ext cx="11185855" cy="5029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defRPr sz="900" b="0">
                <a:solidFill>
                  <a:srgbClr val="666666"/>
                </a:solidFill>
                <a:latin typeface="Calibri"/>
              </a:defRPr>
            </a:pPr>
            <a:r>
              <a:rPr sz="900" b="0">
                <a:solidFill>
                  <a:srgbClr val="666666"/>
                </a:solidFill>
                <a:latin typeface="Calibri"/>
              </a:rPr>
              <a:t>Porpoise Robotics - proprietary. For use with Porpoise Robotics lessons.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2920" y="274320"/>
            <a:ext cx="11185855" cy="777240"/>
          </a:xfrm>
        </p:spPr>
        <p:txBody>
          <a:bodyPr wrap="square" anchor="b"/>
          <a:lstStyle/>
          <a:p>
            <a:pPr algn="l">
              <a:lnSpc>
                <a:spcPct val="100000"/>
              </a:lnSpc>
              <a:spcAft>
                <a:spcPts val="0"/>
              </a:spcAft>
              <a:defRPr sz="2800" b="1">
                <a:solidFill>
                  <a:srgbClr val="1F3A5F"/>
                </a:solidFill>
                <a:latin typeface="Calibri"/>
              </a:defRPr>
            </a:pPr>
            <a:r>
              <a:rPr sz="2800" b="1">
                <a:solidFill>
                  <a:srgbClr val="1F3A5F"/>
                </a:solidFill>
                <a:latin typeface="Calibri"/>
              </a:rPr>
              <a:t>Everything so far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097280"/>
            <a:ext cx="11185855" cy="19050"/>
          </a:xfrm>
          <a:prstGeom prst="rect">
            <a:avLst/>
          </a:prstGeom>
          <a:solidFill>
            <a:srgbClr val="C8D2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6382512"/>
            <a:ext cx="10545775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defRPr sz="900" b="0">
                <a:solidFill>
                  <a:srgbClr val="666666"/>
                </a:solidFill>
                <a:latin typeface="Calibri"/>
              </a:defRPr>
            </a:pPr>
            <a:r>
              <a:rPr sz="900" b="0">
                <a:solidFill>
                  <a:srgbClr val="666666"/>
                </a:solidFill>
                <a:latin typeface="Calibri"/>
              </a:rPr>
              <a:t>Pathfinder Beginner - PS3  |  Lesson 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31575" y="6382512"/>
            <a:ext cx="457200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  <a:defRPr sz="900" b="0">
                <a:solidFill>
                  <a:srgbClr val="666666"/>
                </a:solidFill>
                <a:latin typeface="Calibri"/>
              </a:defRPr>
            </a:pPr>
            <a:r>
              <a:rPr sz="900" b="0">
                <a:solidFill>
                  <a:srgbClr val="666666"/>
                </a:solidFill>
                <a:latin typeface="Calibri"/>
              </a:rPr>
              <a:t>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1188720"/>
            <a:ext cx="11185855" cy="40233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9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Lesson 1  -  the toolchain, the three parts of a program, digital output, the Serial Monitor.</a:t>
            </a:r>
          </a:p>
          <a:p>
            <a:pPr algn="l">
              <a:lnSpc>
                <a:spcPct val="100000"/>
              </a:lnSpc>
              <a:spcAft>
                <a:spcPts val="9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Lesson 2  -  H-bridges, PWM and duty cycle, tank drive, dead reckoning, and the maths that predicts where the vehicle ends up.</a:t>
            </a:r>
          </a:p>
          <a:p>
            <a:pPr algn="l">
              <a:lnSpc>
                <a:spcPct val="100000"/>
              </a:lnSpc>
              <a:spcAft>
                <a:spcPts val="9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Lesson 3  -  Bluetooth, one vehicle per controller, deadzones, map(), mixing, and the failsafe.</a:t>
            </a:r>
          </a:p>
          <a:p>
            <a:pPr algn="l">
              <a:lnSpc>
                <a:spcPct val="100000"/>
              </a:lnSpc>
              <a:spcAft>
                <a:spcPts val="9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Lesson 4  -  addressable LEDs, colour and perception, the power budget, the LED map, and four patterns.</a:t>
            </a:r>
          </a:p>
          <a:p>
            <a:pPr algn="l">
              <a:lnSpc>
                <a:spcPct val="100000"/>
              </a:lnSpc>
              <a:spcAft>
                <a:spcPts val="9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</a:p>
          <a:p>
            <a:pPr algn="l">
              <a:lnSpc>
                <a:spcPct val="100000"/>
              </a:lnSpc>
              <a:spcAft>
                <a:spcPts val="9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Today: two more ideas, and then all of it at once.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5303520"/>
            <a:ext cx="11185855" cy="960120"/>
          </a:xfrm>
          <a:prstGeom prst="roundRect">
            <a:avLst>
              <a:gd name="adj" fmla="val 4000"/>
            </a:avLst>
          </a:prstGeom>
          <a:solidFill>
            <a:srgbClr val="EEF3F8"/>
          </a:solidFill>
          <a:ln w="12700">
            <a:solidFill>
              <a:srgbClr val="0E7C8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73152" bIns="73152"/>
          <a:lstStyle/>
          <a:p>
            <a:pPr algn="l"/>
            <a:r>
              <a:rPr sz="1300" b="1">
                <a:solidFill>
                  <a:srgbClr val="0E7C86"/>
                </a:solidFill>
                <a:latin typeface="Calibri"/>
              </a:rPr>
              <a:t>KEY POINT   </a:t>
            </a:r>
            <a:r>
              <a:rPr sz="1500">
                <a:solidFill>
                  <a:srgbClr val="222222"/>
                </a:solidFill>
                <a:latin typeface="Calibri"/>
              </a:rPr>
              <a:t>By the end of today you will be driving the same program that leaves the factory on a finished vehicle.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2920" y="274320"/>
            <a:ext cx="11185855" cy="777240"/>
          </a:xfrm>
        </p:spPr>
        <p:txBody>
          <a:bodyPr wrap="square" anchor="b"/>
          <a:lstStyle/>
          <a:p>
            <a:pPr algn="l">
              <a:lnSpc>
                <a:spcPct val="100000"/>
              </a:lnSpc>
              <a:spcAft>
                <a:spcPts val="0"/>
              </a:spcAft>
              <a:defRPr sz="2800" b="1">
                <a:solidFill>
                  <a:srgbClr val="1F3A5F"/>
                </a:solidFill>
                <a:latin typeface="Calibri"/>
              </a:defRPr>
            </a:pPr>
            <a:r>
              <a:rPr sz="2800" b="1">
                <a:solidFill>
                  <a:srgbClr val="1F3A5F"/>
                </a:solidFill>
                <a:latin typeface="Calibri"/>
              </a:rPr>
              <a:t>Today, in order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097280"/>
            <a:ext cx="11185855" cy="19050"/>
          </a:xfrm>
          <a:prstGeom prst="rect">
            <a:avLst/>
          </a:prstGeom>
          <a:solidFill>
            <a:srgbClr val="C8D2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6382512"/>
            <a:ext cx="10545775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defRPr sz="900" b="0">
                <a:solidFill>
                  <a:srgbClr val="666666"/>
                </a:solidFill>
                <a:latin typeface="Calibri"/>
              </a:defRPr>
            </a:pPr>
            <a:r>
              <a:rPr sz="900" b="0">
                <a:solidFill>
                  <a:srgbClr val="666666"/>
                </a:solidFill>
                <a:latin typeface="Calibri"/>
              </a:rPr>
              <a:t>Pathfinder Beginner - PS3  |  Lesson 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31575" y="6382512"/>
            <a:ext cx="457200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  <a:defRPr sz="900" b="0">
                <a:solidFill>
                  <a:srgbClr val="666666"/>
                </a:solidFill>
                <a:latin typeface="Calibri"/>
              </a:defRPr>
            </a:pPr>
            <a:r>
              <a:rPr sz="900" b="0">
                <a:solidFill>
                  <a:srgbClr val="666666"/>
                </a:solidFill>
                <a:latin typeface="Calibri"/>
              </a:rPr>
              <a:t>2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02920" y="1188720"/>
          <a:ext cx="11185854" cy="29845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18585"/>
                <a:gridCol w="10067269"/>
              </a:tblGrid>
              <a:tr h="298450"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  <a:latin typeface="Calibri"/>
                        </a:rPr>
                        <a:t>Time</a:t>
                      </a:r>
                    </a:p>
                  </a:txBody>
                  <a:tcPr marL="73152" marT="18288" marB="18288"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  <a:latin typeface="Calibri"/>
                        </a:rPr>
                        <a:t>What we do</a:t>
                      </a:r>
                    </a:p>
                  </a:txBody>
                  <a:tcPr marL="73152" marT="18288" marB="18288">
                    <a:solidFill>
                      <a:srgbClr val="1F3A5F"/>
                    </a:solidFill>
                  </a:tcPr>
                </a:tc>
              </a:tr>
              <a:tr h="298450"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222222"/>
                          </a:solidFill>
                          <a:latin typeface="Calibri"/>
                        </a:rPr>
                        <a:t>0:00</a:t>
                      </a:r>
                    </a:p>
                  </a:txBody>
                  <a:tcPr marL="73152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222222"/>
                          </a:solidFill>
                          <a:latin typeface="Calibri"/>
                        </a:rPr>
                        <a:t>Recap. Why delay() has to go</a:t>
                      </a:r>
                    </a:p>
                  </a:txBody>
                  <a:tcPr marL="73152" marT="18288" marB="18288">
                    <a:solidFill>
                      <a:srgbClr val="FFFFFF"/>
                    </a:solidFill>
                  </a:tcPr>
                </a:tc>
              </a:tr>
              <a:tr h="298450"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222222"/>
                          </a:solidFill>
                          <a:latin typeface="Calibri"/>
                        </a:rPr>
                        <a:t>0:25</a:t>
                      </a:r>
                    </a:p>
                  </a:txBody>
                  <a:tcPr marL="73152" marT="18288" marB="18288">
                    <a:solidFill>
                      <a:srgbClr val="EEF3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222222"/>
                          </a:solidFill>
                          <a:latin typeface="Calibri"/>
                        </a:rPr>
                        <a:t>Upload l5a_millis_not_delay</a:t>
                      </a:r>
                    </a:p>
                  </a:txBody>
                  <a:tcPr marL="73152" marT="18288" marB="18288">
                    <a:solidFill>
                      <a:srgbClr val="EEF3F8"/>
                    </a:solidFill>
                  </a:tcPr>
                </a:tc>
              </a:tr>
              <a:tr h="298450"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222222"/>
                          </a:solidFill>
                          <a:latin typeface="Calibri"/>
                        </a:rPr>
                        <a:t>0:45</a:t>
                      </a:r>
                    </a:p>
                  </a:txBody>
                  <a:tcPr marL="73152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222222"/>
                          </a:solidFill>
                          <a:latin typeface="Calibri"/>
                        </a:rPr>
                        <a:t>Edge detection. Upload l5b_button_toggle</a:t>
                      </a:r>
                    </a:p>
                  </a:txBody>
                  <a:tcPr marL="73152" marT="18288" marB="18288">
                    <a:solidFill>
                      <a:srgbClr val="FFFFFF"/>
                    </a:solidFill>
                  </a:tcPr>
                </a:tc>
              </a:tr>
              <a:tr h="298450"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222222"/>
                          </a:solidFill>
                          <a:latin typeface="Calibri"/>
                        </a:rPr>
                        <a:t>1:10</a:t>
                      </a:r>
                    </a:p>
                  </a:txBody>
                  <a:tcPr marL="73152" marT="18288" marB="18288">
                    <a:solidFill>
                      <a:srgbClr val="EEF3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222222"/>
                          </a:solidFill>
                          <a:latin typeface="Calibri"/>
                        </a:rPr>
                        <a:t>Break</a:t>
                      </a:r>
                    </a:p>
                  </a:txBody>
                  <a:tcPr marL="73152" marT="18288" marB="18288">
                    <a:solidFill>
                      <a:srgbClr val="EEF3F8"/>
                    </a:solidFill>
                  </a:tcPr>
                </a:tc>
              </a:tr>
              <a:tr h="298450"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222222"/>
                          </a:solidFill>
                          <a:latin typeface="Calibri"/>
                        </a:rPr>
                        <a:t>1:20</a:t>
                      </a:r>
                    </a:p>
                  </a:txBody>
                  <a:tcPr marL="73152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222222"/>
                          </a:solidFill>
                          <a:latin typeface="Calibri"/>
                        </a:rPr>
                        <a:t>Driving lights from driving state. Upload l5c_drive_with_lights</a:t>
                      </a:r>
                    </a:p>
                  </a:txBody>
                  <a:tcPr marL="73152" marT="18288" marB="18288">
                    <a:solidFill>
                      <a:srgbClr val="FFFFFF"/>
                    </a:solidFill>
                  </a:tcPr>
                </a:tc>
              </a:tr>
              <a:tr h="298450"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222222"/>
                          </a:solidFill>
                          <a:latin typeface="Calibri"/>
                        </a:rPr>
                        <a:t>1:50</a:t>
                      </a:r>
                    </a:p>
                  </a:txBody>
                  <a:tcPr marL="73152" marT="18288" marB="18288">
                    <a:solidFill>
                      <a:srgbClr val="EEF3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222222"/>
                          </a:solidFill>
                          <a:latin typeface="Calibri"/>
                        </a:rPr>
                        <a:t>A tour of pathfinder_ps3</a:t>
                      </a:r>
                    </a:p>
                  </a:txBody>
                  <a:tcPr marL="73152" marT="18288" marB="18288">
                    <a:solidFill>
                      <a:srgbClr val="EEF3F8"/>
                    </a:solidFill>
                  </a:tcPr>
                </a:tc>
              </a:tr>
              <a:tr h="298450"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222222"/>
                          </a:solidFill>
                          <a:latin typeface="Calibri"/>
                        </a:rPr>
                        <a:t>2:15</a:t>
                      </a:r>
                    </a:p>
                  </a:txBody>
                  <a:tcPr marL="73152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222222"/>
                          </a:solidFill>
                          <a:latin typeface="Calibri"/>
                        </a:rPr>
                        <a:t>Servos, the scanner, and sharp steering</a:t>
                      </a:r>
                    </a:p>
                  </a:txBody>
                  <a:tcPr marL="73152" marT="18288" marB="18288">
                    <a:solidFill>
                      <a:srgbClr val="FFFFFF"/>
                    </a:solidFill>
                  </a:tcPr>
                </a:tc>
              </a:tr>
              <a:tr h="298450"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222222"/>
                          </a:solidFill>
                          <a:latin typeface="Calibri"/>
                        </a:rPr>
                        <a:t>2:30</a:t>
                      </a:r>
                    </a:p>
                  </a:txBody>
                  <a:tcPr marL="73152" marT="18288" marB="18288">
                    <a:solidFill>
                      <a:srgbClr val="EEF3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222222"/>
                          </a:solidFill>
                          <a:latin typeface="Calibri"/>
                        </a:rPr>
                        <a:t>Calibrate, then race</a:t>
                      </a:r>
                    </a:p>
                  </a:txBody>
                  <a:tcPr marL="73152" marT="18288" marB="18288">
                    <a:solidFill>
                      <a:srgbClr val="EEF3F8"/>
                    </a:solidFill>
                  </a:tcPr>
                </a:tc>
              </a:tr>
              <a:tr h="298450"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222222"/>
                          </a:solidFill>
                          <a:latin typeface="Calibri"/>
                        </a:rPr>
                        <a:t>2:55</a:t>
                      </a:r>
                    </a:p>
                  </a:txBody>
                  <a:tcPr marL="73152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222222"/>
                          </a:solidFill>
                          <a:latin typeface="Calibri"/>
                        </a:rPr>
                        <a:t>Where this course goes next</a:t>
                      </a:r>
                    </a:p>
                  </a:txBody>
                  <a:tcPr marL="73152" marT="18288" marB="18288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2920" y="274320"/>
            <a:ext cx="11185855" cy="777240"/>
          </a:xfrm>
        </p:spPr>
        <p:txBody>
          <a:bodyPr wrap="square" anchor="b"/>
          <a:lstStyle/>
          <a:p>
            <a:pPr algn="l">
              <a:lnSpc>
                <a:spcPct val="100000"/>
              </a:lnSpc>
              <a:spcAft>
                <a:spcPts val="0"/>
              </a:spcAft>
              <a:defRPr sz="2800" b="1">
                <a:solidFill>
                  <a:srgbClr val="1F3A5F"/>
                </a:solidFill>
                <a:latin typeface="Calibri"/>
              </a:defRPr>
            </a:pPr>
            <a:r>
              <a:rPr sz="2800" b="1">
                <a:solidFill>
                  <a:srgbClr val="1F3A5F"/>
                </a:solidFill>
                <a:latin typeface="Calibri"/>
              </a:rPr>
              <a:t>The problem with delay()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097280"/>
            <a:ext cx="11185855" cy="19050"/>
          </a:xfrm>
          <a:prstGeom prst="rect">
            <a:avLst/>
          </a:prstGeom>
          <a:solidFill>
            <a:srgbClr val="C8D2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6382512"/>
            <a:ext cx="10545775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defRPr sz="900" b="0">
                <a:solidFill>
                  <a:srgbClr val="666666"/>
                </a:solidFill>
                <a:latin typeface="Calibri"/>
              </a:defRPr>
            </a:pPr>
            <a:r>
              <a:rPr sz="900" b="0">
                <a:solidFill>
                  <a:srgbClr val="666666"/>
                </a:solidFill>
                <a:latin typeface="Calibri"/>
              </a:rPr>
              <a:t>Pathfinder Beginner - PS3  |  Lesson 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31575" y="6382512"/>
            <a:ext cx="457200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  <a:defRPr sz="900" b="0">
                <a:solidFill>
                  <a:srgbClr val="666666"/>
                </a:solidFill>
                <a:latin typeface="Calibri"/>
              </a:defRPr>
            </a:pPr>
            <a:r>
              <a:rPr sz="900" b="0">
                <a:solidFill>
                  <a:srgbClr val="666666"/>
                </a:solidFill>
                <a:latin typeface="Calibri"/>
              </a:rPr>
              <a:t>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1188720"/>
            <a:ext cx="11185855" cy="53035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  <a:defRPr sz="1900" b="1">
                <a:solidFill>
                  <a:srgbClr val="0E7C86"/>
                </a:solidFill>
                <a:latin typeface="Calibri"/>
              </a:defRPr>
            </a:pPr>
            <a:r>
              <a:rPr sz="1900" b="1">
                <a:solidFill>
                  <a:srgbClr val="0E7C86"/>
                </a:solidFill>
                <a:latin typeface="Calibri"/>
              </a:rPr>
              <a:t>It does not wait. It stops.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1755648"/>
            <a:ext cx="11185855" cy="345643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  <a:defRPr sz="1500" b="0">
                <a:solidFill>
                  <a:srgbClr val="222222"/>
                </a:solidFill>
                <a:latin typeface="Calibri"/>
              </a:defRPr>
            </a:pPr>
            <a:r>
              <a:rPr sz="1500" b="0">
                <a:solidFill>
                  <a:srgbClr val="222222"/>
                </a:solidFill>
                <a:latin typeface="Calibri"/>
              </a:rPr>
              <a:t>delay(1000) does not mean "come back in a second". It means "stand here and do absolutely nothing for a second".</a:t>
            </a:r>
          </a:p>
          <a:p>
            <a:pPr algn="l">
              <a:lnSpc>
                <a:spcPct val="100000"/>
              </a:lnSpc>
              <a:spcAft>
                <a:spcPts val="600"/>
              </a:spcAft>
              <a:defRPr sz="1500" b="0">
                <a:solidFill>
                  <a:srgbClr val="222222"/>
                </a:solidFill>
                <a:latin typeface="Calibri"/>
              </a:defRPr>
            </a:pPr>
          </a:p>
          <a:p>
            <a:pPr algn="l">
              <a:lnSpc>
                <a:spcPct val="100000"/>
              </a:lnSpc>
              <a:spcAft>
                <a:spcPts val="600"/>
              </a:spcAft>
              <a:defRPr sz="1500" b="0">
                <a:solidFill>
                  <a:srgbClr val="222222"/>
                </a:solidFill>
                <a:latin typeface="Calibri"/>
              </a:defRPr>
            </a:pPr>
            <a:r>
              <a:rPr sz="1500" b="0">
                <a:solidFill>
                  <a:srgbClr val="222222"/>
                </a:solidFill>
                <a:latin typeface="Calibri"/>
              </a:rPr>
              <a:t>While the ESP32 is inside a delay() it is not reading the controller, not checking anything, and not updating any other light. Everything stops.</a:t>
            </a:r>
          </a:p>
          <a:p>
            <a:pPr algn="l">
              <a:lnSpc>
                <a:spcPct val="100000"/>
              </a:lnSpc>
              <a:spcAft>
                <a:spcPts val="600"/>
              </a:spcAft>
              <a:defRPr sz="1500" b="0">
                <a:solidFill>
                  <a:srgbClr val="222222"/>
                </a:solidFill>
                <a:latin typeface="Calibri"/>
              </a:defRPr>
            </a:pPr>
          </a:p>
          <a:p>
            <a:pPr algn="l">
              <a:lnSpc>
                <a:spcPct val="100000"/>
              </a:lnSpc>
              <a:spcAft>
                <a:spcPts val="600"/>
              </a:spcAft>
              <a:defRPr sz="1500" b="0">
                <a:solidFill>
                  <a:srgbClr val="222222"/>
                </a:solidFill>
                <a:latin typeface="Calibri"/>
              </a:defRPr>
            </a:pPr>
            <a:r>
              <a:rPr sz="1500" b="0">
                <a:solidFill>
                  <a:srgbClr val="222222"/>
                </a:solidFill>
                <a:latin typeface="Calibri"/>
              </a:rPr>
              <a:t>In Lesson 2 that was fine, because blinking was all we wanted. But now we need a turn signal every 300 ms, a scanner every 40 ms, and the motors updated as fast as possible - and you cannot write those three numbers as delays without them fighting.</a:t>
            </a:r>
          </a:p>
          <a:p>
            <a:pPr algn="l">
              <a:lnSpc>
                <a:spcPct val="100000"/>
              </a:lnSpc>
              <a:spcAft>
                <a:spcPts val="600"/>
              </a:spcAft>
              <a:defRPr sz="1500" b="0">
                <a:solidFill>
                  <a:srgbClr val="222222"/>
                </a:solidFill>
                <a:latin typeface="Calibri"/>
              </a:defRPr>
            </a:pPr>
          </a:p>
          <a:p>
            <a:pPr algn="l">
              <a:lnSpc>
                <a:spcPct val="100000"/>
              </a:lnSpc>
              <a:spcAft>
                <a:spcPts val="600"/>
              </a:spcAft>
              <a:defRPr sz="1500" b="0">
                <a:solidFill>
                  <a:srgbClr val="222222"/>
                </a:solidFill>
                <a:latin typeface="Calibri"/>
              </a:defRPr>
            </a:pPr>
            <a:r>
              <a:rPr sz="1500" b="0">
                <a:solidFill>
                  <a:srgbClr val="222222"/>
                </a:solidFill>
                <a:latin typeface="Calibri"/>
              </a:rPr>
              <a:t>The old System Test program did exactly this. Press a button and the vehicle froze for two seconds while the light pattern played, still holding whatever motor command was last set. That is why it was replaced.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02920" y="5303520"/>
            <a:ext cx="11185855" cy="960120"/>
          </a:xfrm>
          <a:prstGeom prst="roundRect">
            <a:avLst>
              <a:gd name="adj" fmla="val 4000"/>
            </a:avLst>
          </a:prstGeom>
          <a:solidFill>
            <a:srgbClr val="FDF3E3"/>
          </a:solidFill>
          <a:ln w="12700">
            <a:solidFill>
              <a:srgbClr val="B46A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73152" bIns="73152"/>
          <a:lstStyle/>
          <a:p>
            <a:pPr algn="l"/>
            <a:r>
              <a:rPr sz="1300" b="1">
                <a:solidFill>
                  <a:srgbClr val="B46A0F"/>
                </a:solidFill>
                <a:latin typeface="Calibri"/>
              </a:rPr>
              <a:t>WATCH OUT   </a:t>
            </a:r>
            <a:r>
              <a:rPr sz="1500">
                <a:solidFill>
                  <a:srgbClr val="222222"/>
                </a:solidFill>
                <a:latin typeface="Calibri"/>
              </a:rPr>
              <a:t>This is the single biggest difference between a program that works on the bench and one that works on a vehicle.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2920" y="274320"/>
            <a:ext cx="11185855" cy="777240"/>
          </a:xfrm>
        </p:spPr>
        <p:txBody>
          <a:bodyPr wrap="square" anchor="b"/>
          <a:lstStyle/>
          <a:p>
            <a:pPr algn="l">
              <a:lnSpc>
                <a:spcPct val="100000"/>
              </a:lnSpc>
              <a:spcAft>
                <a:spcPts val="0"/>
              </a:spcAft>
              <a:defRPr sz="2800" b="1">
                <a:solidFill>
                  <a:srgbClr val="1F3A5F"/>
                </a:solidFill>
                <a:latin typeface="Calibri"/>
              </a:defRPr>
            </a:pPr>
            <a:r>
              <a:rPr sz="2800" b="1">
                <a:solidFill>
                  <a:srgbClr val="1F3A5F"/>
                </a:solidFill>
                <a:latin typeface="Calibri"/>
              </a:rPr>
              <a:t>Why the vehicle programs never call delay()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097280"/>
            <a:ext cx="11185855" cy="19050"/>
          </a:xfrm>
          <a:prstGeom prst="rect">
            <a:avLst/>
          </a:prstGeom>
          <a:solidFill>
            <a:srgbClr val="C8D2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6382512"/>
            <a:ext cx="10545775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defRPr sz="900" b="0">
                <a:solidFill>
                  <a:srgbClr val="666666"/>
                </a:solidFill>
                <a:latin typeface="Calibri"/>
              </a:defRPr>
            </a:pPr>
            <a:r>
              <a:rPr sz="900" b="0">
                <a:solidFill>
                  <a:srgbClr val="666666"/>
                </a:solidFill>
                <a:latin typeface="Calibri"/>
              </a:rPr>
              <a:t>Pathfinder Beginner - PS3  |  Lesson 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31575" y="6382512"/>
            <a:ext cx="457200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  <a:defRPr sz="900" b="0">
                <a:solidFill>
                  <a:srgbClr val="666666"/>
                </a:solidFill>
                <a:latin typeface="Calibri"/>
              </a:defRPr>
            </a:pPr>
            <a:r>
              <a:rPr sz="900" b="0">
                <a:solidFill>
                  <a:srgbClr val="666666"/>
                </a:solidFill>
                <a:latin typeface="Calibri"/>
              </a:rPr>
              <a:t>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1581912"/>
            <a:ext cx="1645920" cy="5486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100"/>
              </a:spcAft>
              <a:defRPr sz="1300" b="1">
                <a:solidFill>
                  <a:srgbClr val="A32A2A"/>
                </a:solidFill>
                <a:latin typeface="Calibri"/>
              </a:defRPr>
            </a:pPr>
            <a:r>
              <a:rPr sz="1300" b="1">
                <a:solidFill>
                  <a:srgbClr val="A32A2A"/>
                </a:solidFill>
                <a:latin typeface="Calibri"/>
              </a:rPr>
              <a:t>with delay()</a:t>
            </a:r>
          </a:p>
          <a:p>
            <a:pPr algn="l">
              <a:lnSpc>
                <a:spcPct val="100000"/>
              </a:lnSpc>
              <a:spcAft>
                <a:spcPts val="100"/>
              </a:spcAft>
              <a:defRPr sz="1300" b="1">
                <a:solidFill>
                  <a:srgbClr val="A32A2A"/>
                </a:solidFill>
                <a:latin typeface="Calibri"/>
              </a:defRPr>
            </a:pPr>
            <a:r>
              <a:rPr sz="1300" b="1">
                <a:solidFill>
                  <a:srgbClr val="A32A2A"/>
                </a:solidFill>
                <a:latin typeface="Calibri"/>
              </a:rPr>
              <a:t>one job only</a:t>
            </a:r>
          </a:p>
        </p:txBody>
      </p:sp>
      <p:sp>
        <p:nvSpPr>
          <p:cNvPr id="7" name="Rectangle 6"/>
          <p:cNvSpPr/>
          <p:nvPr/>
        </p:nvSpPr>
        <p:spPr>
          <a:xfrm>
            <a:off x="2240280" y="1600200"/>
            <a:ext cx="850392" cy="502920"/>
          </a:xfrm>
          <a:prstGeom prst="rect">
            <a:avLst/>
          </a:prstGeom>
          <a:solidFill>
            <a:srgbClr val="D6ECEE"/>
          </a:solidFill>
          <a:ln w="9525">
            <a:solidFill>
              <a:srgbClr val="C8D2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ctr">
              <a:lnSpc>
                <a:spcPct val="100000"/>
              </a:lnSpc>
              <a:spcAft>
                <a:spcPts val="0"/>
              </a:spcAft>
              <a:defRPr sz="1100" b="0">
                <a:solidFill>
                  <a:srgbClr val="222222"/>
                </a:solidFill>
                <a:latin typeface="Calibri"/>
              </a:defRPr>
            </a:pPr>
            <a:r>
              <a:rPr sz="1100" b="0">
                <a:solidFill>
                  <a:srgbClr val="222222"/>
                </a:solidFill>
                <a:latin typeface="Calibri"/>
              </a:rPr>
              <a:t>blink</a:t>
            </a:r>
          </a:p>
        </p:txBody>
      </p:sp>
      <p:sp>
        <p:nvSpPr>
          <p:cNvPr id="8" name="Rectangle 7"/>
          <p:cNvSpPr/>
          <p:nvPr/>
        </p:nvSpPr>
        <p:spPr>
          <a:xfrm>
            <a:off x="3090672" y="1600200"/>
            <a:ext cx="3401568" cy="502920"/>
          </a:xfrm>
          <a:prstGeom prst="rect">
            <a:avLst/>
          </a:prstGeom>
          <a:solidFill>
            <a:srgbClr val="F6D8D8"/>
          </a:solidFill>
          <a:ln w="9525">
            <a:solidFill>
              <a:srgbClr val="C8D2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ctr">
              <a:lnSpc>
                <a:spcPct val="100000"/>
              </a:lnSpc>
              <a:spcAft>
                <a:spcPts val="0"/>
              </a:spcAft>
              <a:defRPr sz="1100" b="0">
                <a:solidFill>
                  <a:srgbClr val="222222"/>
                </a:solidFill>
                <a:latin typeface="Calibri"/>
              </a:defRPr>
            </a:pPr>
            <a:r>
              <a:rPr sz="1100" b="0">
                <a:solidFill>
                  <a:srgbClr val="222222"/>
                </a:solidFill>
                <a:latin typeface="Calibri"/>
              </a:rPr>
              <a:t>frozen - delay(1000)</a:t>
            </a:r>
          </a:p>
        </p:txBody>
      </p:sp>
      <p:sp>
        <p:nvSpPr>
          <p:cNvPr id="9" name="Rectangle 8"/>
          <p:cNvSpPr/>
          <p:nvPr/>
        </p:nvSpPr>
        <p:spPr>
          <a:xfrm>
            <a:off x="6492240" y="1600200"/>
            <a:ext cx="850392" cy="502920"/>
          </a:xfrm>
          <a:prstGeom prst="rect">
            <a:avLst/>
          </a:prstGeom>
          <a:solidFill>
            <a:srgbClr val="D6ECEE"/>
          </a:solidFill>
          <a:ln w="9525">
            <a:solidFill>
              <a:srgbClr val="C8D2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ctr">
              <a:lnSpc>
                <a:spcPct val="100000"/>
              </a:lnSpc>
              <a:spcAft>
                <a:spcPts val="0"/>
              </a:spcAft>
              <a:defRPr sz="1100" b="0">
                <a:solidFill>
                  <a:srgbClr val="222222"/>
                </a:solidFill>
                <a:latin typeface="Calibri"/>
              </a:defRPr>
            </a:pPr>
            <a:r>
              <a:rPr sz="1100" b="0">
                <a:solidFill>
                  <a:srgbClr val="222222"/>
                </a:solidFill>
                <a:latin typeface="Calibri"/>
              </a:rPr>
              <a:t>blink</a:t>
            </a:r>
          </a:p>
        </p:txBody>
      </p:sp>
      <p:sp>
        <p:nvSpPr>
          <p:cNvPr id="10" name="Rectangle 9"/>
          <p:cNvSpPr/>
          <p:nvPr/>
        </p:nvSpPr>
        <p:spPr>
          <a:xfrm>
            <a:off x="7342632" y="1600200"/>
            <a:ext cx="3401568" cy="502920"/>
          </a:xfrm>
          <a:prstGeom prst="rect">
            <a:avLst/>
          </a:prstGeom>
          <a:solidFill>
            <a:srgbClr val="F6D8D8"/>
          </a:solidFill>
          <a:ln w="9525">
            <a:solidFill>
              <a:srgbClr val="C8D2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ctr">
              <a:lnSpc>
                <a:spcPct val="100000"/>
              </a:lnSpc>
              <a:spcAft>
                <a:spcPts val="0"/>
              </a:spcAft>
              <a:defRPr sz="1100" b="0">
                <a:solidFill>
                  <a:srgbClr val="222222"/>
                </a:solidFill>
                <a:latin typeface="Calibri"/>
              </a:defRPr>
            </a:pPr>
            <a:r>
              <a:rPr sz="1100" b="0">
                <a:solidFill>
                  <a:srgbClr val="222222"/>
                </a:solidFill>
                <a:latin typeface="Calibri"/>
              </a:rPr>
              <a:t>frozen - delay(1000)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240280" y="2167128"/>
            <a:ext cx="850392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100"/>
              </a:spcAft>
              <a:defRPr sz="1100" b="0">
                <a:solidFill>
                  <a:srgbClr val="A32A2A"/>
                </a:solidFill>
                <a:latin typeface="Calibri"/>
              </a:defRPr>
            </a:pPr>
            <a:r>
              <a:rPr sz="1100" b="0">
                <a:solidFill>
                  <a:srgbClr val="A32A2A"/>
                </a:solidFill>
                <a:latin typeface="Calibri"/>
              </a:rPr>
              <a:t>while it is frozen it is not reading the controller, not checking the battery, and not updating any other light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02920" y="3136392"/>
            <a:ext cx="1645920" cy="5486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100"/>
              </a:spcAft>
              <a:defRPr sz="1300" b="1">
                <a:solidFill>
                  <a:srgbClr val="0E7C86"/>
                </a:solidFill>
                <a:latin typeface="Calibri"/>
              </a:defRPr>
            </a:pPr>
            <a:r>
              <a:rPr sz="1300" b="1">
                <a:solidFill>
                  <a:srgbClr val="0E7C86"/>
                </a:solidFill>
                <a:latin typeface="Calibri"/>
              </a:rPr>
              <a:t>with millis()</a:t>
            </a:r>
          </a:p>
          <a:p>
            <a:pPr algn="l">
              <a:lnSpc>
                <a:spcPct val="100000"/>
              </a:lnSpc>
              <a:spcAft>
                <a:spcPts val="100"/>
              </a:spcAft>
              <a:defRPr sz="1300" b="1">
                <a:solidFill>
                  <a:srgbClr val="0E7C86"/>
                </a:solidFill>
                <a:latin typeface="Calibri"/>
              </a:defRPr>
            </a:pPr>
            <a:r>
              <a:rPr sz="1300" b="1">
                <a:solidFill>
                  <a:srgbClr val="0E7C86"/>
                </a:solidFill>
                <a:latin typeface="Calibri"/>
              </a:rPr>
              <a:t>many jobs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48640" y="3191256"/>
            <a:ext cx="160020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>
              <a:lnSpc>
                <a:spcPct val="100000"/>
              </a:lnSpc>
              <a:spcAft>
                <a:spcPts val="100"/>
              </a:spcAft>
              <a:defRPr sz="1100" b="0">
                <a:solidFill>
                  <a:srgbClr val="0E7C86"/>
                </a:solidFill>
                <a:latin typeface="Calibri"/>
              </a:defRPr>
            </a:pPr>
            <a:r>
              <a:rPr sz="1100" b="0">
                <a:solidFill>
                  <a:srgbClr val="0E7C86"/>
                </a:solidFill>
                <a:latin typeface="Calibri"/>
              </a:rPr>
              <a:t>drive motors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2240280" y="3319272"/>
            <a:ext cx="8503920" cy="0"/>
          </a:xfrm>
          <a:prstGeom prst="line">
            <a:avLst/>
          </a:prstGeom>
          <a:ln w="9525">
            <a:solidFill>
              <a:srgbClr val="C8D2D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Connector 14"/>
          <p:cNvCxnSpPr/>
          <p:nvPr/>
        </p:nvCxnSpPr>
        <p:spPr>
          <a:xfrm>
            <a:off x="2240280" y="3209544"/>
            <a:ext cx="0" cy="219456"/>
          </a:xfrm>
          <a:prstGeom prst="line">
            <a:avLst/>
          </a:prstGeom>
          <a:ln w="25400">
            <a:solidFill>
              <a:srgbClr val="0E7C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Connector 15"/>
          <p:cNvCxnSpPr/>
          <p:nvPr/>
        </p:nvCxnSpPr>
        <p:spPr>
          <a:xfrm>
            <a:off x="2410358" y="3209544"/>
            <a:ext cx="0" cy="219456"/>
          </a:xfrm>
          <a:prstGeom prst="line">
            <a:avLst/>
          </a:prstGeom>
          <a:ln w="25400">
            <a:solidFill>
              <a:srgbClr val="0E7C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Connector 16"/>
          <p:cNvCxnSpPr/>
          <p:nvPr/>
        </p:nvCxnSpPr>
        <p:spPr>
          <a:xfrm>
            <a:off x="2580436" y="3209544"/>
            <a:ext cx="0" cy="219456"/>
          </a:xfrm>
          <a:prstGeom prst="line">
            <a:avLst/>
          </a:prstGeom>
          <a:ln w="25400">
            <a:solidFill>
              <a:srgbClr val="0E7C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Connector 17"/>
          <p:cNvCxnSpPr/>
          <p:nvPr/>
        </p:nvCxnSpPr>
        <p:spPr>
          <a:xfrm>
            <a:off x="2750515" y="3209544"/>
            <a:ext cx="0" cy="219456"/>
          </a:xfrm>
          <a:prstGeom prst="line">
            <a:avLst/>
          </a:prstGeom>
          <a:ln w="25400">
            <a:solidFill>
              <a:srgbClr val="0E7C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Connector 18"/>
          <p:cNvCxnSpPr/>
          <p:nvPr/>
        </p:nvCxnSpPr>
        <p:spPr>
          <a:xfrm>
            <a:off x="2920593" y="3209544"/>
            <a:ext cx="0" cy="219456"/>
          </a:xfrm>
          <a:prstGeom prst="line">
            <a:avLst/>
          </a:prstGeom>
          <a:ln w="25400">
            <a:solidFill>
              <a:srgbClr val="0E7C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Connector 19"/>
          <p:cNvCxnSpPr/>
          <p:nvPr/>
        </p:nvCxnSpPr>
        <p:spPr>
          <a:xfrm>
            <a:off x="3090672" y="3209544"/>
            <a:ext cx="0" cy="219456"/>
          </a:xfrm>
          <a:prstGeom prst="line">
            <a:avLst/>
          </a:prstGeom>
          <a:ln w="25400">
            <a:solidFill>
              <a:srgbClr val="0E7C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>
            <a:off x="3260750" y="3209544"/>
            <a:ext cx="0" cy="219456"/>
          </a:xfrm>
          <a:prstGeom prst="line">
            <a:avLst/>
          </a:prstGeom>
          <a:ln w="25400">
            <a:solidFill>
              <a:srgbClr val="0E7C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>
            <a:off x="3430828" y="3209544"/>
            <a:ext cx="0" cy="219456"/>
          </a:xfrm>
          <a:prstGeom prst="line">
            <a:avLst/>
          </a:prstGeom>
          <a:ln w="25400">
            <a:solidFill>
              <a:srgbClr val="0E7C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>
            <a:off x="3600907" y="3209544"/>
            <a:ext cx="0" cy="219456"/>
          </a:xfrm>
          <a:prstGeom prst="line">
            <a:avLst/>
          </a:prstGeom>
          <a:ln w="25400">
            <a:solidFill>
              <a:srgbClr val="0E7C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>
            <a:off x="3770985" y="3209544"/>
            <a:ext cx="0" cy="219456"/>
          </a:xfrm>
          <a:prstGeom prst="line">
            <a:avLst/>
          </a:prstGeom>
          <a:ln w="25400">
            <a:solidFill>
              <a:srgbClr val="0E7C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>
            <a:off x="3941064" y="3209544"/>
            <a:ext cx="0" cy="219456"/>
          </a:xfrm>
          <a:prstGeom prst="line">
            <a:avLst/>
          </a:prstGeom>
          <a:ln w="25400">
            <a:solidFill>
              <a:srgbClr val="0E7C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>
            <a:off x="4111142" y="3209544"/>
            <a:ext cx="0" cy="219456"/>
          </a:xfrm>
          <a:prstGeom prst="line">
            <a:avLst/>
          </a:prstGeom>
          <a:ln w="25400">
            <a:solidFill>
              <a:srgbClr val="0E7C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" name="Connector 26"/>
          <p:cNvCxnSpPr/>
          <p:nvPr/>
        </p:nvCxnSpPr>
        <p:spPr>
          <a:xfrm>
            <a:off x="4281220" y="3209544"/>
            <a:ext cx="0" cy="219456"/>
          </a:xfrm>
          <a:prstGeom prst="line">
            <a:avLst/>
          </a:prstGeom>
          <a:ln w="25400">
            <a:solidFill>
              <a:srgbClr val="0E7C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" name="Connector 27"/>
          <p:cNvCxnSpPr/>
          <p:nvPr/>
        </p:nvCxnSpPr>
        <p:spPr>
          <a:xfrm>
            <a:off x="4451299" y="3209544"/>
            <a:ext cx="0" cy="219456"/>
          </a:xfrm>
          <a:prstGeom prst="line">
            <a:avLst/>
          </a:prstGeom>
          <a:ln w="25400">
            <a:solidFill>
              <a:srgbClr val="0E7C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" name="Connector 28"/>
          <p:cNvCxnSpPr/>
          <p:nvPr/>
        </p:nvCxnSpPr>
        <p:spPr>
          <a:xfrm>
            <a:off x="4621377" y="3209544"/>
            <a:ext cx="0" cy="219456"/>
          </a:xfrm>
          <a:prstGeom prst="line">
            <a:avLst/>
          </a:prstGeom>
          <a:ln w="25400">
            <a:solidFill>
              <a:srgbClr val="0E7C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/>
          <p:nvPr/>
        </p:nvCxnSpPr>
        <p:spPr>
          <a:xfrm>
            <a:off x="4791456" y="3209544"/>
            <a:ext cx="0" cy="219456"/>
          </a:xfrm>
          <a:prstGeom prst="line">
            <a:avLst/>
          </a:prstGeom>
          <a:ln w="25400">
            <a:solidFill>
              <a:srgbClr val="0E7C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Connector 30"/>
          <p:cNvCxnSpPr/>
          <p:nvPr/>
        </p:nvCxnSpPr>
        <p:spPr>
          <a:xfrm>
            <a:off x="4961534" y="3209544"/>
            <a:ext cx="0" cy="219456"/>
          </a:xfrm>
          <a:prstGeom prst="line">
            <a:avLst/>
          </a:prstGeom>
          <a:ln w="25400">
            <a:solidFill>
              <a:srgbClr val="0E7C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Connector 31"/>
          <p:cNvCxnSpPr/>
          <p:nvPr/>
        </p:nvCxnSpPr>
        <p:spPr>
          <a:xfrm>
            <a:off x="5131612" y="3209544"/>
            <a:ext cx="0" cy="219456"/>
          </a:xfrm>
          <a:prstGeom prst="line">
            <a:avLst/>
          </a:prstGeom>
          <a:ln w="25400">
            <a:solidFill>
              <a:srgbClr val="0E7C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Connector 32"/>
          <p:cNvCxnSpPr/>
          <p:nvPr/>
        </p:nvCxnSpPr>
        <p:spPr>
          <a:xfrm>
            <a:off x="5301691" y="3209544"/>
            <a:ext cx="0" cy="219456"/>
          </a:xfrm>
          <a:prstGeom prst="line">
            <a:avLst/>
          </a:prstGeom>
          <a:ln w="25400">
            <a:solidFill>
              <a:srgbClr val="0E7C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Connector 33"/>
          <p:cNvCxnSpPr/>
          <p:nvPr/>
        </p:nvCxnSpPr>
        <p:spPr>
          <a:xfrm>
            <a:off x="5471769" y="3209544"/>
            <a:ext cx="0" cy="219456"/>
          </a:xfrm>
          <a:prstGeom prst="line">
            <a:avLst/>
          </a:prstGeom>
          <a:ln w="25400">
            <a:solidFill>
              <a:srgbClr val="0E7C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Connector 34"/>
          <p:cNvCxnSpPr/>
          <p:nvPr/>
        </p:nvCxnSpPr>
        <p:spPr>
          <a:xfrm>
            <a:off x="5641848" y="3209544"/>
            <a:ext cx="0" cy="219456"/>
          </a:xfrm>
          <a:prstGeom prst="line">
            <a:avLst/>
          </a:prstGeom>
          <a:ln w="25400">
            <a:solidFill>
              <a:srgbClr val="0E7C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" name="Connector 35"/>
          <p:cNvCxnSpPr/>
          <p:nvPr/>
        </p:nvCxnSpPr>
        <p:spPr>
          <a:xfrm>
            <a:off x="5811926" y="3209544"/>
            <a:ext cx="0" cy="219456"/>
          </a:xfrm>
          <a:prstGeom prst="line">
            <a:avLst/>
          </a:prstGeom>
          <a:ln w="25400">
            <a:solidFill>
              <a:srgbClr val="0E7C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" name="Connector 36"/>
          <p:cNvCxnSpPr/>
          <p:nvPr/>
        </p:nvCxnSpPr>
        <p:spPr>
          <a:xfrm>
            <a:off x="5982004" y="3209544"/>
            <a:ext cx="0" cy="219456"/>
          </a:xfrm>
          <a:prstGeom prst="line">
            <a:avLst/>
          </a:prstGeom>
          <a:ln w="25400">
            <a:solidFill>
              <a:srgbClr val="0E7C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8" name="Connector 37"/>
          <p:cNvCxnSpPr/>
          <p:nvPr/>
        </p:nvCxnSpPr>
        <p:spPr>
          <a:xfrm>
            <a:off x="6152083" y="3209544"/>
            <a:ext cx="0" cy="219456"/>
          </a:xfrm>
          <a:prstGeom prst="line">
            <a:avLst/>
          </a:prstGeom>
          <a:ln w="25400">
            <a:solidFill>
              <a:srgbClr val="0E7C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9" name="Connector 38"/>
          <p:cNvCxnSpPr/>
          <p:nvPr/>
        </p:nvCxnSpPr>
        <p:spPr>
          <a:xfrm>
            <a:off x="6322161" y="3209544"/>
            <a:ext cx="0" cy="219456"/>
          </a:xfrm>
          <a:prstGeom prst="line">
            <a:avLst/>
          </a:prstGeom>
          <a:ln w="25400">
            <a:solidFill>
              <a:srgbClr val="0E7C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" name="Connector 39"/>
          <p:cNvCxnSpPr/>
          <p:nvPr/>
        </p:nvCxnSpPr>
        <p:spPr>
          <a:xfrm>
            <a:off x="6492240" y="3209544"/>
            <a:ext cx="0" cy="219456"/>
          </a:xfrm>
          <a:prstGeom prst="line">
            <a:avLst/>
          </a:prstGeom>
          <a:ln w="25400">
            <a:solidFill>
              <a:srgbClr val="0E7C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1" name="Connector 40"/>
          <p:cNvCxnSpPr/>
          <p:nvPr/>
        </p:nvCxnSpPr>
        <p:spPr>
          <a:xfrm>
            <a:off x="6662318" y="3209544"/>
            <a:ext cx="0" cy="219456"/>
          </a:xfrm>
          <a:prstGeom prst="line">
            <a:avLst/>
          </a:prstGeom>
          <a:ln w="25400">
            <a:solidFill>
              <a:srgbClr val="0E7C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2" name="Connector 41"/>
          <p:cNvCxnSpPr/>
          <p:nvPr/>
        </p:nvCxnSpPr>
        <p:spPr>
          <a:xfrm>
            <a:off x="6832396" y="3209544"/>
            <a:ext cx="0" cy="219456"/>
          </a:xfrm>
          <a:prstGeom prst="line">
            <a:avLst/>
          </a:prstGeom>
          <a:ln w="25400">
            <a:solidFill>
              <a:srgbClr val="0E7C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3" name="Connector 42"/>
          <p:cNvCxnSpPr/>
          <p:nvPr/>
        </p:nvCxnSpPr>
        <p:spPr>
          <a:xfrm>
            <a:off x="7002475" y="3209544"/>
            <a:ext cx="0" cy="219456"/>
          </a:xfrm>
          <a:prstGeom prst="line">
            <a:avLst/>
          </a:prstGeom>
          <a:ln w="25400">
            <a:solidFill>
              <a:srgbClr val="0E7C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4" name="Connector 43"/>
          <p:cNvCxnSpPr/>
          <p:nvPr/>
        </p:nvCxnSpPr>
        <p:spPr>
          <a:xfrm>
            <a:off x="7172553" y="3209544"/>
            <a:ext cx="0" cy="219456"/>
          </a:xfrm>
          <a:prstGeom prst="line">
            <a:avLst/>
          </a:prstGeom>
          <a:ln w="25400">
            <a:solidFill>
              <a:srgbClr val="0E7C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5" name="Connector 44"/>
          <p:cNvCxnSpPr/>
          <p:nvPr/>
        </p:nvCxnSpPr>
        <p:spPr>
          <a:xfrm>
            <a:off x="7342632" y="3209544"/>
            <a:ext cx="0" cy="219456"/>
          </a:xfrm>
          <a:prstGeom prst="line">
            <a:avLst/>
          </a:prstGeom>
          <a:ln w="25400">
            <a:solidFill>
              <a:srgbClr val="0E7C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6" name="Connector 45"/>
          <p:cNvCxnSpPr/>
          <p:nvPr/>
        </p:nvCxnSpPr>
        <p:spPr>
          <a:xfrm>
            <a:off x="7512710" y="3209544"/>
            <a:ext cx="0" cy="219456"/>
          </a:xfrm>
          <a:prstGeom prst="line">
            <a:avLst/>
          </a:prstGeom>
          <a:ln w="25400">
            <a:solidFill>
              <a:srgbClr val="0E7C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7" name="Connector 46"/>
          <p:cNvCxnSpPr/>
          <p:nvPr/>
        </p:nvCxnSpPr>
        <p:spPr>
          <a:xfrm>
            <a:off x="7682788" y="3209544"/>
            <a:ext cx="0" cy="219456"/>
          </a:xfrm>
          <a:prstGeom prst="line">
            <a:avLst/>
          </a:prstGeom>
          <a:ln w="25400">
            <a:solidFill>
              <a:srgbClr val="0E7C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8" name="Connector 47"/>
          <p:cNvCxnSpPr/>
          <p:nvPr/>
        </p:nvCxnSpPr>
        <p:spPr>
          <a:xfrm>
            <a:off x="7852867" y="3209544"/>
            <a:ext cx="0" cy="219456"/>
          </a:xfrm>
          <a:prstGeom prst="line">
            <a:avLst/>
          </a:prstGeom>
          <a:ln w="25400">
            <a:solidFill>
              <a:srgbClr val="0E7C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9" name="Connector 48"/>
          <p:cNvCxnSpPr/>
          <p:nvPr/>
        </p:nvCxnSpPr>
        <p:spPr>
          <a:xfrm>
            <a:off x="8022945" y="3209544"/>
            <a:ext cx="0" cy="219456"/>
          </a:xfrm>
          <a:prstGeom prst="line">
            <a:avLst/>
          </a:prstGeom>
          <a:ln w="25400">
            <a:solidFill>
              <a:srgbClr val="0E7C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0" name="Connector 49"/>
          <p:cNvCxnSpPr/>
          <p:nvPr/>
        </p:nvCxnSpPr>
        <p:spPr>
          <a:xfrm>
            <a:off x="8193024" y="3209544"/>
            <a:ext cx="0" cy="219456"/>
          </a:xfrm>
          <a:prstGeom prst="line">
            <a:avLst/>
          </a:prstGeom>
          <a:ln w="25400">
            <a:solidFill>
              <a:srgbClr val="0E7C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1" name="Connector 50"/>
          <p:cNvCxnSpPr/>
          <p:nvPr/>
        </p:nvCxnSpPr>
        <p:spPr>
          <a:xfrm>
            <a:off x="8363102" y="3209544"/>
            <a:ext cx="0" cy="219456"/>
          </a:xfrm>
          <a:prstGeom prst="line">
            <a:avLst/>
          </a:prstGeom>
          <a:ln w="25400">
            <a:solidFill>
              <a:srgbClr val="0E7C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2" name="Connector 51"/>
          <p:cNvCxnSpPr/>
          <p:nvPr/>
        </p:nvCxnSpPr>
        <p:spPr>
          <a:xfrm>
            <a:off x="8533180" y="3209544"/>
            <a:ext cx="0" cy="219456"/>
          </a:xfrm>
          <a:prstGeom prst="line">
            <a:avLst/>
          </a:prstGeom>
          <a:ln w="25400">
            <a:solidFill>
              <a:srgbClr val="0E7C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3" name="Connector 52"/>
          <p:cNvCxnSpPr/>
          <p:nvPr/>
        </p:nvCxnSpPr>
        <p:spPr>
          <a:xfrm>
            <a:off x="8703259" y="3209544"/>
            <a:ext cx="0" cy="219456"/>
          </a:xfrm>
          <a:prstGeom prst="line">
            <a:avLst/>
          </a:prstGeom>
          <a:ln w="25400">
            <a:solidFill>
              <a:srgbClr val="0E7C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4" name="Connector 53"/>
          <p:cNvCxnSpPr/>
          <p:nvPr/>
        </p:nvCxnSpPr>
        <p:spPr>
          <a:xfrm>
            <a:off x="8873337" y="3209544"/>
            <a:ext cx="0" cy="219456"/>
          </a:xfrm>
          <a:prstGeom prst="line">
            <a:avLst/>
          </a:prstGeom>
          <a:ln w="25400">
            <a:solidFill>
              <a:srgbClr val="0E7C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5" name="Connector 54"/>
          <p:cNvCxnSpPr/>
          <p:nvPr/>
        </p:nvCxnSpPr>
        <p:spPr>
          <a:xfrm>
            <a:off x="9043416" y="3209544"/>
            <a:ext cx="0" cy="219456"/>
          </a:xfrm>
          <a:prstGeom prst="line">
            <a:avLst/>
          </a:prstGeom>
          <a:ln w="25400">
            <a:solidFill>
              <a:srgbClr val="0E7C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6" name="Connector 55"/>
          <p:cNvCxnSpPr/>
          <p:nvPr/>
        </p:nvCxnSpPr>
        <p:spPr>
          <a:xfrm>
            <a:off x="9213494" y="3209544"/>
            <a:ext cx="0" cy="219456"/>
          </a:xfrm>
          <a:prstGeom prst="line">
            <a:avLst/>
          </a:prstGeom>
          <a:ln w="25400">
            <a:solidFill>
              <a:srgbClr val="0E7C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7" name="Connector 56"/>
          <p:cNvCxnSpPr/>
          <p:nvPr/>
        </p:nvCxnSpPr>
        <p:spPr>
          <a:xfrm>
            <a:off x="9383572" y="3209544"/>
            <a:ext cx="0" cy="219456"/>
          </a:xfrm>
          <a:prstGeom prst="line">
            <a:avLst/>
          </a:prstGeom>
          <a:ln w="25400">
            <a:solidFill>
              <a:srgbClr val="0E7C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8" name="Connector 57"/>
          <p:cNvCxnSpPr/>
          <p:nvPr/>
        </p:nvCxnSpPr>
        <p:spPr>
          <a:xfrm>
            <a:off x="9553651" y="3209544"/>
            <a:ext cx="0" cy="219456"/>
          </a:xfrm>
          <a:prstGeom prst="line">
            <a:avLst/>
          </a:prstGeom>
          <a:ln w="25400">
            <a:solidFill>
              <a:srgbClr val="0E7C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9" name="Connector 58"/>
          <p:cNvCxnSpPr/>
          <p:nvPr/>
        </p:nvCxnSpPr>
        <p:spPr>
          <a:xfrm>
            <a:off x="9723729" y="3209544"/>
            <a:ext cx="0" cy="219456"/>
          </a:xfrm>
          <a:prstGeom prst="line">
            <a:avLst/>
          </a:prstGeom>
          <a:ln w="25400">
            <a:solidFill>
              <a:srgbClr val="0E7C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0" name="Connector 59"/>
          <p:cNvCxnSpPr/>
          <p:nvPr/>
        </p:nvCxnSpPr>
        <p:spPr>
          <a:xfrm>
            <a:off x="9893808" y="3209544"/>
            <a:ext cx="0" cy="219456"/>
          </a:xfrm>
          <a:prstGeom prst="line">
            <a:avLst/>
          </a:prstGeom>
          <a:ln w="25400">
            <a:solidFill>
              <a:srgbClr val="0E7C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1" name="Connector 60"/>
          <p:cNvCxnSpPr/>
          <p:nvPr/>
        </p:nvCxnSpPr>
        <p:spPr>
          <a:xfrm>
            <a:off x="10063886" y="3209544"/>
            <a:ext cx="0" cy="219456"/>
          </a:xfrm>
          <a:prstGeom prst="line">
            <a:avLst/>
          </a:prstGeom>
          <a:ln w="25400">
            <a:solidFill>
              <a:srgbClr val="0E7C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2" name="Connector 61"/>
          <p:cNvCxnSpPr/>
          <p:nvPr/>
        </p:nvCxnSpPr>
        <p:spPr>
          <a:xfrm>
            <a:off x="10233964" y="3209544"/>
            <a:ext cx="0" cy="219456"/>
          </a:xfrm>
          <a:prstGeom prst="line">
            <a:avLst/>
          </a:prstGeom>
          <a:ln w="25400">
            <a:solidFill>
              <a:srgbClr val="0E7C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3" name="Connector 62"/>
          <p:cNvCxnSpPr/>
          <p:nvPr/>
        </p:nvCxnSpPr>
        <p:spPr>
          <a:xfrm>
            <a:off x="10404043" y="3209544"/>
            <a:ext cx="0" cy="219456"/>
          </a:xfrm>
          <a:prstGeom prst="line">
            <a:avLst/>
          </a:prstGeom>
          <a:ln w="25400">
            <a:solidFill>
              <a:srgbClr val="0E7C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4" name="Connector 63"/>
          <p:cNvCxnSpPr/>
          <p:nvPr/>
        </p:nvCxnSpPr>
        <p:spPr>
          <a:xfrm>
            <a:off x="10574121" y="3209544"/>
            <a:ext cx="0" cy="219456"/>
          </a:xfrm>
          <a:prstGeom prst="line">
            <a:avLst/>
          </a:prstGeom>
          <a:ln w="25400">
            <a:solidFill>
              <a:srgbClr val="0E7C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5" name="Connector 64"/>
          <p:cNvCxnSpPr/>
          <p:nvPr/>
        </p:nvCxnSpPr>
        <p:spPr>
          <a:xfrm>
            <a:off x="10744200" y="3209544"/>
            <a:ext cx="0" cy="219456"/>
          </a:xfrm>
          <a:prstGeom prst="line">
            <a:avLst/>
          </a:prstGeom>
          <a:ln w="25400">
            <a:solidFill>
              <a:srgbClr val="0E7C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6" name="TextBox 65"/>
          <p:cNvSpPr txBox="1"/>
          <p:nvPr/>
        </p:nvSpPr>
        <p:spPr>
          <a:xfrm>
            <a:off x="548640" y="3575304"/>
            <a:ext cx="160020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>
              <a:lnSpc>
                <a:spcPct val="100000"/>
              </a:lnSpc>
              <a:spcAft>
                <a:spcPts val="100"/>
              </a:spcAft>
              <a:defRPr sz="1100" b="0">
                <a:solidFill>
                  <a:srgbClr val="B46A0F"/>
                </a:solidFill>
                <a:latin typeface="Calibri"/>
              </a:defRPr>
            </a:pPr>
            <a:r>
              <a:rPr sz="1100" b="0">
                <a:solidFill>
                  <a:srgbClr val="B46A0F"/>
                </a:solidFill>
                <a:latin typeface="Calibri"/>
              </a:rPr>
              <a:t>scanner frame</a:t>
            </a:r>
          </a:p>
        </p:txBody>
      </p:sp>
      <p:cxnSp>
        <p:nvCxnSpPr>
          <p:cNvPr id="67" name="Connector 66"/>
          <p:cNvCxnSpPr/>
          <p:nvPr/>
        </p:nvCxnSpPr>
        <p:spPr>
          <a:xfrm>
            <a:off x="2240280" y="3703320"/>
            <a:ext cx="8503920" cy="0"/>
          </a:xfrm>
          <a:prstGeom prst="line">
            <a:avLst/>
          </a:prstGeom>
          <a:ln w="9525">
            <a:solidFill>
              <a:srgbClr val="C8D2D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8" name="Connector 67"/>
          <p:cNvCxnSpPr/>
          <p:nvPr/>
        </p:nvCxnSpPr>
        <p:spPr>
          <a:xfrm>
            <a:off x="2240280" y="3593592"/>
            <a:ext cx="0" cy="219456"/>
          </a:xfrm>
          <a:prstGeom prst="line">
            <a:avLst/>
          </a:prstGeom>
          <a:ln w="25400">
            <a:solidFill>
              <a:srgbClr val="B46A0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9" name="Connector 68"/>
          <p:cNvCxnSpPr/>
          <p:nvPr/>
        </p:nvCxnSpPr>
        <p:spPr>
          <a:xfrm>
            <a:off x="2920593" y="3593592"/>
            <a:ext cx="0" cy="219456"/>
          </a:xfrm>
          <a:prstGeom prst="line">
            <a:avLst/>
          </a:prstGeom>
          <a:ln w="25400">
            <a:solidFill>
              <a:srgbClr val="B46A0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0" name="Connector 69"/>
          <p:cNvCxnSpPr/>
          <p:nvPr/>
        </p:nvCxnSpPr>
        <p:spPr>
          <a:xfrm>
            <a:off x="3600907" y="3593592"/>
            <a:ext cx="0" cy="219456"/>
          </a:xfrm>
          <a:prstGeom prst="line">
            <a:avLst/>
          </a:prstGeom>
          <a:ln w="25400">
            <a:solidFill>
              <a:srgbClr val="B46A0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1" name="Connector 70"/>
          <p:cNvCxnSpPr/>
          <p:nvPr/>
        </p:nvCxnSpPr>
        <p:spPr>
          <a:xfrm>
            <a:off x="4281220" y="3593592"/>
            <a:ext cx="0" cy="219456"/>
          </a:xfrm>
          <a:prstGeom prst="line">
            <a:avLst/>
          </a:prstGeom>
          <a:ln w="25400">
            <a:solidFill>
              <a:srgbClr val="B46A0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2" name="Connector 71"/>
          <p:cNvCxnSpPr/>
          <p:nvPr/>
        </p:nvCxnSpPr>
        <p:spPr>
          <a:xfrm>
            <a:off x="4961534" y="3593592"/>
            <a:ext cx="0" cy="219456"/>
          </a:xfrm>
          <a:prstGeom prst="line">
            <a:avLst/>
          </a:prstGeom>
          <a:ln w="25400">
            <a:solidFill>
              <a:srgbClr val="B46A0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3" name="Connector 72"/>
          <p:cNvCxnSpPr/>
          <p:nvPr/>
        </p:nvCxnSpPr>
        <p:spPr>
          <a:xfrm>
            <a:off x="5641848" y="3593592"/>
            <a:ext cx="0" cy="219456"/>
          </a:xfrm>
          <a:prstGeom prst="line">
            <a:avLst/>
          </a:prstGeom>
          <a:ln w="25400">
            <a:solidFill>
              <a:srgbClr val="B46A0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4" name="Connector 73"/>
          <p:cNvCxnSpPr/>
          <p:nvPr/>
        </p:nvCxnSpPr>
        <p:spPr>
          <a:xfrm>
            <a:off x="6322161" y="3593592"/>
            <a:ext cx="0" cy="219456"/>
          </a:xfrm>
          <a:prstGeom prst="line">
            <a:avLst/>
          </a:prstGeom>
          <a:ln w="25400">
            <a:solidFill>
              <a:srgbClr val="B46A0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5" name="Connector 74"/>
          <p:cNvCxnSpPr/>
          <p:nvPr/>
        </p:nvCxnSpPr>
        <p:spPr>
          <a:xfrm>
            <a:off x="7002475" y="3593592"/>
            <a:ext cx="0" cy="219456"/>
          </a:xfrm>
          <a:prstGeom prst="line">
            <a:avLst/>
          </a:prstGeom>
          <a:ln w="25400">
            <a:solidFill>
              <a:srgbClr val="B46A0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6" name="Connector 75"/>
          <p:cNvCxnSpPr/>
          <p:nvPr/>
        </p:nvCxnSpPr>
        <p:spPr>
          <a:xfrm>
            <a:off x="7682788" y="3593592"/>
            <a:ext cx="0" cy="219456"/>
          </a:xfrm>
          <a:prstGeom prst="line">
            <a:avLst/>
          </a:prstGeom>
          <a:ln w="25400">
            <a:solidFill>
              <a:srgbClr val="B46A0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7" name="Connector 76"/>
          <p:cNvCxnSpPr/>
          <p:nvPr/>
        </p:nvCxnSpPr>
        <p:spPr>
          <a:xfrm>
            <a:off x="8363102" y="3593592"/>
            <a:ext cx="0" cy="219456"/>
          </a:xfrm>
          <a:prstGeom prst="line">
            <a:avLst/>
          </a:prstGeom>
          <a:ln w="25400">
            <a:solidFill>
              <a:srgbClr val="B46A0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8" name="Connector 77"/>
          <p:cNvCxnSpPr/>
          <p:nvPr/>
        </p:nvCxnSpPr>
        <p:spPr>
          <a:xfrm>
            <a:off x="9043416" y="3593592"/>
            <a:ext cx="0" cy="219456"/>
          </a:xfrm>
          <a:prstGeom prst="line">
            <a:avLst/>
          </a:prstGeom>
          <a:ln w="25400">
            <a:solidFill>
              <a:srgbClr val="B46A0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9" name="Connector 78"/>
          <p:cNvCxnSpPr/>
          <p:nvPr/>
        </p:nvCxnSpPr>
        <p:spPr>
          <a:xfrm>
            <a:off x="9723729" y="3593592"/>
            <a:ext cx="0" cy="219456"/>
          </a:xfrm>
          <a:prstGeom prst="line">
            <a:avLst/>
          </a:prstGeom>
          <a:ln w="25400">
            <a:solidFill>
              <a:srgbClr val="B46A0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0" name="Connector 79"/>
          <p:cNvCxnSpPr/>
          <p:nvPr/>
        </p:nvCxnSpPr>
        <p:spPr>
          <a:xfrm>
            <a:off x="10404043" y="3593592"/>
            <a:ext cx="0" cy="219456"/>
          </a:xfrm>
          <a:prstGeom prst="line">
            <a:avLst/>
          </a:prstGeom>
          <a:ln w="25400">
            <a:solidFill>
              <a:srgbClr val="B46A0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1" name="TextBox 80"/>
          <p:cNvSpPr txBox="1"/>
          <p:nvPr/>
        </p:nvSpPr>
        <p:spPr>
          <a:xfrm>
            <a:off x="548640" y="3959352"/>
            <a:ext cx="160020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>
              <a:lnSpc>
                <a:spcPct val="100000"/>
              </a:lnSpc>
              <a:spcAft>
                <a:spcPts val="100"/>
              </a:spcAft>
              <a:defRPr sz="1100" b="0">
                <a:solidFill>
                  <a:srgbClr val="1F3A5F"/>
                </a:solidFill>
                <a:latin typeface="Calibri"/>
              </a:defRPr>
            </a:pPr>
            <a:r>
              <a:rPr sz="1100" b="0">
                <a:solidFill>
                  <a:srgbClr val="1F3A5F"/>
                </a:solidFill>
                <a:latin typeface="Calibri"/>
              </a:rPr>
              <a:t>turn signal</a:t>
            </a:r>
          </a:p>
        </p:txBody>
      </p:sp>
      <p:cxnSp>
        <p:nvCxnSpPr>
          <p:cNvPr id="82" name="Connector 81"/>
          <p:cNvCxnSpPr/>
          <p:nvPr/>
        </p:nvCxnSpPr>
        <p:spPr>
          <a:xfrm>
            <a:off x="2240280" y="4087368"/>
            <a:ext cx="8503920" cy="0"/>
          </a:xfrm>
          <a:prstGeom prst="line">
            <a:avLst/>
          </a:prstGeom>
          <a:ln w="9525">
            <a:solidFill>
              <a:srgbClr val="C8D2D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3" name="Connector 82"/>
          <p:cNvCxnSpPr/>
          <p:nvPr/>
        </p:nvCxnSpPr>
        <p:spPr>
          <a:xfrm>
            <a:off x="2240280" y="3977640"/>
            <a:ext cx="0" cy="219456"/>
          </a:xfrm>
          <a:prstGeom prst="line">
            <a:avLst/>
          </a:prstGeom>
          <a:ln w="25400">
            <a:solidFill>
              <a:srgbClr val="1F3A5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4" name="Connector 83"/>
          <p:cNvCxnSpPr/>
          <p:nvPr/>
        </p:nvCxnSpPr>
        <p:spPr>
          <a:xfrm>
            <a:off x="3600907" y="3977640"/>
            <a:ext cx="0" cy="219456"/>
          </a:xfrm>
          <a:prstGeom prst="line">
            <a:avLst/>
          </a:prstGeom>
          <a:ln w="25400">
            <a:solidFill>
              <a:srgbClr val="1F3A5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5" name="Connector 84"/>
          <p:cNvCxnSpPr/>
          <p:nvPr/>
        </p:nvCxnSpPr>
        <p:spPr>
          <a:xfrm>
            <a:off x="4961534" y="3977640"/>
            <a:ext cx="0" cy="219456"/>
          </a:xfrm>
          <a:prstGeom prst="line">
            <a:avLst/>
          </a:prstGeom>
          <a:ln w="25400">
            <a:solidFill>
              <a:srgbClr val="1F3A5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6" name="Connector 85"/>
          <p:cNvCxnSpPr/>
          <p:nvPr/>
        </p:nvCxnSpPr>
        <p:spPr>
          <a:xfrm>
            <a:off x="6322161" y="3977640"/>
            <a:ext cx="0" cy="219456"/>
          </a:xfrm>
          <a:prstGeom prst="line">
            <a:avLst/>
          </a:prstGeom>
          <a:ln w="25400">
            <a:solidFill>
              <a:srgbClr val="1F3A5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7" name="Connector 86"/>
          <p:cNvCxnSpPr/>
          <p:nvPr/>
        </p:nvCxnSpPr>
        <p:spPr>
          <a:xfrm>
            <a:off x="7682788" y="3977640"/>
            <a:ext cx="0" cy="219456"/>
          </a:xfrm>
          <a:prstGeom prst="line">
            <a:avLst/>
          </a:prstGeom>
          <a:ln w="25400">
            <a:solidFill>
              <a:srgbClr val="1F3A5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8" name="Connector 87"/>
          <p:cNvCxnSpPr/>
          <p:nvPr/>
        </p:nvCxnSpPr>
        <p:spPr>
          <a:xfrm>
            <a:off x="9043416" y="3977640"/>
            <a:ext cx="0" cy="219456"/>
          </a:xfrm>
          <a:prstGeom prst="line">
            <a:avLst/>
          </a:prstGeom>
          <a:ln w="25400">
            <a:solidFill>
              <a:srgbClr val="1F3A5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9" name="Connector 88"/>
          <p:cNvCxnSpPr/>
          <p:nvPr/>
        </p:nvCxnSpPr>
        <p:spPr>
          <a:xfrm>
            <a:off x="10404043" y="3977640"/>
            <a:ext cx="0" cy="219456"/>
          </a:xfrm>
          <a:prstGeom prst="line">
            <a:avLst/>
          </a:prstGeom>
          <a:ln w="25400">
            <a:solidFill>
              <a:srgbClr val="1F3A5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0" name="TextBox 89"/>
          <p:cNvSpPr txBox="1"/>
          <p:nvPr/>
        </p:nvSpPr>
        <p:spPr>
          <a:xfrm>
            <a:off x="548640" y="4343400"/>
            <a:ext cx="160020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>
              <a:lnSpc>
                <a:spcPct val="100000"/>
              </a:lnSpc>
              <a:spcAft>
                <a:spcPts val="100"/>
              </a:spcAft>
              <a:defRPr sz="1100" b="0">
                <a:solidFill>
                  <a:srgbClr val="666666"/>
                </a:solidFill>
                <a:latin typeface="Calibri"/>
              </a:defRPr>
            </a:pPr>
            <a:r>
              <a:rPr sz="1100" b="0">
                <a:solidFill>
                  <a:srgbClr val="666666"/>
                </a:solidFill>
                <a:latin typeface="Calibri"/>
              </a:rPr>
              <a:t>battery check</a:t>
            </a:r>
          </a:p>
        </p:txBody>
      </p:sp>
      <p:cxnSp>
        <p:nvCxnSpPr>
          <p:cNvPr id="91" name="Connector 90"/>
          <p:cNvCxnSpPr/>
          <p:nvPr/>
        </p:nvCxnSpPr>
        <p:spPr>
          <a:xfrm>
            <a:off x="2240280" y="4471416"/>
            <a:ext cx="8503920" cy="0"/>
          </a:xfrm>
          <a:prstGeom prst="line">
            <a:avLst/>
          </a:prstGeom>
          <a:ln w="9525">
            <a:solidFill>
              <a:srgbClr val="C8D2D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2" name="Connector 91"/>
          <p:cNvCxnSpPr/>
          <p:nvPr/>
        </p:nvCxnSpPr>
        <p:spPr>
          <a:xfrm>
            <a:off x="2240280" y="4361688"/>
            <a:ext cx="0" cy="219456"/>
          </a:xfrm>
          <a:prstGeom prst="line">
            <a:avLst/>
          </a:prstGeom>
          <a:ln w="25400">
            <a:solidFill>
              <a:srgbClr val="66666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3" name="Connector 92"/>
          <p:cNvCxnSpPr/>
          <p:nvPr/>
        </p:nvCxnSpPr>
        <p:spPr>
          <a:xfrm>
            <a:off x="6492240" y="4361688"/>
            <a:ext cx="0" cy="219456"/>
          </a:xfrm>
          <a:prstGeom prst="line">
            <a:avLst/>
          </a:prstGeom>
          <a:ln w="25400">
            <a:solidFill>
              <a:srgbClr val="66666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4" name="Connector 93"/>
          <p:cNvCxnSpPr/>
          <p:nvPr/>
        </p:nvCxnSpPr>
        <p:spPr>
          <a:xfrm>
            <a:off x="10744200" y="4361688"/>
            <a:ext cx="0" cy="219456"/>
          </a:xfrm>
          <a:prstGeom prst="line">
            <a:avLst/>
          </a:prstGeom>
          <a:ln w="25400">
            <a:solidFill>
              <a:srgbClr val="66666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5" name="TextBox 94"/>
          <p:cNvSpPr txBox="1"/>
          <p:nvPr/>
        </p:nvSpPr>
        <p:spPr>
          <a:xfrm>
            <a:off x="2240280" y="4800600"/>
            <a:ext cx="850392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100"/>
              </a:spcAft>
              <a:defRPr sz="1100" b="0">
                <a:solidFill>
                  <a:srgbClr val="0E7C86"/>
                </a:solidFill>
                <a:latin typeface="Calibri"/>
              </a:defRPr>
            </a:pPr>
            <a:r>
              <a:rPr sz="1100" b="0">
                <a:solidFill>
                  <a:srgbClr val="0E7C86"/>
                </a:solidFill>
                <a:latin typeface="Calibri"/>
              </a:rPr>
              <a:t>each job fires on its own schedule, and loop() never stops running</a:t>
            </a:r>
          </a:p>
        </p:txBody>
      </p:sp>
      <p:sp>
        <p:nvSpPr>
          <p:cNvPr id="96" name="Rectangle 95"/>
          <p:cNvSpPr/>
          <p:nvPr/>
        </p:nvSpPr>
        <p:spPr>
          <a:xfrm>
            <a:off x="502920" y="5349240"/>
            <a:ext cx="11185855" cy="658368"/>
          </a:xfrm>
          <a:prstGeom prst="rect">
            <a:avLst/>
          </a:prstGeom>
          <a:solidFill>
            <a:srgbClr val="F4F6F8"/>
          </a:solidFill>
          <a:ln w="12700">
            <a:solidFill>
              <a:srgbClr val="0E7C8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ctr">
              <a:lnSpc>
                <a:spcPct val="100000"/>
              </a:lnSpc>
              <a:spcAft>
                <a:spcPts val="0"/>
              </a:spcAft>
              <a:defRPr sz="1500" b="0">
                <a:solidFill>
                  <a:srgbClr val="222222"/>
                </a:solidFill>
                <a:latin typeface="Consolas"/>
              </a:defRPr>
            </a:pPr>
            <a:r>
              <a:rPr sz="1500" b="0">
                <a:solidFill>
                  <a:srgbClr val="222222"/>
                </a:solidFill>
                <a:latin typeface="Consolas"/>
              </a:rPr>
              <a:t>if (millis() - lastTime &gt;= INTERVAL) {  lastTime = millis();  ...do the thing...  }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2920" y="274320"/>
            <a:ext cx="11185855" cy="777240"/>
          </a:xfrm>
        </p:spPr>
        <p:txBody>
          <a:bodyPr wrap="square" anchor="b"/>
          <a:lstStyle/>
          <a:p>
            <a:pPr algn="l">
              <a:lnSpc>
                <a:spcPct val="100000"/>
              </a:lnSpc>
              <a:spcAft>
                <a:spcPts val="0"/>
              </a:spcAft>
              <a:defRPr sz="2800" b="1">
                <a:solidFill>
                  <a:srgbClr val="1F3A5F"/>
                </a:solidFill>
                <a:latin typeface="Calibri"/>
              </a:defRPr>
            </a:pPr>
            <a:r>
              <a:rPr sz="2800" b="1">
                <a:solidFill>
                  <a:srgbClr val="1F3A5F"/>
                </a:solidFill>
                <a:latin typeface="Calibri"/>
              </a:rPr>
              <a:t>The pattern, in four lines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097280"/>
            <a:ext cx="11185855" cy="19050"/>
          </a:xfrm>
          <a:prstGeom prst="rect">
            <a:avLst/>
          </a:prstGeom>
          <a:solidFill>
            <a:srgbClr val="C8D2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6382512"/>
            <a:ext cx="10545775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defRPr sz="900" b="0">
                <a:solidFill>
                  <a:srgbClr val="666666"/>
                </a:solidFill>
                <a:latin typeface="Calibri"/>
              </a:defRPr>
            </a:pPr>
            <a:r>
              <a:rPr sz="900" b="0">
                <a:solidFill>
                  <a:srgbClr val="666666"/>
                </a:solidFill>
                <a:latin typeface="Calibri"/>
              </a:rPr>
              <a:t>Pathfinder Beginner - PS3  |  Lesson 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31575" y="6382512"/>
            <a:ext cx="457200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  <a:defRPr sz="900" b="0">
                <a:solidFill>
                  <a:srgbClr val="666666"/>
                </a:solidFill>
                <a:latin typeface="Calibri"/>
              </a:defRPr>
            </a:pPr>
            <a:r>
              <a:rPr sz="900" b="0">
                <a:solidFill>
                  <a:srgbClr val="666666"/>
                </a:solidFill>
                <a:latin typeface="Calibri"/>
              </a:rPr>
              <a:t>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1188720"/>
            <a:ext cx="7047088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  <a:defRPr sz="900" b="1">
                <a:solidFill>
                  <a:srgbClr val="0E7C86"/>
                </a:solidFill>
                <a:latin typeface="Consolas"/>
              </a:defRPr>
            </a:pPr>
            <a:r>
              <a:rPr sz="900" b="1">
                <a:solidFill>
                  <a:srgbClr val="0E7C86"/>
                </a:solidFill>
                <a:latin typeface="Consolas"/>
              </a:rPr>
              <a:t>millis() instead of delay()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1517904"/>
            <a:ext cx="7047088" cy="4745736"/>
          </a:xfrm>
          <a:prstGeom prst="roundRect">
            <a:avLst>
              <a:gd name="adj" fmla="val 4000"/>
            </a:avLst>
          </a:prstGeom>
          <a:solidFill>
            <a:srgbClr val="F4F6F8"/>
          </a:solidFill>
          <a:ln w="12700">
            <a:solidFill>
              <a:srgbClr val="C8D2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46304" tIns="91440" bIns="73152"/>
          <a:lstStyle/>
          <a:p>
            <a:pPr algn="l">
              <a:lnSpc>
                <a:spcPct val="100000"/>
              </a:lnSpc>
              <a:spcAft>
                <a:spcPts val="0"/>
              </a:spcAft>
              <a:defRPr sz="1400">
                <a:latin typeface="Consolas"/>
              </a:defRPr>
            </a:pPr>
            <a:r>
              <a:rPr sz="1400">
                <a:solidFill>
                  <a:srgbClr val="222222"/>
                </a:solidFill>
                <a:latin typeface="Consolas"/>
              </a:rPr>
              <a:t>unsigned long lastBlink = 0;</a:t>
            </a:r>
          </a:p>
          <a:p>
            <a:pPr algn="l">
              <a:lnSpc>
                <a:spcPct val="100000"/>
              </a:lnSpc>
              <a:spcAft>
                <a:spcPts val="0"/>
              </a:spcAft>
              <a:defRPr sz="1400">
                <a:latin typeface="Consolas"/>
              </a:defRPr>
            </a:pPr>
            <a:r>
              <a:rPr sz="1400">
                <a:solidFill>
                  <a:srgbClr val="222222"/>
                </a:solidFill>
                <a:latin typeface="Consolas"/>
              </a:rPr>
              <a:t> </a:t>
            </a:r>
          </a:p>
          <a:p>
            <a:pPr algn="l">
              <a:lnSpc>
                <a:spcPct val="100000"/>
              </a:lnSpc>
              <a:spcAft>
                <a:spcPts val="0"/>
              </a:spcAft>
              <a:defRPr sz="1400">
                <a:latin typeface="Consolas"/>
              </a:defRPr>
            </a:pPr>
            <a:r>
              <a:rPr sz="1400">
                <a:solidFill>
                  <a:srgbClr val="222222"/>
                </a:solidFill>
                <a:latin typeface="Consolas"/>
              </a:rPr>
              <a:t>void loop() {</a:t>
            </a:r>
          </a:p>
          <a:p>
            <a:pPr algn="l">
              <a:lnSpc>
                <a:spcPct val="100000"/>
              </a:lnSpc>
              <a:spcAft>
                <a:spcPts val="0"/>
              </a:spcAft>
              <a:defRPr sz="1400">
                <a:latin typeface="Consolas"/>
              </a:defRPr>
            </a:pPr>
            <a:r>
              <a:rPr sz="1400" b="1">
                <a:solidFill>
                  <a:srgbClr val="0E7C86"/>
                </a:solidFill>
                <a:latin typeface="Consolas"/>
              </a:rPr>
              <a:t>  if (millis() - lastBlink &gt;= INTERVAL) {</a:t>
            </a:r>
          </a:p>
          <a:p>
            <a:pPr algn="l">
              <a:lnSpc>
                <a:spcPct val="100000"/>
              </a:lnSpc>
              <a:spcAft>
                <a:spcPts val="0"/>
              </a:spcAft>
              <a:defRPr sz="1400">
                <a:latin typeface="Consolas"/>
              </a:defRPr>
            </a:pPr>
            <a:r>
              <a:rPr sz="1400" b="1">
                <a:solidFill>
                  <a:srgbClr val="0E7C86"/>
                </a:solidFill>
                <a:latin typeface="Consolas"/>
              </a:rPr>
              <a:t>    lastBlink = millis();</a:t>
            </a:r>
          </a:p>
          <a:p>
            <a:pPr algn="l">
              <a:lnSpc>
                <a:spcPct val="100000"/>
              </a:lnSpc>
              <a:spcAft>
                <a:spcPts val="0"/>
              </a:spcAft>
              <a:defRPr sz="1400">
                <a:latin typeface="Consolas"/>
              </a:defRPr>
            </a:pPr>
            <a:r>
              <a:rPr sz="1400">
                <a:solidFill>
                  <a:srgbClr val="666666"/>
                </a:solidFill>
                <a:latin typeface="Consolas"/>
              </a:rPr>
              <a:t>    // ...do the thing...</a:t>
            </a:r>
          </a:p>
          <a:p>
            <a:pPr algn="l">
              <a:lnSpc>
                <a:spcPct val="100000"/>
              </a:lnSpc>
              <a:spcAft>
                <a:spcPts val="0"/>
              </a:spcAft>
              <a:defRPr sz="1400">
                <a:latin typeface="Consolas"/>
              </a:defRPr>
            </a:pPr>
            <a:r>
              <a:rPr sz="1400">
                <a:solidFill>
                  <a:srgbClr val="222222"/>
                </a:solidFill>
                <a:latin typeface="Consolas"/>
              </a:rPr>
              <a:t>  }</a:t>
            </a:r>
          </a:p>
          <a:p>
            <a:pPr algn="l">
              <a:lnSpc>
                <a:spcPct val="100000"/>
              </a:lnSpc>
              <a:spcAft>
                <a:spcPts val="0"/>
              </a:spcAft>
              <a:defRPr sz="1400">
                <a:latin typeface="Consolas"/>
              </a:defRPr>
            </a:pPr>
            <a:r>
              <a:rPr sz="1400">
                <a:solidFill>
                  <a:srgbClr val="222222"/>
                </a:solidFill>
                <a:latin typeface="Consolas"/>
              </a:rPr>
              <a:t> </a:t>
            </a:r>
          </a:p>
          <a:p>
            <a:pPr algn="l">
              <a:lnSpc>
                <a:spcPct val="100000"/>
              </a:lnSpc>
              <a:spcAft>
                <a:spcPts val="0"/>
              </a:spcAft>
              <a:defRPr sz="1400">
                <a:latin typeface="Consolas"/>
              </a:defRPr>
            </a:pPr>
            <a:r>
              <a:rPr sz="1400">
                <a:solidFill>
                  <a:srgbClr val="666666"/>
                </a:solidFill>
                <a:latin typeface="Consolas"/>
              </a:rPr>
              <a:t>  // ...and everything else keeps running...</a:t>
            </a:r>
          </a:p>
          <a:p>
            <a:pPr algn="l">
              <a:lnSpc>
                <a:spcPct val="100000"/>
              </a:lnSpc>
              <a:spcAft>
                <a:spcPts val="0"/>
              </a:spcAft>
              <a:defRPr sz="1400">
                <a:latin typeface="Consolas"/>
              </a:defRPr>
            </a:pPr>
            <a:r>
              <a:rPr sz="1400">
                <a:solidFill>
                  <a:srgbClr val="222222"/>
                </a:solidFill>
                <a:latin typeface="Consolas"/>
              </a:rPr>
              <a:t>}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870048" y="1517904"/>
            <a:ext cx="3818727" cy="474573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1100"/>
              </a:spcAft>
              <a:defRPr sz="1500" b="0">
                <a:solidFill>
                  <a:srgbClr val="222222"/>
                </a:solidFill>
                <a:latin typeface="Calibri"/>
              </a:defRPr>
            </a:pPr>
            <a:r>
              <a:rPr sz="1500" b="0">
                <a:solidFill>
                  <a:srgbClr val="222222"/>
                </a:solidFill>
                <a:latin typeface="Calibri"/>
              </a:rPr>
              <a:t>millis() returns how many milliseconds the board has been switched on. Reading it costs nothing.</a:t>
            </a:r>
          </a:p>
          <a:p>
            <a:pPr algn="l">
              <a:lnSpc>
                <a:spcPct val="100000"/>
              </a:lnSpc>
              <a:spcAft>
                <a:spcPts val="1100"/>
              </a:spcAft>
              <a:defRPr sz="1500" b="0">
                <a:solidFill>
                  <a:srgbClr val="222222"/>
                </a:solidFill>
                <a:latin typeface="Calibri"/>
              </a:defRPr>
            </a:pPr>
            <a:r>
              <a:rPr sz="1500" b="0">
                <a:solidFill>
                  <a:srgbClr val="222222"/>
                </a:solidFill>
                <a:latin typeface="Calibri"/>
              </a:rPr>
              <a:t>Each job needs its OWN "when did I last run" variable.</a:t>
            </a:r>
          </a:p>
          <a:p>
            <a:pPr algn="l">
              <a:lnSpc>
                <a:spcPct val="100000"/>
              </a:lnSpc>
              <a:spcAft>
                <a:spcPts val="1100"/>
              </a:spcAft>
              <a:defRPr sz="1500" b="0">
                <a:solidFill>
                  <a:srgbClr val="222222"/>
                </a:solidFill>
                <a:latin typeface="Calibri"/>
              </a:defRPr>
            </a:pPr>
            <a:r>
              <a:rPr sz="1500" b="0">
                <a:solidFill>
                  <a:srgbClr val="222222"/>
                </a:solidFill>
                <a:latin typeface="Calibri"/>
              </a:rPr>
              <a:t>unsigned long, because millis() counts past what an int can hold in under an hour.</a:t>
            </a:r>
          </a:p>
          <a:p>
            <a:pPr algn="l">
              <a:lnSpc>
                <a:spcPct val="100000"/>
              </a:lnSpc>
              <a:spcAft>
                <a:spcPts val="1100"/>
              </a:spcAft>
              <a:defRPr sz="1500" b="0">
                <a:solidFill>
                  <a:srgbClr val="222222"/>
                </a:solidFill>
                <a:latin typeface="Calibri"/>
              </a:defRPr>
            </a:pPr>
            <a:r>
              <a:rPr sz="1500" b="0">
                <a:solidFill>
                  <a:srgbClr val="222222"/>
                </a:solidFill>
                <a:latin typeface="Calibri"/>
              </a:rPr>
              <a:t>Subtracting like this also survives the moment millis() wraps back to zero, which happens after 49 days.</a:t>
            </a:r>
          </a:p>
          <a:p>
            <a:pPr algn="l">
              <a:lnSpc>
                <a:spcPct val="100000"/>
              </a:lnSpc>
              <a:spcAft>
                <a:spcPts val="1100"/>
              </a:spcAft>
              <a:defRPr sz="1500" b="0">
                <a:solidFill>
                  <a:srgbClr val="222222"/>
                </a:solidFill>
                <a:latin typeface="Calibri"/>
              </a:defRPr>
            </a:pPr>
            <a:r>
              <a:rPr sz="1500" b="0">
                <a:solidFill>
                  <a:srgbClr val="222222"/>
                </a:solidFill>
                <a:latin typeface="Calibri"/>
              </a:rPr>
              <a:t>This exact pattern appears five times in the full vehicle program.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2920" y="274320"/>
            <a:ext cx="11185855" cy="777240"/>
          </a:xfrm>
        </p:spPr>
        <p:txBody>
          <a:bodyPr wrap="square" anchor="b"/>
          <a:lstStyle/>
          <a:p>
            <a:pPr algn="l">
              <a:lnSpc>
                <a:spcPct val="100000"/>
              </a:lnSpc>
              <a:spcAft>
                <a:spcPts val="0"/>
              </a:spcAft>
              <a:defRPr sz="2800" b="1">
                <a:solidFill>
                  <a:srgbClr val="1F3A5F"/>
                </a:solidFill>
                <a:latin typeface="Calibri"/>
              </a:defRPr>
            </a:pPr>
            <a:r>
              <a:rPr sz="2800" b="1">
                <a:solidFill>
                  <a:srgbClr val="1F3A5F"/>
                </a:solidFill>
                <a:latin typeface="Calibri"/>
              </a:rPr>
              <a:t>Do it now  -  two speeds at once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097280"/>
            <a:ext cx="11185855" cy="19050"/>
          </a:xfrm>
          <a:prstGeom prst="rect">
            <a:avLst/>
          </a:prstGeom>
          <a:solidFill>
            <a:srgbClr val="C8D2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6382512"/>
            <a:ext cx="10545775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defRPr sz="900" b="0">
                <a:solidFill>
                  <a:srgbClr val="666666"/>
                </a:solidFill>
                <a:latin typeface="Calibri"/>
              </a:defRPr>
            </a:pPr>
            <a:r>
              <a:rPr sz="900" b="0">
                <a:solidFill>
                  <a:srgbClr val="666666"/>
                </a:solidFill>
                <a:latin typeface="Calibri"/>
              </a:rPr>
              <a:t>Pathfinder Beginner - PS3  |  Lesson 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31575" y="6382512"/>
            <a:ext cx="457200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  <a:defRPr sz="900" b="0">
                <a:solidFill>
                  <a:srgbClr val="666666"/>
                </a:solidFill>
                <a:latin typeface="Calibri"/>
              </a:defRPr>
            </a:pPr>
            <a:r>
              <a:rPr sz="900" b="0">
                <a:solidFill>
                  <a:srgbClr val="666666"/>
                </a:solidFill>
                <a:latin typeface="Calibri"/>
              </a:rPr>
              <a:t>6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1188720"/>
            <a:ext cx="11185855" cy="530352"/>
          </a:xfrm>
          <a:prstGeom prst="roundRect">
            <a:avLst>
              <a:gd name="adj" fmla="val 4000"/>
            </a:avLst>
          </a:prstGeom>
          <a:solidFill>
            <a:srgbClr val="0E7C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l"/>
            <a:r>
              <a:rPr sz="1300" b="1">
                <a:solidFill>
                  <a:srgbClr val="FFFFFF"/>
                </a:solidFill>
                <a:latin typeface="Calibri"/>
              </a:rPr>
              <a:t>UPLOAD AND RUN:   </a:t>
            </a:r>
            <a:r>
              <a:rPr sz="1500" b="1">
                <a:solidFill>
                  <a:srgbClr val="FFFFFF"/>
                </a:solidFill>
                <a:latin typeface="Consolas"/>
              </a:rPr>
              <a:t>l5a_millis_not_delay</a:t>
            </a:r>
            <a:r>
              <a:rPr sz="1200">
                <a:solidFill>
                  <a:srgbClr val="FFFFFF"/>
                </a:solidFill>
                <a:latin typeface="Calibri"/>
              </a:rPr>
              <a:t>     (20 minutes)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1901952"/>
            <a:ext cx="5387187" cy="436168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800"/>
              </a:spcAft>
              <a:defRPr sz="1600" b="0">
                <a:solidFill>
                  <a:srgbClr val="222222"/>
                </a:solidFill>
                <a:latin typeface="Calibri"/>
              </a:defRPr>
            </a:pPr>
            <a:r>
              <a:rPr sz="1600" b="0">
                <a:solidFill>
                  <a:srgbClr val="222222"/>
                </a:solidFill>
                <a:latin typeface="Calibri"/>
              </a:rPr>
              <a:t>1.  Upload it. Two LEDs blink at different rates, and the Serial Monitor counts how many times loop() runs per second.</a:t>
            </a:r>
          </a:p>
          <a:p>
            <a:pPr algn="l">
              <a:lnSpc>
                <a:spcPct val="100000"/>
              </a:lnSpc>
              <a:spcAft>
                <a:spcPts val="800"/>
              </a:spcAft>
              <a:defRPr sz="1600" b="0">
                <a:solidFill>
                  <a:srgbClr val="222222"/>
                </a:solidFill>
                <a:latin typeface="Calibri"/>
              </a:defRPr>
            </a:pPr>
            <a:r>
              <a:rPr sz="1600" b="0">
                <a:solidFill>
                  <a:srgbClr val="222222"/>
                </a:solidFill>
                <a:latin typeface="Calibri"/>
              </a:rPr>
              <a:t>2.  Write down that number. It is enormous.</a:t>
            </a:r>
          </a:p>
          <a:p>
            <a:pPr algn="l">
              <a:lnSpc>
                <a:spcPct val="100000"/>
              </a:lnSpc>
              <a:spcAft>
                <a:spcPts val="800"/>
              </a:spcAft>
              <a:defRPr sz="1600" b="0">
                <a:solidFill>
                  <a:srgbClr val="222222"/>
                </a:solidFill>
                <a:latin typeface="Calibri"/>
              </a:defRPr>
            </a:pPr>
            <a:r>
              <a:rPr sz="1600" b="0">
                <a:solidFill>
                  <a:srgbClr val="222222"/>
                </a:solidFill>
                <a:latin typeface="Calibri"/>
              </a:rPr>
              <a:t>3.  Uncomment the delay(1000) at the bottom of loop(). Upload.</a:t>
            </a:r>
          </a:p>
          <a:p>
            <a:pPr algn="l">
              <a:lnSpc>
                <a:spcPct val="100000"/>
              </a:lnSpc>
              <a:spcAft>
                <a:spcPts val="800"/>
              </a:spcAft>
              <a:defRPr sz="1600" b="0">
                <a:solidFill>
                  <a:srgbClr val="222222"/>
                </a:solidFill>
                <a:latin typeface="Calibri"/>
              </a:defRPr>
            </a:pPr>
            <a:r>
              <a:rPr sz="1600" b="0">
                <a:solidFill>
                  <a:srgbClr val="222222"/>
                </a:solidFill>
                <a:latin typeface="Calibri"/>
              </a:rPr>
              <a:t>4.  Watch both lights break, and watch the loop counter fall to 1.</a:t>
            </a:r>
          </a:p>
          <a:p>
            <a:pPr algn="l">
              <a:lnSpc>
                <a:spcPct val="100000"/>
              </a:lnSpc>
              <a:spcAft>
                <a:spcPts val="800"/>
              </a:spcAft>
              <a:defRPr sz="1600" b="0">
                <a:solidFill>
                  <a:srgbClr val="222222"/>
                </a:solidFill>
                <a:latin typeface="Calibri"/>
              </a:defRPr>
            </a:pPr>
            <a:r>
              <a:rPr sz="1600" b="0">
                <a:solidFill>
                  <a:srgbClr val="222222"/>
                </a:solidFill>
                <a:latin typeface="Calibri"/>
              </a:rPr>
              <a:t>5.  Comment it back out.</a:t>
            </a:r>
          </a:p>
          <a:p>
            <a:pPr algn="l">
              <a:lnSpc>
                <a:spcPct val="100000"/>
              </a:lnSpc>
              <a:spcAft>
                <a:spcPts val="800"/>
              </a:spcAft>
              <a:defRPr sz="1600" b="0">
                <a:solidFill>
                  <a:srgbClr val="222222"/>
                </a:solidFill>
                <a:latin typeface="Calibri"/>
              </a:defRPr>
            </a:pPr>
            <a:r>
              <a:rPr sz="1600" b="0">
                <a:solidFill>
                  <a:srgbClr val="222222"/>
                </a:solidFill>
                <a:latin typeface="Calibri"/>
              </a:rPr>
              <a:t>6.  Add a THIRD light on its own timer without touching the other two.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301587" y="1901952"/>
            <a:ext cx="5387187" cy="31089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  <a:defRPr sz="1200" b="1">
                <a:solidFill>
                  <a:srgbClr val="0E7C86"/>
                </a:solidFill>
                <a:latin typeface="Calibri"/>
              </a:defRPr>
            </a:pPr>
            <a:r>
              <a:rPr sz="1200" b="1">
                <a:solidFill>
                  <a:srgbClr val="0E7C86"/>
                </a:solidFill>
                <a:latin typeface="Calibri"/>
              </a:rPr>
              <a:t>What you should see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301587" y="2249424"/>
            <a:ext cx="5387187" cy="181508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  <a:defRPr sz="1500" b="0">
                <a:solidFill>
                  <a:srgbClr val="222222"/>
                </a:solidFill>
                <a:latin typeface="Calibri"/>
              </a:defRPr>
            </a:pPr>
            <a:r>
              <a:rPr sz="1500" b="0">
                <a:solidFill>
                  <a:srgbClr val="222222"/>
                </a:solidFill>
                <a:latin typeface="Calibri"/>
              </a:rPr>
              <a:t>LED 0 blinking once a second, LED 15 blinking about seven times a second, and a very large loop count.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301587" y="4101084"/>
            <a:ext cx="5387187" cy="31089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  <a:defRPr sz="1200" b="1">
                <a:solidFill>
                  <a:srgbClr val="0E7C86"/>
                </a:solidFill>
                <a:latin typeface="Calibri"/>
              </a:defRPr>
            </a:pPr>
            <a:r>
              <a:rPr sz="1200" b="1">
                <a:solidFill>
                  <a:srgbClr val="0E7C86"/>
                </a:solidFill>
                <a:latin typeface="Calibri"/>
              </a:rPr>
              <a:t>Answer these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301587" y="4448556"/>
            <a:ext cx="5387187" cy="181508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  <a:defRPr sz="1500" b="0">
                <a:solidFill>
                  <a:srgbClr val="222222"/>
                </a:solidFill>
                <a:latin typeface="Calibri"/>
              </a:defRPr>
            </a:pPr>
            <a:r>
              <a:rPr sz="1500" b="0">
                <a:solidFill>
                  <a:srgbClr val="222222"/>
                </a:solidFill>
                <a:latin typeface="Calibri"/>
              </a:rPr>
              <a:t>How many times per second does loop() run?</a:t>
            </a:r>
          </a:p>
          <a:p>
            <a:pPr algn="l">
              <a:lnSpc>
                <a:spcPct val="100000"/>
              </a:lnSpc>
              <a:spcAft>
                <a:spcPts val="600"/>
              </a:spcAft>
              <a:defRPr sz="1500" b="0">
                <a:solidFill>
                  <a:srgbClr val="222222"/>
                </a:solidFill>
                <a:latin typeface="Calibri"/>
              </a:defRPr>
            </a:pPr>
            <a:r>
              <a:rPr sz="1500" b="0">
                <a:solidFill>
                  <a:srgbClr val="222222"/>
                </a:solidFill>
                <a:latin typeface="Calibri"/>
              </a:rPr>
              <a:t>With the delay in place, what is the loop count, and what does that tell you about how much attention the vehicle has left over?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2920" y="274320"/>
            <a:ext cx="11185855" cy="777240"/>
          </a:xfrm>
        </p:spPr>
        <p:txBody>
          <a:bodyPr wrap="square" anchor="b"/>
          <a:lstStyle/>
          <a:p>
            <a:pPr algn="l">
              <a:lnSpc>
                <a:spcPct val="100000"/>
              </a:lnSpc>
              <a:spcAft>
                <a:spcPts val="0"/>
              </a:spcAft>
              <a:defRPr sz="2800" b="1">
                <a:solidFill>
                  <a:srgbClr val="1F3A5F"/>
                </a:solidFill>
                <a:latin typeface="Calibri"/>
              </a:defRPr>
            </a:pPr>
            <a:r>
              <a:rPr sz="2800" b="1">
                <a:solidFill>
                  <a:srgbClr val="1F3A5F"/>
                </a:solidFill>
                <a:latin typeface="Calibri"/>
              </a:rPr>
              <a:t>Edge detection: one press, one action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097280"/>
            <a:ext cx="11185855" cy="19050"/>
          </a:xfrm>
          <a:prstGeom prst="rect">
            <a:avLst/>
          </a:prstGeom>
          <a:solidFill>
            <a:srgbClr val="C8D2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6382512"/>
            <a:ext cx="10545775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defRPr sz="900" b="0">
                <a:solidFill>
                  <a:srgbClr val="666666"/>
                </a:solidFill>
                <a:latin typeface="Calibri"/>
              </a:defRPr>
            </a:pPr>
            <a:r>
              <a:rPr sz="900" b="0">
                <a:solidFill>
                  <a:srgbClr val="666666"/>
                </a:solidFill>
                <a:latin typeface="Calibri"/>
              </a:rPr>
              <a:t>Pathfinder Beginner - PS3  |  Lesson 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31575" y="6382512"/>
            <a:ext cx="457200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  <a:defRPr sz="900" b="0">
                <a:solidFill>
                  <a:srgbClr val="666666"/>
                </a:solidFill>
                <a:latin typeface="Calibri"/>
              </a:defRPr>
            </a:pPr>
            <a:r>
              <a:rPr sz="900" b="0">
                <a:solidFill>
                  <a:srgbClr val="666666"/>
                </a:solidFill>
                <a:latin typeface="Calibri"/>
              </a:rPr>
              <a:t>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1188720"/>
            <a:ext cx="11185855" cy="53035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  <a:defRPr sz="1900" b="1">
                <a:solidFill>
                  <a:srgbClr val="0E7C86"/>
                </a:solidFill>
                <a:latin typeface="Calibri"/>
              </a:defRPr>
            </a:pPr>
            <a:r>
              <a:rPr sz="1900" b="1">
                <a:solidFill>
                  <a:srgbClr val="0E7C86"/>
                </a:solidFill>
                <a:latin typeface="Calibri"/>
              </a:rPr>
              <a:t>The level is not the event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1755648"/>
            <a:ext cx="11185855" cy="450799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  <a:defRPr sz="1500" b="0">
                <a:solidFill>
                  <a:srgbClr val="222222"/>
                </a:solidFill>
                <a:latin typeface="Calibri"/>
              </a:defRPr>
            </a:pPr>
            <a:r>
              <a:rPr sz="1500" b="0">
                <a:solidFill>
                  <a:srgbClr val="222222"/>
                </a:solidFill>
                <a:latin typeface="Calibri"/>
              </a:rPr>
              <a:t>loop() runs tens of thousands of times a second. A finger holds a button for about 100 milliseconds - thousands of trips round the loop.</a:t>
            </a:r>
          </a:p>
          <a:p>
            <a:pPr algn="l">
              <a:lnSpc>
                <a:spcPct val="100000"/>
              </a:lnSpc>
              <a:spcAft>
                <a:spcPts val="600"/>
              </a:spcAft>
              <a:defRPr sz="1500" b="0">
                <a:solidFill>
                  <a:srgbClr val="222222"/>
                </a:solidFill>
                <a:latin typeface="Calibri"/>
              </a:defRPr>
            </a:pPr>
          </a:p>
          <a:p>
            <a:pPr algn="l">
              <a:lnSpc>
                <a:spcPct val="100000"/>
              </a:lnSpc>
              <a:spcAft>
                <a:spcPts val="600"/>
              </a:spcAft>
              <a:defRPr sz="1500" b="0">
                <a:solidFill>
                  <a:srgbClr val="222222"/>
                </a:solidFill>
                <a:latin typeface="Calibri"/>
              </a:defRPr>
            </a:pPr>
            <a:r>
              <a:rPr sz="1500" b="0">
                <a:solidFill>
                  <a:srgbClr val="222222"/>
                </a:solidFill>
                <a:latin typeface="Calibri"/>
              </a:rPr>
              <a:t>So this is wrong:</a:t>
            </a:r>
          </a:p>
          <a:p>
            <a:pPr lvl="1" algn="l">
              <a:lnSpc>
                <a:spcPct val="100000"/>
              </a:lnSpc>
              <a:spcAft>
                <a:spcPts val="600"/>
              </a:spcAft>
              <a:defRPr sz="1500" b="0">
                <a:solidFill>
                  <a:srgbClr val="222222"/>
                </a:solidFill>
                <a:latin typeface="Calibri"/>
              </a:defRPr>
            </a:pPr>
            <a:r>
              <a:rPr sz="1500" b="0">
                <a:solidFill>
                  <a:srgbClr val="222222"/>
                </a:solidFill>
                <a:latin typeface="Calibri"/>
              </a:rPr>
              <a:t>if (Ps3.data.button.square) lightsOn = !lightsOn;</a:t>
            </a:r>
          </a:p>
          <a:p>
            <a:pPr algn="l">
              <a:lnSpc>
                <a:spcPct val="100000"/>
              </a:lnSpc>
              <a:spcAft>
                <a:spcPts val="600"/>
              </a:spcAft>
              <a:defRPr sz="1500" b="0">
                <a:solidFill>
                  <a:srgbClr val="222222"/>
                </a:solidFill>
                <a:latin typeface="Calibri"/>
              </a:defRPr>
            </a:pPr>
          </a:p>
          <a:p>
            <a:pPr algn="l">
              <a:lnSpc>
                <a:spcPct val="100000"/>
              </a:lnSpc>
              <a:spcAft>
                <a:spcPts val="600"/>
              </a:spcAft>
              <a:defRPr sz="1500" b="0">
                <a:solidFill>
                  <a:srgbClr val="222222"/>
                </a:solidFill>
                <a:latin typeface="Calibri"/>
              </a:defRPr>
            </a:pPr>
            <a:r>
              <a:rPr sz="1500" b="0">
                <a:solidFill>
                  <a:srgbClr val="222222"/>
                </a:solidFill>
                <a:latin typeface="Calibri"/>
              </a:rPr>
              <a:t>It flips the lights thousands of times during ONE press. Whether they end up on or off is pure luck.</a:t>
            </a:r>
          </a:p>
          <a:p>
            <a:pPr algn="l">
              <a:lnSpc>
                <a:spcPct val="100000"/>
              </a:lnSpc>
              <a:spcAft>
                <a:spcPts val="600"/>
              </a:spcAft>
              <a:defRPr sz="1500" b="0">
                <a:solidFill>
                  <a:srgbClr val="222222"/>
                </a:solidFill>
                <a:latin typeface="Calibri"/>
              </a:defRPr>
            </a:pPr>
          </a:p>
          <a:p>
            <a:pPr algn="l">
              <a:lnSpc>
                <a:spcPct val="100000"/>
              </a:lnSpc>
              <a:spcAft>
                <a:spcPts val="600"/>
              </a:spcAft>
              <a:defRPr sz="1500" b="0">
                <a:solidFill>
                  <a:srgbClr val="222222"/>
                </a:solidFill>
                <a:latin typeface="Calibri"/>
              </a:defRPr>
            </a:pPr>
            <a:r>
              <a:rPr sz="1500" b="0">
                <a:solidFill>
                  <a:srgbClr val="222222"/>
                </a:solidFill>
                <a:latin typeface="Calibri"/>
              </a:rPr>
              <a:t>What we want is the MOMENT the button goes down - the edge, not the level. To find an edge you have to remember what it was doing last time round:</a:t>
            </a:r>
          </a:p>
          <a:p>
            <a:pPr lvl="1" algn="l">
              <a:lnSpc>
                <a:spcPct val="100000"/>
              </a:lnSpc>
              <a:spcAft>
                <a:spcPts val="600"/>
              </a:spcAft>
              <a:defRPr sz="1500" b="0">
                <a:solidFill>
                  <a:srgbClr val="222222"/>
                </a:solidFill>
                <a:latin typeface="Calibri"/>
              </a:defRPr>
            </a:pPr>
            <a:r>
              <a:rPr sz="1500" b="0">
                <a:solidFill>
                  <a:srgbClr val="222222"/>
                </a:solidFill>
                <a:latin typeface="Calibri"/>
              </a:rPr>
              <a:t>bool isNewPress = isDown &amp;&amp; !wasDown;</a:t>
            </a:r>
          </a:p>
          <a:p>
            <a:pPr lvl="1" algn="l">
              <a:lnSpc>
                <a:spcPct val="100000"/>
              </a:lnSpc>
              <a:spcAft>
                <a:spcPts val="600"/>
              </a:spcAft>
              <a:defRPr sz="1500" b="0">
                <a:solidFill>
                  <a:srgbClr val="222222"/>
                </a:solidFill>
                <a:latin typeface="Calibri"/>
              </a:defRPr>
            </a:pPr>
            <a:r>
              <a:rPr sz="1500" b="0">
                <a:solidFill>
                  <a:srgbClr val="222222"/>
                </a:solidFill>
                <a:latin typeface="Calibri"/>
              </a:rPr>
              <a:t>wasDown = isDown;</a:t>
            </a:r>
          </a:p>
          <a:p>
            <a:pPr algn="l">
              <a:lnSpc>
                <a:spcPct val="100000"/>
              </a:lnSpc>
              <a:spcAft>
                <a:spcPts val="600"/>
              </a:spcAft>
              <a:defRPr sz="1500" b="0">
                <a:solidFill>
                  <a:srgbClr val="222222"/>
                </a:solidFill>
                <a:latin typeface="Calibri"/>
              </a:defRPr>
            </a:pPr>
          </a:p>
          <a:p>
            <a:pPr algn="l">
              <a:lnSpc>
                <a:spcPct val="100000"/>
              </a:lnSpc>
              <a:spcAft>
                <a:spcPts val="600"/>
              </a:spcAft>
              <a:defRPr sz="1500" b="0">
                <a:solidFill>
                  <a:srgbClr val="222222"/>
                </a:solidFill>
                <a:latin typeface="Calibri"/>
              </a:defRPr>
            </a:pPr>
            <a:r>
              <a:rPr sz="1500" b="0">
                <a:solidFill>
                  <a:srgbClr val="222222"/>
                </a:solidFill>
                <a:latin typeface="Calibri"/>
              </a:rPr>
              <a:t>That is justPressed(), and the full program uses it for every single button.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2920" y="274320"/>
            <a:ext cx="11185855" cy="777240"/>
          </a:xfrm>
        </p:spPr>
        <p:txBody>
          <a:bodyPr wrap="square" anchor="b"/>
          <a:lstStyle/>
          <a:p>
            <a:pPr algn="l">
              <a:lnSpc>
                <a:spcPct val="100000"/>
              </a:lnSpc>
              <a:spcAft>
                <a:spcPts val="0"/>
              </a:spcAft>
              <a:defRPr sz="2800" b="1">
                <a:solidFill>
                  <a:srgbClr val="1F3A5F"/>
                </a:solidFill>
                <a:latin typeface="Calibri"/>
              </a:defRPr>
            </a:pPr>
            <a:r>
              <a:rPr sz="2800" b="1">
                <a:solidFill>
                  <a:srgbClr val="1F3A5F"/>
                </a:solidFill>
                <a:latin typeface="Calibri"/>
              </a:rPr>
              <a:t>Do it now  -  see the bug, then the fix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097280"/>
            <a:ext cx="11185855" cy="19050"/>
          </a:xfrm>
          <a:prstGeom prst="rect">
            <a:avLst/>
          </a:prstGeom>
          <a:solidFill>
            <a:srgbClr val="C8D2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6382512"/>
            <a:ext cx="10545775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defRPr sz="900" b="0">
                <a:solidFill>
                  <a:srgbClr val="666666"/>
                </a:solidFill>
                <a:latin typeface="Calibri"/>
              </a:defRPr>
            </a:pPr>
            <a:r>
              <a:rPr sz="900" b="0">
                <a:solidFill>
                  <a:srgbClr val="666666"/>
                </a:solidFill>
                <a:latin typeface="Calibri"/>
              </a:rPr>
              <a:t>Pathfinder Beginner - PS3  |  Lesson 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31575" y="6382512"/>
            <a:ext cx="457200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  <a:defRPr sz="900" b="0">
                <a:solidFill>
                  <a:srgbClr val="666666"/>
                </a:solidFill>
                <a:latin typeface="Calibri"/>
              </a:defRPr>
            </a:pPr>
            <a:r>
              <a:rPr sz="900" b="0">
                <a:solidFill>
                  <a:srgbClr val="666666"/>
                </a:solidFill>
                <a:latin typeface="Calibri"/>
              </a:rPr>
              <a:t>8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1188720"/>
            <a:ext cx="11185855" cy="530352"/>
          </a:xfrm>
          <a:prstGeom prst="roundRect">
            <a:avLst>
              <a:gd name="adj" fmla="val 4000"/>
            </a:avLst>
          </a:prstGeom>
          <a:solidFill>
            <a:srgbClr val="0E7C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l"/>
            <a:r>
              <a:rPr sz="1300" b="1">
                <a:solidFill>
                  <a:srgbClr val="FFFFFF"/>
                </a:solidFill>
                <a:latin typeface="Calibri"/>
              </a:rPr>
              <a:t>UPLOAD AND RUN:   </a:t>
            </a:r>
            <a:r>
              <a:rPr sz="1500" b="1">
                <a:solidFill>
                  <a:srgbClr val="FFFFFF"/>
                </a:solidFill>
                <a:latin typeface="Consolas"/>
              </a:rPr>
              <a:t>l5b_button_toggle</a:t>
            </a:r>
            <a:r>
              <a:rPr sz="1200">
                <a:solidFill>
                  <a:srgbClr val="FFFFFF"/>
                </a:solidFill>
                <a:latin typeface="Calibri"/>
              </a:rPr>
              <a:t>     (25 minutes)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1901952"/>
            <a:ext cx="5387187" cy="436168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800"/>
              </a:spcAft>
              <a:defRPr sz="1600" b="0">
                <a:solidFill>
                  <a:srgbClr val="222222"/>
                </a:solidFill>
                <a:latin typeface="Calibri"/>
              </a:defRPr>
            </a:pPr>
            <a:r>
              <a:rPr sz="1600" b="0">
                <a:solidFill>
                  <a:srgbClr val="222222"/>
                </a:solidFill>
                <a:latin typeface="Calibri"/>
              </a:rPr>
              <a:t>1.  Upload it.</a:t>
            </a:r>
          </a:p>
          <a:p>
            <a:pPr algn="l">
              <a:lnSpc>
                <a:spcPct val="100000"/>
              </a:lnSpc>
              <a:spcAft>
                <a:spcPts val="800"/>
              </a:spcAft>
              <a:defRPr sz="1600" b="0">
                <a:solidFill>
                  <a:srgbClr val="222222"/>
                </a:solidFill>
                <a:latin typeface="Calibri"/>
              </a:defRPr>
            </a:pPr>
            <a:r>
              <a:rPr sz="1600" b="0">
                <a:solidFill>
                  <a:srgbClr val="222222"/>
                </a:solidFill>
                <a:latin typeface="Calibri"/>
              </a:rPr>
              <a:t>2.  Press SQUARE a few times. One press, one change, every time.</a:t>
            </a:r>
          </a:p>
          <a:p>
            <a:pPr algn="l">
              <a:lnSpc>
                <a:spcPct val="100000"/>
              </a:lnSpc>
              <a:spcAft>
                <a:spcPts val="800"/>
              </a:spcAft>
              <a:defRPr sz="1600" b="0">
                <a:solidFill>
                  <a:srgbClr val="222222"/>
                </a:solidFill>
                <a:latin typeface="Calibri"/>
              </a:defRPr>
            </a:pPr>
            <a:r>
              <a:rPr sz="1600" b="0">
                <a:solidFill>
                  <a:srgbClr val="222222"/>
                </a:solidFill>
                <a:latin typeface="Calibri"/>
              </a:rPr>
              <a:t>3.  Now press TRIANGLE ONCE and read the Serial Monitor.</a:t>
            </a:r>
          </a:p>
          <a:p>
            <a:pPr algn="l">
              <a:lnSpc>
                <a:spcPct val="100000"/>
              </a:lnSpc>
              <a:spcAft>
                <a:spcPts val="800"/>
              </a:spcAft>
              <a:defRPr sz="1600" b="0">
                <a:solidFill>
                  <a:srgbClr val="222222"/>
                </a:solidFill>
                <a:latin typeface="Calibri"/>
              </a:defRPr>
            </a:pPr>
            <a:r>
              <a:rPr sz="1600" b="0">
                <a:solidFill>
                  <a:srgbClr val="222222"/>
                </a:solidFill>
                <a:latin typeface="Calibri"/>
              </a:rPr>
              <a:t>4.  How many times did one press register?</a:t>
            </a:r>
          </a:p>
          <a:p>
            <a:pPr algn="l">
              <a:lnSpc>
                <a:spcPct val="100000"/>
              </a:lnSpc>
              <a:spcAft>
                <a:spcPts val="800"/>
              </a:spcAft>
              <a:defRPr sz="1600" b="0">
                <a:solidFill>
                  <a:srgbClr val="222222"/>
                </a:solidFill>
                <a:latin typeface="Calibri"/>
              </a:defRPr>
            </a:pPr>
            <a:r>
              <a:rPr sz="1600" b="0">
                <a:solidFill>
                  <a:srgbClr val="222222"/>
                </a:solidFill>
                <a:latin typeface="Calibri"/>
              </a:rPr>
              <a:t>5.  Hold the good button down for five seconds. Does anything extra happen? Should it?</a:t>
            </a:r>
          </a:p>
          <a:p>
            <a:pPr algn="l">
              <a:lnSpc>
                <a:spcPct val="100000"/>
              </a:lnSpc>
              <a:spcAft>
                <a:spcPts val="800"/>
              </a:spcAft>
              <a:defRPr sz="1600" b="0">
                <a:solidFill>
                  <a:srgbClr val="222222"/>
                </a:solidFill>
                <a:latin typeface="Calibri"/>
              </a:defRPr>
            </a:pPr>
            <a:r>
              <a:rPr sz="1600" b="0">
                <a:solidFill>
                  <a:srgbClr val="222222"/>
                </a:solidFill>
                <a:latin typeface="Calibri"/>
              </a:rPr>
              <a:t>6.  Change justPressed so it fires on RELEASE instead. Which feels better to use?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301587" y="1901952"/>
            <a:ext cx="5387187" cy="31089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  <a:defRPr sz="1200" b="1">
                <a:solidFill>
                  <a:srgbClr val="0E7C86"/>
                </a:solidFill>
                <a:latin typeface="Calibri"/>
              </a:defRPr>
            </a:pPr>
            <a:r>
              <a:rPr sz="1200" b="1">
                <a:solidFill>
                  <a:srgbClr val="0E7C86"/>
                </a:solidFill>
                <a:latin typeface="Calibri"/>
              </a:rPr>
              <a:t>What you should see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301587" y="2249424"/>
            <a:ext cx="5387187" cy="181508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  <a:defRPr sz="1500" b="0">
                <a:solidFill>
                  <a:srgbClr val="222222"/>
                </a:solidFill>
                <a:latin typeface="Calibri"/>
              </a:defRPr>
            </a:pPr>
            <a:r>
              <a:rPr sz="1500" b="0">
                <a:solidFill>
                  <a:srgbClr val="222222"/>
                </a:solidFill>
                <a:latin typeface="Calibri"/>
              </a:rPr>
              <a:t>The good button toggles the headlights cleanly. The broken one reports flipping the value hundreds or thousands of times.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301587" y="4101084"/>
            <a:ext cx="5387187" cy="31089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  <a:defRPr sz="1200" b="1">
                <a:solidFill>
                  <a:srgbClr val="0E7C86"/>
                </a:solidFill>
                <a:latin typeface="Calibri"/>
              </a:defRPr>
            </a:pPr>
            <a:r>
              <a:rPr sz="1200" b="1">
                <a:solidFill>
                  <a:srgbClr val="0E7C86"/>
                </a:solidFill>
                <a:latin typeface="Calibri"/>
              </a:rPr>
              <a:t>Answer these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301587" y="4448556"/>
            <a:ext cx="5387187" cy="181508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  <a:defRPr sz="1500" b="0">
                <a:solidFill>
                  <a:srgbClr val="222222"/>
                </a:solidFill>
                <a:latin typeface="Calibri"/>
              </a:defRPr>
            </a:pPr>
            <a:r>
              <a:rPr sz="1500" b="0">
                <a:solidFill>
                  <a:srgbClr val="222222"/>
                </a:solidFill>
                <a:latin typeface="Calibri"/>
              </a:rPr>
              <a:t>Why does the broken version sometimes appear to work?</a:t>
            </a:r>
          </a:p>
          <a:p>
            <a:pPr algn="l">
              <a:lnSpc>
                <a:spcPct val="100000"/>
              </a:lnSpc>
              <a:spcAft>
                <a:spcPts val="600"/>
              </a:spcAft>
              <a:defRPr sz="1500" b="0">
                <a:solidFill>
                  <a:srgbClr val="222222"/>
                </a:solidFill>
                <a:latin typeface="Calibri"/>
              </a:defRPr>
            </a:pPr>
            <a:r>
              <a:rPr sz="1500" b="0">
                <a:solidFill>
                  <a:srgbClr val="222222"/>
                </a:solidFill>
                <a:latin typeface="Calibri"/>
              </a:rPr>
              <a:t>What does the &amp; mean in  bool &amp;wasDown?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2920" y="274320"/>
            <a:ext cx="11185855" cy="777240"/>
          </a:xfrm>
        </p:spPr>
        <p:txBody>
          <a:bodyPr wrap="square" anchor="b"/>
          <a:lstStyle/>
          <a:p>
            <a:pPr algn="l">
              <a:lnSpc>
                <a:spcPct val="100000"/>
              </a:lnSpc>
              <a:spcAft>
                <a:spcPts val="0"/>
              </a:spcAft>
              <a:defRPr sz="2800" b="1">
                <a:solidFill>
                  <a:srgbClr val="1F3A5F"/>
                </a:solidFill>
                <a:latin typeface="Calibri"/>
              </a:defRPr>
            </a:pPr>
            <a:r>
              <a:rPr sz="2800" b="1">
                <a:solidFill>
                  <a:srgbClr val="1F3A5F"/>
                </a:solidFill>
                <a:latin typeface="Calibri"/>
              </a:rPr>
              <a:t>State: what the vehicle remembers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097280"/>
            <a:ext cx="11185855" cy="19050"/>
          </a:xfrm>
          <a:prstGeom prst="rect">
            <a:avLst/>
          </a:prstGeom>
          <a:solidFill>
            <a:srgbClr val="C8D2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6382512"/>
            <a:ext cx="10545775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defRPr sz="900" b="0">
                <a:solidFill>
                  <a:srgbClr val="666666"/>
                </a:solidFill>
                <a:latin typeface="Calibri"/>
              </a:defRPr>
            </a:pPr>
            <a:r>
              <a:rPr sz="900" b="0">
                <a:solidFill>
                  <a:srgbClr val="666666"/>
                </a:solidFill>
                <a:latin typeface="Calibri"/>
              </a:rPr>
              <a:t>Pathfinder Beginner - PS3  |  Lesson 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31575" y="6382512"/>
            <a:ext cx="457200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  <a:defRPr sz="900" b="0">
                <a:solidFill>
                  <a:srgbClr val="666666"/>
                </a:solidFill>
                <a:latin typeface="Calibri"/>
              </a:defRPr>
            </a:pPr>
            <a:r>
              <a:rPr sz="900" b="0">
                <a:solidFill>
                  <a:srgbClr val="666666"/>
                </a:solidFill>
                <a:latin typeface="Calibri"/>
              </a:rPr>
              <a:t>9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1188720"/>
            <a:ext cx="11185855" cy="53035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  <a:defRPr sz="1900" b="1">
                <a:solidFill>
                  <a:srgbClr val="0E7C86"/>
                </a:solidFill>
                <a:latin typeface="Calibri"/>
              </a:defRPr>
            </a:pPr>
            <a:r>
              <a:rPr sz="1900" b="1">
                <a:solidFill>
                  <a:srgbClr val="0E7C86"/>
                </a:solidFill>
                <a:latin typeface="Calibri"/>
              </a:rPr>
              <a:t>Variables that live between passes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1755648"/>
            <a:ext cx="11185855" cy="450799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900"/>
              </a:spcAft>
              <a:defRPr sz="1700" b="0">
                <a:solidFill>
                  <a:srgbClr val="222222"/>
                </a:solidFill>
                <a:latin typeface="Calibri"/>
              </a:defRPr>
            </a:pPr>
            <a:r>
              <a:rPr sz="1700" b="0">
                <a:solidFill>
                  <a:srgbClr val="222222"/>
                </a:solidFill>
                <a:latin typeface="Calibri"/>
              </a:rPr>
              <a:t>A variable that survives from one pass of loop() to the next is STATE. It is what makes a program feel like it has a mind rather than just reflexes.</a:t>
            </a:r>
          </a:p>
          <a:p>
            <a:pPr algn="l">
              <a:lnSpc>
                <a:spcPct val="100000"/>
              </a:lnSpc>
              <a:spcAft>
                <a:spcPts val="900"/>
              </a:spcAft>
              <a:defRPr sz="1700" b="0">
                <a:solidFill>
                  <a:srgbClr val="222222"/>
                </a:solidFill>
                <a:latin typeface="Calibri"/>
              </a:defRPr>
            </a:pPr>
          </a:p>
          <a:p>
            <a:pPr algn="l">
              <a:lnSpc>
                <a:spcPct val="100000"/>
              </a:lnSpc>
              <a:spcAft>
                <a:spcPts val="900"/>
              </a:spcAft>
              <a:defRPr sz="1700" b="0">
                <a:solidFill>
                  <a:srgbClr val="222222"/>
                </a:solidFill>
                <a:latin typeface="Calibri"/>
              </a:defRPr>
            </a:pPr>
            <a:r>
              <a:rPr sz="1700" b="0">
                <a:solidFill>
                  <a:srgbClr val="222222"/>
                </a:solidFill>
                <a:latin typeface="Calibri"/>
              </a:rPr>
              <a:t>The vehicle remembers:</a:t>
            </a:r>
          </a:p>
          <a:p>
            <a:pPr lvl="1" algn="l">
              <a:lnSpc>
                <a:spcPct val="100000"/>
              </a:lnSpc>
              <a:spcAft>
                <a:spcPts val="900"/>
              </a:spcAft>
              <a:defRPr sz="1700" b="0">
                <a:solidFill>
                  <a:srgbClr val="222222"/>
                </a:solidFill>
                <a:latin typeface="Calibri"/>
              </a:defRPr>
            </a:pPr>
            <a:r>
              <a:rPr sz="1700" b="0">
                <a:solidFill>
                  <a:srgbClr val="222222"/>
                </a:solidFill>
                <a:latin typeface="Calibri"/>
              </a:rPr>
              <a:t>lightsOn        -  are the running lights on at all</a:t>
            </a:r>
          </a:p>
          <a:p>
            <a:pPr lvl="1" algn="l">
              <a:lnSpc>
                <a:spcPct val="100000"/>
              </a:lnSpc>
              <a:spcAft>
                <a:spcPts val="900"/>
              </a:spcAft>
              <a:defRPr sz="1700" b="0">
                <a:solidFill>
                  <a:srgbClr val="222222"/>
                </a:solidFill>
                <a:latin typeface="Calibri"/>
              </a:defRPr>
            </a:pPr>
            <a:r>
              <a:rPr sz="1700" b="0">
                <a:solidFill>
                  <a:srgbClr val="222222"/>
                </a:solidFill>
                <a:latin typeface="Calibri"/>
              </a:rPr>
              <a:t>headlightLevel  -  dim or bright</a:t>
            </a:r>
          </a:p>
          <a:p>
            <a:pPr lvl="1" algn="l">
              <a:lnSpc>
                <a:spcPct val="100000"/>
              </a:lnSpc>
              <a:spcAft>
                <a:spcPts val="900"/>
              </a:spcAft>
              <a:defRPr sz="1700" b="0">
                <a:solidFill>
                  <a:srgbClr val="222222"/>
                </a:solidFill>
                <a:latin typeface="Calibri"/>
              </a:defRPr>
            </a:pPr>
            <a:r>
              <a:rPr sz="1700" b="0">
                <a:solidFill>
                  <a:srgbClr val="222222"/>
                </a:solidFill>
                <a:latin typeface="Calibri"/>
              </a:rPr>
              <a:t>lightPattern    -  stopped, forward, reverse, left or right</a:t>
            </a:r>
          </a:p>
          <a:p>
            <a:pPr lvl="1" algn="l">
              <a:lnSpc>
                <a:spcPct val="100000"/>
              </a:lnSpc>
              <a:spcAft>
                <a:spcPts val="900"/>
              </a:spcAft>
              <a:defRPr sz="1700" b="0">
                <a:solidFill>
                  <a:srgbClr val="222222"/>
                </a:solidFill>
                <a:latin typeface="Calibri"/>
              </a:defRPr>
            </a:pPr>
            <a:r>
              <a:rPr sz="1700" b="0">
                <a:solidFill>
                  <a:srgbClr val="222222"/>
                </a:solidFill>
                <a:latin typeface="Calibri"/>
              </a:rPr>
              <a:t>lightsChanged   -  does the strip need redrawing</a:t>
            </a:r>
          </a:p>
          <a:p>
            <a:pPr lvl="1" algn="l">
              <a:lnSpc>
                <a:spcPct val="100000"/>
              </a:lnSpc>
              <a:spcAft>
                <a:spcPts val="900"/>
              </a:spcAft>
              <a:defRPr sz="1700" b="0">
                <a:solidFill>
                  <a:srgbClr val="222222"/>
                </a:solidFill>
                <a:latin typeface="Calibri"/>
              </a:defRPr>
            </a:pPr>
            <a:r>
              <a:rPr sz="1700" b="0">
                <a:solidFill>
                  <a:srgbClr val="222222"/>
                </a:solidFill>
                <a:latin typeface="Calibri"/>
              </a:rPr>
              <a:t>turnMax         -  normal or sharp steering</a:t>
            </a:r>
          </a:p>
          <a:p>
            <a:pPr lvl="1" algn="l">
              <a:lnSpc>
                <a:spcPct val="100000"/>
              </a:lnSpc>
              <a:spcAft>
                <a:spcPts val="900"/>
              </a:spcAft>
              <a:defRPr sz="1700" b="0">
                <a:solidFill>
                  <a:srgbClr val="222222"/>
                </a:solidFill>
                <a:latin typeface="Calibri"/>
              </a:defRPr>
            </a:pPr>
            <a:r>
              <a:rPr sz="1700" b="0">
                <a:solidFill>
                  <a:srgbClr val="222222"/>
                </a:solidFill>
                <a:latin typeface="Calibri"/>
              </a:rPr>
              <a:t>scannerOn       -  is the KITT scanner running</a:t>
            </a:r>
          </a:p>
          <a:p>
            <a:pPr algn="l">
              <a:lnSpc>
                <a:spcPct val="100000"/>
              </a:lnSpc>
              <a:spcAft>
                <a:spcPts val="900"/>
              </a:spcAft>
              <a:defRPr sz="1700" b="0">
                <a:solidFill>
                  <a:srgbClr val="222222"/>
                </a:solidFill>
                <a:latin typeface="Calibri"/>
              </a:defRPr>
            </a:pPr>
          </a:p>
          <a:p>
            <a:pPr algn="l">
              <a:lnSpc>
                <a:spcPct val="100000"/>
              </a:lnSpc>
              <a:spcAft>
                <a:spcPts val="900"/>
              </a:spcAft>
              <a:defRPr sz="1700" b="0">
                <a:solidFill>
                  <a:srgbClr val="222222"/>
                </a:solidFill>
                <a:latin typeface="Calibri"/>
              </a:defRPr>
            </a:pPr>
            <a:r>
              <a:rPr sz="1700" b="0">
                <a:solidFill>
                  <a:srgbClr val="222222"/>
                </a:solidFill>
                <a:latin typeface="Calibri"/>
              </a:rPr>
              <a:t>That last flag is worth a slide of its own.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2920" y="274320"/>
            <a:ext cx="11185855" cy="777240"/>
          </a:xfrm>
        </p:spPr>
        <p:txBody>
          <a:bodyPr wrap="square" anchor="b"/>
          <a:lstStyle/>
          <a:p>
            <a:pPr algn="l">
              <a:lnSpc>
                <a:spcPct val="100000"/>
              </a:lnSpc>
              <a:spcAft>
                <a:spcPts val="0"/>
              </a:spcAft>
              <a:defRPr sz="2800" b="1">
                <a:solidFill>
                  <a:srgbClr val="1F3A5F"/>
                </a:solidFill>
                <a:latin typeface="Calibri"/>
              </a:defRPr>
            </a:pPr>
            <a:r>
              <a:rPr sz="2800" b="1">
                <a:solidFill>
                  <a:srgbClr val="1F3A5F"/>
                </a:solidFill>
                <a:latin typeface="Calibri"/>
              </a:rPr>
              <a:t>Draw only when something changed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097280"/>
            <a:ext cx="11185855" cy="19050"/>
          </a:xfrm>
          <a:prstGeom prst="rect">
            <a:avLst/>
          </a:prstGeom>
          <a:solidFill>
            <a:srgbClr val="C8D2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6382512"/>
            <a:ext cx="10545775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defRPr sz="900" b="0">
                <a:solidFill>
                  <a:srgbClr val="666666"/>
                </a:solidFill>
                <a:latin typeface="Calibri"/>
              </a:defRPr>
            </a:pPr>
            <a:r>
              <a:rPr sz="900" b="0">
                <a:solidFill>
                  <a:srgbClr val="666666"/>
                </a:solidFill>
                <a:latin typeface="Calibri"/>
              </a:rPr>
              <a:t>Pathfinder Beginner - PS3  |  Lesson 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31575" y="6382512"/>
            <a:ext cx="457200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  <a:defRPr sz="900" b="0">
                <a:solidFill>
                  <a:srgbClr val="666666"/>
                </a:solidFill>
                <a:latin typeface="Calibri"/>
              </a:defRPr>
            </a:pPr>
            <a:r>
              <a:rPr sz="900" b="0">
                <a:solidFill>
                  <a:srgbClr val="666666"/>
                </a:solidFill>
                <a:latin typeface="Calibri"/>
              </a:rPr>
              <a:t>10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1188720"/>
            <a:ext cx="11185855" cy="53035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  <a:defRPr sz="1900" b="1">
                <a:solidFill>
                  <a:srgbClr val="0E7C86"/>
                </a:solidFill>
                <a:latin typeface="Calibri"/>
              </a:defRPr>
            </a:pPr>
            <a:r>
              <a:rPr sz="1900" b="1">
                <a:solidFill>
                  <a:srgbClr val="0E7C86"/>
                </a:solidFill>
                <a:latin typeface="Calibri"/>
              </a:rPr>
              <a:t>The dirty flag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1755648"/>
            <a:ext cx="11185855" cy="450799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900"/>
              </a:spcAft>
              <a:defRPr sz="1700" b="0">
                <a:solidFill>
                  <a:srgbClr val="222222"/>
                </a:solidFill>
                <a:latin typeface="Calibri"/>
              </a:defRPr>
            </a:pPr>
            <a:r>
              <a:rPr sz="1700" b="0">
                <a:solidFill>
                  <a:srgbClr val="222222"/>
                </a:solidFill>
                <a:latin typeface="Calibri"/>
              </a:rPr>
              <a:t>Pushing 32 LEDs out to the strip takes about a millisecond. loop() runs tens of thousands of times a second.</a:t>
            </a:r>
          </a:p>
          <a:p>
            <a:pPr algn="l">
              <a:lnSpc>
                <a:spcPct val="100000"/>
              </a:lnSpc>
              <a:spcAft>
                <a:spcPts val="900"/>
              </a:spcAft>
              <a:defRPr sz="1700" b="0">
                <a:solidFill>
                  <a:srgbClr val="222222"/>
                </a:solidFill>
                <a:latin typeface="Calibri"/>
              </a:defRPr>
            </a:pPr>
            <a:r>
              <a:rPr sz="1700" b="0">
                <a:solidFill>
                  <a:srgbClr val="222222"/>
                </a:solidFill>
                <a:latin typeface="Calibri"/>
              </a:rPr>
              <a:t>Redrawing every pass would waste most of the vehicle's attention and make the lights flicker.</a:t>
            </a:r>
          </a:p>
          <a:p>
            <a:pPr algn="l">
              <a:lnSpc>
                <a:spcPct val="100000"/>
              </a:lnSpc>
              <a:spcAft>
                <a:spcPts val="900"/>
              </a:spcAft>
              <a:defRPr sz="1700" b="0">
                <a:solidFill>
                  <a:srgbClr val="222222"/>
                </a:solidFill>
                <a:latin typeface="Calibri"/>
              </a:defRPr>
            </a:pPr>
          </a:p>
          <a:p>
            <a:pPr algn="l">
              <a:lnSpc>
                <a:spcPct val="100000"/>
              </a:lnSpc>
              <a:spcAft>
                <a:spcPts val="900"/>
              </a:spcAft>
              <a:defRPr sz="1700" b="0">
                <a:solidFill>
                  <a:srgbClr val="222222"/>
                </a:solidFill>
                <a:latin typeface="Calibri"/>
              </a:defRPr>
            </a:pPr>
            <a:r>
              <a:rPr sz="1700" b="0">
                <a:solidFill>
                  <a:srgbClr val="222222"/>
                </a:solidFill>
                <a:latin typeface="Calibri"/>
              </a:rPr>
              <a:t>So the program keeps a flag: lightsChanged.</a:t>
            </a:r>
          </a:p>
          <a:p>
            <a:pPr lvl="1" algn="l">
              <a:lnSpc>
                <a:spcPct val="100000"/>
              </a:lnSpc>
              <a:spcAft>
                <a:spcPts val="900"/>
              </a:spcAft>
              <a:defRPr sz="1700" b="0">
                <a:solidFill>
                  <a:srgbClr val="222222"/>
                </a:solidFill>
                <a:latin typeface="Calibri"/>
              </a:defRPr>
            </a:pPr>
            <a:r>
              <a:rPr sz="1700" b="0">
                <a:solidFill>
                  <a:srgbClr val="222222"/>
                </a:solidFill>
                <a:latin typeface="Calibri"/>
              </a:rPr>
              <a:t>Anything that would alter the picture sets it to true.</a:t>
            </a:r>
          </a:p>
          <a:p>
            <a:pPr lvl="1" algn="l">
              <a:lnSpc>
                <a:spcPct val="100000"/>
              </a:lnSpc>
              <a:spcAft>
                <a:spcPts val="900"/>
              </a:spcAft>
              <a:defRPr sz="1700" b="0">
                <a:solidFill>
                  <a:srgbClr val="222222"/>
                </a:solidFill>
                <a:latin typeface="Calibri"/>
              </a:defRPr>
            </a:pPr>
            <a:r>
              <a:rPr sz="1700" b="0">
                <a:solidFill>
                  <a:srgbClr val="222222"/>
                </a:solidFill>
                <a:latin typeface="Calibri"/>
              </a:rPr>
              <a:t>The drawing code at the bottom of loop() runs only when it is set, and then clears it.</a:t>
            </a:r>
          </a:p>
          <a:p>
            <a:pPr algn="l">
              <a:lnSpc>
                <a:spcPct val="100000"/>
              </a:lnSpc>
              <a:spcAft>
                <a:spcPts val="900"/>
              </a:spcAft>
              <a:defRPr sz="1700" b="0">
                <a:solidFill>
                  <a:srgbClr val="222222"/>
                </a:solidFill>
                <a:latin typeface="Calibri"/>
              </a:defRPr>
            </a:pPr>
          </a:p>
          <a:p>
            <a:pPr lvl="1" algn="l">
              <a:lnSpc>
                <a:spcPct val="100000"/>
              </a:lnSpc>
              <a:spcAft>
                <a:spcPts val="900"/>
              </a:spcAft>
              <a:defRPr sz="1700" b="0">
                <a:solidFill>
                  <a:srgbClr val="222222"/>
                </a:solidFill>
                <a:latin typeface="Calibri"/>
              </a:defRPr>
            </a:pPr>
            <a:r>
              <a:rPr sz="1700" b="0">
                <a:solidFill>
                  <a:srgbClr val="222222"/>
                </a:solidFill>
                <a:latin typeface="Calibri"/>
              </a:rPr>
              <a:t>if (lightsChanged) { lightsChanged = false; showDrivingLights(); }</a:t>
            </a:r>
          </a:p>
          <a:p>
            <a:pPr algn="l">
              <a:lnSpc>
                <a:spcPct val="100000"/>
              </a:lnSpc>
              <a:spcAft>
                <a:spcPts val="900"/>
              </a:spcAft>
              <a:defRPr sz="1700" b="0">
                <a:solidFill>
                  <a:srgbClr val="222222"/>
                </a:solidFill>
                <a:latin typeface="Calibri"/>
              </a:defRPr>
            </a:pPr>
          </a:p>
          <a:p>
            <a:pPr algn="l">
              <a:lnSpc>
                <a:spcPct val="100000"/>
              </a:lnSpc>
              <a:spcAft>
                <a:spcPts val="900"/>
              </a:spcAft>
              <a:defRPr sz="1700" b="0">
                <a:solidFill>
                  <a:srgbClr val="222222"/>
                </a:solidFill>
                <a:latin typeface="Calibri"/>
              </a:defRPr>
            </a:pPr>
            <a:r>
              <a:rPr sz="1700" b="0">
                <a:solidFill>
                  <a:srgbClr val="222222"/>
                </a:solidFill>
                <a:latin typeface="Calibri"/>
              </a:rPr>
              <a:t>This is called a DIRTY FLAG, and you will find the same idea in graphics engines, spreadsheets and web browsers. Anywhere redrawing is expensive, something is keeping track of what actually changed.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2920" y="274320"/>
            <a:ext cx="11185855" cy="777240"/>
          </a:xfrm>
        </p:spPr>
        <p:txBody>
          <a:bodyPr wrap="square" anchor="b"/>
          <a:lstStyle/>
          <a:p>
            <a:pPr algn="l">
              <a:lnSpc>
                <a:spcPct val="100000"/>
              </a:lnSpc>
              <a:spcAft>
                <a:spcPts val="0"/>
              </a:spcAft>
              <a:defRPr sz="2800" b="1">
                <a:solidFill>
                  <a:srgbClr val="1F3A5F"/>
                </a:solidFill>
                <a:latin typeface="Calibri"/>
              </a:defRPr>
            </a:pPr>
            <a:r>
              <a:rPr sz="2800" b="1">
                <a:solidFill>
                  <a:srgbClr val="1F3A5F"/>
                </a:solidFill>
                <a:latin typeface="Calibri"/>
              </a:rPr>
              <a:t>Choosing the lighting picture from what the vehicle is doing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097280"/>
            <a:ext cx="11185855" cy="19050"/>
          </a:xfrm>
          <a:prstGeom prst="rect">
            <a:avLst/>
          </a:prstGeom>
          <a:solidFill>
            <a:srgbClr val="C8D2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6382512"/>
            <a:ext cx="10545775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defRPr sz="900" b="0">
                <a:solidFill>
                  <a:srgbClr val="666666"/>
                </a:solidFill>
                <a:latin typeface="Calibri"/>
              </a:defRPr>
            </a:pPr>
            <a:r>
              <a:rPr sz="900" b="0">
                <a:solidFill>
                  <a:srgbClr val="666666"/>
                </a:solidFill>
                <a:latin typeface="Calibri"/>
              </a:rPr>
              <a:t>Pathfinder Beginner - PS3  |  Lesson 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31575" y="6382512"/>
            <a:ext cx="457200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  <a:defRPr sz="900" b="0">
                <a:solidFill>
                  <a:srgbClr val="666666"/>
                </a:solidFill>
                <a:latin typeface="Calibri"/>
              </a:defRPr>
            </a:pPr>
            <a:r>
              <a:rPr sz="900" b="0">
                <a:solidFill>
                  <a:srgbClr val="666666"/>
                </a:solidFill>
                <a:latin typeface="Calibri"/>
              </a:rPr>
              <a:t>11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1188720"/>
            <a:ext cx="7047088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  <a:defRPr sz="900" b="1">
                <a:solidFill>
                  <a:srgbClr val="0E7C86"/>
                </a:solidFill>
                <a:latin typeface="Consolas"/>
              </a:defRPr>
            </a:pPr>
            <a:r>
              <a:rPr sz="900" b="1">
                <a:solidFill>
                  <a:srgbClr val="0E7C86"/>
                </a:solidFill>
                <a:latin typeface="Consolas"/>
              </a:rPr>
              <a:t>from l5c_drive_with_lights.ino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1517904"/>
            <a:ext cx="7047088" cy="4745736"/>
          </a:xfrm>
          <a:prstGeom prst="roundRect">
            <a:avLst>
              <a:gd name="adj" fmla="val 4000"/>
            </a:avLst>
          </a:prstGeom>
          <a:solidFill>
            <a:srgbClr val="F4F6F8"/>
          </a:solidFill>
          <a:ln w="12700">
            <a:solidFill>
              <a:srgbClr val="C8D2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46304" tIns="91440" bIns="73152"/>
          <a:lstStyle/>
          <a:p>
            <a:pPr algn="l">
              <a:lnSpc>
                <a:spcPct val="100000"/>
              </a:lnSpc>
              <a:spcAft>
                <a:spcPts val="0"/>
              </a:spcAft>
              <a:defRPr sz="1400">
                <a:latin typeface="Consolas"/>
              </a:defRPr>
            </a:pPr>
            <a:r>
              <a:rPr sz="1400">
                <a:solidFill>
                  <a:srgbClr val="222222"/>
                </a:solidFill>
                <a:latin typeface="Consolas"/>
              </a:rPr>
              <a:t>LightPattern newPattern = LIGHTS_STOPPED;</a:t>
            </a:r>
          </a:p>
          <a:p>
            <a:pPr algn="l">
              <a:lnSpc>
                <a:spcPct val="100000"/>
              </a:lnSpc>
              <a:spcAft>
                <a:spcPts val="0"/>
              </a:spcAft>
              <a:defRPr sz="1400">
                <a:latin typeface="Consolas"/>
              </a:defRPr>
            </a:pPr>
            <a:r>
              <a:rPr sz="1400">
                <a:solidFill>
                  <a:srgbClr val="222222"/>
                </a:solidFill>
                <a:latin typeface="Consolas"/>
              </a:rPr>
              <a:t>if      (forward &gt; 0) newPattern = LIGHTS_FORWARD;</a:t>
            </a:r>
          </a:p>
          <a:p>
            <a:pPr algn="l">
              <a:lnSpc>
                <a:spcPct val="100000"/>
              </a:lnSpc>
              <a:spcAft>
                <a:spcPts val="0"/>
              </a:spcAft>
              <a:defRPr sz="1400">
                <a:latin typeface="Consolas"/>
              </a:defRPr>
            </a:pPr>
            <a:r>
              <a:rPr sz="1400">
                <a:solidFill>
                  <a:srgbClr val="222222"/>
                </a:solidFill>
                <a:latin typeface="Consolas"/>
              </a:rPr>
              <a:t>else if (forward &lt; 0) newPattern = LIGHTS_REVERSE;</a:t>
            </a:r>
          </a:p>
          <a:p>
            <a:pPr algn="l">
              <a:lnSpc>
                <a:spcPct val="100000"/>
              </a:lnSpc>
              <a:spcAft>
                <a:spcPts val="0"/>
              </a:spcAft>
              <a:defRPr sz="1400">
                <a:latin typeface="Consolas"/>
              </a:defRPr>
            </a:pPr>
            <a:r>
              <a:rPr sz="1400">
                <a:solidFill>
                  <a:srgbClr val="222222"/>
                </a:solidFill>
                <a:latin typeface="Consolas"/>
              </a:rPr>
              <a:t>else if (turn &gt; 0)    newPattern = LIGHTS_RIGHT;</a:t>
            </a:r>
          </a:p>
          <a:p>
            <a:pPr algn="l">
              <a:lnSpc>
                <a:spcPct val="100000"/>
              </a:lnSpc>
              <a:spcAft>
                <a:spcPts val="0"/>
              </a:spcAft>
              <a:defRPr sz="1400">
                <a:latin typeface="Consolas"/>
              </a:defRPr>
            </a:pPr>
            <a:r>
              <a:rPr sz="1400">
                <a:solidFill>
                  <a:srgbClr val="222222"/>
                </a:solidFill>
                <a:latin typeface="Consolas"/>
              </a:rPr>
              <a:t>else if (turn &lt; 0)    newPattern = LIGHTS_LEFT;</a:t>
            </a:r>
          </a:p>
          <a:p>
            <a:pPr algn="l">
              <a:lnSpc>
                <a:spcPct val="100000"/>
              </a:lnSpc>
              <a:spcAft>
                <a:spcPts val="0"/>
              </a:spcAft>
              <a:defRPr sz="1400">
                <a:latin typeface="Consolas"/>
              </a:defRPr>
            </a:pPr>
            <a:r>
              <a:rPr sz="1400">
                <a:solidFill>
                  <a:srgbClr val="222222"/>
                </a:solidFill>
                <a:latin typeface="Consolas"/>
              </a:rPr>
              <a:t> </a:t>
            </a:r>
          </a:p>
          <a:p>
            <a:pPr algn="l">
              <a:lnSpc>
                <a:spcPct val="100000"/>
              </a:lnSpc>
              <a:spcAft>
                <a:spcPts val="0"/>
              </a:spcAft>
              <a:defRPr sz="1400">
                <a:latin typeface="Consolas"/>
              </a:defRPr>
            </a:pPr>
            <a:r>
              <a:rPr sz="1400" b="1">
                <a:solidFill>
                  <a:srgbClr val="0E7C86"/>
                </a:solidFill>
                <a:latin typeface="Consolas"/>
              </a:rPr>
              <a:t>if (newPattern != lightPattern) {</a:t>
            </a:r>
          </a:p>
          <a:p>
            <a:pPr algn="l">
              <a:lnSpc>
                <a:spcPct val="100000"/>
              </a:lnSpc>
              <a:spcAft>
                <a:spcPts val="0"/>
              </a:spcAft>
              <a:defRPr sz="1400">
                <a:latin typeface="Consolas"/>
              </a:defRPr>
            </a:pPr>
            <a:r>
              <a:rPr sz="1400" b="1">
                <a:solidFill>
                  <a:srgbClr val="0E7C86"/>
                </a:solidFill>
                <a:latin typeface="Consolas"/>
              </a:rPr>
              <a:t>  lightPattern = newPattern;</a:t>
            </a:r>
          </a:p>
          <a:p>
            <a:pPr algn="l">
              <a:lnSpc>
                <a:spcPct val="100000"/>
              </a:lnSpc>
              <a:spcAft>
                <a:spcPts val="0"/>
              </a:spcAft>
              <a:defRPr sz="1400">
                <a:latin typeface="Consolas"/>
              </a:defRPr>
            </a:pPr>
            <a:r>
              <a:rPr sz="1400" b="1">
                <a:solidFill>
                  <a:srgbClr val="0E7C86"/>
                </a:solidFill>
                <a:latin typeface="Consolas"/>
              </a:rPr>
              <a:t>  lightsChanged = true;</a:t>
            </a:r>
          </a:p>
          <a:p>
            <a:pPr algn="l">
              <a:lnSpc>
                <a:spcPct val="100000"/>
              </a:lnSpc>
              <a:spcAft>
                <a:spcPts val="0"/>
              </a:spcAft>
              <a:defRPr sz="1400">
                <a:latin typeface="Consolas"/>
              </a:defRPr>
            </a:pPr>
            <a:r>
              <a:rPr sz="1400">
                <a:solidFill>
                  <a:srgbClr val="222222"/>
                </a:solidFill>
                <a:latin typeface="Consolas"/>
              </a:rPr>
              <a:t>}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870048" y="1517904"/>
            <a:ext cx="3818727" cy="474573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1100"/>
              </a:spcAft>
              <a:defRPr sz="1500" b="0">
                <a:solidFill>
                  <a:srgbClr val="222222"/>
                </a:solidFill>
                <a:latin typeface="Calibri"/>
              </a:defRPr>
            </a:pPr>
            <a:r>
              <a:rPr sz="1500" b="0">
                <a:solidFill>
                  <a:srgbClr val="222222"/>
                </a:solidFill>
                <a:latin typeface="Calibri"/>
              </a:rPr>
              <a:t>The lights are not controlled by a button. They follow what the vehicle is ALREADY doing, which is how a real car works.</a:t>
            </a:r>
          </a:p>
          <a:p>
            <a:pPr algn="l">
              <a:lnSpc>
                <a:spcPct val="100000"/>
              </a:lnSpc>
              <a:spcAft>
                <a:spcPts val="1100"/>
              </a:spcAft>
              <a:defRPr sz="1500" b="0">
                <a:solidFill>
                  <a:srgbClr val="222222"/>
                </a:solidFill>
                <a:latin typeface="Calibri"/>
              </a:defRPr>
            </a:pPr>
            <a:r>
              <a:rPr sz="1500" b="0">
                <a:solidFill>
                  <a:srgbClr val="222222"/>
                </a:solidFill>
                <a:latin typeface="Calibri"/>
              </a:rPr>
              <a:t>An enum is a named list of the states something can be in. Better than 1, 2, 3, 4, 5, because the compiler can check it and you can read it.</a:t>
            </a:r>
          </a:p>
          <a:p>
            <a:pPr algn="l">
              <a:lnSpc>
                <a:spcPct val="100000"/>
              </a:lnSpc>
              <a:spcAft>
                <a:spcPts val="1100"/>
              </a:spcAft>
              <a:defRPr sz="1500" b="0">
                <a:solidFill>
                  <a:srgbClr val="222222"/>
                </a:solidFill>
                <a:latin typeface="Calibri"/>
              </a:defRPr>
            </a:pPr>
            <a:r>
              <a:rPr sz="1500" b="0">
                <a:solidFill>
                  <a:srgbClr val="222222"/>
                </a:solidFill>
                <a:latin typeface="Calibri"/>
              </a:rPr>
              <a:t>The else-if chain means exactly one pattern is chosen. Driving forward wins over turning.</a:t>
            </a:r>
          </a:p>
          <a:p>
            <a:pPr algn="l">
              <a:lnSpc>
                <a:spcPct val="100000"/>
              </a:lnSpc>
              <a:spcAft>
                <a:spcPts val="1100"/>
              </a:spcAft>
              <a:defRPr sz="1500" b="0">
                <a:solidFill>
                  <a:srgbClr val="222222"/>
                </a:solidFill>
                <a:latin typeface="Calibri"/>
              </a:defRPr>
            </a:pPr>
            <a:r>
              <a:rPr sz="1500" b="0">
                <a:solidFill>
                  <a:srgbClr val="222222"/>
                </a:solidFill>
                <a:latin typeface="Calibri"/>
              </a:rPr>
              <a:t>Only if it CHANGED do we set the dirty flag.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2920" y="274320"/>
            <a:ext cx="11185855" cy="777240"/>
          </a:xfrm>
        </p:spPr>
        <p:txBody>
          <a:bodyPr wrap="square" anchor="b"/>
          <a:lstStyle/>
          <a:p>
            <a:pPr algn="l">
              <a:lnSpc>
                <a:spcPct val="100000"/>
              </a:lnSpc>
              <a:spcAft>
                <a:spcPts val="0"/>
              </a:spcAft>
              <a:defRPr sz="2800" b="1">
                <a:solidFill>
                  <a:srgbClr val="1F3A5F"/>
                </a:solidFill>
                <a:latin typeface="Calibri"/>
              </a:defRPr>
            </a:pPr>
            <a:r>
              <a:rPr sz="2800" b="1">
                <a:solidFill>
                  <a:srgbClr val="1F3A5F"/>
                </a:solidFill>
                <a:latin typeface="Calibri"/>
              </a:rPr>
              <a:t>Do it now  -  drive with lights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097280"/>
            <a:ext cx="11185855" cy="19050"/>
          </a:xfrm>
          <a:prstGeom prst="rect">
            <a:avLst/>
          </a:prstGeom>
          <a:solidFill>
            <a:srgbClr val="C8D2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6382512"/>
            <a:ext cx="10545775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defRPr sz="900" b="0">
                <a:solidFill>
                  <a:srgbClr val="666666"/>
                </a:solidFill>
                <a:latin typeface="Calibri"/>
              </a:defRPr>
            </a:pPr>
            <a:r>
              <a:rPr sz="900" b="0">
                <a:solidFill>
                  <a:srgbClr val="666666"/>
                </a:solidFill>
                <a:latin typeface="Calibri"/>
              </a:rPr>
              <a:t>Pathfinder Beginner - PS3  |  Lesson 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31575" y="6382512"/>
            <a:ext cx="457200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  <a:defRPr sz="900" b="0">
                <a:solidFill>
                  <a:srgbClr val="666666"/>
                </a:solidFill>
                <a:latin typeface="Calibri"/>
              </a:defRPr>
            </a:pPr>
            <a:r>
              <a:rPr sz="900" b="0">
                <a:solidFill>
                  <a:srgbClr val="666666"/>
                </a:solidFill>
                <a:latin typeface="Calibri"/>
              </a:rPr>
              <a:t>12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1188720"/>
            <a:ext cx="11185855" cy="530352"/>
          </a:xfrm>
          <a:prstGeom prst="roundRect">
            <a:avLst>
              <a:gd name="adj" fmla="val 4000"/>
            </a:avLst>
          </a:prstGeom>
          <a:solidFill>
            <a:srgbClr val="0E7C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l"/>
            <a:r>
              <a:rPr sz="1300" b="1">
                <a:solidFill>
                  <a:srgbClr val="FFFFFF"/>
                </a:solidFill>
                <a:latin typeface="Calibri"/>
              </a:rPr>
              <a:t>UPLOAD AND RUN:   </a:t>
            </a:r>
            <a:r>
              <a:rPr sz="1500" b="1">
                <a:solidFill>
                  <a:srgbClr val="FFFFFF"/>
                </a:solidFill>
                <a:latin typeface="Consolas"/>
              </a:rPr>
              <a:t>l5c_drive_with_lights</a:t>
            </a:r>
            <a:r>
              <a:rPr sz="1200">
                <a:solidFill>
                  <a:srgbClr val="FFFFFF"/>
                </a:solidFill>
                <a:latin typeface="Calibri"/>
              </a:rPr>
              <a:t>     (30 minutes)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1901952"/>
            <a:ext cx="5387187" cy="317296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800"/>
              </a:spcAft>
              <a:defRPr sz="1500" b="0">
                <a:solidFill>
                  <a:srgbClr val="222222"/>
                </a:solidFill>
                <a:latin typeface="Calibri"/>
              </a:defRPr>
            </a:pPr>
            <a:r>
              <a:rPr sz="1500" b="0">
                <a:solidFill>
                  <a:srgbClr val="222222"/>
                </a:solidFill>
                <a:latin typeface="Calibri"/>
              </a:rPr>
              <a:t>1.  Wheels off the ground. Upload. Check the controls.</a:t>
            </a:r>
          </a:p>
          <a:p>
            <a:pPr algn="l">
              <a:lnSpc>
                <a:spcPct val="100000"/>
              </a:lnSpc>
              <a:spcAft>
                <a:spcPts val="800"/>
              </a:spcAft>
              <a:defRPr sz="1500" b="0">
                <a:solidFill>
                  <a:srgbClr val="222222"/>
                </a:solidFill>
                <a:latin typeface="Calibri"/>
              </a:defRPr>
            </a:pPr>
            <a:r>
              <a:rPr sz="1500" b="0">
                <a:solidFill>
                  <a:srgbClr val="222222"/>
                </a:solidFill>
                <a:latin typeface="Calibri"/>
              </a:rPr>
              <a:t>2.  Put it down and drive. Watch the lights follow the stick: headlights, tail lights, brake lights when you stop, white in reverse, amber on the side you are turning towards.</a:t>
            </a:r>
          </a:p>
          <a:p>
            <a:pPr algn="l">
              <a:lnSpc>
                <a:spcPct val="100000"/>
              </a:lnSpc>
              <a:spcAft>
                <a:spcPts val="800"/>
              </a:spcAft>
              <a:defRPr sz="1500" b="0">
                <a:solidFill>
                  <a:srgbClr val="222222"/>
                </a:solidFill>
                <a:latin typeface="Calibri"/>
              </a:defRPr>
            </a:pPr>
            <a:r>
              <a:rPr sz="1500" b="0">
                <a:solidFill>
                  <a:srgbClr val="222222"/>
                </a:solidFill>
                <a:latin typeface="Calibri"/>
              </a:rPr>
              <a:t>3.  Press SQUARE to toggle the lights.</a:t>
            </a:r>
          </a:p>
          <a:p>
            <a:pPr algn="l">
              <a:lnSpc>
                <a:spcPct val="100000"/>
              </a:lnSpc>
              <a:spcAft>
                <a:spcPts val="800"/>
              </a:spcAft>
              <a:defRPr sz="1500" b="0">
                <a:solidFill>
                  <a:srgbClr val="222222"/>
                </a:solidFill>
                <a:latin typeface="Calibri"/>
              </a:defRPr>
            </a:pPr>
            <a:r>
              <a:rPr sz="1500" b="0">
                <a:solidFill>
                  <a:srgbClr val="222222"/>
                </a:solidFill>
                <a:latin typeface="Calibri"/>
              </a:rPr>
              <a:t>4.  D-pad up and down for bright and dim headlights.</a:t>
            </a:r>
          </a:p>
          <a:p>
            <a:pPr algn="l">
              <a:lnSpc>
                <a:spcPct val="100000"/>
              </a:lnSpc>
              <a:spcAft>
                <a:spcPts val="800"/>
              </a:spcAft>
              <a:defRPr sz="1500" b="0">
                <a:solidFill>
                  <a:srgbClr val="222222"/>
                </a:solidFill>
                <a:latin typeface="Calibri"/>
              </a:defRPr>
            </a:pPr>
            <a:r>
              <a:rPr sz="1500" b="0">
                <a:solidFill>
                  <a:srgbClr val="222222"/>
                </a:solidFill>
                <a:latin typeface="Calibri"/>
              </a:rPr>
              <a:t>5.  Make the turn signals BLINK rather than stay on. Use millis(), not delay(), or the vehicle will stutter.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301587" y="1901952"/>
            <a:ext cx="5387187" cy="31089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  <a:defRPr sz="1200" b="1">
                <a:solidFill>
                  <a:srgbClr val="0E7C86"/>
                </a:solidFill>
                <a:latin typeface="Calibri"/>
              </a:defRPr>
            </a:pPr>
            <a:r>
              <a:rPr sz="1200" b="1">
                <a:solidFill>
                  <a:srgbClr val="0E7C86"/>
                </a:solidFill>
                <a:latin typeface="Calibri"/>
              </a:rPr>
              <a:t>What you should see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301587" y="2249424"/>
            <a:ext cx="5387187" cy="122072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  <a:defRPr sz="1500" b="0">
                <a:solidFill>
                  <a:srgbClr val="222222"/>
                </a:solidFill>
                <a:latin typeface="Calibri"/>
              </a:defRPr>
            </a:pPr>
            <a:r>
              <a:rPr sz="1500" b="0">
                <a:solidFill>
                  <a:srgbClr val="222222"/>
                </a:solidFill>
                <a:latin typeface="Calibri"/>
              </a:rPr>
              <a:t>A vehicle that drives and lights itself correctly at the same time, with no stuttering.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301587" y="3506724"/>
            <a:ext cx="5387187" cy="31089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  <a:defRPr sz="1200" b="1">
                <a:solidFill>
                  <a:srgbClr val="0E7C86"/>
                </a:solidFill>
                <a:latin typeface="Calibri"/>
              </a:defRPr>
            </a:pPr>
            <a:r>
              <a:rPr sz="1200" b="1">
                <a:solidFill>
                  <a:srgbClr val="0E7C86"/>
                </a:solidFill>
                <a:latin typeface="Calibri"/>
              </a:rPr>
              <a:t>Answer these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301587" y="3854196"/>
            <a:ext cx="5387187" cy="122072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  <a:defRPr sz="1500" b="0">
                <a:solidFill>
                  <a:srgbClr val="222222"/>
                </a:solidFill>
                <a:latin typeface="Calibri"/>
              </a:defRPr>
            </a:pPr>
            <a:r>
              <a:rPr sz="1500" b="0">
                <a:solidFill>
                  <a:srgbClr val="222222"/>
                </a:solidFill>
                <a:latin typeface="Calibri"/>
              </a:rPr>
              <a:t>Which lines make the brake lights come on?</a:t>
            </a:r>
          </a:p>
          <a:p>
            <a:pPr algn="l">
              <a:lnSpc>
                <a:spcPct val="100000"/>
              </a:lnSpc>
              <a:spcAft>
                <a:spcPts val="600"/>
              </a:spcAft>
              <a:defRPr sz="1500" b="0">
                <a:solidFill>
                  <a:srgbClr val="222222"/>
                </a:solidFill>
                <a:latin typeface="Calibri"/>
              </a:defRPr>
            </a:pPr>
            <a:r>
              <a:rPr sz="1500" b="0">
                <a:solidFill>
                  <a:srgbClr val="222222"/>
                </a:solidFill>
                <a:latin typeface="Calibri"/>
              </a:rPr>
              <a:t>Why does the amber only appear on one side?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02920" y="5303520"/>
            <a:ext cx="11185855" cy="960120"/>
          </a:xfrm>
          <a:prstGeom prst="roundRect">
            <a:avLst>
              <a:gd name="adj" fmla="val 4000"/>
            </a:avLst>
          </a:prstGeom>
          <a:solidFill>
            <a:srgbClr val="FBECEC"/>
          </a:solidFill>
          <a:ln w="12700">
            <a:solidFill>
              <a:srgbClr val="A32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73152" bIns="73152"/>
          <a:lstStyle/>
          <a:p>
            <a:pPr algn="l"/>
            <a:r>
              <a:rPr sz="1300" b="1">
                <a:solidFill>
                  <a:srgbClr val="A32A2A"/>
                </a:solidFill>
                <a:latin typeface="Calibri"/>
              </a:rPr>
              <a:t>SAFETY   </a:t>
            </a:r>
            <a:r>
              <a:rPr sz="1500">
                <a:solidFill>
                  <a:srgbClr val="222222"/>
                </a:solidFill>
                <a:latin typeface="Calibri"/>
              </a:rPr>
              <a:t>Check the controls with the wheels off the ground first.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6382512"/>
            <a:ext cx="10545775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defRPr sz="900" b="0">
                <a:solidFill>
                  <a:srgbClr val="666666"/>
                </a:solidFill>
                <a:latin typeface="Calibri"/>
              </a:defRPr>
            </a:pPr>
            <a:r>
              <a:rPr sz="900" b="0">
                <a:solidFill>
                  <a:srgbClr val="666666"/>
                </a:solidFill>
                <a:latin typeface="Calibri"/>
              </a:rPr>
              <a:t>Pathfinder Beginner - PS3  |  Lesson 5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1231575" y="6382512"/>
            <a:ext cx="457200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  <a:defRPr sz="900" b="0">
                <a:solidFill>
                  <a:srgbClr val="666666"/>
                </a:solidFill>
                <a:latin typeface="Calibri"/>
              </a:defRPr>
            </a:pPr>
            <a:r>
              <a:rPr sz="900" b="0">
                <a:solidFill>
                  <a:srgbClr val="666666"/>
                </a:solidFill>
                <a:latin typeface="Calibri"/>
              </a:rPr>
              <a:t>13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2194560"/>
            <a:ext cx="256032" cy="1828800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77240" y="2286000"/>
            <a:ext cx="10515600" cy="11887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defRPr sz="3600" b="1">
                <a:solidFill>
                  <a:srgbClr val="1F3A5F"/>
                </a:solidFill>
                <a:latin typeface="Calibri"/>
              </a:defRPr>
            </a:pPr>
            <a:r>
              <a:rPr sz="3600" b="1">
                <a:solidFill>
                  <a:srgbClr val="1F3A5F"/>
                </a:solidFill>
                <a:latin typeface="Calibri"/>
              </a:rPr>
              <a:t>The full program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3520440"/>
            <a:ext cx="10515600" cy="9144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  <a:defRPr sz="1600" b="0">
                <a:solidFill>
                  <a:srgbClr val="666666"/>
                </a:solidFill>
                <a:latin typeface="Calibri"/>
              </a:defRPr>
            </a:pPr>
            <a:r>
              <a:rPr sz="1600" b="0">
                <a:solidFill>
                  <a:srgbClr val="666666"/>
                </a:solidFill>
                <a:latin typeface="Calibri"/>
              </a:rPr>
              <a:t>About 45 minutes</a:t>
            </a:r>
          </a:p>
          <a:p>
            <a:pPr algn="l">
              <a:lnSpc>
                <a:spcPct val="100000"/>
              </a:lnSpc>
              <a:spcAft>
                <a:spcPts val="400"/>
              </a:spcAft>
              <a:defRPr sz="1600" b="0">
                <a:solidFill>
                  <a:srgbClr val="666666"/>
                </a:solidFill>
                <a:latin typeface="Calibri"/>
              </a:defRPr>
            </a:pPr>
            <a:r>
              <a:rPr sz="1600" b="0">
                <a:solidFill>
                  <a:srgbClr val="666666"/>
                </a:solidFill>
                <a:latin typeface="Calibri"/>
              </a:rPr>
              <a:t>About 45 minutes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2920" y="274320"/>
            <a:ext cx="11185855" cy="777240"/>
          </a:xfrm>
        </p:spPr>
        <p:txBody>
          <a:bodyPr wrap="square" anchor="b"/>
          <a:lstStyle/>
          <a:p>
            <a:pPr algn="l">
              <a:lnSpc>
                <a:spcPct val="100000"/>
              </a:lnSpc>
              <a:spcAft>
                <a:spcPts val="0"/>
              </a:spcAft>
              <a:defRPr sz="2800" b="1">
                <a:solidFill>
                  <a:srgbClr val="1F3A5F"/>
                </a:solidFill>
                <a:latin typeface="Calibri"/>
              </a:defRPr>
            </a:pPr>
            <a:r>
              <a:rPr sz="2800" b="1">
                <a:solidFill>
                  <a:srgbClr val="1F3A5F"/>
                </a:solidFill>
                <a:latin typeface="Calibri"/>
              </a:rPr>
              <a:t>pathfinder_ps3  -  what it adds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097280"/>
            <a:ext cx="11185855" cy="19050"/>
          </a:xfrm>
          <a:prstGeom prst="rect">
            <a:avLst/>
          </a:prstGeom>
          <a:solidFill>
            <a:srgbClr val="C8D2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6382512"/>
            <a:ext cx="10545775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defRPr sz="900" b="0">
                <a:solidFill>
                  <a:srgbClr val="666666"/>
                </a:solidFill>
                <a:latin typeface="Calibri"/>
              </a:defRPr>
            </a:pPr>
            <a:r>
              <a:rPr sz="900" b="0">
                <a:solidFill>
                  <a:srgbClr val="666666"/>
                </a:solidFill>
                <a:latin typeface="Calibri"/>
              </a:rPr>
              <a:t>Pathfinder Beginner - PS3  |  Lesson 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31575" y="6382512"/>
            <a:ext cx="457200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  <a:defRPr sz="900" b="0">
                <a:solidFill>
                  <a:srgbClr val="666666"/>
                </a:solidFill>
                <a:latin typeface="Calibri"/>
              </a:defRPr>
            </a:pPr>
            <a:r>
              <a:rPr sz="900" b="0">
                <a:solidFill>
                  <a:srgbClr val="666666"/>
                </a:solidFill>
                <a:latin typeface="Calibri"/>
              </a:rPr>
              <a:t>14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1188720"/>
            <a:ext cx="11185855" cy="4572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  <a:defRPr sz="1600" b="0">
                <a:solidFill>
                  <a:srgbClr val="222222"/>
                </a:solidFill>
                <a:latin typeface="Calibri"/>
              </a:defRPr>
            </a:pPr>
            <a:r>
              <a:rPr sz="1600" b="0">
                <a:solidFill>
                  <a:srgbClr val="222222"/>
                </a:solidFill>
                <a:latin typeface="Calibri"/>
              </a:rPr>
              <a:t>You have already written most of it. Here is what is left.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502920" y="1691640"/>
          <a:ext cx="11185854" cy="328295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592927"/>
                <a:gridCol w="5592927"/>
              </a:tblGrid>
              <a:tr h="298450"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  <a:latin typeface="Calibri"/>
                        </a:rPr>
                        <a:t>Feature</a:t>
                      </a:r>
                    </a:p>
                  </a:txBody>
                  <a:tcPr marL="73152" marT="18288" marB="18288"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  <a:latin typeface="Calibri"/>
                        </a:rPr>
                        <a:t>Where you have seen it</a:t>
                      </a:r>
                    </a:p>
                  </a:txBody>
                  <a:tcPr marL="73152" marT="18288" marB="18288">
                    <a:solidFill>
                      <a:srgbClr val="1F3A5F"/>
                    </a:solidFill>
                  </a:tcPr>
                </a:tc>
              </a:tr>
              <a:tr h="298450"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222222"/>
                          </a:solidFill>
                          <a:latin typeface="Calibri"/>
                        </a:rPr>
                        <a:t>Tank drive with mixing</a:t>
                      </a:r>
                    </a:p>
                  </a:txBody>
                  <a:tcPr marL="73152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222222"/>
                          </a:solidFill>
                          <a:latin typeface="Calibri"/>
                        </a:rPr>
                        <a:t>Lesson 3 - l3c_tank_drive</a:t>
                      </a:r>
                    </a:p>
                  </a:txBody>
                  <a:tcPr marL="73152" marT="18288" marB="18288">
                    <a:solidFill>
                      <a:srgbClr val="FFFFFF"/>
                    </a:solidFill>
                  </a:tcPr>
                </a:tc>
              </a:tr>
              <a:tr h="298450"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222222"/>
                          </a:solidFill>
                          <a:latin typeface="Calibri"/>
                        </a:rPr>
                        <a:t>Deadzone and map</a:t>
                      </a:r>
                    </a:p>
                  </a:txBody>
                  <a:tcPr marL="73152" marT="18288" marB="18288">
                    <a:solidFill>
                      <a:srgbClr val="EEF3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222222"/>
                          </a:solidFill>
                          <a:latin typeface="Calibri"/>
                        </a:rPr>
                        <a:t>Lesson 3 - l3b_deadzone_and_map</a:t>
                      </a:r>
                    </a:p>
                  </a:txBody>
                  <a:tcPr marL="73152" marT="18288" marB="18288">
                    <a:solidFill>
                      <a:srgbClr val="EEF3F8"/>
                    </a:solidFill>
                  </a:tcPr>
                </a:tc>
              </a:tr>
              <a:tr h="298450"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222222"/>
                          </a:solidFill>
                          <a:latin typeface="Calibri"/>
                        </a:rPr>
                        <a:t>Failsafe on disconnect</a:t>
                      </a:r>
                    </a:p>
                  </a:txBody>
                  <a:tcPr marL="73152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222222"/>
                          </a:solidFill>
                          <a:latin typeface="Calibri"/>
                        </a:rPr>
                        <a:t>Lesson 3 - the top of loop()</a:t>
                      </a:r>
                    </a:p>
                  </a:txBody>
                  <a:tcPr marL="73152" marT="18288" marB="18288">
                    <a:solidFill>
                      <a:srgbClr val="FFFFFF"/>
                    </a:solidFill>
                  </a:tcPr>
                </a:tc>
              </a:tr>
              <a:tr h="298450"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222222"/>
                          </a:solidFill>
                          <a:latin typeface="Calibri"/>
                        </a:rPr>
                        <a:t>Headlights, tail, brake, reverse, signals</a:t>
                      </a:r>
                    </a:p>
                  </a:txBody>
                  <a:tcPr marL="73152" marT="18288" marB="18288">
                    <a:solidFill>
                      <a:srgbClr val="EEF3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222222"/>
                          </a:solidFill>
                          <a:latin typeface="Calibri"/>
                        </a:rPr>
                        <a:t>Lesson 5 - l5c</a:t>
                      </a:r>
                    </a:p>
                  </a:txBody>
                  <a:tcPr marL="73152" marT="18288" marB="18288">
                    <a:solidFill>
                      <a:srgbClr val="EEF3F8"/>
                    </a:solidFill>
                  </a:tcPr>
                </a:tc>
              </a:tr>
              <a:tr h="298450"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222222"/>
                          </a:solidFill>
                          <a:latin typeface="Calibri"/>
                        </a:rPr>
                        <a:t>The dirty flag</a:t>
                      </a:r>
                    </a:p>
                  </a:txBody>
                  <a:tcPr marL="73152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222222"/>
                          </a:solidFill>
                          <a:latin typeface="Calibri"/>
                        </a:rPr>
                        <a:t>Lesson 5 - l5c</a:t>
                      </a:r>
                    </a:p>
                  </a:txBody>
                  <a:tcPr marL="73152" marT="18288" marB="18288">
                    <a:solidFill>
                      <a:srgbClr val="FFFFFF"/>
                    </a:solidFill>
                  </a:tcPr>
                </a:tc>
              </a:tr>
              <a:tr h="298450"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222222"/>
                          </a:solidFill>
                          <a:latin typeface="Calibri"/>
                        </a:rPr>
                        <a:t>Edge-detected buttons</a:t>
                      </a:r>
                    </a:p>
                  </a:txBody>
                  <a:tcPr marL="73152" marT="18288" marB="18288">
                    <a:solidFill>
                      <a:srgbClr val="EEF3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222222"/>
                          </a:solidFill>
                          <a:latin typeface="Calibri"/>
                        </a:rPr>
                        <a:t>Lesson 5 - l5b</a:t>
                      </a:r>
                    </a:p>
                  </a:txBody>
                  <a:tcPr marL="73152" marT="18288" marB="18288">
                    <a:solidFill>
                      <a:srgbClr val="EEF3F8"/>
                    </a:solidFill>
                  </a:tcPr>
                </a:tc>
              </a:tr>
              <a:tr h="298450"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222222"/>
                          </a:solidFill>
                          <a:latin typeface="Calibri"/>
                        </a:rPr>
                        <a:t>Two servos on the right stick</a:t>
                      </a:r>
                    </a:p>
                  </a:txBody>
                  <a:tcPr marL="73152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222222"/>
                          </a:solidFill>
                          <a:latin typeface="Calibri"/>
                        </a:rPr>
                        <a:t>New today</a:t>
                      </a:r>
                    </a:p>
                  </a:txBody>
                  <a:tcPr marL="73152" marT="18288" marB="18288">
                    <a:solidFill>
                      <a:srgbClr val="FFFFFF"/>
                    </a:solidFill>
                  </a:tcPr>
                </a:tc>
              </a:tr>
              <a:tr h="298450"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222222"/>
                          </a:solidFill>
                          <a:latin typeface="Calibri"/>
                        </a:rPr>
                        <a:t>The KITT scanner, non-blocking</a:t>
                      </a:r>
                    </a:p>
                  </a:txBody>
                  <a:tcPr marL="73152" marT="18288" marB="18288">
                    <a:solidFill>
                      <a:srgbClr val="EEF3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222222"/>
                          </a:solidFill>
                          <a:latin typeface="Calibri"/>
                        </a:rPr>
                        <a:t>Lesson 4 - l4c, made non-blocking</a:t>
                      </a:r>
                    </a:p>
                  </a:txBody>
                  <a:tcPr marL="73152" marT="18288" marB="18288">
                    <a:solidFill>
                      <a:srgbClr val="EEF3F8"/>
                    </a:solidFill>
                  </a:tcPr>
                </a:tc>
              </a:tr>
              <a:tr h="298450"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222222"/>
                          </a:solidFill>
                          <a:latin typeface="Calibri"/>
                        </a:rPr>
                        <a:t>Sharp steering toggle</a:t>
                      </a:r>
                    </a:p>
                  </a:txBody>
                  <a:tcPr marL="73152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222222"/>
                          </a:solidFill>
                          <a:latin typeface="Calibri"/>
                        </a:rPr>
                        <a:t>New today</a:t>
                      </a:r>
                    </a:p>
                  </a:txBody>
                  <a:tcPr marL="73152" marT="18288" marB="18288">
                    <a:solidFill>
                      <a:srgbClr val="FFFFFF"/>
                    </a:solidFill>
                  </a:tcPr>
                </a:tc>
              </a:tr>
              <a:tr h="298450"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222222"/>
                          </a:solidFill>
                          <a:latin typeface="Calibri"/>
                        </a:rPr>
                        <a:t>A startup light show</a:t>
                      </a:r>
                    </a:p>
                  </a:txBody>
                  <a:tcPr marL="73152" marT="18288" marB="18288">
                    <a:solidFill>
                      <a:srgbClr val="EEF3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222222"/>
                          </a:solidFill>
                          <a:latin typeface="Calibri"/>
                        </a:rPr>
                        <a:t>New today - it proves every LED works</a:t>
                      </a:r>
                    </a:p>
                  </a:txBody>
                  <a:tcPr marL="73152" marT="18288" marB="18288">
                    <a:solidFill>
                      <a:srgbClr val="EEF3F8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2920" y="274320"/>
            <a:ext cx="11185855" cy="777240"/>
          </a:xfrm>
        </p:spPr>
        <p:txBody>
          <a:bodyPr wrap="square" anchor="b"/>
          <a:lstStyle/>
          <a:p>
            <a:pPr algn="l">
              <a:lnSpc>
                <a:spcPct val="100000"/>
              </a:lnSpc>
              <a:spcAft>
                <a:spcPts val="0"/>
              </a:spcAft>
              <a:defRPr sz="2800" b="1">
                <a:solidFill>
                  <a:srgbClr val="1F3A5F"/>
                </a:solidFill>
                <a:latin typeface="Calibri"/>
              </a:defRPr>
            </a:pPr>
            <a:r>
              <a:rPr sz="2800" b="1">
                <a:solidFill>
                  <a:srgbClr val="1F3A5F"/>
                </a:solidFill>
                <a:latin typeface="Calibri"/>
              </a:rPr>
              <a:t>A servo listens to the LENGTH of a pulse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097280"/>
            <a:ext cx="11185855" cy="19050"/>
          </a:xfrm>
          <a:prstGeom prst="rect">
            <a:avLst/>
          </a:prstGeom>
          <a:solidFill>
            <a:srgbClr val="C8D2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6382512"/>
            <a:ext cx="10545775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defRPr sz="900" b="0">
                <a:solidFill>
                  <a:srgbClr val="666666"/>
                </a:solidFill>
                <a:latin typeface="Calibri"/>
              </a:defRPr>
            </a:pPr>
            <a:r>
              <a:rPr sz="900" b="0">
                <a:solidFill>
                  <a:srgbClr val="666666"/>
                </a:solidFill>
                <a:latin typeface="Calibri"/>
              </a:rPr>
              <a:t>Pathfinder Beginner - PS3  |  Lesson 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31575" y="6382512"/>
            <a:ext cx="457200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  <a:defRPr sz="900" b="0">
                <a:solidFill>
                  <a:srgbClr val="666666"/>
                </a:solidFill>
                <a:latin typeface="Calibri"/>
              </a:defRPr>
            </a:pPr>
            <a:r>
              <a:rPr sz="900" b="0">
                <a:solidFill>
                  <a:srgbClr val="666666"/>
                </a:solidFill>
                <a:latin typeface="Calibri"/>
              </a:rPr>
              <a:t>15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1691640"/>
            <a:ext cx="146304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100"/>
              </a:spcAft>
              <a:defRPr sz="1100" b="1">
                <a:solidFill>
                  <a:srgbClr val="0E7C86"/>
                </a:solidFill>
                <a:latin typeface="Consolas"/>
              </a:defRPr>
            </a:pPr>
            <a:r>
              <a:rPr sz="1100" b="1">
                <a:solidFill>
                  <a:srgbClr val="0E7C86"/>
                </a:solidFill>
                <a:latin typeface="Consolas"/>
              </a:rPr>
              <a:t>1.0 ms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2057400" y="2130552"/>
            <a:ext cx="7315200" cy="0"/>
          </a:xfrm>
          <a:prstGeom prst="line">
            <a:avLst/>
          </a:prstGeom>
          <a:ln w="12700">
            <a:solidFill>
              <a:srgbClr val="C8D2D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 flipV="1">
            <a:off x="2057400" y="1600200"/>
            <a:ext cx="0" cy="530352"/>
          </a:xfrm>
          <a:prstGeom prst="line">
            <a:avLst/>
          </a:prstGeom>
          <a:ln w="31750">
            <a:solidFill>
              <a:srgbClr val="0E7C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2057400" y="1600200"/>
            <a:ext cx="365760" cy="0"/>
          </a:xfrm>
          <a:prstGeom prst="line">
            <a:avLst/>
          </a:prstGeom>
          <a:ln w="31750">
            <a:solidFill>
              <a:srgbClr val="0E7C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>
            <a:off x="2423160" y="1600200"/>
            <a:ext cx="0" cy="530352"/>
          </a:xfrm>
          <a:prstGeom prst="line">
            <a:avLst/>
          </a:prstGeom>
          <a:ln w="31750">
            <a:solidFill>
              <a:srgbClr val="0E7C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TextBox 10"/>
          <p:cNvSpPr txBox="1"/>
          <p:nvPr/>
        </p:nvSpPr>
        <p:spPr>
          <a:xfrm>
            <a:off x="2560320" y="1655064"/>
            <a:ext cx="411480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100"/>
              </a:spcAft>
              <a:defRPr sz="1100" b="0">
                <a:solidFill>
                  <a:srgbClr val="222222"/>
                </a:solidFill>
                <a:latin typeface="Calibri"/>
              </a:defRPr>
            </a:pPr>
            <a:r>
              <a:rPr sz="1100" b="0">
                <a:solidFill>
                  <a:srgbClr val="222222"/>
                </a:solidFill>
                <a:latin typeface="Calibri"/>
              </a:rPr>
              <a:t>one end of the travel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02920" y="2834640"/>
            <a:ext cx="146304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100"/>
              </a:spcAft>
              <a:defRPr sz="1100" b="1">
                <a:solidFill>
                  <a:srgbClr val="1F3A5F"/>
                </a:solidFill>
                <a:latin typeface="Consolas"/>
              </a:defRPr>
            </a:pPr>
            <a:r>
              <a:rPr sz="1100" b="1">
                <a:solidFill>
                  <a:srgbClr val="1F3A5F"/>
                </a:solidFill>
                <a:latin typeface="Consolas"/>
              </a:rPr>
              <a:t>1.5 ms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2057400" y="3273552"/>
            <a:ext cx="7315200" cy="0"/>
          </a:xfrm>
          <a:prstGeom prst="line">
            <a:avLst/>
          </a:prstGeom>
          <a:ln w="12700">
            <a:solidFill>
              <a:srgbClr val="C8D2D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 flipV="1">
            <a:off x="2057400" y="2743200"/>
            <a:ext cx="0" cy="530352"/>
          </a:xfrm>
          <a:prstGeom prst="line">
            <a:avLst/>
          </a:prstGeom>
          <a:ln w="31750">
            <a:solidFill>
              <a:srgbClr val="1F3A5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Connector 14"/>
          <p:cNvCxnSpPr/>
          <p:nvPr/>
        </p:nvCxnSpPr>
        <p:spPr>
          <a:xfrm>
            <a:off x="2057400" y="2743200"/>
            <a:ext cx="548640" cy="0"/>
          </a:xfrm>
          <a:prstGeom prst="line">
            <a:avLst/>
          </a:prstGeom>
          <a:ln w="31750">
            <a:solidFill>
              <a:srgbClr val="1F3A5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Connector 15"/>
          <p:cNvCxnSpPr/>
          <p:nvPr/>
        </p:nvCxnSpPr>
        <p:spPr>
          <a:xfrm>
            <a:off x="2606040" y="2743200"/>
            <a:ext cx="0" cy="530352"/>
          </a:xfrm>
          <a:prstGeom prst="line">
            <a:avLst/>
          </a:prstGeom>
          <a:ln w="31750">
            <a:solidFill>
              <a:srgbClr val="1F3A5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TextBox 16"/>
          <p:cNvSpPr txBox="1"/>
          <p:nvPr/>
        </p:nvSpPr>
        <p:spPr>
          <a:xfrm>
            <a:off x="2743200" y="2798064"/>
            <a:ext cx="411480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100"/>
              </a:spcAft>
              <a:defRPr sz="1100" b="0">
                <a:solidFill>
                  <a:srgbClr val="222222"/>
                </a:solidFill>
                <a:latin typeface="Calibri"/>
              </a:defRPr>
            </a:pPr>
            <a:r>
              <a:rPr sz="1100" b="0">
                <a:solidFill>
                  <a:srgbClr val="222222"/>
                </a:solidFill>
                <a:latin typeface="Calibri"/>
              </a:rPr>
              <a:t>centred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02920" y="3977640"/>
            <a:ext cx="146304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100"/>
              </a:spcAft>
              <a:defRPr sz="1100" b="1">
                <a:solidFill>
                  <a:srgbClr val="B46A0F"/>
                </a:solidFill>
                <a:latin typeface="Consolas"/>
              </a:defRPr>
            </a:pPr>
            <a:r>
              <a:rPr sz="1100" b="1">
                <a:solidFill>
                  <a:srgbClr val="B46A0F"/>
                </a:solidFill>
                <a:latin typeface="Consolas"/>
              </a:rPr>
              <a:t>2.0 ms</a:t>
            </a:r>
          </a:p>
        </p:txBody>
      </p:sp>
      <p:cxnSp>
        <p:nvCxnSpPr>
          <p:cNvPr id="19" name="Connector 18"/>
          <p:cNvCxnSpPr/>
          <p:nvPr/>
        </p:nvCxnSpPr>
        <p:spPr>
          <a:xfrm>
            <a:off x="2057400" y="4416552"/>
            <a:ext cx="7315200" cy="0"/>
          </a:xfrm>
          <a:prstGeom prst="line">
            <a:avLst/>
          </a:prstGeom>
          <a:ln w="12700">
            <a:solidFill>
              <a:srgbClr val="C8D2D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Connector 19"/>
          <p:cNvCxnSpPr/>
          <p:nvPr/>
        </p:nvCxnSpPr>
        <p:spPr>
          <a:xfrm flipV="1">
            <a:off x="2057400" y="3886200"/>
            <a:ext cx="0" cy="530352"/>
          </a:xfrm>
          <a:prstGeom prst="line">
            <a:avLst/>
          </a:prstGeom>
          <a:ln w="31750">
            <a:solidFill>
              <a:srgbClr val="B46A0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>
            <a:off x="2057400" y="3886200"/>
            <a:ext cx="731520" cy="0"/>
          </a:xfrm>
          <a:prstGeom prst="line">
            <a:avLst/>
          </a:prstGeom>
          <a:ln w="31750">
            <a:solidFill>
              <a:srgbClr val="B46A0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>
            <a:off x="2788920" y="3886200"/>
            <a:ext cx="0" cy="530352"/>
          </a:xfrm>
          <a:prstGeom prst="line">
            <a:avLst/>
          </a:prstGeom>
          <a:ln w="31750">
            <a:solidFill>
              <a:srgbClr val="B46A0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TextBox 22"/>
          <p:cNvSpPr txBox="1"/>
          <p:nvPr/>
        </p:nvSpPr>
        <p:spPr>
          <a:xfrm>
            <a:off x="2926080" y="3941064"/>
            <a:ext cx="411480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100"/>
              </a:spcAft>
              <a:defRPr sz="1100" b="0">
                <a:solidFill>
                  <a:srgbClr val="222222"/>
                </a:solidFill>
                <a:latin typeface="Calibri"/>
              </a:defRPr>
            </a:pPr>
            <a:r>
              <a:rPr sz="1100" b="0">
                <a:solidFill>
                  <a:srgbClr val="222222"/>
                </a:solidFill>
                <a:latin typeface="Calibri"/>
              </a:rPr>
              <a:t>the other end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057400" y="5029200"/>
            <a:ext cx="731520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100"/>
              </a:spcAft>
              <a:defRPr sz="1100" b="0">
                <a:solidFill>
                  <a:srgbClr val="666666"/>
                </a:solidFill>
                <a:latin typeface="Calibri"/>
              </a:defRPr>
            </a:pPr>
            <a:r>
              <a:rPr sz="1100" b="0">
                <a:solidFill>
                  <a:srgbClr val="666666"/>
                </a:solidFill>
                <a:latin typeface="Calibri"/>
              </a:rPr>
              <a:t>the whole cycle is 20 ms, repeated 50 times a second, whatever the pulse length</a:t>
            </a:r>
          </a:p>
        </p:txBody>
      </p:sp>
      <p:sp>
        <p:nvSpPr>
          <p:cNvPr id="25" name="Rectangle 24"/>
          <p:cNvSpPr/>
          <p:nvPr/>
        </p:nvSpPr>
        <p:spPr>
          <a:xfrm>
            <a:off x="502920" y="5212080"/>
            <a:ext cx="11185855" cy="777240"/>
          </a:xfrm>
          <a:prstGeom prst="rect">
            <a:avLst/>
          </a:prstGeom>
          <a:solidFill>
            <a:srgbClr val="F4F6F8"/>
          </a:solidFill>
          <a:ln w="12700">
            <a:solidFill>
              <a:srgbClr val="0E7C8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l">
              <a:lnSpc>
                <a:spcPct val="100000"/>
              </a:lnSpc>
              <a:spcAft>
                <a:spcPts val="0"/>
              </a:spcAft>
              <a:defRPr sz="1400" b="0">
                <a:solidFill>
                  <a:srgbClr val="222222"/>
                </a:solidFill>
                <a:latin typeface="Consolas"/>
              </a:defRPr>
            </a:pPr>
            <a:r>
              <a:rPr sz="1400" b="0">
                <a:solidFill>
                  <a:srgbClr val="222222"/>
                </a:solidFill>
                <a:latin typeface="Consolas"/>
              </a:rPr>
              <a:t>The ESP32 counts duty, not microseconds. At 16-bit resolution one 20 ms cycle is 65536 counts:</a:t>
            </a:r>
          </a:p>
          <a:p>
            <a:pPr algn="l">
              <a:lnSpc>
                <a:spcPct val="100000"/>
              </a:lnSpc>
              <a:spcAft>
                <a:spcPts val="0"/>
              </a:spcAft>
              <a:defRPr sz="1400" b="0">
                <a:solidFill>
                  <a:srgbClr val="222222"/>
                </a:solidFill>
                <a:latin typeface="Consolas"/>
              </a:defRPr>
            </a:pPr>
            <a:r>
              <a:rPr sz="1400" b="0">
                <a:solidFill>
                  <a:srgbClr val="222222"/>
                </a:solidFill>
                <a:latin typeface="Consolas"/>
              </a:rPr>
              <a:t>duty = microseconds * 65536 / 20000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2920" y="274320"/>
            <a:ext cx="11185855" cy="777240"/>
          </a:xfrm>
        </p:spPr>
        <p:txBody>
          <a:bodyPr wrap="square" anchor="b"/>
          <a:lstStyle/>
          <a:p>
            <a:pPr algn="l">
              <a:lnSpc>
                <a:spcPct val="100000"/>
              </a:lnSpc>
              <a:spcAft>
                <a:spcPts val="0"/>
              </a:spcAft>
              <a:defRPr sz="2800" b="1">
                <a:solidFill>
                  <a:srgbClr val="1F3A5F"/>
                </a:solidFill>
                <a:latin typeface="Calibri"/>
              </a:defRPr>
            </a:pPr>
            <a:r>
              <a:rPr sz="2800" b="1">
                <a:solidFill>
                  <a:srgbClr val="1F3A5F"/>
                </a:solidFill>
                <a:latin typeface="Calibri"/>
              </a:rPr>
              <a:t>The last two additions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097280"/>
            <a:ext cx="11185855" cy="19050"/>
          </a:xfrm>
          <a:prstGeom prst="rect">
            <a:avLst/>
          </a:prstGeom>
          <a:solidFill>
            <a:srgbClr val="C8D2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6382512"/>
            <a:ext cx="10545775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defRPr sz="900" b="0">
                <a:solidFill>
                  <a:srgbClr val="666666"/>
                </a:solidFill>
                <a:latin typeface="Calibri"/>
              </a:defRPr>
            </a:pPr>
            <a:r>
              <a:rPr sz="900" b="0">
                <a:solidFill>
                  <a:srgbClr val="666666"/>
                </a:solidFill>
                <a:latin typeface="Calibri"/>
              </a:rPr>
              <a:t>Pathfinder Beginner - PS3  |  Lesson 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31575" y="6382512"/>
            <a:ext cx="457200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  <a:defRPr sz="900" b="0">
                <a:solidFill>
                  <a:srgbClr val="666666"/>
                </a:solidFill>
                <a:latin typeface="Calibri"/>
              </a:defRPr>
            </a:pPr>
            <a:r>
              <a:rPr sz="900" b="0">
                <a:solidFill>
                  <a:srgbClr val="666666"/>
                </a:solidFill>
                <a:latin typeface="Calibri"/>
              </a:rPr>
              <a:t>16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1188720"/>
            <a:ext cx="11185855" cy="40233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  <a:defRPr sz="1500" b="0">
                <a:solidFill>
                  <a:srgbClr val="222222"/>
                </a:solidFill>
                <a:latin typeface="Calibri"/>
              </a:defRPr>
            </a:pPr>
            <a:r>
              <a:rPr sz="1500" b="0">
                <a:solidFill>
                  <a:srgbClr val="222222"/>
                </a:solidFill>
                <a:latin typeface="Calibri"/>
              </a:rPr>
              <a:t>THE KITT SCANNER, done properly.</a:t>
            </a:r>
          </a:p>
          <a:p>
            <a:pPr lvl="1" algn="l">
              <a:lnSpc>
                <a:spcPct val="100000"/>
              </a:lnSpc>
              <a:spcAft>
                <a:spcPts val="600"/>
              </a:spcAft>
              <a:defRPr sz="1500" b="0">
                <a:solidFill>
                  <a:srgbClr val="222222"/>
                </a:solidFill>
                <a:latin typeface="Calibri"/>
              </a:defRPr>
            </a:pPr>
            <a:r>
              <a:rPr sz="1500" b="0">
                <a:solidFill>
                  <a:srgbClr val="222222"/>
                </a:solidFill>
                <a:latin typeface="Calibri"/>
              </a:rPr>
              <a:t>The version in Lesson 4 used delay(), so the vehicle froze while it swept. The full program moves the dot one step every 40 ms off millis(), so you can drive with the scanner running.</a:t>
            </a:r>
          </a:p>
          <a:p>
            <a:pPr lvl="1" algn="l">
              <a:lnSpc>
                <a:spcPct val="100000"/>
              </a:lnSpc>
              <a:spcAft>
                <a:spcPts val="600"/>
              </a:spcAft>
              <a:defRPr sz="1500" b="0">
                <a:solidFill>
                  <a:srgbClr val="222222"/>
                </a:solidFill>
                <a:latin typeface="Calibri"/>
              </a:defRPr>
            </a:pPr>
            <a:r>
              <a:rPr sz="1500" b="0">
                <a:solidFill>
                  <a:srgbClr val="222222"/>
                </a:solidFill>
                <a:latin typeface="Calibri"/>
              </a:rPr>
              <a:t>Toggled with TRIANGLE.</a:t>
            </a:r>
          </a:p>
          <a:p>
            <a:pPr algn="l">
              <a:lnSpc>
                <a:spcPct val="100000"/>
              </a:lnSpc>
              <a:spcAft>
                <a:spcPts val="600"/>
              </a:spcAft>
              <a:defRPr sz="1500" b="0">
                <a:solidFill>
                  <a:srgbClr val="222222"/>
                </a:solidFill>
                <a:latin typeface="Calibri"/>
              </a:defRPr>
            </a:pPr>
          </a:p>
          <a:p>
            <a:pPr algn="l">
              <a:lnSpc>
                <a:spcPct val="100000"/>
              </a:lnSpc>
              <a:spcAft>
                <a:spcPts val="600"/>
              </a:spcAft>
              <a:defRPr sz="1500" b="0">
                <a:solidFill>
                  <a:srgbClr val="222222"/>
                </a:solidFill>
                <a:latin typeface="Calibri"/>
              </a:defRPr>
            </a:pPr>
            <a:r>
              <a:rPr sz="1500" b="0">
                <a:solidFill>
                  <a:srgbClr val="222222"/>
                </a:solidFill>
                <a:latin typeface="Calibri"/>
              </a:rPr>
              <a:t>SHARP STEERING.</a:t>
            </a:r>
          </a:p>
          <a:p>
            <a:pPr lvl="1" algn="l">
              <a:lnSpc>
                <a:spcPct val="100000"/>
              </a:lnSpc>
              <a:spcAft>
                <a:spcPts val="600"/>
              </a:spcAft>
              <a:defRPr sz="1500" b="0">
                <a:solidFill>
                  <a:srgbClr val="222222"/>
                </a:solidFill>
                <a:latin typeface="Calibri"/>
              </a:defRPr>
            </a:pPr>
            <a:r>
              <a:rPr sz="1500" b="0">
                <a:solidFill>
                  <a:srgbClr val="222222"/>
                </a:solidFill>
                <a:latin typeface="Calibri"/>
              </a:rPr>
              <a:t>turnMax is normally MOTOR_MAX / 2, which makes the vehicle easy to aim. L3 (click the left stick in) flips it to full power, for spinning on the spot.</a:t>
            </a:r>
          </a:p>
          <a:p>
            <a:pPr lvl="1" algn="l">
              <a:lnSpc>
                <a:spcPct val="100000"/>
              </a:lnSpc>
              <a:spcAft>
                <a:spcPts val="600"/>
              </a:spcAft>
              <a:defRPr sz="1500" b="0">
                <a:solidFill>
                  <a:srgbClr val="222222"/>
                </a:solidFill>
                <a:latin typeface="Calibri"/>
              </a:defRPr>
            </a:pPr>
            <a:r>
              <a:rPr sz="1500" b="0">
                <a:solidFill>
                  <a:srgbClr val="222222"/>
                </a:solidFill>
                <a:latin typeface="Calibri"/>
              </a:rPr>
              <a:t>The bottom of the range stays the same in both modes, so a gentle turn still breaks the wheels loose.</a:t>
            </a:r>
          </a:p>
          <a:p>
            <a:pPr algn="l">
              <a:lnSpc>
                <a:spcPct val="100000"/>
              </a:lnSpc>
              <a:spcAft>
                <a:spcPts val="600"/>
              </a:spcAft>
              <a:defRPr sz="1500" b="0">
                <a:solidFill>
                  <a:srgbClr val="222222"/>
                </a:solidFill>
                <a:latin typeface="Calibri"/>
              </a:defRPr>
            </a:pPr>
          </a:p>
          <a:p>
            <a:pPr algn="l">
              <a:lnSpc>
                <a:spcPct val="100000"/>
              </a:lnSpc>
              <a:spcAft>
                <a:spcPts val="600"/>
              </a:spcAft>
              <a:defRPr sz="1500" b="0">
                <a:solidFill>
                  <a:srgbClr val="222222"/>
                </a:solidFill>
                <a:latin typeface="Calibri"/>
              </a:defRPr>
            </a:pPr>
            <a:r>
              <a:rPr sz="1500" b="0">
                <a:solidFill>
                  <a:srgbClr val="222222"/>
                </a:solidFill>
                <a:latin typeface="Calibri"/>
              </a:rPr>
              <a:t>THE STARTUP LIGHT SHOW.</a:t>
            </a:r>
          </a:p>
          <a:p>
            <a:pPr lvl="1" algn="l">
              <a:lnSpc>
                <a:spcPct val="100000"/>
              </a:lnSpc>
              <a:spcAft>
                <a:spcPts val="600"/>
              </a:spcAft>
              <a:defRPr sz="1500" b="0">
                <a:solidFill>
                  <a:srgbClr val="222222"/>
                </a:solidFill>
                <a:latin typeface="Calibri"/>
              </a:defRPr>
            </a:pPr>
            <a:r>
              <a:rPr sz="1500" b="0">
                <a:solidFill>
                  <a:srgbClr val="222222"/>
                </a:solidFill>
                <a:latin typeface="Calibri"/>
              </a:rPr>
              <a:t>One scanner sweep at power-up. delay() is fine THERE, because nothing else needs to happen yet - and it proves every LED works before you drive off.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5303520"/>
            <a:ext cx="11185855" cy="960120"/>
          </a:xfrm>
          <a:prstGeom prst="roundRect">
            <a:avLst>
              <a:gd name="adj" fmla="val 4000"/>
            </a:avLst>
          </a:prstGeom>
          <a:solidFill>
            <a:srgbClr val="EEF3F8"/>
          </a:solidFill>
          <a:ln w="12700">
            <a:solidFill>
              <a:srgbClr val="0E7C8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73152" bIns="73152"/>
          <a:lstStyle/>
          <a:p>
            <a:pPr algn="l"/>
            <a:r>
              <a:rPr sz="1300" b="1">
                <a:solidFill>
                  <a:srgbClr val="0E7C86"/>
                </a:solidFill>
                <a:latin typeface="Calibri"/>
              </a:rPr>
              <a:t>KEY POINT   </a:t>
            </a:r>
            <a:r>
              <a:rPr sz="1500">
                <a:solidFill>
                  <a:srgbClr val="222222"/>
                </a:solidFill>
                <a:latin typeface="Calibri"/>
              </a:rPr>
              <a:t>Read the top of the file. Every setting you might want to change is in the SETTINGS block, with a comment saying what it does.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2920" y="274320"/>
            <a:ext cx="11185855" cy="777240"/>
          </a:xfrm>
        </p:spPr>
        <p:txBody>
          <a:bodyPr wrap="square" anchor="b"/>
          <a:lstStyle/>
          <a:p>
            <a:pPr algn="l">
              <a:lnSpc>
                <a:spcPct val="100000"/>
              </a:lnSpc>
              <a:spcAft>
                <a:spcPts val="0"/>
              </a:spcAft>
              <a:defRPr sz="2800" b="1">
                <a:solidFill>
                  <a:srgbClr val="1F3A5F"/>
                </a:solidFill>
                <a:latin typeface="Calibri"/>
              </a:defRPr>
            </a:pPr>
            <a:r>
              <a:rPr sz="2800" b="1">
                <a:solidFill>
                  <a:srgbClr val="1F3A5F"/>
                </a:solidFill>
                <a:latin typeface="Calibri"/>
              </a:rPr>
              <a:t>Do it now  -  the real thing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097280"/>
            <a:ext cx="11185855" cy="19050"/>
          </a:xfrm>
          <a:prstGeom prst="rect">
            <a:avLst/>
          </a:prstGeom>
          <a:solidFill>
            <a:srgbClr val="C8D2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6382512"/>
            <a:ext cx="10545775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defRPr sz="900" b="0">
                <a:solidFill>
                  <a:srgbClr val="666666"/>
                </a:solidFill>
                <a:latin typeface="Calibri"/>
              </a:defRPr>
            </a:pPr>
            <a:r>
              <a:rPr sz="900" b="0">
                <a:solidFill>
                  <a:srgbClr val="666666"/>
                </a:solidFill>
                <a:latin typeface="Calibri"/>
              </a:rPr>
              <a:t>Pathfinder Beginner - PS3  |  Lesson 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31575" y="6382512"/>
            <a:ext cx="457200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  <a:defRPr sz="900" b="0">
                <a:solidFill>
                  <a:srgbClr val="666666"/>
                </a:solidFill>
                <a:latin typeface="Calibri"/>
              </a:defRPr>
            </a:pPr>
            <a:r>
              <a:rPr sz="900" b="0">
                <a:solidFill>
                  <a:srgbClr val="666666"/>
                </a:solidFill>
                <a:latin typeface="Calibri"/>
              </a:rPr>
              <a:t>17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1188720"/>
            <a:ext cx="11185855" cy="530352"/>
          </a:xfrm>
          <a:prstGeom prst="roundRect">
            <a:avLst>
              <a:gd name="adj" fmla="val 4000"/>
            </a:avLst>
          </a:prstGeom>
          <a:solidFill>
            <a:srgbClr val="0E7C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l"/>
            <a:r>
              <a:rPr sz="1300" b="1">
                <a:solidFill>
                  <a:srgbClr val="FFFFFF"/>
                </a:solidFill>
                <a:latin typeface="Calibri"/>
              </a:rPr>
              <a:t>UPLOAD AND RUN:   </a:t>
            </a:r>
            <a:r>
              <a:rPr sz="1500" b="1">
                <a:solidFill>
                  <a:srgbClr val="FFFFFF"/>
                </a:solidFill>
                <a:latin typeface="Consolas"/>
              </a:rPr>
              <a:t>pathfinder_ps3</a:t>
            </a:r>
            <a:r>
              <a:rPr sz="1200">
                <a:solidFill>
                  <a:srgbClr val="FFFFFF"/>
                </a:solidFill>
                <a:latin typeface="Calibri"/>
              </a:rPr>
              <a:t>     (30 minutes)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1901952"/>
            <a:ext cx="5387187" cy="317296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800"/>
              </a:spcAft>
              <a:defRPr sz="1600" b="0">
                <a:solidFill>
                  <a:srgbClr val="222222"/>
                </a:solidFill>
                <a:latin typeface="Calibri"/>
              </a:defRPr>
            </a:pPr>
            <a:r>
              <a:rPr sz="1600" b="0">
                <a:solidFill>
                  <a:srgbClr val="222222"/>
                </a:solidFill>
                <a:latin typeface="Calibri"/>
              </a:rPr>
              <a:t>1.  Open pathfinder_ps3.ino.</a:t>
            </a:r>
          </a:p>
          <a:p>
            <a:pPr algn="l">
              <a:lnSpc>
                <a:spcPct val="100000"/>
              </a:lnSpc>
              <a:spcAft>
                <a:spcPts val="800"/>
              </a:spcAft>
              <a:defRPr sz="1600" b="0">
                <a:solidFill>
                  <a:srgbClr val="222222"/>
                </a:solidFill>
                <a:latin typeface="Calibri"/>
              </a:defRPr>
            </a:pPr>
            <a:r>
              <a:rPr sz="1600" b="0">
                <a:solidFill>
                  <a:srgbClr val="222222"/>
                </a:solidFill>
                <a:latin typeface="Calibri"/>
              </a:rPr>
              <a:t>2.  READ IT FIRST. You will recognise almost all of it.</a:t>
            </a:r>
          </a:p>
          <a:p>
            <a:pPr algn="l">
              <a:lnSpc>
                <a:spcPct val="100000"/>
              </a:lnSpc>
              <a:spcAft>
                <a:spcPts val="800"/>
              </a:spcAft>
              <a:defRPr sz="1600" b="0">
                <a:solidFill>
                  <a:srgbClr val="222222"/>
                </a:solidFill>
                <a:latin typeface="Calibri"/>
              </a:defRPr>
            </a:pPr>
            <a:r>
              <a:rPr sz="1600" b="0">
                <a:solidFill>
                  <a:srgbClr val="222222"/>
                </a:solidFill>
                <a:latin typeface="Calibri"/>
              </a:rPr>
              <a:t>3.  Set PS3_MAC_ADDRESS to your vehicle's address.</a:t>
            </a:r>
          </a:p>
          <a:p>
            <a:pPr algn="l">
              <a:lnSpc>
                <a:spcPct val="100000"/>
              </a:lnSpc>
              <a:spcAft>
                <a:spcPts val="800"/>
              </a:spcAft>
              <a:defRPr sz="1600" b="0">
                <a:solidFill>
                  <a:srgbClr val="222222"/>
                </a:solidFill>
                <a:latin typeface="Calibri"/>
              </a:defRPr>
            </a:pPr>
            <a:r>
              <a:rPr sz="1600" b="0">
                <a:solidFill>
                  <a:srgbClr val="222222"/>
                </a:solidFill>
                <a:latin typeface="Calibri"/>
              </a:rPr>
              <a:t>4.  Wheels off the ground. Upload. Check every control.</a:t>
            </a:r>
          </a:p>
          <a:p>
            <a:pPr algn="l">
              <a:lnSpc>
                <a:spcPct val="100000"/>
              </a:lnSpc>
              <a:spcAft>
                <a:spcPts val="800"/>
              </a:spcAft>
              <a:defRPr sz="1600" b="0">
                <a:solidFill>
                  <a:srgbClr val="222222"/>
                </a:solidFill>
                <a:latin typeface="Calibri"/>
              </a:defRPr>
            </a:pPr>
            <a:r>
              <a:rPr sz="1600" b="0">
                <a:solidFill>
                  <a:srgbClr val="222222"/>
                </a:solidFill>
                <a:latin typeface="Calibri"/>
              </a:rPr>
              <a:t>5.  Put it down and drive properly.</a:t>
            </a:r>
          </a:p>
          <a:p>
            <a:pPr algn="l">
              <a:lnSpc>
                <a:spcPct val="100000"/>
              </a:lnSpc>
              <a:spcAft>
                <a:spcPts val="800"/>
              </a:spcAft>
              <a:defRPr sz="1600" b="0">
                <a:solidFill>
                  <a:srgbClr val="222222"/>
                </a:solidFill>
                <a:latin typeface="Calibri"/>
              </a:defRPr>
            </a:pPr>
            <a:r>
              <a:rPr sz="1600" b="0">
                <a:solidFill>
                  <a:srgbClr val="222222"/>
                </a:solidFill>
                <a:latin typeface="Calibri"/>
              </a:rPr>
              <a:t>6.  Find three things in the file you have NOT seen before, and work out what they do.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301587" y="1901952"/>
            <a:ext cx="5387187" cy="31089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  <a:defRPr sz="1200" b="1">
                <a:solidFill>
                  <a:srgbClr val="0E7C86"/>
                </a:solidFill>
                <a:latin typeface="Calibri"/>
              </a:defRPr>
            </a:pPr>
            <a:r>
              <a:rPr sz="1200" b="1">
                <a:solidFill>
                  <a:srgbClr val="0E7C86"/>
                </a:solidFill>
                <a:latin typeface="Calibri"/>
              </a:rPr>
              <a:t>What you should see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301587" y="2249424"/>
            <a:ext cx="5387187" cy="122072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  <a:defRPr sz="1500" b="0">
                <a:solidFill>
                  <a:srgbClr val="222222"/>
                </a:solidFill>
                <a:latin typeface="Calibri"/>
              </a:defRPr>
            </a:pPr>
            <a:r>
              <a:rPr sz="1500" b="0">
                <a:solidFill>
                  <a:srgbClr val="222222"/>
                </a:solidFill>
                <a:latin typeface="Calibri"/>
              </a:rPr>
              <a:t>A startup sweep, then a green blink while it waits, then full driving with lights, servos and the scanner.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301587" y="3506724"/>
            <a:ext cx="5387187" cy="31089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  <a:defRPr sz="1200" b="1">
                <a:solidFill>
                  <a:srgbClr val="0E7C86"/>
                </a:solidFill>
                <a:latin typeface="Calibri"/>
              </a:defRPr>
            </a:pPr>
            <a:r>
              <a:rPr sz="1200" b="1">
                <a:solidFill>
                  <a:srgbClr val="0E7C86"/>
                </a:solidFill>
                <a:latin typeface="Calibri"/>
              </a:rPr>
              <a:t>Answer these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301587" y="3854196"/>
            <a:ext cx="5387187" cy="122072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  <a:defRPr sz="1500" b="0">
                <a:solidFill>
                  <a:srgbClr val="222222"/>
                </a:solidFill>
                <a:latin typeface="Calibri"/>
              </a:defRPr>
            </a:pPr>
            <a:r>
              <a:rPr sz="1500" b="0">
                <a:solidFill>
                  <a:srgbClr val="222222"/>
                </a:solidFill>
                <a:latin typeface="Calibri"/>
              </a:rPr>
              <a:t>What does the green blink mean?</a:t>
            </a:r>
          </a:p>
          <a:p>
            <a:pPr algn="l">
              <a:lnSpc>
                <a:spcPct val="100000"/>
              </a:lnSpc>
              <a:spcAft>
                <a:spcPts val="600"/>
              </a:spcAft>
              <a:defRPr sz="1500" b="0">
                <a:solidFill>
                  <a:srgbClr val="222222"/>
                </a:solidFill>
                <a:latin typeface="Calibri"/>
              </a:defRPr>
            </a:pPr>
            <a:r>
              <a:rPr sz="1500" b="0">
                <a:solidFill>
                  <a:srgbClr val="222222"/>
                </a:solidFill>
                <a:latin typeface="Calibri"/>
              </a:rPr>
              <a:t>What are the three things you found?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02920" y="5303520"/>
            <a:ext cx="11185855" cy="960120"/>
          </a:xfrm>
          <a:prstGeom prst="roundRect">
            <a:avLst>
              <a:gd name="adj" fmla="val 4000"/>
            </a:avLst>
          </a:prstGeom>
          <a:solidFill>
            <a:srgbClr val="FBECEC"/>
          </a:solidFill>
          <a:ln w="12700">
            <a:solidFill>
              <a:srgbClr val="A32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73152" bIns="73152"/>
          <a:lstStyle/>
          <a:p>
            <a:pPr algn="l"/>
            <a:r>
              <a:rPr sz="1300" b="1">
                <a:solidFill>
                  <a:srgbClr val="A32A2A"/>
                </a:solidFill>
                <a:latin typeface="Calibri"/>
              </a:rPr>
              <a:t>SAFETY   </a:t>
            </a:r>
            <a:r>
              <a:rPr sz="1500">
                <a:solidFill>
                  <a:srgbClr val="222222"/>
                </a:solidFill>
                <a:latin typeface="Calibri"/>
              </a:rPr>
              <a:t>Wheels off the ground until every control is checked.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2920" y="274320"/>
            <a:ext cx="11185855" cy="777240"/>
          </a:xfrm>
        </p:spPr>
        <p:txBody>
          <a:bodyPr wrap="square" anchor="b"/>
          <a:lstStyle/>
          <a:p>
            <a:pPr algn="l">
              <a:lnSpc>
                <a:spcPct val="100000"/>
              </a:lnSpc>
              <a:spcAft>
                <a:spcPts val="0"/>
              </a:spcAft>
              <a:defRPr sz="2800" b="1">
                <a:solidFill>
                  <a:srgbClr val="1F3A5F"/>
                </a:solidFill>
                <a:latin typeface="Calibri"/>
              </a:defRPr>
            </a:pPr>
            <a:r>
              <a:rPr sz="2800" b="1">
                <a:solidFill>
                  <a:srgbClr val="1F3A5F"/>
                </a:solidFill>
                <a:latin typeface="Calibri"/>
              </a:rPr>
              <a:t>Calibrate, then race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097280"/>
            <a:ext cx="11185855" cy="19050"/>
          </a:xfrm>
          <a:prstGeom prst="rect">
            <a:avLst/>
          </a:prstGeom>
          <a:solidFill>
            <a:srgbClr val="C8D2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6382512"/>
            <a:ext cx="10545775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defRPr sz="900" b="0">
                <a:solidFill>
                  <a:srgbClr val="666666"/>
                </a:solidFill>
                <a:latin typeface="Calibri"/>
              </a:defRPr>
            </a:pPr>
            <a:r>
              <a:rPr sz="900" b="0">
                <a:solidFill>
                  <a:srgbClr val="666666"/>
                </a:solidFill>
                <a:latin typeface="Calibri"/>
              </a:rPr>
              <a:t>Pathfinder Beginner - PS3  |  Lesson 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31575" y="6382512"/>
            <a:ext cx="457200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  <a:defRPr sz="900" b="0">
                <a:solidFill>
                  <a:srgbClr val="666666"/>
                </a:solidFill>
                <a:latin typeface="Calibri"/>
              </a:defRPr>
            </a:pPr>
            <a:r>
              <a:rPr sz="900" b="0">
                <a:solidFill>
                  <a:srgbClr val="666666"/>
                </a:solidFill>
                <a:latin typeface="Calibri"/>
              </a:rPr>
              <a:t>18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1188720"/>
            <a:ext cx="11185855" cy="53035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  <a:defRPr sz="1900" b="1">
                <a:solidFill>
                  <a:srgbClr val="0E7C86"/>
                </a:solidFill>
                <a:latin typeface="Calibri"/>
              </a:defRPr>
            </a:pPr>
            <a:r>
              <a:rPr sz="1900" b="1">
                <a:solidFill>
                  <a:srgbClr val="0E7C86"/>
                </a:solidFill>
                <a:latin typeface="Calibri"/>
              </a:rPr>
              <a:t>Measure first. Then argue about who is fastest.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1755648"/>
            <a:ext cx="11185855" cy="450799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  <a:defRPr sz="1500" b="0">
                <a:solidFill>
                  <a:srgbClr val="222222"/>
                </a:solidFill>
                <a:latin typeface="Calibri"/>
              </a:defRPr>
            </a:pPr>
            <a:r>
              <a:rPr sz="1500" b="0">
                <a:solidFill>
                  <a:srgbClr val="222222"/>
                </a:solidFill>
                <a:latin typeface="Calibri"/>
              </a:rPr>
              <a:t>CALIBRATE FIRST.</a:t>
            </a:r>
          </a:p>
          <a:p>
            <a:pPr lvl="1" algn="l">
              <a:lnSpc>
                <a:spcPct val="100000"/>
              </a:lnSpc>
              <a:spcAft>
                <a:spcPts val="600"/>
              </a:spcAft>
              <a:defRPr sz="1500" b="0">
                <a:solidFill>
                  <a:srgbClr val="222222"/>
                </a:solidFill>
                <a:latin typeface="Calibri"/>
              </a:defRPr>
            </a:pPr>
            <a:r>
              <a:rPr sz="1500" b="0">
                <a:solidFill>
                  <a:srgbClr val="222222"/>
                </a:solidFill>
                <a:latin typeface="Calibri"/>
              </a:rPr>
              <a:t>Mark a start and a finish line with tape. Measure the distance.</a:t>
            </a:r>
          </a:p>
          <a:p>
            <a:pPr lvl="1" algn="l">
              <a:lnSpc>
                <a:spcPct val="100000"/>
              </a:lnSpc>
              <a:spcAft>
                <a:spcPts val="600"/>
              </a:spcAft>
              <a:defRPr sz="1500" b="0">
                <a:solidFill>
                  <a:srgbClr val="222222"/>
                </a:solidFill>
                <a:latin typeface="Calibri"/>
              </a:defRPr>
            </a:pPr>
            <a:r>
              <a:rPr sz="1500" b="0">
                <a:solidFill>
                  <a:srgbClr val="222222"/>
                </a:solidFill>
                <a:latin typeface="Calibri"/>
              </a:rPr>
              <a:t>Drive it flat out and time it. Speed = distance / time.</a:t>
            </a:r>
          </a:p>
          <a:p>
            <a:pPr lvl="1" algn="l">
              <a:lnSpc>
                <a:spcPct val="100000"/>
              </a:lnSpc>
              <a:spcAft>
                <a:spcPts val="600"/>
              </a:spcAft>
              <a:defRPr sz="1500" b="0">
                <a:solidFill>
                  <a:srgbClr val="222222"/>
                </a:solidFill>
                <a:latin typeface="Calibri"/>
              </a:defRPr>
            </a:pPr>
            <a:r>
              <a:rPr sz="1500" b="0">
                <a:solidFill>
                  <a:srgbClr val="222222"/>
                </a:solidFill>
                <a:latin typeface="Calibri"/>
              </a:rPr>
              <a:t>Compare with the number you calculated in Lesson 2. Were you right?</a:t>
            </a:r>
          </a:p>
          <a:p>
            <a:pPr algn="l">
              <a:lnSpc>
                <a:spcPct val="100000"/>
              </a:lnSpc>
              <a:spcAft>
                <a:spcPts val="600"/>
              </a:spcAft>
              <a:defRPr sz="1500" b="0">
                <a:solidFill>
                  <a:srgbClr val="222222"/>
                </a:solidFill>
                <a:latin typeface="Calibri"/>
              </a:defRPr>
            </a:pPr>
          </a:p>
          <a:p>
            <a:pPr algn="l">
              <a:lnSpc>
                <a:spcPct val="100000"/>
              </a:lnSpc>
              <a:spcAft>
                <a:spcPts val="600"/>
              </a:spcAft>
              <a:defRPr sz="1500" b="0">
                <a:solidFill>
                  <a:srgbClr val="222222"/>
                </a:solidFill>
                <a:latin typeface="Calibri"/>
              </a:defRPr>
            </a:pPr>
            <a:r>
              <a:rPr sz="1500" b="0">
                <a:solidFill>
                  <a:srgbClr val="222222"/>
                </a:solidFill>
                <a:latin typeface="Calibri"/>
              </a:rPr>
              <a:t>DRAG RACE.</a:t>
            </a:r>
          </a:p>
          <a:p>
            <a:pPr lvl="1" algn="l">
              <a:lnSpc>
                <a:spcPct val="100000"/>
              </a:lnSpc>
              <a:spcAft>
                <a:spcPts val="600"/>
              </a:spcAft>
              <a:defRPr sz="1500" b="0">
                <a:solidFill>
                  <a:srgbClr val="222222"/>
                </a:solidFill>
                <a:latin typeface="Calibri"/>
              </a:defRPr>
            </a:pPr>
            <a:r>
              <a:rPr sz="1500" b="0">
                <a:solidFill>
                  <a:srgbClr val="222222"/>
                </a:solidFill>
                <a:latin typeface="Calibri"/>
              </a:rPr>
              <a:t>Two or three vehicles side by side. First across the line INSIDE the lane wins - leaving the lane does not count.</a:t>
            </a:r>
          </a:p>
          <a:p>
            <a:pPr lvl="1" algn="l">
              <a:lnSpc>
                <a:spcPct val="100000"/>
              </a:lnSpc>
              <a:spcAft>
                <a:spcPts val="600"/>
              </a:spcAft>
              <a:defRPr sz="1500" b="0">
                <a:solidFill>
                  <a:srgbClr val="222222"/>
                </a:solidFill>
                <a:latin typeface="Calibri"/>
              </a:defRPr>
            </a:pPr>
            <a:r>
              <a:rPr sz="1500" b="0">
                <a:solidFill>
                  <a:srgbClr val="222222"/>
                </a:solidFill>
                <a:latin typeface="Calibri"/>
              </a:rPr>
              <a:t>Straight-line speed is not the whole problem. Keeping it straight is, because only one command runs at a time.</a:t>
            </a:r>
          </a:p>
          <a:p>
            <a:pPr lvl="1" algn="l">
              <a:lnSpc>
                <a:spcPct val="100000"/>
              </a:lnSpc>
              <a:spcAft>
                <a:spcPts val="600"/>
              </a:spcAft>
              <a:defRPr sz="1500" b="0">
                <a:solidFill>
                  <a:srgbClr val="222222"/>
                </a:solidFill>
                <a:latin typeface="Calibri"/>
              </a:defRPr>
            </a:pPr>
            <a:r>
              <a:rPr sz="1500" b="0">
                <a:solidFill>
                  <a:srgbClr val="222222"/>
                </a:solidFill>
                <a:latin typeface="Calibri"/>
              </a:rPr>
              <a:t>You can only brake by reversing. Half power for a short time is usually right.</a:t>
            </a:r>
          </a:p>
          <a:p>
            <a:pPr algn="l">
              <a:lnSpc>
                <a:spcPct val="100000"/>
              </a:lnSpc>
              <a:spcAft>
                <a:spcPts val="600"/>
              </a:spcAft>
              <a:defRPr sz="1500" b="0">
                <a:solidFill>
                  <a:srgbClr val="222222"/>
                </a:solidFill>
                <a:latin typeface="Calibri"/>
              </a:defRPr>
            </a:pPr>
          </a:p>
          <a:p>
            <a:pPr algn="l">
              <a:lnSpc>
                <a:spcPct val="100000"/>
              </a:lnSpc>
              <a:spcAft>
                <a:spcPts val="600"/>
              </a:spcAft>
              <a:defRPr sz="1500" b="0">
                <a:solidFill>
                  <a:srgbClr val="222222"/>
                </a:solidFill>
                <a:latin typeface="Calibri"/>
              </a:defRPr>
            </a:pPr>
            <a:r>
              <a:rPr sz="1500" b="0">
                <a:solidFill>
                  <a:srgbClr val="222222"/>
                </a:solidFill>
                <a:latin typeface="Calibri"/>
              </a:rPr>
              <a:t>COURSE RACE.</a:t>
            </a:r>
          </a:p>
          <a:p>
            <a:pPr lvl="1" algn="l">
              <a:lnSpc>
                <a:spcPct val="100000"/>
              </a:lnSpc>
              <a:spcAft>
                <a:spcPts val="600"/>
              </a:spcAft>
              <a:defRPr sz="1500" b="0">
                <a:solidFill>
                  <a:srgbClr val="222222"/>
                </a:solidFill>
                <a:latin typeface="Calibri"/>
              </a:defRPr>
            </a:pPr>
            <a:r>
              <a:rPr sz="1500" b="0">
                <a:solidFill>
                  <a:srgbClr val="222222"/>
                </a:solidFill>
                <a:latin typeface="Calibri"/>
              </a:rPr>
              <a:t>Tape out a course with corners. Now sharp steering earns its keep.</a:t>
            </a:r>
          </a:p>
          <a:p>
            <a:pPr lvl="1" algn="l">
              <a:lnSpc>
                <a:spcPct val="100000"/>
              </a:lnSpc>
              <a:spcAft>
                <a:spcPts val="600"/>
              </a:spcAft>
              <a:defRPr sz="1500" b="0">
                <a:solidFill>
                  <a:srgbClr val="222222"/>
                </a:solidFill>
                <a:latin typeface="Calibri"/>
              </a:defRPr>
            </a:pPr>
            <a:r>
              <a:rPr sz="1500" b="0">
                <a:solidFill>
                  <a:srgbClr val="222222"/>
                </a:solidFill>
                <a:latin typeface="Calibri"/>
              </a:rPr>
              <a:t>Fastest clean lap. Touching a cone costs you two seconds.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2920" y="274320"/>
            <a:ext cx="11185855" cy="777240"/>
          </a:xfrm>
        </p:spPr>
        <p:txBody>
          <a:bodyPr wrap="square" anchor="b"/>
          <a:lstStyle/>
          <a:p>
            <a:pPr algn="l">
              <a:lnSpc>
                <a:spcPct val="100000"/>
              </a:lnSpc>
              <a:spcAft>
                <a:spcPts val="0"/>
              </a:spcAft>
              <a:defRPr sz="2800" b="1">
                <a:solidFill>
                  <a:srgbClr val="1F3A5F"/>
                </a:solidFill>
                <a:latin typeface="Calibri"/>
              </a:defRPr>
            </a:pPr>
            <a:r>
              <a:rPr sz="2800" b="1">
                <a:solidFill>
                  <a:srgbClr val="1F3A5F"/>
                </a:solidFill>
                <a:latin typeface="Calibri"/>
              </a:rPr>
              <a:t>Where this goes next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097280"/>
            <a:ext cx="11185855" cy="19050"/>
          </a:xfrm>
          <a:prstGeom prst="rect">
            <a:avLst/>
          </a:prstGeom>
          <a:solidFill>
            <a:srgbClr val="C8D2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6382512"/>
            <a:ext cx="10545775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defRPr sz="900" b="0">
                <a:solidFill>
                  <a:srgbClr val="666666"/>
                </a:solidFill>
                <a:latin typeface="Calibri"/>
              </a:defRPr>
            </a:pPr>
            <a:r>
              <a:rPr sz="900" b="0">
                <a:solidFill>
                  <a:srgbClr val="666666"/>
                </a:solidFill>
                <a:latin typeface="Calibri"/>
              </a:rPr>
              <a:t>Pathfinder Beginner - PS3  |  Lesson 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31575" y="6382512"/>
            <a:ext cx="457200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  <a:defRPr sz="900" b="0">
                <a:solidFill>
                  <a:srgbClr val="666666"/>
                </a:solidFill>
                <a:latin typeface="Calibri"/>
              </a:defRPr>
            </a:pPr>
            <a:r>
              <a:rPr sz="900" b="0">
                <a:solidFill>
                  <a:srgbClr val="666666"/>
                </a:solidFill>
                <a:latin typeface="Calibri"/>
              </a:rPr>
              <a:t>19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1188720"/>
            <a:ext cx="5364327" cy="40233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  <a:defRPr sz="1600" b="1">
                <a:solidFill>
                  <a:srgbClr val="0E7C86"/>
                </a:solidFill>
                <a:latin typeface="Calibri"/>
              </a:defRPr>
            </a:pPr>
            <a:r>
              <a:rPr sz="1600" b="1">
                <a:solidFill>
                  <a:srgbClr val="0E7C86"/>
                </a:solidFill>
                <a:latin typeface="Calibri"/>
              </a:rPr>
              <a:t>Straight on from here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1645920"/>
            <a:ext cx="5364327" cy="34747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800"/>
              </a:spcAft>
              <a:defRPr sz="1600" b="0">
                <a:solidFill>
                  <a:srgbClr val="222222"/>
                </a:solidFill>
                <a:latin typeface="Calibri"/>
              </a:defRPr>
            </a:pPr>
            <a:r>
              <a:rPr sz="1600" b="0">
                <a:solidFill>
                  <a:srgbClr val="222222"/>
                </a:solidFill>
                <a:latin typeface="Calibri"/>
              </a:rPr>
              <a:t>SENSORS - a range finder that stops the vehicle before it hits something, line followers, light and temperature.</a:t>
            </a:r>
          </a:p>
          <a:p>
            <a:pPr algn="l">
              <a:lnSpc>
                <a:spcPct val="100000"/>
              </a:lnSpc>
              <a:spcAft>
                <a:spcPts val="800"/>
              </a:spcAft>
              <a:defRPr sz="1600" b="0">
                <a:solidFill>
                  <a:srgbClr val="222222"/>
                </a:solidFill>
                <a:latin typeface="Calibri"/>
              </a:defRPr>
            </a:pPr>
            <a:r>
              <a:rPr sz="1600" b="0">
                <a:solidFill>
                  <a:srgbClr val="222222"/>
                </a:solidFill>
                <a:latin typeface="Calibri"/>
              </a:rPr>
              <a:t>Once the vehicle can sense the world, dead reckoning stops being the only way it knows where it is.</a:t>
            </a:r>
          </a:p>
          <a:p>
            <a:pPr algn="l">
              <a:lnSpc>
                <a:spcPct val="100000"/>
              </a:lnSpc>
              <a:spcAft>
                <a:spcPts val="800"/>
              </a:spcAft>
              <a:defRPr sz="1600" b="0">
                <a:solidFill>
                  <a:srgbClr val="222222"/>
                </a:solidFill>
                <a:latin typeface="Calibri"/>
              </a:defRPr>
            </a:pPr>
          </a:p>
          <a:p>
            <a:pPr algn="l">
              <a:lnSpc>
                <a:spcPct val="100000"/>
              </a:lnSpc>
              <a:spcAft>
                <a:spcPts val="800"/>
              </a:spcAft>
              <a:defRPr sz="1600" b="0">
                <a:solidFill>
                  <a:srgbClr val="222222"/>
                </a:solidFill>
                <a:latin typeface="Calibri"/>
              </a:defRPr>
            </a:pPr>
            <a:r>
              <a:rPr sz="1600" b="0">
                <a:solidFill>
                  <a:srgbClr val="222222"/>
                </a:solidFill>
                <a:latin typeface="Calibri"/>
              </a:rPr>
              <a:t>VEHICLE TO VEHICLE - ESP-NOW lets ESP32s talk directly to each other with no router in between.</a:t>
            </a:r>
          </a:p>
          <a:p>
            <a:pPr algn="l">
              <a:lnSpc>
                <a:spcPct val="100000"/>
              </a:lnSpc>
              <a:spcAft>
                <a:spcPts val="800"/>
              </a:spcAft>
              <a:defRPr sz="1600" b="0">
                <a:solidFill>
                  <a:srgbClr val="222222"/>
                </a:solidFill>
                <a:latin typeface="Calibri"/>
              </a:defRPr>
            </a:pPr>
          </a:p>
          <a:p>
            <a:pPr algn="l">
              <a:lnSpc>
                <a:spcPct val="100000"/>
              </a:lnSpc>
              <a:spcAft>
                <a:spcPts val="800"/>
              </a:spcAft>
              <a:defRPr sz="1600" b="0">
                <a:solidFill>
                  <a:srgbClr val="222222"/>
                </a:solidFill>
                <a:latin typeface="Calibri"/>
              </a:defRPr>
            </a:pPr>
            <a:r>
              <a:rPr sz="1600" b="0">
                <a:solidFill>
                  <a:srgbClr val="222222"/>
                </a:solidFill>
                <a:latin typeface="Calibri"/>
              </a:rPr>
              <a:t>CAMERAS AND AI - object recognition, and a 6-DOF arm that picks things up.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324447" y="1188720"/>
            <a:ext cx="5364327" cy="40233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  <a:defRPr sz="1600" b="1">
                <a:solidFill>
                  <a:srgbClr val="0E7C86"/>
                </a:solidFill>
                <a:latin typeface="Calibri"/>
              </a:defRPr>
            </a:pPr>
            <a:r>
              <a:rPr sz="1600" b="1">
                <a:solidFill>
                  <a:srgbClr val="0E7C86"/>
                </a:solidFill>
                <a:latin typeface="Calibri"/>
              </a:rPr>
              <a:t>The advanced program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324447" y="1645920"/>
            <a:ext cx="5364327" cy="34747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800"/>
              </a:spcAft>
              <a:defRPr sz="1600" b="0">
                <a:solidFill>
                  <a:srgbClr val="222222"/>
                </a:solidFill>
                <a:latin typeface="Calibri"/>
              </a:defRPr>
            </a:pPr>
            <a:r>
              <a:rPr sz="1600" b="0">
                <a:solidFill>
                  <a:srgbClr val="222222"/>
                </a:solidFill>
                <a:latin typeface="Calibri"/>
              </a:rPr>
              <a:t>Pathfinder_Op_Program12 is the same vehicle with:</a:t>
            </a:r>
          </a:p>
          <a:p>
            <a:pPr lvl="1" algn="l">
              <a:lnSpc>
                <a:spcPct val="100000"/>
              </a:lnSpc>
              <a:spcAft>
                <a:spcPts val="800"/>
              </a:spcAft>
              <a:defRPr sz="1600" b="0">
                <a:solidFill>
                  <a:srgbClr val="222222"/>
                </a:solidFill>
                <a:latin typeface="Calibri"/>
              </a:defRPr>
            </a:pPr>
            <a:r>
              <a:rPr sz="1600" b="0">
                <a:solidFill>
                  <a:srgbClr val="222222"/>
                </a:solidFill>
                <a:latin typeface="Calibri"/>
              </a:rPr>
              <a:t>the program split across eight files by subsystem</a:t>
            </a:r>
          </a:p>
          <a:p>
            <a:pPr lvl="1" algn="l">
              <a:lnSpc>
                <a:spcPct val="100000"/>
              </a:lnSpc>
              <a:spcAft>
                <a:spcPts val="800"/>
              </a:spcAft>
              <a:defRPr sz="1600" b="0">
                <a:solidFill>
                  <a:srgbClr val="222222"/>
                </a:solidFill>
                <a:latin typeface="Calibri"/>
              </a:defRPr>
            </a:pPr>
            <a:r>
              <a:rPr sz="1600" b="0">
                <a:solidFill>
                  <a:srgbClr val="222222"/>
                </a:solidFill>
                <a:latin typeface="Calibri"/>
              </a:rPr>
              <a:t>10-bit PWM and hybrid drive for finer low-speed control</a:t>
            </a:r>
          </a:p>
          <a:p>
            <a:pPr lvl="1" algn="l">
              <a:lnSpc>
                <a:spcPct val="100000"/>
              </a:lnSpc>
              <a:spcAft>
                <a:spcPts val="800"/>
              </a:spcAft>
              <a:defRPr sz="1600" b="0">
                <a:solidFill>
                  <a:srgbClr val="222222"/>
                </a:solidFill>
                <a:latin typeface="Calibri"/>
              </a:defRPr>
            </a:pPr>
            <a:r>
              <a:rPr sz="1600" b="0">
                <a:solidFill>
                  <a:srgbClr val="222222"/>
                </a:solidFill>
                <a:latin typeface="Calibri"/>
              </a:rPr>
              <a:t>speed ramping, so it does not lurch</a:t>
            </a:r>
          </a:p>
          <a:p>
            <a:pPr lvl="1" algn="l">
              <a:lnSpc>
                <a:spcPct val="100000"/>
              </a:lnSpc>
              <a:spcAft>
                <a:spcPts val="800"/>
              </a:spcAft>
              <a:defRPr sz="1600" b="0">
                <a:solidFill>
                  <a:srgbClr val="222222"/>
                </a:solidFill>
                <a:latin typeface="Calibri"/>
              </a:defRPr>
            </a:pPr>
            <a:r>
              <a:rPr sz="1600" b="0">
                <a:solidFill>
                  <a:srgbClr val="222222"/>
                </a:solidFill>
                <a:latin typeface="Calibri"/>
              </a:rPr>
              <a:t>a serial console for tuning without recompiling</a:t>
            </a:r>
          </a:p>
          <a:p>
            <a:pPr lvl="1" algn="l">
              <a:lnSpc>
                <a:spcPct val="100000"/>
              </a:lnSpc>
              <a:spcAft>
                <a:spcPts val="800"/>
              </a:spcAft>
              <a:defRPr sz="1600" b="0">
                <a:solidFill>
                  <a:srgbClr val="222222"/>
                </a:solidFill>
                <a:latin typeface="Calibri"/>
              </a:defRPr>
            </a:pPr>
            <a:r>
              <a:rPr sz="1600" b="0">
                <a:solidFill>
                  <a:srgbClr val="222222"/>
                </a:solidFill>
                <a:latin typeface="Calibri"/>
              </a:rPr>
              <a:t>settings saved to EEPROM</a:t>
            </a:r>
          </a:p>
          <a:p>
            <a:pPr lvl="1" algn="l">
              <a:lnSpc>
                <a:spcPct val="100000"/>
              </a:lnSpc>
              <a:spcAft>
                <a:spcPts val="800"/>
              </a:spcAft>
              <a:defRPr sz="1600" b="0">
                <a:solidFill>
                  <a:srgbClr val="222222"/>
                </a:solidFill>
                <a:latin typeface="Calibri"/>
              </a:defRPr>
            </a:pPr>
            <a:r>
              <a:rPr sz="1600" b="0">
                <a:solidFill>
                  <a:srgbClr val="222222"/>
                </a:solidFill>
                <a:latin typeface="Calibri"/>
              </a:rPr>
              <a:t>a current sensor and a powered self-test</a:t>
            </a:r>
          </a:p>
          <a:p>
            <a:pPr algn="l">
              <a:lnSpc>
                <a:spcPct val="100000"/>
              </a:lnSpc>
              <a:spcAft>
                <a:spcPts val="800"/>
              </a:spcAft>
              <a:defRPr sz="1600" b="0">
                <a:solidFill>
                  <a:srgbClr val="222222"/>
                </a:solidFill>
                <a:latin typeface="Calibri"/>
              </a:defRPr>
            </a:pPr>
          </a:p>
          <a:p>
            <a:pPr algn="l">
              <a:lnSpc>
                <a:spcPct val="100000"/>
              </a:lnSpc>
              <a:spcAft>
                <a:spcPts val="800"/>
              </a:spcAft>
              <a:defRPr sz="1600" b="0">
                <a:solidFill>
                  <a:srgbClr val="222222"/>
                </a:solidFill>
                <a:latin typeface="Calibri"/>
              </a:defRPr>
            </a:pPr>
            <a:r>
              <a:rPr sz="1600" b="0">
                <a:solidFill>
                  <a:srgbClr val="222222"/>
                </a:solidFill>
                <a:latin typeface="Calibri"/>
              </a:rPr>
              <a:t>It is a five-lesson course of its own.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2920" y="5303520"/>
            <a:ext cx="11185855" cy="960120"/>
          </a:xfrm>
          <a:prstGeom prst="roundRect">
            <a:avLst>
              <a:gd name="adj" fmla="val 4000"/>
            </a:avLst>
          </a:prstGeom>
          <a:solidFill>
            <a:srgbClr val="EEF3F8"/>
          </a:solidFill>
          <a:ln w="12700">
            <a:solidFill>
              <a:srgbClr val="0E7C8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73152" bIns="73152"/>
          <a:lstStyle/>
          <a:p>
            <a:pPr algn="l"/>
            <a:r>
              <a:rPr sz="1300" b="1">
                <a:solidFill>
                  <a:srgbClr val="0E7C86"/>
                </a:solidFill>
                <a:latin typeface="Calibri"/>
              </a:rPr>
              <a:t>KEY POINT   </a:t>
            </a:r>
            <a:r>
              <a:rPr sz="1500">
                <a:solidFill>
                  <a:srgbClr val="222222"/>
                </a:solidFill>
                <a:latin typeface="Calibri"/>
              </a:rPr>
              <a:t>Everything you learned this term transfers directly. The advanced course starts by taking this program apart.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2920" y="274320"/>
            <a:ext cx="11185855" cy="777240"/>
          </a:xfrm>
        </p:spPr>
        <p:txBody>
          <a:bodyPr wrap="square" anchor="b"/>
          <a:lstStyle/>
          <a:p>
            <a:pPr algn="l">
              <a:lnSpc>
                <a:spcPct val="100000"/>
              </a:lnSpc>
              <a:spcAft>
                <a:spcPts val="0"/>
              </a:spcAft>
              <a:defRPr sz="2800" b="1">
                <a:solidFill>
                  <a:srgbClr val="1F3A5F"/>
                </a:solidFill>
                <a:latin typeface="Calibri"/>
              </a:defRPr>
            </a:pPr>
            <a:r>
              <a:rPr sz="2800" b="1">
                <a:solidFill>
                  <a:srgbClr val="1F3A5F"/>
                </a:solidFill>
                <a:latin typeface="Calibri"/>
              </a:rPr>
              <a:t>Why this is worth your time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097280"/>
            <a:ext cx="11185855" cy="19050"/>
          </a:xfrm>
          <a:prstGeom prst="rect">
            <a:avLst/>
          </a:prstGeom>
          <a:solidFill>
            <a:srgbClr val="C8D2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6382512"/>
            <a:ext cx="10545775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defRPr sz="900" b="0">
                <a:solidFill>
                  <a:srgbClr val="666666"/>
                </a:solidFill>
                <a:latin typeface="Calibri"/>
              </a:defRPr>
            </a:pPr>
            <a:r>
              <a:rPr sz="900" b="0">
                <a:solidFill>
                  <a:srgbClr val="666666"/>
                </a:solidFill>
                <a:latin typeface="Calibri"/>
              </a:rPr>
              <a:t>Pathfinder Beginner - PS3  |  Lesson 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31575" y="6382512"/>
            <a:ext cx="457200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  <a:defRPr sz="900" b="0">
                <a:solidFill>
                  <a:srgbClr val="666666"/>
                </a:solidFill>
                <a:latin typeface="Calibri"/>
              </a:defRPr>
            </a:pPr>
            <a:r>
              <a:rPr sz="900" b="0">
                <a:solidFill>
                  <a:srgbClr val="666666"/>
                </a:solidFill>
                <a:latin typeface="Calibri"/>
              </a:rPr>
              <a:t>20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1188720"/>
            <a:ext cx="11185855" cy="53035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  <a:defRPr sz="1900" b="1">
                <a:solidFill>
                  <a:srgbClr val="0E7C86"/>
                </a:solidFill>
                <a:latin typeface="Calibri"/>
              </a:defRPr>
            </a:pPr>
            <a:r>
              <a:rPr sz="1900" b="1">
                <a:solidFill>
                  <a:srgbClr val="0E7C86"/>
                </a:solidFill>
                <a:latin typeface="Calibri"/>
              </a:rPr>
              <a:t>Robotics and STEM, and where they lead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1755648"/>
            <a:ext cx="11185855" cy="450799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900"/>
              </a:spcAft>
              <a:defRPr sz="1600" b="0">
                <a:solidFill>
                  <a:srgbClr val="222222"/>
                </a:solidFill>
                <a:latin typeface="Calibri"/>
              </a:defRPr>
            </a:pPr>
            <a:r>
              <a:rPr sz="1600" b="0">
                <a:solidFill>
                  <a:srgbClr val="222222"/>
                </a:solidFill>
                <a:latin typeface="Calibri"/>
              </a:rPr>
              <a:t>At Oceanology International Americas in San Diego, we asked a panel what the transition opportunities are:</a:t>
            </a:r>
          </a:p>
          <a:p>
            <a:pPr algn="l">
              <a:lnSpc>
                <a:spcPct val="100000"/>
              </a:lnSpc>
              <a:spcAft>
                <a:spcPts val="900"/>
              </a:spcAft>
              <a:defRPr sz="1600" b="0">
                <a:solidFill>
                  <a:srgbClr val="222222"/>
                </a:solidFill>
                <a:latin typeface="Calibri"/>
              </a:defRPr>
            </a:pPr>
          </a:p>
          <a:p>
            <a:pPr algn="l">
              <a:lnSpc>
                <a:spcPct val="100000"/>
              </a:lnSpc>
              <a:spcAft>
                <a:spcPts val="900"/>
              </a:spcAft>
              <a:defRPr sz="1600" b="0">
                <a:solidFill>
                  <a:srgbClr val="222222"/>
                </a:solidFill>
                <a:latin typeface="Calibri"/>
              </a:defRPr>
            </a:pPr>
            <a:r>
              <a:rPr sz="1600" b="0">
                <a:solidFill>
                  <a:srgbClr val="222222"/>
                </a:solidFill>
                <a:latin typeface="Calibri"/>
              </a:rPr>
              <a:t>Dr Rick Spinrad, NOAA Administrator, said a knowledge of robotics and STEM is a competitive advantage for entry-level positions.</a:t>
            </a:r>
          </a:p>
          <a:p>
            <a:pPr algn="l">
              <a:lnSpc>
                <a:spcPct val="100000"/>
              </a:lnSpc>
              <a:spcAft>
                <a:spcPts val="900"/>
              </a:spcAft>
              <a:defRPr sz="1600" b="0">
                <a:solidFill>
                  <a:srgbClr val="222222"/>
                </a:solidFill>
                <a:latin typeface="Calibri"/>
              </a:defRPr>
            </a:pPr>
            <a:r>
              <a:rPr sz="1600" b="0">
                <a:solidFill>
                  <a:srgbClr val="222222"/>
                </a:solidFill>
                <a:latin typeface="Calibri"/>
              </a:rPr>
              <a:t>Rear Admiral Ron Piret, USN, said they are looking for students with robotics and STEM education for operational careers.</a:t>
            </a:r>
          </a:p>
          <a:p>
            <a:pPr algn="l">
              <a:lnSpc>
                <a:spcPct val="100000"/>
              </a:lnSpc>
              <a:spcAft>
                <a:spcPts val="900"/>
              </a:spcAft>
              <a:defRPr sz="1600" b="0">
                <a:solidFill>
                  <a:srgbClr val="222222"/>
                </a:solidFill>
                <a:latin typeface="Calibri"/>
              </a:defRPr>
            </a:pPr>
            <a:r>
              <a:rPr sz="1600" b="0">
                <a:solidFill>
                  <a:srgbClr val="222222"/>
                </a:solidFill>
                <a:latin typeface="Calibri"/>
              </a:rPr>
              <a:t>Kendra MacDonald, CEO of Canada's Ocean Supercluster, said that whether you become a doctor, a lawyer or a scientist, STEM will help you.</a:t>
            </a:r>
          </a:p>
          <a:p>
            <a:pPr algn="l">
              <a:lnSpc>
                <a:spcPct val="100000"/>
              </a:lnSpc>
              <a:spcAft>
                <a:spcPts val="900"/>
              </a:spcAft>
              <a:defRPr sz="1600" b="0">
                <a:solidFill>
                  <a:srgbClr val="222222"/>
                </a:solidFill>
                <a:latin typeface="Calibri"/>
              </a:defRPr>
            </a:pPr>
          </a:p>
          <a:p>
            <a:pPr algn="l">
              <a:lnSpc>
                <a:spcPct val="100000"/>
              </a:lnSpc>
              <a:spcAft>
                <a:spcPts val="900"/>
              </a:spcAft>
              <a:defRPr sz="1600" b="0">
                <a:solidFill>
                  <a:srgbClr val="222222"/>
                </a:solidFill>
                <a:latin typeface="Calibri"/>
              </a:defRPr>
            </a:pPr>
            <a:r>
              <a:rPr sz="1600" b="0">
                <a:solidFill>
                  <a:srgbClr val="222222"/>
                </a:solidFill>
                <a:latin typeface="Calibri"/>
              </a:rPr>
              <a:t>What you have actually practised this term: reading somebody else's code, changing one thing at a time, measuring instead of guessing, and working out whether a fault is mechanical, electrical or software.</a:t>
            </a:r>
          </a:p>
          <a:p>
            <a:pPr algn="l">
              <a:lnSpc>
                <a:spcPct val="100000"/>
              </a:lnSpc>
              <a:spcAft>
                <a:spcPts val="900"/>
              </a:spcAft>
              <a:defRPr sz="1600" b="0">
                <a:solidFill>
                  <a:srgbClr val="222222"/>
                </a:solidFill>
                <a:latin typeface="Calibri"/>
              </a:defRPr>
            </a:pPr>
          </a:p>
          <a:p>
            <a:pPr algn="l">
              <a:lnSpc>
                <a:spcPct val="100000"/>
              </a:lnSpc>
              <a:spcAft>
                <a:spcPts val="900"/>
              </a:spcAft>
              <a:defRPr sz="1600" b="0">
                <a:solidFill>
                  <a:srgbClr val="222222"/>
                </a:solidFill>
                <a:latin typeface="Calibri"/>
              </a:defRPr>
            </a:pPr>
            <a:r>
              <a:rPr sz="1600" b="0">
                <a:solidFill>
                  <a:srgbClr val="222222"/>
                </a:solidFill>
                <a:latin typeface="Calibri"/>
              </a:rPr>
              <a:t>Those four habits are the job. The vehicle was just the excuse.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2920" y="274320"/>
            <a:ext cx="11185855" cy="777240"/>
          </a:xfrm>
        </p:spPr>
        <p:txBody>
          <a:bodyPr wrap="square" anchor="b"/>
          <a:lstStyle/>
          <a:p>
            <a:pPr algn="l">
              <a:lnSpc>
                <a:spcPct val="100000"/>
              </a:lnSpc>
              <a:spcAft>
                <a:spcPts val="0"/>
              </a:spcAft>
              <a:defRPr sz="2800" b="1">
                <a:solidFill>
                  <a:srgbClr val="1F3A5F"/>
                </a:solidFill>
                <a:latin typeface="Calibri"/>
              </a:defRPr>
            </a:pPr>
            <a:r>
              <a:rPr sz="2800" b="1">
                <a:solidFill>
                  <a:srgbClr val="1F3A5F"/>
                </a:solidFill>
                <a:latin typeface="Calibri"/>
              </a:rPr>
              <a:t>Check yourself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097280"/>
            <a:ext cx="11185855" cy="19050"/>
          </a:xfrm>
          <a:prstGeom prst="rect">
            <a:avLst/>
          </a:prstGeom>
          <a:solidFill>
            <a:srgbClr val="C8D2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6382512"/>
            <a:ext cx="10545775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defRPr sz="900" b="0">
                <a:solidFill>
                  <a:srgbClr val="666666"/>
                </a:solidFill>
                <a:latin typeface="Calibri"/>
              </a:defRPr>
            </a:pPr>
            <a:r>
              <a:rPr sz="900" b="0">
                <a:solidFill>
                  <a:srgbClr val="666666"/>
                </a:solidFill>
                <a:latin typeface="Calibri"/>
              </a:rPr>
              <a:t>Pathfinder Beginner - PS3  |  Lesson 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31575" y="6382512"/>
            <a:ext cx="457200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  <a:defRPr sz="900" b="0">
                <a:solidFill>
                  <a:srgbClr val="666666"/>
                </a:solidFill>
                <a:latin typeface="Calibri"/>
              </a:defRPr>
            </a:pPr>
            <a:r>
              <a:rPr sz="900" b="0">
                <a:solidFill>
                  <a:srgbClr val="666666"/>
                </a:solidFill>
                <a:latin typeface="Calibri"/>
              </a:rPr>
              <a:t>21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1188720"/>
            <a:ext cx="11185855" cy="4114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  <a:defRPr sz="1600" b="0">
                <a:solidFill>
                  <a:srgbClr val="666666"/>
                </a:solidFill>
                <a:latin typeface="Calibri"/>
              </a:defRPr>
            </a:pPr>
            <a:r>
              <a:rPr sz="1600" b="0">
                <a:solidFill>
                  <a:srgbClr val="666666"/>
                </a:solidFill>
                <a:latin typeface="Calibri"/>
              </a:rPr>
              <a:t>Thank you. Go and break something interesting.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1664208"/>
            <a:ext cx="11185855" cy="459943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1400"/>
              </a:spcAft>
              <a:defRPr sz="1700" b="0">
                <a:solidFill>
                  <a:srgbClr val="222222"/>
                </a:solidFill>
                <a:latin typeface="Calibri"/>
              </a:defRPr>
            </a:pPr>
            <a:r>
              <a:rPr sz="1700" b="0">
                <a:solidFill>
                  <a:srgbClr val="222222"/>
                </a:solidFill>
                <a:latin typeface="Calibri"/>
              </a:rPr>
              <a:t>1.  Why can a program not use delay() if it has to do two things at different rates?</a:t>
            </a:r>
          </a:p>
          <a:p>
            <a:pPr algn="l">
              <a:lnSpc>
                <a:spcPct val="100000"/>
              </a:lnSpc>
              <a:spcAft>
                <a:spcPts val="1400"/>
              </a:spcAft>
              <a:defRPr sz="1700" b="0">
                <a:solidFill>
                  <a:srgbClr val="222222"/>
                </a:solidFill>
                <a:latin typeface="Calibri"/>
              </a:defRPr>
            </a:pPr>
            <a:r>
              <a:rPr sz="1700" b="0">
                <a:solidFill>
                  <a:srgbClr val="222222"/>
                </a:solidFill>
                <a:latin typeface="Calibri"/>
              </a:rPr>
              <a:t>2.  Write the four-line millis() pattern from memory.</a:t>
            </a:r>
          </a:p>
          <a:p>
            <a:pPr algn="l">
              <a:lnSpc>
                <a:spcPct val="100000"/>
              </a:lnSpc>
              <a:spcAft>
                <a:spcPts val="1400"/>
              </a:spcAft>
              <a:defRPr sz="1700" b="0">
                <a:solidFill>
                  <a:srgbClr val="222222"/>
                </a:solidFill>
                <a:latin typeface="Calibri"/>
              </a:defRPr>
            </a:pPr>
            <a:r>
              <a:rPr sz="1700" b="0">
                <a:solidFill>
                  <a:srgbClr val="222222"/>
                </a:solidFill>
                <a:latin typeface="Calibri"/>
              </a:rPr>
              <a:t>3.  Why does unsigned long matter for millis()?</a:t>
            </a:r>
          </a:p>
          <a:p>
            <a:pPr algn="l">
              <a:lnSpc>
                <a:spcPct val="100000"/>
              </a:lnSpc>
              <a:spcAft>
                <a:spcPts val="1400"/>
              </a:spcAft>
              <a:defRPr sz="1700" b="0">
                <a:solidFill>
                  <a:srgbClr val="222222"/>
                </a:solidFill>
                <a:latin typeface="Calibri"/>
              </a:defRPr>
            </a:pPr>
            <a:r>
              <a:rPr sz="1700" b="0">
                <a:solidFill>
                  <a:srgbClr val="222222"/>
                </a:solidFill>
                <a:latin typeface="Calibri"/>
              </a:rPr>
              <a:t>4.  What is edge detection, and what goes wrong without it?</a:t>
            </a:r>
          </a:p>
          <a:p>
            <a:pPr algn="l">
              <a:lnSpc>
                <a:spcPct val="100000"/>
              </a:lnSpc>
              <a:spcAft>
                <a:spcPts val="1400"/>
              </a:spcAft>
              <a:defRPr sz="1700" b="0">
                <a:solidFill>
                  <a:srgbClr val="222222"/>
                </a:solidFill>
                <a:latin typeface="Calibri"/>
              </a:defRPr>
            </a:pPr>
            <a:r>
              <a:rPr sz="1700" b="0">
                <a:solidFill>
                  <a:srgbClr val="222222"/>
                </a:solidFill>
                <a:latin typeface="Calibri"/>
              </a:rPr>
              <a:t>5.  What is a dirty flag, and what does it save?</a:t>
            </a:r>
          </a:p>
          <a:p>
            <a:pPr algn="l">
              <a:lnSpc>
                <a:spcPct val="100000"/>
              </a:lnSpc>
              <a:spcAft>
                <a:spcPts val="1400"/>
              </a:spcAft>
              <a:defRPr sz="1700" b="0">
                <a:solidFill>
                  <a:srgbClr val="222222"/>
                </a:solidFill>
                <a:latin typeface="Calibri"/>
              </a:defRPr>
            </a:pPr>
            <a:r>
              <a:rPr sz="1700" b="0">
                <a:solidFill>
                  <a:srgbClr val="222222"/>
                </a:solidFill>
                <a:latin typeface="Calibri"/>
              </a:rPr>
              <a:t>6.  A servo is centred by a pulse of what length? How often is it sent?</a:t>
            </a:r>
          </a:p>
          <a:p>
            <a:pPr algn="l">
              <a:lnSpc>
                <a:spcPct val="100000"/>
              </a:lnSpc>
              <a:spcAft>
                <a:spcPts val="1400"/>
              </a:spcAft>
              <a:defRPr sz="1700" b="0">
                <a:solidFill>
                  <a:srgbClr val="222222"/>
                </a:solidFill>
                <a:latin typeface="Calibri"/>
              </a:defRPr>
            </a:pPr>
            <a:r>
              <a:rPr sz="1700" b="0">
                <a:solidFill>
                  <a:srgbClr val="222222"/>
                </a:solidFill>
                <a:latin typeface="Calibri"/>
              </a:rPr>
              <a:t>7.  Name three things the full program does that l5c does not.</a:t>
            </a:r>
          </a:p>
          <a:p>
            <a:pPr algn="l">
              <a:lnSpc>
                <a:spcPct val="100000"/>
              </a:lnSpc>
              <a:spcAft>
                <a:spcPts val="1400"/>
              </a:spcAft>
              <a:defRPr sz="1700" b="0">
                <a:solidFill>
                  <a:srgbClr val="222222"/>
                </a:solidFill>
                <a:latin typeface="Calibri"/>
              </a:defRPr>
            </a:pPr>
            <a:r>
              <a:rPr sz="1700" b="0">
                <a:solidFill>
                  <a:srgbClr val="222222"/>
                </a:solidFill>
                <a:latin typeface="Calibri"/>
              </a:rPr>
              <a:t>8.  Your vehicle drifts left on the drag strip. Give one mechanical cause and one software fix.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