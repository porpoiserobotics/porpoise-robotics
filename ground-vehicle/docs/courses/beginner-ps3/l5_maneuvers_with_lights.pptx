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because it is what millis() returns. On an ESP32 an int is the same size but signed, so it would go negative after about 25 days. On a classic Arduino Uno, where an int is only 16 bits, it goes wrong after 33 seconds - which is where most of the warnings they will read online come from.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a:p>
            <a:r>
              <a:rPr sz="1200">
                <a:latin typeface="Calibri"/>
              </a:rPr>
              <a:t>ANSWERS. Without the delay, loop() runs tens of thousands of times a second - the exact number varies, so take theirs. With delay(1000) it runs once a second, so the count reads 1: the vehicle has gone from checking everything tens of thousands of times a second to once, and for the other 999 milliseconds it is not reading the controller, the lights or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a:p>
            <a:r>
              <a:rPr sz="1200">
                <a:latin typeface="Calibri"/>
              </a:rPr>
              <a:t>ANSWER, brake lights: line 283 starts every pass assuming LIGHTS_STOPPED, and only driving or turning changes it. Then line 176, in showDrivingLights(), turns the rear bar brake red whenever the pattern is LIGHTS_STOPPED. So letting go of the stick IS what puts the brake lights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55 minutes on the real program, the race included.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realize how much of it they recognize.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Point at the headers on a real board before you say anything else. Kevin caught this in the 2026-09-08 review: the slide used to put them on the top plate, and a student hunting for them up there will not find them.</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Section 2 is the confidence builder. They will recognize STICK_DEADZONE, MOTOR_MAX and the LED count as numbers they have already changed with their own hands.</a:t>
            </a:r>
          </a:p>
          <a:p>
            <a:r>
              <a:rPr sz="1200">
                <a:latin typeface="Calibri"/>
              </a:rPr>
              <a:t>Section 6 is the assessment. Walk round and ask groups to point at the failsafe. Anybody who can find it has understood Lesson 3.</a:t>
            </a:r>
          </a:p>
          <a:p>
            <a:r>
              <a:rPr sz="1200">
                <a:latin typeface="Calibri"/>
              </a:rPr>
              <a:t>Collect answers out loud before moving on, one section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sections,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 A green blink that never stops usually means step 3 was skipped - the Serial Monitor says which address it is listening as.</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waypoint list and the servos are the two that need nothing bought. Point that out - it is the difference between an idea and a plan.</a:t>
            </a:r>
          </a:p>
          <a:p>
            <a:r>
              <a:rPr sz="1200">
                <a:latin typeface="Calibri"/>
              </a:rPr>
              <a:t>FOR YOU, NOT FOR THEM: all five of these are written out in full in src/projects/, one folder each, for both tracks. Each one is l5c_drive_with_lights plus the one thing, so you can put the two files side by side and the difference IS the project. Kevin asked for these in the 2026-09-08 review, and the reason was blunt: an instructor who cannot help a stuck student is not acceptable.</a:t>
            </a:r>
          </a:p>
          <a:p>
            <a:r>
              <a:rPr sz="1200">
                <a:latin typeface="Calibri"/>
              </a:rPr>
              <a:t>Do not hand them out. Read the one a student has picked before the session they start it in, and the questions they get stuck on will be the ones you have already met. The header of each file has a section called THE IDEA, which is the part worth understanding rather than the feature.</a:t>
            </a:r>
          </a:p>
          <a:p>
            <a:r>
              <a:rPr sz="1200">
                <a:latin typeface="Calibri"/>
              </a:rPr>
              <a:t>If anybody is staying on after the course, get them to pick one today while the enthusiasm is high. The cheat sheet from Lesson 1 covers all the C++ these projects need.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written out:  unsigned long last = 0;  then in loop()  if (millis() - last &gt;= INTERVAL) { last = millis(); ...do the thing... }; unsigned long because it is what millis() returns and it never goes negative - an int would after about 25 days.</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7, any three of: two servos aimed with the right stick, the KITT scanner without delay(), the sharp-steering toggle on the stick click, and the startup light show.</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turn-signal-righ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const unsigned long INTERVAL = 1000;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b="1">
                <a:solidFill>
                  <a:srgbClr val="0E7C86"/>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a:solidFill>
                  <a:srgbClr val="222222"/>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that is what millis() returns. It never goes negative.</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The full vehicle program uses this exact pattern for its waiting blink and for the scanner.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Set PS3_MAC_ADDRESS.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PS3_MAC_ADDRESS. Wheels off the ground. Upload. Check the controls.</a:t>
            </a:r>
          </a:p>
          <a:p>
            <a:pPr algn="l">
              <a:lnSpc>
                <a:spcPct val="100000"/>
              </a:lnSpc>
              <a:spcAft>
                <a:spcPts val="800"/>
              </a:spcAft>
              <a:defRPr sz="1800" b="0">
                <a:solidFill>
                  <a:srgbClr val="222222"/>
                </a:solidFill>
                <a:latin typeface="Calibri"/>
              </a:defRPr>
            </a:pPr>
            <a:r>
              <a:rPr sz="1800" b="0">
                <a:solidFill>
                  <a:srgbClr val="222222"/>
                </a:solidFill>
                <a:latin typeface="Calibri"/>
              </a:rPr>
              <a:t>2.  Put it down and drive. The lights follow the stick: headlights, brake lights when you stop, white in reverse, amber on the side you turn toward.</a:t>
            </a:r>
          </a:p>
          <a:p>
            <a:pPr algn="l">
              <a:lnSpc>
                <a:spcPct val="100000"/>
              </a:lnSpc>
              <a:spcAft>
                <a:spcPts val="800"/>
              </a:spcAft>
              <a:defRPr sz="1800" b="0">
                <a:solidFill>
                  <a:srgbClr val="222222"/>
                </a:solidFill>
                <a:latin typeface="Calibri"/>
              </a:defRPr>
            </a:pPr>
            <a:r>
              <a:rPr sz="1800" b="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centered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There are four servo headers on the MAIN CONTROL BOARD, under the top plate, and the full program drives them from the RIGHT stick. What you bolt on goes on the top plate; its leads come down to the board through the cutout.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Each servo owns one direction of the stick, so one stick aims four independent things and each sits centered when the stick is not pushed its way.</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Watch out for which kind you have. A standard servo takes a position, across about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three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75% of MOTOR_MAX - 191 of 255 -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Putting it all together  -  read pathfinder_ps3 in six sections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sections,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3" cy="2835275"/>
        </p:xfrm>
        <a:graphic>
          <a:graphicData uri="http://schemas.openxmlformats.org/drawingml/2006/table">
            <a:tbl>
              <a:tblPr firstRow="1" bandRow="1">
                <a:tableStyleId>{5C22544A-7EE6-4342-B048-85BDC9FD1C3A}</a:tableStyleId>
              </a:tblPr>
              <a:tblGrid>
                <a:gridCol w="1118585"/>
                <a:gridCol w="4576031"/>
                <a:gridCol w="5491237"/>
              </a:tblGrid>
              <a:tr h="405039">
                <a:tc>
                  <a:txBody>
                    <a:bodyPr/>
                    <a:lstStyle/>
                    <a:p>
                      <a:r>
                        <a:rPr sz="1450" b="1">
                          <a:solidFill>
                            <a:srgbClr val="FFFFFF"/>
                          </a:solidFill>
                          <a:latin typeface="Calibri"/>
                        </a:rPr>
                        <a:t>Section</a:t>
                      </a:r>
                    </a:p>
                  </a:txBody>
                  <a:tcPr marL="73152" marT="18288" marB="18288">
                    <a:solidFill>
                      <a:srgbClr val="1F3A5F"/>
                    </a:solidFill>
                  </a:tcPr>
                </a:tc>
                <a:tc>
                  <a:txBody>
                    <a:bodyPr/>
                    <a:lstStyle/>
                    <a:p>
                      <a:r>
                        <a:rPr sz="1450" b="1">
                          <a:solidFill>
                            <a:srgbClr val="FFFFFF"/>
                          </a:solidFill>
                          <a:latin typeface="Calibri"/>
                        </a:rPr>
                        <a:t>What you are reading</a:t>
                      </a:r>
                    </a:p>
                  </a:txBody>
                  <a:tcPr marL="73152" marT="18288" marB="18288">
                    <a:solidFill>
                      <a:srgbClr val="1F3A5F"/>
                    </a:solidFill>
                  </a:tcPr>
                </a:tc>
                <a:tc>
                  <a:txBody>
                    <a:bodyPr/>
                    <a:lstStyle/>
                    <a:p>
                      <a:r>
                        <a:rPr sz="1450" b="1">
                          <a:solidFill>
                            <a:srgbClr val="FFFFFF"/>
                          </a:solidFill>
                          <a:latin typeface="Calibri"/>
                        </a:rPr>
                        <a:t>Ask yourself</a:t>
                      </a:r>
                    </a:p>
                  </a:txBody>
                  <a:tcPr marL="73152" marT="18288" marB="18288">
                    <a:solidFill>
                      <a:srgbClr val="1F3A5F"/>
                    </a:solidFill>
                  </a:tcPr>
                </a:tc>
              </a:tr>
              <a:tr h="405039">
                <a:tc>
                  <a:txBody>
                    <a:bodyPr/>
                    <a:lstStyle/>
                    <a:p>
                      <a:r>
                        <a:rPr sz="1450">
                          <a:solidFill>
                            <a:srgbClr val="222222"/>
                          </a:solidFill>
                          <a:latin typeface="Calibri"/>
                        </a:rPr>
                        <a:t>1</a:t>
                      </a:r>
                    </a:p>
                  </a:txBody>
                  <a:tcPr marL="73152" marT="18288" marB="18288">
                    <a:solidFill>
                      <a:srgbClr val="FFFFFF"/>
                    </a:solidFill>
                  </a:tcPr>
                </a:tc>
                <a:tc>
                  <a:txBody>
                    <a:bodyPr/>
                    <a:lstStyle/>
                    <a:p>
                      <a:r>
                        <a:rPr sz="1450">
                          <a:solidFill>
                            <a:srgbClr val="222222"/>
                          </a:solidFill>
                          <a:latin typeface="Calibri"/>
                        </a:rPr>
                        <a:t>The header comment and the #includes</a:t>
                      </a:r>
                    </a:p>
                  </a:txBody>
                  <a:tcPr marL="73152" marT="18288" marB="18288">
                    <a:solidFill>
                      <a:srgbClr val="FFFFFF"/>
                    </a:solidFill>
                  </a:tcPr>
                </a:tc>
                <a:tc>
                  <a:txBody>
                    <a:bodyPr/>
                    <a:lstStyle/>
                    <a:p>
                      <a:r>
                        <a:rPr sz="1450">
                          <a:solidFill>
                            <a:srgbClr val="222222"/>
                          </a:solidFill>
                          <a:latin typeface="Calibri"/>
                        </a:rPr>
                        <a:t>What does each library bring in, and which lesson met it?</a:t>
                      </a:r>
                    </a:p>
                  </a:txBody>
                  <a:tcPr marL="73152" marT="18288" marB="18288">
                    <a:solidFill>
                      <a:srgbClr val="FFFFFF"/>
                    </a:solidFill>
                  </a:tcPr>
                </a:tc>
              </a:tr>
              <a:tr h="405039">
                <a:tc>
                  <a:txBody>
                    <a:bodyPr/>
                    <a:lstStyle/>
                    <a:p>
                      <a:r>
                        <a:rPr sz="1450">
                          <a:solidFill>
                            <a:srgbClr val="222222"/>
                          </a:solidFill>
                          <a:latin typeface="Calibri"/>
                        </a:rPr>
                        <a:t>2</a:t>
                      </a:r>
                    </a:p>
                  </a:txBody>
                  <a:tcPr marL="73152" marT="18288" marB="18288">
                    <a:solidFill>
                      <a:srgbClr val="EEF3F8"/>
                    </a:solidFill>
                  </a:tcPr>
                </a:tc>
                <a:tc>
                  <a:txBody>
                    <a:bodyPr/>
                    <a:lstStyle/>
                    <a:p>
                      <a:r>
                        <a:rPr sz="1450">
                          <a:solidFill>
                            <a:srgbClr val="222222"/>
                          </a:solidFill>
                          <a:latin typeface="Calibri"/>
                        </a:rPr>
                        <a:t>The SETTINGS block</a:t>
                      </a:r>
                    </a:p>
                  </a:txBody>
                  <a:tcPr marL="73152" marT="18288" marB="18288">
                    <a:solidFill>
                      <a:srgbClr val="EEF3F8"/>
                    </a:solidFill>
                  </a:tcPr>
                </a:tc>
                <a:tc>
                  <a:txBody>
                    <a:bodyPr/>
                    <a:lstStyle/>
                    <a:p>
                      <a:r>
                        <a:rPr sz="1450">
                          <a:solidFill>
                            <a:srgbClr val="222222"/>
                          </a:solidFill>
                          <a:latin typeface="Calibri"/>
                        </a:rPr>
                        <a:t>Which numbers here did you change in an earlier lesson?</a:t>
                      </a:r>
                    </a:p>
                  </a:txBody>
                  <a:tcPr marL="73152" marT="18288" marB="18288">
                    <a:solidFill>
                      <a:srgbClr val="EEF3F8"/>
                    </a:solidFill>
                  </a:tcPr>
                </a:tc>
              </a:tr>
              <a:tr h="405039">
                <a:tc>
                  <a:txBody>
                    <a:bodyPr/>
                    <a:lstStyle/>
                    <a:p>
                      <a:r>
                        <a:rPr sz="1450">
                          <a:solidFill>
                            <a:srgbClr val="222222"/>
                          </a:solidFill>
                          <a:latin typeface="Calibri"/>
                        </a:rPr>
                        <a:t>3</a:t>
                      </a:r>
                    </a:p>
                  </a:txBody>
                  <a:tcPr marL="73152" marT="18288" marB="18288">
                    <a:solidFill>
                      <a:srgbClr val="FFFFFF"/>
                    </a:solidFill>
                  </a:tcPr>
                </a:tc>
                <a:tc>
                  <a:txBody>
                    <a:bodyPr/>
                    <a:lstStyle/>
                    <a:p>
                      <a:r>
                        <a:rPr sz="1450">
                          <a:solidFill>
                            <a:srgbClr val="222222"/>
                          </a:solidFill>
                          <a:latin typeface="Calibri"/>
                        </a:rPr>
                        <a:t>The state variables and the LightPattern enum</a:t>
                      </a:r>
                    </a:p>
                  </a:txBody>
                  <a:tcPr marL="73152" marT="18288" marB="18288">
                    <a:solidFill>
                      <a:srgbClr val="FFFFFF"/>
                    </a:solidFill>
                  </a:tcPr>
                </a:tc>
                <a:tc>
                  <a:txBody>
                    <a:bodyPr/>
                    <a:lstStyle/>
                    <a:p>
                      <a:r>
                        <a:rPr sz="1450">
                          <a:solidFill>
                            <a:srgbClr val="222222"/>
                          </a:solidFill>
                          <a:latin typeface="Calibri"/>
                        </a:rPr>
                        <a:t>Which of these survive between passes of loop(), and why?</a:t>
                      </a:r>
                    </a:p>
                  </a:txBody>
                  <a:tcPr marL="73152" marT="18288" marB="18288">
                    <a:solidFill>
                      <a:srgbClr val="FFFFFF"/>
                    </a:solidFill>
                  </a:tcPr>
                </a:tc>
              </a:tr>
              <a:tr h="405039">
                <a:tc>
                  <a:txBody>
                    <a:bodyPr/>
                    <a:lstStyle/>
                    <a:p>
                      <a:r>
                        <a:rPr sz="1450">
                          <a:solidFill>
                            <a:srgbClr val="222222"/>
                          </a:solidFill>
                          <a:latin typeface="Calibri"/>
                        </a:rPr>
                        <a:t>4</a:t>
                      </a:r>
                    </a:p>
                  </a:txBody>
                  <a:tcPr marL="73152" marT="18288" marB="18288">
                    <a:solidFill>
                      <a:srgbClr val="EEF3F8"/>
                    </a:solidFill>
                  </a:tcPr>
                </a:tc>
                <a:tc>
                  <a:txBody>
                    <a:bodyPr/>
                    <a:lstStyle/>
                    <a:p>
                      <a:r>
                        <a:rPr sz="1450">
                          <a:solidFill>
                            <a:srgbClr val="222222"/>
                          </a:solidFill>
                          <a:latin typeface="Calibri"/>
                        </a:rPr>
                        <a:t>stickToSpeed(), drive() and setMotor()</a:t>
                      </a:r>
                    </a:p>
                  </a:txBody>
                  <a:tcPr marL="73152" marT="18288" marB="18288">
                    <a:solidFill>
                      <a:srgbClr val="EEF3F8"/>
                    </a:solidFill>
                  </a:tcPr>
                </a:tc>
                <a:tc>
                  <a:txBody>
                    <a:bodyPr/>
                    <a:lstStyle/>
                    <a:p>
                      <a:r>
                        <a:rPr sz="1450">
                          <a:solidFill>
                            <a:srgbClr val="222222"/>
                          </a:solidFill>
                          <a:latin typeface="Calibri"/>
                        </a:rPr>
                        <a:t>Where does the deadzone go, and where does map() stretch what is left?</a:t>
                      </a:r>
                    </a:p>
                  </a:txBody>
                  <a:tcPr marL="73152" marT="18288" marB="18288">
                    <a:solidFill>
                      <a:srgbClr val="EEF3F8"/>
                    </a:solidFill>
                  </a:tcPr>
                </a:tc>
              </a:tr>
              <a:tr h="405039">
                <a:tc>
                  <a:txBody>
                    <a:bodyPr/>
                    <a:lstStyle/>
                    <a:p>
                      <a:r>
                        <a:rPr sz="1450">
                          <a:solidFill>
                            <a:srgbClr val="222222"/>
                          </a:solidFill>
                          <a:latin typeface="Calibri"/>
                        </a:rPr>
                        <a:t>5</a:t>
                      </a:r>
                    </a:p>
                  </a:txBody>
                  <a:tcPr marL="73152" marT="18288" marB="18288">
                    <a:solidFill>
                      <a:srgbClr val="FFFFFF"/>
                    </a:solidFill>
                  </a:tcPr>
                </a:tc>
                <a:tc>
                  <a:txBody>
                    <a:bodyPr/>
                    <a:lstStyle/>
                    <a:p>
                      <a:r>
                        <a:rPr sz="1450">
                          <a:solidFill>
                            <a:srgbClr val="222222"/>
                          </a:solidFill>
                          <a:latin typeface="Calibri"/>
                        </a:rPr>
                        <a:t>setup()</a:t>
                      </a:r>
                    </a:p>
                  </a:txBody>
                  <a:tcPr marL="73152" marT="18288" marB="18288">
                    <a:solidFill>
                      <a:srgbClr val="FFFFFF"/>
                    </a:solidFill>
                  </a:tcPr>
                </a:tc>
                <a:tc>
                  <a:txBody>
                    <a:bodyPr/>
                    <a:lstStyle/>
                    <a:p>
                      <a:r>
                        <a:rPr sz="1450">
                          <a:solidFill>
                            <a:srgbClr val="222222"/>
                          </a:solidFill>
                          <a:latin typeface="Calibri"/>
                        </a:rPr>
                        <a:t>Why are the motors set up before the LEDs, and the radio last?</a:t>
                      </a:r>
                    </a:p>
                  </a:txBody>
                  <a:tcPr marL="73152" marT="18288" marB="18288">
                    <a:solidFill>
                      <a:srgbClr val="FFFFFF"/>
                    </a:solidFill>
                  </a:tcPr>
                </a:tc>
              </a:tr>
              <a:tr h="405041">
                <a:tc>
                  <a:txBody>
                    <a:bodyPr/>
                    <a:lstStyle/>
                    <a:p>
                      <a:r>
                        <a:rPr sz="1450">
                          <a:solidFill>
                            <a:srgbClr val="222222"/>
                          </a:solidFill>
                          <a:latin typeface="Calibri"/>
                        </a:rPr>
                        <a:t>6</a:t>
                      </a:r>
                    </a:p>
                  </a:txBody>
                  <a:tcPr marL="73152" marT="18288" marB="18288">
                    <a:solidFill>
                      <a:srgbClr val="EEF3F8"/>
                    </a:solidFill>
                  </a:tcPr>
                </a:tc>
                <a:tc>
                  <a:txBody>
                    <a:bodyPr/>
                    <a:lstStyle/>
                    <a:p>
                      <a:r>
                        <a:rPr sz="1450">
                          <a:solidFill>
                            <a:srgbClr val="222222"/>
                          </a:solidFill>
                          <a:latin typeface="Calibri"/>
                        </a:rPr>
                        <a:t>loop(), top to bottom</a:t>
                      </a:r>
                    </a:p>
                  </a:txBody>
                  <a:tcPr marL="73152" marT="18288" marB="18288">
                    <a:solidFill>
                      <a:srgbClr val="EEF3F8"/>
                    </a:solidFill>
                  </a:tcPr>
                </a:tc>
                <a:tc>
                  <a:txBody>
                    <a:bodyPr/>
                    <a:lstStyle/>
                    <a:p>
                      <a:r>
                        <a:rPr sz="145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400"/>
              </a:spcAft>
              <a:defRPr sz="1800" b="0">
                <a:solidFill>
                  <a:srgbClr val="222222"/>
                </a:solidFill>
                <a:latin typeface="Calibri"/>
              </a:defRPr>
            </a:pPr>
            <a:r>
              <a:rPr sz="1800" b="0">
                <a:solidFill>
                  <a:srgbClr val="222222"/>
                </a:solidFill>
                <a:latin typeface="Calibri"/>
              </a:rPr>
              <a:t>2.  READ IT FIRST. You will recognize almost all of it.</a:t>
            </a:r>
          </a:p>
          <a:p>
            <a:pPr algn="l">
              <a:lnSpc>
                <a:spcPct val="100000"/>
              </a:lnSpc>
              <a:spcAft>
                <a:spcPts val="400"/>
              </a:spcAft>
              <a:defRPr sz="1800" b="0">
                <a:solidFill>
                  <a:srgbClr val="222222"/>
                </a:solidFill>
                <a:latin typeface="Calibri"/>
              </a:defRPr>
            </a:pPr>
            <a:r>
              <a:rPr sz="1800" b="0">
                <a:solidFill>
                  <a:srgbClr val="222222"/>
                </a:solidFill>
                <a:latin typeface="Calibri"/>
              </a:rPr>
              <a:t>3.  Set PS3_MAC_ADDRESS to the number on your controller's sticker.</a:t>
            </a:r>
          </a:p>
          <a:p>
            <a:pPr algn="l">
              <a:lnSpc>
                <a:spcPct val="100000"/>
              </a:lnSpc>
              <a:spcAft>
                <a:spcPts val="4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4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4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881628"/>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Each is a real addition to the program you now understand. Pick one and build it.</a:t>
            </a:r>
          </a:p>
          <a:p>
            <a:pPr algn="l">
              <a:lnSpc>
                <a:spcPct val="100000"/>
              </a:lnSpc>
              <a:spcAft>
                <a:spcPts val="600"/>
              </a:spcAft>
              <a:defRPr sz="1900" b="0">
                <a:solidFill>
                  <a:srgbClr val="222222"/>
                </a:solidFill>
                <a:latin typeface="Calibri"/>
              </a:defRPr>
            </a:pPr>
            <a:r>
              <a:rPr sz="19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1900" b="0">
                <a:solidFill>
                  <a:srgbClr val="222222"/>
                </a:solidFill>
                <a:latin typeface="Calibri"/>
              </a:defRPr>
            </a:pPr>
            <a:r>
              <a:rPr sz="19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1900" b="0">
                <a:solidFill>
                  <a:srgbClr val="222222"/>
                </a:solidFill>
                <a:latin typeface="Calibri"/>
              </a:defRPr>
            </a:pPr>
            <a:r>
              <a:rPr sz="1900" b="0">
                <a:solidFill>
                  <a:srgbClr val="222222"/>
                </a:solidFill>
                <a:latin typeface="Calibri"/>
              </a:rPr>
              <a:t>AUTOMATIC LIGHTS.  Reversing beeps, hazard lights, or headlights that come on only when the vehicle is moving.</a:t>
            </a:r>
          </a:p>
          <a:p>
            <a:pPr algn="l">
              <a:lnSpc>
                <a:spcPct val="100000"/>
              </a:lnSpc>
              <a:spcAft>
                <a:spcPts val="600"/>
              </a:spcAft>
              <a:defRPr sz="1900" b="0">
                <a:solidFill>
                  <a:srgbClr val="222222"/>
                </a:solidFill>
                <a:latin typeface="Calibri"/>
              </a:defRPr>
            </a:pPr>
            <a:r>
              <a:rPr sz="19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1900" b="0">
                <a:solidFill>
                  <a:srgbClr val="222222"/>
                </a:solidFill>
                <a:latin typeface="Calibri"/>
              </a:defRPr>
            </a:pPr>
            <a:r>
              <a:rPr sz="1900" b="0">
                <a:solidFill>
                  <a:srgbClr val="222222"/>
                </a:solidFill>
                <a:latin typeface="Calibri"/>
              </a:rPr>
              <a:t>SERVO PAN AND TILT.  Two servos and a bracket, aimed with the right stick. The headers are already on the board.</a:t>
            </a:r>
          </a:p>
        </p:txBody>
      </p:sp>
      <p:sp>
        <p:nvSpPr>
          <p:cNvPr id="7" name="Rounded Rectangle 6"/>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All five are within reach of what you learned in five lessons. Two of them need nothing bought at all: the list of moves needs no new parts, and the servo headers are already on the board.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 on the board below it</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centered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