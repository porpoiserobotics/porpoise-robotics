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Charged batteries and a cleared floor. Today has the most driving of any lesson in the course.</a:t>
            </a:r>
          </a:p>
          <a:p>
            <a:r>
              <a:rPr sz="1200">
                <a:latin typeface="Calibri"/>
              </a:rPr>
              <a:t>Tell them at the start that by the end they will be running the same program that leaves the factory on a finished vehicle. It changes how they read it.</a:t>
            </a:r>
          </a:p>
          <a:p>
            <a:r>
              <a:rPr sz="1200">
                <a:latin typeface="Calibri"/>
              </a:rPr>
              <a:t>If you are racing at the end, tape the course out before the class starts.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Objective two - write the millis() pattern from memory - is a genuine test. Come back to it in the quiz.</a:t>
            </a:r>
          </a:p>
          <a:p>
            <a:r>
              <a:rPr sz="1200">
                <a:latin typeface="Calibri"/>
              </a:rPr>
              <a:t>The last objective ties the whole term together: they calculated a speed in Lesson 2, and today they find out whether they were right.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Two minutes. Point at each lesson and get one sentence from the room rather than reading it yourself.</a:t>
            </a:r>
          </a:p>
          <a:p>
            <a:r>
              <a:rPr sz="1200">
                <a:latin typeface="Calibri"/>
              </a:rPr>
              <a:t>The note is the promise for today. Say it and then deliver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Two breaks. The racing is at 2:35, and it will overrun if you let it - protect the last five minutes for where the course goes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distinction on the lead line is the whole lesson: delay() does not wait, it stops.</a:t>
            </a:r>
          </a:p>
          <a:p>
            <a:r>
              <a:rPr sz="1200">
                <a:latin typeface="Calibri"/>
              </a:rPr>
              <a:t>Give the concrete numbers: a turn signal every 300 ms, a scanner every 40 ms, the motors as fast as possible. Ask them to write those as delays and watch it fall apart.</a:t>
            </a:r>
          </a:p>
          <a:p>
            <a:r>
              <a:rPr sz="1200">
                <a:latin typeface="Calibri"/>
              </a:rPr>
              <a:t>The old System Test story is worth telling. A real program, a real freeze, and a real reason it was replaced.</a:t>
            </a:r>
          </a:p>
          <a:p>
            <a:r>
              <a:rPr sz="1200">
                <a:latin typeface="Calibri"/>
              </a:rPr>
              <a:t>This is the difference between something that works on the bench and something that works on a vehicle.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The distinction on the lead line is the whole lesson: delay() does not wait, it stops.</a:t>
            </a:r>
          </a:p>
          <a:p>
            <a:r>
              <a:rPr sz="1200">
                <a:latin typeface="Calibri"/>
              </a:rPr>
              <a:t>Give the concrete numbers: a turn signal every 300 ms, a scanner every 40 ms, the motors as fast as possible. Ask them to write those as delays and watch it fall apart.</a:t>
            </a:r>
          </a:p>
          <a:p>
            <a:r>
              <a:rPr sz="1200">
                <a:latin typeface="Calibri"/>
              </a:rPr>
              <a:t>The old System Test story is worth telling. A real program, a real freeze, and a real reason it was replaced.</a:t>
            </a:r>
          </a:p>
          <a:p>
            <a:r>
              <a:rPr sz="1200">
                <a:latin typeface="Calibri"/>
              </a:rPr>
              <a:t>This is the difference between something that works on the bench and something that works on a vehicle.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the slide that explains the whole of Lesson 5. Do not rush it.</a:t>
            </a:r>
          </a:p>
          <a:p>
            <a:r>
              <a:rPr sz="1200">
                <a:latin typeface="Calibri"/>
              </a:rPr>
              <a:t>Two jobs at different rates cannot both be done with delay(). Draw the two timelines on the board and let them see the collision.</a:t>
            </a:r>
          </a:p>
          <a:p>
            <a:r>
              <a:rPr sz="1200">
                <a:latin typeface="Calibri"/>
              </a:rPr>
              <a:t>millis() is not a timer you start. It is a clock that has been running since power-up, and all you ever do is subtract.</a:t>
            </a:r>
          </a:p>
          <a:p>
            <a:r>
              <a:rPr sz="1200">
                <a:latin typeface="Calibri"/>
              </a:rPr>
              <a:t>Subtracting rather than comparing is what survives the wrap at 49 days. Mention it, do not dwell on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Four lines. Get them to copy it into a notebook, because they will write it from memory in the quiz.</a:t>
            </a:r>
          </a:p>
          <a:p>
            <a:r>
              <a:rPr sz="1200">
                <a:latin typeface="Calibri"/>
              </a:rPr>
              <a:t>millis() is not a timer you start - it has been running since power-up, and all you ever do is subtract.</a:t>
            </a:r>
          </a:p>
          <a:p>
            <a:r>
              <a:rPr sz="1200">
                <a:latin typeface="Calibri"/>
              </a:rPr>
              <a:t>Each job needs its OWN lastRun variable. That is the bit people get wrong when they first try it.</a:t>
            </a:r>
          </a:p>
          <a:p>
            <a:r>
              <a:rPr sz="1200">
                <a:latin typeface="Calibri"/>
              </a:rPr>
              <a:t>unsigned long matters: an int overflows in under an hour. Subtracting rather than comparing is also what survives the wrap at 49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First of four.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loop counter is the star of this activity. Get the number written down before step 3, or the comparison means nothing.</a:t>
            </a:r>
          </a:p>
          <a:p>
            <a:r>
              <a:rPr sz="1200">
                <a:latin typeface="Calibri"/>
              </a:rPr>
              <a:t>Step 4 is the demonstration: one delay, and a counter in the tens of thousands falls to 1.</a:t>
            </a:r>
          </a:p>
          <a:p>
            <a:r>
              <a:rPr sz="1200">
                <a:latin typeface="Calibri"/>
              </a:rPr>
              <a:t>Step 6 - a third light on its own timer without touching the other two - is the proof they have understood the pattern.</a:t>
            </a:r>
          </a:p>
          <a:p>
            <a:r>
              <a:rPr sz="1200">
                <a:latin typeface="Calibri"/>
              </a:rPr>
              <a:t>Nothing moves in this one, so no blocks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Do the arithmetic out loud: loop() runs tens of thousands of times a second, a finger holds a button for about a tenth of a second.</a:t>
            </a:r>
          </a:p>
          <a:p>
            <a:r>
              <a:rPr sz="1200">
                <a:latin typeface="Calibri"/>
              </a:rPr>
              <a:t>So one press is thousands of trips round the loop, and the naive version flips the lights thousands of times. Whether they end up on or off is luck.</a:t>
            </a:r>
          </a:p>
          <a:p>
            <a:r>
              <a:rPr sz="1200">
                <a:latin typeface="Calibri"/>
              </a:rPr>
              <a:t>The level is not the event. That sentence is worth writing on the board.</a:t>
            </a:r>
          </a:p>
          <a:p>
            <a:r>
              <a:rPr sz="1200">
                <a:latin typeface="Calibri"/>
              </a:rPr>
              <a:t>To find an edge you must remember what it was doing last time. That is the whole of justPressed().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Two of four.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sketch ships with a deliberately broken button next to a correct one. That is on purpose - do not let anybody fix it.</a:t>
            </a:r>
          </a:p>
          <a:p>
            <a:r>
              <a:rPr sz="1200">
                <a:latin typeface="Calibri"/>
              </a:rPr>
              <a:t>Step 4 is the moment: one press, hundreds of reported changes.</a:t>
            </a:r>
          </a:p>
          <a:p>
            <a:r>
              <a:rPr sz="1200">
                <a:latin typeface="Calibri"/>
              </a:rPr>
              <a:t>The broken version sometimes appears to work because an odd number of flips lands on the answer you wanted. Pure luck.</a:t>
            </a:r>
          </a:p>
          <a:p>
            <a:r>
              <a:rPr sz="1200">
                <a:latin typeface="Calibri"/>
              </a:rPr>
              <a:t>The &amp; in bool &amp;wasDown is a reference, so the function can update the caller's variable. Worth two minutes - it is their first reference.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State is the word for it. A variable that survives from one pass to the next is what makes a program feel like it has a mind.</a:t>
            </a:r>
          </a:p>
          <a:p>
            <a:r>
              <a:rPr sz="1200">
                <a:latin typeface="Calibri"/>
              </a:rPr>
              <a:t>Read the six down. Ask which ones a driver can change and which the program works out for itself.</a:t>
            </a:r>
          </a:p>
          <a:p>
            <a:r>
              <a:rPr sz="1200">
                <a:latin typeface="Calibri"/>
              </a:rPr>
              <a:t>lightsChanged is the odd one out and gets its own slide next. Flag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Do the arithmetic: about a millisecond to push 32 LEDs out, tens of thousands of loops a second. Redrawing every pass wastes almost everything.</a:t>
            </a:r>
          </a:p>
          <a:p>
            <a:r>
              <a:rPr sz="1200">
                <a:latin typeface="Calibri"/>
              </a:rPr>
              <a:t>The dirty flag idea is worth naming properly, because it turns up in graphics engines, spreadsheets and web browsers.</a:t>
            </a:r>
          </a:p>
          <a:p>
            <a:r>
              <a:rPr sz="1200">
                <a:latin typeface="Calibri"/>
              </a:rPr>
              <a:t>Anywhere redrawing is expensive, something is keeping track of what actually changed. That is a genuinely transferable idea.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lights are not on a button. They follow what the vehicle is already doing, which is how a real car works.</a:t>
            </a:r>
          </a:p>
          <a:p>
            <a:r>
              <a:rPr sz="1200">
                <a:latin typeface="Calibri"/>
              </a:rPr>
              <a:t>Introduce enum properly. A named list of the states something can be in, which the compiler can check and a human can read.</a:t>
            </a:r>
          </a:p>
          <a:p>
            <a:r>
              <a:rPr sz="1200">
                <a:latin typeface="Calibri"/>
              </a:rPr>
              <a:t>The else-if chain means exactly one pattern wins, and driving forward beats turning. Ask whether they agree with that priority.</a:t>
            </a:r>
          </a:p>
          <a:p>
            <a:r>
              <a:rPr sz="1200">
                <a:latin typeface="Calibri"/>
              </a:rPr>
              <a:t>The last two lines are the dirty flag again - only set it if something actually changed.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Three of four.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Blocks first, every time. Then the floor.</a:t>
            </a:r>
          </a:p>
          <a:p>
            <a:r>
              <a:rPr sz="1200">
                <a:latin typeface="Calibri"/>
              </a:rPr>
              <a:t>Step 2 is the payoff for the whole term. Let them drive for a few minutes before you push them on to step 5.</a:t>
            </a:r>
          </a:p>
          <a:p>
            <a:r>
              <a:rPr sz="1200">
                <a:latin typeface="Calibri"/>
              </a:rPr>
              <a:t>Step 5 - blinking turn signals - is the exercise that proves they can use millis(). Anybody who reaches for delay() will feel the vehicle stutter immediately, which is the best possible feedback.</a:t>
            </a:r>
          </a:p>
          <a:p>
            <a:r>
              <a:rPr sz="1200">
                <a:latin typeface="Calibri"/>
              </a:rPr>
              <a:t>The amber only appears on one side because the pattern picks a side from the sign of the turn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Blocks first, every time. Then the floor.</a:t>
            </a:r>
          </a:p>
          <a:p>
            <a:r>
              <a:rPr sz="1200">
                <a:latin typeface="Calibri"/>
              </a:rPr>
              <a:t>Step 2 is the payoff for the whole term. Let them drive for a few minutes before you push them on to step 5.</a:t>
            </a:r>
          </a:p>
          <a:p>
            <a:r>
              <a:rPr sz="1200">
                <a:latin typeface="Calibri"/>
              </a:rPr>
              <a:t>Step 5 - blinking turn signals - is the exercise that proves they can use millis(). Anybody who reaches for delay() will feel the vehicle stutter immediately, which is the best possible feedback.</a:t>
            </a:r>
          </a:p>
          <a:p>
            <a:r>
              <a:rPr sz="1200">
                <a:latin typeface="Calibri"/>
              </a:rPr>
              <a:t>The amber only appears on one side because the pattern picks a side from the sign of the turn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Forty-five minutes on the real program. Have it open on the projector.</a:t>
            </a:r>
          </a:p>
          <a:p>
            <a:r>
              <a:rPr sz="1200">
                <a:latin typeface="Calibri"/>
              </a:rPr>
              <a:t>Frame it honestly: they already wrote most of this. Today is about the last few pieces and about reading the whole 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Go down the right-hand column and let them realise how much of it they recognise. That is the point of the table.</a:t>
            </a:r>
          </a:p>
          <a:p>
            <a:r>
              <a:rPr sz="1200">
                <a:latin typeface="Calibri"/>
              </a:rPr>
              <a:t>Only four rows say New today. Everything else is theirs already.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A servo does not listen to voltage, or to duty in the way a motor does. It listens to how LONG the pulse is, and it wants one every 20 ms.</a:t>
            </a:r>
          </a:p>
          <a:p>
            <a:r>
              <a:rPr sz="1200">
                <a:latin typeface="Calibri"/>
              </a:rPr>
              <a:t>1.0 ms is one end, 1.5 ms is center, 2.0 ms is the other end. Those three numbers are the whole protocol.</a:t>
            </a:r>
          </a:p>
          <a:p>
            <a:r>
              <a:rPr sz="1200">
                <a:latin typeface="Calibri"/>
              </a:rPr>
              <a:t>The ESP32 counts duty, not microseconds, so the program has to convert. Walk the arithmetic once, slowly.</a:t>
            </a:r>
          </a:p>
          <a:p>
            <a:r>
              <a:rPr sz="1200">
                <a:latin typeface="Calibri"/>
              </a:rPr>
              <a:t>Continuous-rotation servos read the same pulse as a SPEED rather than a position. Worth flagging before somebody buys the wrong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Have the pan and tilt unit on the desk if you have one. It is much more convincing in the hand.</a:t>
            </a:r>
          </a:p>
          <a:p>
            <a:r>
              <a:rPr sz="1200">
                <a:latin typeface="Calibri"/>
              </a:rPr>
              <a:t>The one-direction-per-servo scheme surprises people. Draw the stick on the board and mark which servo owns which push.</a:t>
            </a:r>
          </a:p>
          <a:p>
            <a:r>
              <a:rPr sz="1200">
                <a:latin typeface="Calibri"/>
              </a:rPr>
              <a:t>The continuous-rotation warning is the practical one. Somebody will buy the wrong kind and wonder why it never stops.</a:t>
            </a:r>
          </a:p>
          <a:p>
            <a:r>
              <a:rPr sz="1200">
                <a:latin typeface="Calibri"/>
              </a:rPr>
              <a:t>This is where the range finder goes in the projects list a few slides from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scanner is the same idea as Lesson 4 with delay() taken out. Ask them what had to change - the answer is a lastMove variable and a millis() test.</a:t>
            </a:r>
          </a:p>
          <a:p>
            <a:r>
              <a:rPr sz="1200">
                <a:latin typeface="Calibri"/>
              </a:rPr>
              <a:t>Sharp steering is a design choice they can now evaluate rather than just accept. Ask which mode they would want by default.</a:t>
            </a:r>
          </a:p>
          <a:p>
            <a:r>
              <a:rPr sz="1200">
                <a:latin typeface="Calibri"/>
              </a:rPr>
              <a:t>The startup light show is the one place delay() is still fine, because nothing else needs to happen yet. Say why explicitly, or it looks like an inconsistency.</a:t>
            </a:r>
          </a:p>
          <a:p>
            <a:r>
              <a:rPr sz="1200">
                <a:latin typeface="Calibri"/>
              </a:rPr>
              <a:t>The SETTINGS block at the top of the file is where everything tunable lives. Show it on the projector.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The scanner is the same idea as Lesson 4 with delay() taken out. Ask them what had to change - the answer is a lastMove variable and a millis() test.</a:t>
            </a:r>
          </a:p>
          <a:p>
            <a:r>
              <a:rPr sz="1200">
                <a:latin typeface="Calibri"/>
              </a:rPr>
              <a:t>Sharp steering is a design choice they can now evaluate rather than just accept. Ask which mode they would want by default.</a:t>
            </a:r>
          </a:p>
          <a:p>
            <a:r>
              <a:rPr sz="1200">
                <a:latin typeface="Calibri"/>
              </a:rPr>
              <a:t>The startup light show is the one place delay() is still fine, because nothing else needs to happen yet. Say why explicitly, or it looks like an inconsistency.</a:t>
            </a:r>
          </a:p>
          <a:p>
            <a:r>
              <a:rPr sz="1200">
                <a:latin typeface="Calibri"/>
              </a:rPr>
              <a:t>The SETTINGS block at the top of the file is where everything tunable lives. Show it on the projector.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Give them the full ten minutes and stay quiet for most of it.</a:t>
            </a:r>
          </a:p>
          <a:p>
            <a:r>
              <a:rPr sz="1200">
                <a:latin typeface="Calibri"/>
              </a:rPr>
              <a:t>The order matters. Vocabulary first, then the skeleton, then the detail - the same habit the advanced course opens with.</a:t>
            </a:r>
          </a:p>
          <a:p>
            <a:r>
              <a:rPr sz="1200">
                <a:latin typeface="Calibri"/>
              </a:rPr>
              <a:t>Pass 2 is the confidence builder. They will recognise STICK_DEADZONE, MOTOR_MAX and the LED count as numbers they have already changed with their own hands.</a:t>
            </a:r>
          </a:p>
          <a:p>
            <a:r>
              <a:rPr sz="1200">
                <a:latin typeface="Calibri"/>
              </a:rPr>
              <a:t>Pass 6 is the assessment. Walk round and ask groups to point at the failsafe. Anybody who can find it has understood Lesson 3.</a:t>
            </a:r>
          </a:p>
          <a:p>
            <a:r>
              <a:rPr sz="1200">
                <a:latin typeface="Calibri"/>
              </a:rPr>
              <a:t>Collect answers out loud before moving on, one pass per group.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Run this straight after the six passes, as a conversation.</a:t>
            </a:r>
          </a:p>
          <a:p>
            <a:r>
              <a:rPr sz="1200">
                <a:latin typeface="Calibri"/>
              </a:rPr>
              <a:t>Answers: the NeoPixel protocol is fussy enough to be worth a library, whereas a motor is two pins and a duty value - ledcWrite is already in the core.</a:t>
            </a:r>
          </a:p>
          <a:p>
            <a:r>
              <a:rPr sz="1200">
                <a:latin typeface="Calibri"/>
              </a:rPr>
              <a:t>The four arguments are how many pixels, which pin, the color order these parts want, and the speed they are clocked at.</a:t>
            </a:r>
          </a:p>
          <a:p>
            <a:r>
              <a:rPr sz="1200">
                <a:latin typeface="Calibri"/>
              </a:rPr>
              <a:t>The deadzone stops a stick that never quite centers from driving the vehicle. At 0 it creeps across the room on its own.</a:t>
            </a:r>
          </a:p>
          <a:p>
            <a:r>
              <a:rPr sz="1200">
                <a:latin typeface="Calibri"/>
              </a:rPr>
              <a:t>An enum because the compiler can check it and a person can read it. LIGHTS_REVERSE says what it means; 3 does not.</a:t>
            </a:r>
          </a:p>
          <a:p>
            <a:r>
              <a:rPr sz="1200">
                <a:latin typeface="Calibri"/>
              </a:rPr>
              <a:t>Four motors, and the two on a side always get the same number - that IS tank steering.</a:t>
            </a:r>
          </a:p>
          <a:p>
            <a:r>
              <a:rPr sz="1200">
                <a:latin typeface="Calibri"/>
              </a:rPr>
              <a:t>The failsafe calls drive(0, 0) and then return, which skips the whole of the rest of loop() and starts it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Last one, and it is the real program.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Step 2 is not optional. Read it before uploading it - that is the habit the whole course has been building.</a:t>
            </a:r>
          </a:p>
          <a:p>
            <a:r>
              <a:rPr sz="1200">
                <a:latin typeface="Calibri"/>
              </a:rPr>
              <a:t>Step 6 is the assessment: three things they have not seen, and what they do. Collect the answers, they are a good measure of the term.</a:t>
            </a:r>
          </a:p>
          <a:p>
            <a:r>
              <a:rPr sz="1200">
                <a:latin typeface="Calibri"/>
              </a:rPr>
              <a:t>The green blink means it is waiting for a controller. They saw showWaitingLights() in the code.</a:t>
            </a:r>
          </a:p>
          <a:p>
            <a:r>
              <a:rPr sz="1200">
                <a:latin typeface="Calibri"/>
              </a:rPr>
              <a:t>Give this the full thirty minutes and circulate. This is the last time they get help before the race.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Step 2 is not optional. Read it before uploading it - that is the habit the whole course has been building.</a:t>
            </a:r>
          </a:p>
          <a:p>
            <a:r>
              <a:rPr sz="1200">
                <a:latin typeface="Calibri"/>
              </a:rPr>
              <a:t>Step 6 is the assessment: three things they have not seen, and what they do. Collect the answers, they are a good measure of the term.</a:t>
            </a:r>
          </a:p>
          <a:p>
            <a:r>
              <a:rPr sz="1200">
                <a:latin typeface="Calibri"/>
              </a:rPr>
              <a:t>The green blink means it is waiting for a controller. They saw showWaitingLights() in the code.</a:t>
            </a:r>
          </a:p>
          <a:p>
            <a:r>
              <a:rPr sz="1200">
                <a:latin typeface="Calibri"/>
              </a:rPr>
              <a:t>Give this the full thirty minutes and circulate. This is the last time they get help before the race.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Calibrate before racing. If you let them race first you will never get them back to the measurement.</a:t>
            </a:r>
          </a:p>
          <a:p>
            <a:r>
              <a:rPr sz="1200">
                <a:latin typeface="Calibri"/>
              </a:rPr>
              <a:t>The comparison with their Lesson 2 calculation is the whole point. Ask each group how close they were before you start the racing.</a:t>
            </a:r>
          </a:p>
          <a:p>
            <a:r>
              <a:rPr sz="1200">
                <a:latin typeface="Calibri"/>
              </a:rPr>
              <a:t>Braking by reversing is the detail that decides the drag race. Half power for a short time is usually right.</a:t>
            </a:r>
          </a:p>
          <a:p>
            <a:r>
              <a:rPr sz="1200">
                <a:latin typeface="Calibri"/>
              </a:rPr>
              <a:t>Keeping it straight is harder than going fast, because only one command runs at a time. Let them discover that.</a:t>
            </a:r>
          </a:p>
          <a:p>
            <a:r>
              <a:rPr sz="1200">
                <a:latin typeface="Calibri"/>
              </a:rPr>
              <a:t>For the course race, two seconds per cone touched keeps it honest.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Calibrate before racing. If you let them race first you will never get them back to the measurement.</a:t>
            </a:r>
          </a:p>
          <a:p>
            <a:r>
              <a:rPr sz="1200">
                <a:latin typeface="Calibri"/>
              </a:rPr>
              <a:t>The comparison with their Lesson 2 calculation is the whole point. Ask each group how close they were before you start the racing.</a:t>
            </a:r>
          </a:p>
          <a:p>
            <a:r>
              <a:rPr sz="1200">
                <a:latin typeface="Calibri"/>
              </a:rPr>
              <a:t>Braking by reversing is the detail that decides the drag race. Half power for a short time is usually right.</a:t>
            </a:r>
          </a:p>
          <a:p>
            <a:r>
              <a:rPr sz="1200">
                <a:latin typeface="Calibri"/>
              </a:rPr>
              <a:t>Keeping it straight is harder than going fast, because only one command runs at a time. Let them discover that.</a:t>
            </a:r>
          </a:p>
          <a:p>
            <a:r>
              <a:rPr sz="1200">
                <a:latin typeface="Calibri"/>
              </a:rPr>
              <a:t>For the course race, two seconds per cone touched keeps it honest.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These are real projects, not filler. Each one is a genuine addition to the program they now understand.</a:t>
            </a:r>
          </a:p>
          <a:p>
            <a:r>
              <a:rPr sz="1200">
                <a:latin typeface="Calibri"/>
              </a:rPr>
              <a:t>The range finder and the servos are the two the kit already has parts for. Point that out - it is the difference between an idea and a plan.</a:t>
            </a:r>
          </a:p>
          <a:p>
            <a:r>
              <a:rPr sz="1200">
                <a:latin typeface="Calibri"/>
              </a:rPr>
              <a:t>If anybody is staying on after the course, get them to pick one today while the enthusiasm is high.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These are real projects, not filler. Each one is a genuine addition to the program they now understand.</a:t>
            </a:r>
          </a:p>
          <a:p>
            <a:r>
              <a:rPr sz="1200">
                <a:latin typeface="Calibri"/>
              </a:rPr>
              <a:t>The range finder and the servos are the two the kit already has parts for. Point that out - it is the difference between an idea and a plan.</a:t>
            </a:r>
          </a:p>
          <a:p>
            <a:r>
              <a:rPr sz="1200">
                <a:latin typeface="Calibri"/>
              </a:rPr>
              <a:t>If anybody is staying on after the course, get them to pick one today while the enthusiasm is high.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Show these AFTER the projects list, not before. The point is that the list is not hypothetical.</a:t>
            </a:r>
          </a:p>
          <a:p>
            <a:r>
              <a:rPr sz="1200">
                <a:latin typeface="Calibri"/>
              </a:rPr>
              <a:t>The arm is servo outputs, which they met earlier today. The range finder is one new sensor and a threshold.</a:t>
            </a:r>
          </a:p>
          <a:p>
            <a:r>
              <a:rPr sz="1200">
                <a:latin typeface="Calibri"/>
              </a:rPr>
              <a:t>Neither needed a different vehicle. That is the message.</a:t>
            </a:r>
          </a:p>
          <a:p>
            <a:r>
              <a:rPr sz="1200">
                <a:latin typeface="Calibri"/>
              </a:rPr>
              <a:t>If either is in the room, get it out and let people handle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Left column is where robotics goes. Right column is the advanced course, which is the same vehicle taken apart properly.</a:t>
            </a:r>
          </a:p>
          <a:p>
            <a:r>
              <a:rPr sz="1200">
                <a:latin typeface="Calibri"/>
              </a:rPr>
              <a:t>Everything they learned this term transfers directly. Say so - the advanced course opens by dismantling this program.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Left column is where robotics goes. Right column is the advanced course, which is the same vehicle taken apart properly.</a:t>
            </a:r>
          </a:p>
          <a:p>
            <a:r>
              <a:rPr sz="1200">
                <a:latin typeface="Calibri"/>
              </a:rPr>
              <a:t>Everything they learned this term transfers directly. Say so - the advanced course opens by dismantling this program.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Left column is where robotics goes. Right column is the advanced course, which is the same vehicle taken apart properly.</a:t>
            </a:r>
          </a:p>
          <a:p>
            <a:r>
              <a:rPr sz="1200">
                <a:latin typeface="Calibri"/>
              </a:rPr>
              <a:t>Everything they learned this term transfers directly. Say so - the advanced course opens by dismantling this program.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These are real quotes from a real panel. Say who the people are, briefly, so the names mean something.</a:t>
            </a:r>
          </a:p>
          <a:p>
            <a:r>
              <a:rPr sz="1200">
                <a:latin typeface="Calibri"/>
              </a:rPr>
              <a:t>The paragraph that matters is the last one: reading someone else's code, changing one thing at a time, measuring instead of guessing, and locating a fault. Those four habits are the job.</a:t>
            </a:r>
          </a:p>
          <a:p>
            <a:r>
              <a:rPr sz="1200">
                <a:latin typeface="Calibri"/>
              </a:rPr>
              <a:t>Finish on the line about the vehicle being the excuse. It is true, and it is the right note to end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Run it as a conversation, and take your time - this is the last thing they do.</a:t>
            </a:r>
          </a:p>
          <a:p>
            <a:r>
              <a:rPr sz="1200">
                <a:latin typeface="Calibri"/>
              </a:rPr>
              <a:t>Answers, in order: delay stops everything, so two different rates cannot both be served; the four-line pattern should be written out and checked; unsigned long because an int overflows in under an hour.</a:t>
            </a:r>
          </a:p>
          <a:p>
            <a:r>
              <a:rPr sz="1200">
                <a:latin typeface="Calibri"/>
              </a:rPr>
              <a:t>Edge detection catches the moment a button goes down; without it one press registers thousands of times. A dirty flag saves redrawing the strip when nothing changed.</a:t>
            </a:r>
          </a:p>
          <a:p>
            <a:r>
              <a:rPr sz="1200">
                <a:latin typeface="Calibri"/>
              </a:rPr>
              <a:t>A servo centers on a 1.5 ms pulse, sent every 20 ms.</a:t>
            </a:r>
          </a:p>
          <a:p>
            <a:r>
              <a:rPr sz="1200">
                <a:latin typeface="Calibri"/>
              </a:rPr>
              <a:t>For question 8: mechanically, one motor weaker or a wheel dragging; in software, a small turn correction added to the straight-line command.</a:t>
            </a:r>
          </a:p>
          <a:p>
            <a:r>
              <a:rPr sz="1200">
                <a:latin typeface="Calibri"/>
              </a:rPr>
              <a:t>Thank them properly, and mean the last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orpois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2762" y="457200"/>
            <a:ext cx="766013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1051560"/>
            <a:ext cx="6492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649224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defRPr sz="4000" b="1">
                <a:solidFill>
                  <a:srgbClr val="1F3A5F"/>
                </a:solidFill>
                <a:latin typeface="Calibri"/>
              </a:defRPr>
            </a:pPr>
            <a:r>
              <a:rPr sz="4000" b="1">
                <a:solidFill>
                  <a:srgbClr val="1F3A5F"/>
                </a:solidFill>
                <a:latin typeface="Calibri"/>
              </a:rPr>
              <a:t>Maneuvers with Lights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54680"/>
            <a:ext cx="64922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Non-blocking timing, edge detection, and the full pathfinder_ps3 program.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931920"/>
            <a:ext cx="6492240" cy="2148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PORPOISE ROBOTICS  -  Precision Oceanographic Program On and In the Sea Environment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porpoiserobotics.org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Kevin Bowen, President  -  kbowen6@icloud.com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Malcom Graham, VP Education      Louis Parker, VP Technology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Valen Farre, System Engineer      Gary Howland, Animation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Eddie Revollo, Artificial Intelligence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Interns: Oscar Canazales, Krishnansh Vemulapalli, Soham Gangal, Erik Olsen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Three hours.  Bring a charged battery.</a:t>
            </a:r>
          </a:p>
        </p:txBody>
      </p:sp>
      <p:pic>
        <p:nvPicPr>
          <p:cNvPr id="8" name="Picture 7" descr="vehicle-side-blue-le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2023110"/>
            <a:ext cx="4480560" cy="33604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144768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Porpoise Robotics - proprietary. For use with Porpoise Robotics lessons.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What you will be able to do by the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By the end of this lesson you will be able to: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11185855" cy="4526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1.   Explain why delay() breaks a program that has to do two things at once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2.   Write the millis() pattern from memory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3.   Detect the edge of a button press, and say what happens without it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4.   Explain what a dirty flag saves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5.   Drive the vehicle with its full lighting behavior running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6.   Calibrate your vehicle's speed and race it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Everything so far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3986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Lesson 1  -  the toolchain, the three parts of a program, digital output, the Serial Monitor.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Lesson 2  -  H-bridges, PWM and duty cycle, tank drive, dead reckoning, and the math that predicts where the vehicle ends up.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Lesson 3  -  Bluetooth, one vehicle per controller, deadzones, map(), mixing, and the failsafe.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Lesson 4  -  addressable LEDs, color and perception, the power budget, the LED map, and four patterns.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Today: two more ideas, and then all of it at once.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By the end of today you will be driving the same program that leaves the factory on a finished vehicle.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Today, in order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8585"/>
                <a:gridCol w="10067269"/>
              </a:tblGrid>
              <a:tr h="457200"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Calibri"/>
                        </a:rPr>
                        <a:t>What we do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0:00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Recap. Why delay() has to go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0:25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Upload l5a_millis_not_delay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0:45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Edge detection. Upload l5b_button_toggle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1:10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BREAK  (10 minutes)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1:20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Driving lights from driving state. Upload l5c_drive_with_lights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1:50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A tour of the full program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2:10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BREAK  (10 minutes)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2:20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Servos, the scanner, and sharp steering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2:35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Calibrate, then race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2:57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Where this course goes next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problem with delay()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It does not wait. It stops.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delay(1000) does not mean "come back in a second". It means "stand here and do absolutely nothing for a second".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While the ESP32 is inside a delay() it is not reading the controller, not checking anything, and not updating any other light. Everything stops.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problem with delay()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3986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In Lesson 2 that was fine, because blinking was all we wanted. But now we need a turn signal every 300 ms, a scanner every 40 ms, and the motors updated as fast as possible - and you cannot write those three numbers as delays without them fighting.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The old System Test program did exactly this. Press a button and the vehicle froze for two seconds while the light pattern played, still holding whatever motor command was last set. That is why it was replaced.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This is the single biggest difference between a program that works on the bench and one that works on a vehicle.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Why the vehicle programs never call delay()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61288"/>
            <a:ext cx="6400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A32A2A"/>
                </a:solidFill>
                <a:latin typeface="Calibri"/>
              </a:defRPr>
            </a:pPr>
            <a:r>
              <a:rPr sz="1800" b="1">
                <a:solidFill>
                  <a:srgbClr val="A32A2A"/>
                </a:solidFill>
                <a:latin typeface="Calibri"/>
              </a:rPr>
              <a:t>with delay()  -  one job, and nothing else runs</a:t>
            </a:r>
          </a:p>
        </p:txBody>
      </p:sp>
      <p:sp>
        <p:nvSpPr>
          <p:cNvPr id="7" name="Rectangle 6"/>
          <p:cNvSpPr/>
          <p:nvPr/>
        </p:nvSpPr>
        <p:spPr>
          <a:xfrm>
            <a:off x="2240280" y="1600200"/>
            <a:ext cx="850392" cy="502920"/>
          </a:xfrm>
          <a:prstGeom prst="rect">
            <a:avLst/>
          </a:prstGeom>
          <a:solidFill>
            <a:srgbClr val="D6ECEE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blink</a:t>
            </a:r>
          </a:p>
        </p:txBody>
      </p:sp>
      <p:sp>
        <p:nvSpPr>
          <p:cNvPr id="8" name="Rectangle 7"/>
          <p:cNvSpPr/>
          <p:nvPr/>
        </p:nvSpPr>
        <p:spPr>
          <a:xfrm>
            <a:off x="3090672" y="1600200"/>
            <a:ext cx="3401568" cy="502920"/>
          </a:xfrm>
          <a:prstGeom prst="rect">
            <a:avLst/>
          </a:prstGeom>
          <a:solidFill>
            <a:srgbClr val="F6D8D8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frozen - delay(1000)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1600200"/>
            <a:ext cx="850392" cy="502920"/>
          </a:xfrm>
          <a:prstGeom prst="rect">
            <a:avLst/>
          </a:prstGeom>
          <a:solidFill>
            <a:srgbClr val="D6ECEE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blink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42632" y="1600200"/>
            <a:ext cx="3401568" cy="502920"/>
          </a:xfrm>
          <a:prstGeom prst="rect">
            <a:avLst/>
          </a:prstGeom>
          <a:solidFill>
            <a:srgbClr val="F6D8D8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frozen - delay(1000)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2167128"/>
            <a:ext cx="850392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A32A2A"/>
                </a:solidFill>
                <a:latin typeface="Calibri"/>
              </a:defRPr>
            </a:pPr>
            <a:r>
              <a:rPr sz="1800" b="0">
                <a:solidFill>
                  <a:srgbClr val="A32A2A"/>
                </a:solidFill>
                <a:latin typeface="Calibri"/>
              </a:rPr>
              <a:t>while it is frozen it is not reading the controller, not checking the battery, and not updating any other light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063239"/>
            <a:ext cx="6400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with millis()  -  many jobs, none of them waiting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557015"/>
            <a:ext cx="16002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0E7C86"/>
                </a:solidFill>
                <a:latin typeface="Calibri"/>
              </a:defRPr>
            </a:pPr>
            <a:r>
              <a:rPr sz="1800" b="0">
                <a:solidFill>
                  <a:srgbClr val="0E7C86"/>
                </a:solidFill>
                <a:latin typeface="Calibri"/>
              </a:rPr>
              <a:t>drive motors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240280" y="3685031"/>
            <a:ext cx="8503920" cy="0"/>
          </a:xfrm>
          <a:prstGeom prst="line">
            <a:avLst/>
          </a:prstGeom>
          <a:ln w="9525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240280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410358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580436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750515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920593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090672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260750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430828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3600907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770985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941064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111142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281220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4451299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4621377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4791456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961534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131612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301691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471769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641848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5811926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5982004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152083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322161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6492240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662318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6832396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7002475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7172553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7342632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7512710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7682788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7852867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8022945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8193024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8363102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8533180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8703259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8873337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9043416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9213494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9383572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9553651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9723729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9893808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10063886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0233964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0404043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0574121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10744200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548640" y="3922775"/>
            <a:ext cx="16002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B46A0F"/>
                </a:solidFill>
                <a:latin typeface="Calibri"/>
              </a:defRPr>
            </a:pPr>
            <a:r>
              <a:rPr sz="1800" b="0">
                <a:solidFill>
                  <a:srgbClr val="B46A0F"/>
                </a:solidFill>
                <a:latin typeface="Calibri"/>
              </a:rPr>
              <a:t>scanner frame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2240280" y="4050791"/>
            <a:ext cx="8503920" cy="0"/>
          </a:xfrm>
          <a:prstGeom prst="line">
            <a:avLst/>
          </a:prstGeom>
          <a:ln w="9525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240280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920593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3600907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4281220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4961534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5641848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6322161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7002475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7682788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8363102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9043416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9723729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0404043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548640" y="4288535"/>
            <a:ext cx="16002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1F3A5F"/>
                </a:solidFill>
                <a:latin typeface="Calibri"/>
              </a:defRPr>
            </a:pPr>
            <a:r>
              <a:rPr sz="1800" b="0">
                <a:solidFill>
                  <a:srgbClr val="1F3A5F"/>
                </a:solidFill>
                <a:latin typeface="Calibri"/>
              </a:rPr>
              <a:t>turn signal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2240280" y="4416551"/>
            <a:ext cx="8503920" cy="0"/>
          </a:xfrm>
          <a:prstGeom prst="line">
            <a:avLst/>
          </a:prstGeom>
          <a:ln w="9525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2240280" y="4306823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3600907" y="4306823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4961534" y="4306823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6322161" y="4306823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7682788" y="4306823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9043416" y="4306823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10404043" y="4306823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48640" y="4654295"/>
            <a:ext cx="16002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battery check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2240280" y="4782311"/>
            <a:ext cx="8503920" cy="0"/>
          </a:xfrm>
          <a:prstGeom prst="line">
            <a:avLst/>
          </a:prstGeom>
          <a:ln w="9525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2240280" y="4672583"/>
            <a:ext cx="0" cy="219456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6492240" y="4672583"/>
            <a:ext cx="0" cy="219456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10744200" y="4672583"/>
            <a:ext cx="0" cy="219456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/>
          <p:cNvSpPr txBox="1"/>
          <p:nvPr/>
        </p:nvSpPr>
        <p:spPr>
          <a:xfrm>
            <a:off x="2240280" y="5093207"/>
            <a:ext cx="850392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0E7C86"/>
                </a:solidFill>
                <a:latin typeface="Calibri"/>
              </a:defRPr>
            </a:pPr>
            <a:r>
              <a:rPr sz="1800" b="0">
                <a:solidFill>
                  <a:srgbClr val="0E7C86"/>
                </a:solidFill>
                <a:latin typeface="Calibri"/>
              </a:rPr>
              <a:t>each job fires on its own schedule, and loop() never stops running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5349240"/>
            <a:ext cx="11185855" cy="658368"/>
          </a:xfrm>
          <a:prstGeom prst="rect">
            <a:avLst/>
          </a:prstGeom>
          <a:solidFill>
            <a:srgbClr val="F4F6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Consolas"/>
              </a:defRPr>
            </a:pPr>
            <a:r>
              <a:rPr sz="1500" b="0">
                <a:solidFill>
                  <a:srgbClr val="222222"/>
                </a:solidFill>
                <a:latin typeface="Consolas"/>
              </a:rPr>
              <a:t>if (millis() - lastTime &gt;= INTERVAL) {  lastTime = millis();  ...do the thing...  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pattern, in four lines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millis() instead of delay()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2000">
                <a:latin typeface="Consolas"/>
              </a:defRPr>
            </a:pPr>
            <a:r>
              <a:rPr sz="2000">
                <a:solidFill>
                  <a:srgbClr val="222222"/>
                </a:solidFill>
                <a:latin typeface="Consolas"/>
              </a:rPr>
              <a:t>unsigned long lastBlink = 0;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2000">
                <a:latin typeface="Consolas"/>
              </a:defRPr>
            </a:pPr>
            <a:r>
              <a:rPr sz="20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2000">
                <a:latin typeface="Consolas"/>
              </a:defRPr>
            </a:pPr>
            <a:r>
              <a:rPr sz="2000">
                <a:solidFill>
                  <a:srgbClr val="222222"/>
                </a:solidFill>
                <a:latin typeface="Consolas"/>
              </a:rPr>
              <a:t>void loop()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2000">
                <a:latin typeface="Consolas"/>
              </a:defRPr>
            </a:pPr>
            <a:r>
              <a:rPr sz="2000" b="1">
                <a:solidFill>
                  <a:srgbClr val="0E7C86"/>
                </a:solidFill>
                <a:latin typeface="Consolas"/>
              </a:rPr>
              <a:t>  if (millis() - lastBlink &gt;= INTERVAL)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2000">
                <a:latin typeface="Consolas"/>
              </a:defRPr>
            </a:pPr>
            <a:r>
              <a:rPr sz="2000" b="1">
                <a:solidFill>
                  <a:srgbClr val="0E7C86"/>
                </a:solidFill>
                <a:latin typeface="Consolas"/>
              </a:rPr>
              <a:t>    lastBlink = millis();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2000">
                <a:latin typeface="Consolas"/>
              </a:defRPr>
            </a:pPr>
            <a:r>
              <a:rPr sz="2000">
                <a:solidFill>
                  <a:srgbClr val="666666"/>
                </a:solidFill>
                <a:latin typeface="Consolas"/>
              </a:rPr>
              <a:t>    // ...do the thing...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2000">
                <a:latin typeface="Consolas"/>
              </a:defRPr>
            </a:pPr>
            <a:r>
              <a:rPr sz="2000">
                <a:solidFill>
                  <a:srgbClr val="222222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2000">
                <a:latin typeface="Consolas"/>
              </a:defRPr>
            </a:pPr>
            <a:r>
              <a:rPr sz="20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2000">
                <a:latin typeface="Consolas"/>
              </a:defRPr>
            </a:pPr>
            <a:r>
              <a:rPr sz="2000">
                <a:solidFill>
                  <a:srgbClr val="666666"/>
                </a:solidFill>
                <a:latin typeface="Consolas"/>
              </a:rPr>
              <a:t>  // ...and everything else keeps running...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2000">
                <a:latin typeface="Consolas"/>
              </a:defRPr>
            </a:pPr>
            <a:r>
              <a:rPr sz="20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millis() returns how many milliseconds the board has been switched on. Reading it costs nothing.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Each job needs its OWN "when did I last run" variable.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unsigned long, because millis() counts past what an int can hold in under an hour.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Subtracting like this also survives the moment millis() wraps back to zero, which happens after 49 days.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exact pattern appears five times in the full vehicle program.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Why delay() has to 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69351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Two speeds at once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9351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35782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Edge detection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02213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Lights from state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68644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The full program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two speeds at once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l5a_millis_not_delay</a:t>
            </a:r>
            <a:r>
              <a:rPr sz="1200">
                <a:solidFill>
                  <a:srgbClr val="FFFFFF"/>
                </a:solidFill>
                <a:latin typeface="Calibri"/>
              </a:rPr>
              <a:t>     (20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1.  Upload it. Two LEDs blink at different rates, and the Serial Monitor counts how many times loop() runs per second.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2.  Write down that number. It is enormous.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3.  Uncomment the delay(1000) at the bottom of loop(). Upload.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4.  Watch both lights break, and watch the loop counter fall to 1.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5.  Comment it back out.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6.  Add a THIRD light on its own timer without touching the other two.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LED 0 blinking once a second, LED 15 blinking about seven times a second, and a very large loop count.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1937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52170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How many times per second does loop() run?</a:t>
            </a:r>
          </a:p>
          <a:p>
            <a:pPr algn="l">
              <a:lnSpc>
                <a:spcPct val="100000"/>
              </a:lnSpc>
              <a:spcAft>
                <a:spcPts val="3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With the delay in place, what is the loop count, and what does that tell you about how much attention the vehicle has left over?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Edge detection: one press, one action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The level is not the event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5364327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loop() runs tens of thousands of times a second. A finger holds a button for about 100 milliseconds - thousands of trips round the loop.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So this is wrong: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if (Ps3.data.button.square) lightsOn = !lightsOn;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It flips the lights thousands of times during ONE press. Whether they end up on or off is pure luck.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755648"/>
            <a:ext cx="5364327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What we want is the MOMENT the button goes down - the edge, not the level. To find an edge you have to remember what it was doing last time round: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bool isNewPress = isDown &amp;&amp; !wasDown;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wasDown = isDown;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That is justPressed(), and the full program uses it for every single button.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Why delay() has to 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69351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Two speeds at once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9351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35782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Edge detection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35782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2213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Lights from state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68644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The full program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see the bug, then the fix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l5b_button_toggle</a:t>
            </a:r>
            <a:r>
              <a:rPr sz="1200">
                <a:solidFill>
                  <a:srgbClr val="FFFFFF"/>
                </a:solidFill>
                <a:latin typeface="Calibri"/>
              </a:rPr>
              <a:t>     (25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1.  Upload it.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2.  Press SQUARE a few times. One press, one change, every time.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3.  Now press TRIANGLE ONCE and read the Serial Monitor.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4.  How many times did one press register?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5.  Hold the good button down for five seconds. Does anything extra happen? Should it?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6.  Change justPressed so it fires on RELEASE instead. Which feels better to use?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The good button toggles the headlights cleanly. The broken one reports flipping the value hundreds or thousands of times.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1937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52170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Why does the broken version sometimes appear to work?</a:t>
            </a:r>
          </a:p>
          <a:p>
            <a:pPr algn="l">
              <a:lnSpc>
                <a:spcPct val="100000"/>
              </a:lnSpc>
              <a:spcAft>
                <a:spcPts val="3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What does the &amp; mean in  bool &amp;wasDown?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State: what the vehicle remembers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Variables that live between passes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A variable that survives from one pass of loop() to the next is STATE. It is what makes a program feel like it has a mind rather than just reflexes.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The vehicle remembers: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lightsOn        -  are the running lights on at all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headlightLevel  -  dim or bright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lightPattern    -  stopped, forward, reverse, left or right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lightsChanged   -  does the strip need redrawing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turnMax         -  normal or sharp steering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scannerOn       -  is the KITT scanner running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That last flag is worth a slide of its own.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Draw only when something changed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The dirty flag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Pushing 32 LEDs out to the strip takes about a millisecond. loop() runs tens of thousands of times a second.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Redrawing every pass would waste most of the vehicle's attention and make the lights flicker.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So the program keeps a flag: lightsChanged.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Anything that would alter the picture sets it to true.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drawing code at the bottom of loop() runs only when it is set, and then clears it.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if (lightsChanged) { lightsChanged = false; showDrivingLights(); }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is called a DIRTY FLAG, and you will find the same idea in graphics engines, spreadsheets and web browsers. Anywhere redrawing is expensive, something is keeping track of what actually changed.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Choosing the lighting picture from what the vehicle is doing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from l5c_drive_with_lights.ino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900">
                <a:latin typeface="Consolas"/>
              </a:defRPr>
            </a:pPr>
            <a:r>
              <a:rPr sz="1900">
                <a:solidFill>
                  <a:srgbClr val="222222"/>
                </a:solidFill>
                <a:latin typeface="Consolas"/>
              </a:rPr>
              <a:t>LightPattern newPattern = LIGHTS_STOPPED;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900">
                <a:latin typeface="Consolas"/>
              </a:defRPr>
            </a:pPr>
            <a:r>
              <a:rPr sz="1900">
                <a:solidFill>
                  <a:srgbClr val="222222"/>
                </a:solidFill>
                <a:latin typeface="Consolas"/>
              </a:rPr>
              <a:t>if      (forward &gt; 0) newPattern = LIGHTS_FORWARD;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900">
                <a:latin typeface="Consolas"/>
              </a:defRPr>
            </a:pPr>
            <a:r>
              <a:rPr sz="1900">
                <a:solidFill>
                  <a:srgbClr val="222222"/>
                </a:solidFill>
                <a:latin typeface="Consolas"/>
              </a:rPr>
              <a:t>else if (forward &lt; 0) newPattern = LIGHTS_REVERSE;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900">
                <a:latin typeface="Consolas"/>
              </a:defRPr>
            </a:pPr>
            <a:r>
              <a:rPr sz="1900">
                <a:solidFill>
                  <a:srgbClr val="222222"/>
                </a:solidFill>
                <a:latin typeface="Consolas"/>
              </a:rPr>
              <a:t>else if (turn &gt; 0)    newPattern = LIGHTS_RIGHT;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900">
                <a:latin typeface="Consolas"/>
              </a:defRPr>
            </a:pPr>
            <a:r>
              <a:rPr sz="1900">
                <a:solidFill>
                  <a:srgbClr val="222222"/>
                </a:solidFill>
                <a:latin typeface="Consolas"/>
              </a:rPr>
              <a:t>else if (turn &lt; 0)    newPattern = LIGHTS_LEFT;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900">
                <a:latin typeface="Consolas"/>
              </a:defRPr>
            </a:pPr>
            <a:r>
              <a:rPr sz="19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900">
                <a:latin typeface="Consolas"/>
              </a:defRPr>
            </a:pPr>
            <a:r>
              <a:rPr sz="1900" b="1">
                <a:solidFill>
                  <a:srgbClr val="0E7C86"/>
                </a:solidFill>
                <a:latin typeface="Consolas"/>
              </a:rPr>
              <a:t>if (newPattern != lightPattern)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900">
                <a:latin typeface="Consolas"/>
              </a:defRPr>
            </a:pPr>
            <a:r>
              <a:rPr sz="1900" b="1">
                <a:solidFill>
                  <a:srgbClr val="0E7C86"/>
                </a:solidFill>
                <a:latin typeface="Consolas"/>
              </a:rPr>
              <a:t>  lightPattern = newPattern;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900">
                <a:latin typeface="Consolas"/>
              </a:defRPr>
            </a:pPr>
            <a:r>
              <a:rPr sz="1900" b="1">
                <a:solidFill>
                  <a:srgbClr val="0E7C86"/>
                </a:solidFill>
                <a:latin typeface="Consolas"/>
              </a:rPr>
              <a:t>  lightsChanged = true;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900">
                <a:latin typeface="Consolas"/>
              </a:defRPr>
            </a:pPr>
            <a:r>
              <a:rPr sz="19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7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The lights are not controlled by a button. They follow what the vehicle is ALREADY doing, which is how a real car works.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An enum is a named list of the states something can be in. Better than 1, 2, 3, 4, 5, because the compiler can check it and you can read it.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The else-if chain means exactly one pattern is chosen. Driving forward wins over turning.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Only if it CHANGED do we set the dirty flag.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Why delay() has to 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69351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Two speeds at once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9351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35782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Edge detection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35782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2213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Lights from 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02213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68644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The full program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drive with lights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l5c_drive_with_lights</a:t>
            </a:r>
            <a:r>
              <a:rPr sz="1200">
                <a:solidFill>
                  <a:srgbClr val="FFFFFF"/>
                </a:solidFill>
                <a:latin typeface="Calibri"/>
              </a:rPr>
              <a:t>     (30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Wheels off the ground. Upload. Check the controls.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Put it down and drive. Watch the lights follow the stick: headlights, tail lights, brake lights when you stop, white in reverse, amber on the side you are turning toward.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900" b="0">
                <a:solidFill>
                  <a:srgbClr val="222222"/>
                </a:solidFill>
                <a:latin typeface="Calibri"/>
              </a:defRPr>
            </a:pPr>
            <a:r>
              <a:rPr sz="2900" b="0">
                <a:solidFill>
                  <a:srgbClr val="222222"/>
                </a:solidFill>
                <a:latin typeface="Calibri"/>
              </a:rPr>
              <a:t>A vehicle that drives and lights itself correctly at the same time, with no stuttering.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1937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52170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Which lines make the brake lights come on?</a:t>
            </a:r>
          </a:p>
          <a:p>
            <a:pPr algn="l">
              <a:lnSpc>
                <a:spcPct val="100000"/>
              </a:lnSpc>
              <a:spcAft>
                <a:spcPts val="3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Why does the amber only appear on one side?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drive with lights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l5c_drive_with_lights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11185855" cy="31729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Press SQUARE to toggle the lights.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D-pad up and down for bright and dim headlights.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Make the turn signals BLINK rather than stay on. Use millis(), not delay(), or the vehicle will stutter.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BECEC"/>
          </a:solidFill>
          <a:ln w="12700">
            <a:solidFill>
              <a:srgbClr val="A3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A32A2A"/>
                </a:solidFill>
                <a:latin typeface="Calibri"/>
              </a:rPr>
              <a:t>SAFETY   </a:t>
            </a:r>
            <a:r>
              <a:rPr sz="1500">
                <a:solidFill>
                  <a:srgbClr val="222222"/>
                </a:solidFill>
                <a:latin typeface="Calibri"/>
              </a:rPr>
              <a:t>Check the controls with the wheels off the ground first.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2194560"/>
            <a:ext cx="256032" cy="1828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The full program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204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45 minutes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pathfinder_ps3  -  what it adds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You have already written most of it. Here is what is left.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91640"/>
          <a:ext cx="11185854" cy="44180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92927"/>
                <a:gridCol w="5592927"/>
              </a:tblGrid>
              <a:tr h="401637">
                <a:tc>
                  <a:txBody>
                    <a:bodyPr/>
                    <a:lstStyle/>
                    <a:p>
                      <a:r>
                        <a:rPr sz="2050" b="1">
                          <a:solidFill>
                            <a:srgbClr val="FFFFFF"/>
                          </a:solidFill>
                          <a:latin typeface="Calibri"/>
                        </a:rPr>
                        <a:t>Feature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50" b="1">
                          <a:solidFill>
                            <a:srgbClr val="FFFFFF"/>
                          </a:solidFill>
                          <a:latin typeface="Calibri"/>
                        </a:rPr>
                        <a:t>Where you have seen it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401637"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Tank drive with mixing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Lesson 3 - l3c_tank_drive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01637"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Deadzone and map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Lesson 3 - l3b_deadzone_and_map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01637"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Failsafe on disconnect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Lesson 3 - the top of loop()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01637"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Headlights, tail, brake, reverse, signals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Lesson 5 - l5c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01637"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The dirty flag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Lesson 5 - l5c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01637"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Edge-detected buttons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Lesson 5 - l5b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01637"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Two servos on the right stick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New today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01637"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The KITT scanner, non-blocking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Lesson 4 - l4c, made non-blocking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01637"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Sharp steering toggle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New today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01642"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A startup light show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New today - it proves every LED works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A servo listens to the LENGTH of a pulse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36192"/>
            <a:ext cx="1463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0E7C86"/>
                </a:solidFill>
                <a:latin typeface="Consolas"/>
              </a:defRPr>
            </a:pPr>
            <a:r>
              <a:rPr sz="1800" b="1">
                <a:solidFill>
                  <a:srgbClr val="0E7C86"/>
                </a:solidFill>
                <a:latin typeface="Consolas"/>
              </a:rPr>
              <a:t>1.0 ms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057400" y="1975104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2057400" y="1444752"/>
            <a:ext cx="0" cy="530352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057400" y="1444752"/>
            <a:ext cx="3657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423160" y="1444752"/>
            <a:ext cx="0" cy="530352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560320" y="1499616"/>
            <a:ext cx="4114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one end of the travel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560320"/>
            <a:ext cx="1463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onsolas"/>
              </a:defRPr>
            </a:pPr>
            <a:r>
              <a:rPr sz="1800" b="1">
                <a:solidFill>
                  <a:srgbClr val="1F3A5F"/>
                </a:solidFill>
                <a:latin typeface="Consolas"/>
              </a:rPr>
              <a:t>1.5 ms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057400" y="2999232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2057400" y="2468880"/>
            <a:ext cx="0" cy="530352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057400" y="2468880"/>
            <a:ext cx="548640" cy="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606040" y="2468880"/>
            <a:ext cx="0" cy="530352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743200" y="2523744"/>
            <a:ext cx="4114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centerd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584448"/>
            <a:ext cx="1463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B46A0F"/>
                </a:solidFill>
                <a:latin typeface="Consolas"/>
              </a:defRPr>
            </a:pPr>
            <a:r>
              <a:rPr sz="1800" b="1">
                <a:solidFill>
                  <a:srgbClr val="B46A0F"/>
                </a:solidFill>
                <a:latin typeface="Consolas"/>
              </a:rPr>
              <a:t>2.0 ms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057400" y="4023360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2057400" y="3493008"/>
            <a:ext cx="0" cy="530352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057400" y="3493008"/>
            <a:ext cx="731520" cy="0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788920" y="3493008"/>
            <a:ext cx="0" cy="530352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926080" y="3547872"/>
            <a:ext cx="4114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other end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57400" y="4517136"/>
            <a:ext cx="73152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the whole cycle is 20 ms, repeated 50 times a second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010911"/>
            <a:ext cx="11185855" cy="777240"/>
          </a:xfrm>
          <a:prstGeom prst="rect">
            <a:avLst/>
          </a:prstGeom>
          <a:solidFill>
            <a:srgbClr val="F4F6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The ESP32 counts duty, not microseconds. At 16-bit resolution one 20 ms cycle is 65536 counts: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duty = microseconds * 65536 / 20000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What the servo outputs are for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6345753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There are four servo headers on the top plate, and the full program drives them from the RIGHT stick.</a:t>
            </a: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Each servo owns one direction of the stick, so one stick aims four independent things and each sits centerd when the stick is not pushed its way.</a:t>
            </a: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pan and tilt mount is the obvious first use: two servos, one for left and right and one for up and down, with a camera or a range finder on top.</a:t>
            </a: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Watch out for which kind you have. A standard servo takes a position, plus or minus 180 degrees. A CONTINUOUS ROTATION servo reads the same pulse as a SPEED and will just keep turning.</a:t>
            </a:r>
          </a:p>
        </p:txBody>
      </p:sp>
      <p:pic>
        <p:nvPicPr>
          <p:cNvPr id="7" name="Picture 6" descr="vehicle-with-pan-ti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4433" y="1431082"/>
            <a:ext cx="4474342" cy="33557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214433" y="4841702"/>
            <a:ext cx="4474342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Two servos, driven from opposite sides of the vehicle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last two additions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  <a:r>
              <a:rPr sz="2400" b="0">
                <a:solidFill>
                  <a:srgbClr val="222222"/>
                </a:solidFill>
                <a:latin typeface="Calibri"/>
              </a:rPr>
              <a:t>THE KITT SCANNER, done properly.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  <a:r>
              <a:rPr sz="2400" b="0">
                <a:solidFill>
                  <a:srgbClr val="222222"/>
                </a:solidFill>
                <a:latin typeface="Calibri"/>
              </a:rPr>
              <a:t>The version in Lesson 4 used delay(), so the vehicle froze while it swept. The full program moves the dot one step every 40 ms off millis(), so you can drive with the scanner running.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  <a:r>
              <a:rPr sz="2400" b="0">
                <a:solidFill>
                  <a:srgbClr val="222222"/>
                </a:solidFill>
                <a:latin typeface="Calibri"/>
              </a:rPr>
              <a:t>Toggled with TRIANGLE.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  <a:r>
              <a:rPr sz="2400" b="0">
                <a:solidFill>
                  <a:srgbClr val="222222"/>
                </a:solidFill>
                <a:latin typeface="Calibri"/>
              </a:rPr>
              <a:t>SHARP STEERING.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  <a:r>
              <a:rPr sz="2400" b="0">
                <a:solidFill>
                  <a:srgbClr val="222222"/>
                </a:solidFill>
                <a:latin typeface="Calibri"/>
              </a:rPr>
              <a:t>turnMax is normally MOTOR_MAX / 2, which makes the vehicle easy to aim. L3 (click the left stick in) flips it to full power, for spinning on the spot.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  <a:r>
              <a:rPr sz="2400" b="0">
                <a:solidFill>
                  <a:srgbClr val="222222"/>
                </a:solidFill>
                <a:latin typeface="Calibri"/>
              </a:rPr>
              <a:t>The bottom of the range stays the same in both modes, so a gentle turn still breaks the wheels loose.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last two additions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3986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THE STARTUP LIGHT SHOW.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One scanner sweep at power-up. delay() is fine THERE, because nothing else needs to happen yet - and it proves every LED works before you drive off.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Read the top of the file. Every setting you might want to change is in the SETTINGS block, with a comment saying what it does.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Putting it all together  -  read pathfinder_ps3 in six passes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Six passes, ten minutes, in your groups. Do not start at line one and read to the end - it is the slowest way in.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91640"/>
          <a:ext cx="11185854" cy="29146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3516"/>
                <a:gridCol w="4677721"/>
                <a:gridCol w="5694617"/>
              </a:tblGrid>
              <a:tr h="41637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What you are reading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Ask yourself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41637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The header comment and the #includes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What does each library bring in, and which lesson met it?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1637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The SETTINGS block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Which numbers here did you change in an earlier lesson?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1637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The state variables and the LightPattern enum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Which of these survive between passes of loop(), and why?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1637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stickToSpeed(), drive() and setMotor()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Where does the deadzone go, and where does map() stretch what is left?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1637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setup()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Why are the motors set up before the LEDs, and the radio last?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16382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loop(), top to bottom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Find the failsafe, the button edges, the mixing, and the one place the lights are drawn.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This is the same order you would use on any program you did not write: what it depends on, what it can be tuned to do, what it remembers, then how it works.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Six things to be able to explain before you upload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666666"/>
                </a:solidFill>
                <a:latin typeface="Calibri"/>
              </a:defRPr>
            </a:pPr>
            <a:r>
              <a:rPr sz="1500" b="0">
                <a:solidFill>
                  <a:srgbClr val="666666"/>
                </a:solidFill>
                <a:latin typeface="Calibri"/>
              </a:rPr>
              <a:t>You have written or read every one of these in an earlier lesson. This is the point where they are all in one file.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11185855" cy="4599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1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1.  Why does the program #include a NeoPixel library but not a motor library?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2.  strip(LED_COUNT, LED_PIN, NEO_GRB + NEO_KHZ800) - what is each of those four things telling the library?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3.  What is STICK_DEADZONE for, and what would the vehicle do if it were 0?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4.  enum LightPattern lists five values. Why an enum rather than the numbers 1 to 5?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5.  drive() calls setMotor() four times. Why four, and why do two of them get the same number?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6.  Find the four lines that stop the motors when the controller drops. What happens to the rest of loop() when they run?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Why delay() has to 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69351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Two speeds at once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9351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35782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Edge detection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35782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2213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Lights from 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02213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68644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The full program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68644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the real thing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pathfinder_ps3</a:t>
            </a:r>
            <a:r>
              <a:rPr sz="1200">
                <a:solidFill>
                  <a:srgbClr val="FFFFFF"/>
                </a:solidFill>
                <a:latin typeface="Calibri"/>
              </a:rPr>
              <a:t>     (30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Open pathfinder_ps3.ino.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READ IT FIRST. You will recognise almost all of it.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Set PS3_MAC_ADDRESS to your vehicle's address.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A startup sweep, then a green blink while it waits, then full driving with lights, servos and the scanner.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1937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52170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700" b="0">
                <a:solidFill>
                  <a:srgbClr val="222222"/>
                </a:solidFill>
                <a:latin typeface="Calibri"/>
              </a:defRPr>
            </a:pPr>
            <a:r>
              <a:rPr sz="2700" b="0">
                <a:solidFill>
                  <a:srgbClr val="222222"/>
                </a:solidFill>
                <a:latin typeface="Calibri"/>
              </a:rPr>
              <a:t>What does the green blink mean?</a:t>
            </a:r>
          </a:p>
          <a:p>
            <a:pPr algn="l">
              <a:lnSpc>
                <a:spcPct val="100000"/>
              </a:lnSpc>
              <a:spcAft>
                <a:spcPts val="300"/>
              </a:spcAft>
              <a:defRPr sz="2700" b="0">
                <a:solidFill>
                  <a:srgbClr val="222222"/>
                </a:solidFill>
                <a:latin typeface="Calibri"/>
              </a:defRPr>
            </a:pPr>
            <a:r>
              <a:rPr sz="2700" b="0">
                <a:solidFill>
                  <a:srgbClr val="222222"/>
                </a:solidFill>
                <a:latin typeface="Calibri"/>
              </a:rPr>
              <a:t>What are the three things you found?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the real thing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pathfinder_ps3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11185855" cy="31729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Wheels off the ground. Upload. Check every control.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Put it down and drive properly.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Find three things in the file you have NOT seen before, and work out what they 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BECEC"/>
          </a:solidFill>
          <a:ln w="12700">
            <a:solidFill>
              <a:srgbClr val="A3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A32A2A"/>
                </a:solidFill>
                <a:latin typeface="Calibri"/>
              </a:rPr>
              <a:t>SAFETY   </a:t>
            </a:r>
            <a:r>
              <a:rPr sz="1500">
                <a:solidFill>
                  <a:srgbClr val="222222"/>
                </a:solidFill>
                <a:latin typeface="Calibri"/>
              </a:rPr>
              <a:t>Wheels off the ground until every control is checked.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Calibrate, then race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Measure first. Then argue about who is fastest.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CALIBRATE FIRST.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Mark a start and a finish line with tape. Measure the distance.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Drive it flat out and time it. Speed = distance / time.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Compare with the number you calculated in Lesson 2. Were you right?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DRAG RACE.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Two or three vehicles side by side. First across the line INSIDE the lane wins - leaving the lane does not count.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Straight-line speed is not the whole problem. Keeping it straight is, because only one command runs at a time.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You can only brake by reversing. Half power for a short time is usually right.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Calibrate, then race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COURSE RACE.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Tape out a course with corners. Now sharp steering earns its keep.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Fastest clean lap. Touching a cone costs you two seconds.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Take it further  -  projects that fit on this vehicle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2800" b="0">
                <a:solidFill>
                  <a:srgbClr val="222222"/>
                </a:solidFill>
                <a:latin typeface="Calibri"/>
              </a:defRPr>
            </a:pPr>
            <a:r>
              <a:rPr sz="2800" b="0">
                <a:solidFill>
                  <a:srgbClr val="222222"/>
                </a:solidFill>
                <a:latin typeface="Calibri"/>
              </a:rPr>
              <a:t>Each of these is a real addition to the program you now understand. Pick one and build it.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2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2800" b="0">
                <a:solidFill>
                  <a:srgbClr val="222222"/>
                </a:solidFill>
                <a:latin typeface="Calibri"/>
              </a:defRPr>
            </a:pPr>
            <a:r>
              <a:rPr sz="2800" b="0">
                <a:solidFill>
                  <a:srgbClr val="222222"/>
                </a:solidFill>
                <a:latin typeface="Calibri"/>
              </a:rPr>
              <a:t>LOW BATTERY WARNING.  Flash the LEDs yellow below 12 volts and red below 10. A 4S pack should never be run flat, and the vehicle is in a better position to notice than you are.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2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2800" b="0">
                <a:solidFill>
                  <a:srgbClr val="222222"/>
                </a:solidFill>
                <a:latin typeface="Calibri"/>
              </a:defRPr>
            </a:pPr>
            <a:r>
              <a:rPr sz="2800" b="0">
                <a:solidFill>
                  <a:srgbClr val="222222"/>
                </a:solidFill>
                <a:latin typeface="Calibri"/>
              </a:rPr>
              <a:t>COLLISION WARNING.  An ultrasonic range finder on the top plate. Closer than 20 inches: stop the motors, flash red, wait three seconds, then carry on.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600" b="1">
                <a:solidFill>
                  <a:srgbClr val="1F3A5F"/>
                </a:solidFill>
                <a:latin typeface="Calibri"/>
              </a:defRPr>
            </a:pPr>
            <a:r>
              <a:rPr sz="2600" b="1">
                <a:solidFill>
                  <a:srgbClr val="1F3A5F"/>
                </a:solidFill>
                <a:latin typeface="Calibri"/>
              </a:rPr>
              <a:t>Take it further  -  projects that fit on this vehicle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3986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AUTOMATIC LIGHTS.  You already switch the turn signals from the stick. Add reversing beeps, hazard lights, or headlights that come on only when the vehicle is moving.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WAYPOINT NAVIGATION.  Lesson 2 drove one square. Give the program a LIST of moves - distance and heading - and drive a course you typed in rather than one that was hard-coded.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SERVO PAN AND TILT.  Two servos and a bracket, aimed with the right stick. The mount points are already on the top plate.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All five are within reach of what you learned in five lessons. The range finder and the servos are the two the kit already has parts for.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Two of those, already built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Both of these are the same vehicle you have been driving, with something bolted to the top plate and a few hundred lines added to the program.</a:t>
            </a:r>
          </a:p>
        </p:txBody>
      </p:sp>
      <p:pic>
        <p:nvPicPr>
          <p:cNvPr id="7" name="Picture 6" descr="vehicle-with-ar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351" y="1810512"/>
            <a:ext cx="4901184" cy="3675888"/>
          </a:xfrm>
          <a:prstGeom prst="rect">
            <a:avLst/>
          </a:prstGeom>
        </p:spPr>
      </p:pic>
      <p:pic>
        <p:nvPicPr>
          <p:cNvPr id="8" name="Picture 7" descr="robot-arm-6dof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6650" y="1810512"/>
            <a:ext cx="3654201" cy="367588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5559552"/>
            <a:ext cx="5410047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A gripper arm on the top plate, driven from the servo headers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5559552"/>
            <a:ext cx="5410047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The same idea taken further: six joints, six servos, one program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this goes next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Straight on from here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SENSORS - a range finder that stops the vehicle before it hits something, line followers, light and temperature.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Once the vehicle can sense the world, dead reckoning stops being the only way it knows where it 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The advanced program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Pathfinder_Op_Program12 is the same vehicle with: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program split across eight files by subsystem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10-bit PWM and hybrid drive for finer low-speed control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speed ramping, so it does not lurch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serial console for tuning without recompiling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settings saved to EEPROM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this goes next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Straight on from here (cont.)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VEHICLE TO VEHICLE - ESP-NOW lets ESP32s talk directly to each other with no router in between.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CAMERAS AND AI - object recognition, and a 6-DOF arm that picks things 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The advanced program (cont.)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current sensor and a powered self-test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this goes next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The advanced program (cont.)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1700784"/>
            <a:ext cx="5364327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It is a five-lesson course of its own.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Everything you learned this term transfers directly. The advanced course starts by taking this program apart.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Why this is worth your time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Robotics and STEM, and where they lead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5364327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At Oceanology International Americas in San Diego, we asked a panel what the transition opportunities are: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Dr Rick Spinrad, NOAA Administrator, said a knowledge of robotics and STEM is a competitive advantage for entry-level positions.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Rear Admiral Ron Piret, USN, said they are looking for students with robotics and STEM education for operational careers.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755648"/>
            <a:ext cx="5364327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Kendra MacDonald, CEO of Canada's Ocean Supercluster, said that whether you become a doctor, a lawyer or a scientist, STEM will help you.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What you have actually practiced this term: reading somebody else's code, changing one thing at a time, measuring instead of guessing, and working out whether a fault is mechanical, electrical or software.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Those four habits are the job. The vehicle was just the excuse.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Check yourself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Thank you. Go and break something interesting.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11185855" cy="4599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1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1.  Why can a program not use delay() if it has to do two things at different rates?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2.  Write the four-line millis() pattern from memory.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3.  Why does unsigned long matter for millis()?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4.  What is edge detection, and what goes wrong without it?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5.  What is a dirty flag, and what does it save?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6.  A servo is centerd by a pulse of what length? How often is it sent?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7.  Name three things the full program does that l5c does not.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8.  Your vehicle drifts left on the drag strip. Give one mechanical cause and one software fix.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