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Nothing moves today, so no blocks needed. Dim the room if you can.</a:t>
            </a:r>
          </a:p>
          <a:p>
            <a:r>
              <a:rPr sz="1200">
                <a:latin typeface="Calibri"/>
              </a:rPr>
              <a:t>Have a vehicle in front of you with the LED map from the beginner course to hand. The geometry section needs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last objective is the assessment: adding a mode without touching the existing ones is what a good architecture buys you.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breaks. The final thirty minutes is a build exercise - protect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Do the arithmetic on the board: six booleans is 64 combinations, and most of them are nonsense that a bug can still reach.</a:t>
            </a:r>
          </a:p>
          <a:p>
            <a:r>
              <a:rPr sz="1200">
                <a:latin typeface="Calibri"/>
              </a:rPr>
              <a:t>Turning left AND right at the same time is the example that lands. Ask what the lights would actually do.</a:t>
            </a:r>
          </a:p>
          <a:p>
            <a:r>
              <a:rPr sz="1200">
                <a:latin typeface="Calibri"/>
              </a:rPr>
              <a:t>One variable, one value, so two modes can never be half-on at once. That is not discipline, it is structure.</a:t>
            </a:r>
          </a:p>
          <a:p>
            <a:r>
              <a:rPr sz="1200">
                <a:latin typeface="Calibri"/>
              </a:rPr>
              <a:t>The second consequence is the one they will test at the end of the lesson: adding a mode is one enum value and one branch.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A state machine is just: what am I doing now, and what could make that change. The diagram is a picture of exactly that.</a:t>
            </a:r>
          </a:p>
          <a:p>
            <a:r>
              <a:rPr sz="1200">
                <a:latin typeface="Calibri"/>
              </a:rPr>
              <a:t>Point out that exactly one state is active at a time. That is what stops the lights contradicting themselves.</a:t>
            </a:r>
          </a:p>
          <a:p>
            <a:r>
              <a:rPr sz="1200">
                <a:latin typeface="Calibri"/>
              </a:rPr>
              <a:t>Ask the room for a transition that is missing, then decide together whether it should be there.</a:t>
            </a:r>
          </a:p>
          <a:p>
            <a:r>
              <a:rPr sz="1200">
                <a:latin typeface="Calibri"/>
              </a:rPr>
              <a:t>This shape turns up everywhere in embedded work. Naming it now means they recognise it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beginner-course millis() pattern, promoted to a rule with no exceptions.</a:t>
            </a:r>
          </a:p>
          <a:p>
            <a:r>
              <a:rPr sz="1200">
                <a:latin typeface="Calibri"/>
              </a:rPr>
              <a:t>Three lines: is it time, remember when, draw ONE frame. Get them to say it back.</a:t>
            </a:r>
          </a:p>
          <a:p>
            <a:r>
              <a:rPr sz="1200">
                <a:latin typeface="Calibri"/>
              </a:rPr>
              <a:t>The System Test story is the counterexample. A vehicle that keeps driving while it ignores you is a safety problem, not a cosmetic one.</a:t>
            </a:r>
          </a:p>
          <a:p>
            <a:r>
              <a:rPr sz="1200">
                <a:latin typeface="Calibri"/>
              </a:rPr>
              <a:t>The one legitimate delay() is the startup show, because nothing else needs to happen yet. Being able to say exactly why the exception is allowed is the mark of understanding the rule.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This is the beginner-course millis() pattern, promoted to a rule with no exceptions.</a:t>
            </a:r>
          </a:p>
          <a:p>
            <a:r>
              <a:rPr sz="1200">
                <a:latin typeface="Calibri"/>
              </a:rPr>
              <a:t>Three lines: is it time, remember when, draw ONE frame. Get them to say it back.</a:t>
            </a:r>
          </a:p>
          <a:p>
            <a:r>
              <a:rPr sz="1200">
                <a:latin typeface="Calibri"/>
              </a:rPr>
              <a:t>The System Test story is the counterexample. A vehicle that keeps driving while it ignores you is a safety problem, not a cosmetic one.</a:t>
            </a:r>
          </a:p>
          <a:p>
            <a:r>
              <a:rPr sz="1200">
                <a:latin typeface="Calibri"/>
              </a:rPr>
              <a:t>The one legitimate delay() is the startup show, because nothing else needs to happen yet. Being able to say exactly why the exception is allowed is the mark of understanding the rule.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STANDBY is not an animation. It is one picture that changes only when something changes it. Make that distinction clearly.</a:t>
            </a:r>
          </a:p>
          <a:p>
            <a:r>
              <a:rPr sz="1200">
                <a:latin typeface="Calibri"/>
              </a:rPr>
              <a:t>One line - clearing the flag - is what turns a redraw every pass into a redraw when it matters.</a:t>
            </a:r>
          </a:p>
          <a:p>
            <a:r>
              <a:rPr sz="1200">
                <a:latin typeface="Calibri"/>
              </a:rPr>
              <a:t>They measure exactly what that line is worth in the next activity, so do not give them the number now.</a:t>
            </a:r>
          </a:p>
          <a:p>
            <a:r>
              <a:rPr sz="1200">
                <a:latin typeface="Calibri"/>
              </a:rPr>
              <a:t>Pushing 32 pixels is about a millisecond of tightly timed bit-banging. That is why it is expensive.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First activity.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load command is the instrument for this whole activity. Make sure everybody gets a reading before step 4.</a:t>
            </a:r>
          </a:p>
          <a:p>
            <a:r>
              <a:rPr sz="1200">
                <a:latin typeface="Calibri"/>
              </a:rPr>
              <a:t>Step 4 removes the dirty flag on purpose, and step 5 makes them write down both numbers. That comparison IS the lesson.</a:t>
            </a:r>
          </a:p>
          <a:p>
            <a:r>
              <a:rPr sz="1200">
                <a:latin typeface="Calibri"/>
              </a:rPr>
              <a:t>Step 6 - adding an ALARM mode - is a rehearsal for the exercise at the end. Note how few places they had to touch.</a:t>
            </a:r>
          </a:p>
          <a:p>
            <a:r>
              <a:rPr sz="1200">
                <a:latin typeface="Calibri"/>
              </a:rPr>
              <a:t>Thirty-five minutes. If a group finishes early, ask them to add a second mode and check the cost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The FastLED story is a real dependency failure and worth telling properly: a minor version auto-enabled a backend that would not build against the SDK, with no per-sketch opt-out.</a:t>
            </a:r>
          </a:p>
          <a:p>
            <a:r>
              <a:rPr sz="1200">
                <a:latin typeface="Calibri"/>
              </a:rPr>
              <a:t>Then make the constructive point. Writing the four helpers out by hand made the bit-shifting visible instead of magic.</a:t>
            </a:r>
          </a:p>
          <a:p>
            <a:r>
              <a:rPr sz="1200">
                <a:latin typeface="Calibri"/>
              </a:rPr>
              <a:t>The line to land: a dependency you do not understand is a dependency that will eventually break in a way you cannot fix.</a:t>
            </a:r>
          </a:p>
          <a:p>
            <a:r>
              <a:rPr sz="1200">
                <a:latin typeface="Calibri"/>
              </a:rPr>
              <a:t>That is not an argument against libraries. It is an argument for knowing what the ones you rely on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The FastLED story is a real dependency failure and worth telling properly: a minor version auto-enabled a backend that would not build against the SDK, with no per-sketch opt-out.</a:t>
            </a:r>
          </a:p>
          <a:p>
            <a:r>
              <a:rPr sz="1200">
                <a:latin typeface="Calibri"/>
              </a:rPr>
              <a:t>Then make the constructive point. Writing the four helpers out by hand made the bit-shifting visible instead of magic.</a:t>
            </a:r>
          </a:p>
          <a:p>
            <a:r>
              <a:rPr sz="1200">
                <a:latin typeface="Calibri"/>
              </a:rPr>
              <a:t>The line to land: a dependency you do not understand is a dependency that will eventually break in a way you cannot fix.</a:t>
            </a:r>
          </a:p>
          <a:p>
            <a:r>
              <a:rPr sz="1200">
                <a:latin typeface="Calibri"/>
              </a:rPr>
              <a:t>That is not an argument against libraries. It is an argument for knowing what the ones you rely on actually 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hardest slide in the lesson. Have a real vehicle out and point at LEDs while you talk.</a:t>
            </a:r>
          </a:p>
          <a:p>
            <a:r>
              <a:rPr sz="1200">
                <a:latin typeface="Calibri"/>
              </a:rPr>
              <a:t>The strip is ONE loop, so the two halves of each side run in opposite directions. That is the whole reason the arithmetic is asymmetric.</a:t>
            </a:r>
          </a:p>
          <a:p>
            <a:r>
              <a:rPr sz="1200">
                <a:latin typeface="Calibri"/>
              </a:rPr>
              <a:t>The bar grows outward from the centre towards the turning corner, on both bars at once. Trace it with a finger before showing the indices.</a:t>
            </a:r>
          </a:p>
          <a:p>
            <a:r>
              <a:rPr sz="1200">
                <a:latin typeface="Calibri"/>
              </a:rPr>
              <a:t>Take the advice on the slide seriously: do not derive it. Step through it and read the numbers off a real vehicle. They do exactly that in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This is the hardest slide in the lesson. Have a real vehicle out and point at LEDs while you talk.</a:t>
            </a:r>
          </a:p>
          <a:p>
            <a:r>
              <a:rPr sz="1200">
                <a:latin typeface="Calibri"/>
              </a:rPr>
              <a:t>The strip is ONE loop, so the two halves of each side run in opposite directions. That is the whole reason the arithmetic is asymmetric.</a:t>
            </a:r>
          </a:p>
          <a:p>
            <a:r>
              <a:rPr sz="1200">
                <a:latin typeface="Calibri"/>
              </a:rPr>
              <a:t>The bar grows outward from the centre towards the turning corner, on both bars at once. Trace it with a finger before showing the indices.</a:t>
            </a:r>
          </a:p>
          <a:p>
            <a:r>
              <a:rPr sz="1200">
                <a:latin typeface="Calibri"/>
              </a:rPr>
              <a:t>Take the advice on the slide seriously: do not derive it. Step through it and read the numbers off a real vehicle. They do exactly that in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Two details, both of which look like paranoia until you skip them.</a:t>
            </a:r>
          </a:p>
          <a:p>
            <a:r>
              <a:rPr sz="1200">
                <a:latin typeface="Calibri"/>
              </a:rPr>
              <a:t>Repainting the base first means the previous frame is not left underneath. Ask what a signal painted over a stale frame would look like.</a:t>
            </a:r>
          </a:p>
          <a:p>
            <a:r>
              <a:rPr sz="1200">
                <a:latin typeface="Calibri"/>
              </a:rPr>
              <a:t>The D-pad only STARTS the animation. It does not hold it on and it does not stop it.</a:t>
            </a:r>
          </a:p>
          <a:p>
            <a:r>
              <a:rPr sz="1200">
                <a:latin typeface="Calibri"/>
              </a:rPr>
              <a:t>That matches a real indicator, which finishes its blink after you let go of the stalk. Small detail, and it is what makes it feel right.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Twenty seconds. Second activity.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Step 2 is the point of the whole activity: freeze it, step it, and read the indices against a real vehicle.</a:t>
            </a:r>
          </a:p>
          <a:p>
            <a:r>
              <a:rPr sz="1200">
                <a:latin typeface="Calibri"/>
              </a:rPr>
              <a:t>Step 5 breaks the left branch on purpose. The bar grows the wrong way, inward instead of outward, and they should be able to say why.</a:t>
            </a:r>
          </a:p>
          <a:p>
            <a:r>
              <a:rPr sz="1200">
                <a:latin typeface="Calibri"/>
              </a:rPr>
              <a:t>Step 6 is open-ended. A fading trailing edge needs scale_colour(), which they met two slides ago.</a:t>
            </a:r>
          </a:p>
          <a:p>
            <a:r>
              <a:rPr sz="1200">
                <a:latin typeface="Calibri"/>
              </a:rPr>
              <a:t>Answers: the front counts down for a left signal because the left half of the front bar is indices 0 to 7 and the growth is outward from 8; without the base repaint you would see the previous frame left underneath.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This is the whole state machine on one screen. Let them look at it in silence for thirty seconds before you say anything.</a:t>
            </a:r>
          </a:p>
          <a:p>
            <a:r>
              <a:rPr sz="1200">
                <a:latin typeface="Calibri"/>
              </a:rPr>
              <a:t>Every branch does the same three things: is it my turn, is it time yet, draw one frame. Get them to notice the repetition themselves.</a:t>
            </a:r>
          </a:p>
          <a:p>
            <a:r>
              <a:rPr sz="1200">
                <a:latin typeface="Calibri"/>
              </a:rPr>
              <a:t>The early returns are what keeps it flat and readable. Ask what this would look like as nested ifs.</a:t>
            </a:r>
          </a:p>
          <a:p>
            <a:r>
              <a:rPr sz="1200">
                <a:latin typeface="Calibri"/>
              </a:rPr>
              <a:t>Point out that STANDBY is last and is the only branch guarded by a flag rather than a clock.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This is the whole state machine on one screen. Let them look at it in silence for thirty seconds before you say anything.</a:t>
            </a:r>
          </a:p>
          <a:p>
            <a:r>
              <a:rPr sz="1200">
                <a:latin typeface="Calibri"/>
              </a:rPr>
              <a:t>Every branch does the same three things: is it my turn, is it time yet, draw one frame. Get them to notice the repetition themselves.</a:t>
            </a:r>
          </a:p>
          <a:p>
            <a:r>
              <a:rPr sz="1200">
                <a:latin typeface="Calibri"/>
              </a:rPr>
              <a:t>The early returns are what keeps it flat and readable. Ask what this would look like as nested ifs.</a:t>
            </a:r>
          </a:p>
          <a:p>
            <a:r>
              <a:rPr sz="1200">
                <a:latin typeface="Calibri"/>
              </a:rPr>
              <a:t>Point out that STANDBY is last and is the only branch guarded by a flag rather than a clock.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Start with why a linear fade looks wrong: it appears to hover at the ends and rush through the middle.</a:t>
            </a:r>
          </a:p>
          <a:p>
            <a:r>
              <a:rPr sz="1200">
                <a:latin typeface="Calibri"/>
              </a:rPr>
              <a:t>A sine slows at the extremes, which is what your eye expects. That is a perception point, like the colour lesson in the beginner course.</a:t>
            </a:r>
          </a:p>
          <a:p>
            <a:r>
              <a:rPr sz="1200">
                <a:latin typeface="Calibri"/>
              </a:rPr>
              <a:t>The 0..255 in, 0..255 out convention keeps floating point out of the caller entirely. Worth noticing as an interface design choice.</a:t>
            </a:r>
          </a:p>
          <a:p>
            <a:r>
              <a:rPr sz="1200">
                <a:latin typeface="Calibri"/>
              </a:rPr>
              <a:t>Deriving the phase from millis() rather than a counter means the animation keeps correct time even if a frame is missed. That is the transferable idea.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Start with why a linear fade looks wrong: it appears to hover at the ends and rush through the middle.</a:t>
            </a:r>
          </a:p>
          <a:p>
            <a:r>
              <a:rPr sz="1200">
                <a:latin typeface="Calibri"/>
              </a:rPr>
              <a:t>A sine slows at the extremes, which is what your eye expects. That is a perception point, like the colour lesson in the beginner course.</a:t>
            </a:r>
          </a:p>
          <a:p>
            <a:r>
              <a:rPr sz="1200">
                <a:latin typeface="Calibri"/>
              </a:rPr>
              <a:t>The 0..255 in, 0..255 out convention keeps floating point out of the caller entirely. Worth noticing as an interface design choice.</a:t>
            </a:r>
          </a:p>
          <a:p>
            <a:r>
              <a:rPr sz="1200">
                <a:latin typeface="Calibri"/>
              </a:rPr>
              <a:t>Deriving the phase from millis() rather than a counter means the animation keeps correct time even if a frame is missed. That is the transferable idea.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Thirty minutes, hands off. Circulate but do not solve.</a:t>
            </a:r>
          </a:p>
          <a:p>
            <a:r>
              <a:rPr sz="1200">
                <a:latin typeface="Calibri"/>
              </a:rPr>
              <a:t>The five steps are the architecture of the program, restated as a recipe. Insist on step 2 - constants at the top, not buried in the function.</a:t>
            </a:r>
          </a:p>
          <a:p>
            <a:r>
              <a:rPr sz="1200">
                <a:latin typeface="Calibri"/>
              </a:rPr>
              <a:t>The first question is the real assessment. Count the lines they had to change in existing code.</a:t>
            </a:r>
          </a:p>
          <a:p>
            <a:r>
              <a:rPr sz="1200">
                <a:latin typeface="Calibri"/>
              </a:rPr>
              <a:t>HAZARD and TURN_LEFT can never both be on, because there is one variable holding one value. Make sure somebody says that out loud.</a:t>
            </a:r>
          </a:p>
          <a:p>
            <a:r>
              <a:rPr sz="1200">
                <a:latin typeface="Calibri"/>
              </a:rPr>
              <a:t>Leave five minutes to demonstrate. Every group shows theirs.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(Continued from the previous slide - the same notes apply.)</a:t>
            </a:r>
          </a:p>
          <a:p/>
          <a:p>
            <a:r>
              <a:rPr sz="1200">
                <a:latin typeface="Calibri"/>
              </a:rPr>
              <a:t>Thirty minutes, hands off. Circulate but do not solve.</a:t>
            </a:r>
          </a:p>
          <a:p>
            <a:r>
              <a:rPr sz="1200">
                <a:latin typeface="Calibri"/>
              </a:rPr>
              <a:t>The five steps are the architecture of the program, restated as a recipe. Insist on step 2 - constants at the top, not buried in the function.</a:t>
            </a:r>
          </a:p>
          <a:p>
            <a:r>
              <a:rPr sz="1200">
                <a:latin typeface="Calibri"/>
              </a:rPr>
              <a:t>The first question is the real assessment. Count the lines they had to change in existing code.</a:t>
            </a:r>
          </a:p>
          <a:p>
            <a:r>
              <a:rPr sz="1200">
                <a:latin typeface="Calibri"/>
              </a:rPr>
              <a:t>HAZARD and TURN_LEFT can never both be on, because there is one variable holding one value. Make sure somebody says that out loud.</a:t>
            </a:r>
          </a:p>
          <a:p>
            <a:r>
              <a:rPr sz="1200">
                <a:latin typeface="Calibri"/>
              </a:rPr>
              <a:t>Leave five minutes to demonstrate. Every group shows theirs.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Calibri"/>
              </a:rPr>
              <a:t>Conversation, not a test.</a:t>
            </a:r>
          </a:p>
          <a:p>
            <a:r>
              <a:rPr sz="1200">
                <a:latin typeface="Calibri"/>
              </a:rPr>
              <a:t>Answers: 64 combinations against 6; the three-line pattern should be written out; a dirty flag skips a redraw when nothing changed, and they have their own measured numbers for what it saved.</a:t>
            </a:r>
          </a:p>
          <a:p>
            <a:r>
              <a:rPr sz="1200">
                <a:latin typeface="Calibri"/>
              </a:rPr>
              <a:t>FastLED 3.10.5 auto-enables an ESP-DSP backend that will not build against the bluepad32 SDK.</a:t>
            </a:r>
          </a:p>
          <a:p>
            <a:r>
              <a:rPr sz="1200">
                <a:latin typeface="Calibri"/>
              </a:rPr>
              <a:t>Each frame repaints the headlights so the previous frame is not left underneath.</a:t>
            </a:r>
          </a:p>
          <a:p>
            <a:r>
              <a:rPr sz="1200">
                <a:latin typeface="Calibri"/>
              </a:rPr>
              <a:t>The front counts down for a left signal because the growth is outward from the centre of the bar.</a:t>
            </a:r>
          </a:p>
          <a:p>
            <a:r>
              <a:rPr sz="1200">
                <a:latin typeface="Calibri"/>
              </a:rPr>
              <a:t>The signal finishes its cycles because that is what a real indicator does.</a:t>
            </a:r>
          </a:p>
          <a:p>
            <a:r>
              <a:rPr sz="1200">
                <a:latin typeface="Calibri"/>
              </a:rPr>
              <a:t>For question 8: one enum value, one set of constants, one update function, one branch, one console command.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porpoise-logo.png"/>
          <p:cNvPicPr>
            <a:picLocks noChangeAspect="1"/>
          </p:cNvPicPr>
          <p:nvPr/>
        </p:nvPicPr>
        <p:blipFill>
          <a:blip r:embed="rId2"/>
          <a:stretch>
            <a:fillRect/>
          </a:stretch>
        </p:blipFill>
        <p:spPr>
          <a:xfrm>
            <a:off x="10922762" y="457200"/>
            <a:ext cx="766013" cy="777240"/>
          </a:xfrm>
          <a:prstGeom prst="rect">
            <a:avLst/>
          </a:prstGeom>
        </p:spPr>
      </p:pic>
      <p:sp>
        <p:nvSpPr>
          <p:cNvPr id="4" name="TextBox 3"/>
          <p:cNvSpPr txBox="1"/>
          <p:nvPr/>
        </p:nvSpPr>
        <p:spPr>
          <a:xfrm>
            <a:off x="502920" y="1051560"/>
            <a:ext cx="6492240" cy="365760"/>
          </a:xfrm>
          <a:prstGeom prst="rect">
            <a:avLst/>
          </a:prstGeom>
          <a:noFill/>
        </p:spPr>
        <p:txBody>
          <a:bodyPr wrap="square" lIns="0" tIns="0" rIns="0" bIns="0">
            <a:spAutoFit/>
          </a:bodyPr>
          <a:lstStyle/>
          <a:p>
            <a:pPr algn="l">
              <a:lnSpc>
                <a:spcPct val="100000"/>
              </a:lnSpc>
              <a:spcAft>
                <a:spcPts val="0"/>
              </a:spcAft>
              <a:defRPr sz="1600" b="1">
                <a:solidFill>
                  <a:srgbClr val="0E7C86"/>
                </a:solidFill>
                <a:latin typeface="Calibri"/>
              </a:defRPr>
            </a:pPr>
            <a:r>
              <a:rPr sz="1600" b="1">
                <a:solidFill>
                  <a:srgbClr val="0E7C86"/>
                </a:solidFill>
                <a:latin typeface="Calibri"/>
              </a:rPr>
              <a:t>LESSON 4</a:t>
            </a:r>
          </a:p>
        </p:txBody>
      </p:sp>
      <p:sp>
        <p:nvSpPr>
          <p:cNvPr id="5" name="TextBox 4"/>
          <p:cNvSpPr txBox="1"/>
          <p:nvPr/>
        </p:nvSpPr>
        <p:spPr>
          <a:xfrm>
            <a:off x="502920" y="1481328"/>
            <a:ext cx="6492240" cy="1554480"/>
          </a:xfrm>
          <a:prstGeom prst="rect">
            <a:avLst/>
          </a:prstGeom>
          <a:noFill/>
        </p:spPr>
        <p:txBody>
          <a:bodyPr wrap="square" lIns="0" tIns="0" rIns="0" bIns="0">
            <a:spAutoFit/>
          </a:bodyPr>
          <a:lstStyle/>
          <a:p>
            <a:pPr algn="l">
              <a:lnSpc>
                <a:spcPct val="95000"/>
              </a:lnSpc>
              <a:spcAft>
                <a:spcPts val="0"/>
              </a:spcAft>
              <a:defRPr sz="4000" b="1">
                <a:solidFill>
                  <a:srgbClr val="1F3A5F"/>
                </a:solidFill>
                <a:latin typeface="Calibri"/>
              </a:defRPr>
            </a:pPr>
            <a:r>
              <a:rPr sz="4000" b="1">
                <a:solidFill>
                  <a:srgbClr val="1F3A5F"/>
                </a:solidFill>
                <a:latin typeface="Calibri"/>
              </a:rPr>
              <a:t>The Lighting State Machine</a:t>
            </a:r>
          </a:p>
        </p:txBody>
      </p:sp>
      <p:sp>
        <p:nvSpPr>
          <p:cNvPr id="6" name="TextBox 5"/>
          <p:cNvSpPr txBox="1"/>
          <p:nvPr/>
        </p:nvSpPr>
        <p:spPr>
          <a:xfrm>
            <a:off x="502920" y="3154680"/>
            <a:ext cx="6492240" cy="960120"/>
          </a:xfrm>
          <a:prstGeom prst="rect">
            <a:avLst/>
          </a:prstGeom>
          <a:noFill/>
        </p:spPr>
        <p:txBody>
          <a:bodyPr wrap="square" lIns="0" tIns="0" rIns="0" bIns="0">
            <a:spAutoFit/>
          </a:bodyPr>
          <a:lstStyle/>
          <a:p>
            <a:pPr algn="l">
              <a:lnSpc>
                <a:spcPct val="100000"/>
              </a:lnSpc>
              <a:spcAft>
                <a:spcPts val="0"/>
              </a:spcAft>
              <a:defRPr sz="1700" b="0">
                <a:solidFill>
                  <a:srgbClr val="222222"/>
                </a:solidFill>
                <a:latin typeface="Calibri"/>
              </a:defRPr>
            </a:pPr>
            <a:r>
              <a:rPr sz="1700" b="0">
                <a:solidFill>
                  <a:srgbClr val="222222"/>
                </a:solidFill>
                <a:latin typeface="Calibri"/>
              </a:rPr>
              <a:t>Six modes, one variable, no delay() anywhere, and geometry that is not symmetric.</a:t>
            </a:r>
          </a:p>
        </p:txBody>
      </p:sp>
      <p:sp>
        <p:nvSpPr>
          <p:cNvPr id="7" name="TextBox 6"/>
          <p:cNvSpPr txBox="1"/>
          <p:nvPr/>
        </p:nvSpPr>
        <p:spPr>
          <a:xfrm>
            <a:off x="502920" y="3931920"/>
            <a:ext cx="6492240" cy="2148840"/>
          </a:xfrm>
          <a:prstGeom prst="rect">
            <a:avLst/>
          </a:prstGeom>
          <a:noFill/>
        </p:spPr>
        <p:txBody>
          <a:bodyPr wrap="square" lIns="0" tIns="0" rIns="0" bIns="0">
            <a:spAutoFit/>
          </a:bodyPr>
          <a:lstStyle/>
          <a:p>
            <a:pPr algn="l">
              <a:lnSpc>
                <a:spcPct val="100000"/>
              </a:lnSpc>
              <a:spcAft>
                <a:spcPts val="100"/>
              </a:spcAft>
              <a:defRPr sz="1200" b="0">
                <a:solidFill>
                  <a:srgbClr val="666666"/>
                </a:solidFill>
                <a:latin typeface="Calibri"/>
              </a:defRPr>
            </a:pPr>
            <a:r>
              <a:rPr sz="1200" b="0">
                <a:solidFill>
                  <a:srgbClr val="666666"/>
                </a:solidFill>
                <a:latin typeface="Calibri"/>
              </a:rPr>
              <a:t>PORPOISE ROBOTICS  -  Precision Oceanographic Program On and In the Sea Environment</a:t>
            </a:r>
          </a:p>
          <a:p>
            <a:pPr algn="l">
              <a:lnSpc>
                <a:spcPct val="100000"/>
              </a:lnSpc>
              <a:spcAft>
                <a:spcPts val="100"/>
              </a:spcAft>
              <a:defRPr sz="1200" b="0">
                <a:solidFill>
                  <a:srgbClr val="666666"/>
                </a:solidFill>
                <a:latin typeface="Calibri"/>
              </a:defRPr>
            </a:pPr>
            <a:r>
              <a:rPr sz="1200" b="0">
                <a:solidFill>
                  <a:srgbClr val="666666"/>
                </a:solidFill>
                <a:latin typeface="Calibri"/>
              </a:rPr>
              <a:t>porpoiserobotics.org</a:t>
            </a:r>
          </a:p>
          <a:p>
            <a:pPr algn="l">
              <a:lnSpc>
                <a:spcPct val="100000"/>
              </a:lnSpc>
              <a:spcAft>
                <a:spcPts val="100"/>
              </a:spcAft>
              <a:defRPr sz="12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Kevin Bowen, President  -  kbowen6@icloud.com</a:t>
            </a:r>
          </a:p>
          <a:p>
            <a:pPr algn="l">
              <a:lnSpc>
                <a:spcPct val="100000"/>
              </a:lnSpc>
              <a:spcAft>
                <a:spcPts val="100"/>
              </a:spcAft>
              <a:defRPr sz="1200" b="0">
                <a:solidFill>
                  <a:srgbClr val="666666"/>
                </a:solidFill>
                <a:latin typeface="Calibri"/>
              </a:defRPr>
            </a:pPr>
            <a:r>
              <a:rPr sz="1200" b="0">
                <a:solidFill>
                  <a:srgbClr val="666666"/>
                </a:solidFill>
                <a:latin typeface="Calibri"/>
              </a:rPr>
              <a:t>Malcom Graham, VP Education      Louis Parker, VP Technology</a:t>
            </a:r>
          </a:p>
          <a:p>
            <a:pPr algn="l">
              <a:lnSpc>
                <a:spcPct val="100000"/>
              </a:lnSpc>
              <a:spcAft>
                <a:spcPts val="100"/>
              </a:spcAft>
              <a:defRPr sz="1200" b="0">
                <a:solidFill>
                  <a:srgbClr val="666666"/>
                </a:solidFill>
                <a:latin typeface="Calibri"/>
              </a:defRPr>
            </a:pPr>
            <a:r>
              <a:rPr sz="1200" b="0">
                <a:solidFill>
                  <a:srgbClr val="666666"/>
                </a:solidFill>
                <a:latin typeface="Calibri"/>
              </a:rPr>
              <a:t>Valen Farre, System Engineer      Gary Howland, Animation</a:t>
            </a:r>
          </a:p>
          <a:p>
            <a:pPr algn="l">
              <a:lnSpc>
                <a:spcPct val="100000"/>
              </a:lnSpc>
              <a:spcAft>
                <a:spcPts val="100"/>
              </a:spcAft>
              <a:defRPr sz="1200" b="0">
                <a:solidFill>
                  <a:srgbClr val="666666"/>
                </a:solidFill>
                <a:latin typeface="Calibri"/>
              </a:defRPr>
            </a:pPr>
            <a:r>
              <a:rPr sz="1200" b="0">
                <a:solidFill>
                  <a:srgbClr val="666666"/>
                </a:solidFill>
                <a:latin typeface="Calibri"/>
              </a:rPr>
              <a:t>Eddie Revollo, Artificial Intelligence</a:t>
            </a:r>
          </a:p>
          <a:p>
            <a:pPr algn="l">
              <a:lnSpc>
                <a:spcPct val="100000"/>
              </a:lnSpc>
              <a:spcAft>
                <a:spcPts val="100"/>
              </a:spcAft>
              <a:defRPr sz="1200" b="0">
                <a:solidFill>
                  <a:srgbClr val="666666"/>
                </a:solidFill>
                <a:latin typeface="Calibri"/>
              </a:defRPr>
            </a:pPr>
            <a:r>
              <a:rPr sz="1200" b="0">
                <a:solidFill>
                  <a:srgbClr val="666666"/>
                </a:solidFill>
                <a:latin typeface="Calibri"/>
              </a:rPr>
              <a:t>Interns: Oscar Canazales, Krishnansh Vemulapalli, Soham Gangal, Erik Olsen</a:t>
            </a:r>
          </a:p>
          <a:p>
            <a:pPr algn="l">
              <a:lnSpc>
                <a:spcPct val="100000"/>
              </a:lnSpc>
              <a:spcAft>
                <a:spcPts val="100"/>
              </a:spcAft>
              <a:defRPr sz="1200" b="0">
                <a:solidFill>
                  <a:srgbClr val="666666"/>
                </a:solidFill>
                <a:latin typeface="Calibri"/>
              </a:defRPr>
            </a:pPr>
          </a:p>
          <a:p>
            <a:pPr algn="l">
              <a:lnSpc>
                <a:spcPct val="100000"/>
              </a:lnSpc>
              <a:spcAft>
                <a:spcPts val="100"/>
              </a:spcAft>
              <a:defRPr sz="1200" b="0">
                <a:solidFill>
                  <a:srgbClr val="666666"/>
                </a:solidFill>
                <a:latin typeface="Calibri"/>
              </a:defRPr>
            </a:pPr>
            <a:r>
              <a:rPr sz="1200" b="0">
                <a:solidFill>
                  <a:srgbClr val="666666"/>
                </a:solidFill>
                <a:latin typeface="Calibri"/>
              </a:rPr>
              <a:t>Three hours.  Nothing moves today.</a:t>
            </a:r>
          </a:p>
        </p:txBody>
      </p:sp>
      <p:pic>
        <p:nvPicPr>
          <p:cNvPr id="8" name="Picture 7" descr="vehicle-green-leds.jpg"/>
          <p:cNvPicPr>
            <a:picLocks noChangeAspect="1"/>
          </p:cNvPicPr>
          <p:nvPr/>
        </p:nvPicPr>
        <p:blipFill>
          <a:blip r:embed="rId3"/>
          <a:stretch>
            <a:fillRect/>
          </a:stretch>
        </p:blipFill>
        <p:spPr>
          <a:xfrm>
            <a:off x="7223760" y="2023797"/>
            <a:ext cx="4480560" cy="3359046"/>
          </a:xfrm>
          <a:prstGeom prst="rect">
            <a:avLst/>
          </a:prstGeom>
        </p:spPr>
      </p:pic>
      <p:sp>
        <p:nvSpPr>
          <p:cNvPr id="9" name="TextBox 8"/>
          <p:cNvSpPr txBox="1"/>
          <p:nvPr/>
        </p:nvSpPr>
        <p:spPr>
          <a:xfrm>
            <a:off x="502920" y="6144768"/>
            <a:ext cx="11185855" cy="502920"/>
          </a:xfrm>
          <a:prstGeom prst="rect">
            <a:avLst/>
          </a:prstGeom>
          <a:noFill/>
        </p:spPr>
        <p:txBody>
          <a:bodyPr wrap="square" lIns="0" tIns="0" rIns="0" bIns="0">
            <a:spAutoFit/>
          </a:bodyPr>
          <a:lstStyle/>
          <a:p>
            <a:pPr algn="l">
              <a:lnSpc>
                <a:spcPct val="100000"/>
              </a:lnSpc>
              <a:spcAft>
                <a:spcPts val="0"/>
              </a:spcAft>
              <a:defRPr sz="900" b="0">
                <a:solidFill>
                  <a:srgbClr val="666666"/>
                </a:solidFill>
                <a:latin typeface="Calibri"/>
              </a:defRPr>
            </a:pPr>
            <a:r>
              <a:rPr sz="900" b="0">
                <a:solidFill>
                  <a:srgbClr val="666666"/>
                </a:solidFill>
                <a:latin typeface="Calibri"/>
              </a:rPr>
              <a:t>Porpoise Robotics - proprietary. For use with Porpoise Robotics lessons.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What you will be able to do by the end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a:t>
            </a:r>
          </a:p>
        </p:txBody>
      </p:sp>
      <p:sp>
        <p:nvSpPr>
          <p:cNvPr id="6" name="TextBox 5"/>
          <p:cNvSpPr txBox="1"/>
          <p:nvPr/>
        </p:nvSpPr>
        <p:spPr>
          <a:xfrm>
            <a:off x="502920" y="1188720"/>
            <a:ext cx="11185855" cy="50292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By the end of this lesson you will be able to:</a:t>
            </a:r>
          </a:p>
        </p:txBody>
      </p:sp>
      <p:sp>
        <p:nvSpPr>
          <p:cNvPr id="7" name="TextBox 6"/>
          <p:cNvSpPr txBox="1"/>
          <p:nvPr/>
        </p:nvSpPr>
        <p:spPr>
          <a:xfrm>
            <a:off x="502920" y="1737360"/>
            <a:ext cx="11185855" cy="4526280"/>
          </a:xfrm>
          <a:prstGeom prst="rect">
            <a:avLst/>
          </a:prstGeom>
          <a:noFill/>
        </p:spPr>
        <p:txBody>
          <a:bodyPr wrap="square" lIns="0" tIns="0" rIns="0" bIns="0">
            <a:spAutoFit/>
          </a:bodyPr>
          <a:lstStyle/>
          <a:p>
            <a:pPr algn="l">
              <a:lnSpc>
                <a:spcPct val="100000"/>
              </a:lnSpc>
              <a:spcAft>
                <a:spcPts val="1300"/>
              </a:spcAft>
              <a:defRPr sz="1900" b="0">
                <a:solidFill>
                  <a:srgbClr val="222222"/>
                </a:solidFill>
                <a:latin typeface="Calibri"/>
              </a:defRPr>
            </a:pPr>
            <a:r>
              <a:rPr sz="1900" b="0">
                <a:solidFill>
                  <a:srgbClr val="222222"/>
                </a:solidFill>
                <a:latin typeface="Calibri"/>
              </a:rPr>
              <a:t>1.   Say why a state machine beats a set of booleans for lighting</a:t>
            </a:r>
          </a:p>
          <a:p>
            <a:pPr algn="l">
              <a:lnSpc>
                <a:spcPct val="100000"/>
              </a:lnSpc>
              <a:spcAft>
                <a:spcPts val="1300"/>
              </a:spcAft>
              <a:defRPr sz="1900" b="0">
                <a:solidFill>
                  <a:srgbClr val="222222"/>
                </a:solidFill>
                <a:latin typeface="Calibri"/>
              </a:defRPr>
            </a:pPr>
            <a:r>
              <a:rPr sz="1900" b="0">
                <a:solidFill>
                  <a:srgbClr val="222222"/>
                </a:solidFill>
                <a:latin typeface="Calibri"/>
              </a:rPr>
              <a:t>2.   Write a non-blocking animation that draws one frame per pass</a:t>
            </a:r>
          </a:p>
          <a:p>
            <a:pPr algn="l">
              <a:lnSpc>
                <a:spcPct val="100000"/>
              </a:lnSpc>
              <a:spcAft>
                <a:spcPts val="1300"/>
              </a:spcAft>
              <a:defRPr sz="1900" b="0">
                <a:solidFill>
                  <a:srgbClr val="222222"/>
                </a:solidFill>
                <a:latin typeface="Calibri"/>
              </a:defRPr>
            </a:pPr>
            <a:r>
              <a:rPr sz="1900" b="0">
                <a:solidFill>
                  <a:srgbClr val="222222"/>
                </a:solidFill>
                <a:latin typeface="Calibri"/>
              </a:rPr>
              <a:t>3.   Explain what a dirty flag saves, and measure it</a:t>
            </a:r>
          </a:p>
          <a:p>
            <a:pPr algn="l">
              <a:lnSpc>
                <a:spcPct val="100000"/>
              </a:lnSpc>
              <a:spcAft>
                <a:spcPts val="1300"/>
              </a:spcAft>
              <a:defRPr sz="1900" b="0">
                <a:solidFill>
                  <a:srgbClr val="222222"/>
                </a:solidFill>
                <a:latin typeface="Calibri"/>
              </a:defRPr>
            </a:pPr>
            <a:r>
              <a:rPr sz="1900" b="0">
                <a:solidFill>
                  <a:srgbClr val="222222"/>
                </a:solidFill>
                <a:latin typeface="Calibri"/>
              </a:rPr>
              <a:t>4.   Work out the LED indices for a turn signal on either side</a:t>
            </a:r>
          </a:p>
          <a:p>
            <a:pPr algn="l">
              <a:lnSpc>
                <a:spcPct val="100000"/>
              </a:lnSpc>
              <a:spcAft>
                <a:spcPts val="1300"/>
              </a:spcAft>
              <a:defRPr sz="1900" b="0">
                <a:solidFill>
                  <a:srgbClr val="222222"/>
                </a:solidFill>
                <a:latin typeface="Calibri"/>
              </a:defRPr>
            </a:pPr>
            <a:r>
              <a:rPr sz="1900" b="0">
                <a:solidFill>
                  <a:srgbClr val="222222"/>
                </a:solidFill>
                <a:latin typeface="Calibri"/>
              </a:rPr>
              <a:t>5.   Add a new lighting mode without touching the existing ones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Today, in order</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a:t>
            </a:r>
          </a:p>
        </p:txBody>
      </p:sp>
      <p:graphicFrame>
        <p:nvGraphicFramePr>
          <p:cNvPr id="6" name="Table 5"/>
          <p:cNvGraphicFramePr>
            <a:graphicFrameLocks noGrp="1"/>
          </p:cNvGraphicFramePr>
          <p:nvPr/>
        </p:nvGraphicFramePr>
        <p:xfrm>
          <a:off x="502920" y="1188720"/>
          <a:ext cx="11185854" cy="5048250"/>
        </p:xfrm>
        <a:graphic>
          <a:graphicData uri="http://schemas.openxmlformats.org/drawingml/2006/table">
            <a:tbl>
              <a:tblPr firstRow="1" bandRow="1">
                <a:tableStyleId>{5C22544A-7EE6-4342-B048-85BDC9FD1C3A}</a:tableStyleId>
              </a:tblPr>
              <a:tblGrid>
                <a:gridCol w="1118585"/>
                <a:gridCol w="10067269"/>
              </a:tblGrid>
              <a:tr h="504825">
                <a:tc>
                  <a:txBody>
                    <a:bodyPr/>
                    <a:lstStyle/>
                    <a:p>
                      <a:r>
                        <a:rPr sz="2700" b="1">
                          <a:solidFill>
                            <a:srgbClr val="FFFFFF"/>
                          </a:solidFill>
                          <a:latin typeface="Calibri"/>
                        </a:rPr>
                        <a:t>Time</a:t>
                      </a:r>
                    </a:p>
                  </a:txBody>
                  <a:tcPr marL="73152" marT="18288" marB="18288">
                    <a:solidFill>
                      <a:srgbClr val="1F3A5F"/>
                    </a:solidFill>
                  </a:tcPr>
                </a:tc>
                <a:tc>
                  <a:txBody>
                    <a:bodyPr/>
                    <a:lstStyle/>
                    <a:p>
                      <a:r>
                        <a:rPr sz="2700" b="1">
                          <a:solidFill>
                            <a:srgbClr val="FFFFFF"/>
                          </a:solidFill>
                          <a:latin typeface="Calibri"/>
                        </a:rPr>
                        <a:t>What we do</a:t>
                      </a:r>
                    </a:p>
                  </a:txBody>
                  <a:tcPr marL="73152" marT="18288" marB="18288">
                    <a:solidFill>
                      <a:srgbClr val="1F3A5F"/>
                    </a:solidFill>
                  </a:tcPr>
                </a:tc>
              </a:tr>
              <a:tr h="504825">
                <a:tc>
                  <a:txBody>
                    <a:bodyPr/>
                    <a:lstStyle/>
                    <a:p>
                      <a:r>
                        <a:rPr sz="2700">
                          <a:solidFill>
                            <a:srgbClr val="222222"/>
                          </a:solidFill>
                          <a:latin typeface="Calibri"/>
                        </a:rPr>
                        <a:t>0:00</a:t>
                      </a:r>
                    </a:p>
                  </a:txBody>
                  <a:tcPr marL="73152" marT="18288" marB="18288">
                    <a:solidFill>
                      <a:srgbClr val="FFFFFF"/>
                    </a:solidFill>
                  </a:tcPr>
                </a:tc>
                <a:tc>
                  <a:txBody>
                    <a:bodyPr/>
                    <a:lstStyle/>
                    <a:p>
                      <a:r>
                        <a:rPr sz="2700">
                          <a:solidFill>
                            <a:srgbClr val="222222"/>
                          </a:solidFill>
                          <a:latin typeface="Calibri"/>
                        </a:rPr>
                        <a:t>Recap. What a state machine buys you</a:t>
                      </a:r>
                    </a:p>
                  </a:txBody>
                  <a:tcPr marL="73152" marT="18288" marB="18288">
                    <a:solidFill>
                      <a:srgbClr val="FFFFFF"/>
                    </a:solidFill>
                  </a:tcPr>
                </a:tc>
              </a:tr>
              <a:tr h="504825">
                <a:tc>
                  <a:txBody>
                    <a:bodyPr/>
                    <a:lstStyle/>
                    <a:p>
                      <a:r>
                        <a:rPr sz="2700">
                          <a:solidFill>
                            <a:srgbClr val="222222"/>
                          </a:solidFill>
                          <a:latin typeface="Calibri"/>
                        </a:rPr>
                        <a:t>0:25</a:t>
                      </a:r>
                    </a:p>
                  </a:txBody>
                  <a:tcPr marL="73152" marT="18288" marB="18288">
                    <a:solidFill>
                      <a:srgbClr val="EEF3F8"/>
                    </a:solidFill>
                  </a:tcPr>
                </a:tc>
                <a:tc>
                  <a:txBody>
                    <a:bodyPr/>
                    <a:lstStyle/>
                    <a:p>
                      <a:r>
                        <a:rPr sz="2700">
                          <a:solidFill>
                            <a:srgbClr val="222222"/>
                          </a:solidFill>
                          <a:latin typeface="Calibri"/>
                        </a:rPr>
                        <a:t>The six modes, and how control passes between them</a:t>
                      </a:r>
                    </a:p>
                  </a:txBody>
                  <a:tcPr marL="73152" marT="18288" marB="18288">
                    <a:solidFill>
                      <a:srgbClr val="EEF3F8"/>
                    </a:solidFill>
                  </a:tcPr>
                </a:tc>
              </a:tr>
              <a:tr h="504825">
                <a:tc>
                  <a:txBody>
                    <a:bodyPr/>
                    <a:lstStyle/>
                    <a:p>
                      <a:r>
                        <a:rPr sz="2700">
                          <a:solidFill>
                            <a:srgbClr val="222222"/>
                          </a:solidFill>
                          <a:latin typeface="Calibri"/>
                        </a:rPr>
                        <a:t>0:50</a:t>
                      </a:r>
                    </a:p>
                  </a:txBody>
                  <a:tcPr marL="73152" marT="18288" marB="18288">
                    <a:solidFill>
                      <a:srgbClr val="FFFFFF"/>
                    </a:solidFill>
                  </a:tcPr>
                </a:tc>
                <a:tc>
                  <a:txBody>
                    <a:bodyPr/>
                    <a:lstStyle/>
                    <a:p>
                      <a:r>
                        <a:rPr sz="2700">
                          <a:solidFill>
                            <a:srgbClr val="222222"/>
                          </a:solidFill>
                          <a:latin typeface="Calibri"/>
                        </a:rPr>
                        <a:t>Non-blocking animation as a discipline</a:t>
                      </a:r>
                    </a:p>
                  </a:txBody>
                  <a:tcPr marL="73152" marT="18288" marB="18288">
                    <a:solidFill>
                      <a:srgbClr val="FFFFFF"/>
                    </a:solidFill>
                  </a:tcPr>
                </a:tc>
              </a:tr>
              <a:tr h="504825">
                <a:tc>
                  <a:txBody>
                    <a:bodyPr/>
                    <a:lstStyle/>
                    <a:p>
                      <a:r>
                        <a:rPr sz="2700">
                          <a:solidFill>
                            <a:srgbClr val="222222"/>
                          </a:solidFill>
                          <a:latin typeface="Calibri"/>
                        </a:rPr>
                        <a:t>1:10</a:t>
                      </a:r>
                    </a:p>
                  </a:txBody>
                  <a:tcPr marL="73152" marT="18288" marB="18288">
                    <a:solidFill>
                      <a:srgbClr val="EEF3F8"/>
                    </a:solidFill>
                  </a:tcPr>
                </a:tc>
                <a:tc>
                  <a:txBody>
                    <a:bodyPr/>
                    <a:lstStyle/>
                    <a:p>
                      <a:r>
                        <a:rPr sz="2700">
                          <a:solidFill>
                            <a:srgbClr val="222222"/>
                          </a:solidFill>
                          <a:latin typeface="Calibri"/>
                        </a:rPr>
                        <a:t>Upload a4a_led_state_machine. Measure a redraw</a:t>
                      </a:r>
                    </a:p>
                  </a:txBody>
                  <a:tcPr marL="73152" marT="18288" marB="18288">
                    <a:solidFill>
                      <a:srgbClr val="EEF3F8"/>
                    </a:solidFill>
                  </a:tcPr>
                </a:tc>
              </a:tr>
              <a:tr h="504825">
                <a:tc>
                  <a:txBody>
                    <a:bodyPr/>
                    <a:lstStyle/>
                    <a:p>
                      <a:r>
                        <a:rPr sz="2700">
                          <a:solidFill>
                            <a:srgbClr val="222222"/>
                          </a:solidFill>
                          <a:latin typeface="Calibri"/>
                        </a:rPr>
                        <a:t>1:40</a:t>
                      </a:r>
                    </a:p>
                  </a:txBody>
                  <a:tcPr marL="73152" marT="18288" marB="18288">
                    <a:solidFill>
                      <a:srgbClr val="FFFFFF"/>
                    </a:solidFill>
                  </a:tcPr>
                </a:tc>
                <a:tc>
                  <a:txBody>
                    <a:bodyPr/>
                    <a:lstStyle/>
                    <a:p>
                      <a:r>
                        <a:rPr sz="2700">
                          <a:solidFill>
                            <a:srgbClr val="222222"/>
                          </a:solidFill>
                          <a:latin typeface="Calibri"/>
                        </a:rPr>
                        <a:t>BREAK  (10 minutes)</a:t>
                      </a:r>
                    </a:p>
                  </a:txBody>
                  <a:tcPr marL="73152" marT="18288" marB="18288">
                    <a:solidFill>
                      <a:srgbClr val="FFFFFF"/>
                    </a:solidFill>
                  </a:tcPr>
                </a:tc>
              </a:tr>
              <a:tr h="504825">
                <a:tc>
                  <a:txBody>
                    <a:bodyPr/>
                    <a:lstStyle/>
                    <a:p>
                      <a:r>
                        <a:rPr sz="2700">
                          <a:solidFill>
                            <a:srgbClr val="222222"/>
                          </a:solidFill>
                          <a:latin typeface="Calibri"/>
                        </a:rPr>
                        <a:t>1:50</a:t>
                      </a:r>
                    </a:p>
                  </a:txBody>
                  <a:tcPr marL="73152" marT="18288" marB="18288">
                    <a:solidFill>
                      <a:srgbClr val="EEF3F8"/>
                    </a:solidFill>
                  </a:tcPr>
                </a:tc>
                <a:tc>
                  <a:txBody>
                    <a:bodyPr/>
                    <a:lstStyle/>
                    <a:p>
                      <a:r>
                        <a:rPr sz="2700">
                          <a:solidFill>
                            <a:srgbClr val="222222"/>
                          </a:solidFill>
                          <a:latin typeface="Calibri"/>
                        </a:rPr>
                        <a:t>Colour helpers, and why they are written out longhand</a:t>
                      </a:r>
                    </a:p>
                  </a:txBody>
                  <a:tcPr marL="73152" marT="18288" marB="18288">
                    <a:solidFill>
                      <a:srgbClr val="EEF3F8"/>
                    </a:solidFill>
                  </a:tcPr>
                </a:tc>
              </a:tr>
              <a:tr h="504825">
                <a:tc>
                  <a:txBody>
                    <a:bodyPr/>
                    <a:lstStyle/>
                    <a:p>
                      <a:r>
                        <a:rPr sz="2700">
                          <a:solidFill>
                            <a:srgbClr val="222222"/>
                          </a:solidFill>
                          <a:latin typeface="Calibri"/>
                        </a:rPr>
                        <a:t>2:10</a:t>
                      </a:r>
                    </a:p>
                  </a:txBody>
                  <a:tcPr marL="73152" marT="18288" marB="18288">
                    <a:solidFill>
                      <a:srgbClr val="FFFFFF"/>
                    </a:solidFill>
                  </a:tcPr>
                </a:tc>
                <a:tc>
                  <a:txBody>
                    <a:bodyPr/>
                    <a:lstStyle/>
                    <a:p>
                      <a:r>
                        <a:rPr sz="2700">
                          <a:solidFill>
                            <a:srgbClr val="222222"/>
                          </a:solidFill>
                          <a:latin typeface="Calibri"/>
                        </a:rPr>
                        <a:t>Turn signal geometry. Upload a4b_turn_signal_larson</a:t>
                      </a:r>
                    </a:p>
                  </a:txBody>
                  <a:tcPr marL="73152" marT="18288" marB="18288">
                    <a:solidFill>
                      <a:srgbClr val="FFFFFF"/>
                    </a:solidFill>
                  </a:tcPr>
                </a:tc>
              </a:tr>
              <a:tr h="504825">
                <a:tc>
                  <a:txBody>
                    <a:bodyPr/>
                    <a:lstStyle/>
                    <a:p>
                      <a:r>
                        <a:rPr sz="2700">
                          <a:solidFill>
                            <a:srgbClr val="222222"/>
                          </a:solidFill>
                          <a:latin typeface="Calibri"/>
                        </a:rPr>
                        <a:t>2:35</a:t>
                      </a:r>
                    </a:p>
                  </a:txBody>
                  <a:tcPr marL="73152" marT="18288" marB="18288">
                    <a:solidFill>
                      <a:srgbClr val="EEF3F8"/>
                    </a:solidFill>
                  </a:tcPr>
                </a:tc>
                <a:tc>
                  <a:txBody>
                    <a:bodyPr/>
                    <a:lstStyle/>
                    <a:p>
                      <a:r>
                        <a:rPr sz="2700">
                          <a:solidFill>
                            <a:srgbClr val="222222"/>
                          </a:solidFill>
                          <a:latin typeface="Calibri"/>
                        </a:rPr>
                        <a:t>BREAK  (10 minutes)</a:t>
                      </a:r>
                    </a:p>
                  </a:txBody>
                  <a:tcPr marL="73152" marT="18288" marB="18288">
                    <a:solidFill>
                      <a:srgbClr val="EEF3F8"/>
                    </a:solidFill>
                  </a:tcPr>
                </a:tc>
              </a:tr>
              <a:tr h="504825">
                <a:tc>
                  <a:txBody>
                    <a:bodyPr/>
                    <a:lstStyle/>
                    <a:p>
                      <a:r>
                        <a:rPr sz="2700">
                          <a:solidFill>
                            <a:srgbClr val="222222"/>
                          </a:solidFill>
                          <a:latin typeface="Calibri"/>
                        </a:rPr>
                        <a:t>2:45</a:t>
                      </a:r>
                    </a:p>
                  </a:txBody>
                  <a:tcPr marL="73152" marT="18288" marB="18288">
                    <a:solidFill>
                      <a:srgbClr val="FFFFFF"/>
                    </a:solidFill>
                  </a:tcPr>
                </a:tc>
                <a:tc>
                  <a:txBody>
                    <a:bodyPr/>
                    <a:lstStyle/>
                    <a:p>
                      <a:r>
                        <a:rPr sz="2700">
                          <a:solidFill>
                            <a:srgbClr val="222222"/>
                          </a:solidFill>
                          <a:latin typeface="Calibri"/>
                        </a:rPr>
                        <a:t>Add a mode of your own</a:t>
                      </a:r>
                    </a:p>
                  </a:txBody>
                  <a:tcPr marL="73152" marT="18288" marB="18288">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Why lighting needs a state machine and not a pile of booleans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3</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Six booleans is 64 combinations. One enum is six.</a:t>
            </a:r>
          </a:p>
        </p:txBody>
      </p:sp>
      <p:sp>
        <p:nvSpPr>
          <p:cNvPr id="7" name="TextBox 6"/>
          <p:cNvSpPr txBox="1"/>
          <p:nvPr/>
        </p:nvSpPr>
        <p:spPr>
          <a:xfrm>
            <a:off x="502920" y="1755648"/>
            <a:ext cx="5364327" cy="4507992"/>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Suppose you track lighting with flags: lights_on, turning_left, turning_right, scanning, pairing, disconnected.</a:t>
            </a:r>
          </a:p>
          <a:p>
            <a:pPr algn="l">
              <a:lnSpc>
                <a:spcPct val="100000"/>
              </a:lnSpc>
              <a:spcAft>
                <a:spcPts val="900"/>
              </a:spcAft>
              <a:defRPr sz="190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Six booleans is 64 combinations. Most are nonsense - turning left AND right, pairing AND driving - and every one of them is reachable by a bug.</a:t>
            </a:r>
          </a:p>
          <a:p>
            <a:pPr algn="l">
              <a:lnSpc>
                <a:spcPct val="100000"/>
              </a:lnSpc>
              <a:spcAft>
                <a:spcPts val="900"/>
              </a:spcAft>
              <a:defRPr sz="1900" b="0">
                <a:solidFill>
                  <a:srgbClr val="222222"/>
                </a:solidFill>
                <a:latin typeface="Calibri"/>
              </a:defRPr>
            </a:pPr>
          </a:p>
          <a:p>
            <a:pPr algn="l">
              <a:lnSpc>
                <a:spcPct val="100000"/>
              </a:lnSpc>
              <a:spcAft>
                <a:spcPts val="900"/>
              </a:spcAft>
              <a:defRPr sz="1900" b="0">
                <a:solidFill>
                  <a:srgbClr val="222222"/>
                </a:solidFill>
                <a:latin typeface="Calibri"/>
              </a:defRPr>
            </a:pPr>
            <a:r>
              <a:rPr sz="1900" b="0">
                <a:solidFill>
                  <a:srgbClr val="222222"/>
                </a:solidFill>
                <a:latin typeface="Calibri"/>
              </a:rPr>
              <a:t>A STATE MACHINE says: the vehicle is in exactly ONE mode. One variable holds it. Each mode knows how to draw itself and when to hand over.</a:t>
            </a:r>
          </a:p>
        </p:txBody>
      </p:sp>
      <p:sp>
        <p:nvSpPr>
          <p:cNvPr id="8" name="TextBox 7"/>
          <p:cNvSpPr txBox="1"/>
          <p:nvPr/>
        </p:nvSpPr>
        <p:spPr>
          <a:xfrm>
            <a:off x="6324447" y="1755648"/>
            <a:ext cx="5364327" cy="4507992"/>
          </a:xfrm>
          <a:prstGeom prst="rect">
            <a:avLst/>
          </a:prstGeom>
          <a:noFill/>
        </p:spPr>
        <p:txBody>
          <a:bodyPr wrap="square" lIns="0" tIns="0" rIns="0" bIns="0">
            <a:spAutoFit/>
          </a:bodyPr>
          <a:lstStyle/>
          <a:p>
            <a:pPr algn="l">
              <a:lnSpc>
                <a:spcPct val="100000"/>
              </a:lnSpc>
              <a:spcAft>
                <a:spcPts val="900"/>
              </a:spcAft>
              <a:defRPr sz="1900" b="0">
                <a:solidFill>
                  <a:srgbClr val="222222"/>
                </a:solidFill>
                <a:latin typeface="Calibri"/>
              </a:defRPr>
            </a:pPr>
            <a:r>
              <a:rPr sz="1900" b="0">
                <a:solidFill>
                  <a:srgbClr val="222222"/>
                </a:solidFill>
                <a:latin typeface="Calibri"/>
              </a:rPr>
              <a:t>Two things fall out:</a:t>
            </a:r>
          </a:p>
          <a:p>
            <a:pPr lvl="1" algn="l">
              <a:lnSpc>
                <a:spcPct val="100000"/>
              </a:lnSpc>
              <a:spcAft>
                <a:spcPts val="900"/>
              </a:spcAft>
              <a:defRPr sz="1900" b="0">
                <a:solidFill>
                  <a:srgbClr val="222222"/>
                </a:solidFill>
                <a:latin typeface="Calibri"/>
              </a:defRPr>
            </a:pPr>
            <a:r>
              <a:rPr sz="1900" b="0">
                <a:solidFill>
                  <a:srgbClr val="222222"/>
                </a:solidFill>
                <a:latin typeface="Calibri"/>
              </a:rPr>
              <a:t>Two modes can never be half-on at once, because there is one variable and it holds one value.</a:t>
            </a:r>
          </a:p>
          <a:p>
            <a:pPr lvl="1" algn="l">
              <a:lnSpc>
                <a:spcPct val="100000"/>
              </a:lnSpc>
              <a:spcAft>
                <a:spcPts val="900"/>
              </a:spcAft>
              <a:defRPr sz="1900" b="0">
                <a:solidFill>
                  <a:srgbClr val="222222"/>
                </a:solidFill>
                <a:latin typeface="Calibri"/>
              </a:defRPr>
            </a:pPr>
            <a:r>
              <a:rPr sz="1900" b="0">
                <a:solidFill>
                  <a:srgbClr val="222222"/>
                </a:solidFill>
                <a:latin typeface="Calibri"/>
              </a:rPr>
              <a:t>Adding a mode is one enum value and one branch - not a new combination to test against every existing flag.</a:t>
            </a:r>
          </a:p>
          <a:p>
            <a:pPr algn="l">
              <a:lnSpc>
                <a:spcPct val="100000"/>
              </a:lnSpc>
              <a:spcAft>
                <a:spcPts val="900"/>
              </a:spcAft>
              <a:defRPr sz="1900" b="0">
                <a:solidFill>
                  <a:srgbClr val="222222"/>
                </a:solidFill>
                <a:latin typeface="Calibri"/>
              </a:defRPr>
            </a:pPr>
          </a:p>
          <a:p>
            <a:pPr lvl="1" algn="l">
              <a:lnSpc>
                <a:spcPct val="100000"/>
              </a:lnSpc>
              <a:spcAft>
                <a:spcPts val="900"/>
              </a:spcAft>
              <a:defRPr sz="1900" b="0">
                <a:solidFill>
                  <a:srgbClr val="222222"/>
                </a:solidFill>
                <a:latin typeface="Calibri"/>
              </a:defRPr>
            </a:pPr>
            <a:r>
              <a:rPr sz="1900" b="0">
                <a:solidFill>
                  <a:srgbClr val="222222"/>
                </a:solidFill>
                <a:latin typeface="Calibri"/>
              </a:rPr>
              <a:t>enum LEDMode { DISCONNECTED, STANDBY, TURN_LEFT, TURN_RIGHT,</a:t>
            </a:r>
          </a:p>
          <a:p>
            <a:pPr lvl="1" algn="l">
              <a:lnSpc>
                <a:spcPct val="100000"/>
              </a:lnSpc>
              <a:spcAft>
                <a:spcPts val="900"/>
              </a:spcAft>
              <a:defRPr sz="1900" b="0">
                <a:solidFill>
                  <a:srgbClr val="222222"/>
                </a:solidFill>
                <a:latin typeface="Calibri"/>
              </a:defRPr>
            </a:pPr>
            <a:r>
              <a:rPr sz="1900" b="0">
                <a:solidFill>
                  <a:srgbClr val="222222"/>
                </a:solidFill>
                <a:latin typeface="Calibri"/>
              </a:rPr>
              <a:t>               PAIRING, KITT_SCANNER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lighting state machine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4</a:t>
            </a:r>
          </a:p>
        </p:txBody>
      </p:sp>
      <p:sp>
        <p:nvSpPr>
          <p:cNvPr id="6" name="Rounded Rectangle 5"/>
          <p:cNvSpPr/>
          <p:nvPr/>
        </p:nvSpPr>
        <p:spPr>
          <a:xfrm>
            <a:off x="685800" y="1508760"/>
            <a:ext cx="2834640" cy="566928"/>
          </a:xfrm>
          <a:prstGeom prst="roundRect">
            <a:avLst>
              <a:gd name="adj" fmla="val 12000"/>
            </a:avLst>
          </a:prstGeom>
          <a:solidFill>
            <a:srgbClr val="E8ECF0"/>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DISCONNECTED</a:t>
            </a:r>
          </a:p>
        </p:txBody>
      </p:sp>
      <p:sp>
        <p:nvSpPr>
          <p:cNvPr id="7" name="TextBox 6"/>
          <p:cNvSpPr txBox="1"/>
          <p:nvPr/>
        </p:nvSpPr>
        <p:spPr>
          <a:xfrm>
            <a:off x="685800" y="2103120"/>
            <a:ext cx="2834640" cy="6593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green pulse</a:t>
            </a:r>
          </a:p>
          <a:p>
            <a:pPr algn="ctr">
              <a:lnSpc>
                <a:spcPct val="100000"/>
              </a:lnSpc>
              <a:spcAft>
                <a:spcPts val="0"/>
              </a:spcAft>
              <a:defRPr sz="1800" b="0">
                <a:solidFill>
                  <a:srgbClr val="666666"/>
                </a:solidFill>
                <a:latin typeface="Calibri"/>
              </a:defRPr>
            </a:pPr>
            <a:r>
              <a:rPr sz="1800" b="0">
                <a:solidFill>
                  <a:srgbClr val="666666"/>
                </a:solidFill>
                <a:latin typeface="Calibri"/>
              </a:rPr>
              <a:t>no controller</a:t>
            </a:r>
          </a:p>
        </p:txBody>
      </p:sp>
      <p:sp>
        <p:nvSpPr>
          <p:cNvPr id="8" name="Rounded Rectangle 7"/>
          <p:cNvSpPr/>
          <p:nvPr/>
        </p:nvSpPr>
        <p:spPr>
          <a:xfrm>
            <a:off x="685800" y="3429000"/>
            <a:ext cx="2834640" cy="566928"/>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PAIRING</a:t>
            </a:r>
          </a:p>
        </p:txBody>
      </p:sp>
      <p:sp>
        <p:nvSpPr>
          <p:cNvPr id="9" name="TextBox 8"/>
          <p:cNvSpPr txBox="1"/>
          <p:nvPr/>
        </p:nvSpPr>
        <p:spPr>
          <a:xfrm>
            <a:off x="685800" y="4023360"/>
            <a:ext cx="2834640" cy="6593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blue breathing</a:t>
            </a:r>
          </a:p>
          <a:p>
            <a:pPr algn="ctr">
              <a:lnSpc>
                <a:spcPct val="100000"/>
              </a:lnSpc>
              <a:spcAft>
                <a:spcPts val="0"/>
              </a:spcAft>
              <a:defRPr sz="1800" b="0">
                <a:solidFill>
                  <a:srgbClr val="666666"/>
                </a:solidFill>
                <a:latin typeface="Calibri"/>
              </a:defRPr>
            </a:pPr>
            <a:r>
              <a:rPr sz="1800" b="0">
                <a:solidFill>
                  <a:srgbClr val="666666"/>
                </a:solidFill>
                <a:latin typeface="Calibri"/>
              </a:rPr>
              <a:t>waiting to pair</a:t>
            </a:r>
          </a:p>
        </p:txBody>
      </p:sp>
      <p:sp>
        <p:nvSpPr>
          <p:cNvPr id="10" name="Rounded Rectangle 9"/>
          <p:cNvSpPr/>
          <p:nvPr/>
        </p:nvSpPr>
        <p:spPr>
          <a:xfrm>
            <a:off x="4709160" y="2468880"/>
            <a:ext cx="2834640" cy="566928"/>
          </a:xfrm>
          <a:prstGeom prst="roundRect">
            <a:avLst>
              <a:gd name="adj" fmla="val 12000"/>
            </a:avLst>
          </a:prstGeom>
          <a:solidFill>
            <a:srgbClr val="FFFFFF"/>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STANDBY</a:t>
            </a:r>
          </a:p>
        </p:txBody>
      </p:sp>
      <p:sp>
        <p:nvSpPr>
          <p:cNvPr id="11" name="TextBox 10"/>
          <p:cNvSpPr txBox="1"/>
          <p:nvPr/>
        </p:nvSpPr>
        <p:spPr>
          <a:xfrm>
            <a:off x="4709160" y="3063240"/>
            <a:ext cx="2834640" cy="659384"/>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headlights + tail lights</a:t>
            </a:r>
          </a:p>
          <a:p>
            <a:pPr algn="ctr">
              <a:lnSpc>
                <a:spcPct val="100000"/>
              </a:lnSpc>
              <a:spcAft>
                <a:spcPts val="0"/>
              </a:spcAft>
              <a:defRPr sz="1800" b="0">
                <a:solidFill>
                  <a:srgbClr val="666666"/>
                </a:solidFill>
                <a:latin typeface="Calibri"/>
              </a:defRPr>
            </a:pPr>
            <a:r>
              <a:rPr sz="1800" b="0">
                <a:solidFill>
                  <a:srgbClr val="666666"/>
                </a:solidFill>
                <a:latin typeface="Calibri"/>
              </a:rPr>
              <a:t>redrawn only when dirty</a:t>
            </a:r>
          </a:p>
        </p:txBody>
      </p:sp>
      <p:sp>
        <p:nvSpPr>
          <p:cNvPr id="12" name="Rounded Rectangle 11"/>
          <p:cNvSpPr/>
          <p:nvPr/>
        </p:nvSpPr>
        <p:spPr>
          <a:xfrm>
            <a:off x="8732520" y="1280160"/>
            <a:ext cx="2834640" cy="566928"/>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TURN_LEFT</a:t>
            </a:r>
          </a:p>
        </p:txBody>
      </p:sp>
      <p:sp>
        <p:nvSpPr>
          <p:cNvPr id="13" name="TextBox 12"/>
          <p:cNvSpPr txBox="1"/>
          <p:nvPr/>
        </p:nvSpPr>
        <p:spPr>
          <a:xfrm>
            <a:off x="8732520" y="1874520"/>
            <a:ext cx="283464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amber bar, 3 cycles</a:t>
            </a:r>
          </a:p>
        </p:txBody>
      </p:sp>
      <p:sp>
        <p:nvSpPr>
          <p:cNvPr id="14" name="Rounded Rectangle 13"/>
          <p:cNvSpPr/>
          <p:nvPr/>
        </p:nvSpPr>
        <p:spPr>
          <a:xfrm>
            <a:off x="8732520" y="2468880"/>
            <a:ext cx="2834640" cy="566928"/>
          </a:xfrm>
          <a:prstGeom prst="roundRect">
            <a:avLst>
              <a:gd name="adj" fmla="val 12000"/>
            </a:avLst>
          </a:prstGeom>
          <a:solidFill>
            <a:srgbClr val="FAE6C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TURN_RIGHT</a:t>
            </a:r>
          </a:p>
        </p:txBody>
      </p:sp>
      <p:sp>
        <p:nvSpPr>
          <p:cNvPr id="15" name="TextBox 14"/>
          <p:cNvSpPr txBox="1"/>
          <p:nvPr/>
        </p:nvSpPr>
        <p:spPr>
          <a:xfrm>
            <a:off x="8732520" y="3063240"/>
            <a:ext cx="283464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amber bar, 3 cycles</a:t>
            </a:r>
          </a:p>
        </p:txBody>
      </p:sp>
      <p:sp>
        <p:nvSpPr>
          <p:cNvPr id="16" name="Rounded Rectangle 15"/>
          <p:cNvSpPr/>
          <p:nvPr/>
        </p:nvSpPr>
        <p:spPr>
          <a:xfrm>
            <a:off x="8732520" y="3657600"/>
            <a:ext cx="2834640" cy="566928"/>
          </a:xfrm>
          <a:prstGeom prst="roundRect">
            <a:avLst>
              <a:gd name="adj" fmla="val 12000"/>
            </a:avLst>
          </a:prstGeom>
          <a:solidFill>
            <a:srgbClr val="D6ECEE"/>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lnSpc>
                <a:spcPct val="100000"/>
              </a:lnSpc>
              <a:spcAft>
                <a:spcPts val="0"/>
              </a:spcAft>
              <a:defRPr sz="1400" b="1">
                <a:solidFill>
                  <a:srgbClr val="1F3A5F"/>
                </a:solidFill>
                <a:latin typeface="Consolas"/>
              </a:defRPr>
            </a:pPr>
            <a:r>
              <a:rPr sz="1400" b="1">
                <a:solidFill>
                  <a:srgbClr val="1F3A5F"/>
                </a:solidFill>
                <a:latin typeface="Consolas"/>
              </a:rPr>
              <a:t>KITT_SCANNER</a:t>
            </a:r>
          </a:p>
        </p:txBody>
      </p:sp>
      <p:sp>
        <p:nvSpPr>
          <p:cNvPr id="17" name="TextBox 16"/>
          <p:cNvSpPr txBox="1"/>
          <p:nvPr/>
        </p:nvSpPr>
        <p:spPr>
          <a:xfrm>
            <a:off x="8732520" y="4251960"/>
            <a:ext cx="2834640" cy="367792"/>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sweeping dot, 3 cycles</a:t>
            </a:r>
          </a:p>
        </p:txBody>
      </p:sp>
      <p:cxnSp>
        <p:nvCxnSpPr>
          <p:cNvPr id="18" name="Connector 17"/>
          <p:cNvCxnSpPr/>
          <p:nvPr/>
        </p:nvCxnSpPr>
        <p:spPr>
          <a:xfrm>
            <a:off x="3520440" y="1792224"/>
            <a:ext cx="1188720" cy="960120"/>
          </a:xfrm>
          <a:prstGeom prst="line">
            <a:avLst/>
          </a:prstGeom>
          <a:ln w="22225">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520440" y="2752344"/>
            <a:ext cx="1188720" cy="960120"/>
          </a:xfrm>
          <a:prstGeom prst="line">
            <a:avLst/>
          </a:prstGeom>
          <a:ln w="22225">
            <a:solidFill>
              <a:srgbClr val="0E7C86"/>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543800" y="1563624"/>
            <a:ext cx="1188720" cy="118872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2752344"/>
            <a:ext cx="1188720" cy="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543800" y="2752344"/>
            <a:ext cx="1188720" cy="1188720"/>
          </a:xfrm>
          <a:prstGeom prst="line">
            <a:avLst/>
          </a:prstGeom>
          <a:ln w="22225">
            <a:solidFill>
              <a:srgbClr val="B46A0F"/>
            </a:solidFill>
            <a:headEnd/>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703320" y="2011680"/>
            <a:ext cx="1280160" cy="646684"/>
          </a:xfrm>
          <a:prstGeom prst="rect">
            <a:avLst/>
          </a:prstGeom>
          <a:noFill/>
        </p:spPr>
        <p:txBody>
          <a:bodyPr wrap="square" lIns="0" tIns="0" rIns="0" bIns="0">
            <a:spAutoFit/>
          </a:bodyPr>
          <a:lstStyle/>
          <a:p>
            <a:pPr algn="ctr">
              <a:lnSpc>
                <a:spcPct val="100000"/>
              </a:lnSpc>
              <a:spcAft>
                <a:spcPts val="0"/>
              </a:spcAft>
              <a:defRPr sz="1800" b="0">
                <a:solidFill>
                  <a:srgbClr val="0E7C86"/>
                </a:solidFill>
                <a:latin typeface="Calibri"/>
              </a:defRPr>
            </a:pPr>
            <a:r>
              <a:rPr sz="1800" b="0">
                <a:solidFill>
                  <a:srgbClr val="0E7C86"/>
                </a:solidFill>
                <a:latin typeface="Calibri"/>
              </a:rPr>
              <a:t>controller</a:t>
            </a:r>
            <a:br/>
            <a:r>
              <a:rPr sz="1800" b="0">
                <a:solidFill>
                  <a:srgbClr val="0E7C86"/>
                </a:solidFill>
                <a:latin typeface="Calibri"/>
              </a:rPr>
              <a:t>connects</a:t>
            </a:r>
          </a:p>
        </p:txBody>
      </p:sp>
      <p:sp>
        <p:nvSpPr>
          <p:cNvPr id="24" name="TextBox 23"/>
          <p:cNvSpPr txBox="1"/>
          <p:nvPr/>
        </p:nvSpPr>
        <p:spPr>
          <a:xfrm>
            <a:off x="7589520" y="1828800"/>
            <a:ext cx="1188720" cy="646684"/>
          </a:xfrm>
          <a:prstGeom prst="rect">
            <a:avLst/>
          </a:prstGeom>
          <a:noFill/>
        </p:spPr>
        <p:txBody>
          <a:bodyPr wrap="square" lIns="0" tIns="0" rIns="0" bIns="0">
            <a:spAutoFit/>
          </a:bodyPr>
          <a:lstStyle/>
          <a:p>
            <a:pPr algn="ctr">
              <a:lnSpc>
                <a:spcPct val="100000"/>
              </a:lnSpc>
              <a:spcAft>
                <a:spcPts val="0"/>
              </a:spcAft>
              <a:defRPr sz="1800" b="0">
                <a:solidFill>
                  <a:srgbClr val="B46A0F"/>
                </a:solidFill>
                <a:latin typeface="Calibri"/>
              </a:defRPr>
            </a:pPr>
            <a:r>
              <a:rPr sz="1800" b="0">
                <a:solidFill>
                  <a:srgbClr val="B46A0F"/>
                </a:solidFill>
                <a:latin typeface="Calibri"/>
              </a:rPr>
              <a:t>D-pad</a:t>
            </a:r>
            <a:br/>
            <a:r>
              <a:rPr sz="1800" b="0">
                <a:solidFill>
                  <a:srgbClr val="B46A0F"/>
                </a:solidFill>
                <a:latin typeface="Calibri"/>
              </a:rPr>
              <a:t>or button</a:t>
            </a:r>
          </a:p>
        </p:txBody>
      </p:sp>
      <p:sp>
        <p:nvSpPr>
          <p:cNvPr id="25" name="TextBox 24"/>
          <p:cNvSpPr txBox="1"/>
          <p:nvPr/>
        </p:nvSpPr>
        <p:spPr>
          <a:xfrm>
            <a:off x="7452360" y="4023360"/>
            <a:ext cx="1371600" cy="1483360"/>
          </a:xfrm>
          <a:prstGeom prst="rect">
            <a:avLst/>
          </a:prstGeom>
          <a:noFill/>
        </p:spPr>
        <p:txBody>
          <a:bodyPr wrap="square" lIns="0" tIns="0" rIns="0" bIns="0">
            <a:spAutoFit/>
          </a:bodyPr>
          <a:lstStyle/>
          <a:p>
            <a:pPr algn="ctr">
              <a:lnSpc>
                <a:spcPct val="100000"/>
              </a:lnSpc>
              <a:spcAft>
                <a:spcPts val="0"/>
              </a:spcAft>
              <a:defRPr sz="1800" b="0">
                <a:solidFill>
                  <a:srgbClr val="666666"/>
                </a:solidFill>
                <a:latin typeface="Calibri"/>
              </a:defRPr>
            </a:pPr>
            <a:r>
              <a:rPr sz="1800" b="0">
                <a:solidFill>
                  <a:srgbClr val="666666"/>
                </a:solidFill>
                <a:latin typeface="Calibri"/>
              </a:rPr>
              <a:t>each animation counts</a:t>
            </a:r>
            <a:br/>
            <a:r>
              <a:rPr sz="1800" b="0">
                <a:solidFill>
                  <a:srgbClr val="666666"/>
                </a:solidFill>
                <a:latin typeface="Calibri"/>
              </a:rPr>
              <a:t>its own cycles and</a:t>
            </a:r>
            <a:br/>
            <a:r>
              <a:rPr sz="1800" b="0">
                <a:solidFill>
                  <a:srgbClr val="666666"/>
                </a:solidFill>
                <a:latin typeface="Calibri"/>
              </a:rPr>
              <a:t>hands itself back</a:t>
            </a:r>
          </a:p>
        </p:txBody>
      </p:sp>
      <p:sp>
        <p:nvSpPr>
          <p:cNvPr id="26" name="Rounded Rectangle 25"/>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500">
                <a:solidFill>
                  <a:srgbClr val="222222"/>
                </a:solidFill>
                <a:latin typeface="Calibri"/>
              </a:rPr>
              <a:t>One variable holds the mode, so two modes can never be half-on at once. Adding a mode is one enum value and one branch - not a new combination of flags to test.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Non-blocking, as a rule with no exceptions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5</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One frame per pass, never a loop that waits</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500" b="0">
                <a:solidFill>
                  <a:srgbClr val="222222"/>
                </a:solidFill>
                <a:latin typeface="Calibri"/>
              </a:defRPr>
            </a:pPr>
            <a:r>
              <a:rPr sz="2500" b="0">
                <a:solidFill>
                  <a:srgbClr val="222222"/>
                </a:solidFill>
                <a:latin typeface="Calibri"/>
              </a:rPr>
              <a:t>Not one animation function in Op 12 calls delay(). Each checks the clock, returns immediately if it is not time, and draws exactly ONE frame when it is:</a:t>
            </a:r>
          </a:p>
          <a:p>
            <a:pPr algn="l">
              <a:lnSpc>
                <a:spcPct val="100000"/>
              </a:lnSpc>
              <a:spcAft>
                <a:spcPts val="600"/>
              </a:spcAft>
              <a:defRPr sz="2500" b="0">
                <a:solidFill>
                  <a:srgbClr val="222222"/>
                </a:solidFill>
                <a:latin typeface="Calibri"/>
              </a:defRPr>
            </a:pPr>
          </a:p>
          <a:p>
            <a:pPr lvl="1" algn="l">
              <a:lnSpc>
                <a:spcPct val="100000"/>
              </a:lnSpc>
              <a:spcAft>
                <a:spcPts val="600"/>
              </a:spcAft>
              <a:defRPr sz="2500" b="0">
                <a:solidFill>
                  <a:srgbClr val="222222"/>
                </a:solidFill>
                <a:latin typeface="Calibri"/>
              </a:defRPr>
            </a:pPr>
            <a:r>
              <a:rPr sz="2500" b="0">
                <a:solidFill>
                  <a:srgbClr val="222222"/>
                </a:solidFill>
                <a:latin typeface="Calibri"/>
              </a:rPr>
              <a:t>if (now - last_update &lt; INTERVAL) return;</a:t>
            </a:r>
          </a:p>
          <a:p>
            <a:pPr lvl="1" algn="l">
              <a:lnSpc>
                <a:spcPct val="100000"/>
              </a:lnSpc>
              <a:spcAft>
                <a:spcPts val="600"/>
              </a:spcAft>
              <a:defRPr sz="2500" b="0">
                <a:solidFill>
                  <a:srgbClr val="222222"/>
                </a:solidFill>
                <a:latin typeface="Calibri"/>
              </a:defRPr>
            </a:pPr>
            <a:r>
              <a:rPr sz="2500" b="0">
                <a:solidFill>
                  <a:srgbClr val="222222"/>
                </a:solidFill>
                <a:latin typeface="Calibri"/>
              </a:rPr>
              <a:t>last_update = now;</a:t>
            </a:r>
          </a:p>
          <a:p>
            <a:pPr lvl="1" algn="l">
              <a:lnSpc>
                <a:spcPct val="100000"/>
              </a:lnSpc>
              <a:spcAft>
                <a:spcPts val="600"/>
              </a:spcAft>
              <a:defRPr sz="2500" b="0">
                <a:solidFill>
                  <a:srgbClr val="222222"/>
                </a:solidFill>
                <a:latin typeface="Calibri"/>
              </a:defRPr>
            </a:pPr>
            <a:r>
              <a:rPr sz="2500" b="0">
                <a:solidFill>
                  <a:srgbClr val="222222"/>
                </a:solidFill>
                <a:latin typeface="Calibri"/>
              </a:rPr>
              <a:t>// ...draw one frame...</a:t>
            </a:r>
          </a:p>
          <a:p>
            <a:pPr algn="l">
              <a:lnSpc>
                <a:spcPct val="100000"/>
              </a:lnSpc>
              <a:spcAft>
                <a:spcPts val="600"/>
              </a:spcAft>
              <a:defRPr sz="2500" b="0">
                <a:solidFill>
                  <a:srgbClr val="222222"/>
                </a:solidFill>
                <a:latin typeface="Calibri"/>
              </a:defRPr>
            </a:pPr>
          </a:p>
          <a:p>
            <a:pPr algn="l">
              <a:lnSpc>
                <a:spcPct val="100000"/>
              </a:lnSpc>
              <a:spcAft>
                <a:spcPts val="600"/>
              </a:spcAft>
              <a:defRPr sz="2500" b="0">
                <a:solidFill>
                  <a:srgbClr val="222222"/>
                </a:solidFill>
                <a:latin typeface="Calibri"/>
              </a:defRPr>
            </a:pPr>
            <a:r>
              <a:rPr sz="2500" b="0">
                <a:solidFill>
                  <a:srgbClr val="222222"/>
                </a:solidFill>
                <a:latin typeface="Calibri"/>
              </a:rPr>
              <a:t>That is what lets the vehicle drive, read its controller, watch its current and animate all at the same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Non-blocking, as a rule with no exceptions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6</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The old System Test program did the opposite: a light pattern with delay() in it froze the vehicle for two seconds, still holding whatever motor command was last set. A vehicle that keeps driving while it ignores you is not a cosmetic problem.</a:t>
            </a:r>
          </a:p>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The one legitimate delay() in the whole program is the startup light show, because nothing else needs to happen yet.</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500">
                <a:solidFill>
                  <a:srgbClr val="222222"/>
                </a:solidFill>
                <a:latin typeface="Calibri"/>
              </a:rPr>
              <a:t>"Draw one frame and return" is the same discipline a game engine uses. Once you see it, you will see it everywhere.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Dirty flags: not redrawing for nothing</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Lighting.ino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666666"/>
                </a:solidFill>
                <a:latin typeface="Consolas"/>
              </a:rPr>
              <a:t>// STANDBY is not an animation. It is ONE PICTURE that changes</a:t>
            </a:r>
          </a:p>
          <a:p>
            <a:pPr algn="l">
              <a:lnSpc>
                <a:spcPct val="100000"/>
              </a:lnSpc>
              <a:spcAft>
                <a:spcPts val="0"/>
              </a:spcAft>
              <a:defRPr sz="1400">
                <a:latin typeface="Consolas"/>
              </a:defRPr>
            </a:pPr>
            <a:r>
              <a:rPr sz="1400">
                <a:solidFill>
                  <a:srgbClr val="666666"/>
                </a:solidFill>
                <a:latin typeface="Consolas"/>
              </a:rPr>
              <a:t>// only when the headlights or running lights change.</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void set_standby_lighting() {</a:t>
            </a:r>
          </a:p>
          <a:p>
            <a:pPr algn="l">
              <a:lnSpc>
                <a:spcPct val="100000"/>
              </a:lnSpc>
              <a:spcAft>
                <a:spcPts val="0"/>
              </a:spcAft>
              <a:defRPr sz="1400">
                <a:latin typeface="Consolas"/>
              </a:defRPr>
            </a:pPr>
            <a:r>
              <a:rPr sz="1400">
                <a:solidFill>
                  <a:srgbClr val="222222"/>
                </a:solidFill>
                <a:latin typeface="Consolas"/>
              </a:rPr>
              <a:t>  strip.clear();</a:t>
            </a:r>
          </a:p>
          <a:p>
            <a:pPr algn="l">
              <a:lnSpc>
                <a:spcPct val="100000"/>
              </a:lnSpc>
              <a:spcAft>
                <a:spcPts val="0"/>
              </a:spcAft>
              <a:defRPr sz="1400">
                <a:latin typeface="Consolas"/>
              </a:defRPr>
            </a:pPr>
            <a:r>
              <a:rPr sz="1400">
                <a:solidFill>
                  <a:srgbClr val="222222"/>
                </a:solidFill>
                <a:latin typeface="Consolas"/>
              </a:rPr>
              <a:t>  if (running_lights_on) {</a:t>
            </a:r>
          </a:p>
          <a:p>
            <a:pPr algn="l">
              <a:lnSpc>
                <a:spcPct val="100000"/>
              </a:lnSpc>
              <a:spcAft>
                <a:spcPts val="0"/>
              </a:spcAft>
              <a:defRPr sz="1400">
                <a:latin typeface="Consolas"/>
              </a:defRPr>
            </a:pPr>
            <a:r>
              <a:rPr sz="1400">
                <a:solidFill>
                  <a:srgbClr val="222222"/>
                </a:solidFill>
                <a:latin typeface="Consolas"/>
              </a:rPr>
              <a:t>    uint8_t level = full_headlights ? HEADLIGHT_BRIGHT</a:t>
            </a:r>
          </a:p>
          <a:p>
            <a:pPr algn="l">
              <a:lnSpc>
                <a:spcPct val="100000"/>
              </a:lnSpc>
              <a:spcAft>
                <a:spcPts val="0"/>
              </a:spcAft>
              <a:defRPr sz="1400">
                <a:latin typeface="Consolas"/>
              </a:defRPr>
            </a:pPr>
            <a:r>
              <a:rPr sz="1400">
                <a:solidFill>
                  <a:srgbClr val="222222"/>
                </a:solidFill>
                <a:latin typeface="Consolas"/>
              </a:rPr>
              <a:t>                                    : HEADLIGHT_DIM;</a:t>
            </a:r>
          </a:p>
          <a:p>
            <a:pPr algn="l">
              <a:lnSpc>
                <a:spcPct val="100000"/>
              </a:lnSpc>
              <a:spcAft>
                <a:spcPts val="0"/>
              </a:spcAft>
              <a:defRPr sz="1400">
                <a:latin typeface="Consolas"/>
              </a:defRPr>
            </a:pPr>
            <a:r>
              <a:rPr sz="1400">
                <a:solidFill>
                  <a:srgbClr val="222222"/>
                </a:solidFill>
                <a:latin typeface="Consolas"/>
              </a:rPr>
              <a:t>    fill_range(LEFT_FRONT_START, CORNER_LEN * 2, rgb(level, level, level));</a:t>
            </a:r>
          </a:p>
          <a:p>
            <a:pPr algn="l">
              <a:lnSpc>
                <a:spcPct val="100000"/>
              </a:lnSpc>
              <a:spcAft>
                <a:spcPts val="0"/>
              </a:spcAft>
              <a:defRPr sz="1400">
                <a:latin typeface="Consolas"/>
              </a:defRPr>
            </a:pPr>
            <a:r>
              <a:rPr sz="1400">
                <a:solidFill>
                  <a:srgbClr val="222222"/>
                </a:solidFill>
                <a:latin typeface="Consolas"/>
              </a:rPr>
              <a:t>    fill_range(RIGHT_REAR_START, CORNER_LEN * 2, rgb(TAILLIGHT_LEVEL, 0, 0));</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strip.show();</a:t>
            </a:r>
          </a:p>
          <a:p>
            <a:pPr algn="l">
              <a:lnSpc>
                <a:spcPct val="100000"/>
              </a:lnSpc>
              <a:spcAft>
                <a:spcPts val="0"/>
              </a:spcAft>
              <a:defRPr sz="1400">
                <a:latin typeface="Consolas"/>
              </a:defRPr>
            </a:pPr>
            <a:r>
              <a:rPr sz="1400" b="1">
                <a:solidFill>
                  <a:srgbClr val="0E7C86"/>
                </a:solidFill>
                <a:latin typeface="Consolas"/>
              </a:rPr>
              <a:t>  standby_dirty = false;        // &lt;- the whole point</a:t>
            </a:r>
          </a:p>
          <a:p>
            <a:pPr algn="l">
              <a:lnSpc>
                <a:spcPct val="100000"/>
              </a:lnSpc>
              <a:spcAft>
                <a:spcPts val="0"/>
              </a:spcAft>
              <a:defRPr sz="1400">
                <a:latin typeface="Consolas"/>
              </a:defRPr>
            </a:pPr>
            <a:r>
              <a:rPr sz="1400">
                <a:solidFill>
                  <a:srgbClr val="222222"/>
                </a:solidFill>
                <a:latin typeface="Consolas"/>
              </a:rPr>
              <a:t>}</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666666"/>
                </a:solidFill>
                <a:latin typeface="Consolas"/>
              </a:rPr>
              <a:t>// ...and the last branch of update_lighting():</a:t>
            </a:r>
          </a:p>
          <a:p>
            <a:pPr algn="l">
              <a:lnSpc>
                <a:spcPct val="100000"/>
              </a:lnSpc>
              <a:spcAft>
                <a:spcPts val="0"/>
              </a:spcAft>
              <a:defRPr sz="1400">
                <a:latin typeface="Consolas"/>
              </a:defRPr>
            </a:pPr>
            <a:r>
              <a:rPr sz="1400">
                <a:solidFill>
                  <a:srgbClr val="222222"/>
                </a:solidFill>
                <a:latin typeface="Consolas"/>
              </a:rPr>
              <a:t>  if (led_mode == STANDBY &amp;&amp; standby_dirty) {</a:t>
            </a:r>
          </a:p>
          <a:p>
            <a:pPr algn="l">
              <a:lnSpc>
                <a:spcPct val="100000"/>
              </a:lnSpc>
              <a:spcAft>
                <a:spcPts val="0"/>
              </a:spcAft>
              <a:defRPr sz="1400">
                <a:latin typeface="Consolas"/>
              </a:defRPr>
            </a:pPr>
            <a:r>
              <a:rPr sz="1400">
                <a:solidFill>
                  <a:srgbClr val="222222"/>
                </a:solidFill>
                <a:latin typeface="Consolas"/>
              </a:rPr>
              <a:t>    set_standby_lighting();</a:t>
            </a:r>
          </a:p>
          <a:p>
            <a:pPr algn="l">
              <a:lnSpc>
                <a:spcPct val="100000"/>
              </a:lnSpc>
              <a:spcAft>
                <a:spcPts val="0"/>
              </a:spcAft>
              <a:defRPr sz="1400">
                <a:latin typeface="Consolas"/>
              </a:defRPr>
            </a:pPr>
            <a:r>
              <a:rPr sz="1400">
                <a:solidFill>
                  <a:srgbClr val="222222"/>
                </a:solidFill>
                <a:latin typeface="Consolas"/>
              </a:rPr>
              <a:t>  }</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600"/>
              </a:spcAft>
              <a:defRPr sz="1800" b="0">
                <a:solidFill>
                  <a:srgbClr val="222222"/>
                </a:solidFill>
                <a:latin typeface="Calibri"/>
              </a:defRPr>
            </a:pPr>
            <a:r>
              <a:rPr sz="1800" b="0">
                <a:solidFill>
                  <a:srgbClr val="222222"/>
                </a:solidFill>
                <a:latin typeface="Calibri"/>
              </a:rPr>
              <a:t>Pushing 32 WS2812B pixels takes about 1 ms of tightly timed bit-banging. loop() runs tens of thousands of times a second.</a:t>
            </a:r>
          </a:p>
          <a:p>
            <a:pPr algn="l">
              <a:lnSpc>
                <a:spcPct val="100000"/>
              </a:lnSpc>
              <a:spcAft>
                <a:spcPts val="600"/>
              </a:spcAft>
              <a:defRPr sz="1800" b="0">
                <a:solidFill>
                  <a:srgbClr val="222222"/>
                </a:solidFill>
                <a:latin typeface="Calibri"/>
              </a:defRPr>
            </a:pPr>
            <a:r>
              <a:rPr sz="1800" b="0">
                <a:solidFill>
                  <a:srgbClr val="222222"/>
                </a:solidFill>
                <a:latin typeface="Calibri"/>
              </a:rPr>
              <a:t>11.2 pushed standby lighting on EVERY pass. That is most of the vehicle's attention, spent redrawing an identical picture.</a:t>
            </a:r>
          </a:p>
          <a:p>
            <a:pPr algn="l">
              <a:lnSpc>
                <a:spcPct val="100000"/>
              </a:lnSpc>
              <a:spcAft>
                <a:spcPts val="600"/>
              </a:spcAft>
              <a:defRPr sz="1800" b="0">
                <a:solidFill>
                  <a:srgbClr val="222222"/>
                </a:solidFill>
                <a:latin typeface="Calibri"/>
              </a:defRPr>
            </a:pPr>
            <a:r>
              <a:rPr sz="1800" b="0">
                <a:solidFill>
                  <a:srgbClr val="222222"/>
                </a:solidFill>
                <a:latin typeface="Calibri"/>
              </a:rPr>
              <a:t>Anything that alters the picture sets standby_dirty = true. The state machine clears it.</a:t>
            </a:r>
          </a:p>
          <a:p>
            <a:pPr algn="l">
              <a:lnSpc>
                <a:spcPct val="100000"/>
              </a:lnSpc>
              <a:spcAft>
                <a:spcPts val="600"/>
              </a:spcAft>
              <a:defRPr sz="1800" b="0">
                <a:solidFill>
                  <a:srgbClr val="222222"/>
                </a:solidFill>
                <a:latin typeface="Calibri"/>
              </a:defRPr>
            </a:pPr>
            <a:r>
              <a:rPr sz="1800" b="0">
                <a:solidFill>
                  <a:srgbClr val="222222"/>
                </a:solidFill>
                <a:latin typeface="Calibri"/>
              </a:rPr>
              <a:t>Graphics engines, spreadsheets and browsers all do this. Anywhere redrawing is expensive, something is tracking what actually changed.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8</a:t>
            </a:r>
          </a:p>
        </p:txBody>
      </p:sp>
      <p:sp>
        <p:nvSpPr>
          <p:cNvPr id="6" name="Rounded Rectangle 5"/>
          <p:cNvSpPr/>
          <p:nvPr/>
        </p:nvSpPr>
        <p:spPr>
          <a:xfrm>
            <a:off x="502920" y="2240280"/>
            <a:ext cx="3631082" cy="173736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State machines</a:t>
            </a:r>
          </a:p>
        </p:txBody>
      </p:sp>
      <p:sp>
        <p:nvSpPr>
          <p:cNvPr id="7" name="TextBox 6"/>
          <p:cNvSpPr txBox="1"/>
          <p:nvPr/>
        </p:nvSpPr>
        <p:spPr>
          <a:xfrm>
            <a:off x="502920"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done</a:t>
            </a:r>
          </a:p>
        </p:txBody>
      </p:sp>
      <p:sp>
        <p:nvSpPr>
          <p:cNvPr id="8" name="Rounded Rectangle 7"/>
          <p:cNvSpPr/>
          <p:nvPr/>
        </p:nvSpPr>
        <p:spPr>
          <a:xfrm>
            <a:off x="4280306" y="2240280"/>
            <a:ext cx="3631082" cy="173736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Measuring a redraw</a:t>
            </a:r>
          </a:p>
        </p:txBody>
      </p:sp>
      <p:sp>
        <p:nvSpPr>
          <p:cNvPr id="9" name="TextBox 8"/>
          <p:cNvSpPr txBox="1"/>
          <p:nvPr/>
        </p:nvSpPr>
        <p:spPr>
          <a:xfrm>
            <a:off x="4280306"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NOW</a:t>
            </a:r>
          </a:p>
        </p:txBody>
      </p:sp>
      <p:sp>
        <p:nvSpPr>
          <p:cNvPr id="10" name="Rounded Rectangle 9"/>
          <p:cNvSpPr/>
          <p:nvPr/>
        </p:nvSpPr>
        <p:spPr>
          <a:xfrm>
            <a:off x="8057692" y="2240280"/>
            <a:ext cx="3631082" cy="1737360"/>
          </a:xfrm>
          <a:prstGeom prst="roundRect">
            <a:avLst>
              <a:gd name="adj" fmla="val 8000"/>
            </a:avLst>
          </a:prstGeom>
          <a:solidFill>
            <a:srgbClr val="FFFFFF"/>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666666"/>
                </a:solidFill>
                <a:latin typeface="Calibri"/>
              </a:defRPr>
            </a:pPr>
            <a:r>
              <a:rPr sz="1700" b="0">
                <a:solidFill>
                  <a:srgbClr val="666666"/>
                </a:solidFill>
                <a:latin typeface="Calibri"/>
              </a:rPr>
              <a:t>Turn signal geometry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measure the state machine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9</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a4a_led_state_machine</a:t>
            </a:r>
            <a:r>
              <a:rPr sz="1200">
                <a:solidFill>
                  <a:srgbClr val="FFFFFF"/>
                </a:solidFill>
                <a:latin typeface="Calibri"/>
              </a:rPr>
              <a:t>     (35 minutes)</a:t>
            </a:r>
          </a:p>
        </p:txBody>
      </p:sp>
      <p:sp>
        <p:nvSpPr>
          <p:cNvPr id="7" name="TextBox 6"/>
          <p:cNvSpPr txBox="1"/>
          <p:nvPr/>
        </p:nvSpPr>
        <p:spPr>
          <a:xfrm>
            <a:off x="502920" y="1901952"/>
            <a:ext cx="5387187" cy="4361688"/>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1.  Upload. Switch between the four modes from the console.</a:t>
            </a:r>
          </a:p>
          <a:p>
            <a:pPr algn="l">
              <a:lnSpc>
                <a:spcPct val="100000"/>
              </a:lnSpc>
              <a:spcAft>
                <a:spcPts val="800"/>
              </a:spcAft>
              <a:defRPr sz="1800" b="0">
                <a:solidFill>
                  <a:srgbClr val="222222"/>
                </a:solidFill>
                <a:latin typeface="Calibri"/>
              </a:defRPr>
            </a:pPr>
            <a:r>
              <a:rPr sz="1800" b="0">
                <a:solidFill>
                  <a:srgbClr val="222222"/>
                </a:solidFill>
                <a:latin typeface="Calibri"/>
              </a:rPr>
              <a:t>2.  Type  load  in each mode. Which mode costs the most time per pass? Why?</a:t>
            </a:r>
          </a:p>
          <a:p>
            <a:pPr algn="l">
              <a:lnSpc>
                <a:spcPct val="100000"/>
              </a:lnSpc>
              <a:spcAft>
                <a:spcPts val="800"/>
              </a:spcAft>
              <a:defRPr sz="1800" b="0">
                <a:solidFill>
                  <a:srgbClr val="222222"/>
                </a:solidFill>
                <a:latin typeface="Calibri"/>
              </a:defRPr>
            </a:pPr>
            <a:r>
              <a:rPr sz="1800" b="0">
                <a:solidFill>
                  <a:srgbClr val="222222"/>
                </a:solidFill>
                <a:latin typeface="Calibri"/>
              </a:rPr>
              <a:t>3.  In  standby, type  bright  and  dim. Watch WHEN the redraw happens.</a:t>
            </a:r>
          </a:p>
          <a:p>
            <a:pPr algn="l">
              <a:lnSpc>
                <a:spcPct val="100000"/>
              </a:lnSpc>
              <a:spcAft>
                <a:spcPts val="800"/>
              </a:spcAft>
              <a:defRPr sz="1800" b="0">
                <a:solidFill>
                  <a:srgbClr val="222222"/>
                </a:solidFill>
                <a:latin typeface="Calibri"/>
              </a:defRPr>
            </a:pPr>
            <a:r>
              <a:rPr sz="1800" b="0">
                <a:solidFill>
                  <a:srgbClr val="222222"/>
                </a:solidFill>
                <a:latin typeface="Calibri"/>
              </a:rPr>
              <a:t>4.  Comment out the  standby_dirty = false  at the end of setStandbyLighting. Upload. Check  load  in standby again.</a:t>
            </a:r>
          </a:p>
          <a:p>
            <a:pPr algn="l">
              <a:lnSpc>
                <a:spcPct val="100000"/>
              </a:lnSpc>
              <a:spcAft>
                <a:spcPts val="800"/>
              </a:spcAft>
              <a:defRPr sz="1800" b="0">
                <a:solidFill>
                  <a:srgbClr val="222222"/>
                </a:solidFill>
                <a:latin typeface="Calibri"/>
              </a:defRPr>
            </a:pPr>
            <a:r>
              <a:rPr sz="1800" b="0">
                <a:solidFill>
                  <a:srgbClr val="222222"/>
                </a:solidFill>
                <a:latin typeface="Calibri"/>
              </a:rPr>
              <a:t>5.  Write down both numbers. That is what one line was worth.</a:t>
            </a:r>
          </a:p>
          <a:p>
            <a:pPr algn="l">
              <a:lnSpc>
                <a:spcPct val="100000"/>
              </a:lnSpc>
              <a:spcAft>
                <a:spcPts val="800"/>
              </a:spcAft>
              <a:defRPr sz="1800" b="0">
                <a:solidFill>
                  <a:srgbClr val="222222"/>
                </a:solidFill>
                <a:latin typeface="Calibri"/>
              </a:defRPr>
            </a:pPr>
            <a:r>
              <a:rPr sz="1800" b="0">
                <a:solidFill>
                  <a:srgbClr val="222222"/>
                </a:solidFill>
                <a:latin typeface="Calibri"/>
              </a:rPr>
              <a:t>6.  Add a fifth mode: ALARM, a slow red pulse.</a:t>
            </a:r>
          </a:p>
        </p:txBody>
      </p:sp>
      <p:sp>
        <p:nvSpPr>
          <p:cNvPr id="8" name="TextBox 7"/>
          <p:cNvSpPr txBox="1"/>
          <p:nvPr/>
        </p:nvSpPr>
        <p:spPr>
          <a:xfrm>
            <a:off x="6301587" y="1901952"/>
            <a:ext cx="5387187"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6301587" y="2304288"/>
            <a:ext cx="5387187" cy="1778508"/>
          </a:xfrm>
          <a:prstGeom prst="rect">
            <a:avLst/>
          </a:prstGeom>
          <a:noFill/>
        </p:spPr>
        <p:txBody>
          <a:bodyPr wrap="square" lIns="0" tIns="0" rIns="0" bIns="0">
            <a:spAutoFit/>
          </a:bodyPr>
          <a:lstStyle/>
          <a:p>
            <a:pPr algn="l">
              <a:lnSpc>
                <a:spcPct val="100000"/>
              </a:lnSpc>
              <a:spcAft>
                <a:spcPts val="600"/>
              </a:spcAft>
              <a:defRPr sz="2900" b="0">
                <a:solidFill>
                  <a:srgbClr val="222222"/>
                </a:solidFill>
                <a:latin typeface="Calibri"/>
              </a:defRPr>
            </a:pPr>
            <a:r>
              <a:rPr sz="2900" b="0">
                <a:solidFill>
                  <a:srgbClr val="222222"/>
                </a:solidFill>
                <a:latin typeface="Calibri"/>
              </a:rPr>
              <a:t>A large loop count in standby, and a much smaller one once the dirty flag is removed.</a:t>
            </a:r>
          </a:p>
        </p:txBody>
      </p:sp>
      <p:sp>
        <p:nvSpPr>
          <p:cNvPr id="10" name="TextBox 9"/>
          <p:cNvSpPr txBox="1"/>
          <p:nvPr/>
        </p:nvSpPr>
        <p:spPr>
          <a:xfrm>
            <a:off x="6301587" y="4119372"/>
            <a:ext cx="5387187"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6301587" y="4521708"/>
            <a:ext cx="5387187" cy="1778508"/>
          </a:xfrm>
          <a:prstGeom prst="rect">
            <a:avLst/>
          </a:prstGeom>
          <a:noFill/>
        </p:spPr>
        <p:txBody>
          <a:bodyPr wrap="square" lIns="0" tIns="0" rIns="0" bIns="0">
            <a:spAutoFit/>
          </a:bodyPr>
          <a:lstStyle/>
          <a:p>
            <a:pPr algn="l">
              <a:lnSpc>
                <a:spcPct val="100000"/>
              </a:lnSpc>
              <a:spcAft>
                <a:spcPts val="300"/>
              </a:spcAft>
              <a:defRPr sz="2600" b="0">
                <a:solidFill>
                  <a:srgbClr val="222222"/>
                </a:solidFill>
                <a:latin typeface="Calibri"/>
              </a:defRPr>
            </a:pPr>
            <a:r>
              <a:rPr sz="2600" b="0">
                <a:solidFill>
                  <a:srgbClr val="222222"/>
                </a:solidFill>
                <a:latin typeface="Calibri"/>
              </a:rPr>
              <a:t>How many passes per second in standby with the flag? Without it?</a:t>
            </a:r>
          </a:p>
          <a:p>
            <a:pPr algn="l">
              <a:lnSpc>
                <a:spcPct val="100000"/>
              </a:lnSpc>
              <a:spcAft>
                <a:spcPts val="300"/>
              </a:spcAft>
              <a:defRPr sz="2600" b="0">
                <a:solidFill>
                  <a:srgbClr val="222222"/>
                </a:solidFill>
                <a:latin typeface="Calibri"/>
              </a:defRPr>
            </a:pPr>
            <a:r>
              <a:rPr sz="2600" b="0">
                <a:solidFill>
                  <a:srgbClr val="222222"/>
                </a:solidFill>
                <a:latin typeface="Calibri"/>
              </a:rPr>
              <a:t>What did you have to change to add ALARM? How many places?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Colour helpers, written out longhand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10</a:t>
            </a:r>
          </a:p>
        </p:txBody>
      </p:sp>
      <p:sp>
        <p:nvSpPr>
          <p:cNvPr id="6" name="TextBox 5"/>
          <p:cNvSpPr txBox="1"/>
          <p:nvPr/>
        </p:nvSpPr>
        <p:spPr>
          <a:xfrm>
            <a:off x="502920" y="1188720"/>
            <a:ext cx="536432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What 11.2 got from FastLED</a:t>
            </a:r>
          </a:p>
        </p:txBody>
      </p:sp>
      <p:sp>
        <p:nvSpPr>
          <p:cNvPr id="7" name="TextBox 6"/>
          <p:cNvSpPr txBox="1"/>
          <p:nvPr/>
        </p:nvSpPr>
        <p:spPr>
          <a:xfrm>
            <a:off x="502920" y="1700784"/>
            <a:ext cx="5364327" cy="4562856"/>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CRGB, fill_solid(), nscale8(), sin8() - all free.</a:t>
            </a:r>
          </a:p>
          <a:p>
            <a:pPr algn="l">
              <a:lnSpc>
                <a:spcPct val="100000"/>
              </a:lnSpc>
              <a:spcAft>
                <a:spcPts val="800"/>
              </a:spcAft>
              <a:defRPr sz="1800" b="0">
                <a:solidFill>
                  <a:srgbClr val="222222"/>
                </a:solidFill>
                <a:latin typeface="Calibri"/>
              </a:defRPr>
            </a:pPr>
          </a:p>
          <a:p>
            <a:pPr algn="l">
              <a:lnSpc>
                <a:spcPct val="100000"/>
              </a:lnSpc>
              <a:spcAft>
                <a:spcPts val="800"/>
              </a:spcAft>
              <a:defRPr sz="1800" b="0">
                <a:solidFill>
                  <a:srgbClr val="222222"/>
                </a:solidFill>
                <a:latin typeface="Calibri"/>
              </a:defRPr>
            </a:pPr>
            <a:r>
              <a:rPr sz="1800" b="0">
                <a:solidFill>
                  <a:srgbClr val="222222"/>
                </a:solidFill>
                <a:latin typeface="Calibri"/>
              </a:rPr>
              <a:t>Op 12 cannot use FastLED: version 3.10.5 auto-enables an ESP-DSP FFT backend, and the bluepad32 SDK ships that header without the include directory it needs. There is no per-sketch opt-out.</a:t>
            </a:r>
          </a:p>
          <a:p>
            <a:pPr algn="l">
              <a:lnSpc>
                <a:spcPct val="100000"/>
              </a:lnSpc>
              <a:spcAft>
                <a:spcPts val="800"/>
              </a:spcAft>
              <a:defRPr sz="1800" b="0">
                <a:solidFill>
                  <a:srgbClr val="222222"/>
                </a:solidFill>
                <a:latin typeface="Calibri"/>
              </a:defRPr>
            </a:pPr>
          </a:p>
          <a:p>
            <a:pPr algn="l">
              <a:lnSpc>
                <a:spcPct val="100000"/>
              </a:lnSpc>
              <a:spcAft>
                <a:spcPts val="800"/>
              </a:spcAft>
              <a:defRPr sz="1800" b="0">
                <a:solidFill>
                  <a:srgbClr val="222222"/>
                </a:solidFill>
                <a:latin typeface="Calibri"/>
              </a:defRPr>
            </a:pPr>
            <a:r>
              <a:rPr sz="1800" b="0">
                <a:solidFill>
                  <a:srgbClr val="222222"/>
                </a:solidFill>
                <a:latin typeface="Calibri"/>
              </a:rPr>
              <a:t>So the handful of helpers we actually relied on are written out in Lighting.ino.</a:t>
            </a:r>
          </a:p>
        </p:txBody>
      </p:sp>
      <p:sp>
        <p:nvSpPr>
          <p:cNvPr id="8" name="TextBox 7"/>
          <p:cNvSpPr txBox="1"/>
          <p:nvPr/>
        </p:nvSpPr>
        <p:spPr>
          <a:xfrm>
            <a:off x="6324447" y="1188720"/>
            <a:ext cx="5364327" cy="457200"/>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Why that turned out to be a good thing</a:t>
            </a:r>
          </a:p>
        </p:txBody>
      </p:sp>
      <p:sp>
        <p:nvSpPr>
          <p:cNvPr id="9" name="TextBox 8"/>
          <p:cNvSpPr txBox="1"/>
          <p:nvPr/>
        </p:nvSpPr>
        <p:spPr>
          <a:xfrm>
            <a:off x="6324447" y="1700784"/>
            <a:ext cx="5364327" cy="4562856"/>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r>
              <a:rPr sz="1800" b="0">
                <a:solidFill>
                  <a:srgbClr val="222222"/>
                </a:solidFill>
                <a:latin typeface="Calibri"/>
              </a:rPr>
              <a:t>scale_colour() unpacks a 32-bit colour into three bytes, scales each, and repacks it. Four lines, and now the bit-shifting is visible instead of magic.</a:t>
            </a:r>
          </a:p>
          <a:p>
            <a:pPr algn="l">
              <a:lnSpc>
                <a:spcPct val="100000"/>
              </a:lnSpc>
              <a:spcAft>
                <a:spcPts val="800"/>
              </a:spcAft>
              <a:defRPr sz="1800" b="0">
                <a:solidFill>
                  <a:srgbClr val="222222"/>
                </a:solidFill>
                <a:latin typeface="Calibri"/>
              </a:defRPr>
            </a:pPr>
          </a:p>
          <a:p>
            <a:pPr algn="l">
              <a:lnSpc>
                <a:spcPct val="100000"/>
              </a:lnSpc>
              <a:spcAft>
                <a:spcPts val="800"/>
              </a:spcAft>
              <a:defRPr sz="1800" b="0">
                <a:solidFill>
                  <a:srgbClr val="222222"/>
                </a:solidFill>
                <a:latin typeface="Calibri"/>
              </a:defRPr>
            </a:pPr>
            <a:r>
              <a:rPr sz="1800" b="0">
                <a:solidFill>
                  <a:srgbClr val="222222"/>
                </a:solidFill>
                <a:latin typeface="Calibri"/>
              </a:rPr>
              <a:t>sine8() maps 0..255 of angle onto 0..255 of amplitude with 128 as the midpoint. Two lines of floating point.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Colour helpers, written out longhand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11</a:t>
            </a:r>
          </a:p>
        </p:txBody>
      </p:sp>
      <p:sp>
        <p:nvSpPr>
          <p:cNvPr id="6" name="TextBox 5"/>
          <p:cNvSpPr txBox="1"/>
          <p:nvPr/>
        </p:nvSpPr>
        <p:spPr>
          <a:xfrm>
            <a:off x="6324447" y="1188720"/>
            <a:ext cx="5364327" cy="457200"/>
          </a:xfrm>
          <a:prstGeom prst="rect">
            <a:avLst/>
          </a:prstGeom>
          <a:noFill/>
        </p:spPr>
        <p:txBody>
          <a:bodyPr wrap="square" lIns="0" tIns="0" rIns="0" bIns="0">
            <a:spAutoFit/>
          </a:bodyPr>
          <a:lstStyle/>
          <a:p>
            <a:pPr algn="l">
              <a:lnSpc>
                <a:spcPct val="100000"/>
              </a:lnSpc>
              <a:spcAft>
                <a:spcPts val="600"/>
              </a:spcAft>
              <a:defRPr sz="1800" b="1">
                <a:solidFill>
                  <a:srgbClr val="0E7C86"/>
                </a:solidFill>
                <a:latin typeface="Calibri"/>
              </a:defRPr>
            </a:pPr>
            <a:r>
              <a:rPr sz="1800" b="1">
                <a:solidFill>
                  <a:srgbClr val="0E7C86"/>
                </a:solidFill>
                <a:latin typeface="Calibri"/>
              </a:rPr>
              <a:t>Why that turned out to be a good thing (cont.)</a:t>
            </a:r>
          </a:p>
        </p:txBody>
      </p:sp>
      <p:sp>
        <p:nvSpPr>
          <p:cNvPr id="7" name="TextBox 6"/>
          <p:cNvSpPr txBox="1"/>
          <p:nvPr/>
        </p:nvSpPr>
        <p:spPr>
          <a:xfrm>
            <a:off x="6324447" y="1700784"/>
            <a:ext cx="5364327" cy="3474720"/>
          </a:xfrm>
          <a:prstGeom prst="rect">
            <a:avLst/>
          </a:prstGeom>
          <a:noFill/>
        </p:spPr>
        <p:txBody>
          <a:bodyPr wrap="square" lIns="0" tIns="0" rIns="0" bIns="0">
            <a:spAutoFit/>
          </a:bodyPr>
          <a:lstStyle/>
          <a:p>
            <a:pPr algn="l">
              <a:lnSpc>
                <a:spcPct val="100000"/>
              </a:lnSpc>
              <a:spcAft>
                <a:spcPts val="800"/>
              </a:spcAft>
              <a:defRPr sz="1800" b="0">
                <a:solidFill>
                  <a:srgbClr val="222222"/>
                </a:solidFill>
                <a:latin typeface="Calibri"/>
              </a:defRPr>
            </a:pPr>
          </a:p>
          <a:p>
            <a:pPr algn="l">
              <a:lnSpc>
                <a:spcPct val="100000"/>
              </a:lnSpc>
              <a:spcAft>
                <a:spcPts val="800"/>
              </a:spcAft>
              <a:defRPr sz="1800" b="0">
                <a:solidFill>
                  <a:srgbClr val="222222"/>
                </a:solidFill>
                <a:latin typeface="Calibri"/>
              </a:defRPr>
            </a:pPr>
            <a:r>
              <a:rPr sz="1800" b="0">
                <a:solidFill>
                  <a:srgbClr val="222222"/>
                </a:solidFill>
                <a:latin typeface="Calibri"/>
              </a:rPr>
              <a:t>A dependency you do not understand is a dependency that will eventually break in a way you cannot fix. Forty lines of your own code is often the cheaper option.</a:t>
            </a:r>
          </a:p>
        </p:txBody>
      </p:sp>
      <p:sp>
        <p:nvSpPr>
          <p:cNvPr id="8" name="Rounded Rectangle 7"/>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500">
                <a:solidFill>
                  <a:srgbClr val="222222"/>
                </a:solidFill>
                <a:latin typeface="Calibri"/>
              </a:rPr>
              <a:t>It also means the whole course - beginner and advanced - now uses one LED library instead of two.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Turn signal geometry, which is the genuinely hard part</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12</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Two bars, four directions, one loop of wire</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r>
              <a:rPr sz="2100" b="0">
                <a:solidFill>
                  <a:srgbClr val="222222"/>
                </a:solidFill>
                <a:latin typeface="Calibri"/>
              </a:rPr>
              <a:t>The strip is one loop, so the two halves of each side run in OPPOSITE directions and the arithmetic is not symmetric:</a:t>
            </a:r>
          </a:p>
          <a:p>
            <a:pPr lvl="1" algn="l">
              <a:lnSpc>
                <a:spcPct val="100000"/>
              </a:lnSpc>
              <a:spcAft>
                <a:spcPts val="600"/>
              </a:spcAft>
              <a:defRPr sz="2100" b="0">
                <a:solidFill>
                  <a:srgbClr val="222222"/>
                </a:solidFill>
                <a:latin typeface="Calibri"/>
              </a:defRPr>
            </a:pPr>
            <a:r>
              <a:rPr sz="2100" b="0">
                <a:solidFill>
                  <a:srgbClr val="222222"/>
                </a:solidFill>
                <a:latin typeface="Calibri"/>
              </a:rPr>
              <a:t>front, left to right :   0 .. 15    left half 0-7,  right half 8-15</a:t>
            </a:r>
          </a:p>
          <a:p>
            <a:pPr lvl="1" algn="l">
              <a:lnSpc>
                <a:spcPct val="100000"/>
              </a:lnSpc>
              <a:spcAft>
                <a:spcPts val="600"/>
              </a:spcAft>
              <a:defRPr sz="2100" b="0">
                <a:solidFill>
                  <a:srgbClr val="222222"/>
                </a:solidFill>
                <a:latin typeface="Calibri"/>
              </a:defRPr>
            </a:pPr>
            <a:r>
              <a:rPr sz="2100" b="0">
                <a:solidFill>
                  <a:srgbClr val="222222"/>
                </a:solidFill>
                <a:latin typeface="Calibri"/>
              </a:rPr>
              <a:t>rear,  right to left :  16 .. 31    right half 16-23, left half 24-31</a:t>
            </a:r>
          </a:p>
          <a:p>
            <a:pPr algn="l">
              <a:lnSpc>
                <a:spcPct val="100000"/>
              </a:lnSpc>
              <a:spcAft>
                <a:spcPts val="600"/>
              </a:spcAft>
              <a:defRPr sz="210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The bar has to grow OUTWARD from the centre of the vehicle towards the corner that is turning, on both bars at once.</a:t>
            </a:r>
          </a:p>
          <a:p>
            <a:pPr algn="l">
              <a:lnSpc>
                <a:spcPct val="100000"/>
              </a:lnSpc>
              <a:spcAft>
                <a:spcPts val="600"/>
              </a:spcAft>
              <a:defRPr sz="210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LEFT signal:</a:t>
            </a:r>
          </a:p>
          <a:p>
            <a:pPr lvl="1" algn="l">
              <a:lnSpc>
                <a:spcPct val="100000"/>
              </a:lnSpc>
              <a:spcAft>
                <a:spcPts val="600"/>
              </a:spcAft>
              <a:defRPr sz="2100" b="0">
                <a:solidFill>
                  <a:srgbClr val="222222"/>
                </a:solidFill>
                <a:latin typeface="Calibri"/>
              </a:defRPr>
            </a:pPr>
            <a:r>
              <a:rPr sz="2100" b="0">
                <a:solidFill>
                  <a:srgbClr val="222222"/>
                </a:solidFill>
                <a:latin typeface="Calibri"/>
              </a:rPr>
              <a:t>front:  RIGHT_FRONT_START - 1 - i      (counts DOWN from 7)</a:t>
            </a:r>
          </a:p>
          <a:p>
            <a:pPr lvl="1" algn="l">
              <a:lnSpc>
                <a:spcPct val="100000"/>
              </a:lnSpc>
              <a:spcAft>
                <a:spcPts val="600"/>
              </a:spcAft>
              <a:defRPr sz="2100" b="0">
                <a:solidFill>
                  <a:srgbClr val="222222"/>
                </a:solidFill>
                <a:latin typeface="Calibri"/>
              </a:defRPr>
            </a:pPr>
            <a:r>
              <a:rPr sz="2100" b="0">
                <a:solidFill>
                  <a:srgbClr val="222222"/>
                </a:solidFill>
                <a:latin typeface="Calibri"/>
              </a:rPr>
              <a:t>rear:   LEFT_REAR_START + i            (counts UP from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100"/>
              </a:spcAft>
              <a:defRPr sz="2500" b="1">
                <a:solidFill>
                  <a:srgbClr val="1F3A5F"/>
                </a:solidFill>
                <a:latin typeface="Calibri"/>
              </a:defRPr>
            </a:pPr>
            <a:r>
              <a:rPr sz="2500" b="1">
                <a:solidFill>
                  <a:srgbClr val="1F3A5F"/>
                </a:solidFill>
                <a:latin typeface="Calibri"/>
              </a:rPr>
              <a:t>Turn signal geometry, which is the genuinely hard part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13</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900"/>
              </a:spcAft>
              <a:defRPr sz="3000" b="0">
                <a:solidFill>
                  <a:srgbClr val="222222"/>
                </a:solidFill>
                <a:latin typeface="Calibri"/>
              </a:defRPr>
            </a:pPr>
          </a:p>
          <a:p>
            <a:pPr algn="l">
              <a:lnSpc>
                <a:spcPct val="100000"/>
              </a:lnSpc>
              <a:spcAft>
                <a:spcPts val="900"/>
              </a:spcAft>
              <a:defRPr sz="3000" b="0">
                <a:solidFill>
                  <a:srgbClr val="222222"/>
                </a:solidFill>
                <a:latin typeface="Calibri"/>
              </a:defRPr>
            </a:pPr>
            <a:r>
              <a:rPr sz="3000" b="0">
                <a:solidFill>
                  <a:srgbClr val="222222"/>
                </a:solidFill>
                <a:latin typeface="Calibri"/>
              </a:rPr>
              <a:t>RIGHT signal:</a:t>
            </a:r>
          </a:p>
          <a:p>
            <a:pPr lvl="1" algn="l">
              <a:lnSpc>
                <a:spcPct val="100000"/>
              </a:lnSpc>
              <a:spcAft>
                <a:spcPts val="900"/>
              </a:spcAft>
              <a:defRPr sz="3000" b="0">
                <a:solidFill>
                  <a:srgbClr val="222222"/>
                </a:solidFill>
                <a:latin typeface="Calibri"/>
              </a:defRPr>
            </a:pPr>
            <a:r>
              <a:rPr sz="3000" b="0">
                <a:solidFill>
                  <a:srgbClr val="222222"/>
                </a:solidFill>
                <a:latin typeface="Calibri"/>
              </a:rPr>
              <a:t>front:  RIGHT_FRONT_START + i          (counts UP from 8)</a:t>
            </a:r>
          </a:p>
          <a:p>
            <a:pPr lvl="1" algn="l">
              <a:lnSpc>
                <a:spcPct val="100000"/>
              </a:lnSpc>
              <a:spcAft>
                <a:spcPts val="900"/>
              </a:spcAft>
              <a:defRPr sz="3000" b="0">
                <a:solidFill>
                  <a:srgbClr val="222222"/>
                </a:solidFill>
                <a:latin typeface="Calibri"/>
              </a:defRPr>
            </a:pPr>
            <a:r>
              <a:rPr sz="3000" b="0">
                <a:solidFill>
                  <a:srgbClr val="222222"/>
                </a:solidFill>
                <a:latin typeface="Calibri"/>
              </a:rPr>
              <a:t>rear:   LEFT_REAR_START - 1 - i        (counts DOWN from 23)</a:t>
            </a:r>
          </a:p>
          <a:p>
            <a:pPr algn="l">
              <a:lnSpc>
                <a:spcPct val="100000"/>
              </a:lnSpc>
              <a:spcAft>
                <a:spcPts val="900"/>
              </a:spcAft>
              <a:defRPr sz="3000" b="0">
                <a:solidFill>
                  <a:srgbClr val="222222"/>
                </a:solidFill>
                <a:latin typeface="Calibri"/>
              </a:defRPr>
            </a:pPr>
          </a:p>
          <a:p>
            <a:pPr algn="l">
              <a:lnSpc>
                <a:spcPct val="100000"/>
              </a:lnSpc>
              <a:spcAft>
                <a:spcPts val="900"/>
              </a:spcAft>
              <a:defRPr sz="3000" b="0">
                <a:solidFill>
                  <a:srgbClr val="222222"/>
                </a:solidFill>
                <a:latin typeface="Calibri"/>
              </a:defRPr>
            </a:pPr>
            <a:r>
              <a:rPr sz="3000" b="0">
                <a:solidFill>
                  <a:srgbClr val="222222"/>
                </a:solidFill>
                <a:latin typeface="Calibri"/>
              </a:rPr>
              <a:t>Do not try to derive this. Step through it and read the indices.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Two details that are easy to miss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14</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Lighting.ino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666666"/>
                </a:solidFill>
                <a:latin typeface="Consolas"/>
              </a:rPr>
              <a:t>// 1. Repaint the BASE lighting first, every frame.</a:t>
            </a:r>
          </a:p>
          <a:p>
            <a:pPr algn="l">
              <a:lnSpc>
                <a:spcPct val="100000"/>
              </a:lnSpc>
              <a:spcAft>
                <a:spcPts val="0"/>
              </a:spcAft>
              <a:defRPr sz="1400">
                <a:latin typeface="Consolas"/>
              </a:defRPr>
            </a:pPr>
            <a:r>
              <a:rPr sz="1400">
                <a:solidFill>
                  <a:srgbClr val="222222"/>
                </a:solidFill>
                <a:latin typeface="Consolas"/>
              </a:rPr>
              <a:t>strip.clear();</a:t>
            </a:r>
          </a:p>
          <a:p>
            <a:pPr algn="l">
              <a:lnSpc>
                <a:spcPct val="100000"/>
              </a:lnSpc>
              <a:spcAft>
                <a:spcPts val="0"/>
              </a:spcAft>
              <a:defRPr sz="1400">
                <a:latin typeface="Consolas"/>
              </a:defRPr>
            </a:pPr>
            <a:r>
              <a:rPr sz="1400">
                <a:solidFill>
                  <a:srgbClr val="222222"/>
                </a:solidFill>
                <a:latin typeface="Consolas"/>
              </a:rPr>
              <a:t>if (running_lights_on) {</a:t>
            </a:r>
          </a:p>
          <a:p>
            <a:pPr algn="l">
              <a:lnSpc>
                <a:spcPct val="100000"/>
              </a:lnSpc>
              <a:spcAft>
                <a:spcPts val="0"/>
              </a:spcAft>
              <a:defRPr sz="1400">
                <a:latin typeface="Consolas"/>
              </a:defRPr>
            </a:pPr>
            <a:r>
              <a:rPr sz="1400">
                <a:solidFill>
                  <a:srgbClr val="222222"/>
                </a:solidFill>
                <a:latin typeface="Consolas"/>
              </a:rPr>
              <a:t>  fill_range(LEFT_FRONT_START, CORNER_LEN * 2, headlights);</a:t>
            </a:r>
          </a:p>
          <a:p>
            <a:pPr algn="l">
              <a:lnSpc>
                <a:spcPct val="100000"/>
              </a:lnSpc>
              <a:spcAft>
                <a:spcPts val="0"/>
              </a:spcAft>
              <a:defRPr sz="1400">
                <a:latin typeface="Consolas"/>
              </a:defRPr>
            </a:pPr>
            <a:r>
              <a:rPr sz="1400">
                <a:solidFill>
                  <a:srgbClr val="222222"/>
                </a:solidFill>
                <a:latin typeface="Consolas"/>
              </a:rPr>
              <a:t>  fill_range(RIGHT_REAR_START, CORNER_LEN * 2, taillights);</a:t>
            </a:r>
          </a:p>
          <a:p>
            <a:pPr algn="l">
              <a:lnSpc>
                <a:spcPct val="100000"/>
              </a:lnSpc>
              <a:spcAft>
                <a:spcPts val="0"/>
              </a:spcAft>
              <a:defRPr sz="1400">
                <a:latin typeface="Consolas"/>
              </a:defRPr>
            </a:pPr>
            <a:r>
              <a:rPr sz="1400">
                <a:solidFill>
                  <a:srgbClr val="222222"/>
                </a:solidFill>
                <a:latin typeface="Consolas"/>
              </a:rPr>
              <a:t>}</a:t>
            </a:r>
          </a:p>
          <a:p>
            <a:pPr algn="l">
              <a:lnSpc>
                <a:spcPct val="100000"/>
              </a:lnSpc>
              <a:spcAft>
                <a:spcPts val="0"/>
              </a:spcAft>
              <a:defRPr sz="1400">
                <a:latin typeface="Consolas"/>
              </a:defRPr>
            </a:pPr>
            <a:r>
              <a:rPr sz="1400">
                <a:solidFill>
                  <a:srgbClr val="666666"/>
                </a:solidFill>
                <a:latin typeface="Consolas"/>
              </a:rPr>
              <a:t>// ...then blank the signalling side, then draw the amber over it.</a:t>
            </a:r>
          </a:p>
          <a:p>
            <a:pPr algn="l">
              <a:lnSpc>
                <a:spcPct val="100000"/>
              </a:lnSpc>
              <a:spcAft>
                <a:spcPts val="0"/>
              </a:spcAft>
              <a:defRPr sz="1400">
                <a:latin typeface="Consolas"/>
              </a:defRPr>
            </a:pPr>
            <a:r>
              <a:rPr sz="1400">
                <a:solidFill>
                  <a:srgbClr val="666666"/>
                </a:solidFill>
                <a:latin typeface="Consolas"/>
              </a:rPr>
              <a:t>// Painting only the amber would leave the last frame underneath.</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666666"/>
                </a:solidFill>
                <a:latin typeface="Consolas"/>
              </a:rPr>
              <a:t>// 2. The animation finishes its own cycles.</a:t>
            </a:r>
          </a:p>
          <a:p>
            <a:pPr algn="l">
              <a:lnSpc>
                <a:spcPct val="100000"/>
              </a:lnSpc>
              <a:spcAft>
                <a:spcPts val="0"/>
              </a:spcAft>
              <a:defRPr sz="1400">
                <a:latin typeface="Consolas"/>
              </a:defRPr>
            </a:pPr>
            <a:r>
              <a:rPr sz="1400" b="1">
                <a:solidFill>
                  <a:srgbClr val="0E7C86"/>
                </a:solidFill>
                <a:latin typeface="Consolas"/>
              </a:rPr>
              <a:t>bool still_held = (led_mode == TURN_LEFT  &amp;&amp; (dpad &amp; DPAD_LEFT)) ||</a:t>
            </a:r>
          </a:p>
          <a:p>
            <a:pPr algn="l">
              <a:lnSpc>
                <a:spcPct val="100000"/>
              </a:lnSpc>
              <a:spcAft>
                <a:spcPts val="0"/>
              </a:spcAft>
              <a:defRPr sz="1400">
                <a:latin typeface="Consolas"/>
              </a:defRPr>
            </a:pPr>
            <a:r>
              <a:rPr sz="1400" b="1">
                <a:solidFill>
                  <a:srgbClr val="0E7C86"/>
                </a:solidFill>
                <a:latin typeface="Consolas"/>
              </a:rPr>
              <a:t>                  (led_mode == TURN_RIGHT &amp;&amp; (dpad &amp; DPAD_RIGHT));</a:t>
            </a:r>
          </a:p>
          <a:p>
            <a:pPr algn="l">
              <a:lnSpc>
                <a:spcPct val="100000"/>
              </a:lnSpc>
              <a:spcAft>
                <a:spcPts val="0"/>
              </a:spcAft>
              <a:defRPr sz="1400">
                <a:latin typeface="Consolas"/>
              </a:defRPr>
            </a:pPr>
            <a:r>
              <a:rPr sz="1400" b="1">
                <a:solidFill>
                  <a:srgbClr val="0E7C86"/>
                </a:solidFill>
                <a:latin typeface="Consolas"/>
              </a:rPr>
              <a:t>if (!still_held &amp;&amp; turn_signal_cycles &gt;= TURN_CYCLES) {</a:t>
            </a:r>
          </a:p>
          <a:p>
            <a:pPr algn="l">
              <a:lnSpc>
                <a:spcPct val="100000"/>
              </a:lnSpc>
              <a:spcAft>
                <a:spcPts val="0"/>
              </a:spcAft>
              <a:defRPr sz="1400">
                <a:latin typeface="Consolas"/>
              </a:defRPr>
            </a:pPr>
            <a:r>
              <a:rPr sz="1400">
                <a:solidFill>
                  <a:srgbClr val="222222"/>
                </a:solidFill>
                <a:latin typeface="Consolas"/>
              </a:rPr>
              <a:t>  led_mode = STANDBY;</a:t>
            </a:r>
          </a:p>
          <a:p>
            <a:pPr algn="l">
              <a:lnSpc>
                <a:spcPct val="100000"/>
              </a:lnSpc>
              <a:spcAft>
                <a:spcPts val="0"/>
              </a:spcAft>
              <a:defRPr sz="1400">
                <a:latin typeface="Consolas"/>
              </a:defRPr>
            </a:pPr>
            <a:r>
              <a:rPr sz="1400">
                <a:solidFill>
                  <a:srgbClr val="222222"/>
                </a:solidFill>
                <a:latin typeface="Consolas"/>
              </a:rPr>
              <a:t>  standby_dirty = true;</a:t>
            </a:r>
          </a:p>
          <a:p>
            <a:pPr algn="l">
              <a:lnSpc>
                <a:spcPct val="100000"/>
              </a:lnSpc>
              <a:spcAft>
                <a:spcPts val="0"/>
              </a:spcAft>
              <a:defRPr sz="1400">
                <a:latin typeface="Consolas"/>
              </a:defRPr>
            </a:pPr>
            <a:r>
              <a:rPr sz="1400">
                <a:solidFill>
                  <a:srgbClr val="222222"/>
                </a:solidFill>
                <a:latin typeface="Consolas"/>
              </a:rPr>
              <a:t>}</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2000" b="0">
                <a:solidFill>
                  <a:srgbClr val="222222"/>
                </a:solidFill>
                <a:latin typeface="Calibri"/>
              </a:defRPr>
            </a:pPr>
            <a:r>
              <a:rPr sz="2000" b="0">
                <a:solidFill>
                  <a:srgbClr val="222222"/>
                </a:solidFill>
                <a:latin typeface="Calibri"/>
              </a:rPr>
              <a:t>The D-pad only ever STARTS the animation. It does not hold it on and it does not stop it.</a:t>
            </a:r>
          </a:p>
          <a:p>
            <a:pPr algn="l">
              <a:lnSpc>
                <a:spcPct val="100000"/>
              </a:lnSpc>
              <a:spcAft>
                <a:spcPts val="700"/>
              </a:spcAft>
              <a:defRPr sz="2000" b="0">
                <a:solidFill>
                  <a:srgbClr val="222222"/>
                </a:solidFill>
                <a:latin typeface="Calibri"/>
              </a:defRPr>
            </a:pPr>
            <a:r>
              <a:rPr sz="2000" b="0">
                <a:solidFill>
                  <a:srgbClr val="222222"/>
                </a:solidFill>
                <a:latin typeface="Calibri"/>
              </a:rPr>
              <a:t>A real indicator does not stop mid-blink when you let go of the stalk. It finishes.</a:t>
            </a:r>
          </a:p>
          <a:p>
            <a:pPr algn="l">
              <a:lnSpc>
                <a:spcPct val="100000"/>
              </a:lnSpc>
              <a:spcAft>
                <a:spcPts val="700"/>
              </a:spcAft>
              <a:defRPr sz="2000" b="0">
                <a:solidFill>
                  <a:srgbClr val="222222"/>
                </a:solidFill>
                <a:latin typeface="Calibri"/>
              </a:defRPr>
            </a:pPr>
            <a:r>
              <a:rPr sz="2000" b="0">
                <a:solidFill>
                  <a:srgbClr val="222222"/>
                </a:solidFill>
                <a:latin typeface="Calibri"/>
              </a:rPr>
              <a:t>Holding the D-pad keeps resetting the count, so it carries on for as long as you hold it and then finishes cleanly.</a:t>
            </a:r>
          </a:p>
          <a:p>
            <a:pPr algn="l">
              <a:lnSpc>
                <a:spcPct val="100000"/>
              </a:lnSpc>
              <a:spcAft>
                <a:spcPts val="700"/>
              </a:spcAft>
              <a:defRPr sz="2000" b="0">
                <a:solidFill>
                  <a:srgbClr val="222222"/>
                </a:solidFill>
                <a:latin typeface="Calibri"/>
              </a:defRPr>
            </a:pPr>
            <a:r>
              <a:rPr sz="2000" b="0">
                <a:solidFill>
                  <a:srgbClr val="222222"/>
                </a:solidFill>
                <a:latin typeface="Calibri"/>
              </a:rPr>
              <a:t>This is a small thing that makes a machine feel considered rather than twitchy.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Where we are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15</a:t>
            </a:r>
          </a:p>
        </p:txBody>
      </p:sp>
      <p:sp>
        <p:nvSpPr>
          <p:cNvPr id="6" name="Rounded Rectangle 5"/>
          <p:cNvSpPr/>
          <p:nvPr/>
        </p:nvSpPr>
        <p:spPr>
          <a:xfrm>
            <a:off x="502920" y="2240280"/>
            <a:ext cx="3631082" cy="173736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State machines</a:t>
            </a:r>
          </a:p>
        </p:txBody>
      </p:sp>
      <p:sp>
        <p:nvSpPr>
          <p:cNvPr id="7" name="TextBox 6"/>
          <p:cNvSpPr txBox="1"/>
          <p:nvPr/>
        </p:nvSpPr>
        <p:spPr>
          <a:xfrm>
            <a:off x="502920"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done</a:t>
            </a:r>
          </a:p>
        </p:txBody>
      </p:sp>
      <p:sp>
        <p:nvSpPr>
          <p:cNvPr id="8" name="Rounded Rectangle 7"/>
          <p:cNvSpPr/>
          <p:nvPr/>
        </p:nvSpPr>
        <p:spPr>
          <a:xfrm>
            <a:off x="4280306" y="2240280"/>
            <a:ext cx="3631082" cy="1737360"/>
          </a:xfrm>
          <a:prstGeom prst="roundRect">
            <a:avLst>
              <a:gd name="adj" fmla="val 8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0">
                <a:solidFill>
                  <a:srgbClr val="1F3A5F"/>
                </a:solidFill>
                <a:latin typeface="Calibri"/>
              </a:defRPr>
            </a:pPr>
            <a:r>
              <a:rPr sz="1700" b="0">
                <a:solidFill>
                  <a:srgbClr val="1F3A5F"/>
                </a:solidFill>
                <a:latin typeface="Calibri"/>
              </a:rPr>
              <a:t>Measuring a redraw</a:t>
            </a:r>
          </a:p>
        </p:txBody>
      </p:sp>
      <p:sp>
        <p:nvSpPr>
          <p:cNvPr id="9" name="TextBox 8"/>
          <p:cNvSpPr txBox="1"/>
          <p:nvPr/>
        </p:nvSpPr>
        <p:spPr>
          <a:xfrm>
            <a:off x="4280306"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done</a:t>
            </a:r>
          </a:p>
        </p:txBody>
      </p:sp>
      <p:sp>
        <p:nvSpPr>
          <p:cNvPr id="10" name="Rounded Rectangle 9"/>
          <p:cNvSpPr/>
          <p:nvPr/>
        </p:nvSpPr>
        <p:spPr>
          <a:xfrm>
            <a:off x="8057692" y="2240280"/>
            <a:ext cx="3631082" cy="1737360"/>
          </a:xfrm>
          <a:prstGeom prst="roundRect">
            <a:avLst>
              <a:gd name="adj" fmla="val 8000"/>
            </a:avLst>
          </a:prstGeom>
          <a:solidFill>
            <a:srgbClr val="D6ECEE"/>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lnSpc>
                <a:spcPct val="100000"/>
              </a:lnSpc>
              <a:spcAft>
                <a:spcPts val="0"/>
              </a:spcAft>
              <a:defRPr sz="1700" b="1">
                <a:solidFill>
                  <a:srgbClr val="1F3A5F"/>
                </a:solidFill>
                <a:latin typeface="Calibri"/>
              </a:defRPr>
            </a:pPr>
            <a:r>
              <a:rPr sz="1700" b="1">
                <a:solidFill>
                  <a:srgbClr val="1F3A5F"/>
                </a:solidFill>
                <a:latin typeface="Calibri"/>
              </a:rPr>
              <a:t>Turn signal geometry</a:t>
            </a:r>
          </a:p>
        </p:txBody>
      </p:sp>
      <p:sp>
        <p:nvSpPr>
          <p:cNvPr id="11" name="TextBox 10"/>
          <p:cNvSpPr txBox="1"/>
          <p:nvPr/>
        </p:nvSpPr>
        <p:spPr>
          <a:xfrm>
            <a:off x="8057692" y="1856232"/>
            <a:ext cx="3631082" cy="347472"/>
          </a:xfrm>
          <a:prstGeom prst="rect">
            <a:avLst/>
          </a:prstGeom>
          <a:noFill/>
        </p:spPr>
        <p:txBody>
          <a:bodyPr wrap="square" lIns="0" tIns="0" rIns="0" bIns="0">
            <a:spAutoFit/>
          </a:bodyPr>
          <a:lstStyle/>
          <a:p>
            <a:pPr algn="ctr">
              <a:lnSpc>
                <a:spcPct val="100000"/>
              </a:lnSpc>
              <a:spcAft>
                <a:spcPts val="600"/>
              </a:spcAft>
              <a:defRPr sz="1200" b="1">
                <a:solidFill>
                  <a:srgbClr val="0E7C86"/>
                </a:solidFill>
                <a:latin typeface="Calibri"/>
              </a:defRPr>
            </a:pPr>
            <a:r>
              <a:rPr sz="1200" b="1">
                <a:solidFill>
                  <a:srgbClr val="0E7C86"/>
                </a:solidFill>
                <a:latin typeface="Calibri"/>
              </a:rPr>
              <a:t>NOW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Do it now  -  step through the geometry</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16</a:t>
            </a:r>
          </a:p>
        </p:txBody>
      </p:sp>
      <p:sp>
        <p:nvSpPr>
          <p:cNvPr id="6" name="Rounded Rectangle 5"/>
          <p:cNvSpPr/>
          <p:nvPr/>
        </p:nvSpPr>
        <p:spPr>
          <a:xfrm>
            <a:off x="502920" y="1188720"/>
            <a:ext cx="11185855" cy="530352"/>
          </a:xfrm>
          <a:prstGeom prst="roundRect">
            <a:avLst>
              <a:gd name="adj" fmla="val 4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r>
              <a:rPr sz="1300" b="1">
                <a:solidFill>
                  <a:srgbClr val="FFFFFF"/>
                </a:solidFill>
                <a:latin typeface="Calibri"/>
              </a:rPr>
              <a:t>UPLOAD AND RUN:   </a:t>
            </a:r>
            <a:r>
              <a:rPr sz="1500" b="1">
                <a:solidFill>
                  <a:srgbClr val="FFFFFF"/>
                </a:solidFill>
                <a:latin typeface="Consolas"/>
              </a:rPr>
              <a:t>a4b_turn_signal_larson</a:t>
            </a:r>
            <a:r>
              <a:rPr sz="1200">
                <a:solidFill>
                  <a:srgbClr val="FFFFFF"/>
                </a:solidFill>
                <a:latin typeface="Calibri"/>
              </a:rPr>
              <a:t>     (35 minutes)</a:t>
            </a:r>
          </a:p>
        </p:txBody>
      </p:sp>
      <p:sp>
        <p:nvSpPr>
          <p:cNvPr id="7" name="TextBox 6"/>
          <p:cNvSpPr txBox="1"/>
          <p:nvPr/>
        </p:nvSpPr>
        <p:spPr>
          <a:xfrm>
            <a:off x="502920" y="1901952"/>
            <a:ext cx="5387187" cy="4361688"/>
          </a:xfrm>
          <a:prstGeom prst="rect">
            <a:avLst/>
          </a:prstGeom>
          <a:noFill/>
        </p:spPr>
        <p:txBody>
          <a:bodyPr wrap="square" lIns="0" tIns="0" rIns="0" bIns="0">
            <a:spAutoFit/>
          </a:bodyPr>
          <a:lstStyle/>
          <a:p>
            <a:pPr algn="l">
              <a:lnSpc>
                <a:spcPct val="100000"/>
              </a:lnSpc>
              <a:spcAft>
                <a:spcPts val="800"/>
              </a:spcAft>
              <a:defRPr sz="1900" b="0">
                <a:solidFill>
                  <a:srgbClr val="222222"/>
                </a:solidFill>
                <a:latin typeface="Calibri"/>
              </a:defRPr>
            </a:pPr>
            <a:r>
              <a:rPr sz="1900" b="0">
                <a:solidFill>
                  <a:srgbClr val="222222"/>
                </a:solidFill>
                <a:latin typeface="Calibri"/>
              </a:rPr>
              <a:t>1.  Upload. Type  left, then  right.</a:t>
            </a:r>
          </a:p>
          <a:p>
            <a:pPr algn="l">
              <a:lnSpc>
                <a:spcPct val="100000"/>
              </a:lnSpc>
              <a:spcAft>
                <a:spcPts val="800"/>
              </a:spcAft>
              <a:defRPr sz="1900" b="0">
                <a:solidFill>
                  <a:srgbClr val="222222"/>
                </a:solidFill>
                <a:latin typeface="Calibri"/>
              </a:defRPr>
            </a:pPr>
            <a:r>
              <a:rPr sz="1900" b="0">
                <a:solidFill>
                  <a:srgbClr val="222222"/>
                </a:solidFill>
                <a:latin typeface="Calibri"/>
              </a:rPr>
              <a:t>2.  Type  speed 0  to freeze it, then  step  repeatedly. READ the indices it prints and check them against the vehicle.</a:t>
            </a:r>
          </a:p>
          <a:p>
            <a:pPr algn="l">
              <a:lnSpc>
                <a:spcPct val="100000"/>
              </a:lnSpc>
              <a:spcAft>
                <a:spcPts val="800"/>
              </a:spcAft>
              <a:defRPr sz="1900" b="0">
                <a:solidFill>
                  <a:srgbClr val="222222"/>
                </a:solidFill>
                <a:latin typeface="Calibri"/>
              </a:defRPr>
            </a:pPr>
            <a:r>
              <a:rPr sz="1900" b="0">
                <a:solidFill>
                  <a:srgbClr val="222222"/>
                </a:solidFill>
                <a:latin typeface="Calibri"/>
              </a:rPr>
              <a:t>3.  hold left, wait, then  release. Where exactly does it stop?</a:t>
            </a:r>
          </a:p>
          <a:p>
            <a:pPr algn="l">
              <a:lnSpc>
                <a:spcPct val="100000"/>
              </a:lnSpc>
              <a:spcAft>
                <a:spcPts val="800"/>
              </a:spcAft>
              <a:defRPr sz="1900" b="0">
                <a:solidFill>
                  <a:srgbClr val="222222"/>
                </a:solidFill>
                <a:latin typeface="Calibri"/>
              </a:defRPr>
            </a:pPr>
            <a:r>
              <a:rPr sz="1900" b="0">
                <a:solidFill>
                  <a:srgbClr val="222222"/>
                </a:solidFill>
                <a:latin typeface="Calibri"/>
              </a:rPr>
              <a:t>4.  speed 200  and watch the bar build slowly.</a:t>
            </a:r>
          </a:p>
          <a:p>
            <a:pPr algn="l">
              <a:lnSpc>
                <a:spcPct val="100000"/>
              </a:lnSpc>
              <a:spcAft>
                <a:spcPts val="800"/>
              </a:spcAft>
              <a:defRPr sz="1900" b="0">
                <a:solidFill>
                  <a:srgbClr val="222222"/>
                </a:solidFill>
                <a:latin typeface="Calibri"/>
              </a:defRPr>
            </a:pPr>
            <a:r>
              <a:rPr sz="1900" b="0">
                <a:solidFill>
                  <a:srgbClr val="222222"/>
                </a:solidFill>
                <a:latin typeface="Calibri"/>
              </a:rPr>
              <a:t>5.  Change the LEFT branch to use LEFT_FRONT_START + i and see what breaks. Explain it.</a:t>
            </a:r>
          </a:p>
          <a:p>
            <a:pPr algn="l">
              <a:lnSpc>
                <a:spcPct val="100000"/>
              </a:lnSpc>
              <a:spcAft>
                <a:spcPts val="800"/>
              </a:spcAft>
              <a:defRPr sz="1900" b="0">
                <a:solidFill>
                  <a:srgbClr val="222222"/>
                </a:solidFill>
                <a:latin typeface="Calibri"/>
              </a:defRPr>
            </a:pPr>
            <a:r>
              <a:rPr sz="1900" b="0">
                <a:solidFill>
                  <a:srgbClr val="222222"/>
                </a:solidFill>
                <a:latin typeface="Calibri"/>
              </a:rPr>
              <a:t>6.  Make the trailing edge FADE rather than switch off abruptly.</a:t>
            </a:r>
          </a:p>
        </p:txBody>
      </p:sp>
      <p:sp>
        <p:nvSpPr>
          <p:cNvPr id="8" name="TextBox 7"/>
          <p:cNvSpPr txBox="1"/>
          <p:nvPr/>
        </p:nvSpPr>
        <p:spPr>
          <a:xfrm>
            <a:off x="6301587" y="1901952"/>
            <a:ext cx="5387187"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What you should see</a:t>
            </a:r>
          </a:p>
        </p:txBody>
      </p:sp>
      <p:sp>
        <p:nvSpPr>
          <p:cNvPr id="9" name="TextBox 8"/>
          <p:cNvSpPr txBox="1"/>
          <p:nvPr/>
        </p:nvSpPr>
        <p:spPr>
          <a:xfrm>
            <a:off x="6301587" y="2304288"/>
            <a:ext cx="5387187" cy="1778508"/>
          </a:xfrm>
          <a:prstGeom prst="rect">
            <a:avLst/>
          </a:prstGeom>
          <a:noFill/>
        </p:spPr>
        <p:txBody>
          <a:bodyPr wrap="square" lIns="0" tIns="0" rIns="0" bIns="0">
            <a:spAutoFit/>
          </a:bodyPr>
          <a:lstStyle/>
          <a:p>
            <a:pPr algn="l">
              <a:lnSpc>
                <a:spcPct val="100000"/>
              </a:lnSpc>
              <a:spcAft>
                <a:spcPts val="600"/>
              </a:spcAft>
              <a:defRPr sz="2800" b="0">
                <a:solidFill>
                  <a:srgbClr val="222222"/>
                </a:solidFill>
                <a:latin typeface="Calibri"/>
              </a:defRPr>
            </a:pPr>
            <a:r>
              <a:rPr sz="2800" b="0">
                <a:solidFill>
                  <a:srgbClr val="222222"/>
                </a:solidFill>
                <a:latin typeface="Calibri"/>
              </a:rPr>
              <a:t>Amber growing outward from the centre towards the turning corner, front and rear mirrored.</a:t>
            </a:r>
          </a:p>
        </p:txBody>
      </p:sp>
      <p:sp>
        <p:nvSpPr>
          <p:cNvPr id="10" name="TextBox 9"/>
          <p:cNvSpPr txBox="1"/>
          <p:nvPr/>
        </p:nvSpPr>
        <p:spPr>
          <a:xfrm>
            <a:off x="6301587" y="4119372"/>
            <a:ext cx="5387187" cy="365760"/>
          </a:xfrm>
          <a:prstGeom prst="rect">
            <a:avLst/>
          </a:prstGeom>
          <a:noFill/>
        </p:spPr>
        <p:txBody>
          <a:bodyPr wrap="square" lIns="0" tIns="0" rIns="0" bIns="0">
            <a:spAutoFit/>
          </a:bodyPr>
          <a:lstStyle/>
          <a:p>
            <a:pPr algn="l">
              <a:lnSpc>
                <a:spcPct val="100000"/>
              </a:lnSpc>
              <a:spcAft>
                <a:spcPts val="200"/>
              </a:spcAft>
              <a:defRPr sz="1800" b="1">
                <a:solidFill>
                  <a:srgbClr val="0E7C86"/>
                </a:solidFill>
                <a:latin typeface="Calibri"/>
              </a:defRPr>
            </a:pPr>
            <a:r>
              <a:rPr sz="1800" b="1">
                <a:solidFill>
                  <a:srgbClr val="0E7C86"/>
                </a:solidFill>
                <a:latin typeface="Calibri"/>
              </a:rPr>
              <a:t>Answer these</a:t>
            </a:r>
          </a:p>
        </p:txBody>
      </p:sp>
      <p:sp>
        <p:nvSpPr>
          <p:cNvPr id="11" name="TextBox 10"/>
          <p:cNvSpPr txBox="1"/>
          <p:nvPr/>
        </p:nvSpPr>
        <p:spPr>
          <a:xfrm>
            <a:off x="6301587" y="4521708"/>
            <a:ext cx="5387187" cy="1778508"/>
          </a:xfrm>
          <a:prstGeom prst="rect">
            <a:avLst/>
          </a:prstGeom>
          <a:noFill/>
        </p:spPr>
        <p:txBody>
          <a:bodyPr wrap="square" lIns="0" tIns="0" rIns="0" bIns="0">
            <a:spAutoFit/>
          </a:bodyPr>
          <a:lstStyle/>
          <a:p>
            <a:pPr algn="l">
              <a:lnSpc>
                <a:spcPct val="100000"/>
              </a:lnSpc>
              <a:spcAft>
                <a:spcPts val="300"/>
              </a:spcAft>
              <a:defRPr sz="2100" b="0">
                <a:solidFill>
                  <a:srgbClr val="222222"/>
                </a:solidFill>
                <a:latin typeface="Calibri"/>
              </a:defRPr>
            </a:pPr>
            <a:r>
              <a:rPr sz="2100" b="0">
                <a:solidFill>
                  <a:srgbClr val="222222"/>
                </a:solidFill>
                <a:latin typeface="Calibri"/>
              </a:rPr>
              <a:t>Why does the front index count down for a left signal but up for a right one?</a:t>
            </a:r>
          </a:p>
          <a:p>
            <a:pPr algn="l">
              <a:lnSpc>
                <a:spcPct val="100000"/>
              </a:lnSpc>
              <a:spcAft>
                <a:spcPts val="300"/>
              </a:spcAft>
              <a:defRPr sz="2100" b="0">
                <a:solidFill>
                  <a:srgbClr val="222222"/>
                </a:solidFill>
                <a:latin typeface="Calibri"/>
              </a:defRPr>
            </a:pPr>
            <a:r>
              <a:rPr sz="2100" b="0">
                <a:solidFill>
                  <a:srgbClr val="222222"/>
                </a:solidFill>
                <a:latin typeface="Calibri"/>
              </a:rPr>
              <a:t>What would happen if the base lighting were not repainted each frame?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state machine itself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17</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Lighting.ino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void update_lighting(unsigned long now, uint8_t dpad) {</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if (led_mode == PAIRING) {</a:t>
            </a:r>
          </a:p>
          <a:p>
            <a:pPr algn="l">
              <a:lnSpc>
                <a:spcPct val="100000"/>
              </a:lnSpc>
              <a:spcAft>
                <a:spcPts val="0"/>
              </a:spcAft>
              <a:defRPr sz="1400">
                <a:latin typeface="Consolas"/>
              </a:defRPr>
            </a:pPr>
            <a:r>
              <a:rPr sz="1400">
                <a:solidFill>
                  <a:srgbClr val="222222"/>
                </a:solidFill>
                <a:latin typeface="Consolas"/>
              </a:rPr>
              <a:t>    update_pairing_breathing(now);</a:t>
            </a:r>
          </a:p>
          <a:p>
            <a:pPr algn="l">
              <a:lnSpc>
                <a:spcPct val="100000"/>
              </a:lnSpc>
              <a:spcAft>
                <a:spcPts val="0"/>
              </a:spcAft>
              <a:defRPr sz="1400">
                <a:latin typeface="Consolas"/>
              </a:defRPr>
            </a:pPr>
            <a:r>
              <a:rPr sz="1400">
                <a:solidFill>
                  <a:srgbClr val="222222"/>
                </a:solidFill>
                <a:latin typeface="Consolas"/>
              </a:rPr>
              <a:t>    return;</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if (led_mode == TURN_LEFT || led_mode == TURN_RIGHT) {</a:t>
            </a:r>
          </a:p>
          <a:p>
            <a:pPr algn="l">
              <a:lnSpc>
                <a:spcPct val="100000"/>
              </a:lnSpc>
              <a:spcAft>
                <a:spcPts val="0"/>
              </a:spcAft>
              <a:defRPr sz="1400">
                <a:latin typeface="Consolas"/>
              </a:defRPr>
            </a:pPr>
            <a:r>
              <a:rPr sz="1400" b="1">
                <a:solidFill>
                  <a:srgbClr val="0E7C86"/>
                </a:solidFill>
                <a:latin typeface="Consolas"/>
              </a:rPr>
              <a:t>    if (now - larson_time &lt; LARSON_DELAY_MS) return;</a:t>
            </a:r>
          </a:p>
          <a:p>
            <a:pPr algn="l">
              <a:lnSpc>
                <a:spcPct val="100000"/>
              </a:lnSpc>
              <a:spcAft>
                <a:spcPts val="0"/>
              </a:spcAft>
              <a:defRPr sz="1400">
                <a:latin typeface="Consolas"/>
              </a:defRPr>
            </a:pPr>
            <a:r>
              <a:rPr sz="1400">
                <a:solidFill>
                  <a:srgbClr val="222222"/>
                </a:solidFill>
                <a:latin typeface="Consolas"/>
              </a:rPr>
              <a:t>    larson_time = now;</a:t>
            </a:r>
          </a:p>
          <a:p>
            <a:pPr algn="l">
              <a:lnSpc>
                <a:spcPct val="100000"/>
              </a:lnSpc>
              <a:spcAft>
                <a:spcPts val="0"/>
              </a:spcAft>
              <a:defRPr sz="1400">
                <a:latin typeface="Consolas"/>
              </a:defRPr>
            </a:pPr>
            <a:r>
              <a:rPr sz="1400">
                <a:solidFill>
                  <a:srgbClr val="666666"/>
                </a:solidFill>
                <a:latin typeface="Consolas"/>
              </a:rPr>
              <a:t>    // ...advance one phase, count cycles, maybe hand back...</a:t>
            </a:r>
          </a:p>
          <a:p>
            <a:pPr algn="l">
              <a:lnSpc>
                <a:spcPct val="100000"/>
              </a:lnSpc>
              <a:spcAft>
                <a:spcPts val="0"/>
              </a:spcAft>
              <a:defRPr sz="1400">
                <a:latin typeface="Consolas"/>
              </a:defRPr>
            </a:pPr>
            <a:r>
              <a:rPr sz="1400">
                <a:solidFill>
                  <a:srgbClr val="222222"/>
                </a:solidFill>
                <a:latin typeface="Consolas"/>
              </a:rPr>
              <a:t>    update_larson_scanner();</a:t>
            </a:r>
          </a:p>
          <a:p>
            <a:pPr algn="l">
              <a:lnSpc>
                <a:spcPct val="100000"/>
              </a:lnSpc>
              <a:spcAft>
                <a:spcPts val="0"/>
              </a:spcAft>
              <a:defRPr sz="1400">
                <a:latin typeface="Consolas"/>
              </a:defRPr>
            </a:pPr>
            <a:r>
              <a:rPr sz="1400">
                <a:solidFill>
                  <a:srgbClr val="222222"/>
                </a:solidFill>
                <a:latin typeface="Consolas"/>
              </a:rPr>
              <a:t>    return;</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if (led_mode == KITT_SCANNER) {</a:t>
            </a:r>
          </a:p>
          <a:p>
            <a:pPr algn="l">
              <a:lnSpc>
                <a:spcPct val="100000"/>
              </a:lnSpc>
              <a:spcAft>
                <a:spcPts val="0"/>
              </a:spcAft>
              <a:defRPr sz="1400">
                <a:latin typeface="Consolas"/>
              </a:defRPr>
            </a:pPr>
            <a:r>
              <a:rPr sz="1400" b="1">
                <a:solidFill>
                  <a:srgbClr val="0E7C86"/>
                </a:solidFill>
                <a:latin typeface="Consolas"/>
              </a:rPr>
              <a:t>    if (now - kitt_time &lt; (unsigned long)KITT_SPEED_MS) return;</a:t>
            </a:r>
          </a:p>
          <a:p>
            <a:pPr algn="l">
              <a:lnSpc>
                <a:spcPct val="100000"/>
              </a:lnSpc>
              <a:spcAft>
                <a:spcPts val="0"/>
              </a:spcAft>
              <a:defRPr sz="1400">
                <a:latin typeface="Consolas"/>
              </a:defRPr>
            </a:pPr>
            <a:r>
              <a:rPr sz="1400">
                <a:solidFill>
                  <a:srgbClr val="222222"/>
                </a:solidFill>
                <a:latin typeface="Consolas"/>
              </a:rPr>
              <a:t>    kitt_time = now;</a:t>
            </a:r>
          </a:p>
          <a:p>
            <a:pPr algn="l">
              <a:lnSpc>
                <a:spcPct val="100000"/>
              </a:lnSpc>
              <a:spcAft>
                <a:spcPts val="0"/>
              </a:spcAft>
              <a:defRPr sz="1400">
                <a:latin typeface="Consolas"/>
              </a:defRPr>
            </a:pPr>
            <a:r>
              <a:rPr sz="1400">
                <a:solidFill>
                  <a:srgbClr val="666666"/>
                </a:solidFill>
                <a:latin typeface="Consolas"/>
              </a:rPr>
              <a:t>    // ...draw one frame, step the dot, maybe hand back...</a:t>
            </a:r>
          </a:p>
          <a:p>
            <a:pPr algn="l">
              <a:lnSpc>
                <a:spcPct val="100000"/>
              </a:lnSpc>
              <a:spcAft>
                <a:spcPts val="0"/>
              </a:spcAft>
              <a:defRPr sz="1400">
                <a:latin typeface="Consolas"/>
              </a:defRPr>
            </a:pPr>
            <a:r>
              <a:rPr sz="1400">
                <a:solidFill>
                  <a:srgbClr val="222222"/>
                </a:solidFill>
                <a:latin typeface="Consolas"/>
              </a:rPr>
              <a:t>    return;</a:t>
            </a:r>
          </a:p>
          <a:p>
            <a:pPr algn="l">
              <a:lnSpc>
                <a:spcPct val="100000"/>
              </a:lnSpc>
              <a:spcAft>
                <a:spcPts val="0"/>
              </a:spcAft>
              <a:defRPr sz="1400">
                <a:latin typeface="Consolas"/>
              </a:defRPr>
            </a:pPr>
            <a:r>
              <a:rPr sz="1400">
                <a:solidFill>
                  <a:srgbClr val="222222"/>
                </a:solidFill>
                <a:latin typeface="Consolas"/>
              </a:rPr>
              <a:t>  }</a:t>
            </a:r>
          </a:p>
        </p:txBody>
      </p:sp>
      <p:sp>
        <p:nvSpPr>
          <p:cNvPr id="8" name="TextBox 7"/>
          <p:cNvSpPr txBox="1"/>
          <p:nvPr/>
        </p:nvSpPr>
        <p:spPr>
          <a:xfrm>
            <a:off x="7870048" y="1517904"/>
            <a:ext cx="3818727" cy="4745736"/>
          </a:xfrm>
          <a:prstGeom prst="rect">
            <a:avLst/>
          </a:prstGeom>
          <a:noFill/>
        </p:spPr>
        <p:txBody>
          <a:bodyPr wrap="square" lIns="0" tIns="0" rIns="0" bIns="0">
            <a:spAutoFit/>
          </a:bodyPr>
          <a:lstStyle/>
          <a:p>
            <a:pPr algn="l">
              <a:lnSpc>
                <a:spcPct val="100000"/>
              </a:lnSpc>
              <a:spcAft>
                <a:spcPts val="700"/>
              </a:spcAft>
              <a:defRPr sz="1900" b="0">
                <a:solidFill>
                  <a:srgbClr val="222222"/>
                </a:solidFill>
                <a:latin typeface="Calibri"/>
              </a:defRPr>
            </a:pPr>
            <a:r>
              <a:rPr sz="1900" b="0">
                <a:solidFill>
                  <a:srgbClr val="222222"/>
                </a:solidFill>
                <a:latin typeface="Calibri"/>
              </a:rPr>
              <a:t>Every branch does the same three things: is it my turn, is it time yet, draw ONE frame.</a:t>
            </a:r>
          </a:p>
          <a:p>
            <a:pPr algn="l">
              <a:lnSpc>
                <a:spcPct val="100000"/>
              </a:lnSpc>
              <a:spcAft>
                <a:spcPts val="700"/>
              </a:spcAft>
              <a:defRPr sz="1900" b="0">
                <a:solidFill>
                  <a:srgbClr val="222222"/>
                </a:solidFill>
                <a:latin typeface="Calibri"/>
              </a:defRPr>
            </a:pPr>
            <a:r>
              <a:rPr sz="1900" b="0">
                <a:solidFill>
                  <a:srgbClr val="222222"/>
                </a:solidFill>
                <a:latin typeface="Calibri"/>
              </a:rPr>
              <a:t>Every branch returns. Exactly one mode runs per pass, and none of them can run into another.</a:t>
            </a:r>
          </a:p>
          <a:p>
            <a:pPr algn="l">
              <a:lnSpc>
                <a:spcPct val="100000"/>
              </a:lnSpc>
              <a:spcAft>
                <a:spcPts val="700"/>
              </a:spcAft>
              <a:defRPr sz="1900" b="0">
                <a:solidFill>
                  <a:srgbClr val="222222"/>
                </a:solidFill>
                <a:latin typeface="Calibri"/>
              </a:defRPr>
            </a:pPr>
            <a:r>
              <a:rPr sz="1900" b="0">
                <a:solidFill>
                  <a:srgbClr val="222222"/>
                </a:solidFill>
                <a:latin typeface="Calibri"/>
              </a:rPr>
              <a:t>The early return on the timer is what makes this cheap. Most passes through this function do almost nothing at all.</a:t>
            </a:r>
          </a:p>
          <a:p>
            <a:pPr algn="l">
              <a:lnSpc>
                <a:spcPct val="100000"/>
              </a:lnSpc>
              <a:spcAft>
                <a:spcPts val="700"/>
              </a:spcAft>
              <a:defRPr sz="1900" b="0">
                <a:solidFill>
                  <a:srgbClr val="222222"/>
                </a:solidFill>
                <a:latin typeface="Calibri"/>
              </a:defRPr>
            </a:pPr>
            <a:r>
              <a:rPr sz="1900" b="0">
                <a:solidFill>
                  <a:srgbClr val="222222"/>
                </a:solidFill>
                <a:latin typeface="Calibri"/>
              </a:rPr>
              <a:t>Note that STANDBY is last and has no timer - it is the fall-through, and it only acts when the dirty flag says so.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The state machine itself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18</a:t>
            </a:r>
          </a:p>
        </p:txBody>
      </p:sp>
      <p:sp>
        <p:nvSpPr>
          <p:cNvPr id="6" name="TextBox 5"/>
          <p:cNvSpPr txBox="1"/>
          <p:nvPr/>
        </p:nvSpPr>
        <p:spPr>
          <a:xfrm>
            <a:off x="502920" y="1188720"/>
            <a:ext cx="7047088" cy="274320"/>
          </a:xfrm>
          <a:prstGeom prst="rect">
            <a:avLst/>
          </a:prstGeom>
          <a:noFill/>
        </p:spPr>
        <p:txBody>
          <a:bodyPr wrap="square" lIns="0" tIns="0" rIns="0" bIns="0">
            <a:spAutoFit/>
          </a:bodyPr>
          <a:lstStyle/>
          <a:p>
            <a:pPr algn="l">
              <a:lnSpc>
                <a:spcPct val="100000"/>
              </a:lnSpc>
              <a:spcAft>
                <a:spcPts val="200"/>
              </a:spcAft>
              <a:defRPr sz="1200" b="1">
                <a:solidFill>
                  <a:srgbClr val="0E7C86"/>
                </a:solidFill>
                <a:latin typeface="Consolas"/>
              </a:defRPr>
            </a:pPr>
            <a:r>
              <a:rPr sz="1200" b="1">
                <a:solidFill>
                  <a:srgbClr val="0E7C86"/>
                </a:solidFill>
                <a:latin typeface="Consolas"/>
              </a:rPr>
              <a:t>Lighting.ino</a:t>
            </a:r>
          </a:p>
        </p:txBody>
      </p:sp>
      <p:sp>
        <p:nvSpPr>
          <p:cNvPr id="7" name="CODE_PANEL"/>
          <p:cNvSpPr/>
          <p:nvPr/>
        </p:nvSpPr>
        <p:spPr>
          <a:xfrm>
            <a:off x="502920" y="1517904"/>
            <a:ext cx="7047088" cy="4745736"/>
          </a:xfrm>
          <a:prstGeom prst="roundRect">
            <a:avLst>
              <a:gd name="adj" fmla="val 4000"/>
            </a:avLst>
          </a:prstGeom>
          <a:solidFill>
            <a:srgbClr val="F4F6F8"/>
          </a:solidFill>
          <a:ln w="12700">
            <a:solidFill>
              <a:srgbClr val="C8D2DE"/>
            </a:solidFill>
          </a:ln>
          <a:effectLst/>
        </p:spPr>
        <p:style>
          <a:lnRef idx="1">
            <a:schemeClr val="accent1"/>
          </a:lnRef>
          <a:fillRef idx="3">
            <a:schemeClr val="accent1"/>
          </a:fillRef>
          <a:effectRef idx="2">
            <a:schemeClr val="accent1"/>
          </a:effectRef>
          <a:fontRef idx="minor">
            <a:schemeClr val="lt1"/>
          </a:fontRef>
        </p:style>
        <p:txBody>
          <a:bodyPr rtlCol="0" anchor="t" wrap="square" lIns="146304" tIns="91440" bIns="73152"/>
          <a:lstStyle/>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  if (led_mode == STANDBY &amp;&amp; standby_dirty) {</a:t>
            </a:r>
          </a:p>
          <a:p>
            <a:pPr algn="l">
              <a:lnSpc>
                <a:spcPct val="100000"/>
              </a:lnSpc>
              <a:spcAft>
                <a:spcPts val="0"/>
              </a:spcAft>
              <a:defRPr sz="1400">
                <a:latin typeface="Consolas"/>
              </a:defRPr>
            </a:pPr>
            <a:r>
              <a:rPr sz="1400" b="1">
                <a:solidFill>
                  <a:srgbClr val="0E7C86"/>
                </a:solidFill>
                <a:latin typeface="Consolas"/>
              </a:rPr>
              <a:t>    set_standby_lighting();</a:t>
            </a:r>
          </a:p>
          <a:p>
            <a:pPr algn="l">
              <a:lnSpc>
                <a:spcPct val="100000"/>
              </a:lnSpc>
              <a:spcAft>
                <a:spcPts val="0"/>
              </a:spcAft>
              <a:defRPr sz="1400">
                <a:latin typeface="Consolas"/>
              </a:defRPr>
            </a:pPr>
            <a:r>
              <a:rPr sz="1400">
                <a:solidFill>
                  <a:srgbClr val="222222"/>
                </a:solidFill>
                <a:latin typeface="Consolas"/>
              </a:rPr>
              <a:t>  }</a:t>
            </a:r>
          </a:p>
          <a:p>
            <a:pPr algn="l">
              <a:lnSpc>
                <a:spcPct val="100000"/>
              </a:lnSpc>
              <a:spcAft>
                <a:spcPts val="0"/>
              </a:spcAft>
              <a:defRPr sz="1400">
                <a:latin typeface="Consolas"/>
              </a:defRPr>
            </a:pPr>
            <a:r>
              <a:rPr sz="1400">
                <a:solidFill>
                  <a:srgbClr val="222222"/>
                </a:solidFill>
                <a:latin typeface="Consolas"/>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Breathing, and an 8-bit sine</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19</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Why the fade is a sine and not a ramp</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500" b="0">
                <a:solidFill>
                  <a:srgbClr val="222222"/>
                </a:solidFill>
                <a:latin typeface="Calibri"/>
              </a:defRPr>
            </a:pPr>
            <a:r>
              <a:rPr sz="2500" b="0">
                <a:solidFill>
                  <a:srgbClr val="222222"/>
                </a:solidFill>
                <a:latin typeface="Calibri"/>
              </a:rPr>
              <a:t>The pairing animation fades the whole strip up and down smoothly. Doing that with a straight line looks wrong - it appears to hover at the ends and rush through the middle.</a:t>
            </a:r>
          </a:p>
          <a:p>
            <a:pPr algn="l">
              <a:lnSpc>
                <a:spcPct val="100000"/>
              </a:lnSpc>
              <a:spcAft>
                <a:spcPts val="600"/>
              </a:spcAft>
              <a:defRPr sz="2500" b="0">
                <a:solidFill>
                  <a:srgbClr val="222222"/>
                </a:solidFill>
                <a:latin typeface="Calibri"/>
              </a:defRPr>
            </a:pPr>
          </a:p>
          <a:p>
            <a:pPr algn="l">
              <a:lnSpc>
                <a:spcPct val="100000"/>
              </a:lnSpc>
              <a:spcAft>
                <a:spcPts val="600"/>
              </a:spcAft>
              <a:defRPr sz="2500" b="0">
                <a:solidFill>
                  <a:srgbClr val="222222"/>
                </a:solidFill>
                <a:latin typeface="Calibri"/>
              </a:defRPr>
            </a:pPr>
            <a:r>
              <a:rPr sz="2500" b="0">
                <a:solidFill>
                  <a:srgbClr val="222222"/>
                </a:solidFill>
                <a:latin typeface="Calibri"/>
              </a:rPr>
              <a:t>A sine wave is what looks natural, because it slows at the extremes. FastLED gave 11.2 a sin8() for this. Op 12 writes it out:</a:t>
            </a:r>
          </a:p>
          <a:p>
            <a:pPr lvl="1" algn="l">
              <a:lnSpc>
                <a:spcPct val="100000"/>
              </a:lnSpc>
              <a:spcAft>
                <a:spcPts val="600"/>
              </a:spcAft>
              <a:defRPr sz="2500" b="0">
                <a:solidFill>
                  <a:srgbClr val="222222"/>
                </a:solidFill>
                <a:latin typeface="Calibri"/>
              </a:defRPr>
            </a:pPr>
            <a:r>
              <a:rPr sz="2500" b="0">
                <a:solidFill>
                  <a:srgbClr val="222222"/>
                </a:solidFill>
                <a:latin typeface="Calibri"/>
              </a:rPr>
              <a:t>uint8_t sine8(uint8_t theta) {</a:t>
            </a:r>
          </a:p>
          <a:p>
            <a:pPr lvl="1" algn="l">
              <a:lnSpc>
                <a:spcPct val="100000"/>
              </a:lnSpc>
              <a:spcAft>
                <a:spcPts val="600"/>
              </a:spcAft>
              <a:defRPr sz="2500" b="0">
                <a:solidFill>
                  <a:srgbClr val="222222"/>
                </a:solidFill>
                <a:latin typeface="Calibri"/>
              </a:defRPr>
            </a:pPr>
            <a:r>
              <a:rPr sz="2500" b="0">
                <a:solidFill>
                  <a:srgbClr val="222222"/>
                </a:solidFill>
                <a:latin typeface="Calibri"/>
              </a:rPr>
              <a:t>  float radians = (theta / 256.0f) * 2.0f * PI;</a:t>
            </a:r>
          </a:p>
          <a:p>
            <a:pPr lvl="1" algn="l">
              <a:lnSpc>
                <a:spcPct val="100000"/>
              </a:lnSpc>
              <a:spcAft>
                <a:spcPts val="600"/>
              </a:spcAft>
              <a:defRPr sz="2500" b="0">
                <a:solidFill>
                  <a:srgbClr val="222222"/>
                </a:solidFill>
                <a:latin typeface="Calibri"/>
              </a:defRPr>
            </a:pPr>
            <a:r>
              <a:rPr sz="2500" b="0">
                <a:solidFill>
                  <a:srgbClr val="222222"/>
                </a:solidFill>
                <a:latin typeface="Calibri"/>
              </a:rPr>
              <a:t>  return (uint8_t)(128.0f + 127.0f * sinf(radians));</a:t>
            </a:r>
          </a:p>
          <a:p>
            <a:pPr lvl="1" algn="l">
              <a:lnSpc>
                <a:spcPct val="100000"/>
              </a:lnSpc>
              <a:spcAft>
                <a:spcPts val="600"/>
              </a:spcAft>
              <a:defRPr sz="2500" b="0">
                <a:solidFill>
                  <a:srgbClr val="222222"/>
                </a:solidFill>
                <a:latin typeface="Calibri"/>
              </a:defRPr>
            </a:pPr>
            <a:r>
              <a:rPr sz="2500" b="0">
                <a:solidFill>
                  <a:srgbClr val="222222"/>
                </a:solidFill>
                <a:latin typeface="Calibri"/>
              </a:rPr>
              <a: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Breathing, and an 8-bit sine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20</a:t>
            </a:r>
          </a:p>
        </p:txBody>
      </p:sp>
      <p:sp>
        <p:nvSpPr>
          <p:cNvPr id="6" name="TextBox 5"/>
          <p:cNvSpPr txBox="1"/>
          <p:nvPr/>
        </p:nvSpPr>
        <p:spPr>
          <a:xfrm>
            <a:off x="502920" y="1188720"/>
            <a:ext cx="11185855" cy="3986784"/>
          </a:xfrm>
          <a:prstGeom prst="rect">
            <a:avLst/>
          </a:prstGeom>
          <a:noFill/>
        </p:spPr>
        <p:txBody>
          <a:bodyPr wrap="square" lIns="0" tIns="0" rIns="0" bIns="0">
            <a:spAutoFit/>
          </a:bodyPr>
          <a:lstStyle/>
          <a:p>
            <a:pPr algn="l">
              <a:lnSpc>
                <a:spcPct val="100000"/>
              </a:lnSpc>
              <a:spcAft>
                <a:spcPts val="600"/>
              </a:spcAft>
              <a:defRPr sz="210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Feed it 0..255 for one full turn, get 0..255 back with 128 as the midpoint. No angles in degrees, no floating point in the caller.</a:t>
            </a:r>
          </a:p>
          <a:p>
            <a:pPr algn="l">
              <a:lnSpc>
                <a:spcPct val="100000"/>
              </a:lnSpc>
              <a:spcAft>
                <a:spcPts val="600"/>
              </a:spcAft>
              <a:defRPr sz="210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Then the phase comes from the clock rather than from a counter:</a:t>
            </a:r>
          </a:p>
          <a:p>
            <a:pPr lvl="1" algn="l">
              <a:lnSpc>
                <a:spcPct val="100000"/>
              </a:lnSpc>
              <a:spcAft>
                <a:spcPts val="600"/>
              </a:spcAft>
              <a:defRPr sz="2100" b="0">
                <a:solidFill>
                  <a:srgbClr val="222222"/>
                </a:solidFill>
                <a:latin typeface="Calibri"/>
              </a:defRPr>
            </a:pPr>
            <a:r>
              <a:rPr sz="2100" b="0">
                <a:solidFill>
                  <a:srgbClr val="222222"/>
                </a:solidFill>
                <a:latin typeface="Calibri"/>
              </a:rPr>
              <a:t>phase = (now % BREATHE_PERIOD_MS) * 255 / BREATHE_PERIOD_MS;</a:t>
            </a:r>
          </a:p>
          <a:p>
            <a:pPr algn="l">
              <a:lnSpc>
                <a:spcPct val="100000"/>
              </a:lnSpc>
              <a:spcAft>
                <a:spcPts val="600"/>
              </a:spcAft>
              <a:defRPr sz="2100" b="0">
                <a:solidFill>
                  <a:srgbClr val="222222"/>
                </a:solidFill>
                <a:latin typeface="Calibri"/>
              </a:defRPr>
            </a:pPr>
          </a:p>
          <a:p>
            <a:pPr algn="l">
              <a:lnSpc>
                <a:spcPct val="100000"/>
              </a:lnSpc>
              <a:spcAft>
                <a:spcPts val="600"/>
              </a:spcAft>
              <a:defRPr sz="2100" b="0">
                <a:solidFill>
                  <a:srgbClr val="222222"/>
                </a:solidFill>
                <a:latin typeface="Calibri"/>
              </a:defRPr>
            </a:pPr>
            <a:r>
              <a:rPr sz="2100" b="0">
                <a:solidFill>
                  <a:srgbClr val="222222"/>
                </a:solidFill>
                <a:latin typeface="Calibri"/>
              </a:rPr>
              <a:t>Deriving the phase from millis() rather than incrementing a variable means the animation runs at the same speed no matter how often the function gets called, and it cannot drift.</a:t>
            </a:r>
          </a:p>
        </p:txBody>
      </p:sp>
      <p:sp>
        <p:nvSpPr>
          <p:cNvPr id="7" name="Rounded Rectangle 6"/>
          <p:cNvSpPr/>
          <p:nvPr/>
        </p:nvSpPr>
        <p:spPr>
          <a:xfrm>
            <a:off x="502920" y="5303520"/>
            <a:ext cx="11185855" cy="960120"/>
          </a:xfrm>
          <a:prstGeom prst="roundRect">
            <a:avLst>
              <a:gd name="adj" fmla="val 4000"/>
            </a:avLst>
          </a:prstGeom>
          <a:solidFill>
            <a:srgbClr val="EEF3F8"/>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73152" bIns="73152"/>
          <a:lstStyle/>
          <a:p>
            <a:pPr algn="l"/>
            <a:r>
              <a:rPr sz="1300" b="1">
                <a:solidFill>
                  <a:srgbClr val="0E7C86"/>
                </a:solidFill>
                <a:latin typeface="Calibri"/>
              </a:rPr>
              <a:t>KEY POINT   </a:t>
            </a:r>
            <a:r>
              <a:rPr sz="1500">
                <a:solidFill>
                  <a:srgbClr val="222222"/>
                </a:solidFill>
                <a:latin typeface="Calibri"/>
              </a:rPr>
              <a:t>Compute animation state FROM the clock rather than stepping a counter. It is self-correcting, and it survives a slow pass of loop() without stuttering.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Add a mode  -  thirty minutes, in your groups</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21</a:t>
            </a:r>
          </a:p>
        </p:txBody>
      </p:sp>
      <p:sp>
        <p:nvSpPr>
          <p:cNvPr id="6" name="TextBox 5"/>
          <p:cNvSpPr txBox="1"/>
          <p:nvPr/>
        </p:nvSpPr>
        <p:spPr>
          <a:xfrm>
            <a:off x="502920" y="1188720"/>
            <a:ext cx="11185855" cy="530352"/>
          </a:xfrm>
          <a:prstGeom prst="rect">
            <a:avLst/>
          </a:prstGeom>
          <a:noFill/>
        </p:spPr>
        <p:txBody>
          <a:bodyPr wrap="square" lIns="0" tIns="0" rIns="0" bIns="0">
            <a:spAutoFit/>
          </a:bodyPr>
          <a:lstStyle/>
          <a:p>
            <a:pPr algn="l">
              <a:lnSpc>
                <a:spcPct val="100000"/>
              </a:lnSpc>
              <a:spcAft>
                <a:spcPts val="600"/>
              </a:spcAft>
              <a:defRPr sz="1900" b="1">
                <a:solidFill>
                  <a:srgbClr val="0E7C86"/>
                </a:solidFill>
                <a:latin typeface="Calibri"/>
              </a:defRPr>
            </a:pPr>
            <a:r>
              <a:rPr sz="1900" b="1">
                <a:solidFill>
                  <a:srgbClr val="0E7C86"/>
                </a:solidFill>
                <a:latin typeface="Calibri"/>
              </a:rPr>
              <a:t>The real test of a design is what it costs to extend</a:t>
            </a:r>
          </a:p>
        </p:txBody>
      </p:sp>
      <p:sp>
        <p:nvSpPr>
          <p:cNvPr id="7" name="TextBox 6"/>
          <p:cNvSpPr txBox="1"/>
          <p:nvPr/>
        </p:nvSpPr>
        <p:spPr>
          <a:xfrm>
            <a:off x="502920" y="1755648"/>
            <a:ext cx="11185855" cy="4507992"/>
          </a:xfrm>
          <a:prstGeom prst="rect">
            <a:avLst/>
          </a:prstGeom>
          <a:noFill/>
        </p:spPr>
        <p:txBody>
          <a:bodyPr wrap="square" lIns="0" tIns="0" rIns="0" bIns="0">
            <a:spAutoFit/>
          </a:bodyPr>
          <a:lstStyle/>
          <a:p>
            <a:pPr algn="l">
              <a:lnSpc>
                <a:spcPct val="100000"/>
              </a:lnSpc>
              <a:spcAft>
                <a:spcPts val="600"/>
              </a:spcAft>
              <a:defRPr sz="2400" b="0">
                <a:solidFill>
                  <a:srgbClr val="222222"/>
                </a:solidFill>
                <a:latin typeface="Calibri"/>
              </a:defRPr>
            </a:pPr>
            <a:r>
              <a:rPr sz="2400" b="0">
                <a:solidFill>
                  <a:srgbClr val="222222"/>
                </a:solidFill>
                <a:latin typeface="Calibri"/>
              </a:rPr>
              <a:t>Add a HAZARD mode to a4a_led_state_machine: all four corners flashing amber together, running until it is switched off.</a:t>
            </a:r>
          </a:p>
          <a:p>
            <a:pPr algn="l">
              <a:lnSpc>
                <a:spcPct val="100000"/>
              </a:lnSpc>
              <a:spcAft>
                <a:spcPts val="600"/>
              </a:spcAft>
              <a:defRPr sz="2400" b="0">
                <a:solidFill>
                  <a:srgbClr val="222222"/>
                </a:solidFill>
                <a:latin typeface="Calibri"/>
              </a:defRPr>
            </a:pPr>
          </a:p>
          <a:p>
            <a:pPr algn="l">
              <a:lnSpc>
                <a:spcPct val="100000"/>
              </a:lnSpc>
              <a:spcAft>
                <a:spcPts val="600"/>
              </a:spcAft>
              <a:defRPr sz="2400" b="0">
                <a:solidFill>
                  <a:srgbClr val="222222"/>
                </a:solidFill>
                <a:latin typeface="Calibri"/>
              </a:defRPr>
            </a:pPr>
            <a:r>
              <a:rPr sz="2400" b="0">
                <a:solidFill>
                  <a:srgbClr val="222222"/>
                </a:solidFill>
                <a:latin typeface="Calibri"/>
              </a:rPr>
              <a:t>Do it the way the program is built:</a:t>
            </a:r>
          </a:p>
          <a:p>
            <a:pPr lvl="1" algn="l">
              <a:lnSpc>
                <a:spcPct val="100000"/>
              </a:lnSpc>
              <a:spcAft>
                <a:spcPts val="600"/>
              </a:spcAft>
              <a:defRPr sz="2400" b="0">
                <a:solidFill>
                  <a:srgbClr val="222222"/>
                </a:solidFill>
                <a:latin typeface="Calibri"/>
              </a:defRPr>
            </a:pPr>
            <a:r>
              <a:rPr sz="2400" b="0">
                <a:solidFill>
                  <a:srgbClr val="222222"/>
                </a:solidFill>
                <a:latin typeface="Calibri"/>
              </a:rPr>
              <a:t>1.  Add HAZARD to the LEDMode enum.</a:t>
            </a:r>
          </a:p>
          <a:p>
            <a:pPr lvl="1" algn="l">
              <a:lnSpc>
                <a:spcPct val="100000"/>
              </a:lnSpc>
              <a:spcAft>
                <a:spcPts val="600"/>
              </a:spcAft>
              <a:defRPr sz="2400" b="0">
                <a:solidFill>
                  <a:srgbClr val="222222"/>
                </a:solidFill>
                <a:latin typeface="Calibri"/>
              </a:defRPr>
            </a:pPr>
            <a:r>
              <a:rPr sz="2400" b="0">
                <a:solidFill>
                  <a:srgbClr val="222222"/>
                </a:solidFill>
                <a:latin typeface="Calibri"/>
              </a:rPr>
              <a:t>2.  Add its timing constants to the configuration block at the top - not buried in the function.</a:t>
            </a:r>
          </a:p>
          <a:p>
            <a:pPr lvl="1" algn="l">
              <a:lnSpc>
                <a:spcPct val="100000"/>
              </a:lnSpc>
              <a:spcAft>
                <a:spcPts val="600"/>
              </a:spcAft>
              <a:defRPr sz="2400" b="0">
                <a:solidFill>
                  <a:srgbClr val="222222"/>
                </a:solidFill>
                <a:latin typeface="Calibri"/>
              </a:defRPr>
            </a:pPr>
            <a:r>
              <a:rPr sz="2400" b="0">
                <a:solidFill>
                  <a:srgbClr val="222222"/>
                </a:solidFill>
                <a:latin typeface="Calibri"/>
              </a:rPr>
              <a:t>3.  Write update_hazard(now) so it draws ONE frame and returns.</a:t>
            </a:r>
          </a:p>
          <a:p>
            <a:pPr lvl="1" algn="l">
              <a:lnSpc>
                <a:spcPct val="100000"/>
              </a:lnSpc>
              <a:spcAft>
                <a:spcPts val="600"/>
              </a:spcAft>
              <a:defRPr sz="2400" b="0">
                <a:solidFill>
                  <a:srgbClr val="222222"/>
                </a:solidFill>
                <a:latin typeface="Calibri"/>
              </a:defRPr>
            </a:pPr>
            <a:r>
              <a:rPr sz="2400" b="0">
                <a:solidFill>
                  <a:srgbClr val="222222"/>
                </a:solidFill>
                <a:latin typeface="Calibri"/>
              </a:rPr>
              <a:t>4.  Add one branch to the state machine.</a:t>
            </a:r>
          </a:p>
          <a:p>
            <a:pPr lvl="1" algn="l">
              <a:lnSpc>
                <a:spcPct val="100000"/>
              </a:lnSpc>
              <a:spcAft>
                <a:spcPts val="600"/>
              </a:spcAft>
              <a:defRPr sz="2400" b="0">
                <a:solidFill>
                  <a:srgbClr val="222222"/>
                </a:solidFill>
                <a:latin typeface="Calibri"/>
              </a:defRPr>
            </a:pPr>
            <a:r>
              <a:rPr sz="2400" b="0">
                <a:solidFill>
                  <a:srgbClr val="222222"/>
                </a:solidFill>
                <a:latin typeface="Calibri"/>
              </a:rPr>
              <a:t>5.  Add a console command to enter and leave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Add a mode  -  thirty minutes, in your groups  (continued)</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22</a:t>
            </a:r>
          </a:p>
        </p:txBody>
      </p:sp>
      <p:sp>
        <p:nvSpPr>
          <p:cNvPr id="6" name="TextBox 5"/>
          <p:cNvSpPr txBox="1"/>
          <p:nvPr/>
        </p:nvSpPr>
        <p:spPr>
          <a:xfrm>
            <a:off x="502920" y="1188720"/>
            <a:ext cx="11185855" cy="5074920"/>
          </a:xfrm>
          <a:prstGeom prst="rect">
            <a:avLst/>
          </a:prstGeom>
          <a:noFill/>
        </p:spPr>
        <p:txBody>
          <a:bodyPr wrap="square" lIns="0" tIns="0" rIns="0" bIns="0">
            <a:spAutoFit/>
          </a:bodyPr>
          <a:lstStyle/>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Then answer these:</a:t>
            </a:r>
          </a:p>
          <a:p>
            <a:pPr lvl="1" algn="l">
              <a:lnSpc>
                <a:spcPct val="100000"/>
              </a:lnSpc>
              <a:spcAft>
                <a:spcPts val="600"/>
              </a:spcAft>
              <a:defRPr sz="2700" b="0">
                <a:solidFill>
                  <a:srgbClr val="222222"/>
                </a:solidFill>
                <a:latin typeface="Calibri"/>
              </a:defRPr>
            </a:pPr>
            <a:r>
              <a:rPr sz="2700" b="0">
                <a:solidFill>
                  <a:srgbClr val="222222"/>
                </a:solidFill>
                <a:latin typeface="Calibri"/>
              </a:rPr>
              <a:t>How many existing lines did you have to change?</a:t>
            </a:r>
          </a:p>
          <a:p>
            <a:pPr lvl="1" algn="l">
              <a:lnSpc>
                <a:spcPct val="100000"/>
              </a:lnSpc>
              <a:spcAft>
                <a:spcPts val="600"/>
              </a:spcAft>
              <a:defRPr sz="2700" b="0">
                <a:solidFill>
                  <a:srgbClr val="222222"/>
                </a:solidFill>
                <a:latin typeface="Calibri"/>
              </a:defRPr>
            </a:pPr>
            <a:r>
              <a:rPr sz="2700" b="0">
                <a:solidFill>
                  <a:srgbClr val="222222"/>
                </a:solidFill>
                <a:latin typeface="Calibri"/>
              </a:rPr>
              <a:t>Could HAZARD and TURN_LEFT ever be on at the same time? Why not?</a:t>
            </a:r>
          </a:p>
          <a:p>
            <a:pPr lvl="1" algn="l">
              <a:lnSpc>
                <a:spcPct val="100000"/>
              </a:lnSpc>
              <a:spcAft>
                <a:spcPts val="600"/>
              </a:spcAft>
              <a:defRPr sz="2700" b="0">
                <a:solidFill>
                  <a:srgbClr val="222222"/>
                </a:solidFill>
                <a:latin typeface="Calibri"/>
              </a:defRPr>
            </a:pPr>
            <a:r>
              <a:rPr sz="2700" b="0">
                <a:solidFill>
                  <a:srgbClr val="222222"/>
                </a:solidFill>
                <a:latin typeface="Calibri"/>
              </a:rPr>
              <a:t>What does  load  say while it is running?</a:t>
            </a:r>
          </a:p>
          <a:p>
            <a:pPr algn="l">
              <a:lnSpc>
                <a:spcPct val="100000"/>
              </a:lnSpc>
              <a:spcAft>
                <a:spcPts val="600"/>
              </a:spcAft>
              <a:defRPr sz="2700" b="0">
                <a:solidFill>
                  <a:srgbClr val="222222"/>
                </a:solidFill>
                <a:latin typeface="Calibri"/>
              </a:defRPr>
            </a:pPr>
          </a:p>
          <a:p>
            <a:pPr algn="l">
              <a:lnSpc>
                <a:spcPct val="100000"/>
              </a:lnSpc>
              <a:spcAft>
                <a:spcPts val="600"/>
              </a:spcAft>
              <a:defRPr sz="2700" b="0">
                <a:solidFill>
                  <a:srgbClr val="222222"/>
                </a:solidFill>
                <a:latin typeface="Calibri"/>
              </a:defRPr>
            </a:pPr>
            <a:r>
              <a:rPr sz="2700" b="0">
                <a:solidFill>
                  <a:srgbClr val="222222"/>
                </a:solidFill>
                <a:latin typeface="Calibri"/>
              </a:rPr>
              <a:t>The point of the exercise is the first question. If a new mode costs you one enum value and one branch, the design is doing its job.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2920" y="274320"/>
            <a:ext cx="11185855" cy="777240"/>
          </a:xfrm>
        </p:spPr>
        <p:txBody>
          <a:bodyPr wrap="square" anchor="b"/>
          <a:lstStyle/>
          <a:p>
            <a:pPr algn="l">
              <a:lnSpc>
                <a:spcPct val="100000"/>
              </a:lnSpc>
              <a:spcAft>
                <a:spcPts val="0"/>
              </a:spcAft>
              <a:defRPr sz="2800" b="1">
                <a:solidFill>
                  <a:srgbClr val="1F3A5F"/>
                </a:solidFill>
                <a:latin typeface="Calibri"/>
              </a:defRPr>
            </a:pPr>
            <a:r>
              <a:rPr sz="2800" b="1">
                <a:solidFill>
                  <a:srgbClr val="1F3A5F"/>
                </a:solidFill>
                <a:latin typeface="Calibri"/>
              </a:rPr>
              <a:t>Check yourself</a:t>
            </a:r>
          </a:p>
        </p:txBody>
      </p:sp>
      <p:sp>
        <p:nvSpPr>
          <p:cNvPr id="3" name="Rectangle 2"/>
          <p:cNvSpPr/>
          <p:nvPr/>
        </p:nvSpPr>
        <p:spPr>
          <a:xfrm>
            <a:off x="502920" y="1097280"/>
            <a:ext cx="11185855" cy="19050"/>
          </a:xfrm>
          <a:prstGeom prst="rect">
            <a:avLst/>
          </a:prstGeom>
          <a:solidFill>
            <a:srgbClr val="C8D2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382512"/>
            <a:ext cx="10545775" cy="274320"/>
          </a:xfrm>
          <a:prstGeom prst="rect">
            <a:avLst/>
          </a:prstGeom>
          <a:noFill/>
        </p:spPr>
        <p:txBody>
          <a:bodyPr wrap="square" lIns="0" tIns="0">
            <a:spAutoFit/>
          </a:bodyPr>
          <a:lstStyle/>
          <a:p>
            <a:pPr algn="l">
              <a:lnSpc>
                <a:spcPct val="100000"/>
              </a:lnSpc>
              <a:spcAft>
                <a:spcPts val="0"/>
              </a:spcAft>
              <a:defRPr sz="1000" b="0">
                <a:solidFill>
                  <a:srgbClr val="666666"/>
                </a:solidFill>
                <a:latin typeface="Calibri"/>
              </a:defRPr>
            </a:pPr>
            <a:r>
              <a:rPr sz="1000" b="0">
                <a:solidFill>
                  <a:srgbClr val="666666"/>
                </a:solidFill>
                <a:latin typeface="Calibri"/>
              </a:rPr>
              <a:t>Pathfinder Advanced - Op Program 12  |  Lesson 4</a:t>
            </a:r>
          </a:p>
        </p:txBody>
      </p:sp>
      <p:sp>
        <p:nvSpPr>
          <p:cNvPr id="5" name="TextBox 4"/>
          <p:cNvSpPr txBox="1"/>
          <p:nvPr/>
        </p:nvSpPr>
        <p:spPr>
          <a:xfrm>
            <a:off x="11231575" y="6382512"/>
            <a:ext cx="457200" cy="274320"/>
          </a:xfrm>
          <a:prstGeom prst="rect">
            <a:avLst/>
          </a:prstGeom>
          <a:noFill/>
        </p:spPr>
        <p:txBody>
          <a:bodyPr wrap="square" lIns="0" tIns="0">
            <a:spAutoFit/>
          </a:bodyPr>
          <a:lstStyle/>
          <a:p>
            <a:pPr algn="r">
              <a:lnSpc>
                <a:spcPct val="100000"/>
              </a:lnSpc>
              <a:spcAft>
                <a:spcPts val="0"/>
              </a:spcAft>
              <a:defRPr sz="1000" b="0">
                <a:solidFill>
                  <a:srgbClr val="666666"/>
                </a:solidFill>
                <a:latin typeface="Calibri"/>
              </a:defRPr>
            </a:pPr>
            <a:r>
              <a:rPr sz="1000" b="0">
                <a:solidFill>
                  <a:srgbClr val="666666"/>
                </a:solidFill>
                <a:latin typeface="Calibri"/>
              </a:rPr>
              <a:t>23</a:t>
            </a:r>
          </a:p>
        </p:txBody>
      </p:sp>
      <p:sp>
        <p:nvSpPr>
          <p:cNvPr id="6" name="TextBox 5"/>
          <p:cNvSpPr txBox="1"/>
          <p:nvPr/>
        </p:nvSpPr>
        <p:spPr>
          <a:xfrm>
            <a:off x="502920" y="1188720"/>
            <a:ext cx="11185855" cy="411480"/>
          </a:xfrm>
          <a:prstGeom prst="rect">
            <a:avLst/>
          </a:prstGeom>
          <a:noFill/>
        </p:spPr>
        <p:txBody>
          <a:bodyPr wrap="square" lIns="0" tIns="0" rIns="0" bIns="0">
            <a:spAutoFit/>
          </a:bodyPr>
          <a:lstStyle/>
          <a:p>
            <a:pPr algn="l">
              <a:lnSpc>
                <a:spcPct val="100000"/>
              </a:lnSpc>
              <a:spcAft>
                <a:spcPts val="600"/>
              </a:spcAft>
              <a:defRPr sz="1600" b="0">
                <a:solidFill>
                  <a:srgbClr val="666666"/>
                </a:solidFill>
                <a:latin typeface="Calibri"/>
              </a:defRPr>
            </a:pPr>
            <a:r>
              <a:rPr sz="1600" b="0">
                <a:solidFill>
                  <a:srgbClr val="666666"/>
                </a:solidFill>
                <a:latin typeface="Calibri"/>
              </a:rPr>
              <a:t>Next lesson: a machine that tests its own hardware.</a:t>
            </a:r>
          </a:p>
        </p:txBody>
      </p:sp>
      <p:sp>
        <p:nvSpPr>
          <p:cNvPr id="7" name="TextBox 6"/>
          <p:cNvSpPr txBox="1"/>
          <p:nvPr/>
        </p:nvSpPr>
        <p:spPr>
          <a:xfrm>
            <a:off x="502920" y="1664208"/>
            <a:ext cx="11185855" cy="4599432"/>
          </a:xfrm>
          <a:prstGeom prst="rect">
            <a:avLst/>
          </a:prstGeom>
          <a:noFill/>
        </p:spPr>
        <p:txBody>
          <a:bodyPr wrap="square" lIns="0" tIns="0" rIns="0" bIns="0">
            <a:spAutoFit/>
          </a:bodyPr>
          <a:lstStyle/>
          <a:p>
            <a:pPr algn="l">
              <a:lnSpc>
                <a:spcPct val="100000"/>
              </a:lnSpc>
              <a:spcAft>
                <a:spcPts val="1100"/>
              </a:spcAft>
              <a:defRPr sz="2200" b="0">
                <a:solidFill>
                  <a:srgbClr val="222222"/>
                </a:solidFill>
                <a:latin typeface="Calibri"/>
              </a:defRPr>
            </a:pPr>
            <a:r>
              <a:rPr sz="2200" b="0">
                <a:solidFill>
                  <a:srgbClr val="222222"/>
                </a:solidFill>
                <a:latin typeface="Calibri"/>
              </a:rPr>
              <a:t>1.  Six booleans give how many combinations? One six-value enum?</a:t>
            </a:r>
          </a:p>
          <a:p>
            <a:pPr algn="l">
              <a:lnSpc>
                <a:spcPct val="100000"/>
              </a:lnSpc>
              <a:spcAft>
                <a:spcPts val="1100"/>
              </a:spcAft>
              <a:defRPr sz="2200" b="0">
                <a:solidFill>
                  <a:srgbClr val="222222"/>
                </a:solidFill>
                <a:latin typeface="Calibri"/>
              </a:defRPr>
            </a:pPr>
            <a:r>
              <a:rPr sz="2200" b="0">
                <a:solidFill>
                  <a:srgbClr val="222222"/>
                </a:solidFill>
                <a:latin typeface="Calibri"/>
              </a:rPr>
              <a:t>2.  Write the three-line non-blocking animation pattern.</a:t>
            </a:r>
          </a:p>
          <a:p>
            <a:pPr algn="l">
              <a:lnSpc>
                <a:spcPct val="100000"/>
              </a:lnSpc>
              <a:spcAft>
                <a:spcPts val="1100"/>
              </a:spcAft>
              <a:defRPr sz="2200" b="0">
                <a:solidFill>
                  <a:srgbClr val="222222"/>
                </a:solidFill>
                <a:latin typeface="Calibri"/>
              </a:defRPr>
            </a:pPr>
            <a:r>
              <a:rPr sz="2200" b="0">
                <a:solidFill>
                  <a:srgbClr val="222222"/>
                </a:solidFill>
                <a:latin typeface="Calibri"/>
              </a:rPr>
              <a:t>3.  What is a dirty flag, and roughly what did it save on this vehicle?</a:t>
            </a:r>
          </a:p>
          <a:p>
            <a:pPr algn="l">
              <a:lnSpc>
                <a:spcPct val="100000"/>
              </a:lnSpc>
              <a:spcAft>
                <a:spcPts val="1100"/>
              </a:spcAft>
              <a:defRPr sz="2200" b="0">
                <a:solidFill>
                  <a:srgbClr val="222222"/>
                </a:solidFill>
                <a:latin typeface="Calibri"/>
              </a:defRPr>
            </a:pPr>
            <a:r>
              <a:rPr sz="2200" b="0">
                <a:solidFill>
                  <a:srgbClr val="222222"/>
                </a:solidFill>
                <a:latin typeface="Calibri"/>
              </a:rPr>
              <a:t>4.  Why can Op 12 not use FastLED?</a:t>
            </a:r>
          </a:p>
          <a:p>
            <a:pPr algn="l">
              <a:lnSpc>
                <a:spcPct val="100000"/>
              </a:lnSpc>
              <a:spcAft>
                <a:spcPts val="1100"/>
              </a:spcAft>
              <a:defRPr sz="2200" b="0">
                <a:solidFill>
                  <a:srgbClr val="222222"/>
                </a:solidFill>
                <a:latin typeface="Calibri"/>
              </a:defRPr>
            </a:pPr>
            <a:r>
              <a:rPr sz="2200" b="0">
                <a:solidFill>
                  <a:srgbClr val="222222"/>
                </a:solidFill>
                <a:latin typeface="Calibri"/>
              </a:rPr>
              <a:t>5.  Why does each turn-signal frame repaint the headlights?</a:t>
            </a:r>
          </a:p>
          <a:p>
            <a:pPr algn="l">
              <a:lnSpc>
                <a:spcPct val="100000"/>
              </a:lnSpc>
              <a:spcAft>
                <a:spcPts val="1100"/>
              </a:spcAft>
              <a:defRPr sz="2200" b="0">
                <a:solidFill>
                  <a:srgbClr val="222222"/>
                </a:solidFill>
                <a:latin typeface="Calibri"/>
              </a:defRPr>
            </a:pPr>
            <a:r>
              <a:rPr sz="2200" b="0">
                <a:solidFill>
                  <a:srgbClr val="222222"/>
                </a:solidFill>
                <a:latin typeface="Calibri"/>
              </a:rPr>
              <a:t>6.  Why does the front index count down for a LEFT signal?</a:t>
            </a:r>
          </a:p>
          <a:p>
            <a:pPr algn="l">
              <a:lnSpc>
                <a:spcPct val="100000"/>
              </a:lnSpc>
              <a:spcAft>
                <a:spcPts val="1100"/>
              </a:spcAft>
              <a:defRPr sz="2200" b="0">
                <a:solidFill>
                  <a:srgbClr val="222222"/>
                </a:solidFill>
                <a:latin typeface="Calibri"/>
              </a:defRPr>
            </a:pPr>
            <a:r>
              <a:rPr sz="2200" b="0">
                <a:solidFill>
                  <a:srgbClr val="222222"/>
                </a:solidFill>
                <a:latin typeface="Calibri"/>
              </a:rPr>
              <a:t>7.  Why does the turn signal finish its cycles instead of stopping when the D-pad is released?</a:t>
            </a:r>
          </a:p>
          <a:p>
            <a:pPr algn="l">
              <a:lnSpc>
                <a:spcPct val="100000"/>
              </a:lnSpc>
              <a:spcAft>
                <a:spcPts val="1100"/>
              </a:spcAft>
              <a:defRPr sz="2200" b="0">
                <a:solidFill>
                  <a:srgbClr val="222222"/>
                </a:solidFill>
                <a:latin typeface="Calibri"/>
              </a:defRPr>
            </a:pPr>
            <a:r>
              <a:rPr sz="2200" b="0">
                <a:solidFill>
                  <a:srgbClr val="222222"/>
                </a:solidFill>
                <a:latin typeface="Calibri"/>
              </a:rPr>
              <a:t>8.  You want to add a hazard-lights mode. What exactly do you have to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