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center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 state machine buys you</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six modes, and how control passes between them</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Non-blocking animation as a discipline</a:t>
                      </a:r>
                    </a:p>
                  </a:txBody>
                  <a:tcPr marL="73152" marT="18288" marB="18288">
                    <a:solidFill>
                      <a:srgbClr val="FFFFFF"/>
                    </a:solidFill>
                  </a:tcPr>
                </a:tc>
              </a:tr>
              <a:tr h="504825">
                <a:tc>
                  <a:txBody>
                    <a:bodyPr/>
                    <a:lstStyle/>
                    <a:p>
                      <a:r>
                        <a:rPr sz="2700">
                          <a:solidFill>
                            <a:srgbClr val="222222"/>
                          </a:solidFill>
                          <a:latin typeface="Calibri"/>
                        </a:rPr>
                        <a:t>1:10</a:t>
                      </a:r>
                    </a:p>
                  </a:txBody>
                  <a:tcPr marL="73152" marT="18288" marB="18288">
                    <a:solidFill>
                      <a:srgbClr val="EEF3F8"/>
                    </a:solidFill>
                  </a:tcPr>
                </a:tc>
                <a:tc>
                  <a:txBody>
                    <a:bodyPr/>
                    <a:lstStyle/>
                    <a:p>
                      <a:r>
                        <a:rPr sz="2700">
                          <a:solidFill>
                            <a:srgbClr val="222222"/>
                          </a:solidFill>
                          <a:latin typeface="Calibri"/>
                        </a:rPr>
                        <a:t>Upload a4a_led_state_machine. Measure a redraw</a:t>
                      </a:r>
                    </a:p>
                  </a:txBody>
                  <a:tcPr marL="73152" marT="18288" marB="18288">
                    <a:solidFill>
                      <a:srgbClr val="EEF3F8"/>
                    </a:solidFill>
                  </a:tcPr>
                </a:tc>
              </a:tr>
              <a:tr h="504825">
                <a:tc>
                  <a:txBody>
                    <a:bodyPr/>
                    <a:lstStyle/>
                    <a:p>
                      <a:r>
                        <a:rPr sz="2700">
                          <a:solidFill>
                            <a:srgbClr val="222222"/>
                          </a:solidFill>
                          <a:latin typeface="Calibri"/>
                        </a:rPr>
                        <a:t>1:40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Color helpers, and why they are written out longhand</a:t>
                      </a:r>
                    </a:p>
                  </a:txBody>
                  <a:tcPr marL="73152" marT="18288" marB="18288">
                    <a:solidFill>
                      <a:srgbClr val="EEF3F8"/>
                    </a:solidFill>
                  </a:tcPr>
                </a:tc>
              </a:tr>
              <a:tr h="504825">
                <a:tc>
                  <a:txBody>
                    <a:bodyPr/>
                    <a:lstStyle/>
                    <a:p>
                      <a:r>
                        <a:rPr sz="2700">
                          <a:solidFill>
                            <a:srgbClr val="222222"/>
                          </a:solidFill>
                          <a:latin typeface="Calibri"/>
                        </a:rPr>
                        <a:t>2:10</a:t>
                      </a:r>
                    </a:p>
                  </a:txBody>
                  <a:tcPr marL="73152" marT="18288" marB="18288">
                    <a:solidFill>
                      <a:srgbClr val="FFFFFF"/>
                    </a:solidFill>
                  </a:tcPr>
                </a:tc>
                <a:tc>
                  <a:txBody>
                    <a:bodyPr/>
                    <a:lstStyle/>
                    <a:p>
                      <a:r>
                        <a:rPr sz="2700">
                          <a:solidFill>
                            <a:srgbClr val="222222"/>
                          </a:solidFill>
                          <a:latin typeface="Calibri"/>
                        </a:rPr>
                        <a:t>Turn signal geometry. Upload a4b_turn_signal_larson</a:t>
                      </a:r>
                    </a:p>
                  </a:txBody>
                  <a:tcPr marL="73152" marT="18288" marB="18288">
                    <a:solidFill>
                      <a:srgbClr val="FFFFFF"/>
                    </a:solidFill>
                  </a:tcPr>
                </a:tc>
              </a:tr>
              <a:tr h="504825">
                <a:tc>
                  <a:txBody>
                    <a:bodyPr/>
                    <a:lstStyle/>
                    <a:p>
                      <a:r>
                        <a:rPr sz="2700">
                          <a:solidFill>
                            <a:srgbClr val="222222"/>
                          </a:solidFill>
                          <a:latin typeface="Calibri"/>
                        </a:rPr>
                        <a:t>2:35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2:45</a:t>
                      </a:r>
                    </a:p>
                  </a:txBody>
                  <a:tcPr marL="73152" marT="18288" marB="18288">
                    <a:solidFill>
                      <a:srgbClr val="FFFFFF"/>
                    </a:solidFill>
                  </a:tcPr>
                </a:tc>
                <a:tc>
                  <a:txBody>
                    <a:bodyPr/>
                    <a:lstStyle/>
                    <a:p>
                      <a:r>
                        <a:rPr sz="27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Suppose you track lighting with flags: lights_on, turning_left, turning_right, scanning, pairing, disconnected.</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 STATE MACHINE says: the vehicle is in exactly ONE mode. One variable holds it. Each mode knows how to draw itself and when to hand over.</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Two things fall out:</a:t>
            </a:r>
          </a:p>
          <a:p>
            <a:pPr lvl="1" algn="l">
              <a:lnSpc>
                <a:spcPct val="100000"/>
              </a:lnSpc>
              <a:spcAft>
                <a:spcPts val="900"/>
              </a:spcAft>
              <a:defRPr sz="2100" b="0">
                <a:solidFill>
                  <a:srgbClr val="222222"/>
                </a:solidFill>
                <a:latin typeface="Calibri"/>
              </a:defRPr>
            </a:pPr>
            <a:r>
              <a:rPr sz="2100" b="0">
                <a:solidFill>
                  <a:srgbClr val="222222"/>
                </a:solidFill>
                <a:latin typeface="Calibri"/>
              </a:rPr>
              <a:t>Two modes can never be half-on at once, because there is one variable and it holds one value.</a:t>
            </a:r>
          </a:p>
          <a:p>
            <a:pPr lvl="1" algn="l">
              <a:lnSpc>
                <a:spcPct val="100000"/>
              </a:lnSpc>
              <a:spcAft>
                <a:spcPts val="900"/>
              </a:spcAft>
              <a:defRPr sz="2100" b="0">
                <a:solidFill>
                  <a:srgbClr val="222222"/>
                </a:solidFill>
                <a:latin typeface="Calibri"/>
              </a:defRPr>
            </a:pPr>
            <a:r>
              <a:rPr sz="2100" b="0">
                <a:solidFill>
                  <a:srgbClr val="222222"/>
                </a:solidFill>
                <a:latin typeface="Calibri"/>
              </a:rPr>
              <a:t>Adding a mode is one enum value and one branch - not a new combination to test against every existing flag.</a:t>
            </a:r>
          </a:p>
          <a:p>
            <a:pPr algn="l">
              <a:lnSpc>
                <a:spcPct val="100000"/>
              </a:lnSpc>
              <a:spcAft>
                <a:spcPts val="900"/>
              </a:spcAft>
              <a:defRPr sz="1050" b="0">
                <a:solidFill>
                  <a:srgbClr val="222222"/>
                </a:solidFill>
                <a:latin typeface="Calibri"/>
              </a:defRPr>
            </a:pPr>
          </a:p>
          <a:p>
            <a:pPr lvl="1" algn="l">
              <a:lnSpc>
                <a:spcPct val="100000"/>
              </a:lnSpc>
              <a:spcAft>
                <a:spcPts val="900"/>
              </a:spcAft>
              <a:defRPr sz="2100" b="0">
                <a:solidFill>
                  <a:srgbClr val="222222"/>
                </a:solidFill>
                <a:latin typeface="Calibri"/>
              </a:defRPr>
            </a:pPr>
            <a:r>
              <a:rPr sz="2100" b="0">
                <a:solidFill>
                  <a:srgbClr val="222222"/>
                </a:solidFill>
                <a:latin typeface="Calibri"/>
              </a:rPr>
              <a:t>enum LEDMode { DISCONNECTED, STANDBY, TURN_LEFT, TURN_RIGHT,</a:t>
            </a:r>
          </a:p>
          <a:p>
            <a:pPr lvl="1" algn="l">
              <a:lnSpc>
                <a:spcPct val="100000"/>
              </a:lnSpc>
              <a:spcAft>
                <a:spcPts val="900"/>
              </a:spcAft>
              <a:defRPr sz="2100" b="0">
                <a:solidFill>
                  <a:srgbClr val="222222"/>
                </a:solidFill>
                <a:latin typeface="Calibri"/>
              </a:defRPr>
            </a:pPr>
            <a:r>
              <a:rPr sz="2100" b="0">
                <a:solidFill>
                  <a:srgbClr val="222222"/>
                </a:solidFill>
                <a:latin typeface="Calibri"/>
              </a:rPr>
              <a:t>               PAIRING, KITT_SCANNER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Not one animation function in Op 12 calls delay(). Each checks the clock, returns immediately if it is not time, and draws exactly ONE frame when it is:</a:t>
            </a:r>
          </a:p>
          <a:p>
            <a:pPr lvl="1" algn="l">
              <a:lnSpc>
                <a:spcPct val="100000"/>
              </a:lnSpc>
              <a:spcAft>
                <a:spcPts val="500"/>
              </a:spcAft>
              <a:defRPr sz="1800" b="0">
                <a:solidFill>
                  <a:srgbClr val="222222"/>
                </a:solidFill>
                <a:latin typeface="Calibri"/>
              </a:defRPr>
            </a:pPr>
            <a:r>
              <a:rPr sz="1800" b="0">
                <a:solidFill>
                  <a:srgbClr val="222222"/>
                </a:solidFill>
                <a:latin typeface="Calibri"/>
              </a:rPr>
              <a:t>if (now - last_update &lt; INTERVAL) return;</a:t>
            </a:r>
          </a:p>
          <a:p>
            <a:pPr lvl="1" algn="l">
              <a:lnSpc>
                <a:spcPct val="100000"/>
              </a:lnSpc>
              <a:spcAft>
                <a:spcPts val="500"/>
              </a:spcAft>
              <a:defRPr sz="1800" b="0">
                <a:solidFill>
                  <a:srgbClr val="222222"/>
                </a:solidFill>
                <a:latin typeface="Calibri"/>
              </a:defRPr>
            </a:pPr>
            <a:r>
              <a:rPr sz="1800" b="0">
                <a:solidFill>
                  <a:srgbClr val="222222"/>
                </a:solidFill>
                <a:latin typeface="Calibri"/>
              </a:rPr>
              <a:t>last_update = now;</a:t>
            </a:r>
          </a:p>
          <a:p>
            <a:pPr lvl="1" algn="l">
              <a:lnSpc>
                <a:spcPct val="100000"/>
              </a:lnSpc>
              <a:spcAft>
                <a:spcPts val="500"/>
              </a:spcAft>
              <a:defRPr sz="1800" b="0">
                <a:solidFill>
                  <a:srgbClr val="222222"/>
                </a:solidFill>
                <a:latin typeface="Calibri"/>
              </a:defRPr>
            </a:pPr>
            <a:r>
              <a:rPr sz="1800" b="0">
                <a:solidFill>
                  <a:srgbClr val="222222"/>
                </a:solidFill>
                <a:latin typeface="Calibri"/>
              </a:rPr>
              <a:t>// ...draw one frame...</a:t>
            </a:r>
          </a:p>
          <a:p>
            <a:pPr algn="l">
              <a:lnSpc>
                <a:spcPct val="100000"/>
              </a:lnSpc>
              <a:spcAft>
                <a:spcPts val="500"/>
              </a:spcAft>
              <a:defRPr sz="1800" b="0">
                <a:solidFill>
                  <a:srgbClr val="222222"/>
                </a:solidFill>
                <a:latin typeface="Calibri"/>
              </a:defRPr>
            </a:pPr>
            <a:r>
              <a:rPr sz="1800" b="0">
                <a:solidFill>
                  <a:srgbClr val="222222"/>
                </a:solidFill>
                <a:latin typeface="Calibri"/>
              </a:rPr>
              <a:t>That is what lets the vehicle drive, read its controller, watch its current and animate all at once.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old System Test did the opposite: a pattern with delay() in it froze the vehicle for two seconds, still holding the last motor command. A vehicle that keeps driving while it ignores you is not a cosmetic problem.</a:t>
            </a:r>
          </a:p>
          <a:p>
            <a:pPr algn="l">
              <a:lnSpc>
                <a:spcPct val="100000"/>
              </a:lnSpc>
              <a:spcAft>
                <a:spcPts val="900"/>
              </a:spcAft>
              <a:defRPr sz="1800" b="0">
                <a:solidFill>
                  <a:srgbClr val="222222"/>
                </a:solidFill>
                <a:latin typeface="Calibri"/>
              </a:defRPr>
            </a:pPr>
            <a:r>
              <a:rPr sz="1800" b="0">
                <a:solidFill>
                  <a:srgbClr val="222222"/>
                </a:solidFill>
                <a:latin typeface="Calibri"/>
              </a:rPr>
              <a:t>The one legitimate delay() is the startup light show, because nothing else needs to happen yet.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STANDBY is not an animation. It is ONE PICTURE that changes</a:t>
            </a:r>
          </a:p>
          <a:p>
            <a:pPr algn="l">
              <a:lnSpc>
                <a:spcPct val="100000"/>
              </a:lnSpc>
              <a:spcAft>
                <a:spcPts val="0"/>
              </a:spcAft>
              <a:defRPr sz="1400">
                <a:latin typeface="Consolas"/>
              </a:defRPr>
            </a:pPr>
            <a:r>
              <a:rPr sz="1400">
                <a:solidFill>
                  <a:srgbClr val="666666"/>
                </a:solidFill>
                <a:latin typeface="Consolas"/>
              </a:rPr>
              <a:t>// only when the headlights or running lights change.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set_standby_lighting() {</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if (running_lights_on) {</a:t>
            </a:r>
          </a:p>
          <a:p>
            <a:pPr algn="l">
              <a:lnSpc>
                <a:spcPct val="100000"/>
              </a:lnSpc>
              <a:spcAft>
                <a:spcPts val="0"/>
              </a:spcAft>
              <a:defRPr sz="1400">
                <a:latin typeface="Consolas"/>
              </a:defRPr>
            </a:pPr>
            <a:r>
              <a:rPr sz="1400">
                <a:solidFill>
                  <a:srgbClr val="222222"/>
                </a:solidFill>
                <a:latin typeface="Consolas"/>
              </a:rPr>
              <a:t>    uint8_t level = full_headlights ? HEADLIGHT_BRIGHT</a:t>
            </a:r>
          </a:p>
          <a:p>
            <a:pPr algn="l">
              <a:lnSpc>
                <a:spcPct val="100000"/>
              </a:lnSpc>
              <a:spcAft>
                <a:spcPts val="0"/>
              </a:spcAft>
              <a:defRPr sz="1400">
                <a:latin typeface="Consolas"/>
              </a:defRPr>
            </a:pPr>
            <a:r>
              <a:rPr sz="1400">
                <a:solidFill>
                  <a:srgbClr val="222222"/>
                </a:solidFill>
                <a:latin typeface="Consolas"/>
              </a:rPr>
              <a:t>                                    : HEADLIGHT_DIM;</a:t>
            </a:r>
          </a:p>
          <a:p>
            <a:pPr algn="l">
              <a:lnSpc>
                <a:spcPct val="100000"/>
              </a:lnSpc>
              <a:spcAft>
                <a:spcPts val="0"/>
              </a:spcAft>
              <a:defRPr sz="1400">
                <a:latin typeface="Consolas"/>
              </a:defRPr>
            </a:pPr>
            <a:r>
              <a:rPr sz="1400">
                <a:solidFill>
                  <a:srgbClr val="222222"/>
                </a:solidFill>
                <a:latin typeface="Consolas"/>
              </a:rPr>
              <a:t>    fill_range(LEFT_FRONT_START, CORNER_LEN * 2, rgb(level, level, level));</a:t>
            </a:r>
          </a:p>
          <a:p>
            <a:pPr algn="l">
              <a:lnSpc>
                <a:spcPct val="100000"/>
              </a:lnSpc>
              <a:spcAft>
                <a:spcPts val="0"/>
              </a:spcAft>
              <a:defRPr sz="1400">
                <a:latin typeface="Consolas"/>
              </a:defRPr>
            </a:pPr>
            <a:r>
              <a:rPr sz="1400">
                <a:solidFill>
                  <a:srgbClr val="222222"/>
                </a:solidFill>
                <a:latin typeface="Consolas"/>
              </a:rPr>
              <a:t>    fill_range(RIGHT_REAR_START, CORNER_LEN * 2, rgb(TAILLIGHT_LEVEL, 0, 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standby_dirty = false;        // &lt;- the whole point</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...and the last branch of update_lighting():</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redraw</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Switch between the four modes from the console.</a:t>
            </a:r>
          </a:p>
          <a:p>
            <a:pPr algn="l">
              <a:lnSpc>
                <a:spcPct val="100000"/>
              </a:lnSpc>
              <a:spcAft>
                <a:spcPts val="800"/>
              </a:spcAft>
              <a:defRPr sz="1900" b="0">
                <a:solidFill>
                  <a:srgbClr val="222222"/>
                </a:solidFill>
                <a:latin typeface="Calibri"/>
              </a:defRPr>
            </a:pPr>
            <a:r>
              <a:rPr sz="1900" b="0">
                <a:solidFill>
                  <a:srgbClr val="222222"/>
                </a:solidFill>
                <a:latin typeface="Calibri"/>
              </a:rPr>
              <a:t>2.  Type  load  in each mode. Which mode costs the most time per pass? Why?</a:t>
            </a:r>
          </a:p>
          <a:p>
            <a:pPr algn="l">
              <a:lnSpc>
                <a:spcPct val="100000"/>
              </a:lnSpc>
              <a:spcAft>
                <a:spcPts val="800"/>
              </a:spcAft>
              <a:defRPr sz="1900" b="0">
                <a:solidFill>
                  <a:srgbClr val="222222"/>
                </a:solidFill>
                <a:latin typeface="Calibri"/>
              </a:defRPr>
            </a:pPr>
            <a:r>
              <a:rPr sz="1900" b="0">
                <a:solidFill>
                  <a:srgbClr val="222222"/>
                </a:solidFill>
                <a:latin typeface="Calibri"/>
              </a:rPr>
              <a:t>3.  In  standby, type  bright  and  dim. Watch WHEN the redraw happens.</a:t>
            </a:r>
          </a:p>
          <a:p>
            <a:pPr algn="l">
              <a:lnSpc>
                <a:spcPct val="100000"/>
              </a:lnSpc>
              <a:spcAft>
                <a:spcPts val="800"/>
              </a:spcAft>
              <a:defRPr sz="1900" b="0">
                <a:solidFill>
                  <a:srgbClr val="222222"/>
                </a:solidFill>
                <a:latin typeface="Calibri"/>
              </a:defRPr>
            </a:pPr>
            <a:r>
              <a:rPr sz="1900" b="0">
                <a:solidFill>
                  <a:srgbClr val="222222"/>
                </a:solidFill>
                <a:latin typeface="Calibri"/>
              </a:rPr>
              <a:t>4.  Comment out the  standby_dirty = false  at the end of setStandbyLighting. Upload. Check  load  in standby again.</a:t>
            </a:r>
          </a:p>
          <a:p>
            <a:pPr algn="l">
              <a:lnSpc>
                <a:spcPct val="100000"/>
              </a:lnSpc>
              <a:spcAft>
                <a:spcPts val="800"/>
              </a:spcAft>
              <a:defRPr sz="1900" b="0">
                <a:solidFill>
                  <a:srgbClr val="222222"/>
                </a:solidFill>
                <a:latin typeface="Calibri"/>
              </a:defRPr>
            </a:pPr>
            <a:r>
              <a:rPr sz="1900" b="0">
                <a:solidFill>
                  <a:srgbClr val="222222"/>
                </a:solidFill>
                <a:latin typeface="Calibri"/>
              </a:rPr>
              <a:t>5.  Write down both numbers. That is what one line was worth.</a:t>
            </a:r>
          </a:p>
          <a:p>
            <a:pPr algn="l">
              <a:lnSpc>
                <a:spcPct val="100000"/>
              </a:lnSpc>
              <a:spcAft>
                <a:spcPts val="800"/>
              </a:spcAft>
              <a:defRPr sz="1900" b="0">
                <a:solidFill>
                  <a:srgbClr val="222222"/>
                </a:solidFill>
                <a:latin typeface="Calibri"/>
              </a:defRPr>
            </a:pPr>
            <a:r>
              <a:rPr sz="1900" b="0">
                <a:solidFill>
                  <a:srgbClr val="222222"/>
                </a:solidFill>
                <a:latin typeface="Calibri"/>
              </a:rPr>
              <a:t>6.  Add a fifth mode: ALARM, a slow red pulse.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large loop count in standby, and a much smaller one once the dirty flag is removed.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How many passes per second in standby with the flag? Without it?</a:t>
            </a:r>
          </a:p>
          <a:p>
            <a:pPr algn="l">
              <a:lnSpc>
                <a:spcPct val="100000"/>
              </a:lnSpc>
              <a:spcAft>
                <a:spcPts val="300"/>
              </a:spcAft>
              <a:defRPr sz="2400" b="0">
                <a:solidFill>
                  <a:srgbClr val="222222"/>
                </a:solidFill>
                <a:latin typeface="Calibri"/>
              </a:defRPr>
            </a:pPr>
            <a:r>
              <a:rPr sz="2400" b="0">
                <a:solidFill>
                  <a:srgbClr val="222222"/>
                </a:solidFill>
                <a:latin typeface="Calibri"/>
              </a:rPr>
              <a:t>What did you have to change to add ALARM? How many places?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92239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11.2 got from FastLED</a:t>
            </a:r>
          </a:p>
        </p:txBody>
      </p:sp>
      <p:sp>
        <p:nvSpPr>
          <p:cNvPr id="7" name="TextBox 6"/>
          <p:cNvSpPr txBox="1"/>
          <p:nvPr/>
        </p:nvSpPr>
        <p:spPr>
          <a:xfrm>
            <a:off x="502920" y="1700784"/>
            <a:ext cx="492239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5882518" y="1188720"/>
            <a:ext cx="580625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that turned out to be a good thing</a:t>
            </a:r>
          </a:p>
        </p:txBody>
      </p:sp>
      <p:sp>
        <p:nvSpPr>
          <p:cNvPr id="9" name="TextBox 8"/>
          <p:cNvSpPr txBox="1"/>
          <p:nvPr/>
        </p:nvSpPr>
        <p:spPr>
          <a:xfrm>
            <a:off x="5882518" y="1700784"/>
            <a:ext cx="580625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scale_color() unpacks a 32-bit color into three bytes, scales each, and repacks it. Four lines, and now the bit-shifting is visible instead of magic.</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It also means the whole course - beginner and advanced - now uses one LED library instead of two.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Turn signal geometry</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strip is one loop, so the two halves of each side run in OPPOSITE directions and the arithmetic is not symmetric:</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left to right :   0 .. 15    left half 0-7,  right half 8-15</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right to left :  16 .. 31    right half 16-23, left half 24-31</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bar has to grow OUTWARD from the center of the vehicle toward the corner that is turning, on both bars at once.</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LEFT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- 1 - i      (counts DOWN from 7)</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i            (counts UP from 24)</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RIGHT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i          (counts UP from 8)</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- 1 - i        (counts DOWN from 23)</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not try to derive this. Step through it and read the indices.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1. Repaint the BASE lighting first, every frame.</a:t>
            </a:r>
          </a:p>
          <a:p>
            <a:pPr algn="l">
              <a:lnSpc>
                <a:spcPct val="100000"/>
              </a:lnSpc>
              <a:spcAft>
                <a:spcPts val="0"/>
              </a:spcAft>
              <a:defRPr sz="1400">
                <a:latin typeface="Consolas"/>
              </a:defRPr>
            </a:pPr>
            <a:r>
              <a:rPr sz="1400">
                <a:solidFill>
                  <a:srgbClr val="222222"/>
                </a:solidFill>
                <a:latin typeface="Consolas"/>
              </a:rPr>
              <a:t>strip.clear();</a:t>
            </a:r>
          </a:p>
          <a:p>
            <a:pPr algn="l">
              <a:lnSpc>
                <a:spcPct val="100000"/>
              </a:lnSpc>
              <a:spcAft>
                <a:spcPts val="0"/>
              </a:spcAft>
              <a:defRPr sz="1400">
                <a:latin typeface="Consolas"/>
              </a:defRPr>
            </a:pPr>
            <a:r>
              <a:rPr sz="1400">
                <a:solidFill>
                  <a:srgbClr val="222222"/>
                </a:solidFill>
                <a:latin typeface="Consolas"/>
              </a:rPr>
              <a:t>if (running_lights_on) {</a:t>
            </a:r>
          </a:p>
          <a:p>
            <a:pPr algn="l">
              <a:lnSpc>
                <a:spcPct val="100000"/>
              </a:lnSpc>
              <a:spcAft>
                <a:spcPts val="0"/>
              </a:spcAft>
              <a:defRPr sz="1400">
                <a:latin typeface="Consolas"/>
              </a:defRPr>
            </a:pPr>
            <a:r>
              <a:rPr sz="1400">
                <a:solidFill>
                  <a:srgbClr val="222222"/>
                </a:solidFill>
                <a:latin typeface="Consolas"/>
              </a:rPr>
              <a:t>  fill_range(LEFT_FRONT_START, CORNER_LEN * 2, headlights);</a:t>
            </a:r>
          </a:p>
          <a:p>
            <a:pPr algn="l">
              <a:lnSpc>
                <a:spcPct val="100000"/>
              </a:lnSpc>
              <a:spcAft>
                <a:spcPts val="0"/>
              </a:spcAft>
              <a:defRPr sz="1400">
                <a:latin typeface="Consolas"/>
              </a:defRPr>
            </a:pPr>
            <a:r>
              <a:rPr sz="1400">
                <a:solidFill>
                  <a:srgbClr val="222222"/>
                </a:solidFill>
                <a:latin typeface="Consolas"/>
              </a:rPr>
              <a:t>  fill_range(RIGHT_REAR_START, CORNER_LEN * 2, taillights);</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666666"/>
                </a:solidFill>
                <a:latin typeface="Consolas"/>
              </a:rPr>
              <a:t>// ...then blank the signaling side, then draw the amber over it.</a:t>
            </a:r>
          </a:p>
          <a:p>
            <a:pPr algn="l">
              <a:lnSpc>
                <a:spcPct val="100000"/>
              </a:lnSpc>
              <a:spcAft>
                <a:spcPts val="0"/>
              </a:spcAft>
              <a:defRPr sz="1400">
                <a:latin typeface="Consolas"/>
              </a:defRPr>
            </a:pPr>
            <a:r>
              <a:rPr sz="1400">
                <a:solidFill>
                  <a:srgbClr val="666666"/>
                </a:solidFill>
                <a:latin typeface="Consolas"/>
              </a:rPr>
              <a:t>// Painting only the amber would leave the last frame underneath.</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2. The animation finishes its own cycles.</a:t>
            </a:r>
          </a:p>
          <a:p>
            <a:pPr algn="l">
              <a:lnSpc>
                <a:spcPct val="100000"/>
              </a:lnSpc>
              <a:spcAft>
                <a:spcPts val="0"/>
              </a:spcAft>
              <a:defRPr sz="1400">
                <a:latin typeface="Consolas"/>
              </a:defRPr>
            </a:pPr>
            <a:r>
              <a:rPr sz="1400" b="1">
                <a:solidFill>
                  <a:srgbClr val="0E7C86"/>
                </a:solidFill>
                <a:latin typeface="Consolas"/>
              </a:rPr>
              <a:t>bool still_held = (led_mode == TURN_LEFT  &amp;&amp; (dpad &amp; DPAD_LEFT)) ||</a:t>
            </a:r>
          </a:p>
          <a:p>
            <a:pPr algn="l">
              <a:lnSpc>
                <a:spcPct val="100000"/>
              </a:lnSpc>
              <a:spcAft>
                <a:spcPts val="0"/>
              </a:spcAft>
              <a:defRPr sz="1400">
                <a:latin typeface="Consolas"/>
              </a:defRPr>
            </a:pPr>
            <a:r>
              <a:rPr sz="1400" b="1">
                <a:solidFill>
                  <a:srgbClr val="0E7C86"/>
                </a:solidFill>
                <a:latin typeface="Consolas"/>
              </a:rPr>
              <a:t>                  (led_mode == TURN_RIGHT &amp;&amp; (dpad &amp; DPAD_RIGHT));</a:t>
            </a:r>
          </a:p>
          <a:p>
            <a:pPr algn="l">
              <a:lnSpc>
                <a:spcPct val="100000"/>
              </a:lnSpc>
              <a:spcAft>
                <a:spcPts val="0"/>
              </a:spcAft>
              <a:defRPr sz="1400">
                <a:latin typeface="Consolas"/>
              </a:defRPr>
            </a:pPr>
            <a:r>
              <a:rPr sz="1400" b="1">
                <a:solidFill>
                  <a:srgbClr val="0E7C86"/>
                </a:solidFill>
                <a:latin typeface="Consolas"/>
              </a:rPr>
              <a:t>if (!still_held &amp;&amp; turn_signal_cycles &gt;= TURN_CYCLES) {</a:t>
            </a:r>
          </a:p>
          <a:p>
            <a:pPr algn="l">
              <a:lnSpc>
                <a:spcPct val="100000"/>
              </a:lnSpc>
              <a:spcAft>
                <a:spcPts val="0"/>
              </a:spcAft>
              <a:defRPr sz="1400">
                <a:latin typeface="Consolas"/>
              </a:defRPr>
            </a:pPr>
            <a:r>
              <a:rPr sz="1400">
                <a:solidFill>
                  <a:srgbClr val="222222"/>
                </a:solidFill>
                <a:latin typeface="Consolas"/>
              </a:rPr>
              <a:t>  led_mode = STANDBY;</a:t>
            </a:r>
          </a:p>
          <a:p>
            <a:pPr algn="l">
              <a:lnSpc>
                <a:spcPct val="100000"/>
              </a:lnSpc>
              <a:spcAft>
                <a:spcPts val="0"/>
              </a:spcAft>
              <a:defRPr sz="1400">
                <a:latin typeface="Consolas"/>
              </a:defRPr>
            </a:pPr>
            <a:r>
              <a:rPr sz="1400">
                <a:solidFill>
                  <a:srgbClr val="222222"/>
                </a:solidFill>
                <a:latin typeface="Consolas"/>
              </a:rPr>
              <a:t>  standby_dirty = true;</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The D-pad only ever STARTS the animation. It does not hold it on and it does not stop it.</a:t>
            </a:r>
          </a:p>
          <a:p>
            <a:pPr algn="l">
              <a:lnSpc>
                <a:spcPct val="100000"/>
              </a:lnSpc>
              <a:spcAft>
                <a:spcPts val="700"/>
              </a:spcAft>
              <a:defRPr sz="2000" b="0">
                <a:solidFill>
                  <a:srgbClr val="222222"/>
                </a:solidFill>
                <a:latin typeface="Calibri"/>
              </a:defRPr>
            </a:pPr>
            <a:r>
              <a:rPr sz="2000" b="0">
                <a:solidFill>
                  <a:srgbClr val="222222"/>
                </a:solidFill>
                <a:latin typeface="Calibri"/>
              </a:rPr>
              <a:t>A real indicator does not stop mid-blink when you let go of the stalk. It finishes.</a:t>
            </a:r>
          </a:p>
          <a:p>
            <a:pPr algn="l">
              <a:lnSpc>
                <a:spcPct val="100000"/>
              </a:lnSpc>
              <a:spcAft>
                <a:spcPts val="700"/>
              </a:spcAft>
              <a:defRPr sz="2000" b="0">
                <a:solidFill>
                  <a:srgbClr val="222222"/>
                </a:solidFill>
                <a:latin typeface="Calibri"/>
              </a:defRPr>
            </a:pPr>
            <a:r>
              <a:rPr sz="2000" b="0">
                <a:solidFill>
                  <a:srgbClr val="222222"/>
                </a:solidFill>
                <a:latin typeface="Calibri"/>
              </a:rPr>
              <a:t>Holding the D-pad keeps resetting the count, so it carries on for as long as you hold it and then finishes cleanly.</a:t>
            </a:r>
          </a:p>
          <a:p>
            <a:pPr algn="l">
              <a:lnSpc>
                <a:spcPct val="100000"/>
              </a:lnSpc>
              <a:spcAft>
                <a:spcPts val="700"/>
              </a:spcAft>
              <a:defRPr sz="2000" b="0">
                <a:solidFill>
                  <a:srgbClr val="222222"/>
                </a:solidFill>
                <a:latin typeface="Calibri"/>
              </a:defRPr>
            </a:pPr>
            <a:r>
              <a:rPr sz="2000" b="0">
                <a:solidFill>
                  <a:srgbClr val="222222"/>
                </a:solidFill>
                <a:latin typeface="Calibri"/>
              </a:rPr>
              <a:t>This is a small thing that makes a machine feel considered rather than twitchy.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Type  left, then  right.</a:t>
            </a:r>
          </a:p>
          <a:p>
            <a:pPr algn="l">
              <a:lnSpc>
                <a:spcPct val="100000"/>
              </a:lnSpc>
              <a:spcAft>
                <a:spcPts val="800"/>
              </a:spcAft>
              <a:defRPr sz="2100" b="0">
                <a:solidFill>
                  <a:srgbClr val="222222"/>
                </a:solidFill>
                <a:latin typeface="Calibri"/>
              </a:defRPr>
            </a:pPr>
            <a:r>
              <a:rPr sz="2100" b="0">
                <a:solidFill>
                  <a:srgbClr val="222222"/>
                </a:solidFill>
                <a:latin typeface="Calibri"/>
              </a:rPr>
              <a:t>2.  Type  speed 0  to freeze it, then  step  repeatedly. READ the indices it prints and check them against the vehicle.</a:t>
            </a:r>
          </a:p>
          <a:p>
            <a:pPr algn="l">
              <a:lnSpc>
                <a:spcPct val="100000"/>
              </a:lnSpc>
              <a:spcAft>
                <a:spcPts val="800"/>
              </a:spcAft>
              <a:defRPr sz="2100" b="0">
                <a:solidFill>
                  <a:srgbClr val="222222"/>
                </a:solidFill>
                <a:latin typeface="Calibri"/>
              </a:defRPr>
            </a:pPr>
            <a:r>
              <a:rPr sz="2100" b="0">
                <a:solidFill>
                  <a:srgbClr val="222222"/>
                </a:solidFill>
                <a:latin typeface="Calibri"/>
              </a:rPr>
              <a:t>3.  hold left, wait, then  release. Where exactly does it stop?</a:t>
            </a:r>
          </a:p>
          <a:p>
            <a:pPr algn="l">
              <a:lnSpc>
                <a:spcPct val="100000"/>
              </a:lnSpc>
              <a:spcAft>
                <a:spcPts val="800"/>
              </a:spcAft>
              <a:defRPr sz="2100" b="0">
                <a:solidFill>
                  <a:srgbClr val="222222"/>
                </a:solidFill>
                <a:latin typeface="Calibri"/>
              </a:defRPr>
            </a:pPr>
            <a:r>
              <a:rPr sz="2100" b="0">
                <a:solidFill>
                  <a:srgbClr val="222222"/>
                </a:solidFill>
                <a:latin typeface="Calibri"/>
              </a:rPr>
              <a:t>4.  speed 200  and watch the bar build slowly.</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LEFT branch to use LEFT_FRONT_START + i and see what breaks. Explain it.</a:t>
            </a:r>
          </a:p>
          <a:p>
            <a:pPr algn="l">
              <a:lnSpc>
                <a:spcPct val="100000"/>
              </a:lnSpc>
              <a:spcAft>
                <a:spcPts val="800"/>
              </a:spcAft>
              <a:defRPr sz="2100" b="0">
                <a:solidFill>
                  <a:srgbClr val="222222"/>
                </a:solidFill>
                <a:latin typeface="Calibri"/>
              </a:defRPr>
            </a:pPr>
            <a:r>
              <a:rPr sz="2100" b="0">
                <a:solidFill>
                  <a:srgbClr val="222222"/>
                </a:solidFill>
                <a:latin typeface="Calibri"/>
              </a:rPr>
              <a:t>6.  Make the trailing edge FADE rather than switch off abruptly.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Amber growing outward from the center toward the turning corner, front and rear mirrored.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Why does the front index count down for a left signal but up for a right one?</a:t>
            </a:r>
          </a:p>
          <a:p>
            <a:pPr algn="l">
              <a:lnSpc>
                <a:spcPct val="100000"/>
              </a:lnSpc>
              <a:spcAft>
                <a:spcPts val="300"/>
              </a:spcAft>
              <a:defRPr sz="2000" b="0">
                <a:solidFill>
                  <a:srgbClr val="222222"/>
                </a:solidFill>
                <a:latin typeface="Calibri"/>
              </a:defRPr>
            </a:pPr>
            <a:r>
              <a:rPr sz="2000" b="0">
                <a:solidFill>
                  <a:srgbClr val="222222"/>
                </a:solidFill>
                <a:latin typeface="Calibri"/>
              </a:rPr>
              <a:t>What would happen if the base lighting were not repainted each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update_lighting(unsigned long now, uint8_t dpad)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PAIRING) {</a:t>
            </a:r>
          </a:p>
          <a:p>
            <a:pPr algn="l">
              <a:lnSpc>
                <a:spcPct val="100000"/>
              </a:lnSpc>
              <a:spcAft>
                <a:spcPts val="0"/>
              </a:spcAft>
              <a:defRPr sz="1400">
                <a:latin typeface="Consolas"/>
              </a:defRPr>
            </a:pPr>
            <a:r>
              <a:rPr sz="1400">
                <a:solidFill>
                  <a:srgbClr val="222222"/>
                </a:solidFill>
                <a:latin typeface="Consolas"/>
              </a:rPr>
              <a:t>    update_pairing_breathing(now);</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TURN_LEFT || led_mode == TURN_RIGHT) {</a:t>
            </a:r>
          </a:p>
          <a:p>
            <a:pPr algn="l">
              <a:lnSpc>
                <a:spcPct val="100000"/>
              </a:lnSpc>
              <a:spcAft>
                <a:spcPts val="0"/>
              </a:spcAft>
              <a:defRPr sz="1400">
                <a:latin typeface="Consolas"/>
              </a:defRPr>
            </a:pPr>
            <a:r>
              <a:rPr sz="1400" b="1">
                <a:solidFill>
                  <a:srgbClr val="0E7C86"/>
                </a:solidFill>
                <a:latin typeface="Consolas"/>
              </a:rPr>
              <a:t>    if (now - larson_time &lt; LARSON_DELAY_MS) return;</a:t>
            </a:r>
          </a:p>
          <a:p>
            <a:pPr algn="l">
              <a:lnSpc>
                <a:spcPct val="100000"/>
              </a:lnSpc>
              <a:spcAft>
                <a:spcPts val="0"/>
              </a:spcAft>
              <a:defRPr sz="1400">
                <a:latin typeface="Consolas"/>
              </a:defRPr>
            </a:pPr>
            <a:r>
              <a:rPr sz="1400">
                <a:solidFill>
                  <a:srgbClr val="222222"/>
                </a:solidFill>
                <a:latin typeface="Consolas"/>
              </a:rPr>
              <a:t>    larson_time = now;</a:t>
            </a:r>
          </a:p>
          <a:p>
            <a:pPr algn="l">
              <a:lnSpc>
                <a:spcPct val="100000"/>
              </a:lnSpc>
              <a:spcAft>
                <a:spcPts val="0"/>
              </a:spcAft>
              <a:defRPr sz="1400">
                <a:latin typeface="Consolas"/>
              </a:defRPr>
            </a:pPr>
            <a:r>
              <a:rPr sz="1400">
                <a:solidFill>
                  <a:srgbClr val="666666"/>
                </a:solidFill>
                <a:latin typeface="Consolas"/>
              </a:rPr>
              <a:t>    // ...advance one phase, count cycles, maybe hand back...</a:t>
            </a:r>
          </a:p>
          <a:p>
            <a:pPr algn="l">
              <a:lnSpc>
                <a:spcPct val="100000"/>
              </a:lnSpc>
              <a:spcAft>
                <a:spcPts val="0"/>
              </a:spcAft>
              <a:defRPr sz="1400">
                <a:latin typeface="Consolas"/>
              </a:defRPr>
            </a:pPr>
            <a:r>
              <a:rPr sz="1400">
                <a:solidFill>
                  <a:srgbClr val="222222"/>
                </a:solidFill>
                <a:latin typeface="Consolas"/>
              </a:rPr>
              <a:t>    update_larson_scanner();</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KITT_SCANNER) {</a:t>
            </a:r>
          </a:p>
          <a:p>
            <a:pPr algn="l">
              <a:lnSpc>
                <a:spcPct val="100000"/>
              </a:lnSpc>
              <a:spcAft>
                <a:spcPts val="0"/>
              </a:spcAft>
              <a:defRPr sz="1400">
                <a:latin typeface="Consolas"/>
              </a:defRPr>
            </a:pPr>
            <a:r>
              <a:rPr sz="1400" b="1">
                <a:solidFill>
                  <a:srgbClr val="0E7C86"/>
                </a:solidFill>
                <a:latin typeface="Consolas"/>
              </a:rPr>
              <a:t>    if (now - kitt_time &lt; (unsigned long)KITT_SPEED_MS) return;</a:t>
            </a:r>
          </a:p>
          <a:p>
            <a:pPr algn="l">
              <a:lnSpc>
                <a:spcPct val="100000"/>
              </a:lnSpc>
              <a:spcAft>
                <a:spcPts val="0"/>
              </a:spcAft>
              <a:defRPr sz="1400">
                <a:latin typeface="Consolas"/>
              </a:defRPr>
            </a:pPr>
            <a:r>
              <a:rPr sz="1400">
                <a:solidFill>
                  <a:srgbClr val="222222"/>
                </a:solidFill>
                <a:latin typeface="Consolas"/>
              </a:rPr>
              <a:t>    kitt_time = now;</a:t>
            </a:r>
          </a:p>
          <a:p>
            <a:pPr algn="l">
              <a:lnSpc>
                <a:spcPct val="100000"/>
              </a:lnSpc>
              <a:spcAft>
                <a:spcPts val="0"/>
              </a:spcAft>
              <a:defRPr sz="1400">
                <a:latin typeface="Consolas"/>
              </a:defRPr>
            </a:pPr>
            <a:r>
              <a:rPr sz="1400">
                <a:solidFill>
                  <a:srgbClr val="666666"/>
                </a:solidFill>
                <a:latin typeface="Consolas"/>
              </a:rPr>
              <a:t>    // ...draw one frame, step the dot, maybe hand back...</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Every branch does the same three things: is it my turn, is it time yet, draw ONE frame.</a:t>
            </a:r>
          </a:p>
          <a:p>
            <a:pPr algn="l">
              <a:lnSpc>
                <a:spcPct val="100000"/>
              </a:lnSpc>
              <a:spcAft>
                <a:spcPts val="700"/>
              </a:spcAft>
              <a:defRPr sz="1900" b="0">
                <a:solidFill>
                  <a:srgbClr val="222222"/>
                </a:solidFill>
                <a:latin typeface="Calibri"/>
              </a:defRPr>
            </a:pPr>
            <a:r>
              <a:rPr sz="1900" b="0">
                <a:solidFill>
                  <a:srgbClr val="222222"/>
                </a:solidFill>
                <a:latin typeface="Calibri"/>
              </a:rPr>
              <a:t>Every branch returns. Exactly one mode runs per pass, and none of them can run into another.</a:t>
            </a:r>
          </a:p>
          <a:p>
            <a:pPr algn="l">
              <a:lnSpc>
                <a:spcPct val="100000"/>
              </a:lnSpc>
              <a:spcAft>
                <a:spcPts val="700"/>
              </a:spcAft>
              <a:defRPr sz="1900" b="0">
                <a:solidFill>
                  <a:srgbClr val="222222"/>
                </a:solidFill>
                <a:latin typeface="Calibri"/>
              </a:defRPr>
            </a:pPr>
            <a:r>
              <a:rPr sz="1900" b="0">
                <a:solidFill>
                  <a:srgbClr val="222222"/>
                </a:solidFill>
                <a:latin typeface="Calibri"/>
              </a:rPr>
              <a:t>The early return on the timer is what makes this cheap. Most passes through this function do almost nothing at all.</a:t>
            </a:r>
          </a:p>
          <a:p>
            <a:pPr algn="l">
              <a:lnSpc>
                <a:spcPct val="100000"/>
              </a:lnSpc>
              <a:spcAft>
                <a:spcPts val="700"/>
              </a:spcAft>
              <a:defRPr sz="1900" b="0">
                <a:solidFill>
                  <a:srgbClr val="222222"/>
                </a:solidFill>
                <a:latin typeface="Calibri"/>
              </a:defRPr>
            </a:pPr>
            <a:r>
              <a:rPr sz="19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b="1">
                <a:solidFill>
                  <a:srgbClr val="0E7C86"/>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436181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a sine</a:t>
            </a:r>
          </a:p>
        </p:txBody>
      </p:sp>
      <p:sp>
        <p:nvSpPr>
          <p:cNvPr id="7" name="TextBox 6"/>
          <p:cNvSpPr txBox="1"/>
          <p:nvPr/>
        </p:nvSpPr>
        <p:spPr>
          <a:xfrm>
            <a:off x="502920" y="1700784"/>
            <a:ext cx="4361816"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pairing animation fades the whole strip up and down. A straight-line fade looks wrong: it hovers at the ends and rushes through the middle.</a:t>
            </a:r>
          </a:p>
          <a:p>
            <a:pPr algn="l">
              <a:lnSpc>
                <a:spcPct val="100000"/>
              </a:lnSpc>
              <a:spcAft>
                <a:spcPts val="800"/>
              </a:spcAft>
              <a:defRPr sz="1800" b="0">
                <a:solidFill>
                  <a:srgbClr val="222222"/>
                </a:solidFill>
                <a:latin typeface="Calibri"/>
              </a:defRPr>
            </a:pPr>
            <a:r>
              <a:rPr sz="1800" b="0">
                <a:solidFill>
                  <a:srgbClr val="222222"/>
                </a:solidFill>
                <a:latin typeface="Calibri"/>
              </a:rPr>
              <a:t>A sine looks natural because it slows at the extremes - the same perception argument as the color lesson.</a:t>
            </a:r>
          </a:p>
          <a:p>
            <a:pPr algn="l">
              <a:lnSpc>
                <a:spcPct val="100000"/>
              </a:lnSpc>
              <a:spcAft>
                <a:spcPts val="800"/>
              </a:spcAft>
              <a:defRPr sz="1800" b="0">
                <a:solidFill>
                  <a:srgbClr val="222222"/>
                </a:solidFill>
                <a:latin typeface="Calibri"/>
              </a:defRPr>
            </a:pPr>
            <a:r>
              <a:rPr sz="1800" b="0">
                <a:solidFill>
                  <a:srgbClr val="222222"/>
                </a:solidFill>
                <a:latin typeface="Calibri"/>
              </a:rPr>
              <a:t>FastLED gave 11.2 a sin8(). Op 12 writes its own, so the library is not needed for one function.</a:t>
            </a:r>
          </a:p>
        </p:txBody>
      </p:sp>
      <p:sp>
        <p:nvSpPr>
          <p:cNvPr id="8" name="TextBox 7"/>
          <p:cNvSpPr txBox="1"/>
          <p:nvPr/>
        </p:nvSpPr>
        <p:spPr>
          <a:xfrm>
            <a:off x="5321936" y="1188720"/>
            <a:ext cx="6366839"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it is written</a:t>
            </a:r>
          </a:p>
        </p:txBody>
      </p:sp>
      <p:sp>
        <p:nvSpPr>
          <p:cNvPr id="9" name="TextBox 8"/>
          <p:cNvSpPr txBox="1"/>
          <p:nvPr/>
        </p:nvSpPr>
        <p:spPr>
          <a:xfrm>
            <a:off x="5321936" y="1700784"/>
            <a:ext cx="6366839" cy="3474720"/>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uint8_t sine8(uint8_t theta) {</a:t>
            </a:r>
          </a:p>
          <a:p>
            <a:pPr lvl="1" algn="l">
              <a:lnSpc>
                <a:spcPct val="100000"/>
              </a:lnSpc>
              <a:spcAft>
                <a:spcPts val="400"/>
              </a:spcAft>
              <a:defRPr sz="1800" b="0">
                <a:solidFill>
                  <a:srgbClr val="222222"/>
                </a:solidFill>
                <a:latin typeface="Calibri"/>
              </a:defRPr>
            </a:pPr>
            <a:r>
              <a:rPr sz="1800" b="0">
                <a:solidFill>
                  <a:srgbClr val="222222"/>
                </a:solidFill>
                <a:latin typeface="Calibri"/>
              </a:rPr>
              <a:t>  float radians = (theta / 256.0f) * 2.0f * PI;</a:t>
            </a:r>
          </a:p>
          <a:p>
            <a:pPr lvl="1" algn="l">
              <a:lnSpc>
                <a:spcPct val="100000"/>
              </a:lnSpc>
              <a:spcAft>
                <a:spcPts val="400"/>
              </a:spcAft>
              <a:defRPr sz="1800" b="0">
                <a:solidFill>
                  <a:srgbClr val="222222"/>
                </a:solidFill>
                <a:latin typeface="Calibri"/>
              </a:defRPr>
            </a:pPr>
            <a:r>
              <a:rPr sz="1800" b="0">
                <a:solidFill>
                  <a:srgbClr val="222222"/>
                </a:solidFill>
                <a:latin typeface="Calibri"/>
              </a:rPr>
              <a:t>  return (uint8_t)(128.0f + 127.0f * sinf(radians));</a:t>
            </a:r>
          </a:p>
          <a:p>
            <a:pPr lvl="1" algn="l">
              <a:lnSpc>
                <a:spcPct val="100000"/>
              </a:lnSpc>
              <a:spcAft>
                <a:spcPts val="400"/>
              </a:spcAft>
              <a:defRPr sz="1800" b="0">
                <a:solidFill>
                  <a:srgbClr val="222222"/>
                </a:solidFill>
                <a:latin typeface="Calibri"/>
              </a:defRPr>
            </a:pPr>
            <a:r>
              <a:rPr sz="1800" b="0">
                <a:solidFill>
                  <a:srgbClr val="222222"/>
                </a:solidFill>
                <a:latin typeface="Calibri"/>
              </a:rPr>
              <a:t>}</a:t>
            </a:r>
          </a:p>
          <a:p>
            <a:pPr algn="l">
              <a:lnSpc>
                <a:spcPct val="100000"/>
              </a:lnSpc>
              <a:spcAft>
                <a:spcPts val="400"/>
              </a:spcAft>
              <a:defRPr sz="1800" b="0">
                <a:solidFill>
                  <a:srgbClr val="222222"/>
                </a:solidFill>
                <a:latin typeface="Calibri"/>
              </a:defRPr>
            </a:pPr>
            <a:r>
              <a:rPr sz="1800" b="0">
                <a:solidFill>
                  <a:srgbClr val="222222"/>
                </a:solidFill>
                <a:latin typeface="Calibri"/>
              </a:rPr>
              <a:t>0..255 in for one full turn, 0..255 out with 128 as the midpoint. No degrees, no floating point in the caller.</a:t>
            </a:r>
          </a:p>
          <a:p>
            <a:pPr lvl="1" algn="l">
              <a:lnSpc>
                <a:spcPct val="100000"/>
              </a:lnSpc>
              <a:spcAft>
                <a:spcPts val="400"/>
              </a:spcAft>
              <a:defRPr sz="1800" b="0">
                <a:solidFill>
                  <a:srgbClr val="222222"/>
                </a:solidFill>
                <a:latin typeface="Calibri"/>
              </a:defRPr>
            </a:pPr>
            <a:r>
              <a:rPr sz="1800" b="0">
                <a:solidFill>
                  <a:srgbClr val="222222"/>
                </a:solidFill>
                <a:latin typeface="Calibri"/>
              </a:rPr>
              <a:t>phase = (now % BREATHE_PERIOD_MS) * 255 / BREATHE_PERIOD_MS;</a:t>
            </a:r>
          </a:p>
          <a:p>
            <a:pPr algn="l">
              <a:lnSpc>
                <a:spcPct val="100000"/>
              </a:lnSpc>
              <a:spcAft>
                <a:spcPts val="400"/>
              </a:spcAft>
              <a:defRPr sz="1800" b="0">
                <a:solidFill>
                  <a:srgbClr val="222222"/>
                </a:solidFill>
                <a:latin typeface="Calibri"/>
              </a:defRPr>
            </a:pPr>
            <a:r>
              <a:rPr sz="1800" b="0">
                <a:solidFill>
                  <a:srgbClr val="222222"/>
                </a:solidFill>
                <a:latin typeface="Calibri"/>
              </a:rPr>
              <a:t>Phase from the clock, not from a counter, so it runs at the same speed however often it is called.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Add a HAZARD mode to a4a_led_state_machine: all four corners flashing amber together, running until it is switched off.</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it the way the program is built:</a:t>
            </a:r>
          </a:p>
          <a:p>
            <a:pPr lvl="1" algn="l">
              <a:lnSpc>
                <a:spcPct val="100000"/>
              </a:lnSpc>
              <a:spcAft>
                <a:spcPts val="500"/>
              </a:spcAft>
              <a:defRPr sz="1800" b="0">
                <a:solidFill>
                  <a:srgbClr val="222222"/>
                </a:solidFill>
                <a:latin typeface="Calibri"/>
              </a:defRPr>
            </a:pPr>
            <a:r>
              <a:rPr sz="1800" b="0">
                <a:solidFill>
                  <a:srgbClr val="222222"/>
                </a:solidFill>
                <a:latin typeface="Calibri"/>
              </a:rPr>
              <a:t>1.  Add HAZARD to the LEDMode enum.</a:t>
            </a:r>
          </a:p>
          <a:p>
            <a:pPr lvl="1" algn="l">
              <a:lnSpc>
                <a:spcPct val="100000"/>
              </a:lnSpc>
              <a:spcAft>
                <a:spcPts val="500"/>
              </a:spcAft>
              <a:defRPr sz="1800" b="0">
                <a:solidFill>
                  <a:srgbClr val="222222"/>
                </a:solidFill>
                <a:latin typeface="Calibri"/>
              </a:defRPr>
            </a:pPr>
            <a:r>
              <a:rPr sz="1800" b="0">
                <a:solidFill>
                  <a:srgbClr val="222222"/>
                </a:solidFill>
                <a:latin typeface="Calibri"/>
              </a:rPr>
              <a:t>2.  Add its timing constants to the configuration block at the top - not buried in the function.</a:t>
            </a:r>
          </a:p>
          <a:p>
            <a:pPr lvl="1" algn="l">
              <a:lnSpc>
                <a:spcPct val="100000"/>
              </a:lnSpc>
              <a:spcAft>
                <a:spcPts val="500"/>
              </a:spcAft>
              <a:defRPr sz="1800" b="0">
                <a:solidFill>
                  <a:srgbClr val="222222"/>
                </a:solidFill>
                <a:latin typeface="Calibri"/>
              </a:defRPr>
            </a:pPr>
            <a:r>
              <a:rPr sz="1800" b="0">
                <a:solidFill>
                  <a:srgbClr val="222222"/>
                </a:solidFill>
                <a:latin typeface="Calibri"/>
              </a:rPr>
              <a:t>3.  Write update_hazard(now) so it draws ONE frame and returns.</a:t>
            </a:r>
          </a:p>
          <a:p>
            <a:pPr lvl="1" algn="l">
              <a:lnSpc>
                <a:spcPct val="100000"/>
              </a:lnSpc>
              <a:spcAft>
                <a:spcPts val="500"/>
              </a:spcAft>
              <a:defRPr sz="1800" b="0">
                <a:solidFill>
                  <a:srgbClr val="222222"/>
                </a:solidFill>
                <a:latin typeface="Calibri"/>
              </a:defRPr>
            </a:pPr>
            <a:r>
              <a:rPr sz="1800" b="0">
                <a:solidFill>
                  <a:srgbClr val="222222"/>
                </a:solidFill>
                <a:latin typeface="Calibri"/>
              </a:rPr>
              <a:t>4.  Add one branch to the state machine.</a:t>
            </a:r>
          </a:p>
          <a:p>
            <a:pPr lvl="1" algn="l">
              <a:lnSpc>
                <a:spcPct val="100000"/>
              </a:lnSpc>
              <a:spcAft>
                <a:spcPts val="500"/>
              </a:spcAft>
              <a:defRPr sz="1800" b="0">
                <a:solidFill>
                  <a:srgbClr val="222222"/>
                </a:solidFill>
                <a:latin typeface="Calibri"/>
              </a:defRPr>
            </a:pPr>
            <a:r>
              <a:rPr sz="1800" b="0">
                <a:solidFill>
                  <a:srgbClr val="222222"/>
                </a:solidFill>
                <a:latin typeface="Calibri"/>
              </a:rPr>
              <a:t>5.  Add a console command to enter and leave it.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Then answer these:</a:t>
            </a:r>
          </a:p>
          <a:p>
            <a:pPr lvl="1" algn="l">
              <a:lnSpc>
                <a:spcPct val="100000"/>
              </a:lnSpc>
              <a:spcAft>
                <a:spcPts val="900"/>
              </a:spcAft>
              <a:defRPr sz="1800" b="0">
                <a:solidFill>
                  <a:srgbClr val="222222"/>
                </a:solidFill>
                <a:latin typeface="Calibri"/>
              </a:defRPr>
            </a:pPr>
            <a:r>
              <a:rPr sz="1800" b="0">
                <a:solidFill>
                  <a:srgbClr val="222222"/>
                </a:solidFill>
                <a:latin typeface="Calibri"/>
              </a:rPr>
              <a:t>How many existing lines did you have to change?</a:t>
            </a:r>
          </a:p>
          <a:p>
            <a:pPr lvl="1" algn="l">
              <a:lnSpc>
                <a:spcPct val="100000"/>
              </a:lnSpc>
              <a:spcAft>
                <a:spcPts val="900"/>
              </a:spcAft>
              <a:defRPr sz="1800" b="0">
                <a:solidFill>
                  <a:srgbClr val="222222"/>
                </a:solidFill>
                <a:latin typeface="Calibri"/>
              </a:defRPr>
            </a:pPr>
            <a:r>
              <a:rPr sz="1800" b="0">
                <a:solidFill>
                  <a:srgbClr val="222222"/>
                </a:solidFill>
                <a:latin typeface="Calibri"/>
              </a:rPr>
              <a:t>Could HAZARD and TURN_LEFT ever be on at the same time? Why not?</a:t>
            </a:r>
          </a:p>
          <a:p>
            <a:pPr lvl="1" algn="l">
              <a:lnSpc>
                <a:spcPct val="100000"/>
              </a:lnSpc>
              <a:spcAft>
                <a:spcPts val="900"/>
              </a:spcAft>
              <a:defRPr sz="1800" b="0">
                <a:solidFill>
                  <a:srgbClr val="222222"/>
                </a:solidFill>
                <a:latin typeface="Calibri"/>
              </a:defRPr>
            </a:pPr>
            <a:r>
              <a:rPr sz="1800" b="0">
                <a:solidFill>
                  <a:srgbClr val="222222"/>
                </a:solidFill>
                <a:latin typeface="Calibri"/>
              </a:rPr>
              <a:t>What does  load  say while it is running?</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Six booleans give how many combinations? One six-value enum?</a:t>
            </a:r>
          </a:p>
          <a:p>
            <a:pPr algn="l">
              <a:lnSpc>
                <a:spcPct val="100000"/>
              </a:lnSpc>
              <a:spcAft>
                <a:spcPts val="1100"/>
              </a:spcAft>
              <a:defRPr sz="2200" b="0">
                <a:solidFill>
                  <a:srgbClr val="222222"/>
                </a:solidFill>
                <a:latin typeface="Calibri"/>
              </a:defRPr>
            </a:pPr>
            <a:r>
              <a:rPr sz="2200" b="0">
                <a:solidFill>
                  <a:srgbClr val="222222"/>
                </a:solidFill>
                <a:latin typeface="Calibri"/>
              </a:rPr>
              <a:t>2.  Write the three-line non-blocking animation pattern.</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a dirty flag, and roughly what did it save on this vehicle?</a:t>
            </a:r>
          </a:p>
          <a:p>
            <a:pPr algn="l">
              <a:lnSpc>
                <a:spcPct val="100000"/>
              </a:lnSpc>
              <a:spcAft>
                <a:spcPts val="1100"/>
              </a:spcAft>
              <a:defRPr sz="2200" b="0">
                <a:solidFill>
                  <a:srgbClr val="222222"/>
                </a:solidFill>
                <a:latin typeface="Calibri"/>
              </a:defRPr>
            </a:pPr>
            <a:r>
              <a:rPr sz="2200" b="0">
                <a:solidFill>
                  <a:srgbClr val="222222"/>
                </a:solidFill>
                <a:latin typeface="Calibri"/>
              </a:rPr>
              <a:t>4.  Why can Op 12 not use FastLED?</a:t>
            </a:r>
          </a:p>
          <a:p>
            <a:pPr algn="l">
              <a:lnSpc>
                <a:spcPct val="100000"/>
              </a:lnSpc>
              <a:spcAft>
                <a:spcPts val="1100"/>
              </a:spcAft>
              <a:defRPr sz="2200" b="0">
                <a:solidFill>
                  <a:srgbClr val="222222"/>
                </a:solidFill>
                <a:latin typeface="Calibri"/>
              </a:defRPr>
            </a:pPr>
            <a:r>
              <a:rPr sz="2200" b="0">
                <a:solidFill>
                  <a:srgbClr val="222222"/>
                </a:solidFill>
                <a:latin typeface="Calibri"/>
              </a:rPr>
              <a:t>5.  Why does each turn-signal frame repaint the headlights?</a:t>
            </a:r>
          </a:p>
          <a:p>
            <a:pPr algn="l">
              <a:lnSpc>
                <a:spcPct val="100000"/>
              </a:lnSpc>
              <a:spcAft>
                <a:spcPts val="1100"/>
              </a:spcAft>
              <a:defRPr sz="2200" b="0">
                <a:solidFill>
                  <a:srgbClr val="222222"/>
                </a:solidFill>
                <a:latin typeface="Calibri"/>
              </a:defRPr>
            </a:pPr>
            <a:r>
              <a:rPr sz="2200" b="0">
                <a:solidFill>
                  <a:srgbClr val="222222"/>
                </a:solidFill>
                <a:latin typeface="Calibri"/>
              </a:rPr>
              <a:t>6.  Why does the front index count down for a LEFT signal?</a:t>
            </a:r>
          </a:p>
          <a:p>
            <a:pPr algn="l">
              <a:lnSpc>
                <a:spcPct val="100000"/>
              </a:lnSpc>
              <a:spcAft>
                <a:spcPts val="1100"/>
              </a:spcAft>
              <a:defRPr sz="2200" b="0">
                <a:solidFill>
                  <a:srgbClr val="222222"/>
                </a:solidFill>
                <a:latin typeface="Calibri"/>
              </a:defRPr>
            </a:pPr>
            <a:r>
              <a:rPr sz="2200" b="0">
                <a:solidFill>
                  <a:srgbClr val="222222"/>
                </a:solidFill>
                <a:latin typeface="Calibri"/>
              </a:rPr>
              <a:t>7.  Why does the turn signal finish its cycles instead of stopping when the D-pad is released?</a:t>
            </a:r>
          </a:p>
          <a:p>
            <a:pPr algn="l">
              <a:lnSpc>
                <a:spcPct val="100000"/>
              </a:lnSpc>
              <a:spcAft>
                <a:spcPts val="1100"/>
              </a:spcAft>
              <a:defRPr sz="2200" b="0">
                <a:solidFill>
                  <a:srgbClr val="222222"/>
                </a:solidFill>
                <a:latin typeface="Calibri"/>
              </a:defRPr>
            </a:pPr>
            <a:r>
              <a:rPr sz="22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