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centre towards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centre towards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scale_colour(),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colour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colour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centre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 state machine buys you</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six modes, and how control passes between them</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Non-blocking animation as a discipline</a:t>
                      </a:r>
                    </a:p>
                  </a:txBody>
                  <a:tcPr marL="73152" marT="18288" marB="18288">
                    <a:solidFill>
                      <a:srgbClr val="FFFFFF"/>
                    </a:solidFill>
                  </a:tcPr>
                </a:tc>
              </a:tr>
              <a:tr h="298450">
                <a:tc>
                  <a:txBody>
                    <a:bodyPr/>
                    <a:lstStyle/>
                    <a:p>
                      <a:r>
                        <a:rPr sz="1400">
                          <a:solidFill>
                            <a:srgbClr val="222222"/>
                          </a:solidFill>
                          <a:latin typeface="Calibri"/>
                        </a:rPr>
                        <a:t>1:10</a:t>
                      </a:r>
                    </a:p>
                  </a:txBody>
                  <a:tcPr marL="73152" marT="18288" marB="18288">
                    <a:solidFill>
                      <a:srgbClr val="EEF3F8"/>
                    </a:solidFill>
                  </a:tcPr>
                </a:tc>
                <a:tc>
                  <a:txBody>
                    <a:bodyPr/>
                    <a:lstStyle/>
                    <a:p>
                      <a:r>
                        <a:rPr sz="1400">
                          <a:solidFill>
                            <a:srgbClr val="222222"/>
                          </a:solidFill>
                          <a:latin typeface="Calibri"/>
                        </a:rPr>
                        <a:t>Upload a4a_led_state_machine. Measure a redraw</a:t>
                      </a:r>
                    </a:p>
                  </a:txBody>
                  <a:tcPr marL="73152" marT="18288" marB="18288">
                    <a:solidFill>
                      <a:srgbClr val="EEF3F8"/>
                    </a:solidFill>
                  </a:tcPr>
                </a:tc>
              </a:tr>
              <a:tr h="298450">
                <a:tc>
                  <a:txBody>
                    <a:bodyPr/>
                    <a:lstStyle/>
                    <a:p>
                      <a:r>
                        <a:rPr sz="1400">
                          <a:solidFill>
                            <a:srgbClr val="222222"/>
                          </a:solidFill>
                          <a:latin typeface="Calibri"/>
                        </a:rPr>
                        <a:t>1:40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Colour helpers, and why they are written out longhand</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Turn signal geometry. Upload a4b_turn_signal_larson</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2:45</a:t>
                      </a:r>
                    </a:p>
                  </a:txBody>
                  <a:tcPr marL="73152" marT="18288" marB="18288">
                    <a:solidFill>
                      <a:srgbClr val="FFFFFF"/>
                    </a:solidFill>
                  </a:tcPr>
                </a:tc>
                <a:tc>
                  <a:txBody>
                    <a:bodyPr/>
                    <a:lstStyle/>
                    <a:p>
                      <a:r>
                        <a:rPr sz="14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Suppose you track lighting with flags: lights_on, turning_left, turning_right, scanning, pairing, disconnected.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STATE MACHINE says: the vehicle is in exactly ONE mode. One variable holds it. Each mode knows how to draw itself and when to hand 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300" b="1">
                <a:solidFill>
                  <a:srgbClr val="1F3A5F"/>
                </a:solidFill>
                <a:latin typeface="Calibri"/>
              </a:defRPr>
            </a:pPr>
            <a:r>
              <a:rPr sz="2300" b="1">
                <a:solidFill>
                  <a:srgbClr val="1F3A5F"/>
                </a:solidFill>
                <a:latin typeface="Calibri"/>
              </a:rPr>
              <a:t>Why lighting needs a state machine and not a pile of booleans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fall out:</a:t>
            </a:r>
          </a:p>
          <a:p>
            <a:pPr lvl="1" algn="l">
              <a:lnSpc>
                <a:spcPct val="100000"/>
              </a:lnSpc>
              <a:spcAft>
                <a:spcPts val="900"/>
              </a:spcAft>
              <a:defRPr sz="1800" b="0">
                <a:solidFill>
                  <a:srgbClr val="222222"/>
                </a:solidFill>
                <a:latin typeface="Calibri"/>
              </a:defRPr>
            </a:pPr>
            <a:r>
              <a:rPr sz="1800" b="0">
                <a:solidFill>
                  <a:srgbClr val="222222"/>
                </a:solidFill>
                <a:latin typeface="Calibri"/>
              </a:rPr>
              <a:t>Two modes can never be half-on at once, because there is one variable and it holds one value.</a:t>
            </a:r>
          </a:p>
          <a:p>
            <a:pPr lvl="1" algn="l">
              <a:lnSpc>
                <a:spcPct val="100000"/>
              </a:lnSpc>
              <a:spcAft>
                <a:spcPts val="900"/>
              </a:spcAft>
              <a:defRPr sz="1800" b="0">
                <a:solidFill>
                  <a:srgbClr val="222222"/>
                </a:solidFill>
                <a:latin typeface="Calibri"/>
              </a:defRPr>
            </a:pPr>
            <a:r>
              <a:rPr sz="1800" b="0">
                <a:solidFill>
                  <a:srgbClr val="222222"/>
                </a:solidFill>
                <a:latin typeface="Calibri"/>
              </a:rPr>
              <a:t>Adding a mode is one enum value and one branch - not a new combination to test against every existing flag.</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enum LEDMode { DISCONNECTED, STANDBY, TURN_LEFT, TURN_RIGHT,</a:t>
            </a:r>
          </a:p>
          <a:p>
            <a:pPr lvl="1" algn="l">
              <a:lnSpc>
                <a:spcPct val="100000"/>
              </a:lnSpc>
              <a:spcAft>
                <a:spcPts val="900"/>
              </a:spcAft>
              <a:defRPr sz="1800" b="0">
                <a:solidFill>
                  <a:srgbClr val="222222"/>
                </a:solidFill>
                <a:latin typeface="Calibri"/>
              </a:defRPr>
            </a:pPr>
            <a:r>
              <a:rPr sz="1800" b="0">
                <a:solidFill>
                  <a:srgbClr val="222222"/>
                </a:solidFill>
                <a:latin typeface="Calibri"/>
              </a:rPr>
              <a:t>               PAIRING, KITT_SCANNER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9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900"/>
              </a:spcAft>
              <a:defRPr sz="1800" b="0">
                <a:solidFill>
                  <a:srgbClr val="222222"/>
                </a:solidFill>
                <a:latin typeface="Calibri"/>
              </a:defRPr>
            </a:pPr>
            <a:r>
              <a:rPr sz="1800" b="0">
                <a:solidFill>
                  <a:srgbClr val="222222"/>
                </a:solidFill>
                <a:latin typeface="Calibri"/>
              </a:rPr>
              <a:t>// ...draw one frame...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the same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program did the opposite: a light pattern with delay() in it froze the vehicle for two seconds, still holding whatever motor command was last set. A vehicle that keeps driving while it ignores you is not a cosmetic problem.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in the whole program is the startup light show, because nothing else needs to happen yet.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666666"/>
                </a:solidFill>
                <a:latin typeface="Consolas"/>
              </a:rPr>
              <a:t>// STANDBY is not an animation. It is ONE PICTURE that changes</a:t>
            </a:r>
          </a:p>
          <a:p>
            <a:pPr algn="l">
              <a:lnSpc>
                <a:spcPct val="100000"/>
              </a:lnSpc>
              <a:spcAft>
                <a:spcPts val="0"/>
              </a:spcAft>
              <a:defRPr sz="1200">
                <a:latin typeface="Consolas"/>
              </a:defRPr>
            </a:pPr>
            <a:r>
              <a:rPr sz="1200">
                <a:solidFill>
                  <a:srgbClr val="666666"/>
                </a:solidFill>
                <a:latin typeface="Consolas"/>
              </a:rPr>
              <a:t>// only when the headlights or running lights change.</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void set_standby_lighting() {</a:t>
            </a:r>
          </a:p>
          <a:p>
            <a:pPr algn="l">
              <a:lnSpc>
                <a:spcPct val="100000"/>
              </a:lnSpc>
              <a:spcAft>
                <a:spcPts val="0"/>
              </a:spcAft>
              <a:defRPr sz="1200">
                <a:latin typeface="Consolas"/>
              </a:defRPr>
            </a:pPr>
            <a:r>
              <a:rPr sz="1200">
                <a:solidFill>
                  <a:srgbClr val="222222"/>
                </a:solidFill>
                <a:latin typeface="Consolas"/>
              </a:rPr>
              <a:t>  strip.clear();</a:t>
            </a:r>
          </a:p>
          <a:p>
            <a:pPr algn="l">
              <a:lnSpc>
                <a:spcPct val="100000"/>
              </a:lnSpc>
              <a:spcAft>
                <a:spcPts val="0"/>
              </a:spcAft>
              <a:defRPr sz="1200">
                <a:latin typeface="Consolas"/>
              </a:defRPr>
            </a:pPr>
            <a:r>
              <a:rPr sz="1200">
                <a:solidFill>
                  <a:srgbClr val="222222"/>
                </a:solidFill>
                <a:latin typeface="Consolas"/>
              </a:rPr>
              <a:t>  if (running_lights_on) {</a:t>
            </a:r>
          </a:p>
          <a:p>
            <a:pPr algn="l">
              <a:lnSpc>
                <a:spcPct val="100000"/>
              </a:lnSpc>
              <a:spcAft>
                <a:spcPts val="0"/>
              </a:spcAft>
              <a:defRPr sz="1200">
                <a:latin typeface="Consolas"/>
              </a:defRPr>
            </a:pPr>
            <a:r>
              <a:rPr sz="1200">
                <a:solidFill>
                  <a:srgbClr val="222222"/>
                </a:solidFill>
                <a:latin typeface="Consolas"/>
              </a:rPr>
              <a:t>    uint8_t level = full_headlights ? HEADLIGHT_BRIGHT</a:t>
            </a:r>
          </a:p>
          <a:p>
            <a:pPr algn="l">
              <a:lnSpc>
                <a:spcPct val="100000"/>
              </a:lnSpc>
              <a:spcAft>
                <a:spcPts val="0"/>
              </a:spcAft>
              <a:defRPr sz="1200">
                <a:latin typeface="Consolas"/>
              </a:defRPr>
            </a:pPr>
            <a:r>
              <a:rPr sz="1200">
                <a:solidFill>
                  <a:srgbClr val="222222"/>
                </a:solidFill>
                <a:latin typeface="Consolas"/>
              </a:rPr>
              <a:t>                                    : HEADLIGHT_DIM;</a:t>
            </a:r>
          </a:p>
          <a:p>
            <a:pPr algn="l">
              <a:lnSpc>
                <a:spcPct val="100000"/>
              </a:lnSpc>
              <a:spcAft>
                <a:spcPts val="0"/>
              </a:spcAft>
              <a:defRPr sz="1200">
                <a:latin typeface="Consolas"/>
              </a:defRPr>
            </a:pPr>
            <a:r>
              <a:rPr sz="1200">
                <a:solidFill>
                  <a:srgbClr val="222222"/>
                </a:solidFill>
                <a:latin typeface="Consolas"/>
              </a:rPr>
              <a:t>    fill_range(LEFT_FRONT_START, CORNER_LEN * 2, rgb(level, level, level));</a:t>
            </a:r>
          </a:p>
          <a:p>
            <a:pPr algn="l">
              <a:lnSpc>
                <a:spcPct val="100000"/>
              </a:lnSpc>
              <a:spcAft>
                <a:spcPts val="0"/>
              </a:spcAft>
              <a:defRPr sz="1200">
                <a:latin typeface="Consolas"/>
              </a:defRPr>
            </a:pPr>
            <a:r>
              <a:rPr sz="1200">
                <a:solidFill>
                  <a:srgbClr val="222222"/>
                </a:solidFill>
                <a:latin typeface="Consolas"/>
              </a:rPr>
              <a:t>    fill_range(RIGHT_REAR_START, CORNER_LEN * 2, rgb(TAILLIGHT_LEVEL, 0, 0));</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strip.show();</a:t>
            </a:r>
          </a:p>
          <a:p>
            <a:pPr algn="l">
              <a:lnSpc>
                <a:spcPct val="100000"/>
              </a:lnSpc>
              <a:spcAft>
                <a:spcPts val="0"/>
              </a:spcAft>
              <a:defRPr sz="1200">
                <a:latin typeface="Consolas"/>
              </a:defRPr>
            </a:pPr>
            <a:r>
              <a:rPr sz="1200" b="1">
                <a:solidFill>
                  <a:srgbClr val="0E7C86"/>
                </a:solidFill>
                <a:latin typeface="Consolas"/>
              </a:rPr>
              <a:t>  standby_dirty = false;        // &lt;- the whole point</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666666"/>
                </a:solidFill>
                <a:latin typeface="Consolas"/>
              </a:rPr>
              <a:t>// ...and the last branch of update_lighting():</a:t>
            </a:r>
          </a:p>
          <a:p>
            <a:pPr algn="l">
              <a:lnSpc>
                <a:spcPct val="100000"/>
              </a:lnSpc>
              <a:spcAft>
                <a:spcPts val="0"/>
              </a:spcAft>
              <a:defRPr sz="1200">
                <a:latin typeface="Consolas"/>
              </a:defRPr>
            </a:pPr>
            <a:r>
              <a:rPr sz="1200">
                <a:solidFill>
                  <a:srgbClr val="222222"/>
                </a:solidFill>
                <a:latin typeface="Consolas"/>
              </a:rPr>
              <a:t>  if (led_mode == STANDBY &amp;&amp; standby_dirty) {</a:t>
            </a:r>
          </a:p>
          <a:p>
            <a:pPr algn="l">
              <a:lnSpc>
                <a:spcPct val="100000"/>
              </a:lnSpc>
              <a:spcAft>
                <a:spcPts val="0"/>
              </a:spcAft>
              <a:defRPr sz="1200">
                <a:latin typeface="Consolas"/>
              </a:defRPr>
            </a:pPr>
            <a:r>
              <a:rPr sz="1200">
                <a:solidFill>
                  <a:srgbClr val="222222"/>
                </a:solidFill>
                <a:latin typeface="Consolas"/>
              </a:rPr>
              <a:t>    set_standby_lighting();</a:t>
            </a:r>
          </a:p>
          <a:p>
            <a:pPr algn="l">
              <a:lnSpc>
                <a:spcPct val="100000"/>
              </a:lnSpc>
              <a:spcAft>
                <a:spcPts val="0"/>
              </a:spcAft>
              <a:defRPr sz="1200">
                <a:latin typeface="Consolas"/>
              </a:defRPr>
            </a:pPr>
            <a:r>
              <a:rPr sz="12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Switch between the four modes from the console.</a:t>
            </a:r>
          </a:p>
          <a:p>
            <a:pPr algn="l">
              <a:lnSpc>
                <a:spcPct val="100000"/>
              </a:lnSpc>
              <a:spcAft>
                <a:spcPts val="400"/>
              </a:spcAft>
              <a:defRPr sz="1800" b="0">
                <a:solidFill>
                  <a:srgbClr val="222222"/>
                </a:solidFill>
                <a:latin typeface="Calibri"/>
              </a:defRPr>
            </a:pPr>
            <a:r>
              <a:rPr sz="1800" b="0">
                <a:solidFill>
                  <a:srgbClr val="222222"/>
                </a:solidFill>
                <a:latin typeface="Calibri"/>
              </a:rPr>
              <a:t>2.  Type  load  in each mode. Which mode costs the most time per pass? Why?</a:t>
            </a:r>
          </a:p>
          <a:p>
            <a:pPr algn="l">
              <a:lnSpc>
                <a:spcPct val="100000"/>
              </a:lnSpc>
              <a:spcAft>
                <a:spcPts val="400"/>
              </a:spcAft>
              <a:defRPr sz="1800" b="0">
                <a:solidFill>
                  <a:srgbClr val="222222"/>
                </a:solidFill>
                <a:latin typeface="Calibri"/>
              </a:defRPr>
            </a:pPr>
            <a:r>
              <a:rPr sz="1800" b="0">
                <a:solidFill>
                  <a:srgbClr val="222222"/>
                </a:solidFill>
                <a:latin typeface="Calibri"/>
              </a:rPr>
              <a:t>3.  In  standby, type  bright  and  dim. Watch WHEN the redraw happens.</a:t>
            </a:r>
          </a:p>
          <a:p>
            <a:pPr algn="l">
              <a:lnSpc>
                <a:spcPct val="100000"/>
              </a:lnSpc>
              <a:spcAft>
                <a:spcPts val="400"/>
              </a:spcAft>
              <a:defRPr sz="1800" b="0">
                <a:solidFill>
                  <a:srgbClr val="222222"/>
                </a:solidFill>
                <a:latin typeface="Calibri"/>
              </a:defRPr>
            </a:pPr>
            <a:r>
              <a:rPr sz="1800" b="0">
                <a:solidFill>
                  <a:srgbClr val="222222"/>
                </a:solidFill>
                <a:latin typeface="Calibri"/>
              </a:rPr>
              <a:t>4.  Comment out the  standby_dirty = false  at the end of setStandbyLighting. Upload. Check  load  in standby again.</a:t>
            </a:r>
          </a:p>
          <a:p>
            <a:pPr algn="l">
              <a:lnSpc>
                <a:spcPct val="100000"/>
              </a:lnSpc>
              <a:spcAft>
                <a:spcPts val="400"/>
              </a:spcAft>
              <a:defRPr sz="1800" b="0">
                <a:solidFill>
                  <a:srgbClr val="222222"/>
                </a:solidFill>
                <a:latin typeface="Calibri"/>
              </a:defRPr>
            </a:pPr>
            <a:r>
              <a:rPr sz="1800" b="0">
                <a:solidFill>
                  <a:srgbClr val="222222"/>
                </a:solidFill>
                <a:latin typeface="Calibri"/>
              </a:rPr>
              <a:t>5.  Write down both numbers. That is what one line was worth.</a:t>
            </a:r>
          </a:p>
          <a:p>
            <a:pPr algn="l">
              <a:lnSpc>
                <a:spcPct val="100000"/>
              </a:lnSpc>
              <a:spcAft>
                <a:spcPts val="400"/>
              </a:spcAft>
              <a:defRPr sz="1800" b="0">
                <a:solidFill>
                  <a:srgbClr val="222222"/>
                </a:solidFill>
                <a:latin typeface="Calibri"/>
              </a:defRPr>
            </a:pPr>
            <a:r>
              <a:rPr sz="1800" b="0">
                <a:solidFill>
                  <a:srgbClr val="222222"/>
                </a:solidFill>
                <a:latin typeface="Calibri"/>
              </a:rPr>
              <a:t>6.  Add a fifth mode: ALARM, a slow red pulse.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large loop count in standby, and a much smaller one once the dirty flag is removed.</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How many passes per second in standby with the flag? Without it?</a:t>
            </a:r>
          </a:p>
          <a:p>
            <a:pPr algn="l">
              <a:lnSpc>
                <a:spcPct val="100000"/>
              </a:lnSpc>
              <a:spcAft>
                <a:spcPts val="200"/>
              </a:spcAft>
              <a:defRPr sz="1800" b="0">
                <a:solidFill>
                  <a:srgbClr val="222222"/>
                </a:solidFill>
                <a:latin typeface="Calibri"/>
              </a:defRPr>
            </a:pPr>
            <a:r>
              <a:rPr sz="1800" b="0">
                <a:solidFill>
                  <a:srgbClr val="222222"/>
                </a:solidFill>
                <a:latin typeface="Calibri"/>
              </a:rPr>
              <a:t>What did you have to change to add ALARM? How many places?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Colour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11.2 got from FastLED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Why that turned out to be a good thing</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scale_colour() unpacks a 32-bit colour into three bytes, scales each, and repacks it. Four lines, and now the bit-shifting is visible instead of magic.</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Colour helpers, written out longhand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11.2 got from FastLED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Why that turned out to be a good thing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centre of the vehicle towards the corner that is turning, on both bars at once.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LEFT_REAR_START + i            (counts UP from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Turn signal geometry, which is the genuinely hard part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666666"/>
                </a:solidFill>
                <a:latin typeface="Consolas"/>
              </a:rPr>
              <a:t>// 1. Repaint the BASE lighting first, every frame.</a:t>
            </a:r>
          </a:p>
          <a:p>
            <a:pPr algn="l">
              <a:lnSpc>
                <a:spcPct val="100000"/>
              </a:lnSpc>
              <a:spcAft>
                <a:spcPts val="0"/>
              </a:spcAft>
              <a:defRPr sz="1200">
                <a:latin typeface="Consolas"/>
              </a:defRPr>
            </a:pPr>
            <a:r>
              <a:rPr sz="1200">
                <a:solidFill>
                  <a:srgbClr val="222222"/>
                </a:solidFill>
                <a:latin typeface="Consolas"/>
              </a:rPr>
              <a:t>strip.clear();</a:t>
            </a:r>
          </a:p>
          <a:p>
            <a:pPr algn="l">
              <a:lnSpc>
                <a:spcPct val="100000"/>
              </a:lnSpc>
              <a:spcAft>
                <a:spcPts val="0"/>
              </a:spcAft>
              <a:defRPr sz="1200">
                <a:latin typeface="Consolas"/>
              </a:defRPr>
            </a:pPr>
            <a:r>
              <a:rPr sz="1200">
                <a:solidFill>
                  <a:srgbClr val="222222"/>
                </a:solidFill>
                <a:latin typeface="Consolas"/>
              </a:rPr>
              <a:t>if (running_lights_on) {</a:t>
            </a:r>
          </a:p>
          <a:p>
            <a:pPr algn="l">
              <a:lnSpc>
                <a:spcPct val="100000"/>
              </a:lnSpc>
              <a:spcAft>
                <a:spcPts val="0"/>
              </a:spcAft>
              <a:defRPr sz="1200">
                <a:latin typeface="Consolas"/>
              </a:defRPr>
            </a:pPr>
            <a:r>
              <a:rPr sz="1200">
                <a:solidFill>
                  <a:srgbClr val="222222"/>
                </a:solidFill>
                <a:latin typeface="Consolas"/>
              </a:rPr>
              <a:t>  fill_range(LEFT_FRONT_START, CORNER_LEN * 2, headlights);</a:t>
            </a:r>
          </a:p>
          <a:p>
            <a:pPr algn="l">
              <a:lnSpc>
                <a:spcPct val="100000"/>
              </a:lnSpc>
              <a:spcAft>
                <a:spcPts val="0"/>
              </a:spcAft>
              <a:defRPr sz="1200">
                <a:latin typeface="Consolas"/>
              </a:defRPr>
            </a:pPr>
            <a:r>
              <a:rPr sz="1200">
                <a:solidFill>
                  <a:srgbClr val="222222"/>
                </a:solidFill>
                <a:latin typeface="Consolas"/>
              </a:rPr>
              <a:t>  fill_range(RIGHT_REAR_START, CORNER_LEN * 2, taillights);</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666666"/>
                </a:solidFill>
                <a:latin typeface="Consolas"/>
              </a:rPr>
              <a:t>// ...then blank the signalling side, then draw the amber over it.</a:t>
            </a:r>
          </a:p>
          <a:p>
            <a:pPr algn="l">
              <a:lnSpc>
                <a:spcPct val="100000"/>
              </a:lnSpc>
              <a:spcAft>
                <a:spcPts val="0"/>
              </a:spcAft>
              <a:defRPr sz="1200">
                <a:latin typeface="Consolas"/>
              </a:defRPr>
            </a:pPr>
            <a:r>
              <a:rPr sz="1200">
                <a:solidFill>
                  <a:srgbClr val="666666"/>
                </a:solidFill>
                <a:latin typeface="Consolas"/>
              </a:rPr>
              <a:t>// Painting only the amber would leave the last frame underneath.</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666666"/>
                </a:solidFill>
                <a:latin typeface="Consolas"/>
              </a:rPr>
              <a:t>// 2. The animation finishes its own cycles.</a:t>
            </a:r>
          </a:p>
          <a:p>
            <a:pPr algn="l">
              <a:lnSpc>
                <a:spcPct val="100000"/>
              </a:lnSpc>
              <a:spcAft>
                <a:spcPts val="0"/>
              </a:spcAft>
              <a:defRPr sz="1200">
                <a:latin typeface="Consolas"/>
              </a:defRPr>
            </a:pPr>
            <a:r>
              <a:rPr sz="1200" b="1">
                <a:solidFill>
                  <a:srgbClr val="0E7C86"/>
                </a:solidFill>
                <a:latin typeface="Consolas"/>
              </a:rPr>
              <a:t>bool still_held = (led_mode == TURN_LEFT  &amp;&amp; (dpad &amp; DPAD_LEFT)) ||</a:t>
            </a:r>
          </a:p>
          <a:p>
            <a:pPr algn="l">
              <a:lnSpc>
                <a:spcPct val="100000"/>
              </a:lnSpc>
              <a:spcAft>
                <a:spcPts val="0"/>
              </a:spcAft>
              <a:defRPr sz="1200">
                <a:latin typeface="Consolas"/>
              </a:defRPr>
            </a:pPr>
            <a:r>
              <a:rPr sz="1200" b="1">
                <a:solidFill>
                  <a:srgbClr val="0E7C86"/>
                </a:solidFill>
                <a:latin typeface="Consolas"/>
              </a:rPr>
              <a:t>                  (led_mode == TURN_RIGHT &amp;&amp; (dpad &amp; DPAD_RIGHT));</a:t>
            </a:r>
          </a:p>
          <a:p>
            <a:pPr algn="l">
              <a:lnSpc>
                <a:spcPct val="100000"/>
              </a:lnSpc>
              <a:spcAft>
                <a:spcPts val="0"/>
              </a:spcAft>
              <a:defRPr sz="1200">
                <a:latin typeface="Consolas"/>
              </a:defRPr>
            </a:pPr>
            <a:r>
              <a:rPr sz="1200" b="1">
                <a:solidFill>
                  <a:srgbClr val="0E7C86"/>
                </a:solidFill>
                <a:latin typeface="Consolas"/>
              </a:rPr>
              <a:t>if (!still_held &amp;&amp; turn_signal_cycles &gt;= TURN_CYCLES) {</a:t>
            </a:r>
          </a:p>
          <a:p>
            <a:pPr algn="l">
              <a:lnSpc>
                <a:spcPct val="100000"/>
              </a:lnSpc>
              <a:spcAft>
                <a:spcPts val="0"/>
              </a:spcAft>
              <a:defRPr sz="1200">
                <a:latin typeface="Consolas"/>
              </a:defRPr>
            </a:pPr>
            <a:r>
              <a:rPr sz="1200">
                <a:solidFill>
                  <a:srgbClr val="222222"/>
                </a:solidFill>
                <a:latin typeface="Consolas"/>
              </a:rPr>
              <a:t>  led_mode = STANDBY;</a:t>
            </a:r>
          </a:p>
          <a:p>
            <a:pPr algn="l">
              <a:lnSpc>
                <a:spcPct val="100000"/>
              </a:lnSpc>
              <a:spcAft>
                <a:spcPts val="0"/>
              </a:spcAft>
              <a:defRPr sz="1200">
                <a:latin typeface="Consolas"/>
              </a:defRPr>
            </a:pPr>
            <a:r>
              <a:rPr sz="1200">
                <a:solidFill>
                  <a:srgbClr val="222222"/>
                </a:solidFill>
                <a:latin typeface="Consolas"/>
              </a:rPr>
              <a:t>  standby_dirty = true;</a:t>
            </a:r>
          </a:p>
          <a:p>
            <a:pPr algn="l">
              <a:lnSpc>
                <a:spcPct val="100000"/>
              </a:lnSpc>
              <a:spcAft>
                <a:spcPts val="0"/>
              </a:spcAft>
              <a:defRPr sz="1200">
                <a:latin typeface="Consolas"/>
              </a:defRPr>
            </a:pPr>
            <a:r>
              <a:rPr sz="12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D-pad only ever STARTS the animation. It does not hold it on and it does not stop it.</a:t>
            </a:r>
          </a:p>
          <a:p>
            <a:pPr algn="l">
              <a:lnSpc>
                <a:spcPct val="100000"/>
              </a:lnSpc>
              <a:spcAft>
                <a:spcPts val="600"/>
              </a:spcAft>
              <a:defRPr sz="1800" b="0">
                <a:solidFill>
                  <a:srgbClr val="222222"/>
                </a:solidFill>
                <a:latin typeface="Calibri"/>
              </a:defRPr>
            </a:pPr>
            <a:r>
              <a:rPr sz="1800" b="0">
                <a:solidFill>
                  <a:srgbClr val="222222"/>
                </a:solidFill>
                <a:latin typeface="Calibri"/>
              </a:rPr>
              <a:t>A real indicator does not stop mid-blink when you let go of the stalk. It finishes.</a:t>
            </a:r>
          </a:p>
          <a:p>
            <a:pPr algn="l">
              <a:lnSpc>
                <a:spcPct val="100000"/>
              </a:lnSpc>
              <a:spcAft>
                <a:spcPts val="600"/>
              </a:spcAft>
              <a:defRPr sz="1800" b="0">
                <a:solidFill>
                  <a:srgbClr val="222222"/>
                </a:solidFill>
                <a:latin typeface="Calibri"/>
              </a:defRPr>
            </a:pPr>
            <a:r>
              <a:rPr sz="1800" b="0">
                <a:solidFill>
                  <a:srgbClr val="222222"/>
                </a:solidFill>
                <a:latin typeface="Calibri"/>
              </a:rPr>
              <a:t>Holding the D-pad keeps resetting the count, so it carries on for as long as you hold it and then finishes cleanly.</a:t>
            </a:r>
          </a:p>
          <a:p>
            <a:pPr algn="l">
              <a:lnSpc>
                <a:spcPct val="100000"/>
              </a:lnSpc>
              <a:spcAft>
                <a:spcPts val="600"/>
              </a:spcAft>
              <a:defRPr sz="1800" b="0">
                <a:solidFill>
                  <a:srgbClr val="222222"/>
                </a:solidFill>
                <a:latin typeface="Calibri"/>
              </a:defRPr>
            </a:pPr>
            <a:r>
              <a:rPr sz="1800" b="0">
                <a:solidFill>
                  <a:srgbClr val="222222"/>
                </a:solidFill>
                <a:latin typeface="Calibri"/>
              </a:rPr>
              <a:t>This is a small thing that makes a machine feel considered rather than twitchy.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Type  left, then  right.</a:t>
            </a:r>
          </a:p>
          <a:p>
            <a:pPr algn="l">
              <a:lnSpc>
                <a:spcPct val="100000"/>
              </a:lnSpc>
              <a:spcAft>
                <a:spcPts val="400"/>
              </a:spcAft>
              <a:defRPr sz="1800" b="0">
                <a:solidFill>
                  <a:srgbClr val="222222"/>
                </a:solidFill>
                <a:latin typeface="Calibri"/>
              </a:defRPr>
            </a:pPr>
            <a:r>
              <a:rPr sz="1800" b="0">
                <a:solidFill>
                  <a:srgbClr val="222222"/>
                </a:solidFill>
                <a:latin typeface="Calibri"/>
              </a:rPr>
              <a:t>2.  Type  speed 0  to freeze it, then  step  repeatedly. READ the indices it prints and check them against the vehicle.</a:t>
            </a:r>
          </a:p>
          <a:p>
            <a:pPr algn="l">
              <a:lnSpc>
                <a:spcPct val="100000"/>
              </a:lnSpc>
              <a:spcAft>
                <a:spcPts val="400"/>
              </a:spcAft>
              <a:defRPr sz="1800" b="0">
                <a:solidFill>
                  <a:srgbClr val="222222"/>
                </a:solidFill>
                <a:latin typeface="Calibri"/>
              </a:defRPr>
            </a:pPr>
            <a:r>
              <a:rPr sz="1800" b="0">
                <a:solidFill>
                  <a:srgbClr val="222222"/>
                </a:solidFill>
                <a:latin typeface="Calibri"/>
              </a:rPr>
              <a:t>3.  hold left, wait, then  release. Where exactly does it stop?</a:t>
            </a:r>
          </a:p>
          <a:p>
            <a:pPr algn="l">
              <a:lnSpc>
                <a:spcPct val="100000"/>
              </a:lnSpc>
              <a:spcAft>
                <a:spcPts val="400"/>
              </a:spcAft>
              <a:defRPr sz="1800" b="0">
                <a:solidFill>
                  <a:srgbClr val="222222"/>
                </a:solidFill>
                <a:latin typeface="Calibri"/>
              </a:defRPr>
            </a:pPr>
            <a:r>
              <a:rPr sz="1800" b="0">
                <a:solidFill>
                  <a:srgbClr val="222222"/>
                </a:solidFill>
                <a:latin typeface="Calibri"/>
              </a:rPr>
              <a:t>4.  speed 200  and watch the bar build slowly.</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LEFT branch to use LEFT_FRONT_START + i and see what breaks. Explain it.</a:t>
            </a:r>
          </a:p>
          <a:p>
            <a:pPr algn="l">
              <a:lnSpc>
                <a:spcPct val="100000"/>
              </a:lnSpc>
              <a:spcAft>
                <a:spcPts val="400"/>
              </a:spcAft>
              <a:defRPr sz="1800" b="0">
                <a:solidFill>
                  <a:srgbClr val="222222"/>
                </a:solidFill>
                <a:latin typeface="Calibri"/>
              </a:defRPr>
            </a:pPr>
            <a:r>
              <a:rPr sz="1800" b="0">
                <a:solidFill>
                  <a:srgbClr val="222222"/>
                </a:solidFill>
                <a:latin typeface="Calibri"/>
              </a:rPr>
              <a:t>6.  Make the trailing edge FADE rather than switch off abruptly.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Amber growing outward from the centre towards the turning corner, front and rear mirrored.</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Why does the front index count down for a left signal but up for a right one?</a:t>
            </a:r>
          </a:p>
          <a:p>
            <a:pPr algn="l">
              <a:lnSpc>
                <a:spcPct val="100000"/>
              </a:lnSpc>
              <a:spcAft>
                <a:spcPts val="200"/>
              </a:spcAft>
              <a:defRPr sz="1800" b="0">
                <a:solidFill>
                  <a:srgbClr val="222222"/>
                </a:solidFill>
                <a:latin typeface="Calibri"/>
              </a:defRPr>
            </a:pPr>
            <a:r>
              <a:rPr sz="1800" b="0">
                <a:solidFill>
                  <a:srgbClr val="222222"/>
                </a:solidFill>
                <a:latin typeface="Calibri"/>
              </a:rPr>
              <a:t>What would happen if the base lighting were not repainted each frame?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void update_lighting(unsigned long now, uint8_t dpad) {</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if (led_mode == PAIRING) {</a:t>
            </a:r>
          </a:p>
          <a:p>
            <a:pPr algn="l">
              <a:lnSpc>
                <a:spcPct val="100000"/>
              </a:lnSpc>
              <a:spcAft>
                <a:spcPts val="0"/>
              </a:spcAft>
              <a:defRPr sz="1200">
                <a:latin typeface="Consolas"/>
              </a:defRPr>
            </a:pPr>
            <a:r>
              <a:rPr sz="1200">
                <a:solidFill>
                  <a:srgbClr val="222222"/>
                </a:solidFill>
                <a:latin typeface="Consolas"/>
              </a:rPr>
              <a:t>    update_pairing_breathing(now);</a:t>
            </a:r>
          </a:p>
          <a:p>
            <a:pPr algn="l">
              <a:lnSpc>
                <a:spcPct val="100000"/>
              </a:lnSpc>
              <a:spcAft>
                <a:spcPts val="0"/>
              </a:spcAft>
              <a:defRPr sz="1200">
                <a:latin typeface="Consolas"/>
              </a:defRPr>
            </a:pPr>
            <a:r>
              <a:rPr sz="1200">
                <a:solidFill>
                  <a:srgbClr val="222222"/>
                </a:solidFill>
                <a:latin typeface="Consolas"/>
              </a:rPr>
              <a:t>    return;</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if (led_mode == TURN_LEFT || led_mode == TURN_RIGHT) {</a:t>
            </a:r>
          </a:p>
          <a:p>
            <a:pPr algn="l">
              <a:lnSpc>
                <a:spcPct val="100000"/>
              </a:lnSpc>
              <a:spcAft>
                <a:spcPts val="0"/>
              </a:spcAft>
              <a:defRPr sz="1200">
                <a:latin typeface="Consolas"/>
              </a:defRPr>
            </a:pPr>
            <a:r>
              <a:rPr sz="1200" b="1">
                <a:solidFill>
                  <a:srgbClr val="0E7C86"/>
                </a:solidFill>
                <a:latin typeface="Consolas"/>
              </a:rPr>
              <a:t>    if (now - larson_time &lt; LARSON_DELAY_MS) return;</a:t>
            </a:r>
          </a:p>
          <a:p>
            <a:pPr algn="l">
              <a:lnSpc>
                <a:spcPct val="100000"/>
              </a:lnSpc>
              <a:spcAft>
                <a:spcPts val="0"/>
              </a:spcAft>
              <a:defRPr sz="1200">
                <a:latin typeface="Consolas"/>
              </a:defRPr>
            </a:pPr>
            <a:r>
              <a:rPr sz="1200">
                <a:solidFill>
                  <a:srgbClr val="222222"/>
                </a:solidFill>
                <a:latin typeface="Consolas"/>
              </a:rPr>
              <a:t>    larson_time = now;</a:t>
            </a:r>
          </a:p>
          <a:p>
            <a:pPr algn="l">
              <a:lnSpc>
                <a:spcPct val="100000"/>
              </a:lnSpc>
              <a:spcAft>
                <a:spcPts val="0"/>
              </a:spcAft>
              <a:defRPr sz="1200">
                <a:latin typeface="Consolas"/>
              </a:defRPr>
            </a:pPr>
            <a:r>
              <a:rPr sz="1200">
                <a:solidFill>
                  <a:srgbClr val="666666"/>
                </a:solidFill>
                <a:latin typeface="Consolas"/>
              </a:rPr>
              <a:t>    // ...advance one phase, count cycles, maybe hand back...</a:t>
            </a:r>
          </a:p>
          <a:p>
            <a:pPr algn="l">
              <a:lnSpc>
                <a:spcPct val="100000"/>
              </a:lnSpc>
              <a:spcAft>
                <a:spcPts val="0"/>
              </a:spcAft>
              <a:defRPr sz="1200">
                <a:latin typeface="Consolas"/>
              </a:defRPr>
            </a:pPr>
            <a:r>
              <a:rPr sz="1200">
                <a:solidFill>
                  <a:srgbClr val="222222"/>
                </a:solidFill>
                <a:latin typeface="Consolas"/>
              </a:rPr>
              <a:t>    update_larson_scanner();</a:t>
            </a:r>
          </a:p>
          <a:p>
            <a:pPr algn="l">
              <a:lnSpc>
                <a:spcPct val="100000"/>
              </a:lnSpc>
              <a:spcAft>
                <a:spcPts val="0"/>
              </a:spcAft>
              <a:defRPr sz="1200">
                <a:latin typeface="Consolas"/>
              </a:defRPr>
            </a:pPr>
            <a:r>
              <a:rPr sz="1200">
                <a:solidFill>
                  <a:srgbClr val="222222"/>
                </a:solidFill>
                <a:latin typeface="Consolas"/>
              </a:rPr>
              <a:t>    return;</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if (led_mode == KITT_SCANNER) {</a:t>
            </a:r>
          </a:p>
          <a:p>
            <a:pPr algn="l">
              <a:lnSpc>
                <a:spcPct val="100000"/>
              </a:lnSpc>
              <a:spcAft>
                <a:spcPts val="0"/>
              </a:spcAft>
              <a:defRPr sz="1200">
                <a:latin typeface="Consolas"/>
              </a:defRPr>
            </a:pPr>
            <a:r>
              <a:rPr sz="1200" b="1">
                <a:solidFill>
                  <a:srgbClr val="0E7C86"/>
                </a:solidFill>
                <a:latin typeface="Consolas"/>
              </a:rPr>
              <a:t>    if (now - kitt_time &lt; (unsigned long)KITT_SPEED_MS) return;</a:t>
            </a:r>
          </a:p>
          <a:p>
            <a:pPr algn="l">
              <a:lnSpc>
                <a:spcPct val="100000"/>
              </a:lnSpc>
              <a:spcAft>
                <a:spcPts val="0"/>
              </a:spcAft>
              <a:defRPr sz="1200">
                <a:latin typeface="Consolas"/>
              </a:defRPr>
            </a:pPr>
            <a:r>
              <a:rPr sz="1200">
                <a:solidFill>
                  <a:srgbClr val="222222"/>
                </a:solidFill>
                <a:latin typeface="Consolas"/>
              </a:rPr>
              <a:t>    kitt_time = now;</a:t>
            </a:r>
          </a:p>
          <a:p>
            <a:pPr algn="l">
              <a:lnSpc>
                <a:spcPct val="100000"/>
              </a:lnSpc>
              <a:spcAft>
                <a:spcPts val="0"/>
              </a:spcAft>
              <a:defRPr sz="1200">
                <a:latin typeface="Consolas"/>
              </a:defRPr>
            </a:pPr>
            <a:r>
              <a:rPr sz="1200">
                <a:solidFill>
                  <a:srgbClr val="666666"/>
                </a:solidFill>
                <a:latin typeface="Consolas"/>
              </a:rPr>
              <a:t>    // ...draw one frame, step the dot, maybe hand back...</a:t>
            </a:r>
          </a:p>
          <a:p>
            <a:pPr algn="l">
              <a:lnSpc>
                <a:spcPct val="100000"/>
              </a:lnSpc>
              <a:spcAft>
                <a:spcPts val="0"/>
              </a:spcAft>
              <a:defRPr sz="1200">
                <a:latin typeface="Consolas"/>
              </a:defRPr>
            </a:pPr>
            <a:r>
              <a:rPr sz="1200">
                <a:solidFill>
                  <a:srgbClr val="222222"/>
                </a:solidFill>
                <a:latin typeface="Consolas"/>
              </a:rPr>
              <a:t>    return;</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  if (led_mode == STANDBY &amp;&amp; standby_dirty) {</a:t>
            </a:r>
          </a:p>
          <a:p>
            <a:pPr algn="l">
              <a:lnSpc>
                <a:spcPct val="100000"/>
              </a:lnSpc>
              <a:spcAft>
                <a:spcPts val="0"/>
              </a:spcAft>
              <a:defRPr sz="1200">
                <a:latin typeface="Consolas"/>
              </a:defRPr>
            </a:pPr>
            <a:r>
              <a:rPr sz="1200" b="1">
                <a:solidFill>
                  <a:srgbClr val="0E7C86"/>
                </a:solidFill>
                <a:latin typeface="Consolas"/>
              </a:rPr>
              <a:t>    set_standby_lighting();</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Every branch does the same three things: is it my turn, is it time yet, draw ONE frame.</a:t>
            </a:r>
          </a:p>
          <a:p>
            <a:pPr algn="l">
              <a:lnSpc>
                <a:spcPct val="100000"/>
              </a:lnSpc>
              <a:spcAft>
                <a:spcPts val="600"/>
              </a:spcAft>
              <a:defRPr sz="1800" b="0">
                <a:solidFill>
                  <a:srgbClr val="222222"/>
                </a:solidFill>
                <a:latin typeface="Calibri"/>
              </a:defRPr>
            </a:pPr>
            <a:r>
              <a:rPr sz="1800" b="0">
                <a:solidFill>
                  <a:srgbClr val="222222"/>
                </a:solidFill>
                <a:latin typeface="Calibri"/>
              </a:rPr>
              <a:t>Every branch returns. Exactly one mode runs per pass, and none of them can run into another.</a:t>
            </a:r>
          </a:p>
          <a:p>
            <a:pPr algn="l">
              <a:lnSpc>
                <a:spcPct val="100000"/>
              </a:lnSpc>
              <a:spcAft>
                <a:spcPts val="600"/>
              </a:spcAft>
              <a:defRPr sz="1800" b="0">
                <a:solidFill>
                  <a:srgbClr val="222222"/>
                </a:solidFill>
                <a:latin typeface="Calibri"/>
              </a:defRPr>
            </a:pPr>
            <a:r>
              <a:rPr sz="1800" b="0">
                <a:solidFill>
                  <a:srgbClr val="222222"/>
                </a:solidFill>
                <a:latin typeface="Calibri"/>
              </a:rPr>
              <a:t>The early return on the timer is what makes this cheap. Most passes through this function do almost nothing at all.</a:t>
            </a:r>
          </a:p>
          <a:p>
            <a:pPr algn="l">
              <a:lnSpc>
                <a:spcPct val="100000"/>
              </a:lnSpc>
              <a:spcAft>
                <a:spcPts val="600"/>
              </a:spcAft>
              <a:defRPr sz="1800" b="0">
                <a:solidFill>
                  <a:srgbClr val="222222"/>
                </a:solidFill>
                <a:latin typeface="Calibri"/>
              </a:defRPr>
            </a:pPr>
            <a:r>
              <a:rPr sz="18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the fade is a sine and not a ramp</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pairing animation fades the whole strip up and down smoothly. Doing that with a straight line looks wrong - it appears to hover at the ends and rush through the middle.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sine wave is what looks natural, because it slows at the extremes. FastLED gave 11.2 a sin8() for this. Op 12 writes it out:</a:t>
            </a:r>
          </a:p>
          <a:p>
            <a:pPr lvl="1" algn="l">
              <a:lnSpc>
                <a:spcPct val="100000"/>
              </a:lnSpc>
              <a:spcAft>
                <a:spcPts val="9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9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9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900"/>
              </a:spcAft>
              <a:defRPr sz="1800" b="0">
                <a:solidFill>
                  <a:srgbClr val="222222"/>
                </a:solidFill>
                <a:latin typeface="Calibri"/>
              </a:defRPr>
            </a:pPr>
            <a:r>
              <a:rPr sz="1800" b="0">
                <a:solidFill>
                  <a:srgbClr val="222222"/>
                </a:solidFill>
                <a:latin typeface="Calibri"/>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Feed it 0..255 for one full turn, get 0..255 back with 128 as the midpoint. No angles in degrees, no floating point in the caller.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the phase comes from the clock rather than from a counter:</a:t>
            </a:r>
          </a:p>
          <a:p>
            <a:pPr lvl="1" algn="l">
              <a:lnSpc>
                <a:spcPct val="100000"/>
              </a:lnSpc>
              <a:spcAft>
                <a:spcPts val="9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Deriving the phase from millis() rather than incrementing a variable means the animation runs at the same speed no matter how often the function gets called, and it cannot drift.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9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9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9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9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900"/>
              </a:spcAft>
              <a:defRPr sz="1800" b="0">
                <a:solidFill>
                  <a:srgbClr val="222222"/>
                </a:solidFill>
                <a:latin typeface="Calibri"/>
              </a:defRPr>
            </a:pPr>
            <a:r>
              <a:rPr sz="1800" b="0">
                <a:solidFill>
                  <a:srgbClr val="222222"/>
                </a:solidFill>
                <a:latin typeface="Calibri"/>
              </a:rPr>
              <a:t>5.  Add a console command to enter and leave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Six booleans give how many combinations? One six-value enum?</a:t>
            </a:r>
          </a:p>
          <a:p>
            <a:pPr algn="l">
              <a:lnSpc>
                <a:spcPct val="100000"/>
              </a:lnSpc>
              <a:spcAft>
                <a:spcPts val="1000"/>
              </a:spcAft>
              <a:defRPr sz="1800" b="0">
                <a:solidFill>
                  <a:srgbClr val="222222"/>
                </a:solidFill>
                <a:latin typeface="Calibri"/>
              </a:defRPr>
            </a:pPr>
            <a:r>
              <a:rPr sz="1800" b="0">
                <a:solidFill>
                  <a:srgbClr val="222222"/>
                </a:solidFill>
                <a:latin typeface="Calibri"/>
              </a:rPr>
              <a:t>2.  Write the three-line non-blocking animation pattern.</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dirty flag, and roughly what did it save on this vehicle?</a:t>
            </a:r>
          </a:p>
          <a:p>
            <a:pPr algn="l">
              <a:lnSpc>
                <a:spcPct val="100000"/>
              </a:lnSpc>
              <a:spcAft>
                <a:spcPts val="1000"/>
              </a:spcAft>
              <a:defRPr sz="1800" b="0">
                <a:solidFill>
                  <a:srgbClr val="222222"/>
                </a:solidFill>
                <a:latin typeface="Calibri"/>
              </a:defRPr>
            </a:pPr>
            <a:r>
              <a:rPr sz="1800" b="0">
                <a:solidFill>
                  <a:srgbClr val="222222"/>
                </a:solidFill>
                <a:latin typeface="Calibri"/>
              </a:rPr>
              <a:t>4.  Why can Op 12 not use FastLED?</a:t>
            </a:r>
          </a:p>
          <a:p>
            <a:pPr algn="l">
              <a:lnSpc>
                <a:spcPct val="100000"/>
              </a:lnSpc>
              <a:spcAft>
                <a:spcPts val="1000"/>
              </a:spcAft>
              <a:defRPr sz="1800" b="0">
                <a:solidFill>
                  <a:srgbClr val="222222"/>
                </a:solidFill>
                <a:latin typeface="Calibri"/>
              </a:defRPr>
            </a:pPr>
            <a:r>
              <a:rPr sz="1800" b="0">
                <a:solidFill>
                  <a:srgbClr val="222222"/>
                </a:solidFill>
                <a:latin typeface="Calibri"/>
              </a:rPr>
              <a:t>5.  Why does each turn-signal frame repaint the headlights?</a:t>
            </a:r>
          </a:p>
          <a:p>
            <a:pPr algn="l">
              <a:lnSpc>
                <a:spcPct val="100000"/>
              </a:lnSpc>
              <a:spcAft>
                <a:spcPts val="1000"/>
              </a:spcAft>
              <a:defRPr sz="1800" b="0">
                <a:solidFill>
                  <a:srgbClr val="222222"/>
                </a:solidFill>
                <a:latin typeface="Calibri"/>
              </a:defRPr>
            </a:pPr>
            <a:r>
              <a:rPr sz="1800" b="0">
                <a:solidFill>
                  <a:srgbClr val="222222"/>
                </a:solidFill>
                <a:latin typeface="Calibri"/>
              </a:rPr>
              <a:t>6.  Why does the front index count down for a LEFT signal?</a:t>
            </a:r>
          </a:p>
          <a:p>
            <a:pPr algn="l">
              <a:lnSpc>
                <a:spcPct val="100000"/>
              </a:lnSpc>
              <a:spcAft>
                <a:spcPts val="1000"/>
              </a:spcAft>
              <a:defRPr sz="1800" b="0">
                <a:solidFill>
                  <a:srgbClr val="222222"/>
                </a:solidFill>
                <a:latin typeface="Calibri"/>
              </a:defRPr>
            </a:pPr>
            <a:r>
              <a:rPr sz="1800" b="0">
                <a:solidFill>
                  <a:srgbClr val="222222"/>
                </a:solidFill>
                <a:latin typeface="Calibri"/>
              </a:rPr>
              <a:t>7.  Why does the turn signal finish its cycles instead of stopping when the D-pad is released?</a:t>
            </a:r>
          </a:p>
          <a:p>
            <a:pPr algn="l">
              <a:lnSpc>
                <a:spcPct val="100000"/>
              </a:lnSpc>
              <a:spcAft>
                <a:spcPts val="1000"/>
              </a:spcAft>
              <a:defRPr sz="1800" b="0">
                <a:solidFill>
                  <a:srgbClr val="222222"/>
                </a:solidFill>
                <a:latin typeface="Calibri"/>
              </a:defRPr>
            </a:pPr>
            <a:r>
              <a:rPr sz="18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