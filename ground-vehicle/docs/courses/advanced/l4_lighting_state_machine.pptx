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lvl="1" algn="l">
              <a:lnSpc>
                <a:spcPct val="100000"/>
              </a:lnSpc>
              <a:spcAft>
                <a:spcPts val="5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5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500"/>
              </a:spcAft>
              <a:defRPr sz="1800" b="0">
                <a:solidFill>
                  <a:srgbClr val="222222"/>
                </a:solidFill>
                <a:latin typeface="Calibri"/>
              </a:defRPr>
            </a:pPr>
            <a:r>
              <a:rPr sz="1800" b="0">
                <a:solidFill>
                  <a:srgbClr val="222222"/>
                </a:solidFill>
                <a:latin typeface="Calibri"/>
              </a:rPr>
              <a:t>// ...draw one frame...</a:t>
            </a:r>
          </a:p>
          <a:p>
            <a:pPr algn="l">
              <a:lnSpc>
                <a:spcPct val="100000"/>
              </a:lnSpc>
              <a:spcAft>
                <a:spcPts val="5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once.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did the opposite: a pattern with delay() in it froze the vehicle for two seconds, still holding the last motor command. A vehicle that keeps driving while it ignores you is not a cosmetic problem.</a:t>
            </a: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is the startup light show, because nothing else needs to happen yet.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2239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492239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5882518" y="1188720"/>
            <a:ext cx="580625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5882518" y="1700784"/>
            <a:ext cx="580625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436181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a sine</a:t>
            </a:r>
          </a:p>
        </p:txBody>
      </p:sp>
      <p:sp>
        <p:nvSpPr>
          <p:cNvPr id="7" name="TextBox 6"/>
          <p:cNvSpPr txBox="1"/>
          <p:nvPr/>
        </p:nvSpPr>
        <p:spPr>
          <a:xfrm>
            <a:off x="502920" y="1700784"/>
            <a:ext cx="4361816"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pairing animation fades the whole strip up and down. A straight-line fade looks wrong: it hovers at the ends and rushes through the middle.</a:t>
            </a:r>
          </a:p>
          <a:p>
            <a:pPr algn="l">
              <a:lnSpc>
                <a:spcPct val="100000"/>
              </a:lnSpc>
              <a:spcAft>
                <a:spcPts val="800"/>
              </a:spcAft>
              <a:defRPr sz="1800" b="0">
                <a:solidFill>
                  <a:srgbClr val="222222"/>
                </a:solidFill>
                <a:latin typeface="Calibri"/>
              </a:defRPr>
            </a:pPr>
            <a:r>
              <a:rPr sz="1800" b="0">
                <a:solidFill>
                  <a:srgbClr val="222222"/>
                </a:solidFill>
                <a:latin typeface="Calibri"/>
              </a:rPr>
              <a:t>A sine looks natural because it slows at the extremes - the same perception argument as the color lesson.</a:t>
            </a:r>
          </a:p>
          <a:p>
            <a:pPr algn="l">
              <a:lnSpc>
                <a:spcPct val="100000"/>
              </a:lnSpc>
              <a:spcAft>
                <a:spcPts val="800"/>
              </a:spcAft>
              <a:defRPr sz="1800" b="0">
                <a:solidFill>
                  <a:srgbClr val="222222"/>
                </a:solidFill>
                <a:latin typeface="Calibri"/>
              </a:defRPr>
            </a:pPr>
            <a:r>
              <a:rPr sz="1800" b="0">
                <a:solidFill>
                  <a:srgbClr val="222222"/>
                </a:solidFill>
                <a:latin typeface="Calibri"/>
              </a:rPr>
              <a:t>FastLED gave 11.2 a sin8(). Op 12 writes its own, so the library is not needed for one function.</a:t>
            </a:r>
          </a:p>
        </p:txBody>
      </p:sp>
      <p:sp>
        <p:nvSpPr>
          <p:cNvPr id="8" name="TextBox 7"/>
          <p:cNvSpPr txBox="1"/>
          <p:nvPr/>
        </p:nvSpPr>
        <p:spPr>
          <a:xfrm>
            <a:off x="5321936" y="1188720"/>
            <a:ext cx="6366839"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it is written</a:t>
            </a:r>
          </a:p>
        </p:txBody>
      </p:sp>
      <p:sp>
        <p:nvSpPr>
          <p:cNvPr id="9" name="TextBox 8"/>
          <p:cNvSpPr txBox="1"/>
          <p:nvPr/>
        </p:nvSpPr>
        <p:spPr>
          <a:xfrm>
            <a:off x="5321936" y="1700784"/>
            <a:ext cx="6366839" cy="3474720"/>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4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4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400"/>
              </a:spcAft>
              <a:defRPr sz="1800" b="0">
                <a:solidFill>
                  <a:srgbClr val="222222"/>
                </a:solidFill>
                <a:latin typeface="Calibri"/>
              </a:defRPr>
            </a:pPr>
            <a:r>
              <a:rPr sz="1800" b="0">
                <a:solidFill>
                  <a:srgbClr val="222222"/>
                </a:solidFill>
                <a:latin typeface="Calibri"/>
              </a:rPr>
              <a:t>}</a:t>
            </a:r>
          </a:p>
          <a:p>
            <a:pPr algn="l">
              <a:lnSpc>
                <a:spcPct val="100000"/>
              </a:lnSpc>
              <a:spcAft>
                <a:spcPts val="400"/>
              </a:spcAft>
              <a:defRPr sz="1800" b="0">
                <a:solidFill>
                  <a:srgbClr val="222222"/>
                </a:solidFill>
                <a:latin typeface="Calibri"/>
              </a:defRPr>
            </a:pPr>
            <a:r>
              <a:rPr sz="1800" b="0">
                <a:solidFill>
                  <a:srgbClr val="222222"/>
                </a:solidFill>
                <a:latin typeface="Calibri"/>
              </a:rPr>
              <a:t>0..255 in for one full turn, 0..255 out with 128 as the midpoint. No degrees, no floating point in the caller.</a:t>
            </a:r>
          </a:p>
          <a:p>
            <a:pPr lvl="1" algn="l">
              <a:lnSpc>
                <a:spcPct val="100000"/>
              </a:lnSpc>
              <a:spcAft>
                <a:spcPts val="4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400"/>
              </a:spcAft>
              <a:defRPr sz="1800" b="0">
                <a:solidFill>
                  <a:srgbClr val="222222"/>
                </a:solidFill>
                <a:latin typeface="Calibri"/>
              </a:defRPr>
            </a:pPr>
            <a:r>
              <a:rPr sz="1800" b="0">
                <a:solidFill>
                  <a:srgbClr val="222222"/>
                </a:solidFill>
                <a:latin typeface="Calibri"/>
              </a:rPr>
              <a:t>Phase from the clock, not from a counter, so it runs at the same speed however often it is called.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