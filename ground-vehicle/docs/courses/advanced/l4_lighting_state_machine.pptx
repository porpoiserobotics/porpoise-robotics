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Suppose you track lighting with flags: lights_on, turning_left, turning_right, scanning, pairing, disconnected.</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Two things fall out:</a:t>
            </a:r>
          </a:p>
          <a:p>
            <a:pPr lvl="1" algn="l">
              <a:lnSpc>
                <a:spcPct val="100000"/>
              </a:lnSpc>
              <a:spcAft>
                <a:spcPts val="900"/>
              </a:spcAft>
              <a:defRPr sz="1900" b="0">
                <a:solidFill>
                  <a:srgbClr val="222222"/>
                </a:solidFill>
                <a:latin typeface="Calibri"/>
              </a:defRPr>
            </a:pPr>
            <a:r>
              <a:rPr sz="1900" b="0">
                <a:solidFill>
                  <a:srgbClr val="222222"/>
                </a:solidFill>
                <a:latin typeface="Calibri"/>
              </a:rPr>
              <a:t>Two modes can never be half-on at once, because there is one variable and it holds one value.</a:t>
            </a:r>
          </a:p>
          <a:p>
            <a:pPr lvl="1" algn="l">
              <a:lnSpc>
                <a:spcPct val="100000"/>
              </a:lnSpc>
              <a:spcAft>
                <a:spcPts val="900"/>
              </a:spcAft>
              <a:defRPr sz="1900" b="0">
                <a:solidFill>
                  <a:srgbClr val="222222"/>
                </a:solidFill>
                <a:latin typeface="Calibri"/>
              </a:defRPr>
            </a:pPr>
            <a:r>
              <a:rPr sz="1900" b="0">
                <a:solidFill>
                  <a:srgbClr val="222222"/>
                </a:solidFill>
                <a:latin typeface="Calibri"/>
              </a:rPr>
              <a:t>Adding a mode is one enum value and one branch - not a new combination to test against every existing flag.</a:t>
            </a:r>
          </a:p>
          <a:p>
            <a:pPr algn="l">
              <a:lnSpc>
                <a:spcPct val="100000"/>
              </a:lnSpc>
              <a:spcAft>
                <a:spcPts val="900"/>
              </a:spcAft>
              <a:defRPr sz="1900" b="0">
                <a:solidFill>
                  <a:srgbClr val="222222"/>
                </a:solidFill>
                <a:latin typeface="Calibri"/>
              </a:defRPr>
            </a:pPr>
          </a:p>
          <a:p>
            <a:pPr lvl="1" algn="l">
              <a:lnSpc>
                <a:spcPct val="100000"/>
              </a:lnSpc>
              <a:spcAft>
                <a:spcPts val="900"/>
              </a:spcAft>
              <a:defRPr sz="1900" b="0">
                <a:solidFill>
                  <a:srgbClr val="222222"/>
                </a:solidFill>
                <a:latin typeface="Calibri"/>
              </a:defRPr>
            </a:pPr>
            <a:r>
              <a:rPr sz="1900" b="0">
                <a:solidFill>
                  <a:srgbClr val="222222"/>
                </a:solidFill>
                <a:latin typeface="Calibri"/>
              </a:rPr>
              <a:t>enum LEDMode { DISCONNECTED, STANDBY, TURN_LEFT, TURN_RIGHT,</a:t>
            </a:r>
          </a:p>
          <a:p>
            <a:pPr lvl="1" algn="l">
              <a:lnSpc>
                <a:spcPct val="100000"/>
              </a:lnSpc>
              <a:spcAft>
                <a:spcPts val="900"/>
              </a:spcAft>
              <a:defRPr sz="1900" b="0">
                <a:solidFill>
                  <a:srgbClr val="222222"/>
                </a:solidFill>
                <a:latin typeface="Calibri"/>
              </a:defRPr>
            </a:pPr>
            <a:r>
              <a:rPr sz="19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Not one animation function in Op 12 calls delay(). Each checks the clock, returns immediately if it is not time, and draws exactly ONE frame when it is:</a:t>
            </a:r>
          </a:p>
          <a:p>
            <a:pPr algn="l">
              <a:lnSpc>
                <a:spcPct val="100000"/>
              </a:lnSpc>
              <a:spcAft>
                <a:spcPts val="600"/>
              </a:spcAft>
              <a:defRPr sz="2500" b="0">
                <a:solidFill>
                  <a:srgbClr val="222222"/>
                </a:solidFill>
                <a:latin typeface="Calibri"/>
              </a:defRPr>
            </a:pPr>
          </a:p>
          <a:p>
            <a:pPr lvl="1" algn="l">
              <a:lnSpc>
                <a:spcPct val="100000"/>
              </a:lnSpc>
              <a:spcAft>
                <a:spcPts val="600"/>
              </a:spcAft>
              <a:defRPr sz="2500" b="0">
                <a:solidFill>
                  <a:srgbClr val="222222"/>
                </a:solidFill>
                <a:latin typeface="Calibri"/>
              </a:defRPr>
            </a:pPr>
            <a:r>
              <a:rPr sz="2500" b="0">
                <a:solidFill>
                  <a:srgbClr val="222222"/>
                </a:solidFill>
                <a:latin typeface="Calibri"/>
              </a:rPr>
              <a:t>if (now - last_update &lt; INTERVAL) return;</a:t>
            </a:r>
          </a:p>
          <a:p>
            <a:pPr lvl="1" algn="l">
              <a:lnSpc>
                <a:spcPct val="100000"/>
              </a:lnSpc>
              <a:spcAft>
                <a:spcPts val="600"/>
              </a:spcAft>
              <a:defRPr sz="2500" b="0">
                <a:solidFill>
                  <a:srgbClr val="222222"/>
                </a:solidFill>
                <a:latin typeface="Calibri"/>
              </a:defRPr>
            </a:pPr>
            <a:r>
              <a:rPr sz="2500" b="0">
                <a:solidFill>
                  <a:srgbClr val="222222"/>
                </a:solidFill>
                <a:latin typeface="Calibri"/>
              </a:rPr>
              <a:t>last_update = now;</a:t>
            </a:r>
          </a:p>
          <a:p>
            <a:pPr lvl="1" algn="l">
              <a:lnSpc>
                <a:spcPct val="100000"/>
              </a:lnSpc>
              <a:spcAft>
                <a:spcPts val="600"/>
              </a:spcAft>
              <a:defRPr sz="2500" b="0">
                <a:solidFill>
                  <a:srgbClr val="222222"/>
                </a:solidFill>
                <a:latin typeface="Calibri"/>
              </a:defRPr>
            </a:pPr>
            <a:r>
              <a:rPr sz="2500" b="0">
                <a:solidFill>
                  <a:srgbClr val="222222"/>
                </a:solidFill>
                <a:latin typeface="Calibri"/>
              </a:rPr>
              <a:t>// ...draw one frame...</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That is what lets the vehicle drive, read its controller, watch its current and animate all at the same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old System Test program did the opposite: a light pattern with delay() in it froze the vehicle for two seconds, still holding whatever motor command was last set. A vehicle that keeps driving while it ignores you is not a cosmetic problem.</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one legitimate delay() in the whole program is the startup light show, because nothing else needs to happen yet.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Why that turned out to be a good thing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The strip is one loop, so the two halves of each side run in OPPOSITE directions and the arithmetic is not symmetric:</a:t>
            </a:r>
          </a:p>
          <a:p>
            <a:pPr lvl="1" algn="l">
              <a:lnSpc>
                <a:spcPct val="100000"/>
              </a:lnSpc>
              <a:spcAft>
                <a:spcPts val="600"/>
              </a:spcAft>
              <a:defRPr sz="2100" b="0">
                <a:solidFill>
                  <a:srgbClr val="222222"/>
                </a:solidFill>
                <a:latin typeface="Calibri"/>
              </a:defRPr>
            </a:pPr>
            <a:r>
              <a:rPr sz="2100" b="0">
                <a:solidFill>
                  <a:srgbClr val="222222"/>
                </a:solidFill>
                <a:latin typeface="Calibri"/>
              </a:rPr>
              <a:t>front, left to right :   0 .. 15    left half 0-7,  right half 8-15</a:t>
            </a:r>
          </a:p>
          <a:p>
            <a:pPr lvl="1" algn="l">
              <a:lnSpc>
                <a:spcPct val="100000"/>
              </a:lnSpc>
              <a:spcAft>
                <a:spcPts val="600"/>
              </a:spcAft>
              <a:defRPr sz="2100" b="0">
                <a:solidFill>
                  <a:srgbClr val="222222"/>
                </a:solidFill>
                <a:latin typeface="Calibri"/>
              </a:defRPr>
            </a:pPr>
            <a:r>
              <a:rPr sz="2100" b="0">
                <a:solidFill>
                  <a:srgbClr val="222222"/>
                </a:solidFill>
                <a:latin typeface="Calibri"/>
              </a:rPr>
              <a:t>rear,  right to left :  16 .. 31    right half 16-23, left half 24-31</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bar has to grow OUTWARD from the center of the vehicle toward the corner that is turning, on both bars at once.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LEFT signal:</a:t>
            </a:r>
          </a:p>
          <a:p>
            <a:pPr lvl="1" algn="l">
              <a:lnSpc>
                <a:spcPct val="100000"/>
              </a:lnSpc>
              <a:spcAft>
                <a:spcPts val="600"/>
              </a:spcAft>
              <a:defRPr sz="2100" b="0">
                <a:solidFill>
                  <a:srgbClr val="222222"/>
                </a:solidFill>
                <a:latin typeface="Calibri"/>
              </a:defRPr>
            </a:pPr>
            <a:r>
              <a:rPr sz="2100" b="0">
                <a:solidFill>
                  <a:srgbClr val="222222"/>
                </a:solidFill>
                <a:latin typeface="Calibri"/>
              </a:rPr>
              <a:t>front:  RIGHT_FRONT_START - 1 - i      (counts DOWN from 7)</a:t>
            </a:r>
          </a:p>
          <a:p>
            <a:pPr lvl="1" algn="l">
              <a:lnSpc>
                <a:spcPct val="100000"/>
              </a:lnSpc>
              <a:spcAft>
                <a:spcPts val="600"/>
              </a:spcAft>
              <a:defRPr sz="2100" b="0">
                <a:solidFill>
                  <a:srgbClr val="222222"/>
                </a:solidFill>
                <a:latin typeface="Calibri"/>
              </a:defRPr>
            </a:pPr>
            <a:r>
              <a:rPr sz="2100" b="0">
                <a:solidFill>
                  <a:srgbClr val="222222"/>
                </a:solidFill>
                <a:latin typeface="Calibri"/>
              </a:rPr>
              <a:t>rear:   LEFT_REAR_START + i            (counts UP from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Turn signal geometry, which is the genuinely hard part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RIGHT signal:</a:t>
            </a:r>
          </a:p>
          <a:p>
            <a:pPr lvl="1" algn="l">
              <a:lnSpc>
                <a:spcPct val="100000"/>
              </a:lnSpc>
              <a:spcAft>
                <a:spcPts val="900"/>
              </a:spcAft>
              <a:defRPr sz="3000" b="0">
                <a:solidFill>
                  <a:srgbClr val="222222"/>
                </a:solidFill>
                <a:latin typeface="Calibri"/>
              </a:defRPr>
            </a:pPr>
            <a:r>
              <a:rPr sz="3000" b="0">
                <a:solidFill>
                  <a:srgbClr val="222222"/>
                </a:solidFill>
                <a:latin typeface="Calibri"/>
              </a:rPr>
              <a:t>front:  RIGHT_FRONT_START + i          (counts UP from 8)</a:t>
            </a:r>
          </a:p>
          <a:p>
            <a:pPr lvl="1" algn="l">
              <a:lnSpc>
                <a:spcPct val="100000"/>
              </a:lnSpc>
              <a:spcAft>
                <a:spcPts val="900"/>
              </a:spcAft>
              <a:defRPr sz="3000" b="0">
                <a:solidFill>
                  <a:srgbClr val="222222"/>
                </a:solidFill>
                <a:latin typeface="Calibri"/>
              </a:defRPr>
            </a:pPr>
            <a:r>
              <a:rPr sz="3000" b="0">
                <a:solidFill>
                  <a:srgbClr val="222222"/>
                </a:solidFill>
                <a:latin typeface="Calibri"/>
              </a:rPr>
              <a:t>rear:   LEFT_REAR_START - 1 - i        (counts DOWN from 23)</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Do not try to derive this. Step through it and read the indices.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the fade is a sine and not a ramp</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The pairing animation fades the whole strip up and down smoothly. Doing that with a straight line looks wrong - it appears to hover at the ends and rush through the middle.</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A sine wave is what looks natural, because it slows at the extremes. FastLED gave 11.2 a sin8() for this. Op 12 writes it out:</a:t>
            </a:r>
          </a:p>
          <a:p>
            <a:pPr lvl="1" algn="l">
              <a:lnSpc>
                <a:spcPct val="100000"/>
              </a:lnSpc>
              <a:spcAft>
                <a:spcPts val="600"/>
              </a:spcAft>
              <a:defRPr sz="2500" b="0">
                <a:solidFill>
                  <a:srgbClr val="222222"/>
                </a:solidFill>
                <a:latin typeface="Calibri"/>
              </a:defRPr>
            </a:pPr>
            <a:r>
              <a:rPr sz="2500" b="0">
                <a:solidFill>
                  <a:srgbClr val="222222"/>
                </a:solidFill>
                <a:latin typeface="Calibri"/>
              </a:rPr>
              <a:t>uint8_t sine8(uint8_t theta) {</a:t>
            </a:r>
          </a:p>
          <a:p>
            <a:pPr lvl="1" algn="l">
              <a:lnSpc>
                <a:spcPct val="100000"/>
              </a:lnSpc>
              <a:spcAft>
                <a:spcPts val="600"/>
              </a:spcAft>
              <a:defRPr sz="2500" b="0">
                <a:solidFill>
                  <a:srgbClr val="222222"/>
                </a:solidFill>
                <a:latin typeface="Calibri"/>
              </a:defRPr>
            </a:pPr>
            <a:r>
              <a:rPr sz="2500" b="0">
                <a:solidFill>
                  <a:srgbClr val="222222"/>
                </a:solidFill>
                <a:latin typeface="Calibri"/>
              </a:rPr>
              <a:t>  float radians = (theta / 256.0f) * 2.0f * PI;</a:t>
            </a:r>
          </a:p>
          <a:p>
            <a:pPr lvl="1" algn="l">
              <a:lnSpc>
                <a:spcPct val="100000"/>
              </a:lnSpc>
              <a:spcAft>
                <a:spcPts val="600"/>
              </a:spcAft>
              <a:defRPr sz="2500" b="0">
                <a:solidFill>
                  <a:srgbClr val="222222"/>
                </a:solidFill>
                <a:latin typeface="Calibri"/>
              </a:defRPr>
            </a:pPr>
            <a:r>
              <a:rPr sz="2500" b="0">
                <a:solidFill>
                  <a:srgbClr val="222222"/>
                </a:solidFill>
                <a:latin typeface="Calibri"/>
              </a:rPr>
              <a:t>  return (uint8_t)(128.0f + 127.0f * sinf(radians));</a:t>
            </a:r>
          </a:p>
          <a:p>
            <a:pPr lvl="1" algn="l">
              <a:lnSpc>
                <a:spcPct val="100000"/>
              </a:lnSpc>
              <a:spcAft>
                <a:spcPts val="600"/>
              </a:spcAft>
              <a:defRPr sz="2500" b="0">
                <a:solidFill>
                  <a:srgbClr val="222222"/>
                </a:solidFill>
                <a:latin typeface="Calibri"/>
              </a:defRPr>
            </a:pPr>
            <a:r>
              <a:rPr sz="2500" b="0">
                <a:solidFill>
                  <a:srgbClr val="222222"/>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Feed it 0..255 for one full turn, get 0..255 back with 128 as the midpoint. No angles in degrees, no floating point in the caller.</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Then the phase comes from the clock rather than from a counter:</a:t>
            </a:r>
          </a:p>
          <a:p>
            <a:pPr lvl="1" algn="l">
              <a:lnSpc>
                <a:spcPct val="100000"/>
              </a:lnSpc>
              <a:spcAft>
                <a:spcPts val="600"/>
              </a:spcAft>
              <a:defRPr sz="2100" b="0">
                <a:solidFill>
                  <a:srgbClr val="222222"/>
                </a:solidFill>
                <a:latin typeface="Calibri"/>
              </a:defRPr>
            </a:pPr>
            <a:r>
              <a:rPr sz="2100" b="0">
                <a:solidFill>
                  <a:srgbClr val="222222"/>
                </a:solidFill>
                <a:latin typeface="Calibri"/>
              </a:rPr>
              <a:t>phase = (now % BREATHE_PERIOD_MS) * 255 / BREATHE_PERIOD_MS;</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Deriving the phase from millis() rather than incrementing a variable means the animation runs at the same speed no matter how often the function gets called, and it cannot drift.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Add a HAZARD mode to a4a_led_state_machine: all four corners flashing amber together, running until it is switched off.</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Do it the way the program is built:</a:t>
            </a:r>
          </a:p>
          <a:p>
            <a:pPr lvl="1" algn="l">
              <a:lnSpc>
                <a:spcPct val="100000"/>
              </a:lnSpc>
              <a:spcAft>
                <a:spcPts val="600"/>
              </a:spcAft>
              <a:defRPr sz="2400" b="0">
                <a:solidFill>
                  <a:srgbClr val="222222"/>
                </a:solidFill>
                <a:latin typeface="Calibri"/>
              </a:defRPr>
            </a:pPr>
            <a:r>
              <a:rPr sz="2400" b="0">
                <a:solidFill>
                  <a:srgbClr val="222222"/>
                </a:solidFill>
                <a:latin typeface="Calibri"/>
              </a:rPr>
              <a:t>1.  Add HAZARD to the LEDMode enum.</a:t>
            </a:r>
          </a:p>
          <a:p>
            <a:pPr lvl="1" algn="l">
              <a:lnSpc>
                <a:spcPct val="100000"/>
              </a:lnSpc>
              <a:spcAft>
                <a:spcPts val="600"/>
              </a:spcAft>
              <a:defRPr sz="2400" b="0">
                <a:solidFill>
                  <a:srgbClr val="222222"/>
                </a:solidFill>
                <a:latin typeface="Calibri"/>
              </a:defRPr>
            </a:pPr>
            <a:r>
              <a:rPr sz="2400" b="0">
                <a:solidFill>
                  <a:srgbClr val="222222"/>
                </a:solidFill>
                <a:latin typeface="Calibri"/>
              </a:rPr>
              <a:t>2.  Add its timing constants to the configuration block at the top - not buried in the function.</a:t>
            </a:r>
          </a:p>
          <a:p>
            <a:pPr lvl="1" algn="l">
              <a:lnSpc>
                <a:spcPct val="100000"/>
              </a:lnSpc>
              <a:spcAft>
                <a:spcPts val="600"/>
              </a:spcAft>
              <a:defRPr sz="2400" b="0">
                <a:solidFill>
                  <a:srgbClr val="222222"/>
                </a:solidFill>
                <a:latin typeface="Calibri"/>
              </a:defRPr>
            </a:pPr>
            <a:r>
              <a:rPr sz="2400" b="0">
                <a:solidFill>
                  <a:srgbClr val="222222"/>
                </a:solidFill>
                <a:latin typeface="Calibri"/>
              </a:rPr>
              <a:t>3.  Write update_hazard(now) so it draws ONE frame and returns.</a:t>
            </a:r>
          </a:p>
          <a:p>
            <a:pPr lvl="1" algn="l">
              <a:lnSpc>
                <a:spcPct val="100000"/>
              </a:lnSpc>
              <a:spcAft>
                <a:spcPts val="600"/>
              </a:spcAft>
              <a:defRPr sz="2400" b="0">
                <a:solidFill>
                  <a:srgbClr val="222222"/>
                </a:solidFill>
                <a:latin typeface="Calibri"/>
              </a:defRPr>
            </a:pPr>
            <a:r>
              <a:rPr sz="2400" b="0">
                <a:solidFill>
                  <a:srgbClr val="222222"/>
                </a:solidFill>
                <a:latin typeface="Calibri"/>
              </a:rPr>
              <a:t>4.  Add one branch to the state machine.</a:t>
            </a:r>
          </a:p>
          <a:p>
            <a:pPr lvl="1" algn="l">
              <a:lnSpc>
                <a:spcPct val="100000"/>
              </a:lnSpc>
              <a:spcAft>
                <a:spcPts val="600"/>
              </a:spcAft>
              <a:defRPr sz="2400" b="0">
                <a:solidFill>
                  <a:srgbClr val="222222"/>
                </a:solidFill>
                <a:latin typeface="Calibri"/>
              </a:defRPr>
            </a:pPr>
            <a:r>
              <a:rPr sz="2400" b="0">
                <a:solidFill>
                  <a:srgbClr val="222222"/>
                </a:solidFill>
                <a:latin typeface="Calibri"/>
              </a:rPr>
              <a:t>5.  Add a console command to enter and leave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Then answer these:</a:t>
            </a:r>
          </a:p>
          <a:p>
            <a:pPr lvl="1" algn="l">
              <a:lnSpc>
                <a:spcPct val="100000"/>
              </a:lnSpc>
              <a:spcAft>
                <a:spcPts val="600"/>
              </a:spcAft>
              <a:defRPr sz="2700" b="0">
                <a:solidFill>
                  <a:srgbClr val="222222"/>
                </a:solidFill>
                <a:latin typeface="Calibri"/>
              </a:defRPr>
            </a:pPr>
            <a:r>
              <a:rPr sz="2700" b="0">
                <a:solidFill>
                  <a:srgbClr val="222222"/>
                </a:solidFill>
                <a:latin typeface="Calibri"/>
              </a:rPr>
              <a:t>How many existing lines did you have to change?</a:t>
            </a:r>
          </a:p>
          <a:p>
            <a:pPr lvl="1" algn="l">
              <a:lnSpc>
                <a:spcPct val="100000"/>
              </a:lnSpc>
              <a:spcAft>
                <a:spcPts val="600"/>
              </a:spcAft>
              <a:defRPr sz="2700" b="0">
                <a:solidFill>
                  <a:srgbClr val="222222"/>
                </a:solidFill>
                <a:latin typeface="Calibri"/>
              </a:defRPr>
            </a:pPr>
            <a:r>
              <a:rPr sz="2700" b="0">
                <a:solidFill>
                  <a:srgbClr val="222222"/>
                </a:solidFill>
                <a:latin typeface="Calibri"/>
              </a:rPr>
              <a:t>Could HAZARD and TURN_LEFT ever be on at the same time? Why not?</a:t>
            </a:r>
          </a:p>
          <a:p>
            <a:pPr lvl="1" algn="l">
              <a:lnSpc>
                <a:spcPct val="100000"/>
              </a:lnSpc>
              <a:spcAft>
                <a:spcPts val="600"/>
              </a:spcAft>
              <a:defRPr sz="2700" b="0">
                <a:solidFill>
                  <a:srgbClr val="222222"/>
                </a:solidFill>
                <a:latin typeface="Calibri"/>
              </a:defRPr>
            </a:pPr>
            <a:r>
              <a:rPr sz="2700" b="0">
                <a:solidFill>
                  <a:srgbClr val="222222"/>
                </a:solidFill>
                <a:latin typeface="Calibri"/>
              </a:rPr>
              <a:t>What does  load  say while it is running?</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