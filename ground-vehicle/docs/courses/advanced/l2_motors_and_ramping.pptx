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Motors, Resolution and Ramping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Resolution against frequency, four states of an H-bridge, fast decay, and a ramp that used to stall one count short.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224528"/>
            <a:ext cx="64922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Porpoise Robotics  -  porpoiserobotics.org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Kevin P. Bowen, President  -  kbowen6@icloud.com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Three hours.  Wheels off the ground throughout.</a:t>
            </a:r>
          </a:p>
        </p:txBody>
      </p:sp>
      <p:pic>
        <p:nvPicPr>
          <p:cNvPr id="7" name="Picture 6" descr="vehicle-rear-batte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371600"/>
            <a:ext cx="4480560" cy="323313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2686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Recap. The LEDC peripheral and what it can actually do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0:25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Resolution against frequency. Upload a2a_pwm_resolution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Break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Coast, brake, and the two decay modes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1:40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Upload a2b_coast_brake_hybrid. Feel the difference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Speed ramping, and the truncation bug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2:30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remap_axis: deadzone, scale, and per-axis tuning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2:45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Four servos on one thumbstick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LEDC peripheral, and the trade you cannot avoid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Bits cost frequency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The ESP32 generates PWM in hardware. Sixteen channels, driven from an 80 MHz clock.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At N bits of resolution the duty range is 0 to 2^N - 1: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8 bits   -&gt;  0..255      256 steps    0.39% per step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10 bits  -&gt;  0..1023    1024 steps    0.098% per step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12 bits  -&gt;  0..4095    4096 steps    0.024% per step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More bits means finer control near the BOTTOM of the range, which is exactly where a motor is hardest to drive smoothly. On a vehicle that ramps its speed, that is the difference between a smooth start and a visible staircase.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It is not free. The counter has to run 2^N times per cycle: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F3A5F"/>
                </a:solidFill>
                <a:latin typeface="Calibri"/>
              </a:defRPr>
            </a:pPr>
            <a:r>
              <a:rPr sz="2700" b="1">
                <a:solidFill>
                  <a:srgbClr val="1F3A5F"/>
                </a:solidFill>
                <a:latin typeface="Calibri"/>
              </a:rPr>
              <a:t>The LEDC peripheral, and the trade you cannot avoid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max frequency = 80,000,000 / 2^bits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8 bits -&gt; 312 kHz     10 bits -&gt; 78 kHz     12 bits -&gt; 19.5 kHz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F3A5F"/>
                </a:solidFill>
                <a:latin typeface="Calibri"/>
              </a:defRPr>
            </a:pPr>
            <a:r>
              <a:rPr sz="2700" b="1">
                <a:solidFill>
                  <a:srgbClr val="1F3A5F"/>
                </a:solidFill>
                <a:latin typeface="Calibri"/>
              </a:rPr>
              <a:t>The LEDC peripheral, and the trade you cannot avoid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Op 12 runs 10 bits at 30 kHz. Inside the limit, above hearing, and four times the resolution of the beginner programs.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ledcSetup() returns the frequency it managed to configure, or 0 if the combination is impossible. Check it. Silence is otherwise very hard to debug.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resolution you can hear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a2a_pwm_resolution</a:t>
            </a:r>
            <a:r>
              <a:rPr sz="1200">
                <a:solidFill>
                  <a:srgbClr val="FFFFFF"/>
                </a:solidFill>
                <a:latin typeface="Calibri"/>
              </a:rPr>
              <a:t>     (35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3172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1.  Wheels off the ground. Upload. Type help.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2.  Run  step  at 8 bits. Watch the volts column and LISTEN at the very bottom of the range.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3.  bits 10, then  step  again. Compare.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4.  Try  bits 12  then  freq 30000. Read what the console tells you.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5.  Find the lowest  pct  at which the wheel turns at all. Is it the same at 8 bits and at 10?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6.  freq 300, listen, then freq 20000.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2207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duty value, a percentage, and an approximate voltage for each step of the sweep.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350672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3854196"/>
            <a:ext cx="5387187" cy="12207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Why does 12 bits at 30 kHz get refused?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Does more resolution change the lowest speed the motor will turn at, or only how finely you can approach it?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Wheels off the ground. This reaches full power.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H-bridge: four switches, four things a motor can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0">
                <a:solidFill>
                  <a:srgbClr val="222222"/>
                </a:solidFill>
                <a:latin typeface="Consolas"/>
              </a:defRPr>
            </a:pPr>
            <a:r>
              <a:rPr sz="1300" b="0">
                <a:solidFill>
                  <a:srgbClr val="222222"/>
                </a:solidFill>
                <a:latin typeface="Consolas"/>
              </a:rPr>
              <a:t>A high, B 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FORWARD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788920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driven one way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0">
                <a:solidFill>
                  <a:srgbClr val="222222"/>
                </a:solidFill>
                <a:latin typeface="Consolas"/>
              </a:defRPr>
            </a:pPr>
            <a:r>
              <a:rPr sz="1300" b="0">
                <a:solidFill>
                  <a:srgbClr val="222222"/>
                </a:solidFill>
                <a:latin typeface="Consolas"/>
              </a:rPr>
              <a:t>A low, B high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4992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REVERSE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4992" y="2788920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driven the other way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7064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0">
                <a:solidFill>
                  <a:srgbClr val="222222"/>
                </a:solidFill>
                <a:latin typeface="Consolas"/>
              </a:defRPr>
            </a:pPr>
            <a:r>
              <a:rPr sz="1300" b="0">
                <a:solidFill>
                  <a:srgbClr val="222222"/>
                </a:solidFill>
                <a:latin typeface="Consolas"/>
              </a:rPr>
              <a:t>both 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7064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E8ECF0"/>
          </a:solidFill>
          <a:ln w="1587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COAST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7064" y="2788920"/>
            <a:ext cx="2606040" cy="4457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terminals floating,</a:t>
            </a:r>
          </a:p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motor freewheels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89136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0">
                <a:solidFill>
                  <a:srgbClr val="222222"/>
                </a:solidFill>
                <a:latin typeface="Consolas"/>
              </a:defRPr>
            </a:pPr>
            <a:r>
              <a:rPr sz="1300" b="0">
                <a:solidFill>
                  <a:srgbClr val="222222"/>
                </a:solidFill>
                <a:latin typeface="Consolas"/>
              </a:rPr>
              <a:t>both high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89136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BRAKE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9136" y="2788920"/>
            <a:ext cx="2606040" cy="4457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terminals shorted,</a:t>
            </a:r>
          </a:p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motor stops hard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611880" y="3657600"/>
            <a:ext cx="58521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611880" y="5394960"/>
            <a:ext cx="58521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611880" y="3657600"/>
            <a:ext cx="0" cy="173736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464040" y="3657600"/>
            <a:ext cx="0" cy="173736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611880" y="4526280"/>
            <a:ext cx="21945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269480" y="4526280"/>
            <a:ext cx="21945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5806440" y="4206240"/>
            <a:ext cx="1463040" cy="6400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222222"/>
                </a:solidFill>
                <a:latin typeface="Calibri"/>
              </a:defRPr>
            </a:pPr>
            <a:r>
              <a:rPr sz="1300" b="1">
                <a:solidFill>
                  <a:srgbClr val="222222"/>
                </a:solidFill>
                <a:latin typeface="Calibri"/>
              </a:rPr>
              <a:t>MOTOR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0" y="4069080"/>
            <a:ext cx="914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1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IN1</a:t>
            </a:r>
            <a:br/>
            <a:r>
              <a:rPr sz="1200" b="1">
                <a:solidFill>
                  <a:srgbClr val="0E7C86"/>
                </a:solidFill>
                <a:latin typeface="Calibri"/>
              </a:rPr>
              <a:t>(pin 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55480" y="4069080"/>
            <a:ext cx="10058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IN2</a:t>
            </a:r>
            <a:br/>
            <a:r>
              <a:rPr sz="1200" b="1">
                <a:solidFill>
                  <a:srgbClr val="0E7C86"/>
                </a:solidFill>
                <a:latin typeface="Calibri"/>
              </a:rPr>
              <a:t>(pin B)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9320" y="3328416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1">
                <a:solidFill>
                  <a:srgbClr val="666666"/>
                </a:solidFill>
                <a:latin typeface="Calibri"/>
              </a:defRPr>
            </a:pPr>
            <a:r>
              <a:rPr sz="1100" b="1">
                <a:solidFill>
                  <a:srgbClr val="666666"/>
                </a:solidFill>
                <a:latin typeface="Calibri"/>
              </a:rPr>
              <a:t>+ 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89320" y="5449824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1">
                <a:solidFill>
                  <a:srgbClr val="666666"/>
                </a:solidFill>
                <a:latin typeface="Calibri"/>
              </a:defRPr>
            </a:pPr>
            <a:r>
              <a:rPr sz="1100" b="1">
                <a:solidFill>
                  <a:srgbClr val="666666"/>
                </a:solidFill>
                <a:latin typeface="Calibri"/>
              </a:rPr>
              <a:t>GND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Slow decay against fast decay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Sign-magnitude  (the beginner programs)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Pulse IN1 at the duty you want. Hold IN2 low.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The motor alternates between DRIVEN and COAST.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During the off part nothing controls the motor at all, so the current in the windings decays slowly and the actual speed depends heavily on the load.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Simple to read, and perfectly good for learning.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This is SLOW DECAY.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Hybrid drive  (Op Program 12)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645920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Hold IN1 HIGH. Pulse IN2 at the inverse of the duty.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The motor alternates between DRIVEN and BRAKE.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The braking part actively pulls the current down, so the average is much closer to what you asked for, and speed holds up under load.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Noticeably better control at low duty - exactly where you need it.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This is FAST DECAY.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Watch the zero case. In hybrid, duty 0 puts PWM_MAX on BOTH pins, which is a hard brake, not a coast. Op 12 tests for zero separately and calls coast_all(). Miss that and the vehicle will not roll when you let go.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Hybrid drive, and the trap in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900" b="1">
                <a:solidFill>
                  <a:srgbClr val="0E7C86"/>
                </a:solidFill>
                <a:latin typeface="Consolas"/>
              </a:defRPr>
            </a:pPr>
            <a:r>
              <a:rPr sz="900" b="1">
                <a:solidFill>
                  <a:srgbClr val="0E7C86"/>
                </a:solidFill>
                <a:latin typeface="Consolas"/>
              </a:rPr>
              <a:t>Motors.ino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void set_motor_hybrid(uint8_t in1_ch, uint8_t in2_ch, int duty)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duty = constrain(duty, -PWM_MAX, PWM_MAX);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if (duty == 0) {           // WITHOUT THIS, ZERO IS A BRAKE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  ledcWrite(in1_ch, 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  ledcWrite(in2_ch, 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  return;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int inverse = PWM_MAX - abs(duty);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if (duty &gt; 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ledcWrite(in1_ch, PWM_MAX);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ledcWrite(in2_ch, inverse);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} else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ledcWrite(in1_ch, inverse);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ledcWrite(in2_ch, PWM_MAX);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Full duty forward: IN1 = 1023, IN2 = 0. Driven hard.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Half duty forward: IN1 = 1023, IN2 = 512. Half driven, half braked.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Zero without the guard: IN1 = 1023, IN2 = 1023. Both high. That is a brake.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vehicle that will not coast, and cannot be pushed by hand when it is switched on, has this bug.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ramp, and the bug that hid in it for a year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900" b="1">
                <a:solidFill>
                  <a:srgbClr val="0E7C86"/>
                </a:solidFill>
                <a:latin typeface="Consolas"/>
              </a:defRPr>
            </a:pPr>
            <a:r>
              <a:rPr sz="900" b="1">
                <a:solidFill>
                  <a:srgbClr val="0E7C86"/>
                </a:solidFill>
                <a:latin typeface="Consolas"/>
              </a:rPr>
              <a:t>Motors.ino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666666"/>
                </a:solidFill>
                <a:latin typeface="Consolas"/>
              </a:rPr>
              <a:t>// Op 11.2 wrote this: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current += (target - current) * RAMP_FACTOR;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666666"/>
                </a:solidFill>
                <a:latin typeface="Consolas"/>
              </a:rPr>
              <a:t>// With RAMP_FACTOR = 0.5 and a gap of 1: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666666"/>
                </a:solidFill>
                <a:latin typeface="Consolas"/>
              </a:rPr>
              <a:t>//    1 * 0.5 = 0.5,  truncated to 0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666666"/>
                </a:solidFill>
                <a:latin typeface="Consolas"/>
              </a:rPr>
              <a:t>//    -&gt; current never changes again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666666"/>
                </a:solidFill>
                <a:latin typeface="Consolas"/>
              </a:rPr>
              <a:t>//    -&gt; the ramp stalls ONE COUNT short, forever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666666"/>
                </a:solidFill>
                <a:latin typeface="Consolas"/>
              </a:rPr>
              <a:t>// Op 12: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int ramp_towards(int current, int target)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int gap = target - current;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if (gap == 0) return current;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int step = (int)(gap * RAMP_FACTOR);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if (step == 0) step = (gap &gt; 0) ? 1 : -1;   // the fix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return current + step;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Ramping stops the vehicle lurching and stops it yanking a large current out of the battery on every stick movement.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Closing a FRACTION of the gap each step gives a smooth exponential approach - fast at first, gentle at the end.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bug is invisible. One count out of 1023 is 0.1% of full power. Nobody would ever see it on a wheel.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It matters because comparisons against the target then never become true, and anything waiting for "ramp finished" waits forever.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decay modes and ramping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a2b_coast_brake_hybrid</a:t>
            </a:r>
            <a:r>
              <a:rPr sz="1200">
                <a:solidFill>
                  <a:srgbClr val="FFFFFF"/>
                </a:solidFill>
                <a:latin typeface="Calibri"/>
              </a:rPr>
              <a:t>     (35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3172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1.  sign, then  go 100. Now pinch the tyre gently.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2.  hybrid, then  go 100. Pinch it again. Which holds its speed?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3.  Find the lowest  go  value that turns the wheel in each mode.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4.  ramp off, then  go 1023  from a standstill. Then  ramp on  and do it again. Listen to the difference.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5.  Set RAMP_FACTOR to 0.9, then 0.1. What does it change?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6.  DELETE the minimum-step line in ramp_towards, upload, and run go 500. Watch where the printout stops.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2207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Step 6: the ramp prints its way down to one count short of the target and then stops printing.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350672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3854196"/>
            <a:ext cx="5387187" cy="12207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Why does fast decay hold speed better under load?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Why would a 0.1% speed error still be a real bug?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Wheels off the ground. One motor, up to full power.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Pulse width modulation: how a pin makes a half speed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35608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1">
                <a:solidFill>
                  <a:srgbClr val="1F3A5F"/>
                </a:solidFill>
                <a:latin typeface="Calibri"/>
              </a:defRPr>
            </a:pPr>
            <a:r>
              <a:rPr sz="1100" b="1">
                <a:solidFill>
                  <a:srgbClr val="1F3A5F"/>
                </a:solidFill>
                <a:latin typeface="Calibri"/>
              </a:rPr>
              <a:t>25% duty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20240" y="1892808"/>
            <a:ext cx="7498079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920240" y="132588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920240" y="1325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388869" y="1325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388869" y="189280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794759" y="132588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3794759" y="1325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263388" y="1325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263388" y="189280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669278" y="132588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5669278" y="1325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137907" y="1325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137907" y="189280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543797" y="132588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7543797" y="1325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012426" y="1325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012426" y="189280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528047" y="1344168"/>
            <a:ext cx="2377440" cy="3771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quarter power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ledcWrite(pin, 64)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2688336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1">
                <a:solidFill>
                  <a:srgbClr val="1F3A5F"/>
                </a:solidFill>
                <a:latin typeface="Calibri"/>
              </a:defRPr>
            </a:pPr>
            <a:r>
              <a:rPr sz="1100" b="1">
                <a:solidFill>
                  <a:srgbClr val="1F3A5F"/>
                </a:solidFill>
                <a:latin typeface="Calibri"/>
              </a:rPr>
              <a:t>50% duty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920240" y="3145536"/>
            <a:ext cx="7498079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920240" y="2578608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920240" y="2578608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857499" y="2578608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857499" y="3145536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3794759" y="2578608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3794759" y="2578608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732018" y="2578608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732018" y="3145536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669278" y="2578608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5669278" y="2578608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606537" y="2578608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606537" y="3145536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7543797" y="2578608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7543797" y="2578608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481056" y="2578608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8481056" y="3145536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528047" y="2596896"/>
            <a:ext cx="2377440" cy="3771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half power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ledcWrite(pin, 128)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3941064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1">
                <a:solidFill>
                  <a:srgbClr val="1F3A5F"/>
                </a:solidFill>
                <a:latin typeface="Calibri"/>
              </a:defRPr>
            </a:pPr>
            <a:r>
              <a:rPr sz="1100" b="1">
                <a:solidFill>
                  <a:srgbClr val="1F3A5F"/>
                </a:solidFill>
                <a:latin typeface="Calibri"/>
              </a:rPr>
              <a:t>100% duty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920240" y="4398264"/>
            <a:ext cx="7498079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920240" y="3831336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1920240" y="3831336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794759" y="3831336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794759" y="3831336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5669278" y="3831336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5669278" y="3831336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7543797" y="3831336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543797" y="3831336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9528047" y="3849624"/>
            <a:ext cx="2377440" cy="3771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full power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ledcWrite(pin, 255)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920240" y="5303519"/>
            <a:ext cx="749807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one cycle = 1/20000 second, so this whole picture happens 5000 times a second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The pin is only ever fully on or fully off. Speed comes from the FRACTION of each cycle it spends on - the duty cycle.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remap_axis: deadzone, scale, and range, in one function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900" b="1">
                <a:solidFill>
                  <a:srgbClr val="0E7C86"/>
                </a:solidFill>
                <a:latin typeface="Consolas"/>
              </a:defRPr>
            </a:pPr>
            <a:r>
              <a:rPr sz="900" b="1">
                <a:solidFill>
                  <a:srgbClr val="0E7C86"/>
                </a:solidFill>
                <a:latin typeface="Consolas"/>
              </a:rPr>
              <a:t>Motors.ino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int remap_axis(int raw_value, int specific_dz, float scale_factor,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           int in_max, int out_max)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int dz = get_effective_deadzone(specific_dz);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if (abs(raw_value) &lt; dz) return 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int sign   = (raw_value &gt; 0) ? 1 : -1;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int scaled = lround(abs(raw_value) * scale_factor);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scaled = constrain(scaled, dz, in_max);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return sign * map(scaled, dz, in_max, 0, out_max);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per-axis deadzone of -1 means "use the global one". That sentinel is how one setting can have a default and an override without a second flag.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lround() rather than a cast, so 0.5 rounds up instead of truncating towards zero. The same class of bug as the ramp.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constrain() BEFORE map(), because map() does not clamp - feed it out-of-range input and you get out-of-range output.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Sign is taken off at the start and put back at the end, so the arithmetic in the middle only deals with magnitude.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Throttle modes, and four servos on one stick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Throttle modes  (L3 toggles)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5364327" cy="4617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NORMAL - full forward speed, steering scaled to 0.5.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FAST   - full forward speed, full steering authority.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Only the STEERING scale changes. Top speed is the same in both.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This matters: it was the steering that needed softening, not the speed. A global speed cap makes a vehicle feel broken; a steering cap makes it feel controllable.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Four servos, one right stick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645920"/>
            <a:ext cx="5364327" cy="4617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Each servo owns one DIRECTION of the stick and sweeps its full travel across half the range: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servo 1  -  stick up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servo 3  -  stick down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servo 2  -  stick left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servo 4  -  stick right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Each sits centred whenever the stick is not pushed its way, so one stick aims four independent things.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Travel is 1.0 to 2.0 ms. 11.2 used 0.5 to 2.5, which can drive a servo into its mechanical end stops.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 servo listens to the LENGTH of a 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9164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1">
                <a:solidFill>
                  <a:srgbClr val="0E7C86"/>
                </a:solidFill>
                <a:latin typeface="Consolas"/>
              </a:defRPr>
            </a:pPr>
            <a:r>
              <a:rPr sz="1100" b="1">
                <a:solidFill>
                  <a:srgbClr val="0E7C86"/>
                </a:solidFill>
                <a:latin typeface="Consolas"/>
              </a:rPr>
              <a:t>1.0 ms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57400" y="213055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2057400" y="1600200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57400" y="1600200"/>
            <a:ext cx="3657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423160" y="1600200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1655064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one end of the travel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83464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1">
                <a:solidFill>
                  <a:srgbClr val="1F3A5F"/>
                </a:solidFill>
                <a:latin typeface="Consolas"/>
              </a:defRPr>
            </a:pPr>
            <a:r>
              <a:rPr sz="1100" b="1">
                <a:solidFill>
                  <a:srgbClr val="1F3A5F"/>
                </a:solidFill>
                <a:latin typeface="Consolas"/>
              </a:rPr>
              <a:t>1.5 ms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057400" y="327355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057400" y="274320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057400" y="2743200"/>
            <a:ext cx="548640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606040" y="274320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743200" y="2798064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centred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97764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1">
                <a:solidFill>
                  <a:srgbClr val="B46A0F"/>
                </a:solidFill>
                <a:latin typeface="Consolas"/>
              </a:defRPr>
            </a:pPr>
            <a:r>
              <a:rPr sz="1100" b="1">
                <a:solidFill>
                  <a:srgbClr val="B46A0F"/>
                </a:solidFill>
                <a:latin typeface="Consolas"/>
              </a:rPr>
              <a:t>2.0 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57400" y="441655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057400" y="3886200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057400" y="3886200"/>
            <a:ext cx="731520" cy="0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88920" y="3886200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926080" y="3941064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the other 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50292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the whole cycle is 20 ms, repeated 50 times a second, whatever the pulse length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212080"/>
            <a:ext cx="11185855" cy="777240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The ESP32 counts duty, not microseconds. At 16-bit resolution one 20 ms cycle is 65536 counts: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duty = microseconds * 65536 / 20000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Next week: identity that survives a power cycle.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1.  Why can you not have 12-bit resolution at 30 kHz on this chip?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2.  What does more PWM resolution actually buy you, and where?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3.  Describe the four states of an H-bridge and what the motor does in each.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4.  Why does hybrid drive hold speed better under load?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5.  In hybrid drive, what happens at duty 0 without the guard clause?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6.  Explain the ramp truncation bug, and why nobody would see it on a wheel.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7.  Why does remap_axis call constrain() before map() rather than after?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8.  Why does NORMAL mode scale steering rather than top speed?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