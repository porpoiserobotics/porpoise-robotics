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on every desk. Everything today runs a motor at up to full power and none of it should touch the floor.</a:t>
            </a:r>
          </a:p>
          <a:p>
            <a:r>
              <a:rPr sz="1200">
                <a:latin typeface="Calibri"/>
              </a:rPr>
              <a:t>Have a multimeter to hand for the voltage column in the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four - spotting the truncation bug - is the one they will remember. It is a real bug from a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first activity is thirty-five minutes and it earns them; do not compress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Ten bits at the bottom of the range is the difference between a smooth start and a visible staircase. Say that - it is why the extra resolution was worth buying.</a:t>
            </a:r>
          </a:p>
          <a:p>
            <a:r>
              <a:rPr sz="1200">
                <a:latin typeface="Calibri"/>
              </a:rPr>
              <a:t>If ledcSetup() returns 0 you get silence and no error, which is a horrible thing to debug. Tell them to check the return value every time.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console is the tool for the whole activity. Make sure everybody has typed help and got a response before moving on.</a:t>
            </a:r>
          </a:p>
          <a:p>
            <a:r>
              <a:rPr sz="1200">
                <a:latin typeface="Calibri"/>
              </a:rPr>
              <a:t>Step 2 and 3 are a listening exercise as much as a reading one. The bottom of the range is where the difference lives.</a:t>
            </a:r>
          </a:p>
          <a:p>
            <a:r>
              <a:rPr sz="1200">
                <a:latin typeface="Calibri"/>
              </a:rPr>
              <a:t>Step 4 is refused by the console on purpose. 12 bits caps out at 19.5 kHz, so 30 kHz is impossible - and the console says so rather than silently doing something else.</a:t>
            </a:r>
          </a:p>
          <a:p>
            <a:r>
              <a:rPr sz="1200">
                <a:latin typeface="Calibri"/>
              </a:rPr>
              <a:t>The second question is the subtle one: more resolution does NOT lower the speed at which the motor starts turning. It only lets you approach it more finely.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switches, and only the two diagonal pairs are useful. Trace each path with a finger on the projected slide.</a:t>
            </a:r>
          </a:p>
          <a:p>
            <a:r>
              <a:rPr sz="1200">
                <a:latin typeface="Calibri"/>
              </a:rPr>
              <a:t>Ask what happens if you close both switches on one side. Somebody will work out that it shorts the supply - which is exactly why the driver chip will not let you.</a:t>
            </a:r>
          </a:p>
          <a:p>
            <a:r>
              <a:rPr sz="1200">
                <a:latin typeface="Calibri"/>
              </a:rPr>
              <a:t>Forward and reverse are the same circuit with the current running the other way. That is the whole trick, and it is why direction costs nothing extra in the program.</a:t>
            </a:r>
          </a:p>
          <a:p>
            <a:r>
              <a:rPr sz="1200">
                <a:latin typeface="Calibri"/>
              </a:rPr>
              <a:t>Brake and coast are worth ten seconds each here; they come back properly in the advanced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the three cases on the right-hand notes before reading the code.</a:t>
            </a:r>
          </a:p>
          <a:p>
            <a:r>
              <a:rPr sz="1200">
                <a:latin typeface="Calibri"/>
              </a:rPr>
              <a:t>The guard clause is the whole slide. Without it, duty zero puts both pins high, and both pins high is a brake.</a:t>
            </a:r>
          </a:p>
          <a:p>
            <a:r>
              <a:rPr sz="1200">
                <a:latin typeface="Calibri"/>
              </a:rPr>
              <a:t>Ask what that feels like: a vehicle that will not coast and cannot be pushed by hand when switched on. That is a real symptom somebody would report as a mechanical fault.</a:t>
            </a:r>
          </a:p>
          <a:p>
            <a:r>
              <a:rPr sz="1200">
                <a:latin typeface="Calibri"/>
              </a:rPr>
              <a:t>This is a good example of a bug that hides in the ONE case the arithmetic happens to handle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Set the scene: this bug lived for a year in shipping code.</a:t>
            </a:r>
          </a:p>
          <a:p>
            <a:r>
              <a:rPr sz="1200">
                <a:latin typeface="Calibri"/>
              </a:rPr>
              <a:t>Do the arithmetic out loud. Gap of 1, factor of 0.5, gives 0.5, which truncates to 0 - so current never changes again.</a:t>
            </a:r>
          </a:p>
          <a:p>
            <a:r>
              <a:rPr sz="1200">
                <a:latin typeface="Calibri"/>
              </a:rPr>
              <a:t>The ramp stalls one count short, forever. On a 1024-count scale that is 0.1%, which nobody can see on a wheel.</a:t>
            </a:r>
          </a:p>
          <a:p>
            <a:r>
              <a:rPr sz="1200">
                <a:latin typeface="Calibri"/>
              </a:rPr>
              <a:t>Ask why it still matters. Because a value that never reaches its target breaks anything that tests for equality, and because a bug you cannot see is worse than one you can.</a:t>
            </a:r>
          </a:p>
          <a:p>
            <a:r>
              <a:rPr sz="1200">
                <a:latin typeface="Calibri"/>
              </a:rPr>
              <a:t>The fix is one line: if the step rounds to nothing, take one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Steps 1 and 2 are a feel test. Pinching the tire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Draw the square wave on the board first, then reveal the slide. It lands better if they have watched it being built.</a:t>
            </a:r>
          </a:p>
          <a:p>
            <a:r>
              <a:rPr sz="1200">
                <a:latin typeface="Calibri"/>
              </a:rPr>
              <a:t>The idea to land: the pin is only ever fully on or fully off. Half speed is half the TIME on, not half the voltage.</a:t>
            </a:r>
          </a:p>
          <a:p>
            <a:r>
              <a:rPr sz="1200">
                <a:latin typeface="Calibri"/>
              </a:rPr>
              <a:t>Analogy that works: a light switch flicked very fast. Too fast to see flicker, so the room looks half lit.</a:t>
            </a:r>
          </a:p>
          <a:p>
            <a:r>
              <a:rPr sz="1200">
                <a:latin typeface="Calibri"/>
              </a:rPr>
              <a:t>Duty cycle is a percentage, which is why the math lesson and the motor lesson are the same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ideas in ten lines. Take them one at a time.</a:t>
            </a:r>
          </a:p>
          <a:p>
            <a:r>
              <a:rPr sz="1200">
                <a:latin typeface="Calibri"/>
              </a:rPr>
              <a:t>The -1 sentinel for a per-axis deadzone gives you a default and an override with no second flag. That is a pattern worth naming.</a:t>
            </a:r>
          </a:p>
          <a:p>
            <a:r>
              <a:rPr sz="1200">
                <a:latin typeface="Calibri"/>
              </a:rPr>
              <a:t>lround() rather than a cast, so 0.5 rounds up. Point out that this is the SAME class of bug as the ramp, avoided this time.</a:t>
            </a:r>
          </a:p>
          <a:p>
            <a:r>
              <a:rPr sz="1200">
                <a:latin typeface="Calibri"/>
              </a:rPr>
              <a:t>constrain() before map(), because map() does not clamp. Ask what happens if you do it the other way round.</a:t>
            </a:r>
          </a:p>
          <a:p>
            <a:r>
              <a:rPr sz="1200">
                <a:latin typeface="Calibri"/>
              </a:rPr>
              <a:t>Sign comes off at the start and goes back on at the end, so the math in the middle only ever deals with positive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left column is a design argument, not a feature list. Only the steering scale changes between the modes.</a:t>
            </a:r>
          </a:p>
          <a:p>
            <a:r>
              <a:rPr sz="1200">
                <a:latin typeface="Calibri"/>
              </a:rPr>
              <a:t>The reasoning is worth hearing: a global speed cap makes a vehicle feel broken, a steering cap makes it feel controllable. Ask whether they agree.</a:t>
            </a:r>
          </a:p>
          <a:p>
            <a:r>
              <a:rPr sz="1200">
                <a:latin typeface="Calibri"/>
              </a:rPr>
              <a:t>The four-servo scheme surprises people. One stick, four servos, each owning one direction and centered otherwise.</a:t>
            </a:r>
          </a:p>
          <a:p>
            <a:r>
              <a:rPr sz="1200">
                <a:latin typeface="Calibri"/>
              </a:rPr>
              <a:t>1.0 to 2.0 ms is the corrected travel. Point back to the change log in Lesson 1 - the old range could drive a servo into its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12 bits caps at 19.5 kHz because 80 MHz divided by 4096 is 19,531; resolution buys fine control at the bottom of the range; the four states are forward, reverse, coast and brake.</a:t>
            </a:r>
          </a:p>
          <a:p>
            <a:r>
              <a:rPr sz="1200">
                <a:latin typeface="Calibri"/>
              </a:rPr>
              <a:t>Hybrid drive holds speed because the braking part actively pulls current down. At duty 0 without the guard, both pins go high and the motor brakes.</a:t>
            </a:r>
          </a:p>
          <a:p>
            <a:r>
              <a:rPr sz="1200">
                <a:latin typeface="Calibri"/>
              </a:rPr>
              <a:t>The truncation bug leaves the ramp one count short, which is 0.1% and invisible on a wheel.</a:t>
            </a:r>
          </a:p>
          <a:p>
            <a:r>
              <a:rPr sz="1200">
                <a:latin typeface="Calibri"/>
              </a:rPr>
              <a:t>constrain before map because map does not clamp. NORMAL scales steering because steering authority was the problem, not top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86754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Work out the maximum PWM frequency for a given resolution, and say what more resolution buys you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Describe the four states of an H-bridge and what the motor does in each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why fast decay holds speed better under load than slow decay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Spot the integer-truncation bug in a ramp, and fix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Explain why remap_axis constrains before it maps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48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504825"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remap_axis: deadzones, scale, and per-axis tuning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02667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 bits buy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02667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Sixteen hardware channels, from an 80 MHz clock. At N bits the duty range is 0 to 2^N - 1.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0..255      0.39%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0..1023     0.098%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0..4095     0.024% per step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Finer control at the BOTTOM of the range, which is where a motor is hardest to drive smoothly.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6797" y="1188720"/>
            <a:ext cx="570197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they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6797" y="1700784"/>
            <a:ext cx="570197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counter has to run 2^N times per cycle, so resolution comes straight out of frequency: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312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78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19.5 kHz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Op 12 runs 10 bits at 30 kHz: inside the limit, above hearing, four times the beginner resolution.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800">
                <a:solidFill>
                  <a:srgbClr val="222222"/>
                </a:solidFill>
                <a:latin typeface="Calibri"/>
              </a:rPr>
              <a:t>ledcSetup() returns the frequency it managed, or 0 if the combination is impossible. Check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Decay and ramping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002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38026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782599"/>
            <a:ext cx="4525238" cy="1392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8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178808" y="4526280"/>
            <a:ext cx="1627632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1627632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611880" y="4251960"/>
            <a:ext cx="566928" cy="274320"/>
          </a:xfrm>
          <a:prstGeom prst="line">
            <a:avLst/>
          </a:prstGeom>
          <a:ln w="28575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547872" y="4462272"/>
            <a:ext cx="128016" cy="128016"/>
          </a:xfrm>
          <a:prstGeom prst="ellipse">
            <a:avLst/>
          </a:prstGeom>
          <a:solidFill>
            <a:srgbClr val="0E7C86"/>
          </a:solidFill>
          <a:ln w="952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8897112" y="4251960"/>
            <a:ext cx="566928" cy="274320"/>
          </a:xfrm>
          <a:prstGeom prst="line">
            <a:avLst/>
          </a:prstGeom>
          <a:ln w="28575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9400032" y="4462272"/>
            <a:ext cx="128016" cy="128016"/>
          </a:xfrm>
          <a:prstGeom prst="ellipse">
            <a:avLst/>
          </a:prstGeom>
          <a:solidFill>
            <a:srgbClr val="0E7C86"/>
          </a:solidFill>
          <a:ln w="952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</p:txBody>
      </p:sp>
      <p:sp>
        <p:nvSpPr>
          <p:cNvPr id="28" name="Oval 27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222222"/>
                </a:solidFill>
                <a:latin typeface="Calibri"/>
              </a:defRPr>
            </a:pPr>
            <a:r>
              <a:rPr sz="18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800600" y="3657600"/>
            <a:ext cx="1463040" cy="0"/>
          </a:xfrm>
          <a:prstGeom prst="line">
            <a:avLst/>
          </a:prstGeom>
          <a:ln w="19050">
            <a:solidFill>
              <a:srgbClr val="0E7C86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6995160" y="5394960"/>
            <a:ext cx="1280160" cy="0"/>
          </a:xfrm>
          <a:prstGeom prst="line">
            <a:avLst/>
          </a:prstGeom>
          <a:ln w="19050">
            <a:solidFill>
              <a:srgbClr val="0E7C86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846320" y="4233672"/>
            <a:ext cx="822960" cy="0"/>
          </a:xfrm>
          <a:prstGeom prst="line">
            <a:avLst/>
          </a:prstGeom>
          <a:ln w="19050">
            <a:solidFill>
              <a:srgbClr val="0E7C86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663440" y="3739896"/>
            <a:ext cx="21945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Forward   CW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96312" y="4069080"/>
            <a:ext cx="9144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8" y="4069080"/>
            <a:ext cx="10058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20" y="3328416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5449824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815584"/>
            <a:ext cx="11185855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Drawn in the first state: IN1 closed to + V, IN2 closed to GND. Reverse is the same picture with both switches thrown and the arrows running the other 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75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7692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3695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8" cy="33695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198364"/>
            <a:ext cx="11185855" cy="1065276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8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0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Pinch the tire gently.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again. Which holds speed?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that turns the wheel in each mode.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repeat. Listen to the difference.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changes?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 and run  go 500. Watch where the printout stops.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7985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Step 6: the ramp prints down to one count short of the target, then stops.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176016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578352"/>
            <a:ext cx="4525238" cy="1597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8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4708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29844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578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035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487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76732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22452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67588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956047"/>
            <a:ext cx="749807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s; this picture repeats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8393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4839335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NORMAL - full forward speed, steering scaled to 0.75.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9455" y="1188720"/>
            <a:ext cx="5889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9455" y="1700784"/>
            <a:ext cx="5889320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centered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