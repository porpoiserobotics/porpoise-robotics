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Blocks on every desk. Everything today runs a motor at up to full power and none of it should touch the floor.</a:t>
            </a:r>
          </a:p>
          <a:p>
            <a:r>
              <a:rPr sz="1200">
                <a:latin typeface="Calibri"/>
              </a:rPr>
              <a:t>Have a multimeter to hand for the voltage column in the first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Objective four - spotting the truncation bug - is the one they will remember. It is a real bug from a real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Two breaks. The first activity is thirty-five minutes and it earns them; do not compress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This is a genuine engineering trade-off, so present it as one rather than as a fact to memorise.</a:t>
            </a:r>
          </a:p>
          <a:p>
            <a:r>
              <a:rPr sz="1200">
                <a:latin typeface="Calibri"/>
              </a:rPr>
              <a:t>Ten bits at the bottom of the range is the difference between a smooth start and a visible staircase. Say that - it is why the extra resolution was worth buying.</a:t>
            </a:r>
          </a:p>
          <a:p>
            <a:r>
              <a:rPr sz="1200">
                <a:latin typeface="Calibri"/>
              </a:rPr>
              <a:t>If ledcSetup() returns 0 you get silence and no error, which is a horrible thing to debug. Tell them to check the return value every time.</a:t>
            </a:r>
          </a:p>
          <a:p>
            <a:r>
              <a:rPr sz="1200">
                <a:latin typeface="Calibri"/>
              </a:rPr>
              <a:t>More bits buys finer control at the BOTTOM of the range, which is exactly where a motor is hardest to drive smoothly.</a:t>
            </a:r>
          </a:p>
          <a:p>
            <a:r>
              <a:rPr sz="1200">
                <a:latin typeface="Calibri"/>
              </a:rPr>
              <a:t>The cost is frequency: the counter has to run 2^N times per cycle. Do the division on the board.</a:t>
            </a:r>
          </a:p>
          <a:p>
            <a:r>
              <a:rPr sz="1200">
                <a:latin typeface="Calibri"/>
              </a:rPr>
              <a:t>Op 12 sits at 10 bits and 30 kHz. Ask them to check that against the formula before you confirm it.</a:t>
            </a:r>
          </a:p>
          <a:p>
            <a:r>
              <a:rPr sz="1200">
                <a:latin typeface="Calibri"/>
              </a:rPr>
              <a:t>Connect it back: the beginner course ran 8 bits, and this is what the extra two bits are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Twenty seconds. First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The console is the tool for the whole activity. Make sure everybody has typed help and got a response before moving on.</a:t>
            </a:r>
          </a:p>
          <a:p>
            <a:r>
              <a:rPr sz="1200">
                <a:latin typeface="Calibri"/>
              </a:rPr>
              <a:t>Step 2 and 3 are a listening exercise as much as a reading one. The bottom of the range is where the difference lives.</a:t>
            </a:r>
          </a:p>
          <a:p>
            <a:r>
              <a:rPr sz="1200">
                <a:latin typeface="Calibri"/>
              </a:rPr>
              <a:t>Step 4 is refused by the console on purpose. 12 bits caps out at 19.5 kHz, so 30 kHz is impossible - and the console says so rather than silently doing something else.</a:t>
            </a:r>
          </a:p>
          <a:p>
            <a:r>
              <a:rPr sz="1200">
                <a:latin typeface="Calibri"/>
              </a:rPr>
              <a:t>The second question is the subtle one: more resolution does NOT lower the speed at which the motor starts turning. It only lets you approach it more finely.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Four boxes across the top: those are the four things the motor can be told to do. The picture underneath is ONE of them actually happening - the first one - drawn by Kevin.</a:t>
            </a:r>
          </a:p>
          <a:p>
            <a:r>
              <a:rPr sz="1200">
                <a:latin typeface="Calibri"/>
              </a:rPr>
              <a:t>Say that before anybody asks why they can only see two switches in the picture. The other two are the ones that are open.</a:t>
            </a:r>
          </a:p>
          <a:p>
            <a:r>
              <a:rPr sz="1200">
                <a:latin typeface="Calibri"/>
              </a:rPr>
              <a:t>Then trace the arrows with a finger on the projected slide, slowly, all the way round: in at + V, along the top, down the left, through the motor, back to GND. Have them do it too.</a:t>
            </a:r>
          </a:p>
          <a:p>
            <a:r>
              <a:rPr sz="1200">
                <a:latin typeface="Calibri"/>
              </a:rPr>
              <a:t>Ask what happens if you close both switches on one side. Somebody will work out that it shorts the supply - which is exactly why the driver chip will not let you.</a:t>
            </a:r>
          </a:p>
          <a:p>
            <a:r>
              <a:rPr sz="1200">
                <a:latin typeface="Calibri"/>
              </a:rPr>
              <a:t>Forward and reverse are the same circuit with the current running the other way. That is the whole trick, and it is why direction costs nothing extra in the program.</a:t>
            </a:r>
          </a:p>
          <a:p>
            <a:r>
              <a:rPr sz="1200">
                <a:latin typeface="Calibri"/>
              </a:rPr>
              <a:t>Brake and coast are worth ten seconds each here; they come back properly in the advanced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Twenty seconds. Second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Both columns describe the same H-bridge. What changes is what happens during the off part of each cycle.</a:t>
            </a:r>
          </a:p>
          <a:p>
            <a:r>
              <a:rPr sz="1200">
                <a:latin typeface="Calibri"/>
              </a:rPr>
              <a:t>Sign-magnitude alternates driven and coast. Hybrid alternates driven and brake, which actively pulls the current down.</a:t>
            </a:r>
          </a:p>
          <a:p>
            <a:r>
              <a:rPr sz="1200">
                <a:latin typeface="Calibri"/>
              </a:rPr>
              <a:t>The practical consequence: hybrid holds the speed you asked for when the load changes. They will feel this in the activity.</a:t>
            </a:r>
          </a:p>
          <a:p>
            <a:r>
              <a:rPr sz="1200">
                <a:latin typeface="Calibri"/>
              </a:rPr>
              <a:t>Sign-magnitude is not wrong. It is simpler to read, and that is why the beginner programs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Walk the three cases on the right-hand notes before reading the code.</a:t>
            </a:r>
          </a:p>
          <a:p>
            <a:r>
              <a:rPr sz="1200">
                <a:latin typeface="Calibri"/>
              </a:rPr>
              <a:t>The guard clause is the whole slide. Without it, duty zero puts both pins high, and both pins high is a brake.</a:t>
            </a:r>
          </a:p>
          <a:p>
            <a:r>
              <a:rPr sz="1200">
                <a:latin typeface="Calibri"/>
              </a:rPr>
              <a:t>Ask what that feels like: a vehicle that will not coast and cannot be pushed by hand when switched on. That is a real symptom somebody would report as a mechanical fault.</a:t>
            </a:r>
          </a:p>
          <a:p>
            <a:r>
              <a:rPr sz="1200">
                <a:latin typeface="Calibri"/>
              </a:rPr>
              <a:t>This is a good example of a bug that hides in the ONE case the arithmetic happens to handle differently.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Set the scene: this bug lived for a year in shipping code.</a:t>
            </a:r>
          </a:p>
          <a:p>
            <a:r>
              <a:rPr sz="1200">
                <a:latin typeface="Calibri"/>
              </a:rPr>
              <a:t>Do the arithmetic out loud. Gap of 1, factor of 0.5, gives 0.5, which truncates to 0 - so current never changes again.</a:t>
            </a:r>
          </a:p>
          <a:p>
            <a:r>
              <a:rPr sz="1200">
                <a:latin typeface="Calibri"/>
              </a:rPr>
              <a:t>The ramp stalls one count short, forever. On a 1024-count scale that is 0.1%, which nobody can see on a wheel.</a:t>
            </a:r>
          </a:p>
          <a:p>
            <a:r>
              <a:rPr sz="1200">
                <a:latin typeface="Calibri"/>
              </a:rPr>
              <a:t>Ask why it still matters. Because a value that never reaches its target breaks anything that tests for equality, and because a bug you cannot see is worse than one you can.</a:t>
            </a:r>
          </a:p>
          <a:p>
            <a:r>
              <a:rPr sz="1200">
                <a:latin typeface="Calibri"/>
              </a:rPr>
              <a:t>The fix is one line: if the step rounds to nothing, take one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Steps 1 and 2 are a feel test. Pinching the tire gently is the load - warn them to be gentle and to keep fingers clear of the spokes.</a:t>
            </a:r>
          </a:p>
          <a:p>
            <a:r>
              <a:rPr sz="1200">
                <a:latin typeface="Calibri"/>
              </a:rPr>
              <a:t>Step 6 recreates the bug deliberately. Watching the printout stop one count short is the memorable part of this lesson.</a:t>
            </a:r>
          </a:p>
          <a:p>
            <a:r>
              <a:rPr sz="1200">
                <a:latin typeface="Calibri"/>
              </a:rPr>
              <a:t>Answer to the first question: fast decay actively pulls the winding current down during the off part, so the average tracks the command.</a:t>
            </a:r>
          </a:p>
          <a:p>
            <a:r>
              <a:rPr sz="1200">
                <a:latin typeface="Calibri"/>
              </a:rPr>
              <a:t>Answer to the second: a 0.1% error is invisible but it means a value that never reaches its target, and anything comparing for equality never fires.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Draw the square wave on the board first, then reveal the slide. It lands better if they have watched it being built.</a:t>
            </a:r>
          </a:p>
          <a:p>
            <a:r>
              <a:rPr sz="1200">
                <a:latin typeface="Calibri"/>
              </a:rPr>
              <a:t>The idea to land: the pin is only ever fully on or fully off. Half speed is half the TIME on, not half the voltage.</a:t>
            </a:r>
          </a:p>
          <a:p>
            <a:r>
              <a:rPr sz="1200">
                <a:latin typeface="Calibri"/>
              </a:rPr>
              <a:t>Analogy that works: a light switch flicked very fast. Too fast to see flicker, so the room looks half lit.</a:t>
            </a:r>
          </a:p>
          <a:p>
            <a:r>
              <a:rPr sz="1200">
                <a:latin typeface="Calibri"/>
              </a:rPr>
              <a:t>Duty cycle is a percentage, which is why the math lesson and the motor lesson are the same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Four ideas in ten lines. Take them one at a time.</a:t>
            </a:r>
          </a:p>
          <a:p>
            <a:r>
              <a:rPr sz="1200">
                <a:latin typeface="Calibri"/>
              </a:rPr>
              <a:t>The -1 sentinel for a per-axis deadzone gives you a default and an override with no second flag. That is a pattern worth naming.</a:t>
            </a:r>
          </a:p>
          <a:p>
            <a:r>
              <a:rPr sz="1200">
                <a:latin typeface="Calibri"/>
              </a:rPr>
              <a:t>lround() rather than a cast, so 0.5 rounds up. Point out that this is the SAME class of bug as the ramp, avoided this time.</a:t>
            </a:r>
          </a:p>
          <a:p>
            <a:r>
              <a:rPr sz="1200">
                <a:latin typeface="Calibri"/>
              </a:rPr>
              <a:t>constrain() before map(), because map() does not clamp. Ask what happens if you do it the other way round.</a:t>
            </a:r>
          </a:p>
          <a:p>
            <a:r>
              <a:rPr sz="1200">
                <a:latin typeface="Calibri"/>
              </a:rPr>
              <a:t>Sign comes off at the start and goes back on at the end, so the math in the middle only ever deals with positive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The left column is a design argument, not a feature list. Only the steering scale changes between the modes.</a:t>
            </a:r>
          </a:p>
          <a:p>
            <a:r>
              <a:rPr sz="1200">
                <a:latin typeface="Calibri"/>
              </a:rPr>
              <a:t>The reasoning is worth hearing: a global speed cap makes a vehicle feel broken, a steering cap makes it feel controllable. Ask whether they agree.</a:t>
            </a:r>
          </a:p>
          <a:p>
            <a:r>
              <a:rPr sz="1200">
                <a:latin typeface="Calibri"/>
              </a:rPr>
              <a:t>The four-servo scheme surprises people. One stick, four servos, each owning one direction and centered otherwise.</a:t>
            </a:r>
          </a:p>
          <a:p>
            <a:r>
              <a:rPr sz="1200">
                <a:latin typeface="Calibri"/>
              </a:rPr>
              <a:t>1.0 to 2.0 ms is the corrected travel. Point back to the change log in Lesson 1 - the old range could drive a servo into its stops.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A servo does not listen to voltage, or to duty in the way a motor does. It listens to how LONG the pulse is, and it wants one every 20 ms.</a:t>
            </a:r>
          </a:p>
          <a:p>
            <a:r>
              <a:rPr sz="1200">
                <a:latin typeface="Calibri"/>
              </a:rPr>
              <a:t>1.0 ms is one end, 1.5 ms is center, 2.0 ms is the other end. Those three numbers are the whole protocol.</a:t>
            </a:r>
          </a:p>
          <a:p>
            <a:r>
              <a:rPr sz="1200">
                <a:latin typeface="Calibri"/>
              </a:rPr>
              <a:t>The ESP32 counts duty, not microseconds, so the program has to convert. Walk the arithmetic once, slowly.</a:t>
            </a:r>
          </a:p>
          <a:p>
            <a:r>
              <a:rPr sz="1200">
                <a:latin typeface="Calibri"/>
              </a:rPr>
              <a:t>Continuous-rotation servos read the same pulse as a SPEED rather than a position. Worth flagging before somebody buys the wrong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Calibri"/>
              </a:rPr>
              <a:t>Conversation, not a test.</a:t>
            </a:r>
          </a:p>
          <a:p>
            <a:r>
              <a:rPr sz="1200">
                <a:latin typeface="Calibri"/>
              </a:rPr>
              <a:t>Answers: 12 bits caps at 19.5 kHz because 80 MHz divided by 4096 is 19,531; resolution buys fine control at the bottom of the range; the four states are forward, reverse, coast and brake.</a:t>
            </a:r>
          </a:p>
          <a:p>
            <a:r>
              <a:rPr sz="1200">
                <a:latin typeface="Calibri"/>
              </a:rPr>
              <a:t>Hybrid drive holds speed because the braking part actively pulls current down. At duty 0 without the guard, both pins go high and the motor brakes.</a:t>
            </a:r>
          </a:p>
          <a:p>
            <a:r>
              <a:rPr sz="1200">
                <a:latin typeface="Calibri"/>
              </a:rPr>
              <a:t>The truncation bug leaves the ramp one count short, which is 0.1% and invisible on a wheel.</a:t>
            </a:r>
          </a:p>
          <a:p>
            <a:r>
              <a:rPr sz="1200">
                <a:latin typeface="Calibri"/>
              </a:rPr>
              <a:t>constrain before map because map does not clamp. NORMAL scales steering because steering authority was the problem, not top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orpoi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762" y="457200"/>
            <a:ext cx="766013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1051560"/>
            <a:ext cx="6492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0E7C86"/>
                </a:solidFill>
                <a:latin typeface="Calibri"/>
              </a:defRPr>
            </a:pPr>
            <a:r>
              <a:rPr sz="1600" b="1">
                <a:solidFill>
                  <a:srgbClr val="0E7C86"/>
                </a:solidFill>
                <a:latin typeface="Calibri"/>
              </a:rPr>
              <a:t>LESSON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81328"/>
            <a:ext cx="64922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  <a:defRPr sz="4000" b="1">
                <a:solidFill>
                  <a:srgbClr val="1F3A5F"/>
                </a:solidFill>
                <a:latin typeface="Calibri"/>
              </a:defRPr>
            </a:pPr>
            <a:r>
              <a:rPr sz="4000" b="1">
                <a:solidFill>
                  <a:srgbClr val="1F3A5F"/>
                </a:solidFill>
                <a:latin typeface="Calibri"/>
              </a:rPr>
              <a:t>Motors, Resolution and Ramping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54680"/>
            <a:ext cx="649224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222222"/>
                </a:solidFill>
                <a:latin typeface="Calibri"/>
              </a:defRPr>
            </a:pPr>
            <a:r>
              <a:rPr sz="1700" b="0">
                <a:solidFill>
                  <a:srgbClr val="222222"/>
                </a:solidFill>
                <a:latin typeface="Calibri"/>
              </a:rPr>
              <a:t>Resolution against frequency, four states of an H-bridge, fast decay, and a ramp that used to stall one count short.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31920"/>
            <a:ext cx="649224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PORPOISE ROBOTICS  -  Precision Oceanographic Program On and In the Sea Environment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porpoiserobotics.org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600" b="0">
                <a:solidFill>
                  <a:srgbClr val="666666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Kevin Bowen, President  -  kbowen6@icloud.com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Malcom Graham, VP Education      Louis Parker, VP Technology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Valen Farre, System Engineer      Gary Howland, Animation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Eddie Revollo, Artificial Intelligence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Interns: Oscar Canazales, Krishnansh Vemulapalli, Soham Gangal, Erik Olsen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  <a:defRPr sz="600" b="0">
                <a:solidFill>
                  <a:srgbClr val="666666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10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rPr sz="1200" b="0">
                <a:solidFill>
                  <a:srgbClr val="666666"/>
                </a:solidFill>
                <a:latin typeface="Calibri"/>
              </a:rPr>
              <a:t>Three hours.  Wheels off the ground throughout.</a:t>
            </a:r>
          </a:p>
        </p:txBody>
      </p:sp>
      <p:pic>
        <p:nvPicPr>
          <p:cNvPr id="8" name="Picture 7" descr="vehicle-rear-batte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086754"/>
            <a:ext cx="4480560" cy="32331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44768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rPr sz="900" b="0">
                <a:solidFill>
                  <a:srgbClr val="666666"/>
                </a:solidFill>
                <a:latin typeface="Calibri"/>
              </a:rPr>
              <a:t>Porpoise Robotics - proprietary. For use with Porpoise Robotics lessons.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What you will be able to do by the 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900" b="1">
                <a:solidFill>
                  <a:srgbClr val="0E7C86"/>
                </a:solidFill>
                <a:latin typeface="Calibri"/>
              </a:defRPr>
            </a:pPr>
            <a:r>
              <a:rPr sz="1900" b="1">
                <a:solidFill>
                  <a:srgbClr val="0E7C86"/>
                </a:solidFill>
                <a:latin typeface="Calibri"/>
              </a:rPr>
              <a:t>By the end of this lesson you will be able to: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11185855" cy="4526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1.   Work out the maximum PWM frequency for a given resolution, and say what more resolution buys you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2.   Describe the four states of an H-bridge and what the motor does in each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3.   Explain why fast decay holds speed better under load than slow decay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4.   Spot the integer-truncation bug in a ramp, and fix it</a:t>
            </a:r>
          </a:p>
          <a:p>
            <a:pPr algn="l">
              <a:lnSpc>
                <a:spcPct val="100000"/>
              </a:lnSpc>
              <a:spcAft>
                <a:spcPts val="1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5.   Explain why remap_axis constrains before it maps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Today, in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11185854" cy="5048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585"/>
                <a:gridCol w="10067269"/>
              </a:tblGrid>
              <a:tr h="504825">
                <a:tc>
                  <a:txBody>
                    <a:bodyPr/>
                    <a:lstStyle/>
                    <a:p>
                      <a:r>
                        <a:rPr sz="2700" b="1">
                          <a:solidFill>
                            <a:srgbClr val="FFFFFF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 b="1">
                          <a:solidFill>
                            <a:srgbClr val="FFFFFF"/>
                          </a:solidFill>
                          <a:latin typeface="Calibri"/>
                        </a:rPr>
                        <a:t>What we do</a:t>
                      </a:r>
                    </a:p>
                  </a:txBody>
                  <a:tcPr marL="73152" marT="18288" marB="18288">
                    <a:solidFill>
                      <a:srgbClr val="1F3A5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2700">
                          <a:solidFill>
                            <a:srgbClr val="222222"/>
                          </a:solidFill>
                          <a:latin typeface="Calibri"/>
                        </a:rPr>
                        <a:t>0:00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>
                          <a:solidFill>
                            <a:srgbClr val="222222"/>
                          </a:solidFill>
                          <a:latin typeface="Calibri"/>
                        </a:rPr>
                        <a:t>Recap. The LEDC peripheral and what it can actually do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2700">
                          <a:solidFill>
                            <a:srgbClr val="222222"/>
                          </a:solidFill>
                          <a:latin typeface="Calibri"/>
                        </a:rPr>
                        <a:t>0:25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>
                          <a:solidFill>
                            <a:srgbClr val="222222"/>
                          </a:solidFill>
                          <a:latin typeface="Calibri"/>
                        </a:rPr>
                        <a:t>Resolution against frequency. Upload a2a_pwm_resolution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2700">
                          <a:solidFill>
                            <a:srgbClr val="222222"/>
                          </a:solidFill>
                          <a:latin typeface="Calibri"/>
                        </a:rPr>
                        <a:t>1:00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>
                          <a:solidFill>
                            <a:srgbClr val="222222"/>
                          </a:solidFill>
                          <a:latin typeface="Calibri"/>
                        </a:rPr>
                        <a:t>BREAK  (10 minutes)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2700">
                          <a:solidFill>
                            <a:srgbClr val="222222"/>
                          </a:solidFill>
                          <a:latin typeface="Calibri"/>
                        </a:rPr>
                        <a:t>1:10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>
                          <a:solidFill>
                            <a:srgbClr val="222222"/>
                          </a:solidFill>
                          <a:latin typeface="Calibri"/>
                        </a:rPr>
                        <a:t>Coast, brake, and the two decay modes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2700">
                          <a:solidFill>
                            <a:srgbClr val="222222"/>
                          </a:solidFill>
                          <a:latin typeface="Calibri"/>
                        </a:rPr>
                        <a:t>1:40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>
                          <a:solidFill>
                            <a:srgbClr val="222222"/>
                          </a:solidFill>
                          <a:latin typeface="Calibri"/>
                        </a:rPr>
                        <a:t>Upload a2b_coast_brake_hybrid. Feel the difference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2700">
                          <a:solidFill>
                            <a:srgbClr val="222222"/>
                          </a:solidFill>
                          <a:latin typeface="Calibri"/>
                        </a:rPr>
                        <a:t>2:10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>
                          <a:solidFill>
                            <a:srgbClr val="222222"/>
                          </a:solidFill>
                          <a:latin typeface="Calibri"/>
                        </a:rPr>
                        <a:t>BREAK  (10 minutes)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2700">
                          <a:solidFill>
                            <a:srgbClr val="222222"/>
                          </a:solidFill>
                          <a:latin typeface="Calibri"/>
                        </a:rPr>
                        <a:t>2:20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>
                          <a:solidFill>
                            <a:srgbClr val="222222"/>
                          </a:solidFill>
                          <a:latin typeface="Calibri"/>
                        </a:rPr>
                        <a:t>Speed ramping, and the truncation bug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2700">
                          <a:solidFill>
                            <a:srgbClr val="222222"/>
                          </a:solidFill>
                          <a:latin typeface="Calibri"/>
                        </a:rPr>
                        <a:t>2:35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>
                          <a:solidFill>
                            <a:srgbClr val="222222"/>
                          </a:solidFill>
                          <a:latin typeface="Calibri"/>
                        </a:rPr>
                        <a:t>remap_axis: deadzones, scale, and per-axis tuning</a:t>
                      </a:r>
                    </a:p>
                  </a:txBody>
                  <a:tcPr marL="73152" marT="18288" marB="18288">
                    <a:solidFill>
                      <a:srgbClr val="EEF3F8"/>
                    </a:solidFill>
                  </a:tcPr>
                </a:tc>
              </a:tr>
              <a:tr h="504825">
                <a:tc>
                  <a:txBody>
                    <a:bodyPr/>
                    <a:lstStyle/>
                    <a:p>
                      <a:r>
                        <a:rPr sz="2700">
                          <a:solidFill>
                            <a:srgbClr val="222222"/>
                          </a:solidFill>
                          <a:latin typeface="Calibri"/>
                        </a:rPr>
                        <a:t>2:50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700">
                          <a:solidFill>
                            <a:srgbClr val="222222"/>
                          </a:solidFill>
                          <a:latin typeface="Calibri"/>
                        </a:rPr>
                        <a:t>Four servos on one thumbstick</a:t>
                      </a:r>
                    </a:p>
                  </a:txBody>
                  <a:tcPr marL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The LEDC peripheral, and the trade you cannot avoid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026677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900" b="1">
                <a:solidFill>
                  <a:srgbClr val="0E7C86"/>
                </a:solidFill>
                <a:latin typeface="Calibri"/>
              </a:defRPr>
            </a:pPr>
            <a:r>
              <a:rPr sz="1900" b="1">
                <a:solidFill>
                  <a:srgbClr val="0E7C86"/>
                </a:solidFill>
                <a:latin typeface="Calibri"/>
              </a:rPr>
              <a:t>What the bits buy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5026677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Sixteen hardware channels, from an 80 MHz clock. At N bits the duty range is 0 to 2^N - 1.</a:t>
            </a:r>
          </a:p>
          <a:p>
            <a:pPr lvl="1"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8 bits    0..255      0.39% per step</a:t>
            </a:r>
          </a:p>
          <a:p>
            <a:pPr lvl="1"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10 bits   0..1023     0.098% per step</a:t>
            </a:r>
          </a:p>
          <a:p>
            <a:pPr lvl="1"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12 bits   0..4095     0.024% per step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Finer control at the BOTTOM of the range, which is where a motor is hardest to drive smoothly.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6797" y="1188720"/>
            <a:ext cx="570197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900" b="1">
                <a:solidFill>
                  <a:srgbClr val="0E7C86"/>
                </a:solidFill>
                <a:latin typeface="Calibri"/>
              </a:defRPr>
            </a:pPr>
            <a:r>
              <a:rPr sz="1900" b="1">
                <a:solidFill>
                  <a:srgbClr val="0E7C86"/>
                </a:solidFill>
                <a:latin typeface="Calibri"/>
              </a:rPr>
              <a:t>What they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6797" y="1700784"/>
            <a:ext cx="5701978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The counter has to run 2^N times per cycle, so resolution comes straight out of frequency:</a:t>
            </a:r>
          </a:p>
          <a:p>
            <a:pPr lvl="1"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max frequency = 80,000,000 / 2^bits</a:t>
            </a:r>
          </a:p>
          <a:p>
            <a:pPr lvl="1"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8 bits    312 kHz</a:t>
            </a:r>
          </a:p>
          <a:p>
            <a:pPr lvl="1"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10 bits   78 kHz</a:t>
            </a:r>
          </a:p>
          <a:p>
            <a:pPr lvl="1"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12 bits   19.5 kHz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Op 12 runs 10 bits at 30 kHz: inside the limit, above hearing, four times the beginner resolution.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DF3E3"/>
          </a:solidFill>
          <a:ln w="12700">
            <a:solidFill>
              <a:srgbClr val="B46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B46A0F"/>
                </a:solidFill>
                <a:latin typeface="Calibri"/>
              </a:rPr>
              <a:t>WATCH OUT   </a:t>
            </a:r>
            <a:r>
              <a:rPr sz="1800">
                <a:solidFill>
                  <a:srgbClr val="222222"/>
                </a:solidFill>
                <a:latin typeface="Calibri"/>
              </a:rPr>
              <a:t>ledcSetup() returns the frequency it managed, or 0 if the combination is impossible. Check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35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The LEDC peripheral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0306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0306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666666"/>
                </a:solidFill>
                <a:latin typeface="Calibri"/>
              </a:defRPr>
            </a:pPr>
            <a:r>
              <a:rPr sz="1700" b="0">
                <a:solidFill>
                  <a:srgbClr val="666666"/>
                </a:solidFill>
                <a:latin typeface="Calibri"/>
              </a:rPr>
              <a:t>Decay and ramping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Do it now  -  resolution you can hear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85855" cy="53035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UPLOAD AND RUN:   </a:t>
            </a:r>
            <a:r>
              <a:rPr sz="1500" b="1">
                <a:solidFill>
                  <a:srgbClr val="FFFFFF"/>
                </a:solidFill>
                <a:latin typeface="Consolas"/>
              </a:rPr>
              <a:t>a2a_pwm_resolution</a:t>
            </a:r>
            <a:r>
              <a:rPr sz="1200">
                <a:solidFill>
                  <a:srgbClr val="FFFFFF"/>
                </a:solidFill>
                <a:latin typeface="Calibri"/>
              </a:rPr>
              <a:t>     (35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6249137" cy="3273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1.  Wheels off the ground. Upload. Type help.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2.  Run  step  at 8 bits. Watch the volts column and LISTEN at the very bottom of the range.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3.  bits 10, then  step  again. Compare.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4.  Try  bits 12  then  freq 30000. Read what the console tells you.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5.  Find the lowest  pct  at which the wheel turns at all. Is it the same at 8 bits and at 10?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6.  freq 300, listen, then freq 20000.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3537" y="190195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What you should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3537" y="2304288"/>
            <a:ext cx="4525238" cy="1002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A duty value, a percentage, and an approximate voltage for each step of the sweep.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3537" y="3380263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Answer these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3537" y="3782599"/>
            <a:ext cx="4525238" cy="13929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Why does 12 bits at 30 kHz get refused?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Does more resolution change the lowest speed the motor will turn at, or only how finely you can approach it?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 w="12700">
            <a:solidFill>
              <a:srgbClr val="A3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A32A2A"/>
                </a:solidFill>
                <a:latin typeface="Calibri"/>
              </a:rPr>
              <a:t>SAFETY   </a:t>
            </a:r>
            <a:r>
              <a:rPr sz="1800">
                <a:solidFill>
                  <a:srgbClr val="222222"/>
                </a:solidFill>
                <a:latin typeface="Calibri"/>
              </a:rPr>
              <a:t>Wheels off the ground. This reaches full power.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The H-bridge: four switches, four things a motor can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2606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222222"/>
                </a:solidFill>
                <a:latin typeface="Consolas"/>
              </a:defRPr>
            </a:pPr>
            <a:r>
              <a:rPr sz="1400" b="0">
                <a:solidFill>
                  <a:srgbClr val="222222"/>
                </a:solidFill>
                <a:latin typeface="Consolas"/>
              </a:rPr>
              <a:t>A high, B 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2606040" cy="658368"/>
          </a:xfrm>
          <a:prstGeom prst="roundRect">
            <a:avLst>
              <a:gd name="adj" fmla="val 12000"/>
            </a:avLst>
          </a:prstGeom>
          <a:solidFill>
            <a:srgbClr val="D6ECEE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</a:rPr>
              <a:t>FORWARD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260604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driven one 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64992" y="1508760"/>
            <a:ext cx="2606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222222"/>
                </a:solidFill>
                <a:latin typeface="Consolas"/>
              </a:defRPr>
            </a:pPr>
            <a:r>
              <a:rPr sz="1400" b="0">
                <a:solidFill>
                  <a:srgbClr val="222222"/>
                </a:solidFill>
                <a:latin typeface="Consolas"/>
              </a:rPr>
              <a:t>A low, B 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2011680"/>
            <a:ext cx="2606040" cy="658368"/>
          </a:xfrm>
          <a:prstGeom prst="roundRect">
            <a:avLst>
              <a:gd name="adj" fmla="val 12000"/>
            </a:avLst>
          </a:prstGeom>
          <a:solidFill>
            <a:srgbClr val="D6ECEE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</a:rPr>
              <a:t>REVERSE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4992" y="2788920"/>
            <a:ext cx="260604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driven the other way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7064" y="1508760"/>
            <a:ext cx="2606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222222"/>
                </a:solidFill>
                <a:latin typeface="Consolas"/>
              </a:defRPr>
            </a:pPr>
            <a:r>
              <a:rPr sz="1400" b="0">
                <a:solidFill>
                  <a:srgbClr val="222222"/>
                </a:solidFill>
                <a:latin typeface="Consolas"/>
              </a:rPr>
              <a:t>both 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7064" y="2011680"/>
            <a:ext cx="2606040" cy="658368"/>
          </a:xfrm>
          <a:prstGeom prst="roundRect">
            <a:avLst>
              <a:gd name="adj" fmla="val 12000"/>
            </a:avLst>
          </a:prstGeom>
          <a:solidFill>
            <a:srgbClr val="E8ECF0"/>
          </a:solidFill>
          <a:ln w="1587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</a:rPr>
              <a:t>COAST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7064" y="2788920"/>
            <a:ext cx="2606040" cy="65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terminals floating,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motor freewheels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89136" y="1508760"/>
            <a:ext cx="260604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222222"/>
                </a:solidFill>
                <a:latin typeface="Consolas"/>
              </a:defRPr>
            </a:pPr>
            <a:r>
              <a:rPr sz="1400" b="0">
                <a:solidFill>
                  <a:srgbClr val="222222"/>
                </a:solidFill>
                <a:latin typeface="Consolas"/>
              </a:rPr>
              <a:t>both 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2011680"/>
            <a:ext cx="2606040" cy="658368"/>
          </a:xfrm>
          <a:prstGeom prst="roundRect">
            <a:avLst>
              <a:gd name="adj" fmla="val 12000"/>
            </a:avLst>
          </a:prstGeom>
          <a:solidFill>
            <a:srgbClr val="FAE6C8"/>
          </a:solidFill>
          <a:ln w="15875">
            <a:solidFill>
              <a:srgbClr val="B46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</a:rPr>
              <a:t>BRAKE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2788920"/>
            <a:ext cx="2606040" cy="65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terminals shorted,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motor stops hard</a:t>
            </a:r>
          </a:p>
        </p:txBody>
      </p:sp>
      <p:pic>
        <p:nvPicPr>
          <p:cNvPr id="18" name="Picture 17" descr="h-bridge-forward-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4904" y="3474720"/>
            <a:ext cx="6301886" cy="21488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5687568"/>
            <a:ext cx="11185855" cy="6466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The arrows are the current: in at + V, along the top, down the left, through the motor, back to GND. That is the FORWARD box above. Turn pin B on instead of pin A and it all runs backwards.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234440"/>
            <a:ext cx="256032" cy="155448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600" b="1">
                <a:solidFill>
                  <a:srgbClr val="1F3A5F"/>
                </a:solidFill>
                <a:latin typeface="Calibri"/>
              </a:defRPr>
            </a:pPr>
            <a:r>
              <a:rPr sz="3600" b="1">
                <a:solidFill>
                  <a:srgbClr val="1F3A5F"/>
                </a:solidFill>
                <a:latin typeface="Calibri"/>
              </a:rPr>
              <a:t>Decay and ramping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About 75 minutes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The LEDC peripheral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0306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0">
                <a:solidFill>
                  <a:srgbClr val="1F3A5F"/>
                </a:solidFill>
                <a:latin typeface="Calibri"/>
              </a:defRPr>
            </a:pPr>
            <a:r>
              <a:rPr sz="1700" b="0">
                <a:solidFill>
                  <a:srgbClr val="1F3A5F"/>
                </a:solidFill>
                <a:latin typeface="Calibri"/>
              </a:rPr>
              <a:t>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80306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57692" y="3886200"/>
            <a:ext cx="3631082" cy="1325880"/>
          </a:xfrm>
          <a:prstGeom prst="roundRect">
            <a:avLst>
              <a:gd name="adj" fmla="val 8000"/>
            </a:avLst>
          </a:prstGeom>
          <a:solidFill>
            <a:srgbClr val="D6ECEE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>
              <a:lnSpc>
                <a:spcPct val="100000"/>
              </a:lnSpc>
              <a:spcAft>
                <a:spcPts val="0"/>
              </a:spcAft>
              <a:defRPr sz="1700" b="1">
                <a:solidFill>
                  <a:srgbClr val="1F3A5F"/>
                </a:solidFill>
                <a:latin typeface="Calibri"/>
              </a:defRPr>
            </a:pPr>
            <a:r>
              <a:rPr sz="1700" b="1">
                <a:solidFill>
                  <a:srgbClr val="1F3A5F"/>
                </a:solidFill>
                <a:latin typeface="Calibri"/>
              </a:rPr>
              <a:t>Decay and ramping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7692" y="3520440"/>
            <a:ext cx="363108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  <a:defRPr sz="1100" b="1">
                <a:solidFill>
                  <a:srgbClr val="0E7C86"/>
                </a:solidFill>
                <a:latin typeface="Calibri"/>
              </a:defRPr>
            </a:pPr>
            <a:r>
              <a:rPr sz="1100" b="1">
                <a:solidFill>
                  <a:srgbClr val="0E7C86"/>
                </a:solidFill>
                <a:latin typeface="Calibri"/>
              </a:rPr>
              <a:t>NOW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Slow decay against fast decay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5364327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900" b="1">
                <a:solidFill>
                  <a:srgbClr val="0E7C86"/>
                </a:solidFill>
                <a:latin typeface="Calibri"/>
              </a:defRPr>
            </a:pPr>
            <a:r>
              <a:rPr sz="1900" b="1">
                <a:solidFill>
                  <a:srgbClr val="0E7C86"/>
                </a:solidFill>
                <a:latin typeface="Calibri"/>
              </a:rPr>
              <a:t>Sign-magnitude  (the beginner programs)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5364327" cy="33695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Pulse IN1 at the duty you want. Hold IN2 low.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The motor alternates between DRIVEN and COAST.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During the off part nothing controls the motor at all, so the current in the windings decays slowly and the actual speed depends heavily on the load.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90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Simple to read, and perfectly good for learning.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90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This is SLOW DECAY.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188720"/>
            <a:ext cx="53643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900" b="1">
                <a:solidFill>
                  <a:srgbClr val="0E7C86"/>
                </a:solidFill>
                <a:latin typeface="Calibri"/>
              </a:defRPr>
            </a:pPr>
            <a:r>
              <a:rPr sz="1900" b="1">
                <a:solidFill>
                  <a:srgbClr val="0E7C86"/>
                </a:solidFill>
                <a:latin typeface="Calibri"/>
              </a:rPr>
              <a:t>Hybrid drive  (Op Program 12)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1700784"/>
            <a:ext cx="5364328" cy="33695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Hold IN1 HIGH. Pulse IN2 at the inverse of the duty.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The motor alternates between DRIVEN and BRAKE.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The braking part actively pulls the current down, so the average is much closer to what you asked for, and speed holds up under load.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90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Noticeably better control at low duty - exactly where you need it.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90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This is FAST DECAY.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198364"/>
            <a:ext cx="11185855" cy="1065276"/>
          </a:xfrm>
          <a:prstGeom prst="roundRect">
            <a:avLst>
              <a:gd name="adj" fmla="val 4000"/>
            </a:avLst>
          </a:prstGeom>
          <a:solidFill>
            <a:srgbClr val="FDF3E3"/>
          </a:solidFill>
          <a:ln w="12700">
            <a:solidFill>
              <a:srgbClr val="B46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B46A0F"/>
                </a:solidFill>
                <a:latin typeface="Calibri"/>
              </a:rPr>
              <a:t>WATCH OUT   </a:t>
            </a:r>
            <a:r>
              <a:rPr sz="1800">
                <a:solidFill>
                  <a:srgbClr val="222222"/>
                </a:solidFill>
                <a:latin typeface="Calibri"/>
              </a:rPr>
              <a:t>Watch the zero case. In hybrid, duty 0 puts PWM_MAX on BOTH pins, which is a hard brake, not a coast. Op 12 tests for zero separately and calls coast_all(). Miss that and the vehicle will not roll when you let go.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Hybrid drive, and the trap in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70470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200" b="1">
                <a:solidFill>
                  <a:srgbClr val="0E7C86"/>
                </a:solidFill>
                <a:latin typeface="Consolas"/>
              </a:defRPr>
            </a:pPr>
            <a:r>
              <a:rPr sz="1200" b="1">
                <a:solidFill>
                  <a:srgbClr val="0E7C86"/>
                </a:solidFill>
                <a:latin typeface="Consolas"/>
              </a:rPr>
              <a:t>Motors.ino</a:t>
            </a:r>
          </a:p>
        </p:txBody>
      </p:sp>
      <p:sp>
        <p:nvSpPr>
          <p:cNvPr id="7" name="CODE_PANEL"/>
          <p:cNvSpPr/>
          <p:nvPr/>
        </p:nvSpPr>
        <p:spPr>
          <a:xfrm>
            <a:off x="502920" y="1517904"/>
            <a:ext cx="7047088" cy="4745736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  <a:defRPr sz="1450">
                <a:latin typeface="Consolas"/>
              </a:defRPr>
            </a:pPr>
            <a:r>
              <a:rPr sz="1450">
                <a:solidFill>
                  <a:srgbClr val="222222"/>
                </a:solidFill>
                <a:latin typeface="Consolas"/>
              </a:rPr>
              <a:t>void set_motor_hybrid(uint8_t in1_ch, uint8_t in2_ch, int duty)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50">
                <a:latin typeface="Consolas"/>
              </a:defRPr>
            </a:pPr>
            <a:r>
              <a:rPr sz="1450">
                <a:solidFill>
                  <a:srgbClr val="222222"/>
                </a:solidFill>
                <a:latin typeface="Consolas"/>
              </a:rPr>
              <a:t>  duty = constrain(duty, -PWM_MAX, PWM_MAX);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50">
                <a:latin typeface="Consolas"/>
              </a:defRPr>
            </a:pPr>
            <a:r>
              <a:rPr sz="1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50">
                <a:latin typeface="Consolas"/>
              </a:defRPr>
            </a:pPr>
            <a:r>
              <a:rPr sz="1450" b="1">
                <a:solidFill>
                  <a:srgbClr val="0E7C86"/>
                </a:solidFill>
                <a:latin typeface="Consolas"/>
              </a:rPr>
              <a:t>  if (duty == 0) {           // WITHOUT THIS, ZERO IS A BRAKE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50">
                <a:latin typeface="Consolas"/>
              </a:defRPr>
            </a:pPr>
            <a:r>
              <a:rPr sz="1450" b="1">
                <a:solidFill>
                  <a:srgbClr val="0E7C86"/>
                </a:solidFill>
                <a:latin typeface="Consolas"/>
              </a:rPr>
              <a:t>    ledcWrite(in1_ch, 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50">
                <a:latin typeface="Consolas"/>
              </a:defRPr>
            </a:pPr>
            <a:r>
              <a:rPr sz="1450" b="1">
                <a:solidFill>
                  <a:srgbClr val="0E7C86"/>
                </a:solidFill>
                <a:latin typeface="Consolas"/>
              </a:rPr>
              <a:t>    ledcWrite(in2_ch, 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50">
                <a:latin typeface="Consolas"/>
              </a:defRPr>
            </a:pPr>
            <a:r>
              <a:rPr sz="1450" b="1">
                <a:solidFill>
                  <a:srgbClr val="0E7C86"/>
                </a:solidFill>
                <a:latin typeface="Consolas"/>
              </a:rPr>
              <a:t>    return;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50">
                <a:latin typeface="Consolas"/>
              </a:defRPr>
            </a:pPr>
            <a:r>
              <a:rPr sz="1450" b="1">
                <a:solidFill>
                  <a:srgbClr val="0E7C86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50">
                <a:latin typeface="Consolas"/>
              </a:defRPr>
            </a:pPr>
            <a:r>
              <a:rPr sz="145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50">
                <a:latin typeface="Consolas"/>
              </a:defRPr>
            </a:pPr>
            <a:r>
              <a:rPr sz="1450">
                <a:solidFill>
                  <a:srgbClr val="222222"/>
                </a:solidFill>
                <a:latin typeface="Consolas"/>
              </a:rPr>
              <a:t>  int inverse = PWM_MAX - abs(duty);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50">
                <a:latin typeface="Consolas"/>
              </a:defRPr>
            </a:pPr>
            <a:r>
              <a:rPr sz="1450">
                <a:solidFill>
                  <a:srgbClr val="222222"/>
                </a:solidFill>
                <a:latin typeface="Consolas"/>
              </a:rPr>
              <a:t>  if (duty &gt; 0)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50">
                <a:latin typeface="Consolas"/>
              </a:defRPr>
            </a:pPr>
            <a:r>
              <a:rPr sz="1450">
                <a:solidFill>
                  <a:srgbClr val="222222"/>
                </a:solidFill>
                <a:latin typeface="Consolas"/>
              </a:rPr>
              <a:t>    ledcWrite(in1_ch, PWM_MAX);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50">
                <a:latin typeface="Consolas"/>
              </a:defRPr>
            </a:pPr>
            <a:r>
              <a:rPr sz="1450">
                <a:solidFill>
                  <a:srgbClr val="222222"/>
                </a:solidFill>
                <a:latin typeface="Consolas"/>
              </a:rPr>
              <a:t>    ledcWrite(in2_ch, inverse);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50">
                <a:latin typeface="Consolas"/>
              </a:defRPr>
            </a:pPr>
            <a:r>
              <a:rPr sz="1450">
                <a:solidFill>
                  <a:srgbClr val="222222"/>
                </a:solidFill>
                <a:latin typeface="Consolas"/>
              </a:rPr>
              <a:t>  } else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50">
                <a:latin typeface="Consolas"/>
              </a:defRPr>
            </a:pPr>
            <a:r>
              <a:rPr sz="1450">
                <a:solidFill>
                  <a:srgbClr val="222222"/>
                </a:solidFill>
                <a:latin typeface="Consolas"/>
              </a:rPr>
              <a:t>    ledcWrite(in1_ch, inverse);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50">
                <a:latin typeface="Consolas"/>
              </a:defRPr>
            </a:pPr>
            <a:r>
              <a:rPr sz="1450">
                <a:solidFill>
                  <a:srgbClr val="222222"/>
                </a:solidFill>
                <a:latin typeface="Consolas"/>
              </a:rPr>
              <a:t>    ledcWrite(in2_ch, PWM_MAX);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50">
                <a:latin typeface="Consolas"/>
              </a:defRPr>
            </a:pPr>
            <a:r>
              <a:rPr sz="1450">
                <a:solidFill>
                  <a:srgbClr val="222222"/>
                </a:solidFill>
                <a:latin typeface="Consolas"/>
              </a:rPr>
              <a:t>  }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50">
                <a:latin typeface="Consolas"/>
              </a:defRPr>
            </a:pPr>
            <a:r>
              <a:rPr sz="1450">
                <a:solidFill>
                  <a:srgbClr val="222222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0048" y="1517904"/>
            <a:ext cx="3818727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 sz="2100" b="0">
                <a:solidFill>
                  <a:srgbClr val="222222"/>
                </a:solidFill>
                <a:latin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</a:rPr>
              <a:t>Full duty forward: IN1 = 1023, IN2 = 0. Driven hard.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  <a:defRPr sz="2100" b="0">
                <a:solidFill>
                  <a:srgbClr val="222222"/>
                </a:solidFill>
                <a:latin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</a:rPr>
              <a:t>Half duty forward: IN1 = 1023, IN2 = 512. Half driven, half braked.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  <a:defRPr sz="2100" b="0">
                <a:solidFill>
                  <a:srgbClr val="222222"/>
                </a:solidFill>
                <a:latin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</a:rPr>
              <a:t>Zero without the guard: IN1 = 1023, IN2 = 1023. Both high. That is a brake.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  <a:defRPr sz="105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700"/>
              </a:spcAft>
              <a:defRPr sz="2100" b="0">
                <a:solidFill>
                  <a:srgbClr val="222222"/>
                </a:solidFill>
                <a:latin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</a:rPr>
              <a:t>A vehicle that will not coast, and cannot be pushed by hand when it is switched on, has this bug.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The ramp, and the bug that hid in it for a year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70470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200" b="1">
                <a:solidFill>
                  <a:srgbClr val="0E7C86"/>
                </a:solidFill>
                <a:latin typeface="Consolas"/>
              </a:defRPr>
            </a:pPr>
            <a:r>
              <a:rPr sz="1200" b="1">
                <a:solidFill>
                  <a:srgbClr val="0E7C86"/>
                </a:solidFill>
                <a:latin typeface="Consolas"/>
              </a:rPr>
              <a:t>Motors.ino</a:t>
            </a:r>
          </a:p>
        </p:txBody>
      </p:sp>
      <p:sp>
        <p:nvSpPr>
          <p:cNvPr id="7" name="CODE_PANEL"/>
          <p:cNvSpPr/>
          <p:nvPr/>
        </p:nvSpPr>
        <p:spPr>
          <a:xfrm>
            <a:off x="502920" y="1517904"/>
            <a:ext cx="7047088" cy="4745736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666666"/>
                </a:solidFill>
                <a:latin typeface="Consolas"/>
              </a:rPr>
              <a:t>// Op 11.2 wrote this: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00">
                <a:latin typeface="Consolas"/>
              </a:defRPr>
            </a:pPr>
            <a:r>
              <a:rPr sz="1600" b="1">
                <a:solidFill>
                  <a:srgbClr val="0E7C86"/>
                </a:solidFill>
                <a:latin typeface="Consolas"/>
              </a:rPr>
              <a:t>current += (target - current) * RAMP_FACTOR;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666666"/>
                </a:solidFill>
                <a:latin typeface="Consolas"/>
              </a:rPr>
              <a:t>// With RAMP_FACTOR = 0.5 and a gap of 1: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666666"/>
                </a:solidFill>
                <a:latin typeface="Consolas"/>
              </a:rPr>
              <a:t>//    1 * 0.5 = 0.5,  truncated to 0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666666"/>
                </a:solidFill>
                <a:latin typeface="Consolas"/>
              </a:rPr>
              <a:t>//    -&gt; current never changes again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666666"/>
                </a:solidFill>
                <a:latin typeface="Consolas"/>
              </a:rPr>
              <a:t>//    -&gt; the ramp stalls ONE COUNT short, forever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666666"/>
                </a:solidFill>
                <a:latin typeface="Consolas"/>
              </a:rPr>
              <a:t>// Op 12: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222222"/>
                </a:solidFill>
                <a:latin typeface="Consolas"/>
              </a:rPr>
              <a:t>int ramp_towards(int current, int target)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222222"/>
                </a:solidFill>
                <a:latin typeface="Consolas"/>
              </a:rPr>
              <a:t>  int gap = target - current;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222222"/>
                </a:solidFill>
                <a:latin typeface="Consolas"/>
              </a:rPr>
              <a:t>  if (gap == 0) return current;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222222"/>
                </a:solidFill>
                <a:latin typeface="Consolas"/>
              </a:rPr>
              <a:t>  int step = (int)(gap * RAMP_FACTOR);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00">
                <a:latin typeface="Consolas"/>
              </a:defRPr>
            </a:pPr>
            <a:r>
              <a:rPr sz="1600" b="1">
                <a:solidFill>
                  <a:srgbClr val="0E7C86"/>
                </a:solidFill>
                <a:latin typeface="Consolas"/>
              </a:rPr>
              <a:t>  if (step == 0) step = (gap &gt; 0) ? 1 : -1;   // the fix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222222"/>
                </a:solidFill>
                <a:latin typeface="Consolas"/>
              </a:rPr>
              <a:t>  return current + step;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600">
                <a:latin typeface="Consolas"/>
              </a:defRPr>
            </a:pPr>
            <a:r>
              <a:rPr sz="1600">
                <a:solidFill>
                  <a:srgbClr val="222222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0048" y="1517904"/>
            <a:ext cx="3818727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Ramping stops the vehicle lurching and stops it yanking a large current out of the battery on every stick movement.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Closing a FRACTION of the gap each step gives a smooth exponential approach - fast at first, gentle at the end.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The bug is invisible. One count out of 1023 is 0.1% of full power. Nobody would ever see it on a wheel.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It matters because comparisons against the target then never become true, and anything waiting for "ramp finished" waits forever.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Do it now  -  decay modes and ramping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11185855" cy="530352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UPLOAD AND RUN:   </a:t>
            </a:r>
            <a:r>
              <a:rPr sz="1500" b="1">
                <a:solidFill>
                  <a:srgbClr val="FFFFFF"/>
                </a:solidFill>
                <a:latin typeface="Consolas"/>
              </a:rPr>
              <a:t>a2b_coast_brake_hybrid</a:t>
            </a:r>
            <a:r>
              <a:rPr sz="1200">
                <a:solidFill>
                  <a:srgbClr val="FFFFFF"/>
                </a:solidFill>
                <a:latin typeface="Calibri"/>
              </a:rPr>
              <a:t>     (35 minutes)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6249137" cy="3273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1.  sign, then  go 100. Pinch the tire gently.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2.  hybrid, then  go 100. Pinch again. Which holds speed?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3.  Find the lowest  go  that turns the wheel in each mode.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4.  ramp off, then  go 1023  from a standstill. Then  ramp on  and repeat. Listen to the difference.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5.  Set RAMP_FACTOR to 0.9, then 0.1. What changes?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6.  DELETE the minimum-step line in ramp_towards and run  go 500. Watch where the printout stops.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63537" y="1901952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What you should see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63537" y="2304288"/>
            <a:ext cx="4525238" cy="7985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900" b="0">
                <a:solidFill>
                  <a:srgbClr val="222222"/>
                </a:solidFill>
                <a:latin typeface="Calibri"/>
              </a:defRPr>
            </a:pPr>
            <a:r>
              <a:rPr sz="1900" b="0">
                <a:solidFill>
                  <a:srgbClr val="222222"/>
                </a:solidFill>
                <a:latin typeface="Calibri"/>
              </a:rPr>
              <a:t>Step 6: the ramp prints down to one count short of the target, then stops.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63537" y="3176016"/>
            <a:ext cx="452523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800" b="1">
                <a:solidFill>
                  <a:srgbClr val="0E7C86"/>
                </a:solidFill>
                <a:latin typeface="Calibri"/>
              </a:defRPr>
            </a:pPr>
            <a:r>
              <a:rPr sz="1800" b="1">
                <a:solidFill>
                  <a:srgbClr val="0E7C86"/>
                </a:solidFill>
                <a:latin typeface="Calibri"/>
              </a:rPr>
              <a:t>Answer these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63537" y="3578352"/>
            <a:ext cx="4525238" cy="15971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Why does fast decay hold speed better under load?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Why would a 0.1% speed error still be a real bug?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FBECEC"/>
          </a:solidFill>
          <a:ln w="12700">
            <a:solidFill>
              <a:srgbClr val="A3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A32A2A"/>
                </a:solidFill>
                <a:latin typeface="Calibri"/>
              </a:rPr>
              <a:t>SAFETY   </a:t>
            </a:r>
            <a:r>
              <a:rPr sz="1800">
                <a:solidFill>
                  <a:srgbClr val="222222"/>
                </a:solidFill>
                <a:latin typeface="Calibri"/>
              </a:rPr>
              <a:t>Wheels off the ground. One motor, up to full power.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Pulse width modulation: how a pin makes a half speed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132588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</a:rPr>
              <a:t>25% duty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1847088"/>
            <a:ext cx="7498079" cy="0"/>
          </a:xfrm>
          <a:prstGeom prst="line">
            <a:avLst/>
          </a:prstGeom>
          <a:ln w="12700">
            <a:solidFill>
              <a:srgbClr val="C8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20240" y="1280160"/>
            <a:ext cx="468629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920240" y="1280160"/>
            <a:ext cx="0" cy="566928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388869" y="1280160"/>
            <a:ext cx="0" cy="566928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88869" y="1847088"/>
            <a:ext cx="1405890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94759" y="1280160"/>
            <a:ext cx="468629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794759" y="1280160"/>
            <a:ext cx="0" cy="566928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63388" y="1280160"/>
            <a:ext cx="0" cy="566928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263388" y="1847088"/>
            <a:ext cx="1405890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669278" y="1280160"/>
            <a:ext cx="468629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669278" y="1280160"/>
            <a:ext cx="0" cy="566928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137907" y="1280160"/>
            <a:ext cx="0" cy="566928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137907" y="1847088"/>
            <a:ext cx="1405890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43797" y="1280160"/>
            <a:ext cx="468629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543797" y="1280160"/>
            <a:ext cx="0" cy="566928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12426" y="1280160"/>
            <a:ext cx="0" cy="566928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012426" y="1847088"/>
            <a:ext cx="1405890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528047" y="1298448"/>
            <a:ext cx="2377440" cy="65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quarter power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ledcWrite(pin, 64)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2578608"/>
            <a:ext cx="132588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</a:rPr>
              <a:t>50% duty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920240" y="3035808"/>
            <a:ext cx="7498079" cy="0"/>
          </a:xfrm>
          <a:prstGeom prst="line">
            <a:avLst/>
          </a:prstGeom>
          <a:ln w="12700">
            <a:solidFill>
              <a:srgbClr val="C8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20240" y="2468880"/>
            <a:ext cx="937259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920240" y="2468880"/>
            <a:ext cx="0" cy="566928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7499" y="2468880"/>
            <a:ext cx="0" cy="566928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857499" y="3035808"/>
            <a:ext cx="937260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794759" y="2468880"/>
            <a:ext cx="937259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794759" y="2468880"/>
            <a:ext cx="0" cy="566928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732018" y="2468880"/>
            <a:ext cx="0" cy="566928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732018" y="3035808"/>
            <a:ext cx="937260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669278" y="2468880"/>
            <a:ext cx="937259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669278" y="2468880"/>
            <a:ext cx="0" cy="566928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606537" y="2468880"/>
            <a:ext cx="0" cy="566928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606537" y="3035808"/>
            <a:ext cx="937260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543797" y="2468880"/>
            <a:ext cx="937259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7543797" y="2468880"/>
            <a:ext cx="0" cy="566928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481056" y="2468880"/>
            <a:ext cx="0" cy="566928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481056" y="3035808"/>
            <a:ext cx="937260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528047" y="2487168"/>
            <a:ext cx="2377440" cy="65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half power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ledcWrite(pin, 128)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3767328"/>
            <a:ext cx="132588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1F3A5F"/>
                </a:solidFill>
                <a:latin typeface="Calibri"/>
              </a:defRPr>
            </a:pPr>
            <a:r>
              <a:rPr sz="1800" b="1">
                <a:solidFill>
                  <a:srgbClr val="1F3A5F"/>
                </a:solidFill>
                <a:latin typeface="Calibri"/>
              </a:rPr>
              <a:t>100% duty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920240" y="4224528"/>
            <a:ext cx="7498079" cy="0"/>
          </a:xfrm>
          <a:prstGeom prst="line">
            <a:avLst/>
          </a:prstGeom>
          <a:ln w="12700">
            <a:solidFill>
              <a:srgbClr val="C8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920240" y="3657600"/>
            <a:ext cx="1874519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920240" y="3657600"/>
            <a:ext cx="0" cy="566928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794759" y="3657600"/>
            <a:ext cx="1874519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794759" y="3657600"/>
            <a:ext cx="0" cy="566928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669278" y="3657600"/>
            <a:ext cx="1874519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669278" y="3657600"/>
            <a:ext cx="0" cy="566928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543797" y="3657600"/>
            <a:ext cx="1874519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7543797" y="3657600"/>
            <a:ext cx="0" cy="566928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528047" y="3675888"/>
            <a:ext cx="2377440" cy="65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full power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ledcWrite(pin, 255)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20240" y="4956047"/>
            <a:ext cx="7498079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one cycle = 1/20000 s; this picture repeats 5000 times a second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2920" y="5303520"/>
            <a:ext cx="11185855" cy="960120"/>
          </a:xfrm>
          <a:prstGeom prst="roundRect">
            <a:avLst>
              <a:gd name="adj" fmla="val 4000"/>
            </a:avLst>
          </a:prstGeom>
          <a:solidFill>
            <a:srgbClr val="EEF3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/>
          <a:lstStyle/>
          <a:p>
            <a:pPr algn="l"/>
            <a:r>
              <a:rPr sz="1300" b="1">
                <a:solidFill>
                  <a:srgbClr val="0E7C86"/>
                </a:solidFill>
                <a:latin typeface="Calibri"/>
              </a:rPr>
              <a:t>KEY POINT   </a:t>
            </a:r>
            <a:r>
              <a:rPr sz="1800">
                <a:solidFill>
                  <a:srgbClr val="222222"/>
                </a:solidFill>
                <a:latin typeface="Calibri"/>
              </a:rPr>
              <a:t>The pin is only ever fully on or fully off. Speed comes from the FRACTION of each cycle it spends on - the duty cycle.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remap_axis: deadzone, scale, and range, in one function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704708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  <a:defRPr sz="1200" b="1">
                <a:solidFill>
                  <a:srgbClr val="0E7C86"/>
                </a:solidFill>
                <a:latin typeface="Consolas"/>
              </a:defRPr>
            </a:pPr>
            <a:r>
              <a:rPr sz="1200" b="1">
                <a:solidFill>
                  <a:srgbClr val="0E7C86"/>
                </a:solidFill>
                <a:latin typeface="Consolas"/>
              </a:rPr>
              <a:t>Motors.ino</a:t>
            </a:r>
          </a:p>
        </p:txBody>
      </p:sp>
      <p:sp>
        <p:nvSpPr>
          <p:cNvPr id="7" name="CODE_PANEL"/>
          <p:cNvSpPr/>
          <p:nvPr/>
        </p:nvSpPr>
        <p:spPr>
          <a:xfrm>
            <a:off x="502920" y="1517904"/>
            <a:ext cx="7047088" cy="4745736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C8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int remap_axis(int raw_value, int specific_dz, float scale_factor,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             int in_max, int out_max)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int dz = get_effective_deadzone(specific_dz);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if (abs(raw_value) &lt; dz) return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int sign   = (raw_value &gt; 0) ? 1 : -1;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 b="1">
                <a:solidFill>
                  <a:srgbClr val="0E7C86"/>
                </a:solidFill>
                <a:latin typeface="Consolas"/>
              </a:rPr>
              <a:t>  int scaled = lround(abs(raw_value) * scale_factor);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 b="1">
                <a:solidFill>
                  <a:srgbClr val="0E7C86"/>
                </a:solidFill>
                <a:latin typeface="Consolas"/>
              </a:rPr>
              <a:t>  scaled = constrain(scaled, dz, in_max);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  return sign * map(scaled, dz, in_max, 0, out_max);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>
                <a:latin typeface="Consolas"/>
              </a:defRPr>
            </a:pPr>
            <a:r>
              <a:rPr sz="1400">
                <a:solidFill>
                  <a:srgbClr val="222222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0048" y="1517904"/>
            <a:ext cx="3818727" cy="4745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  <a:defRPr sz="2100" b="0">
                <a:solidFill>
                  <a:srgbClr val="222222"/>
                </a:solidFill>
                <a:latin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</a:rPr>
              <a:t>A per-axis deadzone of -1 means "use the global one" - a default and an override, with no second flag.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  <a:defRPr sz="2100" b="0">
                <a:solidFill>
                  <a:srgbClr val="222222"/>
                </a:solidFill>
                <a:latin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</a:rPr>
              <a:t>lround(), not a cast, so 0.5 rounds up rather than truncating. The same class of bug as the ramp.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  <a:defRPr sz="2100" b="0">
                <a:solidFill>
                  <a:srgbClr val="222222"/>
                </a:solidFill>
                <a:latin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</a:rPr>
              <a:t>constrain() BEFORE map(): map() does not clamp.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  <a:defRPr sz="2100" b="0">
                <a:solidFill>
                  <a:srgbClr val="222222"/>
                </a:solidFill>
                <a:latin typeface="Calibri"/>
              </a:defRPr>
            </a:pPr>
            <a:r>
              <a:rPr sz="2100" b="0">
                <a:solidFill>
                  <a:srgbClr val="222222"/>
                </a:solidFill>
                <a:latin typeface="Calibri"/>
              </a:rPr>
              <a:t>Sign comes off at the start and goes back on at the end.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Throttle modes, and four servos on one stick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466902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900" b="1">
                <a:solidFill>
                  <a:srgbClr val="0E7C86"/>
                </a:solidFill>
                <a:latin typeface="Calibri"/>
              </a:defRPr>
            </a:pPr>
            <a:r>
              <a:rPr sz="1900" b="1">
                <a:solidFill>
                  <a:srgbClr val="0E7C86"/>
                </a:solidFill>
                <a:latin typeface="Calibri"/>
              </a:rPr>
              <a:t>Throttle modes  (L3 toggles)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00784"/>
            <a:ext cx="4669028" cy="4562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NORMAL - full forward speed, steering scaled to 0.75.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FAST   - full forward speed, full steering authority.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90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Only the STEERING scale changes. Top speed is the same in both.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90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This matters: it was the steering that needed softening, not the speed. A global speed cap makes a vehicle feel broken; a steering cap makes it feel controllable.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9148" y="1188720"/>
            <a:ext cx="6059627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900" b="1">
                <a:solidFill>
                  <a:srgbClr val="0E7C86"/>
                </a:solidFill>
                <a:latin typeface="Calibri"/>
              </a:defRPr>
            </a:pPr>
            <a:r>
              <a:rPr sz="1900" b="1">
                <a:solidFill>
                  <a:srgbClr val="0E7C86"/>
                </a:solidFill>
                <a:latin typeface="Calibri"/>
              </a:rPr>
              <a:t>Four servos, one right stick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9148" y="1700784"/>
            <a:ext cx="6059627" cy="45628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Each servo owns one DIRECTION of the stick, and pushing that way moves it from center to one end, about 90 degrees:</a:t>
            </a:r>
          </a:p>
          <a:p>
            <a:pPr lvl="1"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servo 1  -  stick up</a:t>
            </a:r>
          </a:p>
          <a:p>
            <a:pPr lvl="1"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servo 3  -  stick down</a:t>
            </a:r>
          </a:p>
          <a:p>
            <a:pPr lvl="1"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servo 2  -  stick left</a:t>
            </a:r>
          </a:p>
          <a:p>
            <a:pPr lvl="1"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servo 4  -  stick right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90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Each sits centered whenever the stick is not pushed its way, so one stick aims four independent things.</a:t>
            </a:r>
          </a:p>
          <a:p>
            <a:pPr algn="l">
              <a:lnSpc>
                <a:spcPct val="100000"/>
              </a:lnSpc>
              <a:spcAft>
                <a:spcPts val="800"/>
              </a:spcAft>
              <a:defRPr sz="900" b="0">
                <a:solidFill>
                  <a:srgbClr val="222222"/>
                </a:solidFill>
                <a:latin typeface="Calibri"/>
              </a:defRPr>
            </a:pPr>
          </a:p>
          <a:p>
            <a:pPr algn="l">
              <a:lnSpc>
                <a:spcPct val="100000"/>
              </a:lnSpc>
              <a:spcAft>
                <a:spcPts val="80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Travel is 1.0 to 2.0 ms. 11.2 used 0.5 to 2.5, which can drive a servo into its mechanical end stops.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A servo listens to the LENGTH of a pulse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36192"/>
            <a:ext cx="146304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0E7C86"/>
                </a:solidFill>
                <a:latin typeface="Consolas"/>
              </a:defRPr>
            </a:pPr>
            <a:r>
              <a:rPr sz="1800" b="1">
                <a:solidFill>
                  <a:srgbClr val="0E7C86"/>
                </a:solidFill>
                <a:latin typeface="Consolas"/>
              </a:rPr>
              <a:t>1.0 ms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57400" y="1975104"/>
            <a:ext cx="7315200" cy="0"/>
          </a:xfrm>
          <a:prstGeom prst="line">
            <a:avLst/>
          </a:prstGeom>
          <a:ln w="12700">
            <a:solidFill>
              <a:srgbClr val="C8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057400" y="1444752"/>
            <a:ext cx="0" cy="530352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057400" y="1444752"/>
            <a:ext cx="365760" cy="0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423160" y="1444752"/>
            <a:ext cx="0" cy="530352"/>
          </a:xfrm>
          <a:prstGeom prst="line">
            <a:avLst/>
          </a:prstGeom>
          <a:ln w="317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60320" y="1499616"/>
            <a:ext cx="411480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one end of the travel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60320"/>
            <a:ext cx="146304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1F3A5F"/>
                </a:solidFill>
                <a:latin typeface="Consolas"/>
              </a:defRPr>
            </a:pPr>
            <a:r>
              <a:rPr sz="1800" b="1">
                <a:solidFill>
                  <a:srgbClr val="1F3A5F"/>
                </a:solidFill>
                <a:latin typeface="Consolas"/>
              </a:rPr>
              <a:t>1.5 ms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057400" y="2999232"/>
            <a:ext cx="7315200" cy="0"/>
          </a:xfrm>
          <a:prstGeom prst="line">
            <a:avLst/>
          </a:prstGeom>
          <a:ln w="12700">
            <a:solidFill>
              <a:srgbClr val="C8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057400" y="2468880"/>
            <a:ext cx="0" cy="530352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057400" y="2468880"/>
            <a:ext cx="548640" cy="0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606040" y="2468880"/>
            <a:ext cx="0" cy="530352"/>
          </a:xfrm>
          <a:prstGeom prst="line">
            <a:avLst/>
          </a:prstGeom>
          <a:ln w="3175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43200" y="2523744"/>
            <a:ext cx="411480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centered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584448"/>
            <a:ext cx="146304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B46A0F"/>
                </a:solidFill>
                <a:latin typeface="Consolas"/>
              </a:defRPr>
            </a:pPr>
            <a:r>
              <a:rPr sz="1800" b="1">
                <a:solidFill>
                  <a:srgbClr val="B46A0F"/>
                </a:solidFill>
                <a:latin typeface="Consolas"/>
              </a:rPr>
              <a:t>2.0 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57400" y="4023360"/>
            <a:ext cx="7315200" cy="0"/>
          </a:xfrm>
          <a:prstGeom prst="line">
            <a:avLst/>
          </a:prstGeom>
          <a:ln w="12700">
            <a:solidFill>
              <a:srgbClr val="C8D2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57400" y="3493008"/>
            <a:ext cx="0" cy="530352"/>
          </a:xfrm>
          <a:prstGeom prst="line">
            <a:avLst/>
          </a:prstGeom>
          <a:ln w="31750">
            <a:solidFill>
              <a:srgbClr val="B46A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057400" y="3493008"/>
            <a:ext cx="731520" cy="0"/>
          </a:xfrm>
          <a:prstGeom prst="line">
            <a:avLst/>
          </a:prstGeom>
          <a:ln w="31750">
            <a:solidFill>
              <a:srgbClr val="B46A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88920" y="3493008"/>
            <a:ext cx="0" cy="530352"/>
          </a:xfrm>
          <a:prstGeom prst="line">
            <a:avLst/>
          </a:prstGeom>
          <a:ln w="31750">
            <a:solidFill>
              <a:srgbClr val="B46A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926080" y="3547872"/>
            <a:ext cx="411480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222222"/>
                </a:solidFill>
                <a:latin typeface="Calibri"/>
              </a:defRPr>
            </a:pPr>
            <a:r>
              <a:rPr sz="1800" b="0">
                <a:solidFill>
                  <a:srgbClr val="222222"/>
                </a:solidFill>
                <a:latin typeface="Calibri"/>
              </a:rPr>
              <a:t>the other 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4517136"/>
            <a:ext cx="7315200" cy="367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666666"/>
                </a:solidFill>
                <a:latin typeface="Calibri"/>
              </a:defRPr>
            </a:pPr>
            <a:r>
              <a:rPr sz="1800" b="0">
                <a:solidFill>
                  <a:srgbClr val="666666"/>
                </a:solidFill>
                <a:latin typeface="Calibri"/>
              </a:rPr>
              <a:t>the whole cycle is 20 ms, repeated 50 times a second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010911"/>
            <a:ext cx="11185855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222222"/>
                </a:solidFill>
                <a:latin typeface="Consolas"/>
              </a:defRPr>
            </a:pPr>
            <a:r>
              <a:rPr sz="1400" b="0">
                <a:solidFill>
                  <a:srgbClr val="222222"/>
                </a:solidFill>
                <a:latin typeface="Consolas"/>
              </a:rPr>
              <a:t>The ESP32 counts duty, not microseconds. At 16-bit resolution one 20 ms cycle is 65536 counts: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400" b="0">
                <a:solidFill>
                  <a:srgbClr val="222222"/>
                </a:solidFill>
                <a:latin typeface="Consolas"/>
              </a:defRPr>
            </a:pPr>
            <a:r>
              <a:rPr sz="1400" b="0">
                <a:solidFill>
                  <a:srgbClr val="222222"/>
                </a:solidFill>
                <a:latin typeface="Consolas"/>
              </a:rPr>
              <a:t>duty = microseconds * 65536 / 20000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274320"/>
            <a:ext cx="11185855" cy="777240"/>
          </a:xfrm>
        </p:spPr>
        <p:txBody>
          <a:bodyPr wrap="square" anchor="b"/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1F3A5F"/>
                </a:solidFill>
                <a:latin typeface="Calibri"/>
              </a:defRPr>
            </a:pPr>
            <a:r>
              <a:rPr sz="2800" b="1">
                <a:solidFill>
                  <a:srgbClr val="1F3A5F"/>
                </a:solidFill>
                <a:latin typeface="Calibri"/>
              </a:rPr>
              <a:t>Check yourself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97280"/>
            <a:ext cx="11185855" cy="19050"/>
          </a:xfrm>
          <a:prstGeom prst="rect">
            <a:avLst/>
          </a:prstGeom>
          <a:solidFill>
            <a:srgbClr val="C8D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382512"/>
            <a:ext cx="10545775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Pathfinder Advanced - Op Program 12  |  Lesson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1575" y="6382512"/>
            <a:ext cx="457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rPr sz="1000" b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rPr sz="1600" b="0">
                <a:solidFill>
                  <a:srgbClr val="666666"/>
                </a:solidFill>
                <a:latin typeface="Calibri"/>
              </a:rPr>
              <a:t>Next lesson: identity that survives a power cycle.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11185855" cy="4599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1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1.  Why can you not have 12-bit resolution at 30 kHz on this chip?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2.  What does more PWM resolution actually buy you, and where?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3.  Describe the four states of an H-bridge and what the motor does in each.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4.  Why does hybrid drive hold speed better under load?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5.  In hybrid drive, what happens at duty 0 without the guard clause?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6.  Explain the ramp truncation bug, and why nobody would see it on a wheel.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7.  Why does remap_axis call constrain() before map() rather than after?</a:t>
            </a:r>
          </a:p>
          <a:p>
            <a:pPr algn="l">
              <a:lnSpc>
                <a:spcPct val="100000"/>
              </a:lnSpc>
              <a:spcAft>
                <a:spcPts val="1100"/>
              </a:spcAft>
              <a:defRPr sz="2300" b="0">
                <a:solidFill>
                  <a:srgbClr val="222222"/>
                </a:solidFill>
                <a:latin typeface="Calibri"/>
              </a:defRPr>
            </a:pPr>
            <a:r>
              <a:rPr sz="2300" b="0">
                <a:solidFill>
                  <a:srgbClr val="222222"/>
                </a:solidFill>
                <a:latin typeface="Calibri"/>
              </a:rPr>
              <a:t>8.  Why does NORMAL mode scale steering rather than top speed?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