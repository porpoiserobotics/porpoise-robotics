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controllers per group makes the allowlist activity far better. If you only have one each, pair groups up for that section.</a:t>
            </a:r>
          </a:p>
          <a:p>
            <a:r>
              <a:rPr sz="1200">
                <a:latin typeface="Calibri"/>
              </a:rPr>
              <a:t>Charge every pad before the class. A flat controller looks exactly like a refused connection.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Objective three - what commit() actually does - is the one that prevents a real hardware failure later. Do not let it slide by.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breaks. Both activities are long and both are worth their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Name the inversion out loud: normally your code calls a library, and with a callback the library calls your code.</a:t>
            </a:r>
          </a:p>
          <a:p>
            <a:r>
              <a:rPr sz="1200">
                <a:latin typeface="Calibri"/>
              </a:rPr>
              <a:t>The practical question is always WHEN it runs and what is safe to do there. Ask that before you answer it.</a:t>
            </a:r>
          </a:p>
          <a:p>
            <a:r>
              <a:rPr sz="1200">
                <a:latin typeface="Calibri"/>
              </a:rPr>
              <a:t>Here both callbacks run inside BP32.update(), which they call themselves from loop(). So it is their thread, at a moment they chose, and printing is safe.</a:t>
            </a:r>
          </a:p>
          <a:p>
            <a:r>
              <a:rPr sz="1200">
                <a:latin typeface="Calibri"/>
              </a:rPr>
              <a:t>The last line is the important caveat. From an interrupt, neither of those would be true - and that is a whole category of embedded bug.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Set the problem up first: pairing alone does not give you one vehicle per controller.</a:t>
            </a:r>
          </a:p>
          <a:p>
            <a:r>
              <a:rPr sz="1200">
                <a:latin typeface="Calibri"/>
              </a:rPr>
              <a:t>Mistake one is the cruel one. Called before setup(), the allowlist calls do nothing AT ALL, and they do it silently. No error, no warning.</a:t>
            </a:r>
          </a:p>
          <a:p>
            <a:r>
              <a:rPr sz="1200">
                <a:latin typeface="Calibri"/>
              </a:rPr>
              <a:t>Mistake two is the one that rots slowly: add rather than rebuild, and stale entries accumulate where nobody can see them.</a:t>
            </a:r>
          </a:p>
          <a:p>
            <a:r>
              <a:rPr sz="1200">
                <a:latin typeface="Calibri"/>
              </a:rPr>
              <a:t>Rebuild from scratch every boot, and the sketch is the single source of truth. That principle is worth stating generally.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Set the problem up first: pairing alone does not give you one vehicle per controller.</a:t>
            </a:r>
          </a:p>
          <a:p>
            <a:r>
              <a:rPr sz="1200">
                <a:latin typeface="Calibri"/>
              </a:rPr>
              <a:t>Mistake one is the cruel one. Called before setup(), the allowlist calls do nothing AT ALL, and they do it silently. No error, no warning.</a:t>
            </a:r>
          </a:p>
          <a:p>
            <a:r>
              <a:rPr sz="1200">
                <a:latin typeface="Calibri"/>
              </a:rPr>
              <a:t>Mistake two is the one that rots slowly: add rather than rebuild, and stale entries accumulate where nobody can see them.</a:t>
            </a:r>
          </a:p>
          <a:p>
            <a:r>
              <a:rPr sz="1200">
                <a:latin typeface="Calibri"/>
              </a:rPr>
              <a:t>Rebuild from scratch every boot, and the sketch is the single source of truth. That principle is worth stating generally.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activity.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3 is the moment it becomes real: a second controller turned away with a printed reason.</a:t>
            </a:r>
          </a:p>
          <a:p>
            <a:r>
              <a:rPr sz="1200">
                <a:latin typeface="Calibri"/>
              </a:rPr>
              <a:t>Step 5 locks to an address that does not exist, so nothing can connect. Good for showing that the mechanism really is doing the work.</a:t>
            </a:r>
          </a:p>
          <a:p>
            <a:r>
              <a:rPr sz="1200">
                <a:latin typeface="Calibri"/>
              </a:rPr>
              <a:t>Step 6 cross-checks against a phone scanner app. Worth doing - it connects the number on screen to something outside the room.</a:t>
            </a:r>
          </a:p>
          <a:p>
            <a:r>
              <a:rPr sz="1200">
                <a:latin typeface="Calibri"/>
              </a:rPr>
              <a:t>Answers: this sketch keeps the address in RAM only, so it is gone at reset; and applyAllowlist() must come after BP32.setup() because setup is what brings the stack 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Lead with the headline: there is no EEPROM on this chip. The library is an emulation over flash.</a:t>
            </a:r>
          </a:p>
          <a:p>
            <a:r>
              <a:rPr sz="1200">
                <a:latin typeface="Calibri"/>
              </a:rPr>
              <a:t>The three consequences are all practical. begin() first, nothing saved without commit(), and flash wears out.</a:t>
            </a:r>
          </a:p>
          <a:p>
            <a:r>
              <a:rPr sz="1200">
                <a:latin typeface="Calibri"/>
              </a:rPr>
              <a:t>The warning panel has the arithmetic: a commit() in loop() at 30 Hz burns a hundred thousand cycles in under an hour. Say that number out loud.</a:t>
            </a:r>
          </a:p>
          <a:p>
            <a:r>
              <a:rPr sz="1200">
                <a:latin typeface="Calibri"/>
              </a:rPr>
              <a:t>The rule to take away: write when something changed and a person asked, never on a schedule.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Lead with the headline: there is no EEPROM on this chip. The library is an emulation over flash.</a:t>
            </a:r>
          </a:p>
          <a:p>
            <a:r>
              <a:rPr sz="1200">
                <a:latin typeface="Calibri"/>
              </a:rPr>
              <a:t>The three consequences are all practical. begin() first, nothing saved without commit(), and flash wears out.</a:t>
            </a:r>
          </a:p>
          <a:p>
            <a:r>
              <a:rPr sz="1200">
                <a:latin typeface="Calibri"/>
              </a:rPr>
              <a:t>The warning panel has the arithmetic: a commit() in loop() at 30 Hz burns a hundred thousand cycles in under an hour. Say that number out loud.</a:t>
            </a:r>
          </a:p>
          <a:p>
            <a:r>
              <a:rPr sz="1200">
                <a:latin typeface="Calibri"/>
              </a:rPr>
              <a:t>The rule to take away: write when something changed and a person asked, never on a schedule.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EEPROM is a flat array of bytes and YOU choose the layout. Nothing stops two values overlapping - the compiler cannot help you here.</a:t>
            </a:r>
          </a:p>
          <a:p>
            <a:r>
              <a:rPr sz="1200">
                <a:latin typeface="Calibri"/>
              </a:rPr>
              <a:t>Four bytes per slot because an int and a float are both four bytes on this chip.</a:t>
            </a:r>
          </a:p>
          <a:p>
            <a:r>
              <a:rPr sz="1200">
                <a:latin typeface="Calibri"/>
              </a:rPr>
              <a:t>Ask why the addresses are spaced out and written down in one place. The answer is that a map you can read is a map you can extend safely.</a:t>
            </a:r>
          </a:p>
          <a:p>
            <a:r>
              <a:rPr sz="1200">
                <a:latin typeface="Calibri"/>
              </a:rPr>
              <a:t>They break this deliberately in step 6 of the activity, so plant the idea now.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Start with the fact: new flash is full of 0xFF. Read an int out of that and you get -1.</a:t>
            </a:r>
          </a:p>
          <a:p>
            <a:r>
              <a:rPr sz="1200">
                <a:latin typeface="Calibri"/>
              </a:rPr>
              <a:t>The magic byte says the bytes are OURS. It does not say they still make sense.</a:t>
            </a:r>
          </a:p>
          <a:p>
            <a:r>
              <a:rPr sz="1200">
                <a:latin typeface="Calibri"/>
              </a:rPr>
              <a:t>That distinction is the whole slide. A value written by an older version of the program is perfectly valid data and still wrong for this one.</a:t>
            </a:r>
          </a:p>
          <a:p>
            <a:r>
              <a:rPr sz="1200">
                <a:latin typeface="Calibri"/>
              </a:rPr>
              <a:t>Defensive loading is not paranoia - it is the difference between a vehicle that boots with odd settings and one that will not boot at all.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Second activity.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1 involves physically unplugging the board. Make sure nobody is mid-upload when they do it.</a:t>
            </a:r>
          </a:p>
          <a:p>
            <a:r>
              <a:rPr sz="1200">
                <a:latin typeface="Calibri"/>
              </a:rPr>
              <a:t>Step 5 is the deliberate bug: comment out commit(), save, reset, and watch the setting vanish. That is the mistake they will one day make for real.</a:t>
            </a:r>
          </a:p>
          <a:p>
            <a:r>
              <a:rPr sz="1200">
                <a:latin typeface="Calibri"/>
              </a:rPr>
              <a:t>Step 6 overlaps two addresses on purpose and one setting eats the other. It makes the flat-array point concrete.</a:t>
            </a:r>
          </a:p>
          <a:p>
            <a:r>
              <a:rPr sz="1200">
                <a:latin typeface="Calibri"/>
              </a:rPr>
              <a:t>Answers: address 0 holds the deadzone int; and range checking is needed even with a correct magic byte because an older version could have written a value this version cannot use.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programs, four answers, and each is right for what it is for. Do not let this become a ranking.</a:t>
            </a:r>
          </a:p>
          <a:p>
            <a:r>
              <a:rPr sz="1200">
                <a:latin typeface="Calibri"/>
              </a:rPr>
              <a:t>The cost column is where the engineering judgement lives. Read that rather than the middle column.</a:t>
            </a:r>
          </a:p>
          <a:p>
            <a:r>
              <a:rPr sz="1200">
                <a:latin typeface="Calibri"/>
              </a:rPr>
              <a:t>The note is the argument for the EEPROM version: a field-serviceable machine should never need a laptop to change who is allowed to drive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ways in, one code path. That is a design choice worth pointing at - a button and a console command that do exactly the same thing.</a:t>
            </a:r>
          </a:p>
          <a:p>
            <a:r>
              <a:rPr sz="1200">
                <a:latin typeface="Calibri"/>
              </a:rPr>
              <a:t>The first controller to connect during pairing becomes the vehicle's own and is written down immediately, not at shutdown.</a:t>
            </a:r>
          </a:p>
          <a:p>
            <a:r>
              <a:rPr sz="1200">
                <a:latin typeface="Calibri"/>
              </a:rPr>
              <a:t>Ask why it is written immediately. Because a vehicle that loses power before saving would come back not knowing who it belongs to.</a:t>
            </a:r>
          </a:p>
          <a:p>
            <a:r>
              <a:rPr sz="1200">
                <a:latin typeface="Calibri"/>
              </a:rPr>
              <a:t>Walk the order: forget keys, clear the marker, rebuild the empty allowlist, enable new connections, show it on the LEDs.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most human bug in the course. Everything looks correct and the address is simply backwards.</a:t>
            </a:r>
          </a:p>
          <a:p>
            <a:r>
              <a:rPr sz="1200">
                <a:latin typeface="Calibri"/>
              </a:rPr>
              <a:t>Describe the symptom before the cause: you write down what it printed, paste it somewhere else, and nothing ever connects.</a:t>
            </a:r>
          </a:p>
          <a:p>
            <a:r>
              <a:rPr sz="1200">
                <a:latin typeface="Calibri"/>
              </a:rPr>
              <a:t>The first lesson is a debugging habit: print it at both ends and compare character by character.</a:t>
            </a:r>
          </a:p>
          <a:p>
            <a:r>
              <a:rPr sz="1200">
                <a:latin typeface="Calibri"/>
              </a:rPr>
              <a:t>The second is a real category. Byte order is why network protocols specify it and why the word big-endian exists.</a:t>
            </a:r>
          </a:p>
          <a:p>
            <a:r>
              <a:rPr sz="1200">
                <a:latin typeface="Calibri"/>
              </a:rPr>
              <a:t>Op 12 now prints most significant byte first, matching every Bluetooth scanner they will ever 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This is the most human bug in the course. Everything looks correct and the address is simply backwards.</a:t>
            </a:r>
          </a:p>
          <a:p>
            <a:r>
              <a:rPr sz="1200">
                <a:latin typeface="Calibri"/>
              </a:rPr>
              <a:t>Describe the symptom before the cause: you write down what it printed, paste it somewhere else, and nothing ever connects.</a:t>
            </a:r>
          </a:p>
          <a:p>
            <a:r>
              <a:rPr sz="1200">
                <a:latin typeface="Calibri"/>
              </a:rPr>
              <a:t>The first lesson is a debugging habit: print it at both ends and compare character by character.</a:t>
            </a:r>
          </a:p>
          <a:p>
            <a:r>
              <a:rPr sz="1200">
                <a:latin typeface="Calibri"/>
              </a:rPr>
              <a:t>The second is a real category. Byte order is why network protocols specify it and why the word big-endian exists.</a:t>
            </a:r>
          </a:p>
          <a:p>
            <a:r>
              <a:rPr sz="1200">
                <a:latin typeface="Calibri"/>
              </a:rPr>
              <a:t>Op 12 now prints most significant byte first, matching every Bluetooth scanner they will ever 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a:t>
            </a:r>
          </a:p>
          <a:p>
            <a:r>
              <a:rPr sz="1200">
                <a:latin typeface="Calibri"/>
              </a:rPr>
              <a:t>Answers: a callback is a function you supply and the library calls; the allowlist needs the stack up first, which is what BP32.setup() does; rebuilding keeps the sketch as the single source of truth.</a:t>
            </a:r>
          </a:p>
          <a:p>
            <a:r>
              <a:rPr sz="1200">
                <a:latin typeface="Calibri"/>
              </a:rPr>
              <a:t>New connections stay enabled so a vehicle can be re-paired without a recompile.</a:t>
            </a:r>
          </a:p>
          <a:p>
            <a:r>
              <a:rPr sz="1200">
                <a:latin typeface="Calibri"/>
              </a:rPr>
              <a:t>put() only writes the RAM copy; the flash is written by commit(). Never from loop, because flash wears out.</a:t>
            </a:r>
          </a:p>
          <a:p>
            <a:r>
              <a:rPr sz="1200">
                <a:latin typeface="Calibri"/>
              </a:rPr>
              <a:t>The magic byte says the data is ours, not that it is still valid for this version.</a:t>
            </a:r>
          </a:p>
          <a:p>
            <a:r>
              <a:rPr sz="1200">
                <a:latin typeface="Calibri"/>
              </a:rPr>
              <a:t>For question 8: the allowlist was applied before setup, or the paired address was never committed to EEPROM.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3</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Bluetooth and Persistent Storage</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Allowlists, callbacks, EEPROM that is not EEPROM, and making a vehicle remember which controller is its own.</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12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12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Bring two controllers per group if you can.</a:t>
            </a:r>
          </a:p>
        </p:txBody>
      </p:sp>
      <p:pic>
        <p:nvPicPr>
          <p:cNvPr id="8" name="Picture 7" descr="control-board-bare.jpg"/>
          <p:cNvPicPr>
            <a:picLocks noChangeAspect="1"/>
          </p:cNvPicPr>
          <p:nvPr/>
        </p:nvPicPr>
        <p:blipFill>
          <a:blip r:embed="rId3"/>
          <a:stretch>
            <a:fillRect/>
          </a:stretch>
        </p:blipFill>
        <p:spPr>
          <a:xfrm>
            <a:off x="7223760" y="1463040"/>
            <a:ext cx="4480560" cy="4480560"/>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what a callback is and when it runs</a:t>
            </a:r>
          </a:p>
          <a:p>
            <a:pPr algn="l">
              <a:lnSpc>
                <a:spcPct val="100000"/>
              </a:lnSpc>
              <a:spcAft>
                <a:spcPts val="1300"/>
              </a:spcAft>
              <a:defRPr sz="1900" b="0">
                <a:solidFill>
                  <a:srgbClr val="222222"/>
                </a:solidFill>
                <a:latin typeface="Calibri"/>
              </a:defRPr>
            </a:pPr>
            <a:r>
              <a:rPr sz="1900" b="0">
                <a:solidFill>
                  <a:srgbClr val="222222"/>
                </a:solidFill>
                <a:latin typeface="Calibri"/>
              </a:rPr>
              <a:t>2.   Configure a Bluetooth allowlist correctly, in the right order</a:t>
            </a:r>
          </a:p>
          <a:p>
            <a:pPr algn="l">
              <a:lnSpc>
                <a:spcPct val="100000"/>
              </a:lnSpc>
              <a:spcAft>
                <a:spcPts val="1300"/>
              </a:spcAft>
              <a:defRPr sz="1900" b="0">
                <a:solidFill>
                  <a:srgbClr val="222222"/>
                </a:solidFill>
                <a:latin typeface="Calibri"/>
              </a:defRPr>
            </a:pPr>
            <a:r>
              <a:rPr sz="1900" b="0">
                <a:solidFill>
                  <a:srgbClr val="222222"/>
                </a:solidFill>
                <a:latin typeface="Calibri"/>
              </a:rPr>
              <a:t>3.   Say what EEPROM.commit() actually does on an ESP32, and why it must not be called from loop()</a:t>
            </a:r>
          </a:p>
          <a:p>
            <a:pPr algn="l">
              <a:lnSpc>
                <a:spcPct val="100000"/>
              </a:lnSpc>
              <a:spcAft>
                <a:spcPts val="1300"/>
              </a:spcAft>
              <a:defRPr sz="1900" b="0">
                <a:solidFill>
                  <a:srgbClr val="222222"/>
                </a:solidFill>
                <a:latin typeface="Calibri"/>
              </a:defRPr>
            </a:pPr>
            <a:r>
              <a:rPr sz="1900" b="0">
                <a:solidFill>
                  <a:srgbClr val="222222"/>
                </a:solidFill>
                <a:latin typeface="Calibri"/>
              </a:rPr>
              <a:t>4.   Design a storage map with a validity marker, and load it defensively</a:t>
            </a:r>
          </a:p>
          <a:p>
            <a:pPr algn="l">
              <a:lnSpc>
                <a:spcPct val="100000"/>
              </a:lnSpc>
              <a:spcAft>
                <a:spcPts val="1300"/>
              </a:spcAft>
              <a:defRPr sz="1900" b="0">
                <a:solidFill>
                  <a:srgbClr val="222222"/>
                </a:solidFill>
                <a:latin typeface="Calibri"/>
              </a:defRPr>
            </a:pPr>
            <a:r>
              <a:rPr sz="1900" b="0">
                <a:solidFill>
                  <a:srgbClr val="222222"/>
                </a:solidFill>
                <a:latin typeface="Calibri"/>
              </a:rPr>
              <a:t>5.   Walk through the full pairing workflow end to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graphicFrame>
        <p:nvGraphicFramePr>
          <p:cNvPr id="6" name="Table 5"/>
          <p:cNvGraphicFramePr>
            <a:graphicFrameLocks noGrp="1"/>
          </p:cNvGraphicFramePr>
          <p:nvPr/>
        </p:nvGraphicFramePr>
        <p:xfrm>
          <a:off x="502920" y="1188720"/>
          <a:ext cx="11185854" cy="5048250"/>
        </p:xfrm>
        <a:graphic>
          <a:graphicData uri="http://schemas.openxmlformats.org/drawingml/2006/table">
            <a:tbl>
              <a:tblPr firstRow="1" bandRow="1">
                <a:tableStyleId>{5C22544A-7EE6-4342-B048-85BDC9FD1C3A}</a:tableStyleId>
              </a:tblPr>
              <a:tblGrid>
                <a:gridCol w="1118585"/>
                <a:gridCol w="10067269"/>
              </a:tblGrid>
              <a:tr h="504825">
                <a:tc>
                  <a:txBody>
                    <a:bodyPr/>
                    <a:lstStyle/>
                    <a:p>
                      <a:r>
                        <a:rPr sz="2700" b="1">
                          <a:solidFill>
                            <a:srgbClr val="FFFFFF"/>
                          </a:solidFill>
                          <a:latin typeface="Calibri"/>
                        </a:rPr>
                        <a:t>Time</a:t>
                      </a:r>
                    </a:p>
                  </a:txBody>
                  <a:tcPr marL="73152" marT="18288" marB="18288">
                    <a:solidFill>
                      <a:srgbClr val="1F3A5F"/>
                    </a:solidFill>
                  </a:tcPr>
                </a:tc>
                <a:tc>
                  <a:txBody>
                    <a:bodyPr/>
                    <a:lstStyle/>
                    <a:p>
                      <a:r>
                        <a:rPr sz="2700" b="1">
                          <a:solidFill>
                            <a:srgbClr val="FFFFFF"/>
                          </a:solidFill>
                          <a:latin typeface="Calibri"/>
                        </a:rPr>
                        <a:t>What we do</a:t>
                      </a:r>
                    </a:p>
                  </a:txBody>
                  <a:tcPr marL="73152" marT="18288" marB="18288">
                    <a:solidFill>
                      <a:srgbClr val="1F3A5F"/>
                    </a:solidFill>
                  </a:tcPr>
                </a:tc>
              </a:tr>
              <a:tr h="504825">
                <a:tc>
                  <a:txBody>
                    <a:bodyPr/>
                    <a:lstStyle/>
                    <a:p>
                      <a:r>
                        <a:rPr sz="2700">
                          <a:solidFill>
                            <a:srgbClr val="222222"/>
                          </a:solidFill>
                          <a:latin typeface="Calibri"/>
                        </a:rPr>
                        <a:t>0:00</a:t>
                      </a:r>
                    </a:p>
                  </a:txBody>
                  <a:tcPr marL="73152" marT="18288" marB="18288">
                    <a:solidFill>
                      <a:srgbClr val="FFFFFF"/>
                    </a:solidFill>
                  </a:tcPr>
                </a:tc>
                <a:tc>
                  <a:txBody>
                    <a:bodyPr/>
                    <a:lstStyle/>
                    <a:p>
                      <a:r>
                        <a:rPr sz="2700">
                          <a:solidFill>
                            <a:srgbClr val="222222"/>
                          </a:solidFill>
                          <a:latin typeface="Calibri"/>
                        </a:rPr>
                        <a:t>Recap. Bluepad32, callbacks, and who calls whom</a:t>
                      </a:r>
                    </a:p>
                  </a:txBody>
                  <a:tcPr marL="73152" marT="18288" marB="18288">
                    <a:solidFill>
                      <a:srgbClr val="FFFFFF"/>
                    </a:solidFill>
                  </a:tcPr>
                </a:tc>
              </a:tr>
              <a:tr h="504825">
                <a:tc>
                  <a:txBody>
                    <a:bodyPr/>
                    <a:lstStyle/>
                    <a:p>
                      <a:r>
                        <a:rPr sz="2700">
                          <a:solidFill>
                            <a:srgbClr val="222222"/>
                          </a:solidFill>
                          <a:latin typeface="Calibri"/>
                        </a:rPr>
                        <a:t>0:25</a:t>
                      </a:r>
                    </a:p>
                  </a:txBody>
                  <a:tcPr marL="73152" marT="18288" marB="18288">
                    <a:solidFill>
                      <a:srgbClr val="EEF3F8"/>
                    </a:solidFill>
                  </a:tcPr>
                </a:tc>
                <a:tc>
                  <a:txBody>
                    <a:bodyPr/>
                    <a:lstStyle/>
                    <a:p>
                      <a:r>
                        <a:rPr sz="2700">
                          <a:solidFill>
                            <a:srgbClr val="222222"/>
                          </a:solidFill>
                          <a:latin typeface="Calibri"/>
                        </a:rPr>
                        <a:t>The allowlist, and the order the calls must go in</a:t>
                      </a:r>
                    </a:p>
                  </a:txBody>
                  <a:tcPr marL="73152" marT="18288" marB="18288">
                    <a:solidFill>
                      <a:srgbClr val="EEF3F8"/>
                    </a:solidFill>
                  </a:tcPr>
                </a:tc>
              </a:tr>
              <a:tr h="504825">
                <a:tc>
                  <a:txBody>
                    <a:bodyPr/>
                    <a:lstStyle/>
                    <a:p>
                      <a:r>
                        <a:rPr sz="2700">
                          <a:solidFill>
                            <a:srgbClr val="222222"/>
                          </a:solidFill>
                          <a:latin typeface="Calibri"/>
                        </a:rPr>
                        <a:t>0:50</a:t>
                      </a:r>
                    </a:p>
                  </a:txBody>
                  <a:tcPr marL="73152" marT="18288" marB="18288">
                    <a:solidFill>
                      <a:srgbClr val="FFFFFF"/>
                    </a:solidFill>
                  </a:tcPr>
                </a:tc>
                <a:tc>
                  <a:txBody>
                    <a:bodyPr/>
                    <a:lstStyle/>
                    <a:p>
                      <a:r>
                        <a:rPr sz="2700">
                          <a:solidFill>
                            <a:srgbClr val="222222"/>
                          </a:solidFill>
                          <a:latin typeface="Calibri"/>
                        </a:rPr>
                        <a:t>Upload a3a_controller_address. Lock and unlock a board</a:t>
                      </a:r>
                    </a:p>
                  </a:txBody>
                  <a:tcPr marL="73152" marT="18288" marB="18288">
                    <a:solidFill>
                      <a:srgbClr val="FFFFFF"/>
                    </a:solidFill>
                  </a:tcPr>
                </a:tc>
              </a:tr>
              <a:tr h="504825">
                <a:tc>
                  <a:txBody>
                    <a:bodyPr/>
                    <a:lstStyle/>
                    <a:p>
                      <a:r>
                        <a:rPr sz="2700">
                          <a:solidFill>
                            <a:srgbClr val="222222"/>
                          </a:solidFill>
                          <a:latin typeface="Calibri"/>
                        </a:rPr>
                        <a:t>1:20</a:t>
                      </a:r>
                    </a:p>
                  </a:txBody>
                  <a:tcPr marL="73152" marT="18288" marB="18288">
                    <a:solidFill>
                      <a:srgbClr val="EEF3F8"/>
                    </a:solidFill>
                  </a:tcPr>
                </a:tc>
                <a:tc>
                  <a:txBody>
                    <a:bodyPr/>
                    <a:lstStyle/>
                    <a:p>
                      <a:r>
                        <a:rPr sz="2700">
                          <a:solidFill>
                            <a:srgbClr val="222222"/>
                          </a:solidFill>
                          <a:latin typeface="Calibri"/>
                        </a:rPr>
                        <a:t>BREAK  (10 minutes)</a:t>
                      </a:r>
                    </a:p>
                  </a:txBody>
                  <a:tcPr marL="73152" marT="18288" marB="18288">
                    <a:solidFill>
                      <a:srgbClr val="EEF3F8"/>
                    </a:solidFill>
                  </a:tcPr>
                </a:tc>
              </a:tr>
              <a:tr h="504825">
                <a:tc>
                  <a:txBody>
                    <a:bodyPr/>
                    <a:lstStyle/>
                    <a:p>
                      <a:r>
                        <a:rPr sz="2700">
                          <a:solidFill>
                            <a:srgbClr val="222222"/>
                          </a:solidFill>
                          <a:latin typeface="Calibri"/>
                        </a:rPr>
                        <a:t>1:30</a:t>
                      </a:r>
                    </a:p>
                  </a:txBody>
                  <a:tcPr marL="73152" marT="18288" marB="18288">
                    <a:solidFill>
                      <a:srgbClr val="FFFFFF"/>
                    </a:solidFill>
                  </a:tcPr>
                </a:tc>
                <a:tc>
                  <a:txBody>
                    <a:bodyPr/>
                    <a:lstStyle/>
                    <a:p>
                      <a:r>
                        <a:rPr sz="2700">
                          <a:solidFill>
                            <a:srgbClr val="222222"/>
                          </a:solidFill>
                          <a:latin typeface="Calibri"/>
                        </a:rPr>
                        <a:t>There is no EEPROM on an ESP32</a:t>
                      </a:r>
                    </a:p>
                  </a:txBody>
                  <a:tcPr marL="73152" marT="18288" marB="18288">
                    <a:solidFill>
                      <a:srgbClr val="FFFFFF"/>
                    </a:solidFill>
                  </a:tcPr>
                </a:tc>
              </a:tr>
              <a:tr h="504825">
                <a:tc>
                  <a:txBody>
                    <a:bodyPr/>
                    <a:lstStyle/>
                    <a:p>
                      <a:r>
                        <a:rPr sz="2700">
                          <a:solidFill>
                            <a:srgbClr val="222222"/>
                          </a:solidFill>
                          <a:latin typeface="Calibri"/>
                        </a:rPr>
                        <a:t>1:55</a:t>
                      </a:r>
                    </a:p>
                  </a:txBody>
                  <a:tcPr marL="73152" marT="18288" marB="18288">
                    <a:solidFill>
                      <a:srgbClr val="EEF3F8"/>
                    </a:solidFill>
                  </a:tcPr>
                </a:tc>
                <a:tc>
                  <a:txBody>
                    <a:bodyPr/>
                    <a:lstStyle/>
                    <a:p>
                      <a:r>
                        <a:rPr sz="2700">
                          <a:solidFill>
                            <a:srgbClr val="222222"/>
                          </a:solidFill>
                          <a:latin typeface="Calibri"/>
                        </a:rPr>
                        <a:t>Magic bytes, storage maps, and never trusting storage</a:t>
                      </a:r>
                    </a:p>
                  </a:txBody>
                  <a:tcPr marL="73152" marT="18288" marB="18288">
                    <a:solidFill>
                      <a:srgbClr val="EEF3F8"/>
                    </a:solidFill>
                  </a:tcPr>
                </a:tc>
              </a:tr>
              <a:tr h="504825">
                <a:tc>
                  <a:txBody>
                    <a:bodyPr/>
                    <a:lstStyle/>
                    <a:p>
                      <a:r>
                        <a:rPr sz="2700">
                          <a:solidFill>
                            <a:srgbClr val="222222"/>
                          </a:solidFill>
                          <a:latin typeface="Calibri"/>
                        </a:rPr>
                        <a:t>2:15</a:t>
                      </a:r>
                    </a:p>
                  </a:txBody>
                  <a:tcPr marL="73152" marT="18288" marB="18288">
                    <a:solidFill>
                      <a:srgbClr val="FFFFFF"/>
                    </a:solidFill>
                  </a:tcPr>
                </a:tc>
                <a:tc>
                  <a:txBody>
                    <a:bodyPr/>
                    <a:lstStyle/>
                    <a:p>
                      <a:r>
                        <a:rPr sz="2700">
                          <a:solidFill>
                            <a:srgbClr val="222222"/>
                          </a:solidFill>
                          <a:latin typeface="Calibri"/>
                        </a:rPr>
                        <a:t>BREAK  (10 minutes)</a:t>
                      </a:r>
                    </a:p>
                  </a:txBody>
                  <a:tcPr marL="73152" marT="18288" marB="18288">
                    <a:solidFill>
                      <a:srgbClr val="FFFFFF"/>
                    </a:solidFill>
                  </a:tcPr>
                </a:tc>
              </a:tr>
              <a:tr h="504825">
                <a:tc>
                  <a:txBody>
                    <a:bodyPr/>
                    <a:lstStyle/>
                    <a:p>
                      <a:r>
                        <a:rPr sz="2700">
                          <a:solidFill>
                            <a:srgbClr val="222222"/>
                          </a:solidFill>
                          <a:latin typeface="Calibri"/>
                        </a:rPr>
                        <a:t>2:25</a:t>
                      </a:r>
                    </a:p>
                  </a:txBody>
                  <a:tcPr marL="73152" marT="18288" marB="18288">
                    <a:solidFill>
                      <a:srgbClr val="EEF3F8"/>
                    </a:solidFill>
                  </a:tcPr>
                </a:tc>
                <a:tc>
                  <a:txBody>
                    <a:bodyPr/>
                    <a:lstStyle/>
                    <a:p>
                      <a:r>
                        <a:rPr sz="2700">
                          <a:solidFill>
                            <a:srgbClr val="222222"/>
                          </a:solidFill>
                          <a:latin typeface="Calibri"/>
                        </a:rPr>
                        <a:t>Upload a3b_eeprom_settings. Pull the cable out</a:t>
                      </a:r>
                    </a:p>
                  </a:txBody>
                  <a:tcPr marL="73152" marT="18288" marB="18288">
                    <a:solidFill>
                      <a:srgbClr val="EEF3F8"/>
                    </a:solidFill>
                  </a:tcPr>
                </a:tc>
              </a:tr>
              <a:tr h="504825">
                <a:tc>
                  <a:txBody>
                    <a:bodyPr/>
                    <a:lstStyle/>
                    <a:p>
                      <a:r>
                        <a:rPr sz="2700">
                          <a:solidFill>
                            <a:srgbClr val="222222"/>
                          </a:solidFill>
                          <a:latin typeface="Calibri"/>
                        </a:rPr>
                        <a:t>2:50</a:t>
                      </a:r>
                    </a:p>
                  </a:txBody>
                  <a:tcPr marL="73152" marT="18288" marB="18288">
                    <a:solidFill>
                      <a:srgbClr val="FFFFFF"/>
                    </a:solidFill>
                  </a:tcPr>
                </a:tc>
                <a:tc>
                  <a:txBody>
                    <a:bodyPr/>
                    <a:lstStyle/>
                    <a:p>
                      <a:r>
                        <a:rPr sz="2700">
                          <a:solidFill>
                            <a:srgbClr val="222222"/>
                          </a:solidFill>
                          <a:latin typeface="Calibri"/>
                        </a:rPr>
                        <a:t>The full pairing workflow in Op 12</a:t>
                      </a:r>
                    </a:p>
                  </a:txBody>
                  <a:tcPr marL="73152" marT="18288" marB="18288">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Callbacks: functions you write and never call</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Inversion of control</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lvl="1" algn="l">
              <a:lnSpc>
                <a:spcPct val="100000"/>
              </a:lnSpc>
              <a:spcAft>
                <a:spcPts val="900"/>
              </a:spcAft>
              <a:defRPr sz="2000" b="0">
                <a:solidFill>
                  <a:srgbClr val="222222"/>
                </a:solidFill>
                <a:latin typeface="Calibri"/>
              </a:defRPr>
            </a:pPr>
            <a:r>
              <a:rPr sz="2000" b="0">
                <a:solidFill>
                  <a:srgbClr val="222222"/>
                </a:solidFill>
                <a:latin typeface="Calibri"/>
              </a:rPr>
              <a:t>BP32.setup(&amp;onConnectedController, &amp;onDisconnectedController);</a:t>
            </a:r>
          </a:p>
          <a:p>
            <a:pPr algn="l">
              <a:lnSpc>
                <a:spcPct val="100000"/>
              </a:lnSpc>
              <a:spcAft>
                <a:spcPts val="900"/>
              </a:spcAft>
              <a:defRPr sz="2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You hand Bluepad32 the ADDRESSES of two of your functions. It calls them when something happens. You never call them yourself.</a:t>
            </a:r>
          </a:p>
          <a:p>
            <a:pPr algn="l">
              <a:lnSpc>
                <a:spcPct val="100000"/>
              </a:lnSpc>
              <a:spcAft>
                <a:spcPts val="900"/>
              </a:spcAft>
              <a:defRPr sz="2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That inversion is worth naming. Normally your code calls a library. With a callback, the library calls your code. It is how every event system works, from button handlers to network stacks.</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2000" b="0">
                <a:solidFill>
                  <a:srgbClr val="222222"/>
                </a:solidFill>
                <a:latin typeface="Calibri"/>
              </a:defRPr>
            </a:pPr>
            <a:r>
              <a:rPr sz="2000" b="0">
                <a:solidFill>
                  <a:srgbClr val="222222"/>
                </a:solidFill>
                <a:latin typeface="Calibri"/>
              </a:rPr>
              <a:t>The practical question is always: WHEN does it run, and what is safe to do in there?</a:t>
            </a:r>
          </a:p>
          <a:p>
            <a:pPr algn="l">
              <a:lnSpc>
                <a:spcPct val="100000"/>
              </a:lnSpc>
              <a:spcAft>
                <a:spcPts val="900"/>
              </a:spcAft>
              <a:defRPr sz="2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Here, both callbacks run from inside BP32.update(), which you call yourself from loop(). So they run on your thread, at a moment you chose, and it is safe to print and to touch program state.</a:t>
            </a:r>
          </a:p>
          <a:p>
            <a:pPr algn="l">
              <a:lnSpc>
                <a:spcPct val="100000"/>
              </a:lnSpc>
              <a:spcAft>
                <a:spcPts val="900"/>
              </a:spcAft>
              <a:defRPr sz="2000" b="0">
                <a:solidFill>
                  <a:srgbClr val="222222"/>
                </a:solidFill>
                <a:latin typeface="Calibri"/>
              </a:defRPr>
            </a:pPr>
          </a:p>
          <a:p>
            <a:pPr algn="l">
              <a:lnSpc>
                <a:spcPct val="100000"/>
              </a:lnSpc>
              <a:spcAft>
                <a:spcPts val="900"/>
              </a:spcAft>
              <a:defRPr sz="2000" b="0">
                <a:solidFill>
                  <a:srgbClr val="222222"/>
                </a:solidFill>
                <a:latin typeface="Calibri"/>
              </a:defRPr>
            </a:pPr>
            <a:r>
              <a:rPr sz="2000" b="0">
                <a:solidFill>
                  <a:srgbClr val="222222"/>
                </a:solidFill>
                <a:latin typeface="Calibri"/>
              </a:rPr>
              <a:t>If they ran from an interrupt, neither of those would be true.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allowlist, and the two ways to get it wrong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A guest list, checked at the door</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r>
              <a:rPr sz="2700" b="0">
                <a:solidFill>
                  <a:srgbClr val="222222"/>
                </a:solidFill>
                <a:latin typeface="Calibri"/>
              </a:rPr>
              <a:t>A Switch pad in pairing mode connects to whichever host answers first. Pairing alone does not give you one-vehicle-one-controller.</a:t>
            </a:r>
          </a:p>
          <a:p>
            <a:pPr algn="l">
              <a:lnSpc>
                <a:spcPct val="100000"/>
              </a:lnSpc>
              <a:spcAft>
                <a:spcPts val="600"/>
              </a:spcAft>
              <a:defRPr sz="270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The allowlist is a guest list checked BEFORE a connection is accepted:</a:t>
            </a:r>
          </a:p>
          <a:p>
            <a:pPr lvl="1" algn="l">
              <a:lnSpc>
                <a:spcPct val="100000"/>
              </a:lnSpc>
              <a:spcAft>
                <a:spcPts val="600"/>
              </a:spcAft>
              <a:defRPr sz="2700" b="0">
                <a:solidFill>
                  <a:srgbClr val="222222"/>
                </a:solidFill>
                <a:latin typeface="Calibri"/>
              </a:defRPr>
            </a:pPr>
            <a:r>
              <a:rPr sz="2700" b="0">
                <a:solidFill>
                  <a:srgbClr val="222222"/>
                </a:solidFill>
                <a:latin typeface="Calibri"/>
              </a:rPr>
              <a:t>uni_bt_allowlist_remove_all();</a:t>
            </a:r>
          </a:p>
          <a:p>
            <a:pPr lvl="1" algn="l">
              <a:lnSpc>
                <a:spcPct val="100000"/>
              </a:lnSpc>
              <a:spcAft>
                <a:spcPts val="600"/>
              </a:spcAft>
              <a:defRPr sz="2700" b="0">
                <a:solidFill>
                  <a:srgbClr val="222222"/>
                </a:solidFill>
                <a:latin typeface="Calibri"/>
              </a:defRPr>
            </a:pPr>
            <a:r>
              <a:rPr sz="2700" b="0">
                <a:solidFill>
                  <a:srgbClr val="222222"/>
                </a:solidFill>
                <a:latin typeface="Calibri"/>
              </a:rPr>
              <a:t>uni_bt_allowlist_add_addr(address);</a:t>
            </a:r>
          </a:p>
          <a:p>
            <a:pPr lvl="1" algn="l">
              <a:lnSpc>
                <a:spcPct val="100000"/>
              </a:lnSpc>
              <a:spcAft>
                <a:spcPts val="600"/>
              </a:spcAft>
              <a:defRPr sz="2700" b="0">
                <a:solidFill>
                  <a:srgbClr val="222222"/>
                </a:solidFill>
                <a:latin typeface="Calibri"/>
              </a:defRPr>
            </a:pPr>
            <a:r>
              <a:rPr sz="2700" b="0">
                <a:solidFill>
                  <a:srgbClr val="222222"/>
                </a:solidFill>
                <a:latin typeface="Calibri"/>
              </a:rPr>
              <a:t>uni_bt_allowlist_set_enabled(true);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allowlist, and the two ways to get it wrong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MISTAKE ONE: calling them before BP32.setup(). Setup is what brings the Bluetooth stack up. Before that there is no list to add to, and the calls do nothing at all - silently.</a:t>
            </a:r>
          </a:p>
          <a:p>
            <a:pPr algn="l">
              <a:lnSpc>
                <a:spcPct val="100000"/>
              </a:lnSpc>
              <a:spcAft>
                <a:spcPts val="600"/>
              </a:spcAft>
              <a:defRPr sz="2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MISTAKE TWO: adding to the list instead of rebuilding it. Rebuild from scratch every boot and the sketch is always the single source of truth. Add, and stale entries accumulate where nobody can see them.</a:t>
            </a:r>
          </a:p>
          <a:p>
            <a:pPr algn="l">
              <a:lnSpc>
                <a:spcPct val="100000"/>
              </a:lnSpc>
              <a:spcAft>
                <a:spcPts val="600"/>
              </a:spcAft>
              <a:defRPr sz="2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Note that enableNewBluetoothConnections stays TRUE. The allowlist keeps other people out; leaving new connections on means your own pad can always get back in even if the bonding keys are lost.</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500">
                <a:solidFill>
                  <a:srgbClr val="222222"/>
                </a:solidFill>
                <a:latin typeface="Calibri"/>
              </a:rPr>
              <a:t>11.2 added addresses at runtime only. If those entries did not survive a reboot, a vehicle could come back up with an empty allowlist AND new connections disabled - and then refuse its own controller with no way 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Rounded Rectangle 5"/>
          <p:cNvSpPr/>
          <p:nvPr/>
        </p:nvSpPr>
        <p:spPr>
          <a:xfrm>
            <a:off x="502920" y="2240280"/>
            <a:ext cx="3631082" cy="173736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Callbacks and allowlist</a:t>
            </a:r>
          </a:p>
        </p:txBody>
      </p:sp>
      <p:sp>
        <p:nvSpPr>
          <p:cNvPr id="7" name="TextBox 6"/>
          <p:cNvSpPr txBox="1"/>
          <p:nvPr/>
        </p:nvSpPr>
        <p:spPr>
          <a:xfrm>
            <a:off x="502920"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done</a:t>
            </a:r>
          </a:p>
        </p:txBody>
      </p:sp>
      <p:sp>
        <p:nvSpPr>
          <p:cNvPr id="8" name="Rounded Rectangle 7"/>
          <p:cNvSpPr/>
          <p:nvPr/>
        </p:nvSpPr>
        <p:spPr>
          <a:xfrm>
            <a:off x="4280306" y="2240280"/>
            <a:ext cx="3631082" cy="173736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Locking a board</a:t>
            </a:r>
          </a:p>
        </p:txBody>
      </p:sp>
      <p:sp>
        <p:nvSpPr>
          <p:cNvPr id="9" name="TextBox 8"/>
          <p:cNvSpPr txBox="1"/>
          <p:nvPr/>
        </p:nvSpPr>
        <p:spPr>
          <a:xfrm>
            <a:off x="4280306"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NOW</a:t>
            </a:r>
          </a:p>
        </p:txBody>
      </p:sp>
      <p:sp>
        <p:nvSpPr>
          <p:cNvPr id="10" name="Rounded Rectangle 9"/>
          <p:cNvSpPr/>
          <p:nvPr/>
        </p:nvSpPr>
        <p:spPr>
          <a:xfrm>
            <a:off x="8057692" y="2240280"/>
            <a:ext cx="3631082" cy="173736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EEPROM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lock a board to one pad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a3a_controller_address</a:t>
            </a:r>
            <a:r>
              <a:rPr sz="1200">
                <a:solidFill>
                  <a:srgbClr val="FFFFFF"/>
                </a:solidFill>
                <a:latin typeface="Calibri"/>
              </a:rPr>
              <a:t>     (35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2100" b="0">
                <a:solidFill>
                  <a:srgbClr val="222222"/>
                </a:solidFill>
                <a:latin typeface="Calibri"/>
              </a:defRPr>
            </a:pPr>
            <a:r>
              <a:rPr sz="2100" b="0">
                <a:solidFill>
                  <a:srgbClr val="222222"/>
                </a:solidFill>
                <a:latin typeface="Calibri"/>
              </a:rPr>
              <a:t>1.  Upload. The allowlist starts OFF. Connect a controller.</a:t>
            </a:r>
          </a:p>
          <a:p>
            <a:pPr algn="l">
              <a:lnSpc>
                <a:spcPct val="100000"/>
              </a:lnSpc>
              <a:spcAft>
                <a:spcPts val="800"/>
              </a:spcAft>
              <a:defRPr sz="2100" b="0">
                <a:solidFill>
                  <a:srgbClr val="222222"/>
                </a:solidFill>
                <a:latin typeface="Calibri"/>
              </a:defRPr>
            </a:pPr>
            <a:r>
              <a:rPr sz="2100" b="0">
                <a:solidFill>
                  <a:srgbClr val="222222"/>
                </a:solidFill>
                <a:latin typeface="Calibri"/>
              </a:rPr>
              <a:t>2.  Type  lock. Disconnect, and connect a DIFFERENT controller.</a:t>
            </a:r>
          </a:p>
          <a:p>
            <a:pPr algn="l">
              <a:lnSpc>
                <a:spcPct val="100000"/>
              </a:lnSpc>
              <a:spcAft>
                <a:spcPts val="800"/>
              </a:spcAft>
              <a:defRPr sz="2100" b="0">
                <a:solidFill>
                  <a:srgbClr val="222222"/>
                </a:solidFill>
                <a:latin typeface="Calibri"/>
              </a:defRPr>
            </a:pPr>
            <a:r>
              <a:rPr sz="2100" b="0">
                <a:solidFill>
                  <a:srgbClr val="222222"/>
                </a:solidFill>
                <a:latin typeface="Calibri"/>
              </a:rPr>
              <a:t>3.  Watch the refusal in the Serial Monitor.</a:t>
            </a:r>
          </a:p>
          <a:p>
            <a:pPr algn="l">
              <a:lnSpc>
                <a:spcPct val="100000"/>
              </a:lnSpc>
              <a:spcAft>
                <a:spcPts val="800"/>
              </a:spcAft>
              <a:defRPr sz="2100" b="0">
                <a:solidFill>
                  <a:srgbClr val="222222"/>
                </a:solidFill>
                <a:latin typeface="Calibri"/>
              </a:defRPr>
            </a:pPr>
            <a:r>
              <a:rPr sz="2100" b="0">
                <a:solidFill>
                  <a:srgbClr val="222222"/>
                </a:solidFill>
                <a:latin typeface="Calibri"/>
              </a:rPr>
              <a:t>4.  Type  open  and try the second one again.</a:t>
            </a:r>
          </a:p>
          <a:p>
            <a:pPr algn="l">
              <a:lnSpc>
                <a:spcPct val="100000"/>
              </a:lnSpc>
              <a:spcAft>
                <a:spcPts val="800"/>
              </a:spcAft>
              <a:defRPr sz="2100" b="0">
                <a:solidFill>
                  <a:srgbClr val="222222"/>
                </a:solidFill>
                <a:latin typeface="Calibri"/>
              </a:defRPr>
            </a:pPr>
            <a:r>
              <a:rPr sz="2100" b="0">
                <a:solidFill>
                  <a:srgbClr val="222222"/>
                </a:solidFill>
                <a:latin typeface="Calibri"/>
              </a:rPr>
              <a:t>5.  Type  lockaddr 00:11:22:33:44:55  and try to connect anything.</a:t>
            </a:r>
          </a:p>
          <a:p>
            <a:pPr algn="l">
              <a:lnSpc>
                <a:spcPct val="100000"/>
              </a:lnSpc>
              <a:spcAft>
                <a:spcPts val="800"/>
              </a:spcAft>
              <a:defRPr sz="2100" b="0">
                <a:solidFill>
                  <a:srgbClr val="222222"/>
                </a:solidFill>
                <a:latin typeface="Calibri"/>
              </a:defRPr>
            </a:pPr>
            <a:r>
              <a:rPr sz="2100" b="0">
                <a:solidFill>
                  <a:srgbClr val="222222"/>
                </a:solidFill>
                <a:latin typeface="Calibri"/>
              </a:rPr>
              <a:t>6.  Type  whoami. Compare with what a Bluetooth scanner app on your phone shows for this board.</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292958"/>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Every connection attempt prints an address. With the lock on, everything except the locked address is turned away.</a:t>
            </a:r>
          </a:p>
        </p:txBody>
      </p:sp>
      <p:sp>
        <p:nvSpPr>
          <p:cNvPr id="10" name="TextBox 9"/>
          <p:cNvSpPr txBox="1"/>
          <p:nvPr/>
        </p:nvSpPr>
        <p:spPr>
          <a:xfrm>
            <a:off x="7163537" y="3670398"/>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072734"/>
            <a:ext cx="4525238" cy="2190905"/>
          </a:xfrm>
          <a:prstGeom prst="rect">
            <a:avLst/>
          </a:prstGeom>
          <a:noFill/>
        </p:spPr>
        <p:txBody>
          <a:bodyPr wrap="square" lIns="0" tIns="0" rIns="0" bIns="0">
            <a:spAutoFit/>
          </a:bodyPr>
          <a:lstStyle/>
          <a:p>
            <a:pPr algn="l">
              <a:lnSpc>
                <a:spcPct val="100000"/>
              </a:lnSpc>
              <a:spcAft>
                <a:spcPts val="300"/>
              </a:spcAft>
              <a:defRPr sz="2200" b="0">
                <a:solidFill>
                  <a:srgbClr val="222222"/>
                </a:solidFill>
                <a:latin typeface="Calibri"/>
              </a:defRPr>
            </a:pPr>
            <a:r>
              <a:rPr sz="2200" b="0">
                <a:solidFill>
                  <a:srgbClr val="222222"/>
                </a:solidFill>
                <a:latin typeface="Calibri"/>
              </a:rPr>
              <a:t>Where does this sketch keep its locked address, and what happens to it at the next reset?</a:t>
            </a:r>
          </a:p>
          <a:p>
            <a:pPr algn="l">
              <a:lnSpc>
                <a:spcPct val="100000"/>
              </a:lnSpc>
              <a:spcAft>
                <a:spcPts val="300"/>
              </a:spcAft>
              <a:defRPr sz="2200" b="0">
                <a:solidFill>
                  <a:srgbClr val="222222"/>
                </a:solidFill>
                <a:latin typeface="Calibri"/>
              </a:defRPr>
            </a:pPr>
            <a:r>
              <a:rPr sz="2200" b="0">
                <a:solidFill>
                  <a:srgbClr val="222222"/>
                </a:solidFill>
                <a:latin typeface="Calibri"/>
              </a:rPr>
              <a:t>Why does the sketch call applyAllowlist() AFTER BP32.setup()?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There is no EEPROM on an ESP32</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It is flash, pretending</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400" b="0">
                <a:solidFill>
                  <a:srgbClr val="222222"/>
                </a:solidFill>
                <a:latin typeface="Calibri"/>
              </a:defRPr>
            </a:pPr>
            <a:r>
              <a:rPr sz="2400" b="0">
                <a:solidFill>
                  <a:srgbClr val="222222"/>
                </a:solidFill>
                <a:latin typeface="Calibri"/>
              </a:rPr>
              <a:t>The EEPROM library is an EMULATION. It reserves a slice of the flash chip, keeps a copy in RAM, and only writes the flash when you call commit().</a:t>
            </a:r>
          </a:p>
          <a:p>
            <a:pPr algn="l">
              <a:lnSpc>
                <a:spcPct val="100000"/>
              </a:lnSpc>
              <a:spcAft>
                <a:spcPts val="600"/>
              </a:spcAft>
              <a:defRPr sz="2400" b="0">
                <a:solidFill>
                  <a:srgbClr val="222222"/>
                </a:solidFill>
                <a:latin typeface="Calibri"/>
              </a:defRPr>
            </a:pPr>
          </a:p>
          <a:p>
            <a:pPr algn="l">
              <a:lnSpc>
                <a:spcPct val="100000"/>
              </a:lnSpc>
              <a:spcAft>
                <a:spcPts val="600"/>
              </a:spcAft>
              <a:defRPr sz="2400" b="0">
                <a:solidFill>
                  <a:srgbClr val="222222"/>
                </a:solidFill>
                <a:latin typeface="Calibri"/>
              </a:defRPr>
            </a:pPr>
            <a:r>
              <a:rPr sz="2400" b="0">
                <a:solidFill>
                  <a:srgbClr val="222222"/>
                </a:solidFill>
                <a:latin typeface="Calibri"/>
              </a:rPr>
              <a:t>Three consequences:</a:t>
            </a:r>
          </a:p>
          <a:p>
            <a:pPr lvl="1" algn="l">
              <a:lnSpc>
                <a:spcPct val="100000"/>
              </a:lnSpc>
              <a:spcAft>
                <a:spcPts val="600"/>
              </a:spcAft>
              <a:defRPr sz="2400" b="0">
                <a:solidFill>
                  <a:srgbClr val="222222"/>
                </a:solidFill>
                <a:latin typeface="Calibri"/>
              </a:defRPr>
            </a:pPr>
            <a:r>
              <a:rPr sz="2400" b="0">
                <a:solidFill>
                  <a:srgbClr val="222222"/>
                </a:solidFill>
                <a:latin typeface="Calibri"/>
              </a:rPr>
              <a:t>EEPROM.begin(size) must come first, before any get or put.</a:t>
            </a:r>
          </a:p>
          <a:p>
            <a:pPr lvl="1" algn="l">
              <a:lnSpc>
                <a:spcPct val="100000"/>
              </a:lnSpc>
              <a:spcAft>
                <a:spcPts val="600"/>
              </a:spcAft>
              <a:defRPr sz="2400" b="0">
                <a:solidFill>
                  <a:srgbClr val="222222"/>
                </a:solidFill>
                <a:latin typeface="Calibri"/>
              </a:defRPr>
            </a:pPr>
            <a:r>
              <a:rPr sz="2400" b="0">
                <a:solidFill>
                  <a:srgbClr val="222222"/>
                </a:solidFill>
                <a:latin typeface="Calibri"/>
              </a:rPr>
              <a:t>Nothing is stored until EEPROM.commit(). Forgetting it is the single most common cause of "my settings did not save".</a:t>
            </a:r>
          </a:p>
          <a:p>
            <a:pPr lvl="1" algn="l">
              <a:lnSpc>
                <a:spcPct val="100000"/>
              </a:lnSpc>
              <a:spcAft>
                <a:spcPts val="600"/>
              </a:spcAft>
              <a:defRPr sz="2400" b="0">
                <a:solidFill>
                  <a:srgbClr val="222222"/>
                </a:solidFill>
                <a:latin typeface="Calibri"/>
              </a:defRPr>
            </a:pPr>
            <a:r>
              <a:rPr sz="2400" b="0">
                <a:solidFill>
                  <a:srgbClr val="222222"/>
                </a:solidFill>
                <a:latin typeface="Calibri"/>
              </a:rPr>
              <a:t>Flash WEARS OUT - roughly a hundred thousand erase cycles per sector. Plenty for saving when a human asks. Nowhere near enough to commit() inside loop().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There is no EEPROM on an ESP32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p>
          <a:p>
            <a:pPr algn="l">
              <a:lnSpc>
                <a:spcPct val="100000"/>
              </a:lnSpc>
              <a:spcAft>
                <a:spcPts val="900"/>
              </a:spcAft>
              <a:defRPr sz="3000" b="0">
                <a:solidFill>
                  <a:srgbClr val="222222"/>
                </a:solidFill>
                <a:latin typeface="Calibri"/>
              </a:defRPr>
            </a:pPr>
            <a:r>
              <a:rPr sz="3000" b="0">
                <a:solidFill>
                  <a:srgbClr val="222222"/>
                </a:solidFill>
                <a:latin typeface="Calibri"/>
              </a:rPr>
              <a:t>Never write on a schedule. Write when something actually changed, and only when a person asked for it.</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500">
                <a:solidFill>
                  <a:srgbClr val="222222"/>
                </a:solidFill>
                <a:latin typeface="Calibri"/>
              </a:rPr>
              <a:t>A commit() in loop() at 30 Hz burns through a hundred thousand cycles in under an hour.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storage map, and why the addresses are spaced out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Config.h</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50">
                <a:latin typeface="Consolas"/>
              </a:defRPr>
            </a:pPr>
            <a:r>
              <a:rPr sz="1450">
                <a:solidFill>
                  <a:srgbClr val="222222"/>
                </a:solidFill>
                <a:latin typeface="Consolas"/>
              </a:rPr>
              <a:t>const int ADDR_DEADZONE       =  0;   // int,   4 bytes</a:t>
            </a:r>
          </a:p>
          <a:p>
            <a:pPr algn="l">
              <a:lnSpc>
                <a:spcPct val="100000"/>
              </a:lnSpc>
              <a:spcAft>
                <a:spcPts val="0"/>
              </a:spcAft>
              <a:defRPr sz="1450">
                <a:latin typeface="Consolas"/>
              </a:defRPr>
            </a:pPr>
            <a:r>
              <a:rPr sz="1450">
                <a:solidFill>
                  <a:srgbClr val="222222"/>
                </a:solidFill>
                <a:latin typeface="Consolas"/>
              </a:rPr>
              <a:t>const int ADDR_DEADZONE_LS_X  =  4;</a:t>
            </a:r>
          </a:p>
          <a:p>
            <a:pPr algn="l">
              <a:lnSpc>
                <a:spcPct val="100000"/>
              </a:lnSpc>
              <a:spcAft>
                <a:spcPts val="0"/>
              </a:spcAft>
              <a:defRPr sz="1450">
                <a:latin typeface="Consolas"/>
              </a:defRPr>
            </a:pPr>
            <a:r>
              <a:rPr sz="1450">
                <a:solidFill>
                  <a:srgbClr val="222222"/>
                </a:solidFill>
                <a:latin typeface="Consolas"/>
              </a:rPr>
              <a:t>const int ADDR_DEADZONE_LS_Y  =  8;</a:t>
            </a:r>
          </a:p>
          <a:p>
            <a:pPr algn="l">
              <a:lnSpc>
                <a:spcPct val="100000"/>
              </a:lnSpc>
              <a:spcAft>
                <a:spcPts val="0"/>
              </a:spcAft>
              <a:defRPr sz="1450">
                <a:latin typeface="Consolas"/>
              </a:defRPr>
            </a:pPr>
            <a:r>
              <a:rPr sz="1450">
                <a:solidFill>
                  <a:srgbClr val="222222"/>
                </a:solidFill>
                <a:latin typeface="Consolas"/>
              </a:rPr>
              <a:t>const int ADDR_DEADZONE_RS_X  = 12;</a:t>
            </a:r>
          </a:p>
          <a:p>
            <a:pPr algn="l">
              <a:lnSpc>
                <a:spcPct val="100000"/>
              </a:lnSpc>
              <a:spcAft>
                <a:spcPts val="0"/>
              </a:spcAft>
              <a:defRPr sz="1450">
                <a:latin typeface="Consolas"/>
              </a:defRPr>
            </a:pPr>
            <a:r>
              <a:rPr sz="1450">
                <a:solidFill>
                  <a:srgbClr val="222222"/>
                </a:solidFill>
                <a:latin typeface="Consolas"/>
              </a:rPr>
              <a:t>const int ADDR_DEADZONE_RS_Y  = 16;</a:t>
            </a:r>
          </a:p>
          <a:p>
            <a:pPr algn="l">
              <a:lnSpc>
                <a:spcPct val="100000"/>
              </a:lnSpc>
              <a:spcAft>
                <a:spcPts val="0"/>
              </a:spcAft>
              <a:defRPr sz="1450">
                <a:latin typeface="Consolas"/>
              </a:defRPr>
            </a:pPr>
            <a:r>
              <a:rPr sz="1450">
                <a:solidFill>
                  <a:srgbClr val="222222"/>
                </a:solidFill>
                <a:latin typeface="Consolas"/>
              </a:rPr>
              <a:t>const int ADDR_LS_Y_SC        = 20;   // float, 4 bytes</a:t>
            </a:r>
          </a:p>
          <a:p>
            <a:pPr algn="l">
              <a:lnSpc>
                <a:spcPct val="100000"/>
              </a:lnSpc>
              <a:spcAft>
                <a:spcPts val="0"/>
              </a:spcAft>
              <a:defRPr sz="1450">
                <a:latin typeface="Consolas"/>
              </a:defRPr>
            </a:pPr>
            <a:r>
              <a:rPr sz="1450">
                <a:solidFill>
                  <a:srgbClr val="222222"/>
                </a:solidFill>
                <a:latin typeface="Consolas"/>
              </a:rPr>
              <a:t>const int ADDR_LS_X_SC        = 24;</a:t>
            </a:r>
          </a:p>
          <a:p>
            <a:pPr algn="l">
              <a:lnSpc>
                <a:spcPct val="100000"/>
              </a:lnSpc>
              <a:spcAft>
                <a:spcPts val="0"/>
              </a:spcAft>
              <a:defRPr sz="1450">
                <a:latin typeface="Consolas"/>
              </a:defRPr>
            </a:pPr>
            <a:r>
              <a:rPr sz="1450">
                <a:solidFill>
                  <a:srgbClr val="222222"/>
                </a:solidFill>
                <a:latin typeface="Consolas"/>
              </a:rPr>
              <a:t>const int ADDR_RS_Y_SC        = 28;</a:t>
            </a:r>
          </a:p>
          <a:p>
            <a:pPr algn="l">
              <a:lnSpc>
                <a:spcPct val="100000"/>
              </a:lnSpc>
              <a:spcAft>
                <a:spcPts val="0"/>
              </a:spcAft>
              <a:defRPr sz="1450">
                <a:latin typeface="Consolas"/>
              </a:defRPr>
            </a:pPr>
            <a:r>
              <a:rPr sz="1450">
                <a:solidFill>
                  <a:srgbClr val="222222"/>
                </a:solidFill>
                <a:latin typeface="Consolas"/>
              </a:rPr>
              <a:t>const int ADDR_RS_X_SC        = 32;</a:t>
            </a:r>
          </a:p>
          <a:p>
            <a:pPr algn="l">
              <a:lnSpc>
                <a:spcPct val="100000"/>
              </a:lnSpc>
              <a:spcAft>
                <a:spcPts val="0"/>
              </a:spcAft>
              <a:defRPr sz="1450">
                <a:latin typeface="Consolas"/>
              </a:defRPr>
            </a:pPr>
            <a:r>
              <a:rPr sz="1450" b="1">
                <a:solidFill>
                  <a:srgbClr val="0E7C86"/>
                </a:solidFill>
                <a:latin typeface="Consolas"/>
              </a:rPr>
              <a:t>const int ADDR_PAIRED_VALID   = 36;   // 1 byte:  0xA5 when valid</a:t>
            </a:r>
          </a:p>
          <a:p>
            <a:pPr algn="l">
              <a:lnSpc>
                <a:spcPct val="100000"/>
              </a:lnSpc>
              <a:spcAft>
                <a:spcPts val="0"/>
              </a:spcAft>
              <a:defRPr sz="1450">
                <a:latin typeface="Consolas"/>
              </a:defRPr>
            </a:pPr>
            <a:r>
              <a:rPr sz="1450" b="1">
                <a:solidFill>
                  <a:srgbClr val="0E7C86"/>
                </a:solidFill>
                <a:latin typeface="Consolas"/>
              </a:rPr>
              <a:t>const int ADDR_PAIRED_ADDR    = 37;   // 6 bytes: the address</a:t>
            </a:r>
          </a:p>
          <a:p>
            <a:pPr algn="l">
              <a:lnSpc>
                <a:spcPct val="100000"/>
              </a:lnSpc>
              <a:spcAft>
                <a:spcPts val="0"/>
              </a:spcAft>
              <a:defRPr sz="1450">
                <a:latin typeface="Consolas"/>
              </a:defRPr>
            </a:pPr>
            <a:r>
              <a:rPr sz="1450">
                <a:solidFill>
                  <a:srgbClr val="222222"/>
                </a:solidFill>
                <a:latin typeface="Consolas"/>
              </a:rPr>
              <a:t> </a:t>
            </a:r>
          </a:p>
          <a:p>
            <a:pPr algn="l">
              <a:lnSpc>
                <a:spcPct val="100000"/>
              </a:lnSpc>
              <a:spcAft>
                <a:spcPts val="0"/>
              </a:spcAft>
              <a:defRPr sz="1450">
                <a:latin typeface="Consolas"/>
              </a:defRPr>
            </a:pPr>
            <a:r>
              <a:rPr sz="1450" b="1">
                <a:solidFill>
                  <a:srgbClr val="0E7C86"/>
                </a:solidFill>
                <a:latin typeface="Consolas"/>
              </a:rPr>
              <a:t>const uint8_t PAIRED_VALID_MAGIC = 0xA5;</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900" b="0">
                <a:solidFill>
                  <a:srgbClr val="222222"/>
                </a:solidFill>
                <a:latin typeface="Calibri"/>
              </a:defRPr>
            </a:pPr>
            <a:r>
              <a:rPr sz="1900" b="0">
                <a:solidFill>
                  <a:srgbClr val="222222"/>
                </a:solidFill>
                <a:latin typeface="Calibri"/>
              </a:rPr>
              <a:t>EEPROM is a flat array of bytes. YOU choose where each value lives, and nothing stops two values overlapping.</a:t>
            </a:r>
          </a:p>
          <a:p>
            <a:pPr algn="l">
              <a:lnSpc>
                <a:spcPct val="100000"/>
              </a:lnSpc>
              <a:spcAft>
                <a:spcPts val="700"/>
              </a:spcAft>
              <a:defRPr sz="1900" b="0">
                <a:solidFill>
                  <a:srgbClr val="222222"/>
                </a:solidFill>
                <a:latin typeface="Calibri"/>
              </a:defRPr>
            </a:pPr>
            <a:r>
              <a:rPr sz="1900" b="0">
                <a:solidFill>
                  <a:srgbClr val="222222"/>
                </a:solidFill>
                <a:latin typeface="Calibri"/>
              </a:rPr>
              <a:t>An int is 4 bytes and a float is 4 bytes on this chip, so each slot gets 4.</a:t>
            </a:r>
          </a:p>
          <a:p>
            <a:pPr algn="l">
              <a:lnSpc>
                <a:spcPct val="100000"/>
              </a:lnSpc>
              <a:spcAft>
                <a:spcPts val="700"/>
              </a:spcAft>
              <a:defRPr sz="1900" b="0">
                <a:solidFill>
                  <a:srgbClr val="222222"/>
                </a:solidFill>
                <a:latin typeface="Calibri"/>
              </a:defRPr>
            </a:pPr>
            <a:r>
              <a:rPr sz="1900" b="0">
                <a:solidFill>
                  <a:srgbClr val="222222"/>
                </a:solidFill>
                <a:latin typeface="Calibri"/>
              </a:rPr>
              <a:t>Laying them out as one ADDR_ constant per value, in one place, is what makes an overlap visible when you read the file.</a:t>
            </a:r>
          </a:p>
          <a:p>
            <a:pPr algn="l">
              <a:lnSpc>
                <a:spcPct val="100000"/>
              </a:lnSpc>
              <a:spcAft>
                <a:spcPts val="700"/>
              </a:spcAft>
              <a:defRPr sz="1900" b="0">
                <a:solidFill>
                  <a:srgbClr val="222222"/>
                </a:solidFill>
                <a:latin typeface="Calibri"/>
              </a:defRPr>
            </a:pPr>
            <a:r>
              <a:rPr sz="1900" b="0">
                <a:solidFill>
                  <a:srgbClr val="222222"/>
                </a:solidFill>
                <a:latin typeface="Calibri"/>
              </a:rPr>
              <a:t>Get this wrong and one setting silently corrupts another. It will look like a hardware fault.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magic byte, and never trusting storage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Two separate checks, for two separate problems</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500"/>
              </a:spcAft>
              <a:defRPr sz="1800" b="0">
                <a:solidFill>
                  <a:srgbClr val="222222"/>
                </a:solidFill>
                <a:latin typeface="Calibri"/>
              </a:defRPr>
            </a:pPr>
            <a:r>
              <a:rPr sz="1800" b="0">
                <a:solidFill>
                  <a:srgbClr val="222222"/>
                </a:solidFill>
                <a:latin typeface="Calibri"/>
              </a:rPr>
              <a:t>A brand new ESP32 has flash full of 0xFF. Read an int out of that and you get -1. Read a float and you get something meaningless.</a:t>
            </a:r>
          </a:p>
          <a:p>
            <a:pPr algn="l">
              <a:lnSpc>
                <a:spcPct val="100000"/>
              </a:lnSpc>
              <a:spcAft>
                <a:spcPts val="500"/>
              </a:spcAft>
              <a:defRPr sz="18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So the first byte of the block is a MARKER, written only after a successful save. If it is not 0xA5, the data is not ours and we use the compiled-in defaults.</a:t>
            </a:r>
          </a:p>
          <a:p>
            <a:pPr algn="l">
              <a:lnSpc>
                <a:spcPct val="100000"/>
              </a:lnSpc>
              <a:spcAft>
                <a:spcPts val="500"/>
              </a:spcAft>
              <a:defRPr sz="1800" b="0">
                <a:solidFill>
                  <a:srgbClr val="222222"/>
                </a:solidFill>
                <a:latin typeface="Calibri"/>
              </a:defRPr>
            </a:pPr>
          </a:p>
          <a:p>
            <a:pPr algn="l">
              <a:lnSpc>
                <a:spcPct val="100000"/>
              </a:lnSpc>
              <a:spcAft>
                <a:spcPts val="500"/>
              </a:spcAft>
              <a:defRPr sz="1800" b="0">
                <a:solidFill>
                  <a:srgbClr val="222222"/>
                </a:solidFill>
                <a:latin typeface="Calibri"/>
              </a:defRPr>
            </a:pPr>
            <a:r>
              <a:rPr sz="1800" b="0">
                <a:solidFill>
                  <a:srgbClr val="222222"/>
                </a:solidFill>
                <a:latin typeface="Calibri"/>
              </a:rPr>
              <a:t>But that is not enough on its own. Even WITH the marker, every value is range checked as it loads:</a:t>
            </a:r>
          </a:p>
          <a:p>
            <a:pPr lvl="1" algn="l">
              <a:lnSpc>
                <a:spcPct val="100000"/>
              </a:lnSpc>
              <a:spcAft>
                <a:spcPts val="500"/>
              </a:spcAft>
              <a:defRPr sz="1800" b="0">
                <a:solidFill>
                  <a:srgbClr val="222222"/>
                </a:solidFill>
                <a:latin typeface="Calibri"/>
              </a:defRPr>
            </a:pPr>
            <a:r>
              <a:rPr sz="1800" b="0">
                <a:solidFill>
                  <a:srgbClr val="222222"/>
                </a:solidFill>
                <a:latin typeface="Calibri"/>
              </a:rPr>
              <a:t>if (saved_dz &gt;= 0 &amp;&amp; saved_dz &lt;= DEADZONE_MAX)  INPUT_DEADZONE = saved_dz;</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1800" b="0">
                <a:solidFill>
                  <a:srgbClr val="222222"/>
                </a:solidFill>
                <a:latin typeface="Calibri"/>
              </a:defRPr>
            </a:pPr>
            <a:r>
              <a:rPr sz="1800" b="0">
                <a:solidFill>
                  <a:srgbClr val="222222"/>
                </a:solidFill>
                <a:latin typeface="Calibri"/>
              </a:rPr>
              <a:t>Why? Because a value saved by an OLDER version of the program is perfectly valid data and still wrong for this one. The marker tells you the bytes are yours. It does not tell you they still make sense.</a:t>
            </a:r>
          </a:p>
          <a:p>
            <a:pPr algn="l">
              <a:lnSpc>
                <a:spcPct val="100000"/>
              </a:lnSpc>
              <a:spcAft>
                <a:spcPts val="900"/>
              </a:spcAft>
              <a:defRPr sz="1800" b="0">
                <a:solidFill>
                  <a:srgbClr val="222222"/>
                </a:solidFill>
                <a:latin typeface="Calibri"/>
              </a:defRPr>
            </a:pPr>
          </a:p>
          <a:p>
            <a:pPr algn="l">
              <a:lnSpc>
                <a:spcPct val="100000"/>
              </a:lnSpc>
              <a:spcAft>
                <a:spcPts val="900"/>
              </a:spcAft>
              <a:defRPr sz="1800" b="0">
                <a:solidFill>
                  <a:srgbClr val="222222"/>
                </a:solidFill>
                <a:latin typeface="Calibri"/>
              </a:defRPr>
            </a:pPr>
            <a:r>
              <a:rPr sz="1800" b="0">
                <a:solidFill>
                  <a:srgbClr val="222222"/>
                </a:solidFill>
                <a:latin typeface="Calibri"/>
              </a:rPr>
              <a:t>Defensive loading is not paranoia. It is the difference between a vehicle that boots with odd settings and one that will not boot.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Rounded Rectangle 5"/>
          <p:cNvSpPr/>
          <p:nvPr/>
        </p:nvSpPr>
        <p:spPr>
          <a:xfrm>
            <a:off x="502920" y="2240280"/>
            <a:ext cx="3631082" cy="173736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Callbacks and allowlist</a:t>
            </a:r>
          </a:p>
        </p:txBody>
      </p:sp>
      <p:sp>
        <p:nvSpPr>
          <p:cNvPr id="7" name="TextBox 6"/>
          <p:cNvSpPr txBox="1"/>
          <p:nvPr/>
        </p:nvSpPr>
        <p:spPr>
          <a:xfrm>
            <a:off x="502920"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done</a:t>
            </a:r>
          </a:p>
        </p:txBody>
      </p:sp>
      <p:sp>
        <p:nvSpPr>
          <p:cNvPr id="8" name="Rounded Rectangle 7"/>
          <p:cNvSpPr/>
          <p:nvPr/>
        </p:nvSpPr>
        <p:spPr>
          <a:xfrm>
            <a:off x="4280306" y="2240280"/>
            <a:ext cx="3631082" cy="173736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Locking a board</a:t>
            </a:r>
          </a:p>
        </p:txBody>
      </p:sp>
      <p:sp>
        <p:nvSpPr>
          <p:cNvPr id="9" name="TextBox 8"/>
          <p:cNvSpPr txBox="1"/>
          <p:nvPr/>
        </p:nvSpPr>
        <p:spPr>
          <a:xfrm>
            <a:off x="4280306"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done</a:t>
            </a:r>
          </a:p>
        </p:txBody>
      </p:sp>
      <p:sp>
        <p:nvSpPr>
          <p:cNvPr id="10" name="Rounded Rectangle 9"/>
          <p:cNvSpPr/>
          <p:nvPr/>
        </p:nvSpPr>
        <p:spPr>
          <a:xfrm>
            <a:off x="8057692" y="2240280"/>
            <a:ext cx="3631082" cy="173736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EEPROM</a:t>
            </a:r>
          </a:p>
        </p:txBody>
      </p:sp>
      <p:sp>
        <p:nvSpPr>
          <p:cNvPr id="11" name="TextBox 10"/>
          <p:cNvSpPr txBox="1"/>
          <p:nvPr/>
        </p:nvSpPr>
        <p:spPr>
          <a:xfrm>
            <a:off x="8057692"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NOW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settings that survive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a3b_eeprom_settings</a:t>
            </a:r>
            <a:r>
              <a:rPr sz="1200">
                <a:solidFill>
                  <a:srgbClr val="FFFFFF"/>
                </a:solidFill>
                <a:latin typeface="Calibri"/>
              </a:rPr>
              <a:t>     (30 minutes)</a:t>
            </a:r>
          </a:p>
        </p:txBody>
      </p:sp>
      <p:sp>
        <p:nvSpPr>
          <p:cNvPr id="7" name="TextBox 6"/>
          <p:cNvSpPr txBox="1"/>
          <p:nvPr/>
        </p:nvSpPr>
        <p:spPr>
          <a:xfrm>
            <a:off x="502920" y="1901952"/>
            <a:ext cx="6249137"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set deadzone 100,  save. Now UNPLUG the board and plug it back in. Type  show.</a:t>
            </a:r>
          </a:p>
          <a:p>
            <a:pPr algn="l">
              <a:lnSpc>
                <a:spcPct val="100000"/>
              </a:lnSpc>
              <a:spcAft>
                <a:spcPts val="800"/>
              </a:spcAft>
              <a:defRPr sz="1800" b="0">
                <a:solidFill>
                  <a:srgbClr val="222222"/>
                </a:solidFill>
                <a:latin typeface="Calibri"/>
              </a:defRPr>
            </a:pPr>
            <a:r>
              <a:rPr sz="1800" b="0">
                <a:solidFill>
                  <a:srgbClr val="222222"/>
                </a:solidFill>
                <a:latin typeface="Calibri"/>
              </a:rPr>
              <a:t>2.  set deadzone 200  and do NOT save. Reset the board. What happened, and why?</a:t>
            </a:r>
          </a:p>
          <a:p>
            <a:pPr algn="l">
              <a:lnSpc>
                <a:spcPct val="100000"/>
              </a:lnSpc>
              <a:spcAft>
                <a:spcPts val="800"/>
              </a:spcAft>
              <a:defRPr sz="1800" b="0">
                <a:solidFill>
                  <a:srgbClr val="222222"/>
                </a:solidFill>
                <a:latin typeface="Calibri"/>
              </a:defRPr>
            </a:pPr>
            <a:r>
              <a:rPr sz="1800" b="0">
                <a:solidFill>
                  <a:srgbClr val="222222"/>
                </a:solidFill>
                <a:latin typeface="Calibri"/>
              </a:rPr>
              <a:t>3.  erase, then reset. Where did the values come from this time?</a:t>
            </a:r>
          </a:p>
          <a:p>
            <a:pPr algn="l">
              <a:lnSpc>
                <a:spcPct val="100000"/>
              </a:lnSpc>
              <a:spcAft>
                <a:spcPts val="800"/>
              </a:spcAft>
              <a:defRPr sz="1800" b="0">
                <a:solidFill>
                  <a:srgbClr val="222222"/>
                </a:solidFill>
                <a:latin typeface="Calibri"/>
              </a:defRPr>
            </a:pPr>
            <a:r>
              <a:rPr sz="1800" b="0">
                <a:solidFill>
                  <a:srgbClr val="222222"/>
                </a:solidFill>
                <a:latin typeface="Calibri"/>
              </a:rPr>
              <a:t>4.  dump  before and after a save. Find the magic byte.</a:t>
            </a:r>
          </a:p>
          <a:p>
            <a:pPr algn="l">
              <a:lnSpc>
                <a:spcPct val="100000"/>
              </a:lnSpc>
              <a:spcAft>
                <a:spcPts val="800"/>
              </a:spcAft>
              <a:defRPr sz="1800" b="0">
                <a:solidFill>
                  <a:srgbClr val="222222"/>
                </a:solidFill>
                <a:latin typeface="Calibri"/>
              </a:defRPr>
            </a:pPr>
            <a:r>
              <a:rPr sz="1800" b="0">
                <a:solidFill>
                  <a:srgbClr val="222222"/>
                </a:solidFill>
                <a:latin typeface="Calibri"/>
              </a:rPr>
              <a:t>5.  Comment out the EEPROM.commit() in saveSettings. Save, reset, and see the bug you will one day write for real.</a:t>
            </a:r>
          </a:p>
          <a:p>
            <a:pPr algn="l">
              <a:lnSpc>
                <a:spcPct val="100000"/>
              </a:lnSpc>
              <a:spcAft>
                <a:spcPts val="800"/>
              </a:spcAft>
              <a:defRPr sz="1800" b="0">
                <a:solidFill>
                  <a:srgbClr val="222222"/>
                </a:solidFill>
                <a:latin typeface="Calibri"/>
              </a:defRPr>
            </a:pPr>
            <a:r>
              <a:rPr sz="1800" b="0">
                <a:solidFill>
                  <a:srgbClr val="222222"/>
                </a:solidFill>
                <a:latin typeface="Calibri"/>
              </a:rPr>
              <a:t>6.  Deliberately overlap two ADDR_ constants and watch one setting eat the other.</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458305"/>
          </a:xfrm>
          <a:prstGeom prst="rect">
            <a:avLst/>
          </a:prstGeom>
          <a:noFill/>
        </p:spPr>
        <p:txBody>
          <a:bodyPr wrap="square" lIns="0" tIns="0" rIns="0" bIns="0">
            <a:spAutoFit/>
          </a:bodyPr>
          <a:lstStyle/>
          <a:p>
            <a:pPr algn="l">
              <a:lnSpc>
                <a:spcPct val="100000"/>
              </a:lnSpc>
              <a:spcAft>
                <a:spcPts val="300"/>
              </a:spcAft>
              <a:defRPr sz="2400" b="0">
                <a:solidFill>
                  <a:srgbClr val="222222"/>
                </a:solidFill>
                <a:latin typeface="Calibri"/>
              </a:defRPr>
            </a:pPr>
            <a:r>
              <a:rPr sz="2400" b="0">
                <a:solidFill>
                  <a:srgbClr val="222222"/>
                </a:solidFill>
                <a:latin typeface="Calibri"/>
              </a:rPr>
              <a:t>Step 1: the value is still 100 after a power cycle. Step 2: it is back to 100, not 200.</a:t>
            </a:r>
          </a:p>
        </p:txBody>
      </p:sp>
      <p:sp>
        <p:nvSpPr>
          <p:cNvPr id="10" name="TextBox 9"/>
          <p:cNvSpPr txBox="1"/>
          <p:nvPr/>
        </p:nvSpPr>
        <p:spPr>
          <a:xfrm>
            <a:off x="7163537" y="3835745"/>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4238081"/>
            <a:ext cx="4525238" cy="2025558"/>
          </a:xfrm>
          <a:prstGeom prst="rect">
            <a:avLst/>
          </a:prstGeom>
          <a:noFill/>
        </p:spPr>
        <p:txBody>
          <a:bodyPr wrap="square" lIns="0" tIns="0" rIns="0" bIns="0">
            <a:spAutoFit/>
          </a:bodyPr>
          <a:lstStyle/>
          <a:p>
            <a:pPr algn="l">
              <a:lnSpc>
                <a:spcPct val="100000"/>
              </a:lnSpc>
              <a:spcAft>
                <a:spcPts val="300"/>
              </a:spcAft>
              <a:defRPr sz="2400" b="0">
                <a:solidFill>
                  <a:srgbClr val="222222"/>
                </a:solidFill>
                <a:latin typeface="Calibri"/>
              </a:defRPr>
            </a:pPr>
            <a:r>
              <a:rPr sz="2400" b="0">
                <a:solidFill>
                  <a:srgbClr val="222222"/>
                </a:solidFill>
                <a:latin typeface="Calibri"/>
              </a:rPr>
              <a:t>What is at address 0 in the dump, and what does it mean?</a:t>
            </a:r>
          </a:p>
          <a:p>
            <a:pPr algn="l">
              <a:lnSpc>
                <a:spcPct val="100000"/>
              </a:lnSpc>
              <a:spcAft>
                <a:spcPts val="300"/>
              </a:spcAft>
              <a:defRPr sz="2400" b="0">
                <a:solidFill>
                  <a:srgbClr val="222222"/>
                </a:solidFill>
                <a:latin typeface="Calibri"/>
              </a:defRPr>
            </a:pPr>
            <a:r>
              <a:rPr sz="2400" b="0">
                <a:solidFill>
                  <a:srgbClr val="222222"/>
                </a:solidFill>
                <a:latin typeface="Calibri"/>
              </a:rPr>
              <a:t>Why is range checking needed even when the magic byte is correct?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each program keeps its controller address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Four programs in this repository, four different answers, each right for what it is for.</a:t>
            </a:r>
          </a:p>
        </p:txBody>
      </p:sp>
      <p:graphicFrame>
        <p:nvGraphicFramePr>
          <p:cNvPr id="7" name="Table 6"/>
          <p:cNvGraphicFramePr>
            <a:graphicFrameLocks noGrp="1"/>
          </p:cNvGraphicFramePr>
          <p:nvPr/>
        </p:nvGraphicFramePr>
        <p:xfrm>
          <a:off x="502920" y="1691640"/>
          <a:ext cx="11185854" cy="3309937"/>
        </p:xfrm>
        <a:graphic>
          <a:graphicData uri="http://schemas.openxmlformats.org/drawingml/2006/table">
            <a:tbl>
              <a:tblPr firstRow="1" bandRow="1">
                <a:tableStyleId>{5C22544A-7EE6-4342-B048-85BDC9FD1C3A}</a:tableStyleId>
              </a:tblPr>
              <a:tblGrid>
                <a:gridCol w="3457446"/>
                <a:gridCol w="4270962"/>
                <a:gridCol w="3457446"/>
              </a:tblGrid>
              <a:tr h="661987">
                <a:tc>
                  <a:txBody>
                    <a:bodyPr/>
                    <a:lstStyle/>
                    <a:p>
                      <a:r>
                        <a:rPr sz="2050" b="1">
                          <a:solidFill>
                            <a:srgbClr val="FFFFFF"/>
                          </a:solidFill>
                          <a:latin typeface="Calibri"/>
                        </a:rPr>
                        <a:t>Program</a:t>
                      </a:r>
                    </a:p>
                  </a:txBody>
                  <a:tcPr marL="73152" marT="18288" marB="18288">
                    <a:solidFill>
                      <a:srgbClr val="1F3A5F"/>
                    </a:solidFill>
                  </a:tcPr>
                </a:tc>
                <a:tc>
                  <a:txBody>
                    <a:bodyPr/>
                    <a:lstStyle/>
                    <a:p>
                      <a:r>
                        <a:rPr sz="2050" b="1">
                          <a:solidFill>
                            <a:srgbClr val="FFFFFF"/>
                          </a:solidFill>
                          <a:latin typeface="Calibri"/>
                        </a:rPr>
                        <a:t>Where the address lives</a:t>
                      </a:r>
                    </a:p>
                  </a:txBody>
                  <a:tcPr marL="73152" marT="18288" marB="18288">
                    <a:solidFill>
                      <a:srgbClr val="1F3A5F"/>
                    </a:solidFill>
                  </a:tcPr>
                </a:tc>
                <a:tc>
                  <a:txBody>
                    <a:bodyPr/>
                    <a:lstStyle/>
                    <a:p>
                      <a:r>
                        <a:rPr sz="2050" b="1">
                          <a:solidFill>
                            <a:srgbClr val="FFFFFF"/>
                          </a:solidFill>
                          <a:latin typeface="Calibri"/>
                        </a:rPr>
                        <a:t>What that costs you</a:t>
                      </a:r>
                    </a:p>
                  </a:txBody>
                  <a:tcPr marL="73152" marT="18288" marB="18288">
                    <a:solidFill>
                      <a:srgbClr val="1F3A5F"/>
                    </a:solidFill>
                  </a:tcPr>
                </a:tc>
              </a:tr>
              <a:tr h="661987">
                <a:tc>
                  <a:txBody>
                    <a:bodyPr/>
                    <a:lstStyle/>
                    <a:p>
                      <a:r>
                        <a:rPr sz="2050">
                          <a:solidFill>
                            <a:srgbClr val="222222"/>
                          </a:solidFill>
                          <a:latin typeface="Consolas"/>
                        </a:rPr>
                        <a:t>pathfinder_ps3</a:t>
                      </a:r>
                    </a:p>
                  </a:txBody>
                  <a:tcPr marL="73152" marT="18288" marB="18288">
                    <a:solidFill>
                      <a:srgbClr val="FFFFFF"/>
                    </a:solidFill>
                  </a:tcPr>
                </a:tc>
                <a:tc>
                  <a:txBody>
                    <a:bodyPr/>
                    <a:lstStyle/>
                    <a:p>
                      <a:r>
                        <a:rPr sz="2050">
                          <a:solidFill>
                            <a:srgbClr val="222222"/>
                          </a:solidFill>
                          <a:latin typeface="Calibri"/>
                        </a:rPr>
                        <a:t>In the CONTROLLER, written by SixaxisPairTool</a:t>
                      </a:r>
                    </a:p>
                  </a:txBody>
                  <a:tcPr marL="73152" marT="18288" marB="18288">
                    <a:solidFill>
                      <a:srgbClr val="FFFFFF"/>
                    </a:solidFill>
                  </a:tcPr>
                </a:tc>
                <a:tc>
                  <a:txBody>
                    <a:bodyPr/>
                    <a:lstStyle/>
                    <a:p>
                      <a:r>
                        <a:rPr sz="2050">
                          <a:solidFill>
                            <a:srgbClr val="222222"/>
                          </a:solidFill>
                          <a:latin typeface="Calibri"/>
                        </a:rPr>
                        <a:t>Needs a Windows PC and a cable to change</a:t>
                      </a:r>
                    </a:p>
                  </a:txBody>
                  <a:tcPr marL="73152" marT="18288" marB="18288">
                    <a:solidFill>
                      <a:srgbClr val="FFFFFF"/>
                    </a:solidFill>
                  </a:tcPr>
                </a:tc>
              </a:tr>
              <a:tr h="661987">
                <a:tc>
                  <a:txBody>
                    <a:bodyPr/>
                    <a:lstStyle/>
                    <a:p>
                      <a:r>
                        <a:rPr sz="2050">
                          <a:solidFill>
                            <a:srgbClr val="222222"/>
                          </a:solidFill>
                          <a:latin typeface="Consolas"/>
                        </a:rPr>
                        <a:t>pathfinder_nintendoswitch</a:t>
                      </a:r>
                    </a:p>
                  </a:txBody>
                  <a:tcPr marL="73152" marT="18288" marB="18288">
                    <a:solidFill>
                      <a:srgbClr val="EEF3F8"/>
                    </a:solidFill>
                  </a:tcPr>
                </a:tc>
                <a:tc>
                  <a:txBody>
                    <a:bodyPr/>
                    <a:lstStyle/>
                    <a:p>
                      <a:r>
                        <a:rPr sz="2050">
                          <a:solidFill>
                            <a:srgbClr val="222222"/>
                          </a:solidFill>
                          <a:latin typeface="Calibri"/>
                        </a:rPr>
                        <a:t>A constant in the source, MY_CONTROLLER</a:t>
                      </a:r>
                    </a:p>
                  </a:txBody>
                  <a:tcPr marL="73152" marT="18288" marB="18288">
                    <a:solidFill>
                      <a:srgbClr val="EEF3F8"/>
                    </a:solidFill>
                  </a:tcPr>
                </a:tc>
                <a:tc>
                  <a:txBody>
                    <a:bodyPr/>
                    <a:lstStyle/>
                    <a:p>
                      <a:r>
                        <a:rPr sz="2050">
                          <a:solidFill>
                            <a:srgbClr val="222222"/>
                          </a:solidFill>
                          <a:latin typeface="Calibri"/>
                        </a:rPr>
                        <a:t>Recompile to change it</a:t>
                      </a:r>
                    </a:p>
                  </a:txBody>
                  <a:tcPr marL="73152" marT="18288" marB="18288">
                    <a:solidFill>
                      <a:srgbClr val="EEF3F8"/>
                    </a:solidFill>
                  </a:tcPr>
                </a:tc>
              </a:tr>
              <a:tr h="661987">
                <a:tc>
                  <a:txBody>
                    <a:bodyPr/>
                    <a:lstStyle/>
                    <a:p>
                      <a:r>
                        <a:rPr sz="2050">
                          <a:solidFill>
                            <a:srgbClr val="222222"/>
                          </a:solidFill>
                          <a:latin typeface="Consolas"/>
                        </a:rPr>
                        <a:t>a3a_controller_address</a:t>
                      </a:r>
                    </a:p>
                  </a:txBody>
                  <a:tcPr marL="73152" marT="18288" marB="18288">
                    <a:solidFill>
                      <a:srgbClr val="FFFFFF"/>
                    </a:solidFill>
                  </a:tcPr>
                </a:tc>
                <a:tc>
                  <a:txBody>
                    <a:bodyPr/>
                    <a:lstStyle/>
                    <a:p>
                      <a:r>
                        <a:rPr sz="2050">
                          <a:solidFill>
                            <a:srgbClr val="222222"/>
                          </a:solidFill>
                          <a:latin typeface="Calibri"/>
                        </a:rPr>
                        <a:t>RAM only</a:t>
                      </a:r>
                    </a:p>
                  </a:txBody>
                  <a:tcPr marL="73152" marT="18288" marB="18288">
                    <a:solidFill>
                      <a:srgbClr val="FFFFFF"/>
                    </a:solidFill>
                  </a:tcPr>
                </a:tc>
                <a:tc>
                  <a:txBody>
                    <a:bodyPr/>
                    <a:lstStyle/>
                    <a:p>
                      <a:r>
                        <a:rPr sz="2050">
                          <a:solidFill>
                            <a:srgbClr val="222222"/>
                          </a:solidFill>
                          <a:latin typeface="Calibri"/>
                        </a:rPr>
                        <a:t>Gone at the next reset - fine for a demonstration</a:t>
                      </a:r>
                    </a:p>
                  </a:txBody>
                  <a:tcPr marL="73152" marT="18288" marB="18288">
                    <a:solidFill>
                      <a:srgbClr val="FFFFFF"/>
                    </a:solidFill>
                  </a:tcPr>
                </a:tc>
              </a:tr>
              <a:tr h="661989">
                <a:tc>
                  <a:txBody>
                    <a:bodyPr/>
                    <a:lstStyle/>
                    <a:p>
                      <a:r>
                        <a:rPr sz="2050">
                          <a:solidFill>
                            <a:srgbClr val="222222"/>
                          </a:solidFill>
                          <a:latin typeface="Consolas"/>
                        </a:rPr>
                        <a:t>Pathfinder_Op_Program12</a:t>
                      </a:r>
                    </a:p>
                  </a:txBody>
                  <a:tcPr marL="73152" marT="18288" marB="18288">
                    <a:solidFill>
                      <a:srgbClr val="EEF3F8"/>
                    </a:solidFill>
                  </a:tcPr>
                </a:tc>
                <a:tc>
                  <a:txBody>
                    <a:bodyPr/>
                    <a:lstStyle/>
                    <a:p>
                      <a:r>
                        <a:rPr sz="2050">
                          <a:solidFill>
                            <a:srgbClr val="222222"/>
                          </a:solidFill>
                          <a:latin typeface="Calibri"/>
                        </a:rPr>
                        <a:t>EEPROM, written the first time it pairs</a:t>
                      </a:r>
                    </a:p>
                  </a:txBody>
                  <a:tcPr marL="73152" marT="18288" marB="18288">
                    <a:solidFill>
                      <a:srgbClr val="EEF3F8"/>
                    </a:solidFill>
                  </a:tcPr>
                </a:tc>
                <a:tc>
                  <a:txBody>
                    <a:bodyPr/>
                    <a:lstStyle/>
                    <a:p>
                      <a:r>
                        <a:rPr sz="2050">
                          <a:solidFill>
                            <a:srgbClr val="222222"/>
                          </a:solidFill>
                          <a:latin typeface="Calibri"/>
                        </a:rPr>
                        <a:t>Nothing. Press BOOT and pair again.</a:t>
                      </a:r>
                    </a:p>
                  </a:txBody>
                  <a:tcPr marL="73152" marT="18288" marB="18288">
                    <a:solidFill>
                      <a:srgbClr val="EEF3F8"/>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500">
                <a:solidFill>
                  <a:srgbClr val="222222"/>
                </a:solidFill>
                <a:latin typeface="Calibri"/>
              </a:rPr>
              <a:t>A field-serviceable machine should never need a laptop to change who is allowed to drive it. That is the whole argument for the EEPROM version.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pairing workflow, end to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Bluetooth.ino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550">
                <a:latin typeface="Consolas"/>
              </a:defRPr>
            </a:pPr>
            <a:r>
              <a:rPr sz="1550">
                <a:solidFill>
                  <a:srgbClr val="666666"/>
                </a:solidFill>
                <a:latin typeface="Consolas"/>
              </a:rPr>
              <a:t>// Two ways in, both do the same thing:</a:t>
            </a:r>
          </a:p>
          <a:p>
            <a:pPr algn="l">
              <a:lnSpc>
                <a:spcPct val="100000"/>
              </a:lnSpc>
              <a:spcAft>
                <a:spcPts val="0"/>
              </a:spcAft>
              <a:defRPr sz="1550">
                <a:latin typeface="Consolas"/>
              </a:defRPr>
            </a:pPr>
            <a:r>
              <a:rPr sz="1550">
                <a:solidFill>
                  <a:srgbClr val="666666"/>
                </a:solidFill>
                <a:latin typeface="Consolas"/>
              </a:rPr>
              <a:t>//   - press the BOOT button (GPIO 0, reads LOW when pressed)</a:t>
            </a:r>
          </a:p>
          <a:p>
            <a:pPr algn="l">
              <a:lnSpc>
                <a:spcPct val="100000"/>
              </a:lnSpc>
              <a:spcAft>
                <a:spcPts val="0"/>
              </a:spcAft>
              <a:defRPr sz="1550">
                <a:latin typeface="Consolas"/>
              </a:defRPr>
            </a:pPr>
            <a:r>
              <a:rPr sz="1550">
                <a:solidFill>
                  <a:srgbClr val="666666"/>
                </a:solidFill>
                <a:latin typeface="Consolas"/>
              </a:rPr>
              <a:t>//   - type 'pair' on the serial console</a:t>
            </a:r>
          </a:p>
          <a:p>
            <a:pPr algn="l">
              <a:lnSpc>
                <a:spcPct val="100000"/>
              </a:lnSpc>
              <a:spcAft>
                <a:spcPts val="0"/>
              </a:spcAft>
              <a:defRPr sz="1550">
                <a:latin typeface="Consolas"/>
              </a:defRPr>
            </a:pPr>
            <a:r>
              <a:rPr sz="1550">
                <a:solidFill>
                  <a:srgbClr val="222222"/>
                </a:solidFill>
                <a:latin typeface="Consolas"/>
              </a:rPr>
              <a:t> </a:t>
            </a:r>
          </a:p>
          <a:p>
            <a:pPr algn="l">
              <a:lnSpc>
                <a:spcPct val="100000"/>
              </a:lnSpc>
              <a:spcAft>
                <a:spcPts val="0"/>
              </a:spcAft>
              <a:defRPr sz="1550">
                <a:latin typeface="Consolas"/>
              </a:defRPr>
            </a:pPr>
            <a:r>
              <a:rPr sz="1550">
                <a:solidFill>
                  <a:srgbClr val="222222"/>
                </a:solidFill>
                <a:latin typeface="Consolas"/>
              </a:rPr>
              <a:t>void enterPairingMode() {</a:t>
            </a:r>
          </a:p>
          <a:p>
            <a:pPr algn="l">
              <a:lnSpc>
                <a:spcPct val="100000"/>
              </a:lnSpc>
              <a:spcAft>
                <a:spcPts val="0"/>
              </a:spcAft>
              <a:defRPr sz="1550">
                <a:latin typeface="Consolas"/>
              </a:defRPr>
            </a:pPr>
            <a:r>
              <a:rPr sz="1550">
                <a:solidFill>
                  <a:srgbClr val="666666"/>
                </a:solidFill>
                <a:latin typeface="Consolas"/>
              </a:rPr>
              <a:t>  // drop whatever is connected</a:t>
            </a:r>
          </a:p>
          <a:p>
            <a:pPr algn="l">
              <a:lnSpc>
                <a:spcPct val="100000"/>
              </a:lnSpc>
              <a:spcAft>
                <a:spcPts val="0"/>
              </a:spcAft>
              <a:defRPr sz="1550">
                <a:latin typeface="Consolas"/>
              </a:defRPr>
            </a:pPr>
            <a:r>
              <a:rPr sz="1550">
                <a:solidFill>
                  <a:srgbClr val="222222"/>
                </a:solidFill>
                <a:latin typeface="Consolas"/>
              </a:rPr>
              <a:t>  BP32.forgetBluetoothKeys();</a:t>
            </a:r>
          </a:p>
          <a:p>
            <a:pPr algn="l">
              <a:lnSpc>
                <a:spcPct val="100000"/>
              </a:lnSpc>
              <a:spcAft>
                <a:spcPts val="0"/>
              </a:spcAft>
              <a:defRPr sz="1550">
                <a:latin typeface="Consolas"/>
              </a:defRPr>
            </a:pPr>
            <a:r>
              <a:rPr sz="1550">
                <a:solidFill>
                  <a:srgbClr val="222222"/>
                </a:solidFill>
                <a:latin typeface="Consolas"/>
              </a:rPr>
              <a:t>  clearPairedAddress();          // clears the EEPROM marker</a:t>
            </a:r>
          </a:p>
          <a:p>
            <a:pPr algn="l">
              <a:lnSpc>
                <a:spcPct val="100000"/>
              </a:lnSpc>
              <a:spcAft>
                <a:spcPts val="0"/>
              </a:spcAft>
              <a:defRPr sz="1550">
                <a:latin typeface="Consolas"/>
              </a:defRPr>
            </a:pPr>
            <a:r>
              <a:rPr sz="1550">
                <a:solidFill>
                  <a:srgbClr val="222222"/>
                </a:solidFill>
                <a:latin typeface="Consolas"/>
              </a:rPr>
              <a:t>  applyAllowlist();              // now empty, so disabled</a:t>
            </a:r>
          </a:p>
          <a:p>
            <a:pPr algn="l">
              <a:lnSpc>
                <a:spcPct val="100000"/>
              </a:lnSpc>
              <a:spcAft>
                <a:spcPts val="0"/>
              </a:spcAft>
              <a:defRPr sz="1550">
                <a:latin typeface="Consolas"/>
              </a:defRPr>
            </a:pPr>
            <a:r>
              <a:rPr sz="1550">
                <a:solidFill>
                  <a:srgbClr val="222222"/>
                </a:solidFill>
                <a:latin typeface="Consolas"/>
              </a:rPr>
              <a:t>  BP32.enableNewBluetoothConnections(true);</a:t>
            </a:r>
          </a:p>
          <a:p>
            <a:pPr algn="l">
              <a:lnSpc>
                <a:spcPct val="100000"/>
              </a:lnSpc>
              <a:spcAft>
                <a:spcPts val="0"/>
              </a:spcAft>
              <a:defRPr sz="1550">
                <a:latin typeface="Consolas"/>
              </a:defRPr>
            </a:pPr>
            <a:r>
              <a:rPr sz="1550">
                <a:solidFill>
                  <a:srgbClr val="222222"/>
                </a:solidFill>
                <a:latin typeface="Consolas"/>
              </a:rPr>
              <a:t>  led_mode = PAIRING;            // LEDs breathe blue</a:t>
            </a:r>
          </a:p>
          <a:p>
            <a:pPr algn="l">
              <a:lnSpc>
                <a:spcPct val="100000"/>
              </a:lnSpc>
              <a:spcAft>
                <a:spcPts val="0"/>
              </a:spcAft>
              <a:defRPr sz="1550">
                <a:latin typeface="Consolas"/>
              </a:defRPr>
            </a:pPr>
            <a:r>
              <a:rPr sz="1550">
                <a:solidFill>
                  <a:srgbClr val="222222"/>
                </a:solidFill>
                <a:latin typeface="Consolas"/>
              </a:rPr>
              <a:t>}</a:t>
            </a:r>
          </a:p>
          <a:p>
            <a:pPr algn="l">
              <a:lnSpc>
                <a:spcPct val="100000"/>
              </a:lnSpc>
              <a:spcAft>
                <a:spcPts val="0"/>
              </a:spcAft>
              <a:defRPr sz="1550">
                <a:latin typeface="Consolas"/>
              </a:defRPr>
            </a:pPr>
            <a:r>
              <a:rPr sz="1550" b="1">
                <a:solidFill>
                  <a:srgbClr val="0E7C86"/>
                </a:solidFill>
                <a:latin typeface="Consolas"/>
              </a:rPr>
              <a:t> </a:t>
            </a:r>
          </a:p>
          <a:p>
            <a:pPr algn="l">
              <a:lnSpc>
                <a:spcPct val="100000"/>
              </a:lnSpc>
              <a:spcAft>
                <a:spcPts val="0"/>
              </a:spcAft>
              <a:defRPr sz="1550">
                <a:latin typeface="Consolas"/>
              </a:defRPr>
            </a:pPr>
            <a:r>
              <a:rPr sz="1550" b="1">
                <a:solidFill>
                  <a:srgbClr val="0E7C86"/>
                </a:solidFill>
                <a:latin typeface="Consolas"/>
              </a:rPr>
              <a:t>// Then, in the connect callback:</a:t>
            </a:r>
          </a:p>
          <a:p>
            <a:pPr algn="l">
              <a:lnSpc>
                <a:spcPct val="100000"/>
              </a:lnSpc>
              <a:spcAft>
                <a:spcPts val="0"/>
              </a:spcAft>
              <a:defRPr sz="1550">
                <a:latin typeface="Consolas"/>
              </a:defRPr>
            </a:pPr>
            <a:r>
              <a:rPr sz="1550" b="1">
                <a:solidFill>
                  <a:srgbClr val="0E7C86"/>
                </a:solidFill>
                <a:latin typeface="Consolas"/>
              </a:rPr>
              <a:t>if (!paired_addr_valid) {</a:t>
            </a:r>
          </a:p>
          <a:p>
            <a:pPr algn="l">
              <a:lnSpc>
                <a:spcPct val="100000"/>
              </a:lnSpc>
              <a:spcAft>
                <a:spcPts val="0"/>
              </a:spcAft>
              <a:defRPr sz="1550">
                <a:latin typeface="Consolas"/>
              </a:defRPr>
            </a:pPr>
            <a:r>
              <a:rPr sz="1550">
                <a:solidFill>
                  <a:srgbClr val="222222"/>
                </a:solidFill>
                <a:latin typeface="Consolas"/>
              </a:rPr>
              <a:t>  savePairedAddress(props.btaddr);   // straight to EEPROM</a:t>
            </a:r>
          </a:p>
          <a:p>
            <a:pPr algn="l">
              <a:lnSpc>
                <a:spcPct val="100000"/>
              </a:lnSpc>
              <a:spcAft>
                <a:spcPts val="0"/>
              </a:spcAft>
              <a:defRPr sz="1550">
                <a:latin typeface="Consolas"/>
              </a:defRPr>
            </a:pPr>
            <a:r>
              <a:rPr sz="1550">
                <a:solidFill>
                  <a:srgbClr val="222222"/>
                </a:solidFill>
                <a:latin typeface="Consolas"/>
              </a:rPr>
              <a:t>  applyAllowlist();                  // rebuild, now enabled</a:t>
            </a:r>
          </a:p>
          <a:p>
            <a:pPr algn="l">
              <a:lnSpc>
                <a:spcPct val="100000"/>
              </a:lnSpc>
              <a:spcAft>
                <a:spcPts val="0"/>
              </a:spcAft>
              <a:defRPr sz="1550">
                <a:latin typeface="Consolas"/>
              </a:defRPr>
            </a:pPr>
            <a:r>
              <a:rPr sz="155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The first controller to connect during pairing becomes this vehicle's own, and is written down immediately.</a:t>
            </a:r>
          </a:p>
          <a:p>
            <a:pPr algn="l">
              <a:lnSpc>
                <a:spcPct val="100000"/>
              </a:lnSpc>
              <a:spcAft>
                <a:spcPts val="700"/>
              </a:spcAft>
              <a:defRPr sz="1800" b="0">
                <a:solidFill>
                  <a:srgbClr val="222222"/>
                </a:solidFill>
                <a:latin typeface="Calibri"/>
              </a:defRPr>
            </a:pPr>
            <a:r>
              <a:rPr sz="1800" b="0">
                <a:solidFill>
                  <a:srgbClr val="222222"/>
                </a:solidFill>
                <a:latin typeface="Calibri"/>
              </a:rPr>
              <a:t>applyAllowlist() is called again straight away, so the window where anything can connect closes the moment it is filled.</a:t>
            </a:r>
          </a:p>
          <a:p>
            <a:pPr algn="l">
              <a:lnSpc>
                <a:spcPct val="100000"/>
              </a:lnSpc>
              <a:spcAft>
                <a:spcPts val="700"/>
              </a:spcAft>
              <a:defRPr sz="1800" b="0">
                <a:solidFill>
                  <a:srgbClr val="222222"/>
                </a:solidFill>
                <a:latin typeface="Calibri"/>
              </a:defRPr>
            </a:pPr>
            <a:r>
              <a:rPr sz="1800" b="0">
                <a:solidFill>
                  <a:srgbClr val="222222"/>
                </a:solidFill>
                <a:latin typeface="Calibri"/>
              </a:rPr>
              <a:t>forget  reopens it deliberately.</a:t>
            </a:r>
          </a:p>
          <a:p>
            <a:pPr algn="l">
              <a:lnSpc>
                <a:spcPct val="100000"/>
              </a:lnSpc>
              <a:spcAft>
                <a:spcPts val="700"/>
              </a:spcAft>
              <a:defRPr sz="1800" b="0">
                <a:solidFill>
                  <a:srgbClr val="222222"/>
                </a:solidFill>
                <a:latin typeface="Calibri"/>
              </a:defRPr>
            </a:pPr>
            <a:r>
              <a:rPr sz="1800" b="0">
                <a:solidFill>
                  <a:srgbClr val="222222"/>
                </a:solidFill>
                <a:latin typeface="Calibri"/>
              </a:rPr>
              <a:t>The LEDs breathing blue is the only feedback a student gets with no laptop attached. That is a deliberate design decision, not decoration.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more bug worth knowing about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Endianness, and an afternoon you will not get back</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r>
              <a:rPr sz="2700" b="0">
                <a:solidFill>
                  <a:srgbClr val="222222"/>
                </a:solidFill>
                <a:latin typeface="Calibri"/>
              </a:rPr>
              <a:t>btaddr is a uint8_t[6], already in PRINTED order. Byte 0 prints first.</a:t>
            </a:r>
          </a:p>
          <a:p>
            <a:pPr algn="l">
              <a:lnSpc>
                <a:spcPct val="100000"/>
              </a:lnSpc>
              <a:spcAft>
                <a:spcPts val="600"/>
              </a:spcAft>
              <a:defRPr sz="270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Op 11.2 printed it by counting DOWN from byte 5 to byte 0. So the address it showed you was the reverse of the real one.</a:t>
            </a:r>
          </a:p>
          <a:p>
            <a:pPr algn="l">
              <a:lnSpc>
                <a:spcPct val="100000"/>
              </a:lnSpc>
              <a:spcAft>
                <a:spcPts val="600"/>
              </a:spcAft>
              <a:defRPr sz="270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The symptom: you write down the address it printed, paste it into another program, and nothing ever connects. Everything looks correct. The address is simply backwards.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One more bug worth knowing about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p>
          <a:p>
            <a:pPr algn="l">
              <a:lnSpc>
                <a:spcPct val="100000"/>
              </a:lnSpc>
              <a:spcAft>
                <a:spcPts val="900"/>
              </a:spcAft>
              <a:defRPr sz="3000" b="0">
                <a:solidFill>
                  <a:srgbClr val="222222"/>
                </a:solidFill>
                <a:latin typeface="Calibri"/>
              </a:defRPr>
            </a:pPr>
            <a:r>
              <a:rPr sz="3000" b="0">
                <a:solidFill>
                  <a:srgbClr val="222222"/>
                </a:solidFill>
                <a:latin typeface="Calibri"/>
              </a:rPr>
              <a:t>Two lessons:</a:t>
            </a:r>
          </a:p>
          <a:p>
            <a:pPr lvl="1" algn="l">
              <a:lnSpc>
                <a:spcPct val="100000"/>
              </a:lnSpc>
              <a:spcAft>
                <a:spcPts val="900"/>
              </a:spcAft>
              <a:defRPr sz="3000" b="0">
                <a:solidFill>
                  <a:srgbClr val="222222"/>
                </a:solidFill>
                <a:latin typeface="Calibri"/>
              </a:defRPr>
            </a:pPr>
            <a:r>
              <a:rPr sz="3000" b="0">
                <a:solidFill>
                  <a:srgbClr val="222222"/>
                </a:solidFill>
                <a:latin typeface="Calibri"/>
              </a:rPr>
              <a:t>When an address will not work, print it at BOTH ends and compare them character by character.</a:t>
            </a:r>
          </a:p>
          <a:p>
            <a:pPr lvl="1" algn="l">
              <a:lnSpc>
                <a:spcPct val="100000"/>
              </a:lnSpc>
              <a:spcAft>
                <a:spcPts val="900"/>
              </a:spcAft>
              <a:defRPr sz="3000" b="0">
                <a:solidFill>
                  <a:srgbClr val="222222"/>
                </a:solidFill>
                <a:latin typeface="Calibri"/>
              </a:defRPr>
            </a:pPr>
            <a:r>
              <a:rPr sz="3000" b="0">
                <a:solidFill>
                  <a:srgbClr val="222222"/>
                </a:solidFill>
                <a:latin typeface="Calibri"/>
              </a:rPr>
              <a:t>Byte order is a real category of bug. It is why network protocols specify it explicitly, and why the phrase big-endian exists.</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500">
                <a:solidFill>
                  <a:srgbClr val="222222"/>
                </a:solidFill>
                <a:latin typeface="Calibri"/>
              </a:rPr>
              <a:t>Op 12 prints most significant byte first, which matches every Bluetooth scanner you will compare against.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3</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never block, and never redraw for nothing.</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100" b="0">
                <a:solidFill>
                  <a:srgbClr val="222222"/>
                </a:solidFill>
                <a:latin typeface="Calibri"/>
              </a:defRPr>
            </a:pPr>
            <a:r>
              <a:rPr sz="2100" b="0">
                <a:solidFill>
                  <a:srgbClr val="222222"/>
                </a:solidFill>
                <a:latin typeface="Calibri"/>
              </a:rPr>
              <a:t>1.  What is a callback, and who calls it?</a:t>
            </a:r>
          </a:p>
          <a:p>
            <a:pPr algn="l">
              <a:lnSpc>
                <a:spcPct val="100000"/>
              </a:lnSpc>
              <a:spcAft>
                <a:spcPts val="1100"/>
              </a:spcAft>
              <a:defRPr sz="2100" b="0">
                <a:solidFill>
                  <a:srgbClr val="222222"/>
                </a:solidFill>
                <a:latin typeface="Calibri"/>
              </a:defRPr>
            </a:pPr>
            <a:r>
              <a:rPr sz="2100" b="0">
                <a:solidFill>
                  <a:srgbClr val="222222"/>
                </a:solidFill>
                <a:latin typeface="Calibri"/>
              </a:rPr>
              <a:t>2.  Why must the allowlist calls come after BP32.setup()?</a:t>
            </a:r>
          </a:p>
          <a:p>
            <a:pPr algn="l">
              <a:lnSpc>
                <a:spcPct val="100000"/>
              </a:lnSpc>
              <a:spcAft>
                <a:spcPts val="1100"/>
              </a:spcAft>
              <a:defRPr sz="2100" b="0">
                <a:solidFill>
                  <a:srgbClr val="222222"/>
                </a:solidFill>
                <a:latin typeface="Calibri"/>
              </a:defRPr>
            </a:pPr>
            <a:r>
              <a:rPr sz="2100" b="0">
                <a:solidFill>
                  <a:srgbClr val="222222"/>
                </a:solidFill>
                <a:latin typeface="Calibri"/>
              </a:rPr>
              <a:t>3.  Why rebuild the allowlist every boot instead of adding to it?</a:t>
            </a:r>
          </a:p>
          <a:p>
            <a:pPr algn="l">
              <a:lnSpc>
                <a:spcPct val="100000"/>
              </a:lnSpc>
              <a:spcAft>
                <a:spcPts val="1100"/>
              </a:spcAft>
              <a:defRPr sz="2100" b="0">
                <a:solidFill>
                  <a:srgbClr val="222222"/>
                </a:solidFill>
                <a:latin typeface="Calibri"/>
              </a:defRPr>
            </a:pPr>
            <a:r>
              <a:rPr sz="2100" b="0">
                <a:solidFill>
                  <a:srgbClr val="222222"/>
                </a:solidFill>
                <a:latin typeface="Calibri"/>
              </a:rPr>
              <a:t>4.  Why does Op 12 leave new Bluetooth connections enabled?</a:t>
            </a:r>
          </a:p>
          <a:p>
            <a:pPr algn="l">
              <a:lnSpc>
                <a:spcPct val="100000"/>
              </a:lnSpc>
              <a:spcAft>
                <a:spcPts val="1100"/>
              </a:spcAft>
              <a:defRPr sz="2100" b="0">
                <a:solidFill>
                  <a:srgbClr val="222222"/>
                </a:solidFill>
                <a:latin typeface="Calibri"/>
              </a:defRPr>
            </a:pPr>
            <a:r>
              <a:rPr sz="2100" b="0">
                <a:solidFill>
                  <a:srgbClr val="222222"/>
                </a:solidFill>
                <a:latin typeface="Calibri"/>
              </a:rPr>
              <a:t>5.  What actually happens when you call EEPROM.put()? When does the flash get written?</a:t>
            </a:r>
          </a:p>
          <a:p>
            <a:pPr algn="l">
              <a:lnSpc>
                <a:spcPct val="100000"/>
              </a:lnSpc>
              <a:spcAft>
                <a:spcPts val="1100"/>
              </a:spcAft>
              <a:defRPr sz="2100" b="0">
                <a:solidFill>
                  <a:srgbClr val="222222"/>
                </a:solidFill>
                <a:latin typeface="Calibri"/>
              </a:defRPr>
            </a:pPr>
            <a:r>
              <a:rPr sz="2100" b="0">
                <a:solidFill>
                  <a:srgbClr val="222222"/>
                </a:solidFill>
                <a:latin typeface="Calibri"/>
              </a:rPr>
              <a:t>6.  Why must you never call EEPROM.commit() from loop()?</a:t>
            </a:r>
          </a:p>
          <a:p>
            <a:pPr algn="l">
              <a:lnSpc>
                <a:spcPct val="100000"/>
              </a:lnSpc>
              <a:spcAft>
                <a:spcPts val="1100"/>
              </a:spcAft>
              <a:defRPr sz="2100" b="0">
                <a:solidFill>
                  <a:srgbClr val="222222"/>
                </a:solidFill>
                <a:latin typeface="Calibri"/>
              </a:defRPr>
            </a:pPr>
            <a:r>
              <a:rPr sz="2100" b="0">
                <a:solidFill>
                  <a:srgbClr val="222222"/>
                </a:solidFill>
                <a:latin typeface="Calibri"/>
              </a:rPr>
              <a:t>7.  What is the magic byte for, and why is it not sufficient on its own?</a:t>
            </a:r>
          </a:p>
          <a:p>
            <a:pPr algn="l">
              <a:lnSpc>
                <a:spcPct val="100000"/>
              </a:lnSpc>
              <a:spcAft>
                <a:spcPts val="1100"/>
              </a:spcAft>
              <a:defRPr sz="2100" b="0">
                <a:solidFill>
                  <a:srgbClr val="222222"/>
                </a:solidFill>
                <a:latin typeface="Calibri"/>
              </a:defRPr>
            </a:pPr>
            <a:r>
              <a:rPr sz="2100" b="0">
                <a:solidFill>
                  <a:srgbClr val="222222"/>
                </a:solidFill>
                <a:latin typeface="Calibri"/>
              </a:rPr>
              <a:t>8.  A vehicle refuses its own controller after a power cycle. Give two possible causes.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