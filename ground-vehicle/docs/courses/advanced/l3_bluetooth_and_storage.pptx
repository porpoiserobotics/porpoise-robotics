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37160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Bluepad32, callbacks, and who calls whom</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The allowlist, and the order the calls must go in</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a3a_controller_address. Lock and unlock a board</a:t>
                      </a:r>
                    </a:p>
                  </a:txBody>
                  <a:tcPr marL="73152" marT="18288" marB="18288">
                    <a:solidFill>
                      <a:srgbClr val="FFFFFF"/>
                    </a:solidFill>
                  </a:tcPr>
                </a:tc>
              </a:tr>
              <a:tr h="298450">
                <a:tc>
                  <a:txBody>
                    <a:bodyPr/>
                    <a:lstStyle/>
                    <a:p>
                      <a:r>
                        <a:rPr sz="1400">
                          <a:solidFill>
                            <a:srgbClr val="222222"/>
                          </a:solidFill>
                          <a:latin typeface="Calibri"/>
                        </a:rPr>
                        <a:t>1:25</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1:35</a:t>
                      </a:r>
                    </a:p>
                  </a:txBody>
                  <a:tcPr marL="73152" marT="18288" marB="18288">
                    <a:solidFill>
                      <a:srgbClr val="FFFFFF"/>
                    </a:solidFill>
                  </a:tcPr>
                </a:tc>
                <a:tc>
                  <a:txBody>
                    <a:bodyPr/>
                    <a:lstStyle/>
                    <a:p>
                      <a:r>
                        <a:rPr sz="1400">
                          <a:solidFill>
                            <a:srgbClr val="222222"/>
                          </a:solidFill>
                          <a:latin typeface="Calibri"/>
                        </a:rPr>
                        <a:t>There is no EEPROM on an ESP32</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Magic bytes, storage maps, and never trusting storage</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Upload a3b_eeprom_settings. Pull the cable out</a:t>
                      </a:r>
                    </a:p>
                  </a:txBody>
                  <a:tcPr marL="73152" marT="18288" marB="18288">
                    <a:solidFill>
                      <a:srgbClr val="FFFFFF"/>
                    </a:solidFill>
                  </a:tcPr>
                </a:tc>
              </a:tr>
              <a:tr h="298450">
                <a:tc>
                  <a:txBody>
                    <a:bodyPr/>
                    <a:lstStyle/>
                    <a:p>
                      <a:r>
                        <a:rPr sz="1400">
                          <a:solidFill>
                            <a:srgbClr val="222222"/>
                          </a:solidFill>
                          <a:latin typeface="Calibri"/>
                        </a:rPr>
                        <a:t>2:45</a:t>
                      </a:r>
                    </a:p>
                  </a:txBody>
                  <a:tcPr marL="73152" marT="18288" marB="18288">
                    <a:solidFill>
                      <a:srgbClr val="EEF3F8"/>
                    </a:solidFill>
                  </a:tcPr>
                </a:tc>
                <a:tc>
                  <a:txBody>
                    <a:bodyPr/>
                    <a:lstStyle/>
                    <a:p>
                      <a:r>
                        <a:rPr sz="1400">
                          <a:solidFill>
                            <a:srgbClr val="222222"/>
                          </a:solidFill>
                          <a:latin typeface="Calibri"/>
                        </a:rPr>
                        <a:t>The full pairing workflow in Op 12</a:t>
                      </a:r>
                    </a:p>
                  </a:txBody>
                  <a:tcPr marL="73152" marT="18288" marB="18288">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500" b="0">
                <a:solidFill>
                  <a:srgbClr val="222222"/>
                </a:solidFill>
                <a:latin typeface="Calibri"/>
              </a:defRPr>
            </a:pPr>
            <a:r>
              <a:rPr sz="1500" b="0">
                <a:solidFill>
                  <a:srgbClr val="222222"/>
                </a:solidFill>
                <a:latin typeface="Calibri"/>
              </a:rPr>
              <a:t>BP32.setup(&amp;onConnectedController, &amp;onDisconnectedController);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practical question is always: WHEN does it run, and what is safe to do in there?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If they ran from an interrupt, neither of those would be true.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allowlist is a guest list checked BEFORE a connection is accepted:</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MISTAKE ONE: calling them before BP32.setup(). Setup is what brings the Bluetooth stack up. Before that there is no list to add to, and the calls do nothing at all - silently.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The allowlist starts OFF. Connect a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2.  Type  lock. Disconnect, and connect a DIFFERENT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3.  Watch the refusal in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4.  Type  open  and try the second one again.</a:t>
            </a:r>
          </a:p>
          <a:p>
            <a:pPr algn="l">
              <a:lnSpc>
                <a:spcPct val="100000"/>
              </a:lnSpc>
              <a:spcAft>
                <a:spcPts val="800"/>
              </a:spcAft>
              <a:defRPr sz="1600" b="0">
                <a:solidFill>
                  <a:srgbClr val="222222"/>
                </a:solidFill>
                <a:latin typeface="Calibri"/>
              </a:defRPr>
            </a:pPr>
            <a:r>
              <a:rPr sz="1600" b="0">
                <a:solidFill>
                  <a:srgbClr val="222222"/>
                </a:solidFill>
                <a:latin typeface="Calibri"/>
              </a:rPr>
              <a:t>5.  Type  lockaddr 00:11:22:33:44:55  and try to connect anything.</a:t>
            </a:r>
          </a:p>
          <a:p>
            <a:pPr algn="l">
              <a:lnSpc>
                <a:spcPct val="100000"/>
              </a:lnSpc>
              <a:spcAft>
                <a:spcPts val="800"/>
              </a:spcAft>
              <a:defRPr sz="1600" b="0">
                <a:solidFill>
                  <a:srgbClr val="222222"/>
                </a:solidFill>
                <a:latin typeface="Calibri"/>
              </a:defRPr>
            </a:pPr>
            <a:r>
              <a:rPr sz="1600" b="0">
                <a:solidFill>
                  <a:srgbClr val="222222"/>
                </a:solidFill>
                <a:latin typeface="Calibri"/>
              </a:rPr>
              <a:t>6.  Type  whoami. Compare with what a Bluetooth scanner app on your phone shows for this board.</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Where does this sketch keep its locked address, and what happens to it at the next reset?</a:t>
            </a:r>
          </a:p>
          <a:p>
            <a:pPr algn="l">
              <a:lnSpc>
                <a:spcPct val="100000"/>
              </a:lnSpc>
              <a:spcAft>
                <a:spcPts val="600"/>
              </a:spcAft>
              <a:defRPr sz="1500" b="0">
                <a:solidFill>
                  <a:srgbClr val="222222"/>
                </a:solidFill>
                <a:latin typeface="Calibri"/>
              </a:defRPr>
            </a:pPr>
            <a:r>
              <a:rPr sz="1500" b="0">
                <a:solidFill>
                  <a:srgbClr val="222222"/>
                </a:solidFill>
                <a:latin typeface="Calibri"/>
              </a:rPr>
              <a:t>Why does the sketch call applyAllowlist() AFTER BP32.setup()?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consequences:</a:t>
            </a:r>
          </a:p>
          <a:p>
            <a:pPr lvl="1" algn="l">
              <a:lnSpc>
                <a:spcPct val="100000"/>
              </a:lnSpc>
              <a:spcAft>
                <a:spcPts val="600"/>
              </a:spcAft>
              <a:defRPr sz="1500" b="0">
                <a:solidFill>
                  <a:srgbClr val="222222"/>
                </a:solidFill>
                <a:latin typeface="Calibri"/>
              </a:defRPr>
            </a:pPr>
            <a:r>
              <a:rPr sz="1500" b="0">
                <a:solidFill>
                  <a:srgbClr val="222222"/>
                </a:solidFill>
                <a:latin typeface="Calibri"/>
              </a:rPr>
              <a:t>EEPROM.begin(size) must come first, before any get or put.</a:t>
            </a:r>
          </a:p>
          <a:p>
            <a:pPr lvl="1" algn="l">
              <a:lnSpc>
                <a:spcPct val="100000"/>
              </a:lnSpc>
              <a:spcAft>
                <a:spcPts val="600"/>
              </a:spcAft>
              <a:defRPr sz="1500" b="0">
                <a:solidFill>
                  <a:srgbClr val="222222"/>
                </a:solidFill>
                <a:latin typeface="Calibri"/>
              </a:defRPr>
            </a:pPr>
            <a:r>
              <a:rPr sz="1500" b="0">
                <a:solidFill>
                  <a:srgbClr val="222222"/>
                </a:solidFill>
                <a:latin typeface="Calibri"/>
              </a:rPr>
              <a:t>Nothing is stored until EEPROM.commit(). Forgetting it is the single most common cause of "my settings did not save".</a:t>
            </a:r>
          </a:p>
          <a:p>
            <a:pPr lvl="1" algn="l">
              <a:lnSpc>
                <a:spcPct val="100000"/>
              </a:lnSpc>
              <a:spcAft>
                <a:spcPts val="600"/>
              </a:spcAft>
              <a:defRPr sz="1500" b="0">
                <a:solidFill>
                  <a:srgbClr val="222222"/>
                </a:solidFill>
                <a:latin typeface="Calibri"/>
              </a:defRPr>
            </a:pPr>
            <a:r>
              <a:rPr sz="15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Never write on a schedule. Write when something actually changed, and only when a person asked for it.</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const int ADDR_DEADZONE       =  0;   // int,   4 bytes</a:t>
            </a:r>
          </a:p>
          <a:p>
            <a:pPr algn="l">
              <a:lnSpc>
                <a:spcPct val="100000"/>
              </a:lnSpc>
              <a:spcAft>
                <a:spcPts val="0"/>
              </a:spcAft>
              <a:defRPr sz="1300">
                <a:latin typeface="Consolas"/>
              </a:defRPr>
            </a:pPr>
            <a:r>
              <a:rPr sz="1300">
                <a:solidFill>
                  <a:srgbClr val="222222"/>
                </a:solidFill>
                <a:latin typeface="Consolas"/>
              </a:rPr>
              <a:t>const int ADDR_DEADZONE_LS_X  =  4;</a:t>
            </a:r>
          </a:p>
          <a:p>
            <a:pPr algn="l">
              <a:lnSpc>
                <a:spcPct val="100000"/>
              </a:lnSpc>
              <a:spcAft>
                <a:spcPts val="0"/>
              </a:spcAft>
              <a:defRPr sz="1300">
                <a:latin typeface="Consolas"/>
              </a:defRPr>
            </a:pPr>
            <a:r>
              <a:rPr sz="1300">
                <a:solidFill>
                  <a:srgbClr val="222222"/>
                </a:solidFill>
                <a:latin typeface="Consolas"/>
              </a:rPr>
              <a:t>const int ADDR_DEADZONE_LS_Y  =  8;</a:t>
            </a:r>
          </a:p>
          <a:p>
            <a:pPr algn="l">
              <a:lnSpc>
                <a:spcPct val="100000"/>
              </a:lnSpc>
              <a:spcAft>
                <a:spcPts val="0"/>
              </a:spcAft>
              <a:defRPr sz="1300">
                <a:latin typeface="Consolas"/>
              </a:defRPr>
            </a:pPr>
            <a:r>
              <a:rPr sz="1300">
                <a:solidFill>
                  <a:srgbClr val="222222"/>
                </a:solidFill>
                <a:latin typeface="Consolas"/>
              </a:rPr>
              <a:t>const int ADDR_DEADZONE_RS_X  = 12;</a:t>
            </a:r>
          </a:p>
          <a:p>
            <a:pPr algn="l">
              <a:lnSpc>
                <a:spcPct val="100000"/>
              </a:lnSpc>
              <a:spcAft>
                <a:spcPts val="0"/>
              </a:spcAft>
              <a:defRPr sz="1300">
                <a:latin typeface="Consolas"/>
              </a:defRPr>
            </a:pPr>
            <a:r>
              <a:rPr sz="1300">
                <a:solidFill>
                  <a:srgbClr val="222222"/>
                </a:solidFill>
                <a:latin typeface="Consolas"/>
              </a:rPr>
              <a:t>const int ADDR_DEADZONE_RS_Y  = 16;</a:t>
            </a:r>
          </a:p>
          <a:p>
            <a:pPr algn="l">
              <a:lnSpc>
                <a:spcPct val="100000"/>
              </a:lnSpc>
              <a:spcAft>
                <a:spcPts val="0"/>
              </a:spcAft>
              <a:defRPr sz="1300">
                <a:latin typeface="Consolas"/>
              </a:defRPr>
            </a:pPr>
            <a:r>
              <a:rPr sz="1300">
                <a:solidFill>
                  <a:srgbClr val="222222"/>
                </a:solidFill>
                <a:latin typeface="Consolas"/>
              </a:rPr>
              <a:t>const int ADDR_LS_Y_SC        = 20;   // float, 4 bytes</a:t>
            </a:r>
          </a:p>
          <a:p>
            <a:pPr algn="l">
              <a:lnSpc>
                <a:spcPct val="100000"/>
              </a:lnSpc>
              <a:spcAft>
                <a:spcPts val="0"/>
              </a:spcAft>
              <a:defRPr sz="1300">
                <a:latin typeface="Consolas"/>
              </a:defRPr>
            </a:pPr>
            <a:r>
              <a:rPr sz="1300">
                <a:solidFill>
                  <a:srgbClr val="222222"/>
                </a:solidFill>
                <a:latin typeface="Consolas"/>
              </a:rPr>
              <a:t>const int ADDR_LS_X_SC        = 24;</a:t>
            </a:r>
          </a:p>
          <a:p>
            <a:pPr algn="l">
              <a:lnSpc>
                <a:spcPct val="100000"/>
              </a:lnSpc>
              <a:spcAft>
                <a:spcPts val="0"/>
              </a:spcAft>
              <a:defRPr sz="1300">
                <a:latin typeface="Consolas"/>
              </a:defRPr>
            </a:pPr>
            <a:r>
              <a:rPr sz="1300">
                <a:solidFill>
                  <a:srgbClr val="222222"/>
                </a:solidFill>
                <a:latin typeface="Consolas"/>
              </a:rPr>
              <a:t>const int ADDR_RS_Y_SC        = 28;</a:t>
            </a:r>
          </a:p>
          <a:p>
            <a:pPr algn="l">
              <a:lnSpc>
                <a:spcPct val="100000"/>
              </a:lnSpc>
              <a:spcAft>
                <a:spcPts val="0"/>
              </a:spcAft>
              <a:defRPr sz="1300">
                <a:latin typeface="Consolas"/>
              </a:defRPr>
            </a:pPr>
            <a:r>
              <a:rPr sz="1300">
                <a:solidFill>
                  <a:srgbClr val="222222"/>
                </a:solidFill>
                <a:latin typeface="Consolas"/>
              </a:rPr>
              <a:t>const int ADDR_RS_X_SC        = 32;</a:t>
            </a:r>
          </a:p>
          <a:p>
            <a:pPr algn="l">
              <a:lnSpc>
                <a:spcPct val="100000"/>
              </a:lnSpc>
              <a:spcAft>
                <a:spcPts val="0"/>
              </a:spcAft>
              <a:defRPr sz="1300">
                <a:latin typeface="Consolas"/>
              </a:defRPr>
            </a:pPr>
            <a:r>
              <a:rPr sz="1300" b="1">
                <a:solidFill>
                  <a:srgbClr val="0E7C86"/>
                </a:solidFill>
                <a:latin typeface="Consolas"/>
              </a:rPr>
              <a:t>const int ADDR_PAIRED_VALID   = 36;   // 1 byte:  0xA5 when valid</a:t>
            </a:r>
          </a:p>
          <a:p>
            <a:pPr algn="l">
              <a:lnSpc>
                <a:spcPct val="100000"/>
              </a:lnSpc>
              <a:spcAft>
                <a:spcPts val="0"/>
              </a:spcAft>
              <a:defRPr sz="1300">
                <a:latin typeface="Consolas"/>
              </a:defRPr>
            </a:pPr>
            <a:r>
              <a:rPr sz="1300" b="1">
                <a:solidFill>
                  <a:srgbClr val="0E7C86"/>
                </a:solidFill>
                <a:latin typeface="Consolas"/>
              </a:rPr>
              <a:t>const int ADDR_PAIRED_ADDR    = 37;   // 6 bytes: the address</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EEPROM is a flat array of bytes. YOU choose where each value lives, and nothing stops two values overlapping.</a:t>
            </a:r>
          </a:p>
          <a:p>
            <a:pPr algn="l">
              <a:lnSpc>
                <a:spcPct val="100000"/>
              </a:lnSpc>
              <a:spcAft>
                <a:spcPts val="1100"/>
              </a:spcAft>
              <a:defRPr sz="1500" b="0">
                <a:solidFill>
                  <a:srgbClr val="222222"/>
                </a:solidFill>
                <a:latin typeface="Calibri"/>
              </a:defRPr>
            </a:pPr>
            <a:r>
              <a:rPr sz="1500" b="0">
                <a:solidFill>
                  <a:srgbClr val="222222"/>
                </a:solidFill>
                <a:latin typeface="Calibri"/>
              </a:rPr>
              <a:t>An int is 4 bytes and a float is 4 bytes on this chip, so each slot gets 4.</a:t>
            </a:r>
          </a:p>
          <a:p>
            <a:pPr algn="l">
              <a:lnSpc>
                <a:spcPct val="100000"/>
              </a:lnSpc>
              <a:spcAft>
                <a:spcPts val="1100"/>
              </a:spcAft>
              <a:defRPr sz="1500" b="0">
                <a:solidFill>
                  <a:srgbClr val="222222"/>
                </a:solidFill>
                <a:latin typeface="Calibri"/>
              </a:defRPr>
            </a:pPr>
            <a:r>
              <a:rPr sz="1500" b="0">
                <a:solidFill>
                  <a:srgbClr val="222222"/>
                </a:solidFill>
                <a:latin typeface="Calibri"/>
              </a:rPr>
              <a:t>Laying them out as one ADDR_ constant per value, in one place, is what makes an overlap visible when you read the file.</a:t>
            </a:r>
          </a:p>
          <a:p>
            <a:pPr algn="l">
              <a:lnSpc>
                <a:spcPct val="100000"/>
              </a:lnSpc>
              <a:spcAft>
                <a:spcPts val="1100"/>
              </a:spcAft>
              <a:defRPr sz="1500" b="0">
                <a:solidFill>
                  <a:srgbClr val="222222"/>
                </a:solidFill>
                <a:latin typeface="Calibri"/>
              </a:defRPr>
            </a:pPr>
            <a:r>
              <a:rPr sz="1500" b="0">
                <a:solidFill>
                  <a:srgbClr val="222222"/>
                </a:solidFill>
                <a:latin typeface="Calibri"/>
              </a:rPr>
              <a:t>Get this wrong and one setting silently corrupts another. It will look like a hardware fault.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brand new ESP32 has flash full of 0xFF. Read an int out of that and you get -1. Read a float and you get something meaningless.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But that is not enough on its own. Even WITH the marker, every value is range checked as it loads:</a:t>
            </a:r>
          </a:p>
          <a:p>
            <a:pPr lvl="1" algn="l">
              <a:lnSpc>
                <a:spcPct val="100000"/>
              </a:lnSpc>
              <a:spcAft>
                <a:spcPts val="600"/>
              </a:spcAft>
              <a:defRPr sz="1500" b="0">
                <a:solidFill>
                  <a:srgbClr val="222222"/>
                </a:solidFill>
                <a:latin typeface="Calibri"/>
              </a:defRPr>
            </a:pPr>
            <a:r>
              <a:rPr sz="1500" b="0">
                <a:solidFill>
                  <a:srgbClr val="222222"/>
                </a:solidFill>
                <a:latin typeface="Calibri"/>
              </a:rPr>
              <a:t>if (saved_dz &gt;= 0 &amp;&amp; saved_dz &lt;= DEADZONE_MAX)  INPUT_DEADZONE = saved_dz;</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set deadzone 100,  save. Now UNPLUG the board and plug it back in. Type  show.</a:t>
            </a:r>
          </a:p>
          <a:p>
            <a:pPr algn="l">
              <a:lnSpc>
                <a:spcPct val="100000"/>
              </a:lnSpc>
              <a:spcAft>
                <a:spcPts val="800"/>
              </a:spcAft>
              <a:defRPr sz="1600" b="0">
                <a:solidFill>
                  <a:srgbClr val="222222"/>
                </a:solidFill>
                <a:latin typeface="Calibri"/>
              </a:defRPr>
            </a:pPr>
            <a:r>
              <a:rPr sz="1600" b="0">
                <a:solidFill>
                  <a:srgbClr val="222222"/>
                </a:solidFill>
                <a:latin typeface="Calibri"/>
              </a:rPr>
              <a:t>2.  set deadzone 200  and do NOT save. Reset the board. What happened, and why?</a:t>
            </a:r>
          </a:p>
          <a:p>
            <a:pPr algn="l">
              <a:lnSpc>
                <a:spcPct val="100000"/>
              </a:lnSpc>
              <a:spcAft>
                <a:spcPts val="800"/>
              </a:spcAft>
              <a:defRPr sz="1600" b="0">
                <a:solidFill>
                  <a:srgbClr val="222222"/>
                </a:solidFill>
                <a:latin typeface="Calibri"/>
              </a:defRPr>
            </a:pPr>
            <a:r>
              <a:rPr sz="1600" b="0">
                <a:solidFill>
                  <a:srgbClr val="222222"/>
                </a:solidFill>
                <a:latin typeface="Calibri"/>
              </a:rPr>
              <a:t>3.  erase, then reset. Where did the values come from this time?</a:t>
            </a:r>
          </a:p>
          <a:p>
            <a:pPr algn="l">
              <a:lnSpc>
                <a:spcPct val="100000"/>
              </a:lnSpc>
              <a:spcAft>
                <a:spcPts val="800"/>
              </a:spcAft>
              <a:defRPr sz="1600" b="0">
                <a:solidFill>
                  <a:srgbClr val="222222"/>
                </a:solidFill>
                <a:latin typeface="Calibri"/>
              </a:defRPr>
            </a:pPr>
            <a:r>
              <a:rPr sz="1600" b="0">
                <a:solidFill>
                  <a:srgbClr val="222222"/>
                </a:solidFill>
                <a:latin typeface="Calibri"/>
              </a:rPr>
              <a:t>4.  dump  before and after a save. Find the magic byte.</a:t>
            </a:r>
          </a:p>
          <a:p>
            <a:pPr algn="l">
              <a:lnSpc>
                <a:spcPct val="100000"/>
              </a:lnSpc>
              <a:spcAft>
                <a:spcPts val="800"/>
              </a:spcAft>
              <a:defRPr sz="1600" b="0">
                <a:solidFill>
                  <a:srgbClr val="222222"/>
                </a:solidFill>
                <a:latin typeface="Calibri"/>
              </a:defRPr>
            </a:pPr>
            <a:r>
              <a:rPr sz="1600" b="0">
                <a:solidFill>
                  <a:srgbClr val="222222"/>
                </a:solidFill>
                <a:latin typeface="Calibri"/>
              </a:rPr>
              <a:t>5.  Comment out the EEPROM.commit() in saveSettings. Save, reset, and see the bug you will one day write for real.</a:t>
            </a:r>
          </a:p>
          <a:p>
            <a:pPr algn="l">
              <a:lnSpc>
                <a:spcPct val="100000"/>
              </a:lnSpc>
              <a:spcAft>
                <a:spcPts val="800"/>
              </a:spcAft>
              <a:defRPr sz="1600" b="0">
                <a:solidFill>
                  <a:srgbClr val="222222"/>
                </a:solidFill>
                <a:latin typeface="Calibri"/>
              </a:defRPr>
            </a:pPr>
            <a:r>
              <a:rPr sz="1600" b="0">
                <a:solidFill>
                  <a:srgbClr val="222222"/>
                </a:solidFill>
                <a:latin typeface="Calibri"/>
              </a:rPr>
              <a:t>6.  Deliberately overlap two ADDR_ constants and watch one setting eat the other.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Step 1: the value is still 100 after a power cycle. Step 2: it is back to 100, not 200.</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at address 0 in the dump, and what does it mean?</a:t>
            </a:r>
          </a:p>
          <a:p>
            <a:pPr algn="l">
              <a:lnSpc>
                <a:spcPct val="100000"/>
              </a:lnSpc>
              <a:spcAft>
                <a:spcPts val="600"/>
              </a:spcAft>
              <a:defRPr sz="1500" b="0">
                <a:solidFill>
                  <a:srgbClr val="222222"/>
                </a:solidFill>
                <a:latin typeface="Calibri"/>
              </a:defRPr>
            </a:pPr>
            <a:r>
              <a:rPr sz="1500" b="0">
                <a:solidFill>
                  <a:srgbClr val="222222"/>
                </a:solidFill>
                <a:latin typeface="Calibri"/>
              </a:rPr>
              <a:t>Why is range checking needed even when the magic byte is correct?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1619250"/>
        </p:xfrm>
        <a:graphic>
          <a:graphicData uri="http://schemas.openxmlformats.org/drawingml/2006/table">
            <a:tbl>
              <a:tblPr firstRow="1" bandRow="1">
                <a:tableStyleId>{5C22544A-7EE6-4342-B048-85BDC9FD1C3A}</a:tableStyleId>
              </a:tblPr>
              <a:tblGrid>
                <a:gridCol w="3457446"/>
                <a:gridCol w="4270962"/>
                <a:gridCol w="3457446"/>
              </a:tblGrid>
              <a:tr h="323850">
                <a:tc>
                  <a:txBody>
                    <a:bodyPr/>
                    <a:lstStyle/>
                    <a:p>
                      <a:r>
                        <a:rPr sz="1300" b="1">
                          <a:solidFill>
                            <a:srgbClr val="FFFFFF"/>
                          </a:solidFill>
                          <a:latin typeface="Calibri"/>
                        </a:rPr>
                        <a:t>Program</a:t>
                      </a:r>
                    </a:p>
                  </a:txBody>
                  <a:tcPr marL="73152" marT="18288" marB="18288">
                    <a:solidFill>
                      <a:srgbClr val="1F3A5F"/>
                    </a:solidFill>
                  </a:tcPr>
                </a:tc>
                <a:tc>
                  <a:txBody>
                    <a:bodyPr/>
                    <a:lstStyle/>
                    <a:p>
                      <a:r>
                        <a:rPr sz="1300" b="1">
                          <a:solidFill>
                            <a:srgbClr val="FFFFFF"/>
                          </a:solidFill>
                          <a:latin typeface="Calibri"/>
                        </a:rPr>
                        <a:t>Where the address lives</a:t>
                      </a:r>
                    </a:p>
                  </a:txBody>
                  <a:tcPr marL="73152" marT="18288" marB="18288">
                    <a:solidFill>
                      <a:srgbClr val="1F3A5F"/>
                    </a:solidFill>
                  </a:tcPr>
                </a:tc>
                <a:tc>
                  <a:txBody>
                    <a:bodyPr/>
                    <a:lstStyle/>
                    <a:p>
                      <a:r>
                        <a:rPr sz="1300" b="1">
                          <a:solidFill>
                            <a:srgbClr val="FFFFFF"/>
                          </a:solidFill>
                          <a:latin typeface="Calibri"/>
                        </a:rPr>
                        <a:t>What that costs you</a:t>
                      </a:r>
                    </a:p>
                  </a:txBody>
                  <a:tcPr marL="73152" marT="18288" marB="18288">
                    <a:solidFill>
                      <a:srgbClr val="1F3A5F"/>
                    </a:solidFill>
                  </a:tcPr>
                </a:tc>
              </a:tr>
              <a:tr h="323850">
                <a:tc>
                  <a:txBody>
                    <a:bodyPr/>
                    <a:lstStyle/>
                    <a:p>
                      <a:r>
                        <a:rPr sz="1300">
                          <a:solidFill>
                            <a:srgbClr val="222222"/>
                          </a:solidFill>
                          <a:latin typeface="Consolas"/>
                        </a:rPr>
                        <a:t>pathfinder_ps3</a:t>
                      </a:r>
                    </a:p>
                  </a:txBody>
                  <a:tcPr marL="73152" marT="18288" marB="18288">
                    <a:solidFill>
                      <a:srgbClr val="FFFFFF"/>
                    </a:solidFill>
                  </a:tcPr>
                </a:tc>
                <a:tc>
                  <a:txBody>
                    <a:bodyPr/>
                    <a:lstStyle/>
                    <a:p>
                      <a:r>
                        <a:rPr sz="1300">
                          <a:solidFill>
                            <a:srgbClr val="222222"/>
                          </a:solidFill>
                          <a:latin typeface="Calibri"/>
                        </a:rPr>
                        <a:t>In the CONTROLLER, written by SixaxisPairTool</a:t>
                      </a:r>
                    </a:p>
                  </a:txBody>
                  <a:tcPr marL="73152" marT="18288" marB="18288">
                    <a:solidFill>
                      <a:srgbClr val="FFFFFF"/>
                    </a:solidFill>
                  </a:tcPr>
                </a:tc>
                <a:tc>
                  <a:txBody>
                    <a:bodyPr/>
                    <a:lstStyle/>
                    <a:p>
                      <a:r>
                        <a:rPr sz="1300">
                          <a:solidFill>
                            <a:srgbClr val="222222"/>
                          </a:solidFill>
                          <a:latin typeface="Calibri"/>
                        </a:rPr>
                        <a:t>Needs a Windows PC and a cable to change</a:t>
                      </a:r>
                    </a:p>
                  </a:txBody>
                  <a:tcPr marL="73152" marT="18288" marB="18288">
                    <a:solidFill>
                      <a:srgbClr val="FFFFFF"/>
                    </a:solidFill>
                  </a:tcPr>
                </a:tc>
              </a:tr>
              <a:tr h="323850">
                <a:tc>
                  <a:txBody>
                    <a:bodyPr/>
                    <a:lstStyle/>
                    <a:p>
                      <a:r>
                        <a:rPr sz="1300">
                          <a:solidFill>
                            <a:srgbClr val="222222"/>
                          </a:solidFill>
                          <a:latin typeface="Consolas"/>
                        </a:rPr>
                        <a:t>pathfinder_nintendoswitch</a:t>
                      </a:r>
                    </a:p>
                  </a:txBody>
                  <a:tcPr marL="73152" marT="18288" marB="18288">
                    <a:solidFill>
                      <a:srgbClr val="EEF3F8"/>
                    </a:solidFill>
                  </a:tcPr>
                </a:tc>
                <a:tc>
                  <a:txBody>
                    <a:bodyPr/>
                    <a:lstStyle/>
                    <a:p>
                      <a:r>
                        <a:rPr sz="1300">
                          <a:solidFill>
                            <a:srgbClr val="222222"/>
                          </a:solidFill>
                          <a:latin typeface="Calibri"/>
                        </a:rPr>
                        <a:t>A constant in the source, MY_CONTROLLER</a:t>
                      </a:r>
                    </a:p>
                  </a:txBody>
                  <a:tcPr marL="73152" marT="18288" marB="18288">
                    <a:solidFill>
                      <a:srgbClr val="EEF3F8"/>
                    </a:solidFill>
                  </a:tcPr>
                </a:tc>
                <a:tc>
                  <a:txBody>
                    <a:bodyPr/>
                    <a:lstStyle/>
                    <a:p>
                      <a:r>
                        <a:rPr sz="1300">
                          <a:solidFill>
                            <a:srgbClr val="222222"/>
                          </a:solidFill>
                          <a:latin typeface="Calibri"/>
                        </a:rPr>
                        <a:t>Recompile to change it</a:t>
                      </a:r>
                    </a:p>
                  </a:txBody>
                  <a:tcPr marL="73152" marT="18288" marB="18288">
                    <a:solidFill>
                      <a:srgbClr val="EEF3F8"/>
                    </a:solidFill>
                  </a:tcPr>
                </a:tc>
              </a:tr>
              <a:tr h="323850">
                <a:tc>
                  <a:txBody>
                    <a:bodyPr/>
                    <a:lstStyle/>
                    <a:p>
                      <a:r>
                        <a:rPr sz="1300">
                          <a:solidFill>
                            <a:srgbClr val="222222"/>
                          </a:solidFill>
                          <a:latin typeface="Consolas"/>
                        </a:rPr>
                        <a:t>a3a_controller_address</a:t>
                      </a:r>
                    </a:p>
                  </a:txBody>
                  <a:tcPr marL="73152" marT="18288" marB="18288">
                    <a:solidFill>
                      <a:srgbClr val="FFFFFF"/>
                    </a:solidFill>
                  </a:tcPr>
                </a:tc>
                <a:tc>
                  <a:txBody>
                    <a:bodyPr/>
                    <a:lstStyle/>
                    <a:p>
                      <a:r>
                        <a:rPr sz="1300">
                          <a:solidFill>
                            <a:srgbClr val="222222"/>
                          </a:solidFill>
                          <a:latin typeface="Calibri"/>
                        </a:rPr>
                        <a:t>RAM only</a:t>
                      </a:r>
                    </a:p>
                  </a:txBody>
                  <a:tcPr marL="73152" marT="18288" marB="18288">
                    <a:solidFill>
                      <a:srgbClr val="FFFFFF"/>
                    </a:solidFill>
                  </a:tcPr>
                </a:tc>
                <a:tc>
                  <a:txBody>
                    <a:bodyPr/>
                    <a:lstStyle/>
                    <a:p>
                      <a:r>
                        <a:rPr sz="1300">
                          <a:solidFill>
                            <a:srgbClr val="222222"/>
                          </a:solidFill>
                          <a:latin typeface="Calibri"/>
                        </a:rPr>
                        <a:t>Gone at the next reset - fine for a demonstration</a:t>
                      </a:r>
                    </a:p>
                  </a:txBody>
                  <a:tcPr marL="73152" marT="18288" marB="18288">
                    <a:solidFill>
                      <a:srgbClr val="FFFFFF"/>
                    </a:solidFill>
                  </a:tcPr>
                </a:tc>
              </a:tr>
              <a:tr h="323850">
                <a:tc>
                  <a:txBody>
                    <a:bodyPr/>
                    <a:lstStyle/>
                    <a:p>
                      <a:r>
                        <a:rPr sz="1300">
                          <a:solidFill>
                            <a:srgbClr val="222222"/>
                          </a:solidFill>
                          <a:latin typeface="Consolas"/>
                        </a:rPr>
                        <a:t>Pathfinder_Op_Program12</a:t>
                      </a:r>
                    </a:p>
                  </a:txBody>
                  <a:tcPr marL="73152" marT="18288" marB="18288">
                    <a:solidFill>
                      <a:srgbClr val="EEF3F8"/>
                    </a:solidFill>
                  </a:tcPr>
                </a:tc>
                <a:tc>
                  <a:txBody>
                    <a:bodyPr/>
                    <a:lstStyle/>
                    <a:p>
                      <a:r>
                        <a:rPr sz="1300">
                          <a:solidFill>
                            <a:srgbClr val="222222"/>
                          </a:solidFill>
                          <a:latin typeface="Calibri"/>
                        </a:rPr>
                        <a:t>EEPROM, written the first time it pairs</a:t>
                      </a:r>
                    </a:p>
                  </a:txBody>
                  <a:tcPr marL="73152" marT="18288" marB="18288">
                    <a:solidFill>
                      <a:srgbClr val="EEF3F8"/>
                    </a:solidFill>
                  </a:tcPr>
                </a:tc>
                <a:tc>
                  <a:txBody>
                    <a:bodyPr/>
                    <a:lstStyle/>
                    <a:p>
                      <a:r>
                        <a:rPr sz="130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Two ways in, both do the same thing:</a:t>
            </a:r>
          </a:p>
          <a:p>
            <a:pPr algn="l">
              <a:lnSpc>
                <a:spcPct val="100000"/>
              </a:lnSpc>
              <a:spcAft>
                <a:spcPts val="0"/>
              </a:spcAft>
              <a:defRPr sz="1300">
                <a:latin typeface="Consolas"/>
              </a:defRPr>
            </a:pPr>
            <a:r>
              <a:rPr sz="1300">
                <a:solidFill>
                  <a:srgbClr val="666666"/>
                </a:solidFill>
                <a:latin typeface="Consolas"/>
              </a:rPr>
              <a:t>//   - press the BOOT button (GPIO 0, reads LOW when pressed)</a:t>
            </a:r>
          </a:p>
          <a:p>
            <a:pPr algn="l">
              <a:lnSpc>
                <a:spcPct val="100000"/>
              </a:lnSpc>
              <a:spcAft>
                <a:spcPts val="0"/>
              </a:spcAft>
              <a:defRPr sz="1300">
                <a:latin typeface="Consolas"/>
              </a:defRPr>
            </a:pPr>
            <a:r>
              <a:rPr sz="1300">
                <a:solidFill>
                  <a:srgbClr val="666666"/>
                </a:solidFill>
                <a:latin typeface="Consolas"/>
              </a:rPr>
              <a:t>//   - type 'pair' on the serial console</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void enterPairingMode() {</a:t>
            </a:r>
          </a:p>
          <a:p>
            <a:pPr algn="l">
              <a:lnSpc>
                <a:spcPct val="100000"/>
              </a:lnSpc>
              <a:spcAft>
                <a:spcPts val="0"/>
              </a:spcAft>
              <a:defRPr sz="1300">
                <a:latin typeface="Consolas"/>
              </a:defRPr>
            </a:pPr>
            <a:r>
              <a:rPr sz="1300">
                <a:solidFill>
                  <a:srgbClr val="666666"/>
                </a:solidFill>
                <a:latin typeface="Consolas"/>
              </a:rPr>
              <a:t>  // drop whatever is connected</a:t>
            </a:r>
          </a:p>
          <a:p>
            <a:pPr algn="l">
              <a:lnSpc>
                <a:spcPct val="100000"/>
              </a:lnSpc>
              <a:spcAft>
                <a:spcPts val="0"/>
              </a:spcAft>
              <a:defRPr sz="1300">
                <a:latin typeface="Consolas"/>
              </a:defRPr>
            </a:pPr>
            <a:r>
              <a:rPr sz="1300">
                <a:solidFill>
                  <a:srgbClr val="222222"/>
                </a:solidFill>
                <a:latin typeface="Consolas"/>
              </a:rPr>
              <a:t>  BP32.forgetBluetoothKeys();</a:t>
            </a:r>
          </a:p>
          <a:p>
            <a:pPr algn="l">
              <a:lnSpc>
                <a:spcPct val="100000"/>
              </a:lnSpc>
              <a:spcAft>
                <a:spcPts val="0"/>
              </a:spcAft>
              <a:defRPr sz="1300">
                <a:latin typeface="Consolas"/>
              </a:defRPr>
            </a:pPr>
            <a:r>
              <a:rPr sz="1300">
                <a:solidFill>
                  <a:srgbClr val="222222"/>
                </a:solidFill>
                <a:latin typeface="Consolas"/>
              </a:rPr>
              <a:t>  clearPairedAddress();          // clears the EEPROM marker</a:t>
            </a:r>
          </a:p>
          <a:p>
            <a:pPr algn="l">
              <a:lnSpc>
                <a:spcPct val="100000"/>
              </a:lnSpc>
              <a:spcAft>
                <a:spcPts val="0"/>
              </a:spcAft>
              <a:defRPr sz="1300">
                <a:latin typeface="Consolas"/>
              </a:defRPr>
            </a:pPr>
            <a:r>
              <a:rPr sz="1300">
                <a:solidFill>
                  <a:srgbClr val="222222"/>
                </a:solidFill>
                <a:latin typeface="Consolas"/>
              </a:rPr>
              <a:t>  applyAllowlist();              // now empty, so disabled</a:t>
            </a:r>
          </a:p>
          <a:p>
            <a:pPr algn="l">
              <a:lnSpc>
                <a:spcPct val="100000"/>
              </a:lnSpc>
              <a:spcAft>
                <a:spcPts val="0"/>
              </a:spcAft>
              <a:defRPr sz="1300">
                <a:latin typeface="Consolas"/>
              </a:defRPr>
            </a:pPr>
            <a:r>
              <a:rPr sz="1300">
                <a:solidFill>
                  <a:srgbClr val="222222"/>
                </a:solidFill>
                <a:latin typeface="Consolas"/>
              </a:rPr>
              <a:t>  BP32.enableNewBluetoothConnections(true);</a:t>
            </a:r>
          </a:p>
          <a:p>
            <a:pPr algn="l">
              <a:lnSpc>
                <a:spcPct val="100000"/>
              </a:lnSpc>
              <a:spcAft>
                <a:spcPts val="0"/>
              </a:spcAft>
              <a:defRPr sz="1300">
                <a:latin typeface="Consolas"/>
              </a:defRPr>
            </a:pPr>
            <a:r>
              <a:rPr sz="1300">
                <a:solidFill>
                  <a:srgbClr val="222222"/>
                </a:solidFill>
                <a:latin typeface="Consolas"/>
              </a:rPr>
              <a:t>  led_mode = PAIRING;            // LEDs breathe blue</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b="1">
                <a:solidFill>
                  <a:srgbClr val="0E7C86"/>
                </a:solidFill>
                <a:latin typeface="Consolas"/>
              </a:rPr>
              <a:t> </a:t>
            </a:r>
          </a:p>
          <a:p>
            <a:pPr algn="l">
              <a:lnSpc>
                <a:spcPct val="100000"/>
              </a:lnSpc>
              <a:spcAft>
                <a:spcPts val="0"/>
              </a:spcAft>
              <a:defRPr sz="1300">
                <a:latin typeface="Consolas"/>
              </a:defRPr>
            </a:pPr>
            <a:r>
              <a:rPr sz="1300" b="1">
                <a:solidFill>
                  <a:srgbClr val="0E7C86"/>
                </a:solidFill>
                <a:latin typeface="Consolas"/>
              </a:rPr>
              <a:t>// Then, in the connect callback:</a:t>
            </a:r>
          </a:p>
          <a:p>
            <a:pPr algn="l">
              <a:lnSpc>
                <a:spcPct val="100000"/>
              </a:lnSpc>
              <a:spcAft>
                <a:spcPts val="0"/>
              </a:spcAft>
              <a:defRPr sz="1300">
                <a:latin typeface="Consolas"/>
              </a:defRPr>
            </a:pPr>
            <a:r>
              <a:rPr sz="1300" b="1">
                <a:solidFill>
                  <a:srgbClr val="0E7C86"/>
                </a:solidFill>
                <a:latin typeface="Consolas"/>
              </a:rPr>
              <a:t>if (!paired_addr_valid) {</a:t>
            </a:r>
          </a:p>
          <a:p>
            <a:pPr algn="l">
              <a:lnSpc>
                <a:spcPct val="100000"/>
              </a:lnSpc>
              <a:spcAft>
                <a:spcPts val="0"/>
              </a:spcAft>
              <a:defRPr sz="1300">
                <a:latin typeface="Consolas"/>
              </a:defRPr>
            </a:pPr>
            <a:r>
              <a:rPr sz="1300">
                <a:solidFill>
                  <a:srgbClr val="222222"/>
                </a:solidFill>
                <a:latin typeface="Consolas"/>
              </a:rPr>
              <a:t>  savePairedAddress(props.btaddr);   // straight to EEPROM</a:t>
            </a:r>
          </a:p>
          <a:p>
            <a:pPr algn="l">
              <a:lnSpc>
                <a:spcPct val="100000"/>
              </a:lnSpc>
              <a:spcAft>
                <a:spcPts val="0"/>
              </a:spcAft>
              <a:defRPr sz="1300">
                <a:latin typeface="Consolas"/>
              </a:defRPr>
            </a:pPr>
            <a:r>
              <a:rPr sz="1300">
                <a:solidFill>
                  <a:srgbClr val="222222"/>
                </a:solidFill>
                <a:latin typeface="Consolas"/>
              </a:rPr>
              <a:t>  applyAllowlist();                  // rebuild, now enabled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The first controller to connect during pairing becomes this vehicle's own, and is written down immediately.</a:t>
            </a:r>
          </a:p>
          <a:p>
            <a:pPr algn="l">
              <a:lnSpc>
                <a:spcPct val="100000"/>
              </a:lnSpc>
              <a:spcAft>
                <a:spcPts val="1100"/>
              </a:spcAft>
              <a:defRPr sz="1500" b="0">
                <a:solidFill>
                  <a:srgbClr val="222222"/>
                </a:solidFill>
                <a:latin typeface="Calibri"/>
              </a:defRPr>
            </a:pPr>
            <a:r>
              <a:rPr sz="1500" b="0">
                <a:solidFill>
                  <a:srgbClr val="222222"/>
                </a:solidFill>
                <a:latin typeface="Calibri"/>
              </a:rPr>
              <a:t>applyAllowlist() is called again straight away, so the window where anything can connect closes the moment it is filled.</a:t>
            </a:r>
          </a:p>
          <a:p>
            <a:pPr algn="l">
              <a:lnSpc>
                <a:spcPct val="100000"/>
              </a:lnSpc>
              <a:spcAft>
                <a:spcPts val="1100"/>
              </a:spcAft>
              <a:defRPr sz="1500" b="0">
                <a:solidFill>
                  <a:srgbClr val="222222"/>
                </a:solidFill>
                <a:latin typeface="Calibri"/>
              </a:defRPr>
            </a:pPr>
            <a:r>
              <a:rPr sz="1500" b="0">
                <a:solidFill>
                  <a:srgbClr val="222222"/>
                </a:solidFill>
                <a:latin typeface="Calibri"/>
              </a:rPr>
              <a:t>forget  reopens it deliberately.</a:t>
            </a:r>
          </a:p>
          <a:p>
            <a:pPr algn="l">
              <a:lnSpc>
                <a:spcPct val="100000"/>
              </a:lnSpc>
              <a:spcAft>
                <a:spcPts val="1100"/>
              </a:spcAft>
              <a:defRPr sz="1500" b="0">
                <a:solidFill>
                  <a:srgbClr val="222222"/>
                </a:solidFill>
                <a:latin typeface="Calibri"/>
              </a:defRPr>
            </a:pPr>
            <a:r>
              <a:rPr sz="15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btaddr is a uint8_t[6], already in PRINTED order. Byte 0 prints first.</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Op 11.2 printed it by counting DOWN from byte 5 to byte 0. So the address it showed you was the reverse of the real one.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The symptom: you write down the address it printed, paste it into another program, and nothing ever connects. Everything looks correct. The address is simply backwards.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Two lessons:</a:t>
            </a:r>
          </a:p>
          <a:p>
            <a:pPr lvl="1" algn="l">
              <a:lnSpc>
                <a:spcPct val="100000"/>
              </a:lnSpc>
              <a:spcAft>
                <a:spcPts val="600"/>
              </a:spcAft>
              <a:defRPr sz="1400" b="0">
                <a:solidFill>
                  <a:srgbClr val="222222"/>
                </a:solidFill>
                <a:latin typeface="Calibri"/>
              </a:defRPr>
            </a:pPr>
            <a:r>
              <a:rPr sz="1400" b="0">
                <a:solidFill>
                  <a:srgbClr val="222222"/>
                </a:solidFill>
                <a:latin typeface="Calibri"/>
              </a:rPr>
              <a:t>When an address will not work, print it at BOTH ends and compare them character by character.</a:t>
            </a:r>
          </a:p>
          <a:p>
            <a:pPr lvl="1" algn="l">
              <a:lnSpc>
                <a:spcPct val="100000"/>
              </a:lnSpc>
              <a:spcAft>
                <a:spcPts val="600"/>
              </a:spcAft>
              <a:defRPr sz="1400" b="0">
                <a:solidFill>
                  <a:srgbClr val="222222"/>
                </a:solidFill>
                <a:latin typeface="Calibri"/>
              </a:defRPr>
            </a:pPr>
            <a:r>
              <a:rPr sz="1400" b="0">
                <a:solidFill>
                  <a:srgbClr val="222222"/>
                </a:solidFill>
                <a:latin typeface="Calibri"/>
              </a:rPr>
              <a:t>Byte order is a real category of bug. It is why network protocols specify it explicitly, and why the phrase big-endian exists.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callback, and who calls it?</a:t>
            </a:r>
          </a:p>
          <a:p>
            <a:pPr algn="l">
              <a:lnSpc>
                <a:spcPct val="100000"/>
              </a:lnSpc>
              <a:spcAft>
                <a:spcPts val="1400"/>
              </a:spcAft>
              <a:defRPr sz="1700" b="0">
                <a:solidFill>
                  <a:srgbClr val="222222"/>
                </a:solidFill>
                <a:latin typeface="Calibri"/>
              </a:defRPr>
            </a:pPr>
            <a:r>
              <a:rPr sz="1700" b="0">
                <a:solidFill>
                  <a:srgbClr val="222222"/>
                </a:solidFill>
                <a:latin typeface="Calibri"/>
              </a:rPr>
              <a:t>2.  Why must the allowlist calls come after BP32.setup()?</a:t>
            </a:r>
          </a:p>
          <a:p>
            <a:pPr algn="l">
              <a:lnSpc>
                <a:spcPct val="100000"/>
              </a:lnSpc>
              <a:spcAft>
                <a:spcPts val="1400"/>
              </a:spcAft>
              <a:defRPr sz="1700" b="0">
                <a:solidFill>
                  <a:srgbClr val="222222"/>
                </a:solidFill>
                <a:latin typeface="Calibri"/>
              </a:defRPr>
            </a:pPr>
            <a:r>
              <a:rPr sz="1700" b="0">
                <a:solidFill>
                  <a:srgbClr val="222222"/>
                </a:solidFill>
                <a:latin typeface="Calibri"/>
              </a:rPr>
              <a:t>3.  Why rebuild the allowlist every boot instead of adding to it?</a:t>
            </a:r>
          </a:p>
          <a:p>
            <a:pPr algn="l">
              <a:lnSpc>
                <a:spcPct val="100000"/>
              </a:lnSpc>
              <a:spcAft>
                <a:spcPts val="1400"/>
              </a:spcAft>
              <a:defRPr sz="1700" b="0">
                <a:solidFill>
                  <a:srgbClr val="222222"/>
                </a:solidFill>
                <a:latin typeface="Calibri"/>
              </a:defRPr>
            </a:pPr>
            <a:r>
              <a:rPr sz="1700" b="0">
                <a:solidFill>
                  <a:srgbClr val="222222"/>
                </a:solidFill>
                <a:latin typeface="Calibri"/>
              </a:rPr>
              <a:t>4.  Why does Op 12 leave new Bluetooth connections enabled?</a:t>
            </a:r>
          </a:p>
          <a:p>
            <a:pPr algn="l">
              <a:lnSpc>
                <a:spcPct val="100000"/>
              </a:lnSpc>
              <a:spcAft>
                <a:spcPts val="1400"/>
              </a:spcAft>
              <a:defRPr sz="1700" b="0">
                <a:solidFill>
                  <a:srgbClr val="222222"/>
                </a:solidFill>
                <a:latin typeface="Calibri"/>
              </a:defRPr>
            </a:pPr>
            <a:r>
              <a:rPr sz="1700" b="0">
                <a:solidFill>
                  <a:srgbClr val="222222"/>
                </a:solidFill>
                <a:latin typeface="Calibri"/>
              </a:rPr>
              <a:t>5.  What actually happens when you call EEPROM.put()? When does the flash get written?</a:t>
            </a:r>
          </a:p>
          <a:p>
            <a:pPr algn="l">
              <a:lnSpc>
                <a:spcPct val="100000"/>
              </a:lnSpc>
              <a:spcAft>
                <a:spcPts val="1400"/>
              </a:spcAft>
              <a:defRPr sz="1700" b="0">
                <a:solidFill>
                  <a:srgbClr val="222222"/>
                </a:solidFill>
                <a:latin typeface="Calibri"/>
              </a:defRPr>
            </a:pPr>
            <a:r>
              <a:rPr sz="1700" b="0">
                <a:solidFill>
                  <a:srgbClr val="222222"/>
                </a:solidFill>
                <a:latin typeface="Calibri"/>
              </a:rPr>
              <a:t>6.  Why must you never call EEPROM.commit() from loop()?</a:t>
            </a:r>
          </a:p>
          <a:p>
            <a:pPr algn="l">
              <a:lnSpc>
                <a:spcPct val="100000"/>
              </a:lnSpc>
              <a:spcAft>
                <a:spcPts val="1400"/>
              </a:spcAft>
              <a:defRPr sz="1700" b="0">
                <a:solidFill>
                  <a:srgbClr val="222222"/>
                </a:solidFill>
                <a:latin typeface="Calibri"/>
              </a:defRPr>
            </a:pPr>
            <a:r>
              <a:rPr sz="1700" b="0">
                <a:solidFill>
                  <a:srgbClr val="222222"/>
                </a:solidFill>
                <a:latin typeface="Calibri"/>
              </a:rPr>
              <a:t>7.  What is the magic byte for, and why is it not sufficient on its own?</a:t>
            </a:r>
          </a:p>
          <a:p>
            <a:pPr algn="l">
              <a:lnSpc>
                <a:spcPct val="100000"/>
              </a:lnSpc>
              <a:spcAft>
                <a:spcPts val="1400"/>
              </a:spcAft>
              <a:defRPr sz="1700" b="0">
                <a:solidFill>
                  <a:srgbClr val="222222"/>
                </a:solidFill>
                <a:latin typeface="Calibri"/>
              </a:defRPr>
            </a:pPr>
            <a:r>
              <a:rPr sz="17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