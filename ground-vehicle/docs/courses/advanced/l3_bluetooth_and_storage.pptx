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WATCH OUT used to carry this and it is worth saying out loud: 11.2 added addresses at runtime only. If those entries did not survive a reboot, a vehicle could come back up with an empty allowlist AND new connections disabled, and then refuse its own controller with no way in.</a:t>
            </a:r>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900" b="0">
                <a:solidFill>
                  <a:srgbClr val="222222"/>
                </a:solidFill>
                <a:latin typeface="Calibri"/>
              </a:defRPr>
            </a:pPr>
            <a:r>
              <a:rPr sz="1900" b="0">
                <a:solidFill>
                  <a:srgbClr val="222222"/>
                </a:solidFill>
                <a:latin typeface="Calibri"/>
              </a:rPr>
              <a:t>The allowlist is a guest list checked BEFORE a connection is accepted:</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MISTAKE ONE: calling them before BP32.setup(), which is what brings the stack up. Before that there is no list, and the calls do nothing - silently.</a:t>
            </a:r>
          </a:p>
          <a:p>
            <a:pPr algn="l">
              <a:lnSpc>
                <a:spcPct val="100000"/>
              </a:lnSpc>
              <a:spcAft>
                <a:spcPts val="900"/>
              </a:spcAft>
              <a:defRPr sz="1900" b="0">
                <a:solidFill>
                  <a:srgbClr val="222222"/>
                </a:solidFill>
                <a:latin typeface="Calibri"/>
              </a:defRPr>
            </a:pPr>
            <a:r>
              <a:rPr sz="1900" b="0">
                <a:solidFill>
                  <a:srgbClr val="222222"/>
                </a:solidFill>
                <a:latin typeface="Calibri"/>
              </a:rPr>
              <a:t>MISTAKE TWO: adding to the list instead of rebuilding it. Rebuild every boot and the sketch is the single source of truth.</a:t>
            </a:r>
          </a:p>
          <a:p>
            <a:pPr algn="l">
              <a:lnSpc>
                <a:spcPct val="100000"/>
              </a:lnSpc>
              <a:spcAft>
                <a:spcPts val="900"/>
              </a:spcAft>
              <a:defRPr sz="1900" b="0">
                <a:solidFill>
                  <a:srgbClr val="222222"/>
                </a:solidFill>
                <a:latin typeface="Calibri"/>
              </a:defRPr>
            </a:pPr>
            <a:r>
              <a:rPr sz="1900" b="0">
                <a:solidFill>
                  <a:srgbClr val="222222"/>
                </a:solidFill>
                <a:latin typeface="Calibri"/>
              </a:rPr>
              <a:t>enableNewBluetoothConnections stays TRUE, so your own pad can get back in if the bonding keys are lost.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Rebuild the list every boot, and always AFTER BP32.setup(). Both mistakes fail silently.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Locking a board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EEPROM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70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5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5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  (cont.)</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238500"/>
        </p:xfrm>
        <a:graphic>
          <a:graphicData uri="http://schemas.openxmlformats.org/drawingml/2006/table">
            <a:tbl>
              <a:tblPr firstRow="1" bandRow="1">
                <a:tableStyleId>{5C22544A-7EE6-4342-B048-85BDC9FD1C3A}</a:tableStyleId>
              </a:tblPr>
              <a:tblGrid>
                <a:gridCol w="3733800"/>
                <a:gridCol w="4112530"/>
                <a:gridCol w="3339524"/>
              </a:tblGrid>
              <a:tr h="647700">
                <a:tc>
                  <a:txBody>
                    <a:bodyPr/>
                    <a:lstStyle/>
                    <a:p>
                      <a:r>
                        <a:rPr sz="2000" b="1">
                          <a:solidFill>
                            <a:srgbClr val="FFFFFF"/>
                          </a:solidFill>
                          <a:latin typeface="Calibri"/>
                        </a:rPr>
                        <a:t>Program</a:t>
                      </a:r>
                    </a:p>
                  </a:txBody>
                  <a:tcPr marL="73152" marT="18288" marB="18288">
                    <a:solidFill>
                      <a:srgbClr val="1F3A5F"/>
                    </a:solidFill>
                  </a:tcPr>
                </a:tc>
                <a:tc>
                  <a:txBody>
                    <a:bodyPr/>
                    <a:lstStyle/>
                    <a:p>
                      <a:r>
                        <a:rPr sz="2000" b="1">
                          <a:solidFill>
                            <a:srgbClr val="FFFFFF"/>
                          </a:solidFill>
                          <a:latin typeface="Calibri"/>
                        </a:rPr>
                        <a:t>Where the address lives</a:t>
                      </a:r>
                    </a:p>
                  </a:txBody>
                  <a:tcPr marL="73152" marT="18288" marB="18288">
                    <a:solidFill>
                      <a:srgbClr val="1F3A5F"/>
                    </a:solidFill>
                  </a:tcPr>
                </a:tc>
                <a:tc>
                  <a:txBody>
                    <a:bodyPr/>
                    <a:lstStyle/>
                    <a:p>
                      <a:r>
                        <a:rPr sz="2000" b="1">
                          <a:solidFill>
                            <a:srgbClr val="FFFFFF"/>
                          </a:solidFill>
                          <a:latin typeface="Calibri"/>
                        </a:rPr>
                        <a:t>What that costs you</a:t>
                      </a:r>
                    </a:p>
                  </a:txBody>
                  <a:tcPr marL="73152" marT="18288" marB="18288">
                    <a:solidFill>
                      <a:srgbClr val="1F3A5F"/>
                    </a:solidFill>
                  </a:tcPr>
                </a:tc>
              </a:tr>
              <a:tr h="647700">
                <a:tc>
                  <a:txBody>
                    <a:bodyPr/>
                    <a:lstStyle/>
                    <a:p>
                      <a:r>
                        <a:rPr sz="2000">
                          <a:solidFill>
                            <a:srgbClr val="222222"/>
                          </a:solidFill>
                          <a:latin typeface="Consolas"/>
                        </a:rPr>
                        <a:t>pathfinder_ps3</a:t>
                      </a:r>
                    </a:p>
                  </a:txBody>
                  <a:tcPr marL="73152" marT="18288" marB="18288">
                    <a:solidFill>
                      <a:srgbClr val="FFFFFF"/>
                    </a:solidFill>
                  </a:tcPr>
                </a:tc>
                <a:tc>
                  <a:txBody>
                    <a:bodyPr/>
                    <a:lstStyle/>
                    <a:p>
                      <a:r>
                        <a:rPr sz="2000">
                          <a:solidFill>
                            <a:srgbClr val="222222"/>
                          </a:solidFill>
                          <a:latin typeface="Calibri"/>
                        </a:rPr>
                        <a:t>In the CONTROLLER, written by SixaxisPairTool</a:t>
                      </a:r>
                    </a:p>
                  </a:txBody>
                  <a:tcPr marL="73152" marT="18288" marB="18288">
                    <a:solidFill>
                      <a:srgbClr val="FFFFFF"/>
                    </a:solidFill>
                  </a:tcPr>
                </a:tc>
                <a:tc>
                  <a:txBody>
                    <a:bodyPr/>
                    <a:lstStyle/>
                    <a:p>
                      <a:r>
                        <a:rPr sz="2000">
                          <a:solidFill>
                            <a:srgbClr val="222222"/>
                          </a:solidFill>
                          <a:latin typeface="Calibri"/>
                        </a:rPr>
                        <a:t>Needs a Windows PC and a cable to change</a:t>
                      </a:r>
                    </a:p>
                  </a:txBody>
                  <a:tcPr marL="73152" marT="18288" marB="18288">
                    <a:solidFill>
                      <a:srgbClr val="FFFFFF"/>
                    </a:solidFill>
                  </a:tcPr>
                </a:tc>
              </a:tr>
              <a:tr h="647700">
                <a:tc>
                  <a:txBody>
                    <a:bodyPr/>
                    <a:lstStyle/>
                    <a:p>
                      <a:r>
                        <a:rPr sz="2000">
                          <a:solidFill>
                            <a:srgbClr val="222222"/>
                          </a:solidFill>
                          <a:latin typeface="Consolas"/>
                        </a:rPr>
                        <a:t>pathfinder_nintendoswitch</a:t>
                      </a:r>
                    </a:p>
                  </a:txBody>
                  <a:tcPr marL="73152" marT="18288" marB="18288">
                    <a:solidFill>
                      <a:srgbClr val="EEF3F8"/>
                    </a:solidFill>
                  </a:tcPr>
                </a:tc>
                <a:tc>
                  <a:txBody>
                    <a:bodyPr/>
                    <a:lstStyle/>
                    <a:p>
                      <a:r>
                        <a:rPr sz="2000">
                          <a:solidFill>
                            <a:srgbClr val="222222"/>
                          </a:solidFill>
                          <a:latin typeface="Calibri"/>
                        </a:rPr>
                        <a:t>A constant in the source, MY_CONTROLLER</a:t>
                      </a:r>
                    </a:p>
                  </a:txBody>
                  <a:tcPr marL="73152" marT="18288" marB="18288">
                    <a:solidFill>
                      <a:srgbClr val="EEF3F8"/>
                    </a:solidFill>
                  </a:tcPr>
                </a:tc>
                <a:tc>
                  <a:txBody>
                    <a:bodyPr/>
                    <a:lstStyle/>
                    <a:p>
                      <a:r>
                        <a:rPr sz="2000">
                          <a:solidFill>
                            <a:srgbClr val="222222"/>
                          </a:solidFill>
                          <a:latin typeface="Calibri"/>
                        </a:rPr>
                        <a:t>Recompile to change it</a:t>
                      </a:r>
                    </a:p>
                  </a:txBody>
                  <a:tcPr marL="73152" marT="18288" marB="18288">
                    <a:solidFill>
                      <a:srgbClr val="EEF3F8"/>
                    </a:solidFill>
                  </a:tcPr>
                </a:tc>
              </a:tr>
              <a:tr h="647700">
                <a:tc>
                  <a:txBody>
                    <a:bodyPr/>
                    <a:lstStyle/>
                    <a:p>
                      <a:r>
                        <a:rPr sz="2000">
                          <a:solidFill>
                            <a:srgbClr val="222222"/>
                          </a:solidFill>
                          <a:latin typeface="Consolas"/>
                        </a:rPr>
                        <a:t>a3a_controller_address</a:t>
                      </a:r>
                    </a:p>
                  </a:txBody>
                  <a:tcPr marL="73152" marT="18288" marB="18288">
                    <a:solidFill>
                      <a:srgbClr val="FFFFFF"/>
                    </a:solidFill>
                  </a:tcPr>
                </a:tc>
                <a:tc>
                  <a:txBody>
                    <a:bodyPr/>
                    <a:lstStyle/>
                    <a:p>
                      <a:r>
                        <a:rPr sz="2000">
                          <a:solidFill>
                            <a:srgbClr val="222222"/>
                          </a:solidFill>
                          <a:latin typeface="Calibri"/>
                        </a:rPr>
                        <a:t>RAM only</a:t>
                      </a:r>
                    </a:p>
                  </a:txBody>
                  <a:tcPr marL="73152" marT="18288" marB="18288">
                    <a:solidFill>
                      <a:srgbClr val="FFFFFF"/>
                    </a:solidFill>
                  </a:tcPr>
                </a:tc>
                <a:tc>
                  <a:txBody>
                    <a:bodyPr/>
                    <a:lstStyle/>
                    <a:p>
                      <a:r>
                        <a:rPr sz="2000">
                          <a:solidFill>
                            <a:srgbClr val="222222"/>
                          </a:solidFill>
                          <a:latin typeface="Calibri"/>
                        </a:rPr>
                        <a:t>Gone at the next reset - fine for a demonstration</a:t>
                      </a:r>
                    </a:p>
                  </a:txBody>
                  <a:tcPr marL="73152" marT="18288" marB="18288">
                    <a:solidFill>
                      <a:srgbClr val="FFFFFF"/>
                    </a:solidFill>
                  </a:tcPr>
                </a:tc>
              </a:tr>
              <a:tr h="647700">
                <a:tc>
                  <a:txBody>
                    <a:bodyPr/>
                    <a:lstStyle/>
                    <a:p>
                      <a:r>
                        <a:rPr sz="2000">
                          <a:solidFill>
                            <a:srgbClr val="222222"/>
                          </a:solidFill>
                          <a:latin typeface="Consolas"/>
                        </a:rPr>
                        <a:t>Pathfinder_Op_Program12</a:t>
                      </a:r>
                    </a:p>
                  </a:txBody>
                  <a:tcPr marL="73152" marT="18288" marB="18288">
                    <a:solidFill>
                      <a:srgbClr val="EEF3F8"/>
                    </a:solidFill>
                  </a:tcPr>
                </a:tc>
                <a:tc>
                  <a:txBody>
                    <a:bodyPr/>
                    <a:lstStyle/>
                    <a:p>
                      <a:r>
                        <a:rPr sz="2000">
                          <a:solidFill>
                            <a:srgbClr val="222222"/>
                          </a:solidFill>
                          <a:latin typeface="Calibri"/>
                        </a:rPr>
                        <a:t>EEPROM, written the first time it pairs</a:t>
                      </a:r>
                    </a:p>
                  </a:txBody>
                  <a:tcPr marL="73152" marT="18288" marB="18288">
                    <a:solidFill>
                      <a:srgbClr val="EEF3F8"/>
                    </a:solidFill>
                  </a:tcPr>
                </a:tc>
                <a:tc>
                  <a:txBody>
                    <a:bodyPr/>
                    <a:lstStyle/>
                    <a:p>
                      <a:r>
                        <a:rPr sz="20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