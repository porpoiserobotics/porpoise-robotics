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controllers per group makes the allowlist activity far better. If you only have one each, pair groups up for that section.</a:t>
            </a:r>
          </a:p>
          <a:p>
            <a:r>
              <a:rPr sz="1200">
                <a:latin typeface="Calibri"/>
              </a:rPr>
              <a:t>Charge every pad before the class. A flat controller looks exactly like a refused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what commit() actually does - is the one that prevents a real hardware failure later. Do not let it slide by.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Both activities are long and both are worth their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the inversion out loud: normally your code calls a library, and with a callback the library calls your code.</a:t>
            </a:r>
          </a:p>
          <a:p>
            <a:r>
              <a:rPr sz="1200">
                <a:latin typeface="Calibri"/>
              </a:rPr>
              <a:t>The practical question is always WHEN it runs and what is safe to do there. Ask that before you answer it.</a:t>
            </a:r>
          </a:p>
          <a:p>
            <a:r>
              <a:rPr sz="1200">
                <a:latin typeface="Calibri"/>
              </a:rPr>
              <a:t>Here both callbacks run inside BP32.update(), which they call themselves from loop(). So it is their thread, at a moment they chose, and printing is safe.</a:t>
            </a:r>
          </a:p>
          <a:p>
            <a:r>
              <a:rPr sz="1200">
                <a:latin typeface="Calibri"/>
              </a:rPr>
              <a:t>The last line is the important caveat. From an interrupt, neither of those would be true - and that is a whole category of embedded bug.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WATCH OUT used to carry this and it is worth saying out loud: 11.2 added addresses at runtime only. If those entries did not survive a reboot, a vehicle could come back up with an empty allowlist AND new connections disabled, and then refuse its own controller with no way in.</a:t>
            </a:r>
          </a:p>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the moment it becomes real: a second controller turned away with a printed reason.</a:t>
            </a:r>
          </a:p>
          <a:p>
            <a:r>
              <a:rPr sz="1200">
                <a:latin typeface="Calibri"/>
              </a:rPr>
              <a:t>Step 5 locks to an address that does not exist, so nothing can connect. Good for showing that the mechanism really is doing the work.</a:t>
            </a:r>
          </a:p>
          <a:p>
            <a:r>
              <a:rPr sz="1200">
                <a:latin typeface="Calibri"/>
              </a:rPr>
              <a:t>Step 6 cross-checks against a phone scanner app. Worth doing - it connects the number on screen to something outside the room.</a:t>
            </a:r>
          </a:p>
          <a:p>
            <a:r>
              <a:rPr sz="1200">
                <a:latin typeface="Calibri"/>
              </a:rPr>
              <a:t>Answers: this sketch keeps the address in RAM only, so it is gone at reset; and applyAllowlist() must come after BP32.setup() because setup is what brings the stack 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Lead with the headline: there is no EEPROM on this chip. The library is an emulation over flash.</a:t>
            </a:r>
          </a:p>
          <a:p>
            <a:r>
              <a:rPr sz="1200">
                <a:latin typeface="Calibri"/>
              </a:rPr>
              <a:t>The three consequences are all practical. begin() first, nothing saved without commit(), and flash wears out.</a:t>
            </a:r>
          </a:p>
          <a:p>
            <a:r>
              <a:rPr sz="1200">
                <a:latin typeface="Calibri"/>
              </a:rPr>
              <a:t>The warning panel has the arithmetic: a commit() in loop() at 30 Hz burns a hundred thousand cycles in under an hour. Say that number out loud.</a:t>
            </a:r>
          </a:p>
          <a:p>
            <a:r>
              <a:rPr sz="1200">
                <a:latin typeface="Calibri"/>
              </a:rPr>
              <a:t>The rule to take away: write when something changed and a person asked, never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EEPROM is a flat array of bytes and YOU choose the layout. Nothing stops two values overlapping - the compiler cannot help you here.</a:t>
            </a:r>
          </a:p>
          <a:p>
            <a:r>
              <a:rPr sz="1200">
                <a:latin typeface="Calibri"/>
              </a:rPr>
              <a:t>Four bytes per slot because an int and a float are both four bytes on this chip.</a:t>
            </a:r>
          </a:p>
          <a:p>
            <a:r>
              <a:rPr sz="1200">
                <a:latin typeface="Calibri"/>
              </a:rPr>
              <a:t>Ask why the addresses are spaced out and written down in one place. The answer is that a map you can read is a map you can extend safely.</a:t>
            </a:r>
          </a:p>
          <a:p>
            <a:r>
              <a:rPr sz="1200">
                <a:latin typeface="Calibri"/>
              </a:rPr>
              <a:t>They break this deliberately in step 6 of the activity, so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the fact: new flash is full of 0xFF. Read an int out of that and you get -1.</a:t>
            </a:r>
          </a:p>
          <a:p>
            <a:r>
              <a:rPr sz="1200">
                <a:latin typeface="Calibri"/>
              </a:rPr>
              <a:t>The magic byte says the bytes are OURS. It does not say they still make sense.</a:t>
            </a:r>
          </a:p>
          <a:p>
            <a:r>
              <a:rPr sz="1200">
                <a:latin typeface="Calibri"/>
              </a:rPr>
              <a:t>That distinction is the whole slide. A value written by an older version of the program is perfectly valid data and still wrong for this one.</a:t>
            </a:r>
          </a:p>
          <a:p>
            <a:r>
              <a:rPr sz="1200">
                <a:latin typeface="Calibri"/>
              </a:rPr>
              <a:t>Defensive loading is not paranoia - it is the difference between a vehicle that boots with odd settings and one that will not boot at 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involves physically unplugging the board. Make sure nobody is mid-upload when they do it.</a:t>
            </a:r>
          </a:p>
          <a:p>
            <a:r>
              <a:rPr sz="1200">
                <a:latin typeface="Calibri"/>
              </a:rPr>
              <a:t>Step 5 is the deliberate bug: comment out commit(), save, reset, and watch the setting vanish. That is the mistake they will one day make for real.</a:t>
            </a:r>
          </a:p>
          <a:p>
            <a:r>
              <a:rPr sz="1200">
                <a:latin typeface="Calibri"/>
              </a:rPr>
              <a:t>Step 6 overlaps two addresses on purpose and one setting eats the other. It makes the flat-array point concrete.</a:t>
            </a:r>
          </a:p>
          <a:p>
            <a:r>
              <a:rPr sz="1200">
                <a:latin typeface="Calibri"/>
              </a:rPr>
              <a:t>Answers: address 0 holds the deadzone int; and range checking is needed even with a correct magic byte because an older version could have written a value this version cannot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programs, four answers, and each is right for what it is for. Do not let this become a ranking.</a:t>
            </a:r>
          </a:p>
          <a:p>
            <a:r>
              <a:rPr sz="1200">
                <a:latin typeface="Calibri"/>
              </a:rPr>
              <a:t>The cost column is where the engineering judgement lives. Read that rather than the middle column.</a:t>
            </a:r>
          </a:p>
          <a:p>
            <a:r>
              <a:rPr sz="1200">
                <a:latin typeface="Calibri"/>
              </a:rPr>
              <a:t>The note is the argument for the EEPROM version: a field-serviceable machine should never need a laptop to change who is allowed to drive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ways in, one code path. That is a design choice worth pointing at - a button and a console command that do exactly the same thing.</a:t>
            </a:r>
          </a:p>
          <a:p>
            <a:r>
              <a:rPr sz="1200">
                <a:latin typeface="Calibri"/>
              </a:rPr>
              <a:t>The first controller to connect during pairing becomes the vehicle's own and is written down immediately, not at shutdown.</a:t>
            </a:r>
          </a:p>
          <a:p>
            <a:r>
              <a:rPr sz="1200">
                <a:latin typeface="Calibri"/>
              </a:rPr>
              <a:t>Ask why it is written immediately. Because a vehicle that loses power before saving would come back not knowing who it belongs to.</a:t>
            </a:r>
          </a:p>
          <a:p>
            <a:r>
              <a:rPr sz="1200">
                <a:latin typeface="Calibri"/>
              </a:rPr>
              <a:t>Walk the order: forget keys, clear the marker, rebuild the empty allowlist, enable new connections, show it on the LEDs.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most human bug in the course. Everything looks correct and the address is simply backwards.</a:t>
            </a:r>
          </a:p>
          <a:p>
            <a:r>
              <a:rPr sz="1200">
                <a:latin typeface="Calibri"/>
              </a:rPr>
              <a:t>Describe the symptom before the cause: you write down what it printed, paste it somewhere else, and nothing ever connects.</a:t>
            </a:r>
          </a:p>
          <a:p>
            <a:r>
              <a:rPr sz="1200">
                <a:latin typeface="Calibri"/>
              </a:rPr>
              <a:t>The first lesson is a debugging habit: print it at both ends and compare character by character.</a:t>
            </a:r>
          </a:p>
          <a:p>
            <a:r>
              <a:rPr sz="1200">
                <a:latin typeface="Calibri"/>
              </a:rPr>
              <a:t>The second is a real category. Byte order is why network protocols specify it and why the word big-endian exists.</a:t>
            </a:r>
          </a:p>
          <a:p>
            <a:r>
              <a:rPr sz="1200">
                <a:latin typeface="Calibri"/>
              </a:rPr>
              <a:t>Op 12 now prints most significant byte first, matching every Bluetooth scanner they will ever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a callback is a function you supply and the library calls; the allowlist needs the stack up first, which is what BP32.setup() does; rebuilding keeps the sketch as the single source of truth.</a:t>
            </a:r>
          </a:p>
          <a:p>
            <a:r>
              <a:rPr sz="1200">
                <a:latin typeface="Calibri"/>
              </a:rPr>
              <a:t>New connections stay enabled so a vehicle can be re-paired without a recompile.</a:t>
            </a:r>
          </a:p>
          <a:p>
            <a:r>
              <a:rPr sz="1200">
                <a:latin typeface="Calibri"/>
              </a:rPr>
              <a:t>put() only writes the RAM copy; the flash is written by commit(). Never from loop, because flash wears out.</a:t>
            </a:r>
          </a:p>
          <a:p>
            <a:r>
              <a:rPr sz="1200">
                <a:latin typeface="Calibri"/>
              </a:rPr>
              <a:t>The magic byte says the data is ours, not that it is still valid for this version.</a:t>
            </a:r>
          </a:p>
          <a:p>
            <a:r>
              <a:rPr sz="1200">
                <a:latin typeface="Calibri"/>
              </a:rPr>
              <a:t>For question 8: the allowlist was applied before setup, or the paired address was never committed to EEPROM.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46304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what a callback is and when it runs</a:t>
            </a:r>
          </a:p>
          <a:p>
            <a:pPr algn="l">
              <a:lnSpc>
                <a:spcPct val="100000"/>
              </a:lnSpc>
              <a:spcAft>
                <a:spcPts val="1300"/>
              </a:spcAft>
              <a:defRPr sz="1900" b="0">
                <a:solidFill>
                  <a:srgbClr val="222222"/>
                </a:solidFill>
                <a:latin typeface="Calibri"/>
              </a:defRPr>
            </a:pPr>
            <a:r>
              <a:rPr sz="1900" b="0">
                <a:solidFill>
                  <a:srgbClr val="222222"/>
                </a:solidFill>
                <a:latin typeface="Calibri"/>
              </a:rPr>
              <a:t>2.   Configure a Bluetooth allowlist correctly, in the right order</a:t>
            </a:r>
          </a:p>
          <a:p>
            <a:pPr algn="l">
              <a:lnSpc>
                <a:spcPct val="100000"/>
              </a:lnSpc>
              <a:spcAft>
                <a:spcPts val="1300"/>
              </a:spcAft>
              <a:defRPr sz="1900" b="0">
                <a:solidFill>
                  <a:srgbClr val="222222"/>
                </a:solidFill>
                <a:latin typeface="Calibri"/>
              </a:defRPr>
            </a:pPr>
            <a:r>
              <a:rPr sz="1900" b="0">
                <a:solidFill>
                  <a:srgbClr val="222222"/>
                </a:solidFill>
                <a:latin typeface="Calibri"/>
              </a:rPr>
              <a:t>3.   Say what EEPROM.commit() actually does on an ESP32, and why it must not be called from loop()</a:t>
            </a:r>
          </a:p>
          <a:p>
            <a:pPr algn="l">
              <a:lnSpc>
                <a:spcPct val="100000"/>
              </a:lnSpc>
              <a:spcAft>
                <a:spcPts val="1300"/>
              </a:spcAft>
              <a:defRPr sz="1900" b="0">
                <a:solidFill>
                  <a:srgbClr val="222222"/>
                </a:solidFill>
                <a:latin typeface="Calibri"/>
              </a:defRPr>
            </a:pPr>
            <a:r>
              <a:rPr sz="1900" b="0">
                <a:solidFill>
                  <a:srgbClr val="222222"/>
                </a:solidFill>
                <a:latin typeface="Calibri"/>
              </a:rPr>
              <a:t>4.   Design a storage map with a validity marker, and load it defensively</a:t>
            </a:r>
          </a:p>
          <a:p>
            <a:pPr algn="l">
              <a:lnSpc>
                <a:spcPct val="100000"/>
              </a:lnSpc>
              <a:spcAft>
                <a:spcPts val="1300"/>
              </a:spcAft>
              <a:defRPr sz="1900" b="0">
                <a:solidFill>
                  <a:srgbClr val="222222"/>
                </a:solidFill>
                <a:latin typeface="Calibri"/>
              </a:defRPr>
            </a:pPr>
            <a:r>
              <a:rPr sz="1900" b="0">
                <a:solidFill>
                  <a:srgbClr val="222222"/>
                </a:solidFill>
                <a:latin typeface="Calibri"/>
              </a:rPr>
              <a:t>5.   Walk through the full pairing workflow end to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Bluepad32, callbacks, and who calls whom</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allowlist, and the order the calls must go in</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Upload a3a_controller_address. Lock and unlock a board</a:t>
                      </a:r>
                    </a:p>
                  </a:txBody>
                  <a:tcPr marL="73152" marT="18288" marB="18288">
                    <a:solidFill>
                      <a:srgbClr val="FFFFFF"/>
                    </a:solidFill>
                  </a:tcPr>
                </a:tc>
              </a:tr>
              <a:tr h="504825">
                <a:tc>
                  <a:txBody>
                    <a:bodyPr/>
                    <a:lstStyle/>
                    <a:p>
                      <a:r>
                        <a:rPr sz="2700">
                          <a:solidFill>
                            <a:srgbClr val="222222"/>
                          </a:solidFill>
                          <a:latin typeface="Calibri"/>
                        </a:rPr>
                        <a:t>1:20</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1:30</a:t>
                      </a:r>
                    </a:p>
                  </a:txBody>
                  <a:tcPr marL="73152" marT="18288" marB="18288">
                    <a:solidFill>
                      <a:srgbClr val="FFFFFF"/>
                    </a:solidFill>
                  </a:tcPr>
                </a:tc>
                <a:tc>
                  <a:txBody>
                    <a:bodyPr/>
                    <a:lstStyle/>
                    <a:p>
                      <a:r>
                        <a:rPr sz="2700">
                          <a:solidFill>
                            <a:srgbClr val="222222"/>
                          </a:solidFill>
                          <a:latin typeface="Calibri"/>
                        </a:rPr>
                        <a:t>There is no EEPROM on an ESP32</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Magic bytes, storage maps, and never trusting storage</a:t>
                      </a:r>
                    </a:p>
                  </a:txBody>
                  <a:tcPr marL="73152" marT="18288" marB="18288">
                    <a:solidFill>
                      <a:srgbClr val="EEF3F8"/>
                    </a:solidFill>
                  </a:tcPr>
                </a:tc>
              </a:tr>
              <a:tr h="504825">
                <a:tc>
                  <a:txBody>
                    <a:bodyPr/>
                    <a:lstStyle/>
                    <a:p>
                      <a:r>
                        <a:rPr sz="2700">
                          <a:solidFill>
                            <a:srgbClr val="222222"/>
                          </a:solidFill>
                          <a:latin typeface="Calibri"/>
                        </a:rPr>
                        <a:t>2:15</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2:25</a:t>
                      </a:r>
                    </a:p>
                  </a:txBody>
                  <a:tcPr marL="73152" marT="18288" marB="18288">
                    <a:solidFill>
                      <a:srgbClr val="EEF3F8"/>
                    </a:solidFill>
                  </a:tcPr>
                </a:tc>
                <a:tc>
                  <a:txBody>
                    <a:bodyPr/>
                    <a:lstStyle/>
                    <a:p>
                      <a:r>
                        <a:rPr sz="2700">
                          <a:solidFill>
                            <a:srgbClr val="222222"/>
                          </a:solidFill>
                          <a:latin typeface="Calibri"/>
                        </a:rPr>
                        <a:t>Upload a3b_eeprom_settings. Pull the cable out</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The full pairing workflow in Op 12</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lvl="1" algn="l">
              <a:lnSpc>
                <a:spcPct val="100000"/>
              </a:lnSpc>
              <a:spcAft>
                <a:spcPts val="600"/>
              </a:spcAft>
              <a:defRPr sz="1800" b="0">
                <a:solidFill>
                  <a:srgbClr val="222222"/>
                </a:solidFill>
                <a:latin typeface="Calibri"/>
              </a:defRPr>
            </a:pPr>
            <a:r>
              <a:rPr sz="1800" b="0">
                <a:solidFill>
                  <a:srgbClr val="222222"/>
                </a:solidFill>
                <a:latin typeface="Calibri"/>
              </a:rPr>
              <a:t>BP32.setup(&amp;onConnectedController, &amp;onDisconnectedController);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hand Bluepad32 the ADDRESSES of two of your functions. It calls them when something happens. You never call them yourself.</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inversion is worth naming. Normally your code calls a library. With a callback, the library calls your code. It is how every event system works, from button handlers to network stacks.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practical question is always: WHEN does it run, and what is safe to do in there?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Here, both callbacks run from inside BP32.update(), which you call yourself from loop(). So they run on your thread, at a moment you chose, and it is safe to print and to touch program state.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they ran from an interrupt, neither of those would be true.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Switch pad in pairing mode connects to whichever host answers first. Pairing alone does not give you one-vehicle-one-controller.</a:t>
            </a:r>
          </a:p>
          <a:p>
            <a:pPr algn="l">
              <a:lnSpc>
                <a:spcPct val="100000"/>
              </a:lnSpc>
              <a:spcAft>
                <a:spcPts val="900"/>
              </a:spcAft>
              <a:defRPr sz="1900" b="0">
                <a:solidFill>
                  <a:srgbClr val="222222"/>
                </a:solidFill>
                <a:latin typeface="Calibri"/>
              </a:defRPr>
            </a:pPr>
            <a:r>
              <a:rPr sz="1900" b="0">
                <a:solidFill>
                  <a:srgbClr val="222222"/>
                </a:solidFill>
                <a:latin typeface="Calibri"/>
              </a:rPr>
              <a:t>The allowlist is a guest list checked BEFORE a connection is accepted:</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uni_bt_allowlist_remove_all();</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uni_bt_allowlist_add_addr(address);</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uni_bt_allowlist_set_enabled(true);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MISTAKE ONE: calling them before BP32.setup(), which is what brings the stack up. Before that there is no list, and the calls do nothing - silently.</a:t>
            </a:r>
          </a:p>
          <a:p>
            <a:pPr algn="l">
              <a:lnSpc>
                <a:spcPct val="100000"/>
              </a:lnSpc>
              <a:spcAft>
                <a:spcPts val="900"/>
              </a:spcAft>
              <a:defRPr sz="1900" b="0">
                <a:solidFill>
                  <a:srgbClr val="222222"/>
                </a:solidFill>
                <a:latin typeface="Calibri"/>
              </a:defRPr>
            </a:pPr>
            <a:r>
              <a:rPr sz="1900" b="0">
                <a:solidFill>
                  <a:srgbClr val="222222"/>
                </a:solidFill>
                <a:latin typeface="Calibri"/>
              </a:rPr>
              <a:t>MISTAKE TWO: adding to the list instead of rebuilding it. Rebuild every boot and the sketch is the single source of truth.</a:t>
            </a:r>
          </a:p>
          <a:p>
            <a:pPr algn="l">
              <a:lnSpc>
                <a:spcPct val="100000"/>
              </a:lnSpc>
              <a:spcAft>
                <a:spcPts val="900"/>
              </a:spcAft>
              <a:defRPr sz="1900" b="0">
                <a:solidFill>
                  <a:srgbClr val="222222"/>
                </a:solidFill>
                <a:latin typeface="Calibri"/>
              </a:defRPr>
            </a:pPr>
            <a:r>
              <a:rPr sz="1900" b="0">
                <a:solidFill>
                  <a:srgbClr val="222222"/>
                </a:solidFill>
                <a:latin typeface="Calibri"/>
              </a:rPr>
              <a:t>enableNewBluetoothConnections stays TRUE, so your own pad can get back in if the bonding keys are lost.</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Rebuild the list every boot, and always AFTER BP32.setup(). Both mistakes fail silently.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Locking a board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Locking a board</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EEPROM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The allowlist starts OFF. Connect a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2.  Type  lock. Disconnect, and connect a DIFFERENT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3.  Watch the refusal in the Serial Monitor.</a:t>
            </a:r>
          </a:p>
          <a:p>
            <a:pPr algn="l">
              <a:lnSpc>
                <a:spcPct val="100000"/>
              </a:lnSpc>
              <a:spcAft>
                <a:spcPts val="800"/>
              </a:spcAft>
              <a:defRPr sz="2100" b="0">
                <a:solidFill>
                  <a:srgbClr val="222222"/>
                </a:solidFill>
                <a:latin typeface="Calibri"/>
              </a:defRPr>
            </a:pPr>
            <a:r>
              <a:rPr sz="2100" b="0">
                <a:solidFill>
                  <a:srgbClr val="222222"/>
                </a:solidFill>
                <a:latin typeface="Calibri"/>
              </a:rPr>
              <a:t>4.  Type  open  and try the second one again.</a:t>
            </a:r>
          </a:p>
          <a:p>
            <a:pPr algn="l">
              <a:lnSpc>
                <a:spcPct val="100000"/>
              </a:lnSpc>
              <a:spcAft>
                <a:spcPts val="800"/>
              </a:spcAft>
              <a:defRPr sz="2100" b="0">
                <a:solidFill>
                  <a:srgbClr val="222222"/>
                </a:solidFill>
                <a:latin typeface="Calibri"/>
              </a:defRPr>
            </a:pPr>
            <a:r>
              <a:rPr sz="2100" b="0">
                <a:solidFill>
                  <a:srgbClr val="222222"/>
                </a:solidFill>
                <a:latin typeface="Calibri"/>
              </a:rPr>
              <a:t>5.  Type  lockaddr 00:11:22:33:44:55  and try to connect anything.</a:t>
            </a:r>
          </a:p>
          <a:p>
            <a:pPr algn="l">
              <a:lnSpc>
                <a:spcPct val="100000"/>
              </a:lnSpc>
              <a:spcAft>
                <a:spcPts val="800"/>
              </a:spcAft>
              <a:defRPr sz="2100" b="0">
                <a:solidFill>
                  <a:srgbClr val="222222"/>
                </a:solidFill>
                <a:latin typeface="Calibri"/>
              </a:defRPr>
            </a:pPr>
            <a:r>
              <a:rPr sz="2100" b="0">
                <a:solidFill>
                  <a:srgbClr val="222222"/>
                </a:solidFill>
                <a:latin typeface="Calibri"/>
              </a:rPr>
              <a:t>6.  Type  whoami. Compare with what a Bluetooth scanner app on your phone shows for this board.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Where does this sketch keep its locked address, and what happens to it at the next reset?</a:t>
            </a:r>
          </a:p>
          <a:p>
            <a:pPr algn="l">
              <a:lnSpc>
                <a:spcPct val="100000"/>
              </a:lnSpc>
              <a:spcAft>
                <a:spcPts val="300"/>
              </a:spcAft>
              <a:defRPr sz="2200" b="0">
                <a:solidFill>
                  <a:srgbClr val="222222"/>
                </a:solidFill>
                <a:latin typeface="Calibri"/>
              </a:defRPr>
            </a:pPr>
            <a:r>
              <a:rPr sz="2200" b="0">
                <a:solidFill>
                  <a:srgbClr val="222222"/>
                </a:solidFill>
                <a:latin typeface="Calibri"/>
              </a:rPr>
              <a:t>Why does the sketch call applyAllowlist() AFTER BP32.setup()?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EEPROM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70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Locking a board</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EEPROM</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Three consequences:</a:t>
            </a:r>
          </a:p>
          <a:p>
            <a:pPr lvl="1" algn="l">
              <a:lnSpc>
                <a:spcPct val="100000"/>
              </a:lnSpc>
              <a:spcAft>
                <a:spcPts val="500"/>
              </a:spcAft>
              <a:defRPr sz="1800" b="0">
                <a:solidFill>
                  <a:srgbClr val="222222"/>
                </a:solidFill>
                <a:latin typeface="Calibri"/>
              </a:defRPr>
            </a:pPr>
            <a:r>
              <a:rPr sz="1800" b="0">
                <a:solidFill>
                  <a:srgbClr val="222222"/>
                </a:solidFill>
                <a:latin typeface="Calibri"/>
              </a:rPr>
              <a:t>EEPROM.begin(size) must come first, before any get or put.</a:t>
            </a:r>
          </a:p>
          <a:p>
            <a:pPr lvl="1" algn="l">
              <a:lnSpc>
                <a:spcPct val="100000"/>
              </a:lnSpc>
              <a:spcAft>
                <a:spcPts val="500"/>
              </a:spcAft>
              <a:defRPr sz="1800" b="0">
                <a:solidFill>
                  <a:srgbClr val="222222"/>
                </a:solidFill>
                <a:latin typeface="Calibri"/>
              </a:defRPr>
            </a:pPr>
            <a:r>
              <a:rPr sz="1800" b="0">
                <a:solidFill>
                  <a:srgbClr val="222222"/>
                </a:solidFill>
                <a:latin typeface="Calibri"/>
              </a:rPr>
              <a:t>Nothing is stored until EEPROM.commit(). Forgetting it is the single most common cause of "my settings did not save".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Three consequences  (cont.)</a:t>
            </a:r>
          </a:p>
          <a:p>
            <a:pPr lvl="1" algn="l">
              <a:lnSpc>
                <a:spcPct val="100000"/>
              </a:lnSpc>
              <a:spcAft>
                <a:spcPts val="900"/>
              </a:spcAft>
              <a:defRPr sz="1800" b="0">
                <a:solidFill>
                  <a:srgbClr val="222222"/>
                </a:solidFill>
                <a:latin typeface="Calibri"/>
              </a:defRPr>
            </a:pPr>
            <a:r>
              <a:rPr sz="1800" b="0">
                <a:solidFill>
                  <a:srgbClr val="222222"/>
                </a:solidFill>
                <a:latin typeface="Calibri"/>
              </a:rPr>
              <a:t>Flash WEARS OUT - roughly a hundred thousand erase cycles per sector. Plenty for saving when a human asks. Nowhere near enough to commit() inside loop().</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Never write on a schedule. Write when something actually changed, and only when a person asked for it.</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A commit() in loop() at 30 Hz burns through a hundred thousand cycles in under an hour.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Config.h</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222222"/>
                </a:solidFill>
                <a:latin typeface="Consolas"/>
              </a:rPr>
              <a:t>const int ADDR_DEADZONE       =  0;   // int,   4 bytes</a:t>
            </a:r>
          </a:p>
          <a:p>
            <a:pPr algn="l">
              <a:lnSpc>
                <a:spcPct val="100000"/>
              </a:lnSpc>
              <a:spcAft>
                <a:spcPts val="0"/>
              </a:spcAft>
              <a:defRPr sz="1450">
                <a:latin typeface="Consolas"/>
              </a:defRPr>
            </a:pPr>
            <a:r>
              <a:rPr sz="1450">
                <a:solidFill>
                  <a:srgbClr val="222222"/>
                </a:solidFill>
                <a:latin typeface="Consolas"/>
              </a:rPr>
              <a:t>const int ADDR_DEADZONE_LS_X  =  4;</a:t>
            </a:r>
          </a:p>
          <a:p>
            <a:pPr algn="l">
              <a:lnSpc>
                <a:spcPct val="100000"/>
              </a:lnSpc>
              <a:spcAft>
                <a:spcPts val="0"/>
              </a:spcAft>
              <a:defRPr sz="1450">
                <a:latin typeface="Consolas"/>
              </a:defRPr>
            </a:pPr>
            <a:r>
              <a:rPr sz="1450">
                <a:solidFill>
                  <a:srgbClr val="222222"/>
                </a:solidFill>
                <a:latin typeface="Consolas"/>
              </a:rPr>
              <a:t>const int ADDR_DEADZONE_LS_Y  =  8;</a:t>
            </a:r>
          </a:p>
          <a:p>
            <a:pPr algn="l">
              <a:lnSpc>
                <a:spcPct val="100000"/>
              </a:lnSpc>
              <a:spcAft>
                <a:spcPts val="0"/>
              </a:spcAft>
              <a:defRPr sz="1450">
                <a:latin typeface="Consolas"/>
              </a:defRPr>
            </a:pPr>
            <a:r>
              <a:rPr sz="1450">
                <a:solidFill>
                  <a:srgbClr val="222222"/>
                </a:solidFill>
                <a:latin typeface="Consolas"/>
              </a:rPr>
              <a:t>const int ADDR_DEADZONE_RS_X  = 12;</a:t>
            </a:r>
          </a:p>
          <a:p>
            <a:pPr algn="l">
              <a:lnSpc>
                <a:spcPct val="100000"/>
              </a:lnSpc>
              <a:spcAft>
                <a:spcPts val="0"/>
              </a:spcAft>
              <a:defRPr sz="1450">
                <a:latin typeface="Consolas"/>
              </a:defRPr>
            </a:pPr>
            <a:r>
              <a:rPr sz="1450">
                <a:solidFill>
                  <a:srgbClr val="222222"/>
                </a:solidFill>
                <a:latin typeface="Consolas"/>
              </a:rPr>
              <a:t>const int ADDR_DEADZONE_RS_Y  = 16;</a:t>
            </a:r>
          </a:p>
          <a:p>
            <a:pPr algn="l">
              <a:lnSpc>
                <a:spcPct val="100000"/>
              </a:lnSpc>
              <a:spcAft>
                <a:spcPts val="0"/>
              </a:spcAft>
              <a:defRPr sz="1450">
                <a:latin typeface="Consolas"/>
              </a:defRPr>
            </a:pPr>
            <a:r>
              <a:rPr sz="1450">
                <a:solidFill>
                  <a:srgbClr val="222222"/>
                </a:solidFill>
                <a:latin typeface="Consolas"/>
              </a:rPr>
              <a:t>const int ADDR_LS_Y_SC        = 20;   // float, 4 bytes</a:t>
            </a:r>
          </a:p>
          <a:p>
            <a:pPr algn="l">
              <a:lnSpc>
                <a:spcPct val="100000"/>
              </a:lnSpc>
              <a:spcAft>
                <a:spcPts val="0"/>
              </a:spcAft>
              <a:defRPr sz="1450">
                <a:latin typeface="Consolas"/>
              </a:defRPr>
            </a:pPr>
            <a:r>
              <a:rPr sz="1450">
                <a:solidFill>
                  <a:srgbClr val="222222"/>
                </a:solidFill>
                <a:latin typeface="Consolas"/>
              </a:rPr>
              <a:t>const int ADDR_LS_X_SC        = 24;</a:t>
            </a:r>
          </a:p>
          <a:p>
            <a:pPr algn="l">
              <a:lnSpc>
                <a:spcPct val="100000"/>
              </a:lnSpc>
              <a:spcAft>
                <a:spcPts val="0"/>
              </a:spcAft>
              <a:defRPr sz="1450">
                <a:latin typeface="Consolas"/>
              </a:defRPr>
            </a:pPr>
            <a:r>
              <a:rPr sz="1450">
                <a:solidFill>
                  <a:srgbClr val="222222"/>
                </a:solidFill>
                <a:latin typeface="Consolas"/>
              </a:rPr>
              <a:t>const int ADDR_RS_Y_SC        = 28;</a:t>
            </a:r>
          </a:p>
          <a:p>
            <a:pPr algn="l">
              <a:lnSpc>
                <a:spcPct val="100000"/>
              </a:lnSpc>
              <a:spcAft>
                <a:spcPts val="0"/>
              </a:spcAft>
              <a:defRPr sz="1450">
                <a:latin typeface="Consolas"/>
              </a:defRPr>
            </a:pPr>
            <a:r>
              <a:rPr sz="1450">
                <a:solidFill>
                  <a:srgbClr val="222222"/>
                </a:solidFill>
                <a:latin typeface="Consolas"/>
              </a:rPr>
              <a:t>const int ADDR_RS_X_SC        = 32;</a:t>
            </a:r>
          </a:p>
          <a:p>
            <a:pPr algn="l">
              <a:lnSpc>
                <a:spcPct val="100000"/>
              </a:lnSpc>
              <a:spcAft>
                <a:spcPts val="0"/>
              </a:spcAft>
              <a:defRPr sz="1450">
                <a:latin typeface="Consolas"/>
              </a:defRPr>
            </a:pPr>
            <a:r>
              <a:rPr sz="1450" b="1">
                <a:solidFill>
                  <a:srgbClr val="0E7C86"/>
                </a:solidFill>
                <a:latin typeface="Consolas"/>
              </a:rPr>
              <a:t>const int ADDR_PAIRED_VALID   = 36;   // 1 byte:  0xA5 when valid</a:t>
            </a:r>
          </a:p>
          <a:p>
            <a:pPr algn="l">
              <a:lnSpc>
                <a:spcPct val="100000"/>
              </a:lnSpc>
              <a:spcAft>
                <a:spcPts val="0"/>
              </a:spcAft>
              <a:defRPr sz="1450">
                <a:latin typeface="Consolas"/>
              </a:defRPr>
            </a:pPr>
            <a:r>
              <a:rPr sz="1450" b="1">
                <a:solidFill>
                  <a:srgbClr val="0E7C86"/>
                </a:solidFill>
                <a:latin typeface="Consolas"/>
              </a:rPr>
              <a:t>const int ADDR_PAIRED_ADDR    = 37;   // 6 bytes: the address</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EEPROM is a flat array of bytes. YOU choose where each value lives, and nothing stops two values overlapping.</a:t>
            </a:r>
          </a:p>
          <a:p>
            <a:pPr algn="l">
              <a:lnSpc>
                <a:spcPct val="100000"/>
              </a:lnSpc>
              <a:spcAft>
                <a:spcPts val="700"/>
              </a:spcAft>
              <a:defRPr sz="1900" b="0">
                <a:solidFill>
                  <a:srgbClr val="222222"/>
                </a:solidFill>
                <a:latin typeface="Calibri"/>
              </a:defRPr>
            </a:pPr>
            <a:r>
              <a:rPr sz="1900" b="0">
                <a:solidFill>
                  <a:srgbClr val="222222"/>
                </a:solidFill>
                <a:latin typeface="Calibri"/>
              </a:rPr>
              <a:t>An int is 4 bytes and a float is 4 bytes on this chip, so each slot gets 4.</a:t>
            </a:r>
          </a:p>
          <a:p>
            <a:pPr algn="l">
              <a:lnSpc>
                <a:spcPct val="100000"/>
              </a:lnSpc>
              <a:spcAft>
                <a:spcPts val="700"/>
              </a:spcAft>
              <a:defRPr sz="1900" b="0">
                <a:solidFill>
                  <a:srgbClr val="222222"/>
                </a:solidFill>
                <a:latin typeface="Calibri"/>
              </a:defRPr>
            </a:pPr>
            <a:r>
              <a:rPr sz="1900" b="0">
                <a:solidFill>
                  <a:srgbClr val="222222"/>
                </a:solidFill>
                <a:latin typeface="Calibri"/>
              </a:rPr>
              <a:t>Laying them out as one ADDR_ constant per value, in one place, is what makes an overlap visible when you read the file.</a:t>
            </a:r>
          </a:p>
          <a:p>
            <a:pPr algn="l">
              <a:lnSpc>
                <a:spcPct val="100000"/>
              </a:lnSpc>
              <a:spcAft>
                <a:spcPts val="700"/>
              </a:spcAft>
              <a:defRPr sz="1900" b="0">
                <a:solidFill>
                  <a:srgbClr val="222222"/>
                </a:solidFill>
                <a:latin typeface="Calibri"/>
              </a:defRPr>
            </a:pPr>
            <a:r>
              <a:rPr sz="1900" b="0">
                <a:solidFill>
                  <a:srgbClr val="222222"/>
                </a:solidFill>
                <a:latin typeface="Calibri"/>
              </a:rPr>
              <a:t>Get this wrong and one setting silently corrupts another. It will look like a hardware fault.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brand new ESP32 has flash full of 0xFF. Read an int out of that and you get -1. Read a float and you get something meaningless.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But that is not enough on its own. Even WITH the marker, every value is range checked as it loads:</a:t>
            </a:r>
          </a:p>
          <a:p>
            <a:pPr lvl="1" algn="l">
              <a:lnSpc>
                <a:spcPct val="100000"/>
              </a:lnSpc>
              <a:spcAft>
                <a:spcPts val="900"/>
              </a:spcAft>
              <a:defRPr sz="1800" b="0">
                <a:solidFill>
                  <a:srgbClr val="222222"/>
                </a:solidFill>
                <a:latin typeface="Calibri"/>
              </a:defRPr>
            </a:pPr>
            <a:r>
              <a:rPr sz="1800" b="0">
                <a:solidFill>
                  <a:srgbClr val="222222"/>
                </a:solidFill>
                <a:latin typeface="Calibri"/>
              </a:rPr>
              <a:t>if (saved_dz &gt;= 0 &amp;&amp; saved_dz &lt;= DEADZONE_MAX)  INPUT_DEADZONE = saved_dz;</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set deadzone 100,  save. Now UNPLUG the board and plug it back in. Type  show.</a:t>
            </a:r>
          </a:p>
          <a:p>
            <a:pPr algn="l">
              <a:lnSpc>
                <a:spcPct val="100000"/>
              </a:lnSpc>
              <a:spcAft>
                <a:spcPts val="800"/>
              </a:spcAft>
              <a:defRPr sz="1800" b="0">
                <a:solidFill>
                  <a:srgbClr val="222222"/>
                </a:solidFill>
                <a:latin typeface="Calibri"/>
              </a:defRPr>
            </a:pPr>
            <a:r>
              <a:rPr sz="1800" b="0">
                <a:solidFill>
                  <a:srgbClr val="222222"/>
                </a:solidFill>
                <a:latin typeface="Calibri"/>
              </a:rPr>
              <a:t>2.  set deadzone 200  and do NOT save. Reset the board. What happened, and why?</a:t>
            </a:r>
          </a:p>
          <a:p>
            <a:pPr algn="l">
              <a:lnSpc>
                <a:spcPct val="100000"/>
              </a:lnSpc>
              <a:spcAft>
                <a:spcPts val="800"/>
              </a:spcAft>
              <a:defRPr sz="1800" b="0">
                <a:solidFill>
                  <a:srgbClr val="222222"/>
                </a:solidFill>
                <a:latin typeface="Calibri"/>
              </a:defRPr>
            </a:pPr>
            <a:r>
              <a:rPr sz="1800" b="0">
                <a:solidFill>
                  <a:srgbClr val="222222"/>
                </a:solidFill>
                <a:latin typeface="Calibri"/>
              </a:rPr>
              <a:t>3.  erase, then reset. Where did the values come from this time?</a:t>
            </a:r>
          </a:p>
          <a:p>
            <a:pPr algn="l">
              <a:lnSpc>
                <a:spcPct val="100000"/>
              </a:lnSpc>
              <a:spcAft>
                <a:spcPts val="800"/>
              </a:spcAft>
              <a:defRPr sz="1800" b="0">
                <a:solidFill>
                  <a:srgbClr val="222222"/>
                </a:solidFill>
                <a:latin typeface="Calibri"/>
              </a:defRPr>
            </a:pPr>
            <a:r>
              <a:rPr sz="1800" b="0">
                <a:solidFill>
                  <a:srgbClr val="222222"/>
                </a:solidFill>
                <a:latin typeface="Calibri"/>
              </a:rPr>
              <a:t>4.  dump  before and after a save. Find the magic byte.</a:t>
            </a:r>
          </a:p>
          <a:p>
            <a:pPr algn="l">
              <a:lnSpc>
                <a:spcPct val="100000"/>
              </a:lnSpc>
              <a:spcAft>
                <a:spcPts val="800"/>
              </a:spcAft>
              <a:defRPr sz="1800" b="0">
                <a:solidFill>
                  <a:srgbClr val="222222"/>
                </a:solidFill>
                <a:latin typeface="Calibri"/>
              </a:defRPr>
            </a:pPr>
            <a:r>
              <a:rPr sz="1800" b="0">
                <a:solidFill>
                  <a:srgbClr val="222222"/>
                </a:solidFill>
                <a:latin typeface="Calibri"/>
              </a:rPr>
              <a:t>5.  Comment out the EEPROM.commit() in saveSettings. Save, reset, and see the bug you will one day write for real.</a:t>
            </a:r>
          </a:p>
          <a:p>
            <a:pPr algn="l">
              <a:lnSpc>
                <a:spcPct val="100000"/>
              </a:lnSpc>
              <a:spcAft>
                <a:spcPts val="800"/>
              </a:spcAft>
              <a:defRPr sz="1800" b="0">
                <a:solidFill>
                  <a:srgbClr val="222222"/>
                </a:solidFill>
                <a:latin typeface="Calibri"/>
              </a:defRPr>
            </a:pPr>
            <a:r>
              <a:rPr sz="1800" b="0">
                <a:solidFill>
                  <a:srgbClr val="222222"/>
                </a:solidFill>
                <a:latin typeface="Calibri"/>
              </a:rPr>
              <a:t>6.  Deliberately overlap two ADDR_ constants and watch one setting eat the other.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Step 1: the value is still 100 after a power cycle. Step 2: it is back to 100, not 200.</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What is at address 0 in the dump, and what does it mean?</a:t>
            </a:r>
          </a:p>
          <a:p>
            <a:pPr algn="l">
              <a:lnSpc>
                <a:spcPct val="100000"/>
              </a:lnSpc>
              <a:spcAft>
                <a:spcPts val="300"/>
              </a:spcAft>
              <a:defRPr sz="2400" b="0">
                <a:solidFill>
                  <a:srgbClr val="222222"/>
                </a:solidFill>
                <a:latin typeface="Calibri"/>
              </a:defRPr>
            </a:pPr>
            <a:r>
              <a:rPr sz="2400" b="0">
                <a:solidFill>
                  <a:srgbClr val="222222"/>
                </a:solidFill>
                <a:latin typeface="Calibri"/>
              </a:rPr>
              <a:t>Why is range checking needed even when the magic byte is correct?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3238500"/>
        </p:xfrm>
        <a:graphic>
          <a:graphicData uri="http://schemas.openxmlformats.org/drawingml/2006/table">
            <a:tbl>
              <a:tblPr firstRow="1" bandRow="1">
                <a:tableStyleId>{5C22544A-7EE6-4342-B048-85BDC9FD1C3A}</a:tableStyleId>
              </a:tblPr>
              <a:tblGrid>
                <a:gridCol w="3733800"/>
                <a:gridCol w="4112530"/>
                <a:gridCol w="3339524"/>
              </a:tblGrid>
              <a:tr h="647700">
                <a:tc>
                  <a:txBody>
                    <a:bodyPr/>
                    <a:lstStyle/>
                    <a:p>
                      <a:r>
                        <a:rPr sz="2000" b="1">
                          <a:solidFill>
                            <a:srgbClr val="FFFFFF"/>
                          </a:solidFill>
                          <a:latin typeface="Calibri"/>
                        </a:rPr>
                        <a:t>Program</a:t>
                      </a:r>
                    </a:p>
                  </a:txBody>
                  <a:tcPr marL="73152" marT="18288" marB="18288">
                    <a:solidFill>
                      <a:srgbClr val="1F3A5F"/>
                    </a:solidFill>
                  </a:tcPr>
                </a:tc>
                <a:tc>
                  <a:txBody>
                    <a:bodyPr/>
                    <a:lstStyle/>
                    <a:p>
                      <a:r>
                        <a:rPr sz="2000" b="1">
                          <a:solidFill>
                            <a:srgbClr val="FFFFFF"/>
                          </a:solidFill>
                          <a:latin typeface="Calibri"/>
                        </a:rPr>
                        <a:t>Where the address lives</a:t>
                      </a:r>
                    </a:p>
                  </a:txBody>
                  <a:tcPr marL="73152" marT="18288" marB="18288">
                    <a:solidFill>
                      <a:srgbClr val="1F3A5F"/>
                    </a:solidFill>
                  </a:tcPr>
                </a:tc>
                <a:tc>
                  <a:txBody>
                    <a:bodyPr/>
                    <a:lstStyle/>
                    <a:p>
                      <a:r>
                        <a:rPr sz="2000" b="1">
                          <a:solidFill>
                            <a:srgbClr val="FFFFFF"/>
                          </a:solidFill>
                          <a:latin typeface="Calibri"/>
                        </a:rPr>
                        <a:t>What that costs you</a:t>
                      </a:r>
                    </a:p>
                  </a:txBody>
                  <a:tcPr marL="73152" marT="18288" marB="18288">
                    <a:solidFill>
                      <a:srgbClr val="1F3A5F"/>
                    </a:solidFill>
                  </a:tcPr>
                </a:tc>
              </a:tr>
              <a:tr h="647700">
                <a:tc>
                  <a:txBody>
                    <a:bodyPr/>
                    <a:lstStyle/>
                    <a:p>
                      <a:r>
                        <a:rPr sz="2000">
                          <a:solidFill>
                            <a:srgbClr val="222222"/>
                          </a:solidFill>
                          <a:latin typeface="Consolas"/>
                        </a:rPr>
                        <a:t>pathfinder_ps3</a:t>
                      </a:r>
                    </a:p>
                  </a:txBody>
                  <a:tcPr marL="73152" marT="18288" marB="18288">
                    <a:solidFill>
                      <a:srgbClr val="FFFFFF"/>
                    </a:solidFill>
                  </a:tcPr>
                </a:tc>
                <a:tc>
                  <a:txBody>
                    <a:bodyPr/>
                    <a:lstStyle/>
                    <a:p>
                      <a:r>
                        <a:rPr sz="2000">
                          <a:solidFill>
                            <a:srgbClr val="222222"/>
                          </a:solidFill>
                          <a:latin typeface="Calibri"/>
                        </a:rPr>
                        <a:t>In the CONTROLLER, written by SixaxisPairTool</a:t>
                      </a:r>
                    </a:p>
                  </a:txBody>
                  <a:tcPr marL="73152" marT="18288" marB="18288">
                    <a:solidFill>
                      <a:srgbClr val="FFFFFF"/>
                    </a:solidFill>
                  </a:tcPr>
                </a:tc>
                <a:tc>
                  <a:txBody>
                    <a:bodyPr/>
                    <a:lstStyle/>
                    <a:p>
                      <a:r>
                        <a:rPr sz="2000">
                          <a:solidFill>
                            <a:srgbClr val="222222"/>
                          </a:solidFill>
                          <a:latin typeface="Calibri"/>
                        </a:rPr>
                        <a:t>Needs a Windows PC and a cable to change</a:t>
                      </a:r>
                    </a:p>
                  </a:txBody>
                  <a:tcPr marL="73152" marT="18288" marB="18288">
                    <a:solidFill>
                      <a:srgbClr val="FFFFFF"/>
                    </a:solidFill>
                  </a:tcPr>
                </a:tc>
              </a:tr>
              <a:tr h="647700">
                <a:tc>
                  <a:txBody>
                    <a:bodyPr/>
                    <a:lstStyle/>
                    <a:p>
                      <a:r>
                        <a:rPr sz="2000">
                          <a:solidFill>
                            <a:srgbClr val="222222"/>
                          </a:solidFill>
                          <a:latin typeface="Consolas"/>
                        </a:rPr>
                        <a:t>pathfinder_nintendoswitch</a:t>
                      </a:r>
                    </a:p>
                  </a:txBody>
                  <a:tcPr marL="73152" marT="18288" marB="18288">
                    <a:solidFill>
                      <a:srgbClr val="EEF3F8"/>
                    </a:solidFill>
                  </a:tcPr>
                </a:tc>
                <a:tc>
                  <a:txBody>
                    <a:bodyPr/>
                    <a:lstStyle/>
                    <a:p>
                      <a:r>
                        <a:rPr sz="2000">
                          <a:solidFill>
                            <a:srgbClr val="222222"/>
                          </a:solidFill>
                          <a:latin typeface="Calibri"/>
                        </a:rPr>
                        <a:t>A constant in the source, MY_CONTROLLER</a:t>
                      </a:r>
                    </a:p>
                  </a:txBody>
                  <a:tcPr marL="73152" marT="18288" marB="18288">
                    <a:solidFill>
                      <a:srgbClr val="EEF3F8"/>
                    </a:solidFill>
                  </a:tcPr>
                </a:tc>
                <a:tc>
                  <a:txBody>
                    <a:bodyPr/>
                    <a:lstStyle/>
                    <a:p>
                      <a:r>
                        <a:rPr sz="2000">
                          <a:solidFill>
                            <a:srgbClr val="222222"/>
                          </a:solidFill>
                          <a:latin typeface="Calibri"/>
                        </a:rPr>
                        <a:t>Recompile to change it</a:t>
                      </a:r>
                    </a:p>
                  </a:txBody>
                  <a:tcPr marL="73152" marT="18288" marB="18288">
                    <a:solidFill>
                      <a:srgbClr val="EEF3F8"/>
                    </a:solidFill>
                  </a:tcPr>
                </a:tc>
              </a:tr>
              <a:tr h="647700">
                <a:tc>
                  <a:txBody>
                    <a:bodyPr/>
                    <a:lstStyle/>
                    <a:p>
                      <a:r>
                        <a:rPr sz="2000">
                          <a:solidFill>
                            <a:srgbClr val="222222"/>
                          </a:solidFill>
                          <a:latin typeface="Consolas"/>
                        </a:rPr>
                        <a:t>a3a_controller_address</a:t>
                      </a:r>
                    </a:p>
                  </a:txBody>
                  <a:tcPr marL="73152" marT="18288" marB="18288">
                    <a:solidFill>
                      <a:srgbClr val="FFFFFF"/>
                    </a:solidFill>
                  </a:tcPr>
                </a:tc>
                <a:tc>
                  <a:txBody>
                    <a:bodyPr/>
                    <a:lstStyle/>
                    <a:p>
                      <a:r>
                        <a:rPr sz="2000">
                          <a:solidFill>
                            <a:srgbClr val="222222"/>
                          </a:solidFill>
                          <a:latin typeface="Calibri"/>
                        </a:rPr>
                        <a:t>RAM only</a:t>
                      </a:r>
                    </a:p>
                  </a:txBody>
                  <a:tcPr marL="73152" marT="18288" marB="18288">
                    <a:solidFill>
                      <a:srgbClr val="FFFFFF"/>
                    </a:solidFill>
                  </a:tcPr>
                </a:tc>
                <a:tc>
                  <a:txBody>
                    <a:bodyPr/>
                    <a:lstStyle/>
                    <a:p>
                      <a:r>
                        <a:rPr sz="2000">
                          <a:solidFill>
                            <a:srgbClr val="222222"/>
                          </a:solidFill>
                          <a:latin typeface="Calibri"/>
                        </a:rPr>
                        <a:t>Gone at the next reset - fine for a demonstration</a:t>
                      </a:r>
                    </a:p>
                  </a:txBody>
                  <a:tcPr marL="73152" marT="18288" marB="18288">
                    <a:solidFill>
                      <a:srgbClr val="FFFFFF"/>
                    </a:solidFill>
                  </a:tcPr>
                </a:tc>
              </a:tr>
              <a:tr h="647700">
                <a:tc>
                  <a:txBody>
                    <a:bodyPr/>
                    <a:lstStyle/>
                    <a:p>
                      <a:r>
                        <a:rPr sz="2000">
                          <a:solidFill>
                            <a:srgbClr val="222222"/>
                          </a:solidFill>
                          <a:latin typeface="Consolas"/>
                        </a:rPr>
                        <a:t>Pathfinder_Op_Program12</a:t>
                      </a:r>
                    </a:p>
                  </a:txBody>
                  <a:tcPr marL="73152" marT="18288" marB="18288">
                    <a:solidFill>
                      <a:srgbClr val="EEF3F8"/>
                    </a:solidFill>
                  </a:tcPr>
                </a:tc>
                <a:tc>
                  <a:txBody>
                    <a:bodyPr/>
                    <a:lstStyle/>
                    <a:p>
                      <a:r>
                        <a:rPr sz="2000">
                          <a:solidFill>
                            <a:srgbClr val="222222"/>
                          </a:solidFill>
                          <a:latin typeface="Calibri"/>
                        </a:rPr>
                        <a:t>EEPROM, written the first time it pairs</a:t>
                      </a:r>
                    </a:p>
                  </a:txBody>
                  <a:tcPr marL="73152" marT="18288" marB="18288">
                    <a:solidFill>
                      <a:srgbClr val="EEF3F8"/>
                    </a:solidFill>
                  </a:tcPr>
                </a:tc>
                <a:tc>
                  <a:txBody>
                    <a:bodyPr/>
                    <a:lstStyle/>
                    <a:p>
                      <a:r>
                        <a:rPr sz="200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Bluetooth.ino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50">
                <a:latin typeface="Consolas"/>
              </a:defRPr>
            </a:pPr>
            <a:r>
              <a:rPr sz="1550">
                <a:solidFill>
                  <a:srgbClr val="666666"/>
                </a:solidFill>
                <a:latin typeface="Consolas"/>
              </a:rPr>
              <a:t>// Two ways in, both do the same thing:</a:t>
            </a:r>
          </a:p>
          <a:p>
            <a:pPr algn="l">
              <a:lnSpc>
                <a:spcPct val="100000"/>
              </a:lnSpc>
              <a:spcAft>
                <a:spcPts val="0"/>
              </a:spcAft>
              <a:defRPr sz="1550">
                <a:latin typeface="Consolas"/>
              </a:defRPr>
            </a:pPr>
            <a:r>
              <a:rPr sz="1550">
                <a:solidFill>
                  <a:srgbClr val="666666"/>
                </a:solidFill>
                <a:latin typeface="Consolas"/>
              </a:rPr>
              <a:t>//   - press the BOOT button (GPIO 0, reads LOW when pressed)</a:t>
            </a:r>
          </a:p>
          <a:p>
            <a:pPr algn="l">
              <a:lnSpc>
                <a:spcPct val="100000"/>
              </a:lnSpc>
              <a:spcAft>
                <a:spcPts val="0"/>
              </a:spcAft>
              <a:defRPr sz="1550">
                <a:latin typeface="Consolas"/>
              </a:defRPr>
            </a:pPr>
            <a:r>
              <a:rPr sz="1550">
                <a:solidFill>
                  <a:srgbClr val="666666"/>
                </a:solidFill>
                <a:latin typeface="Consolas"/>
              </a:rPr>
              <a:t>//   - type 'pair' on the serial console</a:t>
            </a:r>
          </a:p>
          <a:p>
            <a:pPr algn="l">
              <a:lnSpc>
                <a:spcPct val="100000"/>
              </a:lnSpc>
              <a:spcAft>
                <a:spcPts val="0"/>
              </a:spcAft>
              <a:defRPr sz="1550">
                <a:latin typeface="Consolas"/>
              </a:defRPr>
            </a:pPr>
            <a:r>
              <a:rPr sz="1550">
                <a:solidFill>
                  <a:srgbClr val="222222"/>
                </a:solidFill>
                <a:latin typeface="Consolas"/>
              </a:rPr>
              <a:t> </a:t>
            </a:r>
          </a:p>
          <a:p>
            <a:pPr algn="l">
              <a:lnSpc>
                <a:spcPct val="100000"/>
              </a:lnSpc>
              <a:spcAft>
                <a:spcPts val="0"/>
              </a:spcAft>
              <a:defRPr sz="1550">
                <a:latin typeface="Consolas"/>
              </a:defRPr>
            </a:pPr>
            <a:r>
              <a:rPr sz="1550">
                <a:solidFill>
                  <a:srgbClr val="222222"/>
                </a:solidFill>
                <a:latin typeface="Consolas"/>
              </a:rPr>
              <a:t>void enterPairingMode() {</a:t>
            </a:r>
          </a:p>
          <a:p>
            <a:pPr algn="l">
              <a:lnSpc>
                <a:spcPct val="100000"/>
              </a:lnSpc>
              <a:spcAft>
                <a:spcPts val="0"/>
              </a:spcAft>
              <a:defRPr sz="1550">
                <a:latin typeface="Consolas"/>
              </a:defRPr>
            </a:pPr>
            <a:r>
              <a:rPr sz="1550">
                <a:solidFill>
                  <a:srgbClr val="666666"/>
                </a:solidFill>
                <a:latin typeface="Consolas"/>
              </a:rPr>
              <a:t>  // drop whatever is connected</a:t>
            </a:r>
          </a:p>
          <a:p>
            <a:pPr algn="l">
              <a:lnSpc>
                <a:spcPct val="100000"/>
              </a:lnSpc>
              <a:spcAft>
                <a:spcPts val="0"/>
              </a:spcAft>
              <a:defRPr sz="1550">
                <a:latin typeface="Consolas"/>
              </a:defRPr>
            </a:pPr>
            <a:r>
              <a:rPr sz="1550">
                <a:solidFill>
                  <a:srgbClr val="222222"/>
                </a:solidFill>
                <a:latin typeface="Consolas"/>
              </a:rPr>
              <a:t>  BP32.forgetBluetoothKeys();</a:t>
            </a:r>
          </a:p>
          <a:p>
            <a:pPr algn="l">
              <a:lnSpc>
                <a:spcPct val="100000"/>
              </a:lnSpc>
              <a:spcAft>
                <a:spcPts val="0"/>
              </a:spcAft>
              <a:defRPr sz="1550">
                <a:latin typeface="Consolas"/>
              </a:defRPr>
            </a:pPr>
            <a:r>
              <a:rPr sz="1550">
                <a:solidFill>
                  <a:srgbClr val="222222"/>
                </a:solidFill>
                <a:latin typeface="Consolas"/>
              </a:rPr>
              <a:t>  clearPairedAddress();          // clears the EEPROM marker</a:t>
            </a:r>
          </a:p>
          <a:p>
            <a:pPr algn="l">
              <a:lnSpc>
                <a:spcPct val="100000"/>
              </a:lnSpc>
              <a:spcAft>
                <a:spcPts val="0"/>
              </a:spcAft>
              <a:defRPr sz="1550">
                <a:latin typeface="Consolas"/>
              </a:defRPr>
            </a:pPr>
            <a:r>
              <a:rPr sz="1550">
                <a:solidFill>
                  <a:srgbClr val="222222"/>
                </a:solidFill>
                <a:latin typeface="Consolas"/>
              </a:rPr>
              <a:t>  applyAllowlist();              // now empty, so disabled</a:t>
            </a:r>
          </a:p>
          <a:p>
            <a:pPr algn="l">
              <a:lnSpc>
                <a:spcPct val="100000"/>
              </a:lnSpc>
              <a:spcAft>
                <a:spcPts val="0"/>
              </a:spcAft>
              <a:defRPr sz="1550">
                <a:latin typeface="Consolas"/>
              </a:defRPr>
            </a:pPr>
            <a:r>
              <a:rPr sz="1550">
                <a:solidFill>
                  <a:srgbClr val="222222"/>
                </a:solidFill>
                <a:latin typeface="Consolas"/>
              </a:rPr>
              <a:t>  BP32.enableNewBluetoothConnections(true);</a:t>
            </a:r>
          </a:p>
          <a:p>
            <a:pPr algn="l">
              <a:lnSpc>
                <a:spcPct val="100000"/>
              </a:lnSpc>
              <a:spcAft>
                <a:spcPts val="0"/>
              </a:spcAft>
              <a:defRPr sz="1550">
                <a:latin typeface="Consolas"/>
              </a:defRPr>
            </a:pPr>
            <a:r>
              <a:rPr sz="1550">
                <a:solidFill>
                  <a:srgbClr val="222222"/>
                </a:solidFill>
                <a:latin typeface="Consolas"/>
              </a:rPr>
              <a:t>  led_mode = PAIRING;            // LEDs breathe blue</a:t>
            </a:r>
          </a:p>
          <a:p>
            <a:pPr algn="l">
              <a:lnSpc>
                <a:spcPct val="100000"/>
              </a:lnSpc>
              <a:spcAft>
                <a:spcPts val="0"/>
              </a:spcAft>
              <a:defRPr sz="1550">
                <a:latin typeface="Consolas"/>
              </a:defRPr>
            </a:pPr>
            <a:r>
              <a:rPr sz="1550">
                <a:solidFill>
                  <a:srgbClr val="222222"/>
                </a:solidFill>
                <a:latin typeface="Consolas"/>
              </a:rPr>
              <a:t>}</a:t>
            </a:r>
          </a:p>
          <a:p>
            <a:pPr algn="l">
              <a:lnSpc>
                <a:spcPct val="100000"/>
              </a:lnSpc>
              <a:spcAft>
                <a:spcPts val="0"/>
              </a:spcAft>
              <a:defRPr sz="1550">
                <a:latin typeface="Consolas"/>
              </a:defRPr>
            </a:pPr>
            <a:r>
              <a:rPr sz="1550" b="1">
                <a:solidFill>
                  <a:srgbClr val="0E7C86"/>
                </a:solidFill>
                <a:latin typeface="Consolas"/>
              </a:rPr>
              <a:t> </a:t>
            </a:r>
          </a:p>
          <a:p>
            <a:pPr algn="l">
              <a:lnSpc>
                <a:spcPct val="100000"/>
              </a:lnSpc>
              <a:spcAft>
                <a:spcPts val="0"/>
              </a:spcAft>
              <a:defRPr sz="1550">
                <a:latin typeface="Consolas"/>
              </a:defRPr>
            </a:pPr>
            <a:r>
              <a:rPr sz="1550" b="1">
                <a:solidFill>
                  <a:srgbClr val="0E7C86"/>
                </a:solidFill>
                <a:latin typeface="Consolas"/>
              </a:rPr>
              <a:t>// Then, in the connect callback:</a:t>
            </a:r>
          </a:p>
          <a:p>
            <a:pPr algn="l">
              <a:lnSpc>
                <a:spcPct val="100000"/>
              </a:lnSpc>
              <a:spcAft>
                <a:spcPts val="0"/>
              </a:spcAft>
              <a:defRPr sz="1550">
                <a:latin typeface="Consolas"/>
              </a:defRPr>
            </a:pPr>
            <a:r>
              <a:rPr sz="1550" b="1">
                <a:solidFill>
                  <a:srgbClr val="0E7C86"/>
                </a:solidFill>
                <a:latin typeface="Consolas"/>
              </a:rPr>
              <a:t>if (!paired_addr_valid) {</a:t>
            </a:r>
          </a:p>
          <a:p>
            <a:pPr algn="l">
              <a:lnSpc>
                <a:spcPct val="100000"/>
              </a:lnSpc>
              <a:spcAft>
                <a:spcPts val="0"/>
              </a:spcAft>
              <a:defRPr sz="1550">
                <a:latin typeface="Consolas"/>
              </a:defRPr>
            </a:pPr>
            <a:r>
              <a:rPr sz="1550">
                <a:solidFill>
                  <a:srgbClr val="222222"/>
                </a:solidFill>
                <a:latin typeface="Consolas"/>
              </a:rPr>
              <a:t>  savePairedAddress(props.btaddr);   // straight to EEPROM</a:t>
            </a:r>
          </a:p>
          <a:p>
            <a:pPr algn="l">
              <a:lnSpc>
                <a:spcPct val="100000"/>
              </a:lnSpc>
              <a:spcAft>
                <a:spcPts val="0"/>
              </a:spcAft>
              <a:defRPr sz="1550">
                <a:latin typeface="Consolas"/>
              </a:defRPr>
            </a:pPr>
            <a:r>
              <a:rPr sz="1550">
                <a:solidFill>
                  <a:srgbClr val="222222"/>
                </a:solidFill>
                <a:latin typeface="Consolas"/>
              </a:rPr>
              <a:t>  applyAllowlist();                  // rebuild, now enabled</a:t>
            </a:r>
          </a:p>
          <a:p>
            <a:pPr algn="l">
              <a:lnSpc>
                <a:spcPct val="100000"/>
              </a:lnSpc>
              <a:spcAft>
                <a:spcPts val="0"/>
              </a:spcAft>
              <a:defRPr sz="1550">
                <a:latin typeface="Consolas"/>
              </a:defRPr>
            </a:pPr>
            <a:r>
              <a:rPr sz="15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first controller to connect during pairing becomes this vehicle's own, and is written down immediately.</a:t>
            </a:r>
          </a:p>
          <a:p>
            <a:pPr algn="l">
              <a:lnSpc>
                <a:spcPct val="100000"/>
              </a:lnSpc>
              <a:spcAft>
                <a:spcPts val="700"/>
              </a:spcAft>
              <a:defRPr sz="1800" b="0">
                <a:solidFill>
                  <a:srgbClr val="222222"/>
                </a:solidFill>
                <a:latin typeface="Calibri"/>
              </a:defRPr>
            </a:pPr>
            <a:r>
              <a:rPr sz="1800" b="0">
                <a:solidFill>
                  <a:srgbClr val="222222"/>
                </a:solidFill>
                <a:latin typeface="Calibri"/>
              </a:rPr>
              <a:t>applyAllowlist() is called again straight away, so the window where anything can connect closes the moment it is filled.</a:t>
            </a:r>
          </a:p>
          <a:p>
            <a:pPr algn="l">
              <a:lnSpc>
                <a:spcPct val="100000"/>
              </a:lnSpc>
              <a:spcAft>
                <a:spcPts val="700"/>
              </a:spcAft>
              <a:defRPr sz="1800" b="0">
                <a:solidFill>
                  <a:srgbClr val="222222"/>
                </a:solidFill>
                <a:latin typeface="Calibri"/>
              </a:defRPr>
            </a:pPr>
            <a:r>
              <a:rPr sz="1800" b="0">
                <a:solidFill>
                  <a:srgbClr val="222222"/>
                </a:solidFill>
                <a:latin typeface="Calibri"/>
              </a:rPr>
              <a:t>forget  reopens it deliberately.</a:t>
            </a:r>
          </a:p>
          <a:p>
            <a:pPr algn="l">
              <a:lnSpc>
                <a:spcPct val="100000"/>
              </a:lnSpc>
              <a:spcAft>
                <a:spcPts val="700"/>
              </a:spcAft>
              <a:defRPr sz="1800" b="0">
                <a:solidFill>
                  <a:srgbClr val="222222"/>
                </a:solidFill>
                <a:latin typeface="Calibri"/>
              </a:defRPr>
            </a:pPr>
            <a:r>
              <a:rPr sz="18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btaddr is a uint8_t[6], already in PRINTED order. Byte 0 prints first.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Op 11.2 printed it by counting DOWN from byte 5 to byte 0. So the address it showed you was the reverse of the real one.</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The symptom: you write down the address it printed, paste it into another program, and nothing ever connects. Everything looks correct. The address is simply backwards.</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lessons:</a:t>
            </a:r>
          </a:p>
          <a:p>
            <a:pPr lvl="1" algn="l">
              <a:lnSpc>
                <a:spcPct val="100000"/>
              </a:lnSpc>
              <a:spcAft>
                <a:spcPts val="900"/>
              </a:spcAft>
              <a:defRPr sz="1800" b="0">
                <a:solidFill>
                  <a:srgbClr val="222222"/>
                </a:solidFill>
                <a:latin typeface="Calibri"/>
              </a:defRPr>
            </a:pPr>
            <a:r>
              <a:rPr sz="1800" b="0">
                <a:solidFill>
                  <a:srgbClr val="222222"/>
                </a:solidFill>
                <a:latin typeface="Calibri"/>
              </a:rPr>
              <a:t>When an address will not work, print it at BOTH ends and compare them character by character.</a:t>
            </a:r>
          </a:p>
          <a:p>
            <a:pPr lvl="1" algn="l">
              <a:lnSpc>
                <a:spcPct val="100000"/>
              </a:lnSpc>
              <a:spcAft>
                <a:spcPts val="900"/>
              </a:spcAft>
              <a:defRPr sz="1800" b="0">
                <a:solidFill>
                  <a:srgbClr val="222222"/>
                </a:solidFill>
                <a:latin typeface="Calibri"/>
              </a:defRPr>
            </a:pPr>
            <a:r>
              <a:rPr sz="1800" b="0">
                <a:solidFill>
                  <a:srgbClr val="222222"/>
                </a:solidFill>
                <a:latin typeface="Calibri"/>
              </a:rPr>
              <a:t>Byte order is a real category of bug. It is why network protocols specify it explicitly, and why the phrase big-endian exists.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What is a callback, and who calls it?</a:t>
            </a:r>
          </a:p>
          <a:p>
            <a:pPr algn="l">
              <a:lnSpc>
                <a:spcPct val="100000"/>
              </a:lnSpc>
              <a:spcAft>
                <a:spcPts val="1100"/>
              </a:spcAft>
              <a:defRPr sz="2100" b="0">
                <a:solidFill>
                  <a:srgbClr val="222222"/>
                </a:solidFill>
                <a:latin typeface="Calibri"/>
              </a:defRPr>
            </a:pPr>
            <a:r>
              <a:rPr sz="2100" b="0">
                <a:solidFill>
                  <a:srgbClr val="222222"/>
                </a:solidFill>
                <a:latin typeface="Calibri"/>
              </a:rPr>
              <a:t>2.  Why must the allowlist calls come after BP32.setup()?</a:t>
            </a:r>
          </a:p>
          <a:p>
            <a:pPr algn="l">
              <a:lnSpc>
                <a:spcPct val="100000"/>
              </a:lnSpc>
              <a:spcAft>
                <a:spcPts val="1100"/>
              </a:spcAft>
              <a:defRPr sz="2100" b="0">
                <a:solidFill>
                  <a:srgbClr val="222222"/>
                </a:solidFill>
                <a:latin typeface="Calibri"/>
              </a:defRPr>
            </a:pPr>
            <a:r>
              <a:rPr sz="2100" b="0">
                <a:solidFill>
                  <a:srgbClr val="222222"/>
                </a:solidFill>
                <a:latin typeface="Calibri"/>
              </a:rPr>
              <a:t>3.  Why rebuild the allowlist every boot instead of adding to it?</a:t>
            </a:r>
          </a:p>
          <a:p>
            <a:pPr algn="l">
              <a:lnSpc>
                <a:spcPct val="100000"/>
              </a:lnSpc>
              <a:spcAft>
                <a:spcPts val="1100"/>
              </a:spcAft>
              <a:defRPr sz="2100" b="0">
                <a:solidFill>
                  <a:srgbClr val="222222"/>
                </a:solidFill>
                <a:latin typeface="Calibri"/>
              </a:defRPr>
            </a:pPr>
            <a:r>
              <a:rPr sz="2100" b="0">
                <a:solidFill>
                  <a:srgbClr val="222222"/>
                </a:solidFill>
                <a:latin typeface="Calibri"/>
              </a:rPr>
              <a:t>4.  Why does Op 12 leave new Bluetooth connections enabled?</a:t>
            </a:r>
          </a:p>
          <a:p>
            <a:pPr algn="l">
              <a:lnSpc>
                <a:spcPct val="100000"/>
              </a:lnSpc>
              <a:spcAft>
                <a:spcPts val="1100"/>
              </a:spcAft>
              <a:defRPr sz="2100" b="0">
                <a:solidFill>
                  <a:srgbClr val="222222"/>
                </a:solidFill>
                <a:latin typeface="Calibri"/>
              </a:defRPr>
            </a:pPr>
            <a:r>
              <a:rPr sz="2100" b="0">
                <a:solidFill>
                  <a:srgbClr val="222222"/>
                </a:solidFill>
                <a:latin typeface="Calibri"/>
              </a:rPr>
              <a:t>5.  What actually happens when you call EEPROM.put()? When does the flash get written?</a:t>
            </a:r>
          </a:p>
          <a:p>
            <a:pPr algn="l">
              <a:lnSpc>
                <a:spcPct val="100000"/>
              </a:lnSpc>
              <a:spcAft>
                <a:spcPts val="1100"/>
              </a:spcAft>
              <a:defRPr sz="2100" b="0">
                <a:solidFill>
                  <a:srgbClr val="222222"/>
                </a:solidFill>
                <a:latin typeface="Calibri"/>
              </a:defRPr>
            </a:pPr>
            <a:r>
              <a:rPr sz="2100" b="0">
                <a:solidFill>
                  <a:srgbClr val="222222"/>
                </a:solidFill>
                <a:latin typeface="Calibri"/>
              </a:rPr>
              <a:t>6.  Why must you never call EEPROM.commit() from loop()?</a:t>
            </a:r>
          </a:p>
          <a:p>
            <a:pPr algn="l">
              <a:lnSpc>
                <a:spcPct val="100000"/>
              </a:lnSpc>
              <a:spcAft>
                <a:spcPts val="1100"/>
              </a:spcAft>
              <a:defRPr sz="2100" b="0">
                <a:solidFill>
                  <a:srgbClr val="222222"/>
                </a:solidFill>
                <a:latin typeface="Calibri"/>
              </a:defRPr>
            </a:pPr>
            <a:r>
              <a:rPr sz="2100" b="0">
                <a:solidFill>
                  <a:srgbClr val="222222"/>
                </a:solidFill>
                <a:latin typeface="Calibri"/>
              </a:rPr>
              <a:t>7.  What is the magic byte for, and why is it not sufficient on its own?</a:t>
            </a:r>
          </a:p>
          <a:p>
            <a:pPr algn="l">
              <a:lnSpc>
                <a:spcPct val="100000"/>
              </a:lnSpc>
              <a:spcAft>
                <a:spcPts val="1100"/>
              </a:spcAft>
              <a:defRPr sz="2100" b="0">
                <a:solidFill>
                  <a:srgbClr val="222222"/>
                </a:solidFill>
                <a:latin typeface="Calibri"/>
              </a:defRPr>
            </a:pPr>
            <a:r>
              <a:rPr sz="21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