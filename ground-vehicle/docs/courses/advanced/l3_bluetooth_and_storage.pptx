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4" name="TextBox 3"/>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5" name="TextBox 4"/>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6" name="TextBox 5"/>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Bring two controllers per group if you can.</a:t>
            </a:r>
          </a:p>
        </p:txBody>
      </p:sp>
      <p:pic>
        <p:nvPicPr>
          <p:cNvPr id="7" name="Picture 6" descr="control-board-bare.jpg"/>
          <p:cNvPicPr>
            <a:picLocks noChangeAspect="1"/>
          </p:cNvPicPr>
          <p:nvPr/>
        </p:nvPicPr>
        <p:blipFill>
          <a:blip r:embed="rId2"/>
          <a:stretch>
            <a:fillRect/>
          </a:stretch>
        </p:blipFill>
        <p:spPr>
          <a:xfrm>
            <a:off x="7223760" y="1371600"/>
            <a:ext cx="4480560" cy="4480560"/>
          </a:xfrm>
          <a:prstGeom prst="rect">
            <a:avLst/>
          </a:prstGeom>
        </p:spPr>
      </p:pic>
      <p:sp>
        <p:nvSpPr>
          <p:cNvPr id="8" name="TextBox 7"/>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Bluepad32, callbacks, and who calls whom</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The allowlist, and the order the calls must go in</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a3a_controller_address. Lock and unlock a board</a:t>
                      </a:r>
                    </a:p>
                  </a:txBody>
                  <a:tcPr marL="73152" marT="18288" marB="18288">
                    <a:solidFill>
                      <a:srgbClr val="FFFFFF"/>
                    </a:solidFill>
                  </a:tcPr>
                </a:tc>
              </a:tr>
              <a:tr h="298450">
                <a:tc>
                  <a:txBody>
                    <a:bodyPr/>
                    <a:lstStyle/>
                    <a:p>
                      <a:r>
                        <a:rPr sz="1400">
                          <a:solidFill>
                            <a:srgbClr val="222222"/>
                          </a:solidFill>
                          <a:latin typeface="Calibri"/>
                        </a:rPr>
                        <a:t>1:25</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1:35</a:t>
                      </a:r>
                    </a:p>
                  </a:txBody>
                  <a:tcPr marL="73152" marT="18288" marB="18288">
                    <a:solidFill>
                      <a:srgbClr val="FFFFFF"/>
                    </a:solidFill>
                  </a:tcPr>
                </a:tc>
                <a:tc>
                  <a:txBody>
                    <a:bodyPr/>
                    <a:lstStyle/>
                    <a:p>
                      <a:r>
                        <a:rPr sz="1400">
                          <a:solidFill>
                            <a:srgbClr val="222222"/>
                          </a:solidFill>
                          <a:latin typeface="Calibri"/>
                        </a:rPr>
                        <a:t>There is no EEPROM on an ESP32</a:t>
                      </a:r>
                    </a:p>
                  </a:txBody>
                  <a:tcPr marL="73152" marT="18288" marB="18288">
                    <a:solidFill>
                      <a:srgbClr val="FFFFFF"/>
                    </a:solidFill>
                  </a:tcPr>
                </a:tc>
              </a:tr>
              <a:tr h="298450">
                <a:tc>
                  <a:txBody>
                    <a:bodyPr/>
                    <a:lstStyle/>
                    <a:p>
                      <a:r>
                        <a:rPr sz="1400">
                          <a:solidFill>
                            <a:srgbClr val="222222"/>
                          </a:solidFill>
                          <a:latin typeface="Calibri"/>
                        </a:rPr>
                        <a:t>2:00</a:t>
                      </a:r>
                    </a:p>
                  </a:txBody>
                  <a:tcPr marL="73152" marT="18288" marB="18288">
                    <a:solidFill>
                      <a:srgbClr val="EEF3F8"/>
                    </a:solidFill>
                  </a:tcPr>
                </a:tc>
                <a:tc>
                  <a:txBody>
                    <a:bodyPr/>
                    <a:lstStyle/>
                    <a:p>
                      <a:r>
                        <a:rPr sz="1400">
                          <a:solidFill>
                            <a:srgbClr val="222222"/>
                          </a:solidFill>
                          <a:latin typeface="Calibri"/>
                        </a:rPr>
                        <a:t>Magic bytes, storage maps, and never trusting storage</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Upload a3b_eeprom_settings. Pull the cable out</a:t>
                      </a:r>
                    </a:p>
                  </a:txBody>
                  <a:tcPr marL="73152" marT="18288" marB="18288">
                    <a:solidFill>
                      <a:srgbClr val="FFFFFF"/>
                    </a:solidFill>
                  </a:tcPr>
                </a:tc>
              </a:tr>
              <a:tr h="298450">
                <a:tc>
                  <a:txBody>
                    <a:bodyPr/>
                    <a:lstStyle/>
                    <a:p>
                      <a:r>
                        <a:rPr sz="1400">
                          <a:solidFill>
                            <a:srgbClr val="222222"/>
                          </a:solidFill>
                          <a:latin typeface="Calibri"/>
                        </a:rPr>
                        <a:t>2:45</a:t>
                      </a:r>
                    </a:p>
                  </a:txBody>
                  <a:tcPr marL="73152" marT="18288" marB="18288">
                    <a:solidFill>
                      <a:srgbClr val="EEF3F8"/>
                    </a:solidFill>
                  </a:tcPr>
                </a:tc>
                <a:tc>
                  <a:txBody>
                    <a:bodyPr/>
                    <a:lstStyle/>
                    <a:p>
                      <a:r>
                        <a:rPr sz="1400">
                          <a:solidFill>
                            <a:srgbClr val="222222"/>
                          </a:solidFill>
                          <a:latin typeface="Calibri"/>
                        </a:rPr>
                        <a:t>The full pairing workflow in Op 12</a:t>
                      </a:r>
                    </a:p>
                  </a:txBody>
                  <a:tcPr marL="73152" marT="18288" marB="18288">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lvl="1" algn="l">
              <a:lnSpc>
                <a:spcPct val="100000"/>
              </a:lnSpc>
              <a:spcAft>
                <a:spcPts val="600"/>
              </a:spcAft>
              <a:defRPr sz="1500" b="0">
                <a:solidFill>
                  <a:srgbClr val="222222"/>
                </a:solidFill>
                <a:latin typeface="Calibri"/>
              </a:defRPr>
            </a:pPr>
            <a:r>
              <a:rPr sz="1500" b="0">
                <a:solidFill>
                  <a:srgbClr val="222222"/>
                </a:solidFill>
                <a:latin typeface="Calibri"/>
              </a:rPr>
              <a:t>BP32.setup(&amp;onConnectedController, &amp;onDisconnectedController);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You hand Bluepad32 the ADDRESSES of two of your functions. It calls them when something happens. You never call them yourself.</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That inversion is worth naming. Normally your code calls a library. With a callback, the library calls your code. It is how every event system works, from button handlers to network stacks.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practical question is always: WHEN does it run, and what is safe to do in there?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Here, both callbacks run from inside BP32.update(), which you call yourself from loop(). So they run on your thread, at a moment you chose, and it is safe to print and to touch program state.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If they ran from an interrupt, neither of those would be true.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connects to whichever host answers first. Pairing alone does not give you one-vehicle-one-controller.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allowlist is a guest list checked BEFORE a connection is accepted:</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MISTAKE ONE: calling them before BP32.setup(). Setup is what brings the Bluetooth stack up. Before that there is no list to add to, and the calls do nothing at all - silently.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MISTAKE TWO: adding to the list instead of rebuilding it. Rebuild from scratch every boot and the sketch is always the single source of truth. Add, and stale entries accumulate where nobody can see them.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Note that enableNewBluetoothConnections stays TRUE. The allowlist keeps other people out; leaving new connections on means your own pad can always get back in even if the bonding keys are lost.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11.2 added addresses at runtime only. If those entries did not survive a reboot, a vehicle could come back up with an empty allowlist AND new connections disabled - and then refuse its own controller with no way 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The allowlist starts OFF. Connect a controller.</a:t>
            </a:r>
          </a:p>
          <a:p>
            <a:pPr algn="l">
              <a:lnSpc>
                <a:spcPct val="100000"/>
              </a:lnSpc>
              <a:spcAft>
                <a:spcPts val="800"/>
              </a:spcAft>
              <a:defRPr sz="1600" b="0">
                <a:solidFill>
                  <a:srgbClr val="222222"/>
                </a:solidFill>
                <a:latin typeface="Calibri"/>
              </a:defRPr>
            </a:pPr>
            <a:r>
              <a:rPr sz="1600" b="0">
                <a:solidFill>
                  <a:srgbClr val="222222"/>
                </a:solidFill>
                <a:latin typeface="Calibri"/>
              </a:rPr>
              <a:t>2.  Type  lock. Disconnect, and connect a DIFFERENT controller.</a:t>
            </a:r>
          </a:p>
          <a:p>
            <a:pPr algn="l">
              <a:lnSpc>
                <a:spcPct val="100000"/>
              </a:lnSpc>
              <a:spcAft>
                <a:spcPts val="800"/>
              </a:spcAft>
              <a:defRPr sz="1600" b="0">
                <a:solidFill>
                  <a:srgbClr val="222222"/>
                </a:solidFill>
                <a:latin typeface="Calibri"/>
              </a:defRPr>
            </a:pPr>
            <a:r>
              <a:rPr sz="1600" b="0">
                <a:solidFill>
                  <a:srgbClr val="222222"/>
                </a:solidFill>
                <a:latin typeface="Calibri"/>
              </a:rPr>
              <a:t>3.  Watch the refusal in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4.  Type  open  and try the second one again.</a:t>
            </a:r>
          </a:p>
          <a:p>
            <a:pPr algn="l">
              <a:lnSpc>
                <a:spcPct val="100000"/>
              </a:lnSpc>
              <a:spcAft>
                <a:spcPts val="800"/>
              </a:spcAft>
              <a:defRPr sz="1600" b="0">
                <a:solidFill>
                  <a:srgbClr val="222222"/>
                </a:solidFill>
                <a:latin typeface="Calibri"/>
              </a:defRPr>
            </a:pPr>
            <a:r>
              <a:rPr sz="1600" b="0">
                <a:solidFill>
                  <a:srgbClr val="222222"/>
                </a:solidFill>
                <a:latin typeface="Calibri"/>
              </a:rPr>
              <a:t>5.  Type  lockaddr 00:11:22:33:44:55  and try to connect anything.</a:t>
            </a:r>
          </a:p>
          <a:p>
            <a:pPr algn="l">
              <a:lnSpc>
                <a:spcPct val="100000"/>
              </a:lnSpc>
              <a:spcAft>
                <a:spcPts val="800"/>
              </a:spcAft>
              <a:defRPr sz="1600" b="0">
                <a:solidFill>
                  <a:srgbClr val="222222"/>
                </a:solidFill>
                <a:latin typeface="Calibri"/>
              </a:defRPr>
            </a:pPr>
            <a:r>
              <a:rPr sz="1600" b="0">
                <a:solidFill>
                  <a:srgbClr val="222222"/>
                </a:solidFill>
                <a:latin typeface="Calibri"/>
              </a:rPr>
              <a:t>6.  Type  whoami. Compare with what a Bluetooth scanner app on your phone shows for this board.</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Where does this sketch keep its locked address, and what happens to it at the next reset?</a:t>
            </a:r>
          </a:p>
          <a:p>
            <a:pPr algn="l">
              <a:lnSpc>
                <a:spcPct val="100000"/>
              </a:lnSpc>
              <a:spcAft>
                <a:spcPts val="600"/>
              </a:spcAft>
              <a:defRPr sz="1500" b="0">
                <a:solidFill>
                  <a:srgbClr val="222222"/>
                </a:solidFill>
                <a:latin typeface="Calibri"/>
              </a:defRPr>
            </a:pPr>
            <a:r>
              <a:rPr sz="1500" b="0">
                <a:solidFill>
                  <a:srgbClr val="222222"/>
                </a:solidFill>
                <a:latin typeface="Calibri"/>
              </a:rPr>
              <a:t>Why does the sketch call applyAllowlist() AFTER BP32.setup()?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Three consequences:</a:t>
            </a:r>
          </a:p>
          <a:p>
            <a:pPr lvl="1" algn="l">
              <a:lnSpc>
                <a:spcPct val="100000"/>
              </a:lnSpc>
              <a:spcAft>
                <a:spcPts val="600"/>
              </a:spcAft>
              <a:defRPr sz="1500" b="0">
                <a:solidFill>
                  <a:srgbClr val="222222"/>
                </a:solidFill>
                <a:latin typeface="Calibri"/>
              </a:defRPr>
            </a:pPr>
            <a:r>
              <a:rPr sz="1500" b="0">
                <a:solidFill>
                  <a:srgbClr val="222222"/>
                </a:solidFill>
                <a:latin typeface="Calibri"/>
              </a:rPr>
              <a:t>EEPROM.begin(size) must come first, before any get or put.</a:t>
            </a:r>
          </a:p>
          <a:p>
            <a:pPr lvl="1" algn="l">
              <a:lnSpc>
                <a:spcPct val="100000"/>
              </a:lnSpc>
              <a:spcAft>
                <a:spcPts val="600"/>
              </a:spcAft>
              <a:defRPr sz="1500" b="0">
                <a:solidFill>
                  <a:srgbClr val="222222"/>
                </a:solidFill>
                <a:latin typeface="Calibri"/>
              </a:defRPr>
            </a:pPr>
            <a:r>
              <a:rPr sz="1500" b="0">
                <a:solidFill>
                  <a:srgbClr val="222222"/>
                </a:solidFill>
                <a:latin typeface="Calibri"/>
              </a:rPr>
              <a:t>Nothing is stored until EEPROM.commit(). Forgetting it is the single most common cause of "my settings did not save".</a:t>
            </a:r>
          </a:p>
          <a:p>
            <a:pPr lvl="1" algn="l">
              <a:lnSpc>
                <a:spcPct val="100000"/>
              </a:lnSpc>
              <a:spcAft>
                <a:spcPts val="600"/>
              </a:spcAft>
              <a:defRPr sz="1500" b="0">
                <a:solidFill>
                  <a:srgbClr val="222222"/>
                </a:solidFill>
                <a:latin typeface="Calibri"/>
              </a:defRPr>
            </a:pPr>
            <a:r>
              <a:rPr sz="1500" b="0">
                <a:solidFill>
                  <a:srgbClr val="222222"/>
                </a:solidFill>
                <a:latin typeface="Calibri"/>
              </a:rPr>
              <a:t>Flash WEARS OUT - roughly a hundred thousand erase cycles per sector. Plenty for saving when a human asks. Nowhere near enough to commit() inside loop().</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Never write on a schedule. Write when something actually changed, and only when a person asked for it.</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Config.h</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const int ADDR_DEADZONE       =  0;   // int,   4 bytes</a:t>
            </a:r>
          </a:p>
          <a:p>
            <a:pPr algn="l">
              <a:lnSpc>
                <a:spcPct val="100000"/>
              </a:lnSpc>
              <a:spcAft>
                <a:spcPts val="0"/>
              </a:spcAft>
              <a:defRPr sz="1300">
                <a:latin typeface="Consolas"/>
              </a:defRPr>
            </a:pPr>
            <a:r>
              <a:rPr sz="1300">
                <a:solidFill>
                  <a:srgbClr val="222222"/>
                </a:solidFill>
                <a:latin typeface="Consolas"/>
              </a:rPr>
              <a:t>const int ADDR_DEADZONE_LS_X  =  4;</a:t>
            </a:r>
          </a:p>
          <a:p>
            <a:pPr algn="l">
              <a:lnSpc>
                <a:spcPct val="100000"/>
              </a:lnSpc>
              <a:spcAft>
                <a:spcPts val="0"/>
              </a:spcAft>
              <a:defRPr sz="1300">
                <a:latin typeface="Consolas"/>
              </a:defRPr>
            </a:pPr>
            <a:r>
              <a:rPr sz="1300">
                <a:solidFill>
                  <a:srgbClr val="222222"/>
                </a:solidFill>
                <a:latin typeface="Consolas"/>
              </a:rPr>
              <a:t>const int ADDR_DEADZONE_LS_Y  =  8;</a:t>
            </a:r>
          </a:p>
          <a:p>
            <a:pPr algn="l">
              <a:lnSpc>
                <a:spcPct val="100000"/>
              </a:lnSpc>
              <a:spcAft>
                <a:spcPts val="0"/>
              </a:spcAft>
              <a:defRPr sz="1300">
                <a:latin typeface="Consolas"/>
              </a:defRPr>
            </a:pPr>
            <a:r>
              <a:rPr sz="1300">
                <a:solidFill>
                  <a:srgbClr val="222222"/>
                </a:solidFill>
                <a:latin typeface="Consolas"/>
              </a:rPr>
              <a:t>const int ADDR_DEADZONE_RS_X  = 12;</a:t>
            </a:r>
          </a:p>
          <a:p>
            <a:pPr algn="l">
              <a:lnSpc>
                <a:spcPct val="100000"/>
              </a:lnSpc>
              <a:spcAft>
                <a:spcPts val="0"/>
              </a:spcAft>
              <a:defRPr sz="1300">
                <a:latin typeface="Consolas"/>
              </a:defRPr>
            </a:pPr>
            <a:r>
              <a:rPr sz="1300">
                <a:solidFill>
                  <a:srgbClr val="222222"/>
                </a:solidFill>
                <a:latin typeface="Consolas"/>
              </a:rPr>
              <a:t>const int ADDR_DEADZONE_RS_Y  = 16;</a:t>
            </a:r>
          </a:p>
          <a:p>
            <a:pPr algn="l">
              <a:lnSpc>
                <a:spcPct val="100000"/>
              </a:lnSpc>
              <a:spcAft>
                <a:spcPts val="0"/>
              </a:spcAft>
              <a:defRPr sz="1300">
                <a:latin typeface="Consolas"/>
              </a:defRPr>
            </a:pPr>
            <a:r>
              <a:rPr sz="1300">
                <a:solidFill>
                  <a:srgbClr val="222222"/>
                </a:solidFill>
                <a:latin typeface="Consolas"/>
              </a:rPr>
              <a:t>const int ADDR_LS_Y_SC        = 20;   // float, 4 bytes</a:t>
            </a:r>
          </a:p>
          <a:p>
            <a:pPr algn="l">
              <a:lnSpc>
                <a:spcPct val="100000"/>
              </a:lnSpc>
              <a:spcAft>
                <a:spcPts val="0"/>
              </a:spcAft>
              <a:defRPr sz="1300">
                <a:latin typeface="Consolas"/>
              </a:defRPr>
            </a:pPr>
            <a:r>
              <a:rPr sz="1300">
                <a:solidFill>
                  <a:srgbClr val="222222"/>
                </a:solidFill>
                <a:latin typeface="Consolas"/>
              </a:rPr>
              <a:t>const int ADDR_LS_X_SC        = 24;</a:t>
            </a:r>
          </a:p>
          <a:p>
            <a:pPr algn="l">
              <a:lnSpc>
                <a:spcPct val="100000"/>
              </a:lnSpc>
              <a:spcAft>
                <a:spcPts val="0"/>
              </a:spcAft>
              <a:defRPr sz="1300">
                <a:latin typeface="Consolas"/>
              </a:defRPr>
            </a:pPr>
            <a:r>
              <a:rPr sz="1300">
                <a:solidFill>
                  <a:srgbClr val="222222"/>
                </a:solidFill>
                <a:latin typeface="Consolas"/>
              </a:rPr>
              <a:t>const int ADDR_RS_Y_SC        = 28;</a:t>
            </a:r>
          </a:p>
          <a:p>
            <a:pPr algn="l">
              <a:lnSpc>
                <a:spcPct val="100000"/>
              </a:lnSpc>
              <a:spcAft>
                <a:spcPts val="0"/>
              </a:spcAft>
              <a:defRPr sz="1300">
                <a:latin typeface="Consolas"/>
              </a:defRPr>
            </a:pPr>
            <a:r>
              <a:rPr sz="1300">
                <a:solidFill>
                  <a:srgbClr val="222222"/>
                </a:solidFill>
                <a:latin typeface="Consolas"/>
              </a:rPr>
              <a:t>const int ADDR_RS_X_SC        = 32;</a:t>
            </a:r>
          </a:p>
          <a:p>
            <a:pPr algn="l">
              <a:lnSpc>
                <a:spcPct val="100000"/>
              </a:lnSpc>
              <a:spcAft>
                <a:spcPts val="0"/>
              </a:spcAft>
              <a:defRPr sz="1300">
                <a:latin typeface="Consolas"/>
              </a:defRPr>
            </a:pPr>
            <a:r>
              <a:rPr sz="1300" b="1">
                <a:solidFill>
                  <a:srgbClr val="0E7C86"/>
                </a:solidFill>
                <a:latin typeface="Consolas"/>
              </a:rPr>
              <a:t>const int ADDR_PAIRED_VALID   = 36;   // 1 byte:  0xA5 when valid</a:t>
            </a:r>
          </a:p>
          <a:p>
            <a:pPr algn="l">
              <a:lnSpc>
                <a:spcPct val="100000"/>
              </a:lnSpc>
              <a:spcAft>
                <a:spcPts val="0"/>
              </a:spcAft>
              <a:defRPr sz="1300">
                <a:latin typeface="Consolas"/>
              </a:defRPr>
            </a:pPr>
            <a:r>
              <a:rPr sz="1300" b="1">
                <a:solidFill>
                  <a:srgbClr val="0E7C86"/>
                </a:solidFill>
                <a:latin typeface="Consolas"/>
              </a:rPr>
              <a:t>const int ADDR_PAIRED_ADDR    = 37;   // 6 bytes: the address</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EEPROM is a flat array of bytes. YOU choose where each value lives, and nothing stops two values overlapping.</a:t>
            </a:r>
          </a:p>
          <a:p>
            <a:pPr algn="l">
              <a:lnSpc>
                <a:spcPct val="100000"/>
              </a:lnSpc>
              <a:spcAft>
                <a:spcPts val="1100"/>
              </a:spcAft>
              <a:defRPr sz="1500" b="0">
                <a:solidFill>
                  <a:srgbClr val="222222"/>
                </a:solidFill>
                <a:latin typeface="Calibri"/>
              </a:defRPr>
            </a:pPr>
            <a:r>
              <a:rPr sz="1500" b="0">
                <a:solidFill>
                  <a:srgbClr val="222222"/>
                </a:solidFill>
                <a:latin typeface="Calibri"/>
              </a:rPr>
              <a:t>An int is 4 bytes and a float is 4 bytes on this chip, so each slot gets 4.</a:t>
            </a:r>
          </a:p>
          <a:p>
            <a:pPr algn="l">
              <a:lnSpc>
                <a:spcPct val="100000"/>
              </a:lnSpc>
              <a:spcAft>
                <a:spcPts val="1100"/>
              </a:spcAft>
              <a:defRPr sz="1500" b="0">
                <a:solidFill>
                  <a:srgbClr val="222222"/>
                </a:solidFill>
                <a:latin typeface="Calibri"/>
              </a:defRPr>
            </a:pPr>
            <a:r>
              <a:rPr sz="1500" b="0">
                <a:solidFill>
                  <a:srgbClr val="222222"/>
                </a:solidFill>
                <a:latin typeface="Calibri"/>
              </a:rPr>
              <a:t>Laying them out as one ADDR_ constant per value, in one place, is what makes an overlap visible when you read the file.</a:t>
            </a:r>
          </a:p>
          <a:p>
            <a:pPr algn="l">
              <a:lnSpc>
                <a:spcPct val="100000"/>
              </a:lnSpc>
              <a:spcAft>
                <a:spcPts val="1100"/>
              </a:spcAft>
              <a:defRPr sz="1500" b="0">
                <a:solidFill>
                  <a:srgbClr val="222222"/>
                </a:solidFill>
                <a:latin typeface="Calibri"/>
              </a:defRPr>
            </a:pPr>
            <a:r>
              <a:rPr sz="1500" b="0">
                <a:solidFill>
                  <a:srgbClr val="222222"/>
                </a:solidFill>
                <a:latin typeface="Calibri"/>
              </a:rPr>
              <a:t>Get this wrong and one setting silently corrupts another. It will look like a hardware fault.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brand new ESP32 has flash full of 0xFF. Read an int out of that and you get -1. Read a float and you get something meaningless.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But that is not enough on its own. Even WITH the marker, every value is range checked as it loads:</a:t>
            </a:r>
          </a:p>
          <a:p>
            <a:pPr lvl="1" algn="l">
              <a:lnSpc>
                <a:spcPct val="100000"/>
              </a:lnSpc>
              <a:spcAft>
                <a:spcPts val="600"/>
              </a:spcAft>
              <a:defRPr sz="1500" b="0">
                <a:solidFill>
                  <a:srgbClr val="222222"/>
                </a:solidFill>
                <a:latin typeface="Calibri"/>
              </a:defRPr>
            </a:pPr>
            <a:r>
              <a:rPr sz="1500" b="0">
                <a:solidFill>
                  <a:srgbClr val="222222"/>
                </a:solidFill>
                <a:latin typeface="Calibri"/>
              </a:rPr>
              <a:t>if (saved_dz &gt;= 0 &amp;&amp; saved_dz &lt;= DEADZONE_MAX)  INPUT_DEADZONE = saved_dz;</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set deadzone 100,  save. Now UNPLUG the board and plug it back in. Type  show.</a:t>
            </a:r>
          </a:p>
          <a:p>
            <a:pPr algn="l">
              <a:lnSpc>
                <a:spcPct val="100000"/>
              </a:lnSpc>
              <a:spcAft>
                <a:spcPts val="800"/>
              </a:spcAft>
              <a:defRPr sz="1600" b="0">
                <a:solidFill>
                  <a:srgbClr val="222222"/>
                </a:solidFill>
                <a:latin typeface="Calibri"/>
              </a:defRPr>
            </a:pPr>
            <a:r>
              <a:rPr sz="1600" b="0">
                <a:solidFill>
                  <a:srgbClr val="222222"/>
                </a:solidFill>
                <a:latin typeface="Calibri"/>
              </a:rPr>
              <a:t>2.  set deadzone 200  and do NOT save. Reset the board. What happened, and why?</a:t>
            </a:r>
          </a:p>
          <a:p>
            <a:pPr algn="l">
              <a:lnSpc>
                <a:spcPct val="100000"/>
              </a:lnSpc>
              <a:spcAft>
                <a:spcPts val="800"/>
              </a:spcAft>
              <a:defRPr sz="1600" b="0">
                <a:solidFill>
                  <a:srgbClr val="222222"/>
                </a:solidFill>
                <a:latin typeface="Calibri"/>
              </a:defRPr>
            </a:pPr>
            <a:r>
              <a:rPr sz="1600" b="0">
                <a:solidFill>
                  <a:srgbClr val="222222"/>
                </a:solidFill>
                <a:latin typeface="Calibri"/>
              </a:rPr>
              <a:t>3.  erase, then reset. Where did the values come from this time?</a:t>
            </a:r>
          </a:p>
          <a:p>
            <a:pPr algn="l">
              <a:lnSpc>
                <a:spcPct val="100000"/>
              </a:lnSpc>
              <a:spcAft>
                <a:spcPts val="800"/>
              </a:spcAft>
              <a:defRPr sz="1600" b="0">
                <a:solidFill>
                  <a:srgbClr val="222222"/>
                </a:solidFill>
                <a:latin typeface="Calibri"/>
              </a:defRPr>
            </a:pPr>
            <a:r>
              <a:rPr sz="1600" b="0">
                <a:solidFill>
                  <a:srgbClr val="222222"/>
                </a:solidFill>
                <a:latin typeface="Calibri"/>
              </a:rPr>
              <a:t>4.  dump  before and after a save. Find the magic byte.</a:t>
            </a:r>
          </a:p>
          <a:p>
            <a:pPr algn="l">
              <a:lnSpc>
                <a:spcPct val="100000"/>
              </a:lnSpc>
              <a:spcAft>
                <a:spcPts val="800"/>
              </a:spcAft>
              <a:defRPr sz="1600" b="0">
                <a:solidFill>
                  <a:srgbClr val="222222"/>
                </a:solidFill>
                <a:latin typeface="Calibri"/>
              </a:defRPr>
            </a:pPr>
            <a:r>
              <a:rPr sz="1600" b="0">
                <a:solidFill>
                  <a:srgbClr val="222222"/>
                </a:solidFill>
                <a:latin typeface="Calibri"/>
              </a:rPr>
              <a:t>5.  Comment out the EEPROM.commit() in saveSettings. Save, reset, and see the bug you will one day write for real.</a:t>
            </a:r>
          </a:p>
          <a:p>
            <a:pPr algn="l">
              <a:lnSpc>
                <a:spcPct val="100000"/>
              </a:lnSpc>
              <a:spcAft>
                <a:spcPts val="800"/>
              </a:spcAft>
              <a:defRPr sz="1600" b="0">
                <a:solidFill>
                  <a:srgbClr val="222222"/>
                </a:solidFill>
                <a:latin typeface="Calibri"/>
              </a:defRPr>
            </a:pPr>
            <a:r>
              <a:rPr sz="1600" b="0">
                <a:solidFill>
                  <a:srgbClr val="222222"/>
                </a:solidFill>
                <a:latin typeface="Calibri"/>
              </a:rPr>
              <a:t>6.  Deliberately overlap two ADDR_ constants and watch one setting eat the other.</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Step 1: the value is still 100 after a power cycle. Step 2: it is back to 100, not 200.</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is at address 0 in the dump, and what does it mean?</a:t>
            </a:r>
          </a:p>
          <a:p>
            <a:pPr algn="l">
              <a:lnSpc>
                <a:spcPct val="100000"/>
              </a:lnSpc>
              <a:spcAft>
                <a:spcPts val="600"/>
              </a:spcAft>
              <a:defRPr sz="1500" b="0">
                <a:solidFill>
                  <a:srgbClr val="222222"/>
                </a:solidFill>
                <a:latin typeface="Calibri"/>
              </a:defRPr>
            </a:pPr>
            <a:r>
              <a:rPr sz="1500" b="0">
                <a:solidFill>
                  <a:srgbClr val="222222"/>
                </a:solidFill>
                <a:latin typeface="Calibri"/>
              </a:rPr>
              <a:t>Why is range checking needed even when the magic byte is correct?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1619250"/>
        </p:xfrm>
        <a:graphic>
          <a:graphicData uri="http://schemas.openxmlformats.org/drawingml/2006/table">
            <a:tbl>
              <a:tblPr firstRow="1" bandRow="1">
                <a:tableStyleId>{5C22544A-7EE6-4342-B048-85BDC9FD1C3A}</a:tableStyleId>
              </a:tblPr>
              <a:tblGrid>
                <a:gridCol w="3457446"/>
                <a:gridCol w="4270962"/>
                <a:gridCol w="3457446"/>
              </a:tblGrid>
              <a:tr h="323850">
                <a:tc>
                  <a:txBody>
                    <a:bodyPr/>
                    <a:lstStyle/>
                    <a:p>
                      <a:r>
                        <a:rPr sz="1300" b="1">
                          <a:solidFill>
                            <a:srgbClr val="FFFFFF"/>
                          </a:solidFill>
                          <a:latin typeface="Calibri"/>
                        </a:rPr>
                        <a:t>Program</a:t>
                      </a:r>
                    </a:p>
                  </a:txBody>
                  <a:tcPr marL="73152" marT="18288" marB="18288">
                    <a:solidFill>
                      <a:srgbClr val="1F3A5F"/>
                    </a:solidFill>
                  </a:tcPr>
                </a:tc>
                <a:tc>
                  <a:txBody>
                    <a:bodyPr/>
                    <a:lstStyle/>
                    <a:p>
                      <a:r>
                        <a:rPr sz="1300" b="1">
                          <a:solidFill>
                            <a:srgbClr val="FFFFFF"/>
                          </a:solidFill>
                          <a:latin typeface="Calibri"/>
                        </a:rPr>
                        <a:t>Where the address lives</a:t>
                      </a:r>
                    </a:p>
                  </a:txBody>
                  <a:tcPr marL="73152" marT="18288" marB="18288">
                    <a:solidFill>
                      <a:srgbClr val="1F3A5F"/>
                    </a:solidFill>
                  </a:tcPr>
                </a:tc>
                <a:tc>
                  <a:txBody>
                    <a:bodyPr/>
                    <a:lstStyle/>
                    <a:p>
                      <a:r>
                        <a:rPr sz="1300" b="1">
                          <a:solidFill>
                            <a:srgbClr val="FFFFFF"/>
                          </a:solidFill>
                          <a:latin typeface="Calibri"/>
                        </a:rPr>
                        <a:t>What that costs you</a:t>
                      </a:r>
                    </a:p>
                  </a:txBody>
                  <a:tcPr marL="73152" marT="18288" marB="18288">
                    <a:solidFill>
                      <a:srgbClr val="1F3A5F"/>
                    </a:solidFill>
                  </a:tcPr>
                </a:tc>
              </a:tr>
              <a:tr h="323850">
                <a:tc>
                  <a:txBody>
                    <a:bodyPr/>
                    <a:lstStyle/>
                    <a:p>
                      <a:r>
                        <a:rPr sz="1300">
                          <a:solidFill>
                            <a:srgbClr val="222222"/>
                          </a:solidFill>
                          <a:latin typeface="Consolas"/>
                        </a:rPr>
                        <a:t>pathfinder_ps3</a:t>
                      </a:r>
                    </a:p>
                  </a:txBody>
                  <a:tcPr marL="73152" marT="18288" marB="18288">
                    <a:solidFill>
                      <a:srgbClr val="FFFFFF"/>
                    </a:solidFill>
                  </a:tcPr>
                </a:tc>
                <a:tc>
                  <a:txBody>
                    <a:bodyPr/>
                    <a:lstStyle/>
                    <a:p>
                      <a:r>
                        <a:rPr sz="1300">
                          <a:solidFill>
                            <a:srgbClr val="222222"/>
                          </a:solidFill>
                          <a:latin typeface="Calibri"/>
                        </a:rPr>
                        <a:t>In the CONTROLLER, written by SixaxisPairTool</a:t>
                      </a:r>
                    </a:p>
                  </a:txBody>
                  <a:tcPr marL="73152" marT="18288" marB="18288">
                    <a:solidFill>
                      <a:srgbClr val="FFFFFF"/>
                    </a:solidFill>
                  </a:tcPr>
                </a:tc>
                <a:tc>
                  <a:txBody>
                    <a:bodyPr/>
                    <a:lstStyle/>
                    <a:p>
                      <a:r>
                        <a:rPr sz="1300">
                          <a:solidFill>
                            <a:srgbClr val="222222"/>
                          </a:solidFill>
                          <a:latin typeface="Calibri"/>
                        </a:rPr>
                        <a:t>Needs a Windows PC and a cable to change</a:t>
                      </a:r>
                    </a:p>
                  </a:txBody>
                  <a:tcPr marL="73152" marT="18288" marB="18288">
                    <a:solidFill>
                      <a:srgbClr val="FFFFFF"/>
                    </a:solidFill>
                  </a:tcPr>
                </a:tc>
              </a:tr>
              <a:tr h="323850">
                <a:tc>
                  <a:txBody>
                    <a:bodyPr/>
                    <a:lstStyle/>
                    <a:p>
                      <a:r>
                        <a:rPr sz="1300">
                          <a:solidFill>
                            <a:srgbClr val="222222"/>
                          </a:solidFill>
                          <a:latin typeface="Consolas"/>
                        </a:rPr>
                        <a:t>pathfinder_nintendoswitch</a:t>
                      </a:r>
                    </a:p>
                  </a:txBody>
                  <a:tcPr marL="73152" marT="18288" marB="18288">
                    <a:solidFill>
                      <a:srgbClr val="EEF3F8"/>
                    </a:solidFill>
                  </a:tcPr>
                </a:tc>
                <a:tc>
                  <a:txBody>
                    <a:bodyPr/>
                    <a:lstStyle/>
                    <a:p>
                      <a:r>
                        <a:rPr sz="1300">
                          <a:solidFill>
                            <a:srgbClr val="222222"/>
                          </a:solidFill>
                          <a:latin typeface="Calibri"/>
                        </a:rPr>
                        <a:t>A constant in the source, MY_CONTROLLER</a:t>
                      </a:r>
                    </a:p>
                  </a:txBody>
                  <a:tcPr marL="73152" marT="18288" marB="18288">
                    <a:solidFill>
                      <a:srgbClr val="EEF3F8"/>
                    </a:solidFill>
                  </a:tcPr>
                </a:tc>
                <a:tc>
                  <a:txBody>
                    <a:bodyPr/>
                    <a:lstStyle/>
                    <a:p>
                      <a:r>
                        <a:rPr sz="1300">
                          <a:solidFill>
                            <a:srgbClr val="222222"/>
                          </a:solidFill>
                          <a:latin typeface="Calibri"/>
                        </a:rPr>
                        <a:t>Recompile to change it</a:t>
                      </a:r>
                    </a:p>
                  </a:txBody>
                  <a:tcPr marL="73152" marT="18288" marB="18288">
                    <a:solidFill>
                      <a:srgbClr val="EEF3F8"/>
                    </a:solidFill>
                  </a:tcPr>
                </a:tc>
              </a:tr>
              <a:tr h="323850">
                <a:tc>
                  <a:txBody>
                    <a:bodyPr/>
                    <a:lstStyle/>
                    <a:p>
                      <a:r>
                        <a:rPr sz="1300">
                          <a:solidFill>
                            <a:srgbClr val="222222"/>
                          </a:solidFill>
                          <a:latin typeface="Consolas"/>
                        </a:rPr>
                        <a:t>a3a_controller_address</a:t>
                      </a:r>
                    </a:p>
                  </a:txBody>
                  <a:tcPr marL="73152" marT="18288" marB="18288">
                    <a:solidFill>
                      <a:srgbClr val="FFFFFF"/>
                    </a:solidFill>
                  </a:tcPr>
                </a:tc>
                <a:tc>
                  <a:txBody>
                    <a:bodyPr/>
                    <a:lstStyle/>
                    <a:p>
                      <a:r>
                        <a:rPr sz="1300">
                          <a:solidFill>
                            <a:srgbClr val="222222"/>
                          </a:solidFill>
                          <a:latin typeface="Calibri"/>
                        </a:rPr>
                        <a:t>RAM only</a:t>
                      </a:r>
                    </a:p>
                  </a:txBody>
                  <a:tcPr marL="73152" marT="18288" marB="18288">
                    <a:solidFill>
                      <a:srgbClr val="FFFFFF"/>
                    </a:solidFill>
                  </a:tcPr>
                </a:tc>
                <a:tc>
                  <a:txBody>
                    <a:bodyPr/>
                    <a:lstStyle/>
                    <a:p>
                      <a:r>
                        <a:rPr sz="1300">
                          <a:solidFill>
                            <a:srgbClr val="222222"/>
                          </a:solidFill>
                          <a:latin typeface="Calibri"/>
                        </a:rPr>
                        <a:t>Gone at the next reset - fine for a demonstration</a:t>
                      </a:r>
                    </a:p>
                  </a:txBody>
                  <a:tcPr marL="73152" marT="18288" marB="18288">
                    <a:solidFill>
                      <a:srgbClr val="FFFFFF"/>
                    </a:solidFill>
                  </a:tcPr>
                </a:tc>
              </a:tr>
              <a:tr h="323850">
                <a:tc>
                  <a:txBody>
                    <a:bodyPr/>
                    <a:lstStyle/>
                    <a:p>
                      <a:r>
                        <a:rPr sz="1300">
                          <a:solidFill>
                            <a:srgbClr val="222222"/>
                          </a:solidFill>
                          <a:latin typeface="Consolas"/>
                        </a:rPr>
                        <a:t>Pathfinder_Op_Program12</a:t>
                      </a:r>
                    </a:p>
                  </a:txBody>
                  <a:tcPr marL="73152" marT="18288" marB="18288">
                    <a:solidFill>
                      <a:srgbClr val="EEF3F8"/>
                    </a:solidFill>
                  </a:tcPr>
                </a:tc>
                <a:tc>
                  <a:txBody>
                    <a:bodyPr/>
                    <a:lstStyle/>
                    <a:p>
                      <a:r>
                        <a:rPr sz="1300">
                          <a:solidFill>
                            <a:srgbClr val="222222"/>
                          </a:solidFill>
                          <a:latin typeface="Calibri"/>
                        </a:rPr>
                        <a:t>EEPROM, written the first time it pairs</a:t>
                      </a:r>
                    </a:p>
                  </a:txBody>
                  <a:tcPr marL="73152" marT="18288" marB="18288">
                    <a:solidFill>
                      <a:srgbClr val="EEF3F8"/>
                    </a:solidFill>
                  </a:tcPr>
                </a:tc>
                <a:tc>
                  <a:txBody>
                    <a:bodyPr/>
                    <a:lstStyle/>
                    <a:p>
                      <a:r>
                        <a:rPr sz="130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Bluetooth.ino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Two ways in, both do the same thing:</a:t>
            </a:r>
          </a:p>
          <a:p>
            <a:pPr algn="l">
              <a:lnSpc>
                <a:spcPct val="100000"/>
              </a:lnSpc>
              <a:spcAft>
                <a:spcPts val="0"/>
              </a:spcAft>
              <a:defRPr sz="1300">
                <a:latin typeface="Consolas"/>
              </a:defRPr>
            </a:pPr>
            <a:r>
              <a:rPr sz="1300">
                <a:solidFill>
                  <a:srgbClr val="666666"/>
                </a:solidFill>
                <a:latin typeface="Consolas"/>
              </a:rPr>
              <a:t>//   - press the BOOT button (GPIO 0, reads LOW when pressed)</a:t>
            </a:r>
          </a:p>
          <a:p>
            <a:pPr algn="l">
              <a:lnSpc>
                <a:spcPct val="100000"/>
              </a:lnSpc>
              <a:spcAft>
                <a:spcPts val="0"/>
              </a:spcAft>
              <a:defRPr sz="1300">
                <a:latin typeface="Consolas"/>
              </a:defRPr>
            </a:pPr>
            <a:r>
              <a:rPr sz="1300">
                <a:solidFill>
                  <a:srgbClr val="666666"/>
                </a:solidFill>
                <a:latin typeface="Consolas"/>
              </a:rPr>
              <a:t>//   - type 'pair' on the serial console</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void enterPairingMode() {</a:t>
            </a:r>
          </a:p>
          <a:p>
            <a:pPr algn="l">
              <a:lnSpc>
                <a:spcPct val="100000"/>
              </a:lnSpc>
              <a:spcAft>
                <a:spcPts val="0"/>
              </a:spcAft>
              <a:defRPr sz="1300">
                <a:latin typeface="Consolas"/>
              </a:defRPr>
            </a:pPr>
            <a:r>
              <a:rPr sz="1300">
                <a:solidFill>
                  <a:srgbClr val="666666"/>
                </a:solidFill>
                <a:latin typeface="Consolas"/>
              </a:rPr>
              <a:t>  // drop whatever is connected</a:t>
            </a:r>
          </a:p>
          <a:p>
            <a:pPr algn="l">
              <a:lnSpc>
                <a:spcPct val="100000"/>
              </a:lnSpc>
              <a:spcAft>
                <a:spcPts val="0"/>
              </a:spcAft>
              <a:defRPr sz="1300">
                <a:latin typeface="Consolas"/>
              </a:defRPr>
            </a:pPr>
            <a:r>
              <a:rPr sz="1300">
                <a:solidFill>
                  <a:srgbClr val="222222"/>
                </a:solidFill>
                <a:latin typeface="Consolas"/>
              </a:rPr>
              <a:t>  BP32.forgetBluetoothKeys();</a:t>
            </a:r>
          </a:p>
          <a:p>
            <a:pPr algn="l">
              <a:lnSpc>
                <a:spcPct val="100000"/>
              </a:lnSpc>
              <a:spcAft>
                <a:spcPts val="0"/>
              </a:spcAft>
              <a:defRPr sz="1300">
                <a:latin typeface="Consolas"/>
              </a:defRPr>
            </a:pPr>
            <a:r>
              <a:rPr sz="1300">
                <a:solidFill>
                  <a:srgbClr val="222222"/>
                </a:solidFill>
                <a:latin typeface="Consolas"/>
              </a:rPr>
              <a:t>  clearPairedAddress();          // clears the EEPROM marker</a:t>
            </a:r>
          </a:p>
          <a:p>
            <a:pPr algn="l">
              <a:lnSpc>
                <a:spcPct val="100000"/>
              </a:lnSpc>
              <a:spcAft>
                <a:spcPts val="0"/>
              </a:spcAft>
              <a:defRPr sz="1300">
                <a:latin typeface="Consolas"/>
              </a:defRPr>
            </a:pPr>
            <a:r>
              <a:rPr sz="1300">
                <a:solidFill>
                  <a:srgbClr val="222222"/>
                </a:solidFill>
                <a:latin typeface="Consolas"/>
              </a:rPr>
              <a:t>  applyAllowlist();              // now empty, so disabled</a:t>
            </a:r>
          </a:p>
          <a:p>
            <a:pPr algn="l">
              <a:lnSpc>
                <a:spcPct val="100000"/>
              </a:lnSpc>
              <a:spcAft>
                <a:spcPts val="0"/>
              </a:spcAft>
              <a:defRPr sz="1300">
                <a:latin typeface="Consolas"/>
              </a:defRPr>
            </a:pPr>
            <a:r>
              <a:rPr sz="1300">
                <a:solidFill>
                  <a:srgbClr val="222222"/>
                </a:solidFill>
                <a:latin typeface="Consolas"/>
              </a:rPr>
              <a:t>  BP32.enableNewBluetoothConnections(true);</a:t>
            </a:r>
          </a:p>
          <a:p>
            <a:pPr algn="l">
              <a:lnSpc>
                <a:spcPct val="100000"/>
              </a:lnSpc>
              <a:spcAft>
                <a:spcPts val="0"/>
              </a:spcAft>
              <a:defRPr sz="1300">
                <a:latin typeface="Consolas"/>
              </a:defRPr>
            </a:pPr>
            <a:r>
              <a:rPr sz="1300">
                <a:solidFill>
                  <a:srgbClr val="222222"/>
                </a:solidFill>
                <a:latin typeface="Consolas"/>
              </a:rPr>
              <a:t>  led_mode = PAIRING;            // LEDs breathe blue</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b="1">
                <a:solidFill>
                  <a:srgbClr val="0E7C86"/>
                </a:solidFill>
                <a:latin typeface="Consolas"/>
              </a:rPr>
              <a:t> </a:t>
            </a:r>
          </a:p>
          <a:p>
            <a:pPr algn="l">
              <a:lnSpc>
                <a:spcPct val="100000"/>
              </a:lnSpc>
              <a:spcAft>
                <a:spcPts val="0"/>
              </a:spcAft>
              <a:defRPr sz="1300">
                <a:latin typeface="Consolas"/>
              </a:defRPr>
            </a:pPr>
            <a:r>
              <a:rPr sz="1300" b="1">
                <a:solidFill>
                  <a:srgbClr val="0E7C86"/>
                </a:solidFill>
                <a:latin typeface="Consolas"/>
              </a:rPr>
              <a:t>// Then, in the connect callback:</a:t>
            </a:r>
          </a:p>
          <a:p>
            <a:pPr algn="l">
              <a:lnSpc>
                <a:spcPct val="100000"/>
              </a:lnSpc>
              <a:spcAft>
                <a:spcPts val="0"/>
              </a:spcAft>
              <a:defRPr sz="1300">
                <a:latin typeface="Consolas"/>
              </a:defRPr>
            </a:pPr>
            <a:r>
              <a:rPr sz="1300" b="1">
                <a:solidFill>
                  <a:srgbClr val="0E7C86"/>
                </a:solidFill>
                <a:latin typeface="Consolas"/>
              </a:rPr>
              <a:t>if (!paired_addr_valid) {</a:t>
            </a:r>
          </a:p>
          <a:p>
            <a:pPr algn="l">
              <a:lnSpc>
                <a:spcPct val="100000"/>
              </a:lnSpc>
              <a:spcAft>
                <a:spcPts val="0"/>
              </a:spcAft>
              <a:defRPr sz="1300">
                <a:latin typeface="Consolas"/>
              </a:defRPr>
            </a:pPr>
            <a:r>
              <a:rPr sz="1300">
                <a:solidFill>
                  <a:srgbClr val="222222"/>
                </a:solidFill>
                <a:latin typeface="Consolas"/>
              </a:rPr>
              <a:t>  savePairedAddress(props.btaddr);   // straight to EEPROM</a:t>
            </a:r>
          </a:p>
          <a:p>
            <a:pPr algn="l">
              <a:lnSpc>
                <a:spcPct val="100000"/>
              </a:lnSpc>
              <a:spcAft>
                <a:spcPts val="0"/>
              </a:spcAft>
              <a:defRPr sz="1300">
                <a:latin typeface="Consolas"/>
              </a:defRPr>
            </a:pPr>
            <a:r>
              <a:rPr sz="1300">
                <a:solidFill>
                  <a:srgbClr val="222222"/>
                </a:solidFill>
                <a:latin typeface="Consolas"/>
              </a:rPr>
              <a:t>  applyAllowlist();                  // rebuild, now enabled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The first controller to connect during pairing becomes this vehicle's own, and is written down immediately.</a:t>
            </a:r>
          </a:p>
          <a:p>
            <a:pPr algn="l">
              <a:lnSpc>
                <a:spcPct val="100000"/>
              </a:lnSpc>
              <a:spcAft>
                <a:spcPts val="1100"/>
              </a:spcAft>
              <a:defRPr sz="1500" b="0">
                <a:solidFill>
                  <a:srgbClr val="222222"/>
                </a:solidFill>
                <a:latin typeface="Calibri"/>
              </a:defRPr>
            </a:pPr>
            <a:r>
              <a:rPr sz="1500" b="0">
                <a:solidFill>
                  <a:srgbClr val="222222"/>
                </a:solidFill>
                <a:latin typeface="Calibri"/>
              </a:rPr>
              <a:t>applyAllowlist() is called again straight away, so the window where anything can connect closes the moment it is filled.</a:t>
            </a:r>
          </a:p>
          <a:p>
            <a:pPr algn="l">
              <a:lnSpc>
                <a:spcPct val="100000"/>
              </a:lnSpc>
              <a:spcAft>
                <a:spcPts val="1100"/>
              </a:spcAft>
              <a:defRPr sz="1500" b="0">
                <a:solidFill>
                  <a:srgbClr val="222222"/>
                </a:solidFill>
                <a:latin typeface="Calibri"/>
              </a:defRPr>
            </a:pPr>
            <a:r>
              <a:rPr sz="1500" b="0">
                <a:solidFill>
                  <a:srgbClr val="222222"/>
                </a:solidFill>
                <a:latin typeface="Calibri"/>
              </a:rPr>
              <a:t>forget  reopens it deliberately.</a:t>
            </a:r>
          </a:p>
          <a:p>
            <a:pPr algn="l">
              <a:lnSpc>
                <a:spcPct val="100000"/>
              </a:lnSpc>
              <a:spcAft>
                <a:spcPts val="1100"/>
              </a:spcAft>
              <a:defRPr sz="1500" b="0">
                <a:solidFill>
                  <a:srgbClr val="222222"/>
                </a:solidFill>
                <a:latin typeface="Calibri"/>
              </a:defRPr>
            </a:pPr>
            <a:r>
              <a:rPr sz="15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btaddr is a uint8_t[6], already in PRINTED order. Byte 0 prints first.</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Op 11.2 printed it by counting DOWN from byte 5 to byte 0. So the address it showed you was the reverse of the real one.</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The symptom: you write down the address it printed, paste it into another program, and nothing ever connects. Everything looks correct. The address is simply backwards.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Two lessons:</a:t>
            </a:r>
          </a:p>
          <a:p>
            <a:pPr lvl="1" algn="l">
              <a:lnSpc>
                <a:spcPct val="100000"/>
              </a:lnSpc>
              <a:spcAft>
                <a:spcPts val="600"/>
              </a:spcAft>
              <a:defRPr sz="1400" b="0">
                <a:solidFill>
                  <a:srgbClr val="222222"/>
                </a:solidFill>
                <a:latin typeface="Calibri"/>
              </a:defRPr>
            </a:pPr>
            <a:r>
              <a:rPr sz="1400" b="0">
                <a:solidFill>
                  <a:srgbClr val="222222"/>
                </a:solidFill>
                <a:latin typeface="Calibri"/>
              </a:rPr>
              <a:t>When an address will not work, print it at BOTH ends and compare them character by character.</a:t>
            </a:r>
          </a:p>
          <a:p>
            <a:pPr lvl="1" algn="l">
              <a:lnSpc>
                <a:spcPct val="100000"/>
              </a:lnSpc>
              <a:spcAft>
                <a:spcPts val="600"/>
              </a:spcAft>
              <a:defRPr sz="1400" b="0">
                <a:solidFill>
                  <a:srgbClr val="222222"/>
                </a:solidFill>
                <a:latin typeface="Calibri"/>
              </a:defRPr>
            </a:pPr>
            <a:r>
              <a:rPr sz="1400" b="0">
                <a:solidFill>
                  <a:srgbClr val="222222"/>
                </a:solidFill>
                <a:latin typeface="Calibri"/>
              </a:rPr>
              <a:t>Byte order is a real category of bug. It is why network protocols specify it explicitly, and why the phrase big-endian exists.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What is a callback, and who calls it?</a:t>
            </a:r>
          </a:p>
          <a:p>
            <a:pPr algn="l">
              <a:lnSpc>
                <a:spcPct val="100000"/>
              </a:lnSpc>
              <a:spcAft>
                <a:spcPts val="1400"/>
              </a:spcAft>
              <a:defRPr sz="1700" b="0">
                <a:solidFill>
                  <a:srgbClr val="222222"/>
                </a:solidFill>
                <a:latin typeface="Calibri"/>
              </a:defRPr>
            </a:pPr>
            <a:r>
              <a:rPr sz="1700" b="0">
                <a:solidFill>
                  <a:srgbClr val="222222"/>
                </a:solidFill>
                <a:latin typeface="Calibri"/>
              </a:rPr>
              <a:t>2.  Why must the allowlist calls come after BP32.setup()?</a:t>
            </a:r>
          </a:p>
          <a:p>
            <a:pPr algn="l">
              <a:lnSpc>
                <a:spcPct val="100000"/>
              </a:lnSpc>
              <a:spcAft>
                <a:spcPts val="1400"/>
              </a:spcAft>
              <a:defRPr sz="1700" b="0">
                <a:solidFill>
                  <a:srgbClr val="222222"/>
                </a:solidFill>
                <a:latin typeface="Calibri"/>
              </a:defRPr>
            </a:pPr>
            <a:r>
              <a:rPr sz="1700" b="0">
                <a:solidFill>
                  <a:srgbClr val="222222"/>
                </a:solidFill>
                <a:latin typeface="Calibri"/>
              </a:rPr>
              <a:t>3.  Why rebuild the allowlist every boot instead of adding to it?</a:t>
            </a:r>
          </a:p>
          <a:p>
            <a:pPr algn="l">
              <a:lnSpc>
                <a:spcPct val="100000"/>
              </a:lnSpc>
              <a:spcAft>
                <a:spcPts val="1400"/>
              </a:spcAft>
              <a:defRPr sz="1700" b="0">
                <a:solidFill>
                  <a:srgbClr val="222222"/>
                </a:solidFill>
                <a:latin typeface="Calibri"/>
              </a:defRPr>
            </a:pPr>
            <a:r>
              <a:rPr sz="1700" b="0">
                <a:solidFill>
                  <a:srgbClr val="222222"/>
                </a:solidFill>
                <a:latin typeface="Calibri"/>
              </a:rPr>
              <a:t>4.  Why does Op 12 leave new Bluetooth connections enabled?</a:t>
            </a:r>
          </a:p>
          <a:p>
            <a:pPr algn="l">
              <a:lnSpc>
                <a:spcPct val="100000"/>
              </a:lnSpc>
              <a:spcAft>
                <a:spcPts val="1400"/>
              </a:spcAft>
              <a:defRPr sz="1700" b="0">
                <a:solidFill>
                  <a:srgbClr val="222222"/>
                </a:solidFill>
                <a:latin typeface="Calibri"/>
              </a:defRPr>
            </a:pPr>
            <a:r>
              <a:rPr sz="1700" b="0">
                <a:solidFill>
                  <a:srgbClr val="222222"/>
                </a:solidFill>
                <a:latin typeface="Calibri"/>
              </a:rPr>
              <a:t>5.  What actually happens when you call EEPROM.put()? When does the flash get written?</a:t>
            </a:r>
          </a:p>
          <a:p>
            <a:pPr algn="l">
              <a:lnSpc>
                <a:spcPct val="100000"/>
              </a:lnSpc>
              <a:spcAft>
                <a:spcPts val="1400"/>
              </a:spcAft>
              <a:defRPr sz="1700" b="0">
                <a:solidFill>
                  <a:srgbClr val="222222"/>
                </a:solidFill>
                <a:latin typeface="Calibri"/>
              </a:defRPr>
            </a:pPr>
            <a:r>
              <a:rPr sz="1700" b="0">
                <a:solidFill>
                  <a:srgbClr val="222222"/>
                </a:solidFill>
                <a:latin typeface="Calibri"/>
              </a:rPr>
              <a:t>6.  Why must you never call EEPROM.commit() from loop()?</a:t>
            </a:r>
          </a:p>
          <a:p>
            <a:pPr algn="l">
              <a:lnSpc>
                <a:spcPct val="100000"/>
              </a:lnSpc>
              <a:spcAft>
                <a:spcPts val="1400"/>
              </a:spcAft>
              <a:defRPr sz="1700" b="0">
                <a:solidFill>
                  <a:srgbClr val="222222"/>
                </a:solidFill>
                <a:latin typeface="Calibri"/>
              </a:defRPr>
            </a:pPr>
            <a:r>
              <a:rPr sz="1700" b="0">
                <a:solidFill>
                  <a:srgbClr val="222222"/>
                </a:solidFill>
                <a:latin typeface="Calibri"/>
              </a:rPr>
              <a:t>7.  What is the magic byte for, and why is it not sufficient on its own?</a:t>
            </a:r>
          </a:p>
          <a:p>
            <a:pPr algn="l">
              <a:lnSpc>
                <a:spcPct val="100000"/>
              </a:lnSpc>
              <a:spcAft>
                <a:spcPts val="1400"/>
              </a:spcAft>
              <a:defRPr sz="1700" b="0">
                <a:solidFill>
                  <a:srgbClr val="222222"/>
                </a:solidFill>
                <a:latin typeface="Calibri"/>
              </a:defRPr>
            </a:pPr>
            <a:r>
              <a:rPr sz="17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