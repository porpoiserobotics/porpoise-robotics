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Check the room: everybody here should have driven a Pathfinder and be comfortable reading C++. If somebody is not, pair them up now.</a:t>
            </a:r>
          </a:p>
          <a:p>
            <a:r>
              <a:rPr sz="1200">
                <a:latin typeface="Calibri"/>
              </a:rPr>
              <a:t>Have Op Program 12 open on the projector before you start. They will be looking at it all day.</a:t>
            </a:r>
          </a:p>
          <a:p>
            <a:r>
              <a:rPr sz="1200">
                <a:latin typeface="Calibri"/>
              </a:rPr>
              <a:t>Set expectations in the first minute: no new features. This is about how the program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Objective one is the one that will bite in the activity. The others are conceptual and get earned across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Be blunt about what this course is not. Some people arrive expecting more capability and are disappointed until you reframe it.</a:t>
            </a:r>
          </a:p>
          <a:p>
            <a:r>
              <a:rPr sz="1200">
                <a:latin typeface="Calibri"/>
              </a:rPr>
              <a:t>The six real bugs are the hook. Real code, real mistakes, and the reasons each one was wrong.</a:t>
            </a:r>
          </a:p>
          <a:p>
            <a:r>
              <a:rPr sz="1200">
                <a:latin typeface="Calibri"/>
              </a:rPr>
              <a:t>The note matters: none of this is robot-specific. It is how embedded software is written everywhere, and that is why it is worth three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right-hand column is the point. Each lesson has one transferable idea underneath the vehicle-specific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Two breaks. The tabs activity at 1:25 is the one that overruns - it is worth the time, so take it out of the boot-sequence walkthrough if you have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a real change log from a real project. Treat it as a case study, not a list.</a:t>
            </a:r>
          </a:p>
          <a:p>
            <a:r>
              <a:rPr sz="1200">
                <a:latin typeface="Calibri"/>
              </a:rPr>
              <a:t>The FastLED row is worth dwelling on: a library minor version broke the build through a dependency nobody chose. That happens constantly in the field.</a:t>
            </a:r>
          </a:p>
          <a:p>
            <a:r>
              <a:rPr sz="1200">
                <a:latin typeface="Calibri"/>
              </a:rPr>
              <a:t>The servo travel row is a safety bug - 0.5 to 2.5 ms can drive a servo into its end stops and cook it.</a:t>
            </a:r>
          </a:p>
          <a:p>
            <a:r>
              <a:rPr sz="1200">
                <a:latin typeface="Calibri"/>
              </a:rPr>
              <a:t>The address-printing bug is the cruellest kind: the program told you the wrong answer confidently.</a:t>
            </a:r>
          </a:p>
          <a:p>
            <a:r>
              <a:rPr sz="1200">
                <a:latin typeface="Calibri"/>
              </a:rPr>
              <a:t>Ask which of these they would have caught in review. Most people say the servo one and miss the integer truncation.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Two vehicles, one binary. Set the problem up before showing the solution.</a:t>
            </a:r>
          </a:p>
          <a:p>
            <a:r>
              <a:rPr sz="1200">
                <a:latin typeface="Calibri"/>
              </a:rPr>
              <a:t>Two separate builds is the obvious answer and the wrong one. Ask why - somebody eventually flashes the wrong image.</a:t>
            </a:r>
          </a:p>
          <a:p>
            <a:r>
              <a:rPr sz="1200">
                <a:latin typeface="Calibri"/>
              </a:rPr>
              <a:t>Detect what is there rather than being told what is there. That sentence is the transferable idea.</a:t>
            </a:r>
          </a:p>
          <a:p>
            <a:r>
              <a:rPr sz="1200">
                <a:latin typeface="Calibri"/>
              </a:rPr>
              <a:t>Bit flags rather than booleans: one byte carries several independent capabilities and a test is a single &amp; operation. Show the arithmetic if anybody is shaky on bitwise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Twenty seconds. First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slide the activity is built on. Go slowly.</a:t>
            </a:r>
          </a:p>
          <a:p>
            <a:r>
              <a:rPr sz="1200">
                <a:latin typeface="Calibri"/>
              </a:rPr>
              <a:t>The IDE concatenates the tabs and generates prototypes ABOVE your code. Draw that on the board - the ordering is the whole explanation.</a:t>
            </a:r>
          </a:p>
          <a:p>
            <a:r>
              <a:rPr sz="1200">
                <a:latin typeface="Calibri"/>
              </a:rPr>
              <a:t>Functions and globals cross tabs freely. Types do not, because the generated prototype mentions a type that is not defined yet at that point.</a:t>
            </a:r>
          </a:p>
          <a:p>
            <a:r>
              <a:rPr sz="1200">
                <a:latin typeface="Calibri"/>
              </a:rPr>
              <a:t>That is precisely why Config.h is a real header. Not style - necessity.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Eight files, one subsystem each. Read the table, then say the rule underneath it: each tab owns its own state and others go through its functions.</a:t>
            </a:r>
          </a:p>
          <a:p>
            <a:r>
              <a:rPr sz="1200">
                <a:latin typeface="Calibri"/>
              </a:rPr>
              <a:t>The note is the honest part: nothing in the compiler enforces this. Every tab can see every global. It is a convention held by discipline.</a:t>
            </a:r>
          </a:p>
          <a:p>
            <a:r>
              <a:rPr sz="1200">
                <a:latin typeface="Calibri"/>
              </a:rPr>
              <a:t>Ask what happens when somebody breaks the convention. The answer is that the program still compiles, which is exactly why it is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Step 5 is the whole point of this activity. Do not warn them what the error will look like.</a:t>
            </a:r>
          </a:p>
          <a:p>
            <a:r>
              <a:rPr sz="1200">
                <a:latin typeface="Calibri"/>
              </a:rPr>
              <a:t>The error points at a line they did not write, in generated code. That experience is worth more than the explanation on the previous slide.</a:t>
            </a:r>
          </a:p>
          <a:p>
            <a:r>
              <a:rPr sz="1200">
                <a:latin typeface="Calibri"/>
              </a:rPr>
              <a:t>Answer to the first question: the error is on a generated prototype line, not on any line in their file.</a:t>
            </a:r>
          </a:p>
          <a:p>
            <a:r>
              <a:rPr sz="1200">
                <a:latin typeface="Calibri"/>
              </a:rPr>
              <a:t>Answer to the second: functions are only NAMED in the prototype, but a type has to be DEFINED before the prototype that mentions it.</a:t>
            </a:r>
          </a:p>
          <a:p>
            <a:r>
              <a:rPr sz="1200">
                <a:latin typeface="Calibri"/>
              </a:rPr>
              <a:t>Thirty minutes, and it is worth every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Twenty seconds. Second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compiled binary is opaque. You can see what it does, not what it thinks. That is the framing.</a:t>
            </a:r>
          </a:p>
          <a:p>
            <a:r>
              <a:rPr sz="1200">
                <a:latin typeface="Calibri"/>
              </a:rPr>
              <a:t>The four commands on the slide are the four things people actually want at a track event.</a:t>
            </a:r>
          </a:p>
          <a:p>
            <a:r>
              <a:rPr sz="1200">
                <a:latin typeface="Calibri"/>
              </a:rPr>
              <a:t>Tuning stops being an edit-compile-upload cycle and becomes a conversation. That is a real productivity difference, not a nicety.</a:t>
            </a:r>
          </a:p>
          <a:p>
            <a:r>
              <a:rPr sz="1200">
                <a:latin typeface="Calibri"/>
              </a:rPr>
              <a:t>Industrial controllers, network switches and flight computers all have one. This is standard practice, not a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Serial.readStringUntil() WAITS. On a moving vehicle that is unacceptable. Say it plainly.</a:t>
            </a:r>
          </a:p>
          <a:p>
            <a:r>
              <a:rPr sz="1200">
                <a:latin typeface="Calibri"/>
              </a:rPr>
              <a:t>This version takes whatever bytes have arrived and returns immediately, every time. That is the non-blocking pattern from beginner Lesson 5, applied to input.</a:t>
            </a:r>
          </a:p>
          <a:p>
            <a:r>
              <a:rPr sz="1200">
                <a:latin typeface="Calibri"/>
              </a:rPr>
              <a:t>The line-ending handling looks like paranoia until you watch a console appear broken because the Serial Monitor dropdown was set differently.</a:t>
            </a:r>
          </a:p>
          <a:p>
            <a:r>
              <a:rPr sz="1200">
                <a:latin typeface="Calibri"/>
              </a:rPr>
              <a:t>The printable-character and length checks are the input validation. Worth pointing out that they are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Step 4 is the one people skip. Make them try all four line-ending settings - it is the fastest way to appreciate the previous slide.</a:t>
            </a:r>
          </a:p>
          <a:p>
            <a:r>
              <a:rPr sz="1200">
                <a:latin typeface="Calibri"/>
              </a:rPr>
              <a:t>Step 5 is the first thing they write themselves today.</a:t>
            </a:r>
          </a:p>
          <a:p>
            <a:r>
              <a:rPr sz="1200">
                <a:latin typeface="Calibri"/>
              </a:rPr>
              <a:t>Step 6 sends them into the real program to find the same three problems solved there. That is the bridge to the rest of the course.</a:t>
            </a:r>
          </a:p>
          <a:p>
            <a:r>
              <a:rPr sz="1200">
                <a:latin typeface="Calibri"/>
              </a:rPr>
              <a:t>The answer to the question: toInt() returns 0 for anything unparseable, so a typo silently becomes a valid-looking zero. Range checking is what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order is the lesson, not the code. Walk down it and ask why each step is where it is.</a:t>
            </a:r>
          </a:p>
          <a:p>
            <a:r>
              <a:rPr sz="1200">
                <a:latin typeface="Calibri"/>
              </a:rPr>
              <a:t>Settings first, because everything after may depend on them. Then detect the hardware, because behavior branches on it.</a:t>
            </a:r>
          </a:p>
          <a:p>
            <a:r>
              <a:rPr sz="1200">
                <a:latin typeface="Calibri"/>
              </a:rPr>
              <a:t>Motors before lights, because getting the outputs into a safe state matters more than anything pretty.</a:t>
            </a:r>
          </a:p>
          <a:p>
            <a:r>
              <a:rPr sz="1200">
                <a:latin typeface="Calibri"/>
              </a:rPr>
              <a:t>Radio last, because a controller connecting to a half-initialised vehicle is the worst possible moment.</a:t>
            </a:r>
          </a:p>
          <a:p>
            <a:r>
              <a:rPr sz="1200">
                <a:latin typeface="Calibri"/>
              </a:rPr>
              <a:t>Ask them to justify a different order. Making them defend it is better than telling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(Continued from the previous slide - the same notes apply.)</a:t>
            </a:r>
          </a:p>
          <a:p/>
          <a:p>
            <a:r>
              <a:rPr sz="1200">
                <a:latin typeface="Calibri"/>
              </a:rPr>
              <a:t>The order is the lesson, not the code. Walk down it and ask why each step is where it is.</a:t>
            </a:r>
          </a:p>
          <a:p>
            <a:r>
              <a:rPr sz="1200">
                <a:latin typeface="Calibri"/>
              </a:rPr>
              <a:t>Settings first, because everything after may depend on them. Then detect the hardware, because behavior branches on it.</a:t>
            </a:r>
          </a:p>
          <a:p>
            <a:r>
              <a:rPr sz="1200">
                <a:latin typeface="Calibri"/>
              </a:rPr>
              <a:t>Motors before lights, because getting the outputs into a safe state matters more than anything pretty.</a:t>
            </a:r>
          </a:p>
          <a:p>
            <a:r>
              <a:rPr sz="1200">
                <a:latin typeface="Calibri"/>
              </a:rPr>
              <a:t>Radio last, because a controller connecting to a half-initialised vehicle is the worst possible moment.</a:t>
            </a:r>
          </a:p>
          <a:p>
            <a:r>
              <a:rPr sz="1200">
                <a:latin typeface="Calibri"/>
              </a:rPr>
              <a:t>Ask them to justify a different order. Making them defend it is better than telling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Walk it left to right with a real vehicle in your hand, touching each box as you name it.</a:t>
            </a:r>
          </a:p>
          <a:p>
            <a:r>
              <a:rPr sz="1200">
                <a:latin typeface="Calibri"/>
              </a:rPr>
              <a:t>The point of the diagram is that nothing here is magic - every arrow is a wire or a radio link you can point at.</a:t>
            </a:r>
          </a:p>
          <a:p>
            <a:r>
              <a:rPr sz="1200">
                <a:latin typeface="Calibri"/>
              </a:rPr>
              <a:t>Ask where THEIR program sits. The answer is the ESP32 box, and everything either side of it is fixed hardware they inherit.</a:t>
            </a:r>
          </a:p>
          <a:p>
            <a:r>
              <a:rPr sz="1200">
                <a:latin typeface="Calibri"/>
              </a:rPr>
              <a:t>Come back to this slide whenever somebody is stuck: naming which box the fault is in is most of the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reference, not teaching. Point at it and move on.</a:t>
            </a:r>
          </a:p>
          <a:p>
            <a:r>
              <a:rPr sz="1200">
                <a:latin typeface="Calibri"/>
              </a:rPr>
              <a:t>The note is the one thing to say out loud: GPIO 34 to 39 are input only and have no internal pull-up, which is why the self-test jumper needs an external pull-down.</a:t>
            </a:r>
          </a:p>
          <a:p>
            <a:r>
              <a:rPr sz="1200">
                <a:latin typeface="Calibri"/>
              </a:rPr>
              <a:t>Worth printing for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most useful slide in the lesson for anybody who will read somebody else's code again - which is all of them.</a:t>
            </a:r>
          </a:p>
          <a:p>
            <a:r>
              <a:rPr sz="1200">
                <a:latin typeface="Calibri"/>
              </a:rPr>
              <a:t>Vocabulary first, then skeleton, then detail. Say why: reading Lighting.ino with no idea what led_mode is or who sets it is wasted time.</a:t>
            </a:r>
          </a:p>
          <a:p>
            <a:r>
              <a:rPr sz="1200">
                <a:latin typeface="Calibri"/>
              </a:rPr>
              <a:t>Run the ten-minute exercise properly. Time it, and get answers from three different groups.</a:t>
            </a:r>
          </a:p>
          <a:p>
            <a:r>
              <a:rPr sz="1200">
                <a:latin typeface="Calibri"/>
              </a:rPr>
              <a:t>Point out that Config.h tells you what the program can DO, because it tells you what somebody thought was worth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Conversation, not a test.</a:t>
            </a:r>
          </a:p>
          <a:p>
            <a:r>
              <a:rPr sz="1200">
                <a:latin typeface="Calibri"/>
              </a:rPr>
              <a:t>Answers: Config.h is a header because generated prototypes sit above the code and a type must already be defined; tabs concatenate with the folder-named file first and the rest alphabetically; detection avoids a configuration that can disagree with reality.</a:t>
            </a:r>
          </a:p>
          <a:p>
            <a:r>
              <a:rPr sz="1200">
                <a:latin typeface="Calibri"/>
              </a:rPr>
              <a:t>Bit flags let one byte carry several independent capabilities and make a test a single &amp; operation.</a:t>
            </a:r>
          </a:p>
          <a:p>
            <a:r>
              <a:rPr sz="1200">
                <a:latin typeface="Calibri"/>
              </a:rPr>
              <a:t>readStringUntil blocks, and it also depends on a timeout you did not choose.</a:t>
            </a:r>
          </a:p>
          <a:p>
            <a:r>
              <a:rPr sz="1200">
                <a:latin typeface="Calibri"/>
              </a:rPr>
              <a:t>Motors before LEDs so the outputs are safe before anything else happens.</a:t>
            </a:r>
          </a:p>
          <a:p>
            <a:r>
              <a:rPr sz="1200">
                <a:latin typeface="Calibri"/>
              </a:rPr>
              <a:t>The last question has no clean answer, and that is the point - shared globals are convenient exactly because nothing stops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Architecture and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How a real embedded program is put together: tabs, headers, capability flags, and a console you can talk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Three hours.  Assumes you have driven a Pathfinder before.</a:t>
            </a:r>
          </a:p>
        </p:txBody>
      </p:sp>
      <p:pic>
        <p:nvPicPr>
          <p:cNvPr id="8" name="Picture 7" descr="vehicle-top-plate-esp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44001"/>
            <a:ext cx="4480560" cy="3718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 you will be able to do by the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this lesson you will be able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Explain how the Arduino IDE assembles a multi-tab sketch, and why a type has to live in a header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Split a program by subsystem without breaking it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Say why the program detects its hardware rather than being told about it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Write a serial console that does not block the vehicle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5.   Read the boot sequence of Op Program 12 and justify its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Who this course is for, and what it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You have driven a Pathfinder. You can read C++: functions, loops, structs, pointers, and you are not frightened of a header file.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0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This course is NOT more features. The vehicle does the same things it did on the beginner programs.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0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It is about how the program is BUILT: how you split 1300 lines so that somebody else can find things in it, how you make animations that never block the motors, how you store settings that survive a power cycle, and how you make a machine test its own hardware.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0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Along the way you will meet six real bugs from the previous version and see exactly why each one was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Every idea here transfers. None of it is specific to robots - it is how embedded software is written everywhere.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Where this course goes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99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4281036"/>
                <a:gridCol w="5736418"/>
              </a:tblGrid>
              <a:tr h="832908"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Lesson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The idea underneath it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832908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Architecture and the toolchain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Separate subsystems, and a way to talk to them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32908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Motors, resolution and ramping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Control quality, and integer math that lies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32908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Bluetooth and persistent storage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Identity that survives a power cycle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32908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The lighting state machine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Never block, and never redraw for nothing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32910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Sensors, self-test, diagnostics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222222"/>
                          </a:solidFill>
                          <a:latin typeface="Calibri"/>
                        </a:rPr>
                        <a:t>A machine that can check itself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96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496887">
                <a:tc>
                  <a:txBody>
                    <a:bodyPr/>
                    <a:lstStyle/>
                    <a:p>
                      <a:r>
                        <a:rPr sz="26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What changed from Op 11.2, and why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0:30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One binary, two vehicles: capability flags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0:50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How Arduino tabs really work, and why Config.h is a header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1:15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BREAK  (10 minutes)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1:25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Upload a1a_tabs_and_config. Break it on purpose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1:55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A serial console: reading without blocking, and parsing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2:15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BREAK  (10 minutes)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96887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2:25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Upload a1b_serial_console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96892"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2:45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50">
                          <a:solidFill>
                            <a:srgbClr val="222222"/>
                          </a:solidFill>
                          <a:latin typeface="Calibri"/>
                        </a:rPr>
                        <a:t>The boot sequence of Op Program 12, line by line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Op Program 11.2 to 12  -  what changed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825"/>
                <a:gridCol w="7525029"/>
              </a:tblGrid>
              <a:tr h="42192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FastLED replaced with Adafruit NeoPixel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FastLED 3.10.5 auto-enables an ESP-DSP FFT backend that does not build against the bluepad32 4.1.0 SDK. 11.2 stopped compiling.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Servo travel corrected to 1.0 - 2.0 ms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11.2 used 0.5 - 2.5 ms, which can drive a servo into its end stops.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Paired address saved to EEPROM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11.2 only added to the allowlist at runtime, so a reboot could leave a vehicle refusing its own controller.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Addresses print most significant byte first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11.2 printed them backwards, so the address it told you to use was the reverse of the real one.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Speed ramping always reaches its target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Integer truncation stalled the old ramp one count short, forever.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Self-test compares against the measured baseline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11.2 measured a baseline, printed it, then used fixed absolutes.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4219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Standby lighting redrawn only when it changes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11.2 pushed 32 LEDs on every pass of loop().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4219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One 1292-line file split into eight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So that "where does pairing happen" has a one-word answer.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Read that list again at the end of the course. Most of them are mistakes that are easy to make and hard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One binary, two vehicles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83309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383309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Gen 2 vehicles have no current sensor. Gen 3 vehicles do.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Two separate builds means two things to keep in step, and somebody eventually flashes the wrong one.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answer: DETECT the hardware at boot, and switch behavior on what is actually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3210" y="1188720"/>
            <a:ext cx="689556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How Op 12 does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3210" y="1700784"/>
            <a:ext cx="689556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Wire.begin(SDA, SCL);</a:t>
            </a:r>
          </a:p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if (is_ina219_present()) {</a:t>
            </a:r>
          </a:p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  capabilities = CAP_SELF_TEST | CAP_CURRENT_MON;</a:t>
            </a:r>
          </a:p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} else {</a:t>
            </a:r>
          </a:p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  capabilities = 0;</a:t>
            </a:r>
          </a:p>
          <a:p>
            <a:pPr lvl="1"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Bit FLAGS, not booleans, so one byte carries several independent capabilities and a test is a single &amp;.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Every feature that needs the sensor checks its flag first, and is a no-op without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Detect what is there rather than being told what is there. A configuration that can disagree with the hardware eventually will.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Tabs and Config.h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55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Tabs and Config.h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The console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How Arduino tabs actually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Convenient, and exactly one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185855" cy="3419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Every .ino file in the sketch folder is a tab in the IDE.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Before compiling, the IDE CONCATENATES them into one file - the one named after the folder first, then the rest alphabetically - and generates prototypes at the top.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Two consequences you have to know: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Functions and globals cross tabs with NO header needed. Lighting.ino can call strip and read NUM_LEDS with no include.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TYPES do not. The generated prototypes go ABOVE your code, so a prototype mentioning an enum or struct you declared in a tab will not compile - the type is not defined yet.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That is precisely why Config.h is a real header rather than a ninth tab. It is #included by the main sketch, so it is defined before the prototypes appear.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Op 12's Config.h opens with a paragraph saying this. Now you know what it is warning you about.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eight files, and what each one owns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rPr sz="1400" b="0">
                <a:solidFill>
                  <a:srgbClr val="222222"/>
                </a:solidFill>
                <a:latin typeface="Calibri"/>
              </a:rPr>
              <a:t>One subsystem per file. The rule that makes it work: each tab owns its own state, and other tabs go through its functions.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85854" cy="3328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244"/>
                <a:gridCol w="7455610"/>
              </a:tblGrid>
              <a:tr h="369887">
                <a:tc>
                  <a:txBody>
                    <a:bodyPr/>
                    <a:lstStyle/>
                    <a:p>
                      <a:r>
                        <a:rPr sz="18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 b="1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onsolas"/>
                        </a:rPr>
                        <a:t>Pathfinder_Op_Program12.ino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setup(), loop(), the hardware objects, the shared state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Config.h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Every tunable number and every custom type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Motors.ino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PWM setup, drive modes, ramping, servos, throttle modes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Lighting.ino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Color helpers, every animation, the lighting state machine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Bluetooth.ino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Connection callbacks, the allowlist, the pairing workflow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Console.ino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The serial command interface, EEPROM settings, diagnostics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69887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Sensors.ino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The INA219 driver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9891"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SelfTest.ino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50">
                          <a:solidFill>
                            <a:srgbClr val="222222"/>
                          </a:solidFill>
                          <a:latin typeface="Calibri"/>
                        </a:rPr>
                        <a:t>The powered motor check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Nothing in the compiler enforces that. Every tab can see every global. It is a convention, and it is the only thing standing between you and 1292 lines again.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Do it now  -  three files, one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UPLOAD AND RUN: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a1a_tabs_and_config</a:t>
            </a:r>
            <a:r>
              <a:rPr sz="1200">
                <a:solidFill>
                  <a:srgbClr val="FFFFFF"/>
                </a:solidFill>
                <a:latin typeface="Calibri"/>
              </a:rPr>
              <a:t>     (30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1.  Open it. Look at the tab bar: the sketch, Config.h, Blinker.ino.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2.  Upload it. It blinks and reports, and swaps speed every 5 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3.  Change BLINK_SLOW_MS in Config.h. Notice you touched neither .ino file.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4.  Add a fourth file, Reporter.ino, with a function in it. Call it from loop(). Notice you declared it nowhere.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5.  Now MOVE the BlinkMode enum out of Config.h and into Blinker.ino. Compile. READ THE ERROR CAREFULLY.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6.  Put it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672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Step 5 fails with an error about BlinkMode not naming a type, pointing at a line you did not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4049583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451919"/>
            <a:ext cx="4525238" cy="181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Whose line is the error actually on?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Why does moving a FUNCTION between tabs work fine, but moving a TYPE does not?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The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40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Tabs and Config.h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The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Why a console changes what a vehicle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From opaque binary to something you can ask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185855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A compiled binary is opaque. You can see what it does, not what it thinks.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A serial console turns it into something you can interrogate: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help      what can this thing do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diag      what does it think is happening right now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pair      change its behavior without a laptop full of toolchains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dynamics  retune the deadzones between races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practical difference: at a track event, tuning a vehicle stops being an edit-compile-upload cycle and becomes a conversation. On Op 12 those settings then go to EEPROM, so the tuning survives.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This is not a toy idea. Industrial controllers, network switches and flight computers all have one, for exactly this reason.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Reading a line without stopping the vehicle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a1b_serial_console.ino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void handleSerial()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 b="1">
                <a:solidFill>
                  <a:srgbClr val="0E7C86"/>
                </a:solidFill>
                <a:latin typeface="Consolas"/>
              </a:rPr>
              <a:t>  while (Serial.available() &gt; 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char c = (char)Serial.read();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 b="1">
                <a:solidFill>
                  <a:srgbClr val="0E7C86"/>
                </a:solidFill>
                <a:latin typeface="Consolas"/>
              </a:rPr>
              <a:t>    if (c == '\n' || c == '\r') {      // accept both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if (input_line.length() &gt; 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  runCommand(input_line);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  input_line = "";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continue;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 b="1">
                <a:solidFill>
                  <a:srgbClr val="0E7C86"/>
                </a:solidFill>
                <a:latin typeface="Consolas"/>
              </a:rPr>
              <a:t>    if (c &gt;= 32 &amp;&amp; c &lt; 127 &amp;&amp; input_line.length() &lt; 80)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  input_line +=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50">
                <a:latin typeface="Consolas"/>
              </a:defRPr>
            </a:pPr>
            <a:r>
              <a:rPr sz="165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Serial.readStringUntil() would WAIT for a newline. While it waits the vehicle is not driving. Never use it on a moving machine.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This takes whatever bytes have arrived and returns immediately, every time.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Serial Monitor sends whatever its line-ending dropdown says: nothing, LF, CR, or both. Handle all four or the console looks broken to whoever set theirs differently.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length cap matters. Without it a stuck sender grows the String until the ESP32 runs out of heap.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Do it now  -  a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UPLOAD AND RUN: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a1b_serial_console</a:t>
            </a:r>
            <a:r>
              <a:rPr sz="1200">
                <a:solidFill>
                  <a:srgbClr val="FFFFFF"/>
                </a:solidFill>
                <a:latin typeface="Calibri"/>
              </a:rPr>
              <a:t>     (25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Upload it, open the Serial Monitor, type help.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Try every command. Then type something that is not a command.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Type  set rate abc. What happens? Why does the range check catch it?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Change your Serial Monitor line-ending setting to each of its four options. Does the console still work in all four?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5.  Add a command of your own: toggle, that flips a bool.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6.  Open Console.ino in Op Program 12 and find the same three problems being solved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A prompt, echoed typing, working backspace, and commands that run while the LED keeps blinking on its own schedule.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411937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521708"/>
            <a:ext cx="4525238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toInt() returns 0 for anything it cannot parse. Why does that make range checking essential rather than optional?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boot sequence of Op Program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Pathfinder_Op_Program12.ino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void setup()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Serial.begin(115200);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EEPROM.begin(EEPROM_SIZE);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loadSettings();              // tuning, range checked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Wire.begin(I2C_SDA_PIN, I2C_SCL_PIN);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if (is_ina219_present()) {   // which vehicle am I?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  vehicle_config.capabilities = CAP_SELF_TEST | CAP_CURRENT_MON;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  ina219_init();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  vehicle_config.capabilities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  test_state = TEST_DISABLED;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ORDER is deliberate.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Settings first, because everything else may depend on them.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Hardware detection next, because it decides what the rest of setup is even allowed to 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Motors before anything slow. An uninitialised H-bridge pin floats, and a floating pin can twitch a motor. Get the outputs into a known safe state as early as you can.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Radio last. It is the slowest thing to come up and nothing else waits on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boot sequence of Op Program 12 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Pathfinder_Op_Program12.ino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setup_motors();              // outputs safe FIRST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setup_servos();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strip.begin();               // then the lights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set_disconnected_lighting();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setup_bluetooth();           // then the radio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pinMode(PAIR_TRIGGER_PIN, INPUT_PULLUP);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pinMode(TEST_PIN, INPUT);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How a command gets from your thumb to a 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Bluetooth gamepad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19202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you move a stick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4592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Bluetooth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69464"/>
            <a:ext cx="1463040" cy="646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radio, 2.4 GHz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4592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69464"/>
            <a:ext cx="1737360" cy="646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your program runs here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080260"/>
            <a:ext cx="411480" cy="0"/>
          </a:xfrm>
          <a:prstGeom prst="line">
            <a:avLst/>
          </a:prstGeom>
          <a:ln w="22225">
            <a:solidFill>
              <a:srgbClr val="1F3A5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97680" y="2080260"/>
            <a:ext cx="411480" cy="0"/>
          </a:xfrm>
          <a:prstGeom prst="line">
            <a:avLst/>
          </a:prstGeom>
          <a:ln w="22225">
            <a:solidFill>
              <a:srgbClr val="1F3A5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280160"/>
            <a:ext cx="3017520" cy="749808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DRV8871 drivers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4 motors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057400"/>
            <a:ext cx="301752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onsolas"/>
              </a:defRPr>
            </a:pPr>
            <a:r>
              <a:rPr sz="1800" b="0">
                <a:solidFill>
                  <a:srgbClr val="666666"/>
                </a:solidFill>
                <a:latin typeface="Consolas"/>
              </a:rPr>
              <a:t>12 13 16 17 18 19 22 23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858000" y="1655064"/>
            <a:ext cx="411480" cy="425196"/>
          </a:xfrm>
          <a:prstGeom prst="line">
            <a:avLst/>
          </a:prstGeom>
          <a:ln w="22225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2414016"/>
            <a:ext cx="3017520" cy="749808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WS2812B strip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32 LEDs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191256"/>
            <a:ext cx="301752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onsolas"/>
              </a:defRPr>
            </a:pPr>
            <a:r>
              <a:rPr sz="1800" b="0">
                <a:solidFill>
                  <a:srgbClr val="666666"/>
                </a:solidFill>
                <a:latin typeface="Consolas"/>
              </a:rPr>
              <a:t>GPIO 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2080260"/>
            <a:ext cx="411480" cy="708660"/>
          </a:xfrm>
          <a:prstGeom prst="line">
            <a:avLst/>
          </a:prstGeom>
          <a:ln w="22225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9480" y="3547872"/>
            <a:ext cx="3017520" cy="749808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Servo headers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up to 4 servos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325112"/>
            <a:ext cx="301752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onsolas"/>
              </a:defRPr>
            </a:pPr>
            <a:r>
              <a:rPr sz="1800" b="0">
                <a:solidFill>
                  <a:srgbClr val="666666"/>
                </a:solidFill>
                <a:latin typeface="Consolas"/>
              </a:rPr>
              <a:t>25 26 27 14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2080260"/>
            <a:ext cx="411480" cy="1842516"/>
          </a:xfrm>
          <a:prstGeom prst="line">
            <a:avLst/>
          </a:prstGeom>
          <a:ln w="22225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Everything the vehicle can do happens on one of those three outputs. The rest of the program is deciding what to send.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hardware this program is talking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rPr sz="1600" b="0">
                <a:solidFill>
                  <a:srgbClr val="222222"/>
                </a:solidFill>
                <a:latin typeface="Calibri"/>
              </a:rPr>
              <a:t>Nothing here is new to you. What is new is that one binary has to cope with two different versions of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85853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687"/>
                <a:gridCol w="3050687"/>
                <a:gridCol w="5084479"/>
              </a:tblGrid>
              <a:tr h="34607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What Op 12 does with it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ESP32 DevKitC, 38 pin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240 MHz dual core, Bluetooth, 16 PWM channels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4 x DRV8871 H-bridge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12/13, 18/19, 22/23, 16/17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10-bit PWM at 30 kHz, hybrid drive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32 x WS2812B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GPIO 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One loop: 0-15 front, 16-31 rear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4 x servo header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25, 26, 27, 14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50 Hz, 1.0 to 2.0 ms, one per stick direction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INA219 current sensor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I2C on 32 / 33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Gen 3 only. Detected at boot.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BOOT button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GPIO 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Held low to enter pairing mode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Self-test jumper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GPIO 34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Input-only pin, external pull-down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4S LiPo, 3300 mAh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222"/>
                          </a:solidFill>
                          <a:latin typeface="Calibri"/>
                        </a:rPr>
                        <a:t>About 16 V charged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B46A0F"/>
                </a:solidFill>
                <a:latin typeface="Calibri"/>
              </a:rPr>
              <a:t>WATCH OUT   </a:t>
            </a:r>
            <a:r>
              <a:rPr sz="1800">
                <a:solidFill>
                  <a:srgbClr val="222222"/>
                </a:solidFill>
                <a:latin typeface="Calibri"/>
              </a:rPr>
              <a:t>GPIO 34-39 are INPUT ONLY on the ESP32 and have no internal pull resistors. That is why the self-test pin needs one on the 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Reading a program you did not 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Header, then Config.h, then setup(), then loop()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185855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You are about to be handed 1300 lines across eight files. Front to back is the slowest possible way in. A better order: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1.  The header comment: the hardware, the controls, and in this case the change log.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2.  Config.h. Every number the program cares about, in one place. What it lets you tune tells you what it can do.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3.  setup(). What has to be true before anything runs.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4.  loop(). The whole shape, in one screen.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5.  Only then, the subsystem that interests you.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Vocabulary first, then skeleton, then detail. The other way round means reading Lighting.ino with no idea what led_mode is or who sets it.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EXERCISE, ten minutes. Read Op 12 in that order and write down three questions. We will answer them over the next four lessons.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Next lesson: motors, and integer math that quietly lies to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599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1.  Why is Config.h a header file rather than a ninth tab?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2.  In what order does the Arduino IDE concatenate your tabs?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3.  Why does Op 12 detect the current sensor rather than being told which generation it is running on?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4.  Why are capabilities bit flags rather than separate booleans?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5.  Name two things wrong with Serial.readStringUntil() on a moving vehicle.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6.  Why does setup() initialise the motors before the LEDs?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7.  Every tab can see every global. Why is that both the convenience and the danger?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