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Check the room: everybody here should have driven a Pathfinder and be comfortable reading C++. If somebody is not, pair them up now.</a:t>
            </a:r>
          </a:p>
          <a:p>
            <a:r>
              <a:rPr sz="1200">
                <a:latin typeface="Calibri"/>
              </a:rPr>
              <a:t>Have Op Program 12 open on the projector before you start. They will be looking at it all day.</a:t>
            </a:r>
          </a:p>
          <a:p>
            <a:r>
              <a:rPr sz="1200">
                <a:latin typeface="Calibri"/>
              </a:rPr>
              <a:t>Set expectations in the first minute: no new features. This is about how the program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one is the one that will bite in the activity. The others are conceptual and get earned across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Be blunt about what this course is not. Some people arrive expecting more capability and are disappointed until you reframe it.</a:t>
            </a:r>
          </a:p>
          <a:p>
            <a:r>
              <a:rPr sz="1200">
                <a:latin typeface="Calibri"/>
              </a:rPr>
              <a:t>The six real bugs are the hook. Real code, real mistakes, and the reasons each one was wrong.</a:t>
            </a:r>
          </a:p>
          <a:p>
            <a:r>
              <a:rPr sz="1200">
                <a:latin typeface="Calibri"/>
              </a:rPr>
              <a:t>The note matters: none of this is robot-specific. It is how embedded software is written everywhere, and that is why it is worth three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right-hand column is the point. Each lesson has one transferable idea underneath the vehicle-specific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tabs activity at 1:25 is the one that overruns - it is worth the time, so take it out of the boot-sequence walkthrough if you have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real change log from a real project. Treat it as a case study, not a list.</a:t>
            </a:r>
          </a:p>
          <a:p>
            <a:r>
              <a:rPr sz="1200">
                <a:latin typeface="Calibri"/>
              </a:rPr>
              <a:t>The FastLED row is worth dwelling on: a library minor version broke the build through a dependency nobody chose. That happens constantly in the field.</a:t>
            </a:r>
          </a:p>
          <a:p>
            <a:r>
              <a:rPr sz="1200">
                <a:latin typeface="Calibri"/>
              </a:rPr>
              <a:t>The servo travel row is a safety bug - 0.5 to 2.5 ms can drive a servo into its end stops and cook it.</a:t>
            </a:r>
          </a:p>
          <a:p>
            <a:r>
              <a:rPr sz="1200">
                <a:latin typeface="Calibri"/>
              </a:rPr>
              <a:t>The address-printing bug is the cruellest kind: the program told you the wrong answer confidently.</a:t>
            </a:r>
          </a:p>
          <a:p>
            <a:r>
              <a:rPr sz="1200">
                <a:latin typeface="Calibri"/>
              </a:rPr>
              <a:t>Ask which of these they would have caught in review. Most people say the servo one and miss the integer truncation.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Eight files, one subsystem each. Read the table, then say the rule underneath it: each tab owns its own state and others go through its functions.</a:t>
            </a:r>
          </a:p>
          <a:p>
            <a:r>
              <a:rPr sz="1200">
                <a:latin typeface="Calibri"/>
              </a:rPr>
              <a:t>The note is the honest part: nothing in the compiler enforces this. Every tab can see every global. It is a convention held by discipline.</a:t>
            </a:r>
          </a:p>
          <a:p>
            <a:r>
              <a:rPr sz="1200">
                <a:latin typeface="Calibri"/>
              </a:rPr>
              <a:t>Ask what happens when somebody breaks the convention. The answer is that the program still compiles, which is exactly why it is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whole point of this activity. Do not warn them what the error will look like.</a:t>
            </a:r>
          </a:p>
          <a:p>
            <a:r>
              <a:rPr sz="1200">
                <a:latin typeface="Calibri"/>
              </a:rPr>
              <a:t>The error points at a line they did not write, in generated code. That experience is worth more than the explanation on the previous slide.</a:t>
            </a:r>
          </a:p>
          <a:p>
            <a:r>
              <a:rPr sz="1200">
                <a:latin typeface="Calibri"/>
              </a:rPr>
              <a:t>Answer to the first question: the error is on a generated prototype line, not on any line in their file.</a:t>
            </a:r>
          </a:p>
          <a:p>
            <a:r>
              <a:rPr sz="1200">
                <a:latin typeface="Calibri"/>
              </a:rPr>
              <a:t>Answer to the second: functions are only NAMED in the prototype, but a type has to be DEFINED before the prototype that mentions it.</a:t>
            </a:r>
          </a:p>
          <a:p>
            <a:r>
              <a:rPr sz="1200">
                <a:latin typeface="Calibri"/>
              </a:rPr>
              <a:t>Thirty minutes, and it is worth every one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compiled binary is opaque. You can see what it does, not what it thinks. That is the framing.</a:t>
            </a:r>
          </a:p>
          <a:p>
            <a:r>
              <a:rPr sz="1200">
                <a:latin typeface="Calibri"/>
              </a:rPr>
              <a:t>The four commands on the slide are the four things people actually want at a track event.</a:t>
            </a:r>
          </a:p>
          <a:p>
            <a:r>
              <a:rPr sz="1200">
                <a:latin typeface="Calibri"/>
              </a:rPr>
              <a:t>Tuning stops being an edit-compile-upload cycle and becomes a conversation. That is a real productivity difference, not a nicety.</a:t>
            </a:r>
          </a:p>
          <a:p>
            <a:r>
              <a:rPr sz="1200">
                <a:latin typeface="Calibri"/>
              </a:rPr>
              <a:t>Industrial controllers, network switches and flight computers all have one. This is standard practice, not a toy.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Serial.readStringUntil() WAITS. On a moving vehicle that is unacceptable. Say it plainly.</a:t>
            </a:r>
          </a:p>
          <a:p>
            <a:r>
              <a:rPr sz="1200">
                <a:latin typeface="Calibri"/>
              </a:rPr>
              <a:t>This version takes whatever bytes have arrived and returns immediately, every time. That is the non-blocking pattern from beginner Lesson 5, applied to input.</a:t>
            </a:r>
          </a:p>
          <a:p>
            <a:r>
              <a:rPr sz="1200">
                <a:latin typeface="Calibri"/>
              </a:rPr>
              <a:t>The line-ending handling looks like paranoia until you watch a console appear broken because the Serial Monitor dropdown was set differently.</a:t>
            </a:r>
          </a:p>
          <a:p>
            <a:r>
              <a:rPr sz="1200">
                <a:latin typeface="Calibri"/>
              </a:rPr>
              <a:t>The printable-character and length checks are the input validation. Worth pointing out that they are not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4 is the one people skip. Make them try all four line-ending settings - it is the fastest way to appreciate the previous slide.</a:t>
            </a:r>
          </a:p>
          <a:p>
            <a:r>
              <a:rPr sz="1200">
                <a:latin typeface="Calibri"/>
              </a:rPr>
              <a:t>Step 5 is the first thing they write themselves today.</a:t>
            </a:r>
          </a:p>
          <a:p>
            <a:r>
              <a:rPr sz="1200">
                <a:latin typeface="Calibri"/>
              </a:rPr>
              <a:t>Step 6 sends them into the real program to find the same three problems solved there. That is the bridge to the rest of the course.</a:t>
            </a:r>
          </a:p>
          <a:p>
            <a:r>
              <a:rPr sz="1200">
                <a:latin typeface="Calibri"/>
              </a:rPr>
              <a:t>The answer to the question: toInt() returns 0 for anything unparseable, so a typo silently becomes a valid-looking zero. Range checking is what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reference, not teaching. Point at it and move on.</a:t>
            </a:r>
          </a:p>
          <a:p>
            <a:r>
              <a:rPr sz="1200">
                <a:latin typeface="Calibri"/>
              </a:rPr>
              <a:t>The note is the one thing to say out loud: GPIO 34 to 39 are input only and have no internal pull-up, which is why the self-test jumper needs an external pull-down.</a:t>
            </a:r>
          </a:p>
          <a:p>
            <a:r>
              <a:rPr sz="1200">
                <a:latin typeface="Calibri"/>
              </a:rPr>
              <a:t>Worth printing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Config.h is a header because generated prototypes sit above the code and a type must already be defined; tabs concatenate with the folder-named file first and the rest alphabetically; detection avoids a configuration that can disagree with reality.</a:t>
            </a:r>
          </a:p>
          <a:p>
            <a:r>
              <a:rPr sz="1200">
                <a:latin typeface="Calibri"/>
              </a:rPr>
              <a:t>Bit flags let one byte carry several independent capabilities and make a test a single &amp; operation.</a:t>
            </a:r>
          </a:p>
          <a:p>
            <a:r>
              <a:rPr sz="1200">
                <a:latin typeface="Calibri"/>
              </a:rPr>
              <a:t>readStringUntil blocks, and it also depends on a timeout you did not choose.</a:t>
            </a:r>
          </a:p>
          <a:p>
            <a:r>
              <a:rPr sz="1200">
                <a:latin typeface="Calibri"/>
              </a:rPr>
              <a:t>Motors before LEDs so the outputs are safe before anything else happens.</a:t>
            </a:r>
          </a:p>
          <a:p>
            <a:r>
              <a:rPr sz="1200">
                <a:latin typeface="Calibri"/>
              </a:rPr>
              <a:t>The last question has no clean answer, and that is the point - shared globals are convenient exactly because nothing stops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8" name="Picture 7" descr="vehicle-top-plate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844001"/>
            <a:ext cx="4480560" cy="3718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how the Arduino IDE assembles a multi-tab sketch, and why a type has to live in a header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Split a program by subsystem without breaking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Say why the program detects its hardware rather than being told about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Write a serial console that does not block the vehicle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Read the boot sequence of Op Program 12 and justify its order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06"/>
                <a:gridCol w="4372652"/>
                <a:gridCol w="5897996"/>
              </a:tblGrid>
              <a:tr h="838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968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96887"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1:15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1:25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92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42192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answer: DETECT the hardware at boot and switch behavior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Op 12 does it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Bit FLAGS, not booleans, so one byte can carry several independent capabilities and a test is a single &amp; operation.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feature that needs the sensor checks its flag first and is a no-op without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function prototypes at the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5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Functions and globals are shared across tabs with NO header needed. Lighting.ino can call strip and read NUM_LEDS with no include.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35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TYPES are not. The generated prototypes go ABOVE your code, so a prototype mentioning an enum or struct you declared in a tab will not compile - the type is not defined yet at that point.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That is precisely why Config.h is a real header rather than a ninth tab. A header is #included by the main sketch, so everything in it is defined before the generated prototypes appear.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328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446"/>
                <a:gridCol w="7728408"/>
              </a:tblGrid>
              <a:tr h="369887"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Color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91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console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6721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0">
                <a:solidFill>
                  <a:srgbClr val="222222"/>
                </a:solidFill>
                <a:latin typeface="Calibri"/>
              </a:defRPr>
            </a:pPr>
            <a:r>
              <a:rPr sz="25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04958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451919"/>
            <a:ext cx="4525238" cy="181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pair      change its behavior without a laptop full of toolchains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7692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11937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52170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1146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346075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You are about to be handed 1300 lines across eight files. Reading it front to back is the slowest possible way in.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1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A better order: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The header comment. It tells you the hardware, the controls, and - in this case - the change log.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Config.h. Every number the program cares about, in one place. You learn what it can do from what it lets you tune.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loop(). The whole shape of the program in one screen.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Notice what that order gives you: the vocabulary first, then the skeleton, then the detail. Going the other way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EXERCISE, ten minutes. Open Pathfinder_Op_Program12, read in that order,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motors, and integer math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