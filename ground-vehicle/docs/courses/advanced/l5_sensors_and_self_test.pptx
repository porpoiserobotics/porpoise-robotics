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Two facts that were on the slide and are now yours to say: GPIO 34-39 are input-only and cannot drive a bus at all, and the missing pull-up matters the moment they add their own sensor on the breadboard.</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Also worth saying, and no longer on the slide: any button press clears the pass/fail screen and hands over to normal driving.</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a:p>
            <a:r>
              <a:rPr sz="1200">
                <a:latin typeface="Calibri"/>
              </a:rPr>
              <a:t>The vehicle knows its own voltage, so a low-battery warning is a short job and a good exercise. Suggest it to anybody looking for a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Two wires, SDA and SCL, shared by every device on the bus. Each answers to a 7-bit address; 0x00-0x07 and 0x78-0x7F are reserved, leaving 0x08 to 0x77 to scan.</a:t>
            </a:r>
          </a:p>
          <a:p>
            <a:pPr algn="l">
              <a:lnSpc>
                <a:spcPct val="100000"/>
              </a:lnSpc>
              <a:spcAft>
                <a:spcPts val="600"/>
              </a:spcAft>
              <a:defRPr sz="2200" b="0">
                <a:solidFill>
                  <a:srgbClr val="222222"/>
                </a:solidFill>
                <a:latin typeface="Calibri"/>
              </a:defRPr>
            </a:pPr>
            <a:r>
              <a:rPr sz="2200" b="0">
                <a:solidFill>
                  <a:srgbClr val="222222"/>
                </a:solidFill>
                <a:latin typeface="Calibri"/>
              </a:rPr>
              <a:t>To TEST an address, start a transmission to it and end it immediately, sending no data. A device that is there pulls SDA low to acknowledge:</a:t>
            </a:r>
          </a:p>
          <a:p>
            <a:pPr lvl="1" algn="l">
              <a:lnSpc>
                <a:spcPct val="100000"/>
              </a:lnSpc>
              <a:spcAft>
                <a:spcPts val="600"/>
              </a:spcAft>
              <a:defRPr sz="2200" b="0">
                <a:solidFill>
                  <a:srgbClr val="222222"/>
                </a:solidFill>
                <a:latin typeface="Calibri"/>
              </a:defRPr>
            </a:pPr>
            <a:r>
              <a:rPr sz="2200" b="0">
                <a:solidFill>
                  <a:srgbClr val="222222"/>
                </a:solidFill>
                <a:latin typeface="Calibri"/>
              </a:rPr>
              <a:t>0  acknowledged - something is there</a:t>
            </a:r>
          </a:p>
          <a:p>
            <a:pPr lvl="1" algn="l">
              <a:lnSpc>
                <a:spcPct val="100000"/>
              </a:lnSpc>
              <a:spcAft>
                <a:spcPts val="600"/>
              </a:spcAft>
              <a:defRPr sz="2200" b="0">
                <a:solidFill>
                  <a:srgbClr val="222222"/>
                </a:solidFill>
                <a:latin typeface="Calibri"/>
              </a:defRPr>
            </a:pPr>
            <a:r>
              <a:rPr sz="2200" b="0">
                <a:solidFill>
                  <a:srgbClr val="222222"/>
                </a:solidFill>
                <a:latin typeface="Calibri"/>
              </a:rPr>
              <a:t>2  no acknowledge - nothing there</a:t>
            </a:r>
          </a:p>
          <a:p>
            <a:pPr algn="l">
              <a:lnSpc>
                <a:spcPct val="100000"/>
              </a:lnSpc>
              <a:spcAft>
                <a:spcPts val="600"/>
              </a:spcAft>
              <a:defRPr sz="2200" b="0">
                <a:solidFill>
                  <a:srgbClr val="222222"/>
                </a:solidFill>
                <a:latin typeface="Calibri"/>
              </a:defRPr>
            </a:pPr>
            <a:r>
              <a:rPr sz="2200" b="0">
                <a:solidFill>
                  <a:srgbClr val="222222"/>
                </a:solidFill>
                <a:latin typeface="Calibri"/>
              </a:rPr>
              <a:t>PULL-UP RESISTORS. I2C devices can only pull a line DOWN, so something has to pull it back up: a pair of resistors to 3.3 V, usually 4.7k. On the Pathfinder they are on the control board.</a:t>
            </a:r>
          </a:p>
          <a:p>
            <a:pPr algn="l">
              <a:lnSpc>
                <a:spcPct val="100000"/>
              </a:lnSpc>
              <a:spcAft>
                <a:spcPts val="600"/>
              </a:spcAft>
              <a:defRPr sz="2200" b="0">
                <a:solidFill>
                  <a:srgbClr val="222222"/>
                </a:solidFill>
                <a:latin typeface="Calibri"/>
              </a:defRPr>
            </a:pPr>
            <a:r>
              <a:rPr sz="2200" b="0">
                <a:solidFill>
                  <a:srgbClr val="222222"/>
                </a:solidFill>
                <a:latin typeface="Calibri"/>
              </a:rPr>
              <a:t>Nothing at all on EVERY address is the classic missing pull-up.</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800" b="0">
                <a:solidFill>
                  <a:srgbClr val="222222"/>
                </a:solidFill>
                <a:latin typeface="Calibri"/>
              </a:defRPr>
            </a:pPr>
            <a:r>
              <a:rPr sz="1800" b="0">
                <a:solidFill>
                  <a:srgbClr val="222222"/>
                </a:solidFill>
                <a:latin typeface="Calibri"/>
              </a:rPr>
              <a:t>I = V / 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6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then with the headlights on.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wheel free, then HOLD the wheel.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What gives it away?</a:t>
            </a:r>
          </a:p>
          <a:p>
            <a:pPr algn="l">
              <a:lnSpc>
                <a:spcPct val="100000"/>
              </a:lnSpc>
              <a:spcAft>
                <a:spcPts val="400"/>
              </a:spcAft>
              <a:defRPr sz="1800" b="0">
                <a:solidFill>
                  <a:srgbClr val="222222"/>
                </a:solidFill>
                <a:latin typeface="Calibri"/>
              </a:defRPr>
            </a:pPr>
            <a:r>
              <a:rPr sz="1800" b="0">
                <a:solidFill>
                  <a:srgbClr val="222222"/>
                </a:solidFill>
                <a:latin typeface="Calibri"/>
              </a:rPr>
              <a:t>4.  regs  - check them against the datasheet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How long does a 3300 mAh pack last at your average?</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with the LED power budget. Which wins?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0919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spike then a settle for a healthy motor. Almost nothing for a disconnected one. A high draw that never settles for a jammed one.</a:t>
            </a:r>
          </a:p>
        </p:txBody>
      </p:sp>
      <p:sp>
        <p:nvSpPr>
          <p:cNvPr id="10" name="TextBox 9"/>
          <p:cNvSpPr txBox="1"/>
          <p:nvPr/>
        </p:nvSpPr>
        <p:spPr>
          <a:xfrm>
            <a:off x="7163537" y="368663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88971"/>
            <a:ext cx="4525238" cy="108653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300"/>
              </a:spcAft>
              <a:defRPr sz="1800" b="0">
                <a:solidFill>
                  <a:srgbClr val="222222"/>
                </a:solidFill>
                <a:latin typeface="Calibri"/>
              </a:defRPr>
            </a:pPr>
            <a:r>
              <a:rPr sz="18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Jumper GPIO 34 high at boot. Each motor is driven forward then reverse while the current sensor watches.</a:t>
            </a:r>
          </a:p>
          <a:p>
            <a:pPr lvl="1" algn="l">
              <a:lnSpc>
                <a:spcPct val="100000"/>
              </a:lnSpc>
              <a:spcAft>
                <a:spcPts val="600"/>
              </a:spcAft>
              <a:defRPr sz="1900" b="0">
                <a:solidFill>
                  <a:srgbClr val="222222"/>
                </a:solidFill>
                <a:latin typeface="Calibri"/>
              </a:defRPr>
            </a:pPr>
            <a:r>
              <a:rPr sz="1900" b="0">
                <a:solidFill>
                  <a:srgbClr val="222222"/>
                </a:solidFill>
                <a:latin typeface="Calibri"/>
              </a:rPr>
              <a:t>CHECK_TRIGGER   wait for the pin to settle, then decide</a:t>
            </a:r>
          </a:p>
          <a:p>
            <a:pPr lvl="1" algn="l">
              <a:lnSpc>
                <a:spcPct val="100000"/>
              </a:lnSpc>
              <a:spcAft>
                <a:spcPts val="600"/>
              </a:spcAft>
              <a:defRPr sz="1900" b="0">
                <a:solidFill>
                  <a:srgbClr val="222222"/>
                </a:solidFill>
                <a:latin typeface="Calibri"/>
              </a:defRPr>
            </a:pPr>
            <a:r>
              <a:rPr sz="1900" b="0">
                <a:solidFill>
                  <a:srgbClr val="222222"/>
                </a:solidFill>
                <a:latin typeface="Calibri"/>
              </a:rPr>
              <a:t>BASELINE_CURRENT  measure the resting draw, motors off</a:t>
            </a:r>
          </a:p>
          <a:p>
            <a:pPr lvl="1" algn="l">
              <a:lnSpc>
                <a:spcPct val="100000"/>
              </a:lnSpc>
              <a:spcAft>
                <a:spcPts val="600"/>
              </a:spcAft>
              <a:defRPr sz="1900" b="0">
                <a:solidFill>
                  <a:srgbClr val="222222"/>
                </a:solidFill>
                <a:latin typeface="Calibri"/>
              </a:defRPr>
            </a:pPr>
            <a:r>
              <a:rPr sz="1900" b="0">
                <a:solidFill>
                  <a:srgbClr val="222222"/>
                </a:solidFill>
                <a:latin typeface="Calibri"/>
              </a:rPr>
              <a:t>RUNNING_TESTS     eight steps: four motors, two directions</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TEST_RESULT       green blinks for pass, red for fail</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TEST_DISABLED     hand over to normal driving</a:t>
            </a:r>
          </a:p>
          <a:p>
            <a:pPr algn="l">
              <a:lnSpc>
                <a:spcPct val="100000"/>
              </a:lnSpc>
              <a:spcAft>
                <a:spcPts val="600"/>
              </a:spcAft>
              <a:defRPr sz="1900" b="0">
                <a:solidFill>
                  <a:srgbClr val="222222"/>
                </a:solidFill>
                <a:latin typeface="Calibri"/>
              </a:defRPr>
            </a:pPr>
            <a:r>
              <a:rPr sz="1900" b="0">
                <a:solidFill>
                  <a:srgbClr val="222222"/>
                </a:solidFill>
                <a:latin typeface="Calibri"/>
              </a:rPr>
              <a:t>Driven from loop(), not blocking, so the LEDs keep animating and the console keeps responding throughout.</a:t>
            </a:r>
          </a:p>
          <a:p>
            <a:pPr algn="l">
              <a:lnSpc>
                <a:spcPct val="100000"/>
              </a:lnSpc>
              <a:spcAft>
                <a:spcPts val="600"/>
              </a:spcAft>
              <a:defRPr sz="1900" b="0">
                <a:solidFill>
                  <a:srgbClr val="222222"/>
                </a:solidFill>
                <a:latin typeface="Calibri"/>
              </a:defRPr>
            </a:pPr>
            <a:r>
              <a:rPr sz="1900" b="0">
                <a:solidFill>
                  <a:srgbClr val="222222"/>
                </a:solidFill>
                <a:latin typeface="Calibri"/>
              </a:rPr>
              <a:t>GPIO 34 is input-only with NO internal pulls, so the board carries an external pull-down.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563618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63618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Every five seconds, while it is switched on:</a:t>
            </a:r>
          </a:p>
          <a:p>
            <a:pPr lvl="1" algn="l">
              <a:lnSpc>
                <a:spcPct val="100000"/>
              </a:lnSpc>
              <a:spcAft>
                <a:spcPts val="800"/>
              </a:spcAft>
              <a:defRPr sz="1900" b="0">
                <a:solidFill>
                  <a:srgbClr val="222222"/>
                </a:solidFill>
                <a:latin typeface="Calibri"/>
              </a:defRPr>
            </a:pPr>
            <a:r>
              <a:rPr sz="1900" b="0">
                <a:solidFill>
                  <a:srgbClr val="222222"/>
                </a:solidFill>
                <a:latin typeface="Calibri"/>
              </a:rPr>
              <a:t>VBat   - bus voltage, straight from the sensor</a:t>
            </a:r>
          </a:p>
          <a:p>
            <a:pPr lvl="1" algn="l">
              <a:lnSpc>
                <a:spcPct val="100000"/>
              </a:lnSpc>
              <a:spcAft>
                <a:spcPts val="800"/>
              </a:spcAft>
              <a:defRPr sz="1900" b="0">
                <a:solidFill>
                  <a:srgbClr val="222222"/>
                </a:solidFill>
                <a:latin typeface="Calibri"/>
              </a:defRPr>
            </a:pPr>
            <a:r>
              <a:rPr sz="1900" b="0">
                <a:solidFill>
                  <a:srgbClr val="222222"/>
                </a:solidFill>
                <a:latin typeface="Calibri"/>
              </a:rPr>
              <a:t>I-Avg  - mean current since the last report</a:t>
            </a:r>
          </a:p>
          <a:p>
            <a:pPr lvl="1" algn="l">
              <a:lnSpc>
                <a:spcPct val="100000"/>
              </a:lnSpc>
              <a:spcAft>
                <a:spcPts val="800"/>
              </a:spcAft>
              <a:defRPr sz="1900" b="0">
                <a:solidFill>
                  <a:srgbClr val="222222"/>
                </a:solidFill>
                <a:latin typeface="Calibri"/>
              </a:defRPr>
            </a:pPr>
            <a:r>
              <a:rPr sz="1900" b="0">
                <a:solidFill>
                  <a:srgbClr val="222222"/>
                </a:solidFill>
                <a:latin typeface="Calibri"/>
              </a:rPr>
              <a:t>I-Max  - the largest positive spike</a:t>
            </a:r>
          </a:p>
          <a:p>
            <a:pPr lvl="1" algn="l">
              <a:lnSpc>
                <a:spcPct val="100000"/>
              </a:lnSpc>
              <a:spcAft>
                <a:spcPts val="800"/>
              </a:spcAft>
              <a:defRPr sz="1900" b="0">
                <a:solidFill>
                  <a:srgbClr val="222222"/>
                </a:solidFill>
                <a:latin typeface="Calibri"/>
              </a:defRPr>
            </a:pPr>
            <a:r>
              <a:rPr sz="1900" b="0">
                <a:solidFill>
                  <a:srgbClr val="222222"/>
                </a:solidFill>
                <a:latin typeface="Calibri"/>
              </a:rPr>
              <a:t>I-Min  - the largest negative excursion</a:t>
            </a:r>
          </a:p>
          <a:p>
            <a:pPr algn="l">
              <a:lnSpc>
                <a:spcPct val="100000"/>
              </a:lnSpc>
              <a:spcAft>
                <a:spcPts val="800"/>
              </a:spcAft>
              <a:defRPr sz="1900" b="0">
                <a:solidFill>
                  <a:srgbClr val="222222"/>
                </a:solidFill>
                <a:latin typeface="Calibri"/>
              </a:defRPr>
            </a:pPr>
            <a:r>
              <a:rPr sz="1900" b="0">
                <a:solidFill>
                  <a:srgbClr val="222222"/>
                </a:solidFill>
                <a:latin typeface="Calibri"/>
              </a:rPr>
              <a:t>Negative current is real: cut the throttle and a spinning motor becomes a generator. That is why the shunt register is signed.</a:t>
            </a:r>
          </a:p>
        </p:txBody>
      </p:sp>
      <p:sp>
        <p:nvSpPr>
          <p:cNvPr id="8" name="TextBox 7"/>
          <p:cNvSpPr txBox="1"/>
          <p:nvPr/>
        </p:nvSpPr>
        <p:spPr>
          <a:xfrm>
            <a:off x="6596303" y="1188720"/>
            <a:ext cx="509247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596303" y="1700784"/>
            <a:ext cx="509247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4S 3300 mAh pack holds 3.3 amp hours.</a:t>
            </a:r>
          </a:p>
          <a:p>
            <a:pPr lvl="1" algn="l">
              <a:lnSpc>
                <a:spcPct val="100000"/>
              </a:lnSpc>
              <a:spcAft>
                <a:spcPts val="800"/>
              </a:spcAft>
              <a:defRPr sz="1900" b="0">
                <a:solidFill>
                  <a:srgbClr val="222222"/>
                </a:solidFill>
                <a:latin typeface="Calibri"/>
              </a:defRPr>
            </a:pPr>
            <a:r>
              <a:rPr sz="1900" b="0">
                <a:solidFill>
                  <a:srgbClr val="222222"/>
                </a:solidFill>
                <a:latin typeface="Calibri"/>
              </a:rPr>
              <a:t>hours = 3.3 / average current in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2.0 A:  3.3 / 2.0 = 1.65 h, 99 min</a:t>
            </a:r>
          </a:p>
          <a:p>
            <a:pPr lvl="1" algn="l">
              <a:lnSpc>
                <a:spcPct val="100000"/>
              </a:lnSpc>
              <a:spcAft>
                <a:spcPts val="800"/>
              </a:spcAft>
              <a:defRPr sz="1900" b="0">
                <a:solidFill>
                  <a:srgbClr val="222222"/>
                </a:solidFill>
                <a:latin typeface="Calibri"/>
              </a:defRPr>
            </a:pPr>
            <a:r>
              <a:rPr sz="1900" b="0">
                <a:solidFill>
                  <a:srgbClr val="222222"/>
                </a:solidFill>
                <a:latin typeface="Calibri"/>
              </a:rPr>
              <a:t>At 6.0 A:  3.3 / 6.0 = 0.55 h, 33 min</a:t>
            </a:r>
          </a:p>
          <a:p>
            <a:pPr algn="l">
              <a:lnSpc>
                <a:spcPct val="100000"/>
              </a:lnSpc>
              <a:spcAft>
                <a:spcPts val="800"/>
              </a:spcAft>
              <a:defRPr sz="1900" b="0">
                <a:solidFill>
                  <a:srgbClr val="222222"/>
                </a:solidFill>
                <a:latin typeface="Calibri"/>
              </a:defRPr>
            </a:pPr>
            <a:r>
              <a:rPr sz="1900" b="0">
                <a:solidFill>
                  <a:srgbClr val="222222"/>
                </a:solidFill>
                <a:latin typeface="Calibri"/>
              </a:rPr>
              <a:t>Now add the LEDs: 32 pixels at full white is nearly 2 A, moving or not.</a:t>
            </a:r>
          </a:p>
          <a:p>
            <a:pPr algn="l">
              <a:lnSpc>
                <a:spcPct val="100000"/>
              </a:lnSpc>
              <a:spcAft>
                <a:spcPts val="800"/>
              </a:spcAft>
              <a:defRPr sz="1900" b="0">
                <a:solidFill>
                  <a:srgbClr val="222222"/>
                </a:solidFill>
                <a:latin typeface="Calibri"/>
              </a:defRPr>
            </a:pPr>
            <a:r>
              <a:rPr sz="1900" b="0">
                <a:solidFill>
                  <a:srgbClr val="222222"/>
                </a:solidFill>
                <a:latin typeface="Calibri"/>
              </a:rPr>
              <a:t>Measure yours, then decide what you can afford.</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1.  Every tunable number goes in Config.h. Pins, thresholds, timings. Nothing hard-coded in the logic.</a:t>
            </a:r>
          </a:p>
          <a:p>
            <a:pPr algn="l">
              <a:lnSpc>
                <a:spcPct val="100000"/>
              </a:lnSpc>
              <a:spcAft>
                <a:spcPts val="900"/>
              </a:spcAft>
              <a:defRPr sz="2000" b="0">
                <a:solidFill>
                  <a:srgbClr val="222222"/>
                </a:solidFill>
                <a:latin typeface="Calibri"/>
              </a:defRPr>
            </a:pPr>
            <a:r>
              <a:rPr sz="2000" b="0">
                <a:solidFill>
                  <a:srgbClr val="222222"/>
                </a:solidFill>
                <a:latin typeface="Calibri"/>
              </a:rPr>
              <a:t>2.  One new tab, RangeFinder.ino, owning all of it.</a:t>
            </a:r>
          </a:p>
          <a:p>
            <a:pPr algn="l">
              <a:lnSpc>
                <a:spcPct val="100000"/>
              </a:lnSpc>
              <a:spcAft>
                <a:spcPts val="900"/>
              </a:spcAft>
              <a:defRPr sz="2000" b="0">
                <a:solidFill>
                  <a:srgbClr val="222222"/>
                </a:solidFill>
                <a:latin typeface="Calibri"/>
              </a:defRPr>
            </a:pPr>
            <a:r>
              <a:rPr sz="20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4.  An update_rangefinder(now) called every pass, that returns immediately if it is not time. No delay(), ever.</a:t>
            </a:r>
          </a:p>
          <a:p>
            <a:pPr algn="l">
              <a:lnSpc>
                <a:spcPct val="100000"/>
              </a:lnSpc>
              <a:spcAft>
                <a:spcPts val="900"/>
              </a:spcAft>
              <a:defRPr sz="1900" b="0">
                <a:solidFill>
                  <a:srgbClr val="222222"/>
                </a:solidFill>
                <a:latin typeface="Calibri"/>
              </a:defRPr>
            </a:pPr>
            <a:r>
              <a:rPr sz="1900" b="0">
                <a:solidFill>
                  <a:srgbClr val="222222"/>
                </a:solidFill>
                <a:latin typeface="Calibri"/>
              </a:rPr>
              <a:t>5.  A capability flag, so a vehicle without the sensor still runs this binary.</a:t>
            </a:r>
          </a:p>
          <a:p>
            <a:pPr algn="l">
              <a:lnSpc>
                <a:spcPct val="100000"/>
              </a:lnSpc>
              <a:spcAft>
                <a:spcPts val="900"/>
              </a:spcAft>
              <a:defRPr sz="1900" b="0">
                <a:solidFill>
                  <a:srgbClr val="222222"/>
                </a:solidFill>
                <a:latin typeface="Calibri"/>
              </a:defRPr>
            </a:pPr>
            <a:r>
              <a:rPr sz="1900" b="0">
                <a:solidFill>
                  <a:srgbClr val="222222"/>
                </a:solidFill>
                <a:latin typeface="Calibri"/>
              </a:rPr>
              <a:t>6.  A console command, so it can be tested and tuned without recompiling.</a:t>
            </a:r>
          </a:p>
          <a:p>
            <a:pPr algn="l">
              <a:lnSpc>
                <a:spcPct val="100000"/>
              </a:lnSpc>
              <a:spcAft>
                <a:spcPts val="900"/>
              </a:spcAft>
              <a:defRPr sz="1900" b="0">
                <a:solidFill>
                  <a:srgbClr val="222222"/>
                </a:solidFill>
                <a:latin typeface="Calibri"/>
              </a:defRPr>
            </a:pPr>
            <a:r>
              <a:rPr sz="1900" b="0">
                <a:solidFill>
                  <a:srgbClr val="222222"/>
                </a:solidFill>
                <a:latin typeface="Calibri"/>
              </a:rPr>
              <a:t>7.  Keep its state in static file-scope variables. Expose functions, not variables.</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51122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11220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072327" y="1188720"/>
            <a:ext cx="56164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072327" y="1700784"/>
            <a:ext cx="56164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2196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21960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400"/>
              </a:spcAft>
              <a:defRPr sz="1800" b="0">
                <a:solidFill>
                  <a:srgbClr val="222222"/>
                </a:solidFill>
                <a:latin typeface="Calibri"/>
              </a:defRPr>
            </a:pPr>
            <a:r>
              <a:rPr sz="1800" b="0">
                <a:solidFill>
                  <a:srgbClr val="222222"/>
                </a:solidFill>
                <a:latin typeface="Calibri"/>
              </a:rPr>
              <a:t>Accurate. Needs a meter, a bench and a person.</a:t>
            </a:r>
          </a:p>
        </p:txBody>
      </p:sp>
      <p:sp>
        <p:nvSpPr>
          <p:cNvPr id="8" name="TextBox 7"/>
          <p:cNvSpPr txBox="1"/>
          <p:nvPr/>
        </p:nvSpPr>
        <p:spPr>
          <a:xfrm>
            <a:off x="6179727" y="1188720"/>
            <a:ext cx="55090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179727" y="1700784"/>
            <a:ext cx="55090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peak and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Runs in ten seconds, in a classroom, with no equipment and nobody who can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