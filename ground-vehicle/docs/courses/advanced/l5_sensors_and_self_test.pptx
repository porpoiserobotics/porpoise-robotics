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You need at least one Gen 3 vehicle per two groups for the sensor work. A Gen 2 is still useful - the second step of the first activity needs one.</a:t>
            </a:r>
          </a:p>
          <a:p>
            <a:r>
              <a:rPr sz="1200">
                <a:latin typeface="Calibri"/>
              </a:rPr>
              <a:t>Blocks out again. The current measurements need a motor spinning freely and then held.</a:t>
            </a:r>
          </a:p>
          <a:p>
            <a:r>
              <a:rPr sz="1200">
                <a:latin typeface="Calibri"/>
              </a:rPr>
              <a:t>This is the last lesson. Leave time at the end for the capstone slide - it is what they take away.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Objective six is the real one. Everything before it is groundwork for being able to extend the program without making it worse.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Two breaks. The capstone discussion at 2:50 will overrun if you let the measurement activity run long.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Ten lines, and it covers what they need. Do not turn this into a bus protocol lecture.</a:t>
            </a:r>
          </a:p>
          <a:p>
            <a:r>
              <a:rPr sz="1200">
                <a:latin typeface="Calibri"/>
              </a:rPr>
              <a:t>Two facts that were on the slide and are now yours to say: GPIO 34-39 are input-only and cannot drive a bus at all, and the missing pull-up matters the moment they add their own sensor on the breadboard.</a:t>
            </a:r>
          </a:p>
          <a:p>
            <a:r>
              <a:rPr sz="1200">
                <a:latin typeface="Calibri"/>
              </a:rPr>
              <a:t>The acknowledge mechanism is the clever bit: address it, send nothing, and see whether anything pulls SDA low.</a:t>
            </a:r>
          </a:p>
          <a:p>
            <a:r>
              <a:rPr sz="1200">
                <a:latin typeface="Calibri"/>
              </a:rPr>
              <a:t>The pull-up point is the one that will save them an afternoon. Devices can only pull a line DOWN, so something has to pull it back up.</a:t>
            </a:r>
          </a:p>
          <a:p>
            <a:r>
              <a:rPr sz="1200">
                <a:latin typeface="Calibri"/>
              </a:rPr>
              <a:t>Nothing on every address is the classic missing-pull-up symptom. It matters the moment they wire their own sensor on the breadboard.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Twenty seconds. First activity.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Step 2 is the important one and it is counter-intuitive: finding nothing on a Gen 2 is the CORRECT answer, not a failure.</a:t>
            </a:r>
          </a:p>
          <a:p>
            <a:r>
              <a:rPr sz="1200">
                <a:latin typeface="Calibri"/>
              </a:rPr>
              <a:t>Step 4 uses the ESP32 default pins, which are not the ones this board wires the sensor to. Nothing answers, and that is the point.</a:t>
            </a:r>
          </a:p>
          <a:p>
            <a:r>
              <a:rPr sz="1200">
                <a:latin typeface="Calibri"/>
              </a:rPr>
              <a:t>Step 5 tries input-only pins. The sketch explains why that cannot work.</a:t>
            </a:r>
          </a:p>
          <a:p>
            <a:r>
              <a:rPr sz="1200">
                <a:latin typeface="Calibri"/>
              </a:rPr>
              <a:t>The question ties it back: this is exactly what is_ina219_present() does in Op 12, and the decision it drives is which capability flags get set.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Twenty seconds. Second activity.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You cannot measure current directly. Say that first - it is the reason the whole shunt idea exists.</a:t>
            </a:r>
          </a:p>
          <a:p>
            <a:r>
              <a:rPr sz="1200">
                <a:latin typeface="Calibri"/>
              </a:rPr>
              <a:t>Do both power calculations on the board. 0.01 W against 0.4 W is the whole argument for a tiny resistor.</a:t>
            </a:r>
          </a:p>
          <a:p>
            <a:r>
              <a:rPr sz="1200">
                <a:latin typeface="Calibri"/>
              </a:rPr>
              <a:t>Five millivolts at two amps. Reading that accurately is the sensor's entire job, and it is why an INA219 exists rather than an analog input.</a:t>
            </a:r>
          </a:p>
          <a:p>
            <a:r>
              <a:rPr sz="1200">
                <a:latin typeface="Calibri"/>
              </a:rPr>
              <a:t>This is Ohm's law from the beginner course doing real work. Point back at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Two relationships, and between them they explain every resistor and every current budget on this vehicle.</a:t>
            </a:r>
          </a:p>
          <a:p>
            <a:r>
              <a:rPr sz="1200">
                <a:latin typeface="Calibri"/>
              </a:rPr>
              <a:t>Do one worked example on the board before they look at the slide, and make them tell you which quantity is the unknown.</a:t>
            </a:r>
          </a:p>
          <a:p>
            <a:r>
              <a:rPr sz="1200">
                <a:latin typeface="Calibri"/>
              </a:rPr>
              <a:t>Units matter more than the algebra here. Volts, amps, ohms, watts - keep saying them.</a:t>
            </a:r>
          </a:p>
          <a:p>
            <a:r>
              <a:rPr sz="1200">
                <a:latin typeface="Calibri"/>
              </a:rPr>
              <a:t>The reason this is in a robotics course: the LED resistor and the 32-LED current budget are both this, and getting them wrong smells of hot plastic.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No library. Two functions and a datasheet. That is the point of the slide.</a:t>
            </a:r>
          </a:p>
          <a:p>
            <a:r>
              <a:rPr sz="1200">
                <a:latin typeface="Calibri"/>
              </a:rPr>
              <a:t>The repeated start matters: a full stop would let another master grab the bus between writing the register number and reading the answer.</a:t>
            </a:r>
          </a:p>
          <a:p>
            <a:r>
              <a:rPr sz="1200">
                <a:latin typeface="Calibri"/>
              </a:rPr>
              <a:t>The two reads are separate statements on purpose. Written as (Wire.read() &lt;&lt; 8) | Wire.read(), C++ does not promise which read() runs first - the bytes can come back swapped.</a:t>
            </a:r>
          </a:p>
          <a:p>
            <a:r>
              <a:rPr sz="1200">
                <a:latin typeface="Calibri"/>
              </a:rPr>
              <a:t>The signed read is the trap. Read the shunt register unsigned and every regenerative spike comes back as a huge positive number.</a:t>
            </a:r>
          </a:p>
          <a:p>
            <a:r>
              <a:rPr sz="1200">
                <a:latin typeface="Calibri"/>
              </a:rPr>
              <a:t>The bus voltage register keeps flags in the bottom three bits, which is why it shifts right by three. That is normal for register maps, and reading a datasheet is a skill worth naming.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Step 2 needs care: hold the wheel firmly but keep fingers out of the spokes, and do not hold a stalled motor for more than a second or two.</a:t>
            </a:r>
          </a:p>
          <a:p>
            <a:r>
              <a:rPr sz="1200">
                <a:latin typeface="Calibri"/>
              </a:rPr>
              <a:t>Step 3 is the diagnostic payoff - an unplugged motor draws almost nothing, and that is unmistakable in the numbers.</a:t>
            </a:r>
          </a:p>
          <a:p>
            <a:r>
              <a:rPr sz="1200">
                <a:latin typeface="Calibri"/>
              </a:rPr>
              <a:t>Steps 5 and 6 connect this to the beginner course. Get them to compare the motor draw with the LED power budget and say which dominates.</a:t>
            </a:r>
          </a:p>
          <a:p>
            <a:r>
              <a:rPr sz="1200">
                <a:latin typeface="Calibri"/>
              </a:rPr>
              <a:t>Collect resting currents from a few groups. They vary, and the variation is itself interesting.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Have a Gen 3 open on the desk and let people look at the actual part before the theory starts.</a:t>
            </a:r>
          </a:p>
          <a:p>
            <a:r>
              <a:rPr sz="1200">
                <a:latin typeface="Calibri"/>
              </a:rPr>
              <a:t>The shunt is the small, low-value resistor next to it. That is what the whole measurement happens across.</a:t>
            </a:r>
          </a:p>
          <a:p>
            <a:r>
              <a:rPr sz="1200">
                <a:latin typeface="Calibri"/>
              </a:rPr>
              <a:t>Two wires to GPIO 32 and 33 is the entire electrical interface. Everything else is I2C protocol.</a:t>
            </a:r>
          </a:p>
          <a:p>
            <a:r>
              <a:rPr sz="1200">
                <a:latin typeface="Calibri"/>
              </a:rPr>
              <a:t>In the photograph the shunt is the pair marked R005 immediately right of the circled part. Point at them - a five-milliohm resistor looks like nothing, and that is the point.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Current is the cheapest sensor on the vehicle, because it is already there. Every fault has a shape.</a:t>
            </a:r>
          </a:p>
          <a:p>
            <a:r>
              <a:rPr sz="1200">
                <a:latin typeface="Calibri"/>
              </a:rPr>
              <a:t>Walk the three regions: no load, working, stalled. A stalled motor draws the most and moves the least, which is the worst of both.</a:t>
            </a:r>
          </a:p>
          <a:p>
            <a:r>
              <a:rPr sz="1200">
                <a:latin typeface="Calibri"/>
              </a:rPr>
              <a:t>Ask what a broken wire looks like. Near zero current with the command still on - and the vehicle limping in a circle.</a:t>
            </a:r>
          </a:p>
          <a:p>
            <a:r>
              <a:rPr sz="1200">
                <a:latin typeface="Calibri"/>
              </a:rPr>
              <a:t>This is the foundation of the powered self-test later in the lesson.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Five states, and it is driven from loop() rather than blocking. That is the same discipline as the lighting lesson.</a:t>
            </a:r>
          </a:p>
          <a:p>
            <a:r>
              <a:rPr sz="1200">
                <a:latin typeface="Calibri"/>
              </a:rPr>
              <a:t>So the LEDs keep animating and the console keeps responding while the test runs. Ask why that matters - because a machine that goes deaf during a self-test cannot be interrupted.</a:t>
            </a:r>
          </a:p>
          <a:p>
            <a:r>
              <a:rPr sz="1200">
                <a:latin typeface="Calibri"/>
              </a:rPr>
              <a:t>The GPIO 34 note is a real hardware trap. Input-only, no internal pulls, so the board carries an external pull-down.</a:t>
            </a:r>
          </a:p>
          <a:p>
            <a:r>
              <a:rPr sz="1200">
                <a:latin typeface="Calibri"/>
              </a:rPr>
              <a:t>Also worth saying, and no longer on the slide: any button press clears the pass/fail screen and hands over to normal driving.</a:t>
            </a:r>
          </a:p>
          <a:p>
            <a:r>
              <a:rPr sz="1200">
                <a:latin typeface="Calibri"/>
              </a:rPr>
              <a:t>A floating input-only pin reads whatever the room's electrical noise says. Worth saying, because somebody will try this on a breadboard.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negative current is the interesting column. A spinning motor with the throttle cut becomes a generator and pushes current back.</a:t>
            </a:r>
          </a:p>
          <a:p>
            <a:r>
              <a:rPr sz="1200">
                <a:latin typeface="Calibri"/>
              </a:rPr>
              <a:t>That is why the shunt register is signed, and it links straight back to the previous code slide.</a:t>
            </a:r>
          </a:p>
          <a:p>
            <a:r>
              <a:rPr sz="1200">
                <a:latin typeface="Calibri"/>
              </a:rPr>
              <a:t>The right column is arithmetic they can do for their own vehicle. Get everybody to compute a runtime from their own measured average.</a:t>
            </a:r>
          </a:p>
          <a:p>
            <a:r>
              <a:rPr sz="1200">
                <a:latin typeface="Calibri"/>
              </a:rPr>
              <a:t>Point out that the tracking resets after each report, so each line describes the last five seconds, not the whole session.</a:t>
            </a:r>
          </a:p>
          <a:p>
            <a:r>
              <a:rPr sz="1200">
                <a:latin typeface="Calibri"/>
              </a:rPr>
              <a:t>The vehicle knows its own voltage, so a low-battery warning is a short job and a good exercise. Suggest it to anybody looking for a project.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Seven rules, and they are the summary of the whole course. Read them slowly.</a:t>
            </a:r>
          </a:p>
          <a:p>
            <a:r>
              <a:rPr sz="1200">
                <a:latin typeface="Calibri"/>
              </a:rPr>
              <a:t>Every one of them is something Op 12 already does, so they can check each against the real program.</a:t>
            </a:r>
          </a:p>
          <a:p>
            <a:r>
              <a:rPr sz="1200">
                <a:latin typeface="Calibri"/>
              </a:rPr>
              <a:t>Rule seven is the one people skip: expose functions, not variables. Ask what goes wrong when another tab writes your state directly.</a:t>
            </a:r>
          </a:p>
          <a:p>
            <a:r>
              <a:rPr sz="1200">
                <a:latin typeface="Calibri"/>
              </a:rPr>
              <a:t>If they can do these seven things, they can extend this program without making it worse. That is the whole point of five lessons.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left column is concrete next steps. The right column is why any of it mattered.</a:t>
            </a:r>
          </a:p>
          <a:p>
            <a:r>
              <a:rPr sz="1200">
                <a:latin typeface="Calibri"/>
              </a:rPr>
              <a:t>Say the last line plainly: six of the ideas in this course exist because somebody shipped the bug first. That is also how it works in industry, and it is not a shameful thing.</a:t>
            </a:r>
          </a:p>
          <a:p>
            <a:r>
              <a:rPr sz="1200">
                <a:latin typeface="Calibri"/>
              </a:rPr>
              <a:t>The same patterns run cars, medical devices, satellites and industrial controllers. That is not hyperbole.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Two versions of the same test, and the comparison is the lesson.</a:t>
            </a:r>
          </a:p>
          <a:p>
            <a:r>
              <a:rPr sz="1200">
                <a:latin typeface="Calibri"/>
              </a:rPr>
              <a:t>The bench test is more accurate and needs a meter, a bench and a person. The self-test is less accurate and runs in ten seconds, anywhere, on every vehicle.</a:t>
            </a:r>
          </a:p>
          <a:p>
            <a:r>
              <a:rPr sz="1200">
                <a:latin typeface="Calibri"/>
              </a:rPr>
              <a:t>Ask which one you would want in a classroom of thirty vehicles. Then ask which one you would want before a board ships.</a:t>
            </a:r>
          </a:p>
          <a:p>
            <a:r>
              <a:rPr sz="1200">
                <a:latin typeface="Calibri"/>
              </a:rPr>
              <a:t>The answer is both, for different reasons. That is a real engineering judgement rather than a right answer.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is the last teaching slide. Give it proper time.</a:t>
            </a:r>
          </a:p>
          <a:p>
            <a:r>
              <a:rPr sz="1200">
                <a:latin typeface="Calibri"/>
              </a:rPr>
              <a:t>Insist on the seven rules from the earlier slide. A capstone built badly teaches the wrong thing.</a:t>
            </a:r>
          </a:p>
          <a:p>
            <a:r>
              <a:rPr sz="1200">
                <a:latin typeface="Calibri"/>
              </a:rPr>
              <a:t>The obstacle-stop option has the best hidden question in it: what happens when the sensor gives one bad reading? Push whoever picks it.</a:t>
            </a:r>
          </a:p>
          <a:p>
            <a:r>
              <a:rPr sz="1200">
                <a:latin typeface="Calibri"/>
              </a:rPr>
              <a:t>If anybody is continuing after the course, get them to commit to one today while the enthusiasm is still there.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Conversation, not a test. This is the last thing they do.</a:t>
            </a:r>
          </a:p>
          <a:p>
            <a:r>
              <a:rPr sz="1200">
                <a:latin typeface="Calibri"/>
              </a:rPr>
              <a:t>Answers: address it and end the transmission with no data, then check the acknowledgement; nothing on any address means a missing pull-up; a small shunt wastes less power and steals less voltage from the motors.</a:t>
            </a:r>
          </a:p>
          <a:p>
            <a:r>
              <a:rPr sz="1200">
                <a:latin typeface="Calibri"/>
              </a:rPr>
              <a:t>Signed, because a motor pushes current back when the throttle is cut.</a:t>
            </a:r>
          </a:p>
          <a:p>
            <a:r>
              <a:rPr sz="1200">
                <a:latin typeface="Calibri"/>
              </a:rPr>
              <a:t>A repeated start keeps the bus so no other master can take it mid-read.</a:t>
            </a:r>
          </a:p>
          <a:p>
            <a:r>
              <a:rPr sz="1200">
                <a:latin typeface="Calibri"/>
              </a:rPr>
              <a:t>Healthy: a spike then a settle. Disconnected: almost nothing. Jammed: high and never settling.</a:t>
            </a:r>
          </a:p>
          <a:p>
            <a:r>
              <a:rPr sz="1200">
                <a:latin typeface="Calibri"/>
              </a:rPr>
              <a:t>Thresholds sit above a measured baseline because the resting draw differs between vehicles and with battery charge.</a:t>
            </a:r>
          </a:p>
          <a:p>
            <a:r>
              <a:rPr sz="1200">
                <a:latin typeface="Calibri"/>
              </a:rPr>
              <a:t>The self-test is a state machine so the LEDs and console keep working.</a:t>
            </a:r>
          </a:p>
          <a:p>
            <a:r>
              <a:rPr sz="1200">
                <a:latin typeface="Calibri"/>
              </a:rPr>
              <a:t>Question 9 is the seven rules. If they can list them, the course did its job.</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jpg"/><Relationship Id="rId3" Type="http://schemas.openxmlformats.org/officeDocument/2006/relationships/image" Target="../media/image4.jp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0116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orpoise-logo.png"/>
          <p:cNvPicPr>
            <a:picLocks noChangeAspect="1"/>
          </p:cNvPicPr>
          <p:nvPr/>
        </p:nvPicPr>
        <p:blipFill>
          <a:blip r:embed="rId2"/>
          <a:stretch>
            <a:fillRect/>
          </a:stretch>
        </p:blipFill>
        <p:spPr>
          <a:xfrm>
            <a:off x="10922762" y="457200"/>
            <a:ext cx="766013" cy="777240"/>
          </a:xfrm>
          <a:prstGeom prst="rect">
            <a:avLst/>
          </a:prstGeom>
        </p:spPr>
      </p:pic>
      <p:sp>
        <p:nvSpPr>
          <p:cNvPr id="4" name="TextBox 3"/>
          <p:cNvSpPr txBox="1"/>
          <p:nvPr/>
        </p:nvSpPr>
        <p:spPr>
          <a:xfrm>
            <a:off x="502920" y="1051560"/>
            <a:ext cx="6492240" cy="365760"/>
          </a:xfrm>
          <a:prstGeom prst="rect">
            <a:avLst/>
          </a:prstGeom>
          <a:noFill/>
        </p:spPr>
        <p:txBody>
          <a:bodyPr wrap="square" lIns="0" tIns="0" rIns="0" bIns="0">
            <a:spAutoFit/>
          </a:bodyPr>
          <a:lstStyle/>
          <a:p>
            <a:pPr algn="l">
              <a:lnSpc>
                <a:spcPct val="100000"/>
              </a:lnSpc>
              <a:spcAft>
                <a:spcPts val="0"/>
              </a:spcAft>
              <a:defRPr sz="1600" b="1">
                <a:solidFill>
                  <a:srgbClr val="0E7C86"/>
                </a:solidFill>
                <a:latin typeface="Calibri"/>
              </a:defRPr>
            </a:pPr>
            <a:r>
              <a:rPr sz="1600" b="1">
                <a:solidFill>
                  <a:srgbClr val="0E7C86"/>
                </a:solidFill>
                <a:latin typeface="Calibri"/>
              </a:rPr>
              <a:t>LESSON 5</a:t>
            </a:r>
          </a:p>
        </p:txBody>
      </p:sp>
      <p:sp>
        <p:nvSpPr>
          <p:cNvPr id="5" name="TextBox 4"/>
          <p:cNvSpPr txBox="1"/>
          <p:nvPr/>
        </p:nvSpPr>
        <p:spPr>
          <a:xfrm>
            <a:off x="502920" y="1481328"/>
            <a:ext cx="6492240" cy="1554480"/>
          </a:xfrm>
          <a:prstGeom prst="rect">
            <a:avLst/>
          </a:prstGeom>
          <a:noFill/>
        </p:spPr>
        <p:txBody>
          <a:bodyPr wrap="square" lIns="0" tIns="0" rIns="0" bIns="0">
            <a:spAutoFit/>
          </a:bodyPr>
          <a:lstStyle/>
          <a:p>
            <a:pPr algn="l">
              <a:lnSpc>
                <a:spcPct val="95000"/>
              </a:lnSpc>
              <a:spcAft>
                <a:spcPts val="0"/>
              </a:spcAft>
              <a:defRPr sz="4000" b="1">
                <a:solidFill>
                  <a:srgbClr val="1F3A5F"/>
                </a:solidFill>
                <a:latin typeface="Calibri"/>
              </a:defRPr>
            </a:pPr>
            <a:r>
              <a:rPr sz="4000" b="1">
                <a:solidFill>
                  <a:srgbClr val="1F3A5F"/>
                </a:solidFill>
                <a:latin typeface="Calibri"/>
              </a:rPr>
              <a:t>Sensors, Self-Test and Diagnostics</a:t>
            </a:r>
          </a:p>
        </p:txBody>
      </p:sp>
      <p:sp>
        <p:nvSpPr>
          <p:cNvPr id="6" name="TextBox 5"/>
          <p:cNvSpPr txBox="1"/>
          <p:nvPr/>
        </p:nvSpPr>
        <p:spPr>
          <a:xfrm>
            <a:off x="502920" y="3154680"/>
            <a:ext cx="6492240" cy="960120"/>
          </a:xfrm>
          <a:prstGeom prst="rect">
            <a:avLst/>
          </a:prstGeom>
          <a:noFill/>
        </p:spPr>
        <p:txBody>
          <a:bodyPr wrap="square" lIns="0" tIns="0" rIns="0" bIns="0">
            <a:spAutoFit/>
          </a:bodyPr>
          <a:lstStyle/>
          <a:p>
            <a:pPr algn="l">
              <a:lnSpc>
                <a:spcPct val="100000"/>
              </a:lnSpc>
              <a:spcAft>
                <a:spcPts val="0"/>
              </a:spcAft>
              <a:defRPr sz="1700" b="0">
                <a:solidFill>
                  <a:srgbClr val="222222"/>
                </a:solidFill>
                <a:latin typeface="Calibri"/>
              </a:defRPr>
            </a:pPr>
            <a:r>
              <a:rPr sz="1700" b="0">
                <a:solidFill>
                  <a:srgbClr val="222222"/>
                </a:solidFill>
                <a:latin typeface="Calibri"/>
              </a:rPr>
              <a:t>I2C, shunt resistors, current signatures, and a vehicle that can tell you which motor is unplugged.</a:t>
            </a:r>
          </a:p>
        </p:txBody>
      </p:sp>
      <p:sp>
        <p:nvSpPr>
          <p:cNvPr id="7" name="TextBox 6"/>
          <p:cNvSpPr txBox="1"/>
          <p:nvPr/>
        </p:nvSpPr>
        <p:spPr>
          <a:xfrm>
            <a:off x="502920" y="3931920"/>
            <a:ext cx="6492240" cy="2148840"/>
          </a:xfrm>
          <a:prstGeom prst="rect">
            <a:avLst/>
          </a:prstGeom>
          <a:noFill/>
        </p:spPr>
        <p:txBody>
          <a:bodyPr wrap="square" lIns="0" tIns="0" rIns="0" bIns="0">
            <a:spAutoFit/>
          </a:bodyPr>
          <a:lstStyle/>
          <a:p>
            <a:pPr algn="l">
              <a:lnSpc>
                <a:spcPct val="100000"/>
              </a:lnSpc>
              <a:spcAft>
                <a:spcPts val="100"/>
              </a:spcAft>
              <a:defRPr sz="1200" b="0">
                <a:solidFill>
                  <a:srgbClr val="666666"/>
                </a:solidFill>
                <a:latin typeface="Calibri"/>
              </a:defRPr>
            </a:pPr>
            <a:r>
              <a:rPr sz="1200" b="0">
                <a:solidFill>
                  <a:srgbClr val="666666"/>
                </a:solidFill>
                <a:latin typeface="Calibri"/>
              </a:rPr>
              <a:t>PORPOISE ROBOTICS  -  Precision Oceanographic Program On and In the Sea Environment</a:t>
            </a:r>
          </a:p>
          <a:p>
            <a:pPr algn="l">
              <a:lnSpc>
                <a:spcPct val="100000"/>
              </a:lnSpc>
              <a:spcAft>
                <a:spcPts val="100"/>
              </a:spcAft>
              <a:defRPr sz="1200" b="0">
                <a:solidFill>
                  <a:srgbClr val="666666"/>
                </a:solidFill>
                <a:latin typeface="Calibri"/>
              </a:defRPr>
            </a:pPr>
            <a:r>
              <a:rPr sz="1200" b="0">
                <a:solidFill>
                  <a:srgbClr val="666666"/>
                </a:solidFill>
                <a:latin typeface="Calibri"/>
              </a:rPr>
              <a:t>porpoiserobotics.org</a:t>
            </a:r>
          </a:p>
          <a:p>
            <a:pPr algn="l">
              <a:lnSpc>
                <a:spcPct val="100000"/>
              </a:lnSpc>
              <a:spcAft>
                <a:spcPts val="100"/>
              </a:spcAft>
              <a:defRPr sz="600" b="0">
                <a:solidFill>
                  <a:srgbClr val="666666"/>
                </a:solidFill>
                <a:latin typeface="Calibri"/>
              </a:defRPr>
            </a:pPr>
          </a:p>
          <a:p>
            <a:pPr algn="l">
              <a:lnSpc>
                <a:spcPct val="100000"/>
              </a:lnSpc>
              <a:spcAft>
                <a:spcPts val="100"/>
              </a:spcAft>
              <a:defRPr sz="1200" b="0">
                <a:solidFill>
                  <a:srgbClr val="666666"/>
                </a:solidFill>
                <a:latin typeface="Calibri"/>
              </a:defRPr>
            </a:pPr>
            <a:r>
              <a:rPr sz="1200" b="0">
                <a:solidFill>
                  <a:srgbClr val="666666"/>
                </a:solidFill>
                <a:latin typeface="Calibri"/>
              </a:rPr>
              <a:t>Kevin Bowen, President  -  kbowen6@icloud.com</a:t>
            </a:r>
          </a:p>
          <a:p>
            <a:pPr algn="l">
              <a:lnSpc>
                <a:spcPct val="100000"/>
              </a:lnSpc>
              <a:spcAft>
                <a:spcPts val="100"/>
              </a:spcAft>
              <a:defRPr sz="1200" b="0">
                <a:solidFill>
                  <a:srgbClr val="666666"/>
                </a:solidFill>
                <a:latin typeface="Calibri"/>
              </a:defRPr>
            </a:pPr>
            <a:r>
              <a:rPr sz="1200" b="0">
                <a:solidFill>
                  <a:srgbClr val="666666"/>
                </a:solidFill>
                <a:latin typeface="Calibri"/>
              </a:rPr>
              <a:t>Malcom Graham, VP Education      Louis Parker, VP Technology</a:t>
            </a:r>
          </a:p>
          <a:p>
            <a:pPr algn="l">
              <a:lnSpc>
                <a:spcPct val="100000"/>
              </a:lnSpc>
              <a:spcAft>
                <a:spcPts val="100"/>
              </a:spcAft>
              <a:defRPr sz="1200" b="0">
                <a:solidFill>
                  <a:srgbClr val="666666"/>
                </a:solidFill>
                <a:latin typeface="Calibri"/>
              </a:defRPr>
            </a:pPr>
            <a:r>
              <a:rPr sz="1200" b="0">
                <a:solidFill>
                  <a:srgbClr val="666666"/>
                </a:solidFill>
                <a:latin typeface="Calibri"/>
              </a:rPr>
              <a:t>Valen Farre, System Engineer      Gary Howland, Animation</a:t>
            </a:r>
          </a:p>
          <a:p>
            <a:pPr algn="l">
              <a:lnSpc>
                <a:spcPct val="100000"/>
              </a:lnSpc>
              <a:spcAft>
                <a:spcPts val="100"/>
              </a:spcAft>
              <a:defRPr sz="1200" b="0">
                <a:solidFill>
                  <a:srgbClr val="666666"/>
                </a:solidFill>
                <a:latin typeface="Calibri"/>
              </a:defRPr>
            </a:pPr>
            <a:r>
              <a:rPr sz="1200" b="0">
                <a:solidFill>
                  <a:srgbClr val="666666"/>
                </a:solidFill>
                <a:latin typeface="Calibri"/>
              </a:rPr>
              <a:t>Eddie Revollo, Artificial Intelligence</a:t>
            </a:r>
          </a:p>
          <a:p>
            <a:pPr algn="l">
              <a:lnSpc>
                <a:spcPct val="100000"/>
              </a:lnSpc>
              <a:spcAft>
                <a:spcPts val="100"/>
              </a:spcAft>
              <a:defRPr sz="1200" b="0">
                <a:solidFill>
                  <a:srgbClr val="666666"/>
                </a:solidFill>
                <a:latin typeface="Calibri"/>
              </a:defRPr>
            </a:pPr>
            <a:r>
              <a:rPr sz="1200" b="0">
                <a:solidFill>
                  <a:srgbClr val="666666"/>
                </a:solidFill>
                <a:latin typeface="Calibri"/>
              </a:rPr>
              <a:t>Interns: Oscar Canazales, Krishnansh Vemulapalli, Soham Gangal, Erik Olsen</a:t>
            </a:r>
          </a:p>
          <a:p>
            <a:pPr algn="l">
              <a:lnSpc>
                <a:spcPct val="100000"/>
              </a:lnSpc>
              <a:spcAft>
                <a:spcPts val="100"/>
              </a:spcAft>
              <a:defRPr sz="600" b="0">
                <a:solidFill>
                  <a:srgbClr val="666666"/>
                </a:solidFill>
                <a:latin typeface="Calibri"/>
              </a:defRPr>
            </a:pPr>
          </a:p>
          <a:p>
            <a:pPr algn="l">
              <a:lnSpc>
                <a:spcPct val="100000"/>
              </a:lnSpc>
              <a:spcAft>
                <a:spcPts val="100"/>
              </a:spcAft>
              <a:defRPr sz="1200" b="0">
                <a:solidFill>
                  <a:srgbClr val="666666"/>
                </a:solidFill>
                <a:latin typeface="Calibri"/>
              </a:defRPr>
            </a:pPr>
            <a:r>
              <a:rPr sz="1200" b="0">
                <a:solidFill>
                  <a:srgbClr val="666666"/>
                </a:solidFill>
                <a:latin typeface="Calibri"/>
              </a:rPr>
              <a:t>Three hours.  Gen 3 vehicles for the sensor work.</a:t>
            </a:r>
          </a:p>
        </p:txBody>
      </p:sp>
      <p:pic>
        <p:nvPicPr>
          <p:cNvPr id="8" name="Picture 7" descr="vehicle-with-rangefinder.jpg"/>
          <p:cNvPicPr>
            <a:picLocks noChangeAspect="1"/>
          </p:cNvPicPr>
          <p:nvPr/>
        </p:nvPicPr>
        <p:blipFill>
          <a:blip r:embed="rId3"/>
          <a:stretch>
            <a:fillRect/>
          </a:stretch>
        </p:blipFill>
        <p:spPr>
          <a:xfrm>
            <a:off x="7223760" y="2023110"/>
            <a:ext cx="4480560" cy="3360420"/>
          </a:xfrm>
          <a:prstGeom prst="rect">
            <a:avLst/>
          </a:prstGeom>
        </p:spPr>
      </p:pic>
      <p:sp>
        <p:nvSpPr>
          <p:cNvPr id="9" name="TextBox 8"/>
          <p:cNvSpPr txBox="1"/>
          <p:nvPr/>
        </p:nvSpPr>
        <p:spPr>
          <a:xfrm>
            <a:off x="502920" y="6144768"/>
            <a:ext cx="11185855" cy="502920"/>
          </a:xfrm>
          <a:prstGeom prst="rect">
            <a:avLst/>
          </a:prstGeom>
          <a:noFill/>
        </p:spPr>
        <p:txBody>
          <a:bodyPr wrap="square" lIns="0" tIns="0" rIns="0" bIns="0">
            <a:spAutoFit/>
          </a:bodyPr>
          <a:lstStyle/>
          <a:p>
            <a:pPr algn="l">
              <a:lnSpc>
                <a:spcPct val="100000"/>
              </a:lnSpc>
              <a:spcAft>
                <a:spcPts val="0"/>
              </a:spcAft>
              <a:defRPr sz="900" b="0">
                <a:solidFill>
                  <a:srgbClr val="666666"/>
                </a:solidFill>
                <a:latin typeface="Calibri"/>
              </a:defRPr>
            </a:pPr>
            <a:r>
              <a:rPr sz="900" b="0">
                <a:solidFill>
                  <a:srgbClr val="666666"/>
                </a:solidFill>
                <a:latin typeface="Calibri"/>
              </a:rPr>
              <a:t>Porpoise Robotics - proprietary. For use with Porpoise Robotics lessons.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What you will be able to do by the end</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a:t>
            </a:r>
          </a:p>
        </p:txBody>
      </p:sp>
      <p:sp>
        <p:nvSpPr>
          <p:cNvPr id="6" name="TextBox 5"/>
          <p:cNvSpPr txBox="1"/>
          <p:nvPr/>
        </p:nvSpPr>
        <p:spPr>
          <a:xfrm>
            <a:off x="502920" y="1188720"/>
            <a:ext cx="11185855" cy="50292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By the end of this lesson you will be able to:</a:t>
            </a:r>
          </a:p>
        </p:txBody>
      </p:sp>
      <p:sp>
        <p:nvSpPr>
          <p:cNvPr id="7" name="TextBox 6"/>
          <p:cNvSpPr txBox="1"/>
          <p:nvPr/>
        </p:nvSpPr>
        <p:spPr>
          <a:xfrm>
            <a:off x="502920" y="1737360"/>
            <a:ext cx="11185855" cy="4526280"/>
          </a:xfrm>
          <a:prstGeom prst="rect">
            <a:avLst/>
          </a:prstGeom>
          <a:noFill/>
        </p:spPr>
        <p:txBody>
          <a:bodyPr wrap="square" lIns="0" tIns="0" rIns="0" bIns="0">
            <a:spAutoFit/>
          </a:bodyPr>
          <a:lstStyle/>
          <a:p>
            <a:pPr algn="l">
              <a:lnSpc>
                <a:spcPct val="100000"/>
              </a:lnSpc>
              <a:spcAft>
                <a:spcPts val="1300"/>
              </a:spcAft>
              <a:defRPr sz="1900" b="0">
                <a:solidFill>
                  <a:srgbClr val="222222"/>
                </a:solidFill>
                <a:latin typeface="Calibri"/>
              </a:defRPr>
            </a:pPr>
            <a:r>
              <a:rPr sz="1900" b="0">
                <a:solidFill>
                  <a:srgbClr val="222222"/>
                </a:solidFill>
                <a:latin typeface="Calibri"/>
              </a:rPr>
              <a:t>1.   Test whether a device is present on an I2C bus, and diagnose an empty scan</a:t>
            </a:r>
          </a:p>
          <a:p>
            <a:pPr algn="l">
              <a:lnSpc>
                <a:spcPct val="100000"/>
              </a:lnSpc>
              <a:spcAft>
                <a:spcPts val="1300"/>
              </a:spcAft>
              <a:defRPr sz="1900" b="0">
                <a:solidFill>
                  <a:srgbClr val="222222"/>
                </a:solidFill>
                <a:latin typeface="Calibri"/>
              </a:defRPr>
            </a:pPr>
            <a:r>
              <a:rPr sz="1900" b="0">
                <a:solidFill>
                  <a:srgbClr val="222222"/>
                </a:solidFill>
                <a:latin typeface="Calibri"/>
              </a:rPr>
              <a:t>2.   Explain how a shunt resistor measures current, and why it is small</a:t>
            </a:r>
          </a:p>
          <a:p>
            <a:pPr algn="l">
              <a:lnSpc>
                <a:spcPct val="100000"/>
              </a:lnSpc>
              <a:spcAft>
                <a:spcPts val="1300"/>
              </a:spcAft>
              <a:defRPr sz="1900" b="0">
                <a:solidFill>
                  <a:srgbClr val="222222"/>
                </a:solidFill>
                <a:latin typeface="Calibri"/>
              </a:defRPr>
            </a:pPr>
            <a:r>
              <a:rPr sz="1900" b="0">
                <a:solidFill>
                  <a:srgbClr val="222222"/>
                </a:solidFill>
                <a:latin typeface="Calibri"/>
              </a:rPr>
              <a:t>3.   Read a chip register from its datasheet with no library</a:t>
            </a:r>
          </a:p>
          <a:p>
            <a:pPr algn="l">
              <a:lnSpc>
                <a:spcPct val="100000"/>
              </a:lnSpc>
              <a:spcAft>
                <a:spcPts val="1300"/>
              </a:spcAft>
              <a:defRPr sz="1900" b="0">
                <a:solidFill>
                  <a:srgbClr val="222222"/>
                </a:solidFill>
                <a:latin typeface="Calibri"/>
              </a:defRPr>
            </a:pPr>
            <a:r>
              <a:rPr sz="1900" b="0">
                <a:solidFill>
                  <a:srgbClr val="222222"/>
                </a:solidFill>
                <a:latin typeface="Calibri"/>
              </a:rPr>
              <a:t>4.   Recognise the current signature of a healthy, disconnected and jammed motor</a:t>
            </a:r>
          </a:p>
          <a:p>
            <a:pPr algn="l">
              <a:lnSpc>
                <a:spcPct val="100000"/>
              </a:lnSpc>
              <a:spcAft>
                <a:spcPts val="1300"/>
              </a:spcAft>
              <a:defRPr sz="1900" b="0">
                <a:solidFill>
                  <a:srgbClr val="222222"/>
                </a:solidFill>
                <a:latin typeface="Calibri"/>
              </a:defRPr>
            </a:pPr>
            <a:r>
              <a:rPr sz="1900" b="0">
                <a:solidFill>
                  <a:srgbClr val="222222"/>
                </a:solidFill>
                <a:latin typeface="Calibri"/>
              </a:rPr>
              <a:t>5.   Say why self-test thresholds are measured against a baseline</a:t>
            </a:r>
          </a:p>
          <a:p>
            <a:pPr algn="l">
              <a:lnSpc>
                <a:spcPct val="100000"/>
              </a:lnSpc>
              <a:spcAft>
                <a:spcPts val="1300"/>
              </a:spcAft>
              <a:defRPr sz="1900" b="0">
                <a:solidFill>
                  <a:srgbClr val="222222"/>
                </a:solidFill>
                <a:latin typeface="Calibri"/>
              </a:defRPr>
            </a:pPr>
            <a:r>
              <a:rPr sz="1900" b="0">
                <a:solidFill>
                  <a:srgbClr val="222222"/>
                </a:solidFill>
                <a:latin typeface="Calibri"/>
              </a:rPr>
              <a:t>6.   Add a subsystem to Op Program 12 without making it worse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Today, in order</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a:t>
            </a:r>
          </a:p>
        </p:txBody>
      </p:sp>
      <p:graphicFrame>
        <p:nvGraphicFramePr>
          <p:cNvPr id="6" name="Table 5"/>
          <p:cNvGraphicFramePr>
            <a:graphicFrameLocks noGrp="1"/>
          </p:cNvGraphicFramePr>
          <p:nvPr/>
        </p:nvGraphicFramePr>
        <p:xfrm>
          <a:off x="502920" y="1188720"/>
          <a:ext cx="11185854" cy="5048250"/>
        </p:xfrm>
        <a:graphic>
          <a:graphicData uri="http://schemas.openxmlformats.org/drawingml/2006/table">
            <a:tbl>
              <a:tblPr firstRow="1" bandRow="1">
                <a:tableStyleId>{5C22544A-7EE6-4342-B048-85BDC9FD1C3A}</a:tableStyleId>
              </a:tblPr>
              <a:tblGrid>
                <a:gridCol w="1118585"/>
                <a:gridCol w="10067269"/>
              </a:tblGrid>
              <a:tr h="504825">
                <a:tc>
                  <a:txBody>
                    <a:bodyPr/>
                    <a:lstStyle/>
                    <a:p>
                      <a:r>
                        <a:rPr sz="2700" b="1">
                          <a:solidFill>
                            <a:srgbClr val="FFFFFF"/>
                          </a:solidFill>
                          <a:latin typeface="Calibri"/>
                        </a:rPr>
                        <a:t>Time</a:t>
                      </a:r>
                    </a:p>
                  </a:txBody>
                  <a:tcPr marL="73152" marT="18288" marB="18288">
                    <a:solidFill>
                      <a:srgbClr val="1F3A5F"/>
                    </a:solidFill>
                  </a:tcPr>
                </a:tc>
                <a:tc>
                  <a:txBody>
                    <a:bodyPr/>
                    <a:lstStyle/>
                    <a:p>
                      <a:r>
                        <a:rPr sz="2700" b="1">
                          <a:solidFill>
                            <a:srgbClr val="FFFFFF"/>
                          </a:solidFill>
                          <a:latin typeface="Calibri"/>
                        </a:rPr>
                        <a:t>What we do</a:t>
                      </a:r>
                    </a:p>
                  </a:txBody>
                  <a:tcPr marL="73152" marT="18288" marB="18288">
                    <a:solidFill>
                      <a:srgbClr val="1F3A5F"/>
                    </a:solidFill>
                  </a:tcPr>
                </a:tc>
              </a:tr>
              <a:tr h="504825">
                <a:tc>
                  <a:txBody>
                    <a:bodyPr/>
                    <a:lstStyle/>
                    <a:p>
                      <a:r>
                        <a:rPr sz="2700">
                          <a:solidFill>
                            <a:srgbClr val="222222"/>
                          </a:solidFill>
                          <a:latin typeface="Calibri"/>
                        </a:rPr>
                        <a:t>0:00</a:t>
                      </a:r>
                    </a:p>
                  </a:txBody>
                  <a:tcPr marL="73152" marT="18288" marB="18288">
                    <a:solidFill>
                      <a:srgbClr val="FFFFFF"/>
                    </a:solidFill>
                  </a:tcPr>
                </a:tc>
                <a:tc>
                  <a:txBody>
                    <a:bodyPr/>
                    <a:lstStyle/>
                    <a:p>
                      <a:r>
                        <a:rPr sz="2700">
                          <a:solidFill>
                            <a:srgbClr val="222222"/>
                          </a:solidFill>
                          <a:latin typeface="Calibri"/>
                        </a:rPr>
                        <a:t>Recap. I2C addressing, acknowledgement, pull-ups</a:t>
                      </a:r>
                    </a:p>
                  </a:txBody>
                  <a:tcPr marL="73152" marT="18288" marB="18288">
                    <a:solidFill>
                      <a:srgbClr val="FFFFFF"/>
                    </a:solidFill>
                  </a:tcPr>
                </a:tc>
              </a:tr>
              <a:tr h="504825">
                <a:tc>
                  <a:txBody>
                    <a:bodyPr/>
                    <a:lstStyle/>
                    <a:p>
                      <a:r>
                        <a:rPr sz="2700">
                          <a:solidFill>
                            <a:srgbClr val="222222"/>
                          </a:solidFill>
                          <a:latin typeface="Calibri"/>
                        </a:rPr>
                        <a:t>0:25</a:t>
                      </a:r>
                    </a:p>
                  </a:txBody>
                  <a:tcPr marL="73152" marT="18288" marB="18288">
                    <a:solidFill>
                      <a:srgbClr val="EEF3F8"/>
                    </a:solidFill>
                  </a:tcPr>
                </a:tc>
                <a:tc>
                  <a:txBody>
                    <a:bodyPr/>
                    <a:lstStyle/>
                    <a:p>
                      <a:r>
                        <a:rPr sz="2700">
                          <a:solidFill>
                            <a:srgbClr val="222222"/>
                          </a:solidFill>
                          <a:latin typeface="Calibri"/>
                        </a:rPr>
                        <a:t>Upload a5a_i2c_scan. Find the sensor, then lose it</a:t>
                      </a:r>
                    </a:p>
                  </a:txBody>
                  <a:tcPr marL="73152" marT="18288" marB="18288">
                    <a:solidFill>
                      <a:srgbClr val="EEF3F8"/>
                    </a:solidFill>
                  </a:tcPr>
                </a:tc>
              </a:tr>
              <a:tr h="504825">
                <a:tc>
                  <a:txBody>
                    <a:bodyPr/>
                    <a:lstStyle/>
                    <a:p>
                      <a:r>
                        <a:rPr sz="2700">
                          <a:solidFill>
                            <a:srgbClr val="222222"/>
                          </a:solidFill>
                          <a:latin typeface="Calibri"/>
                        </a:rPr>
                        <a:t>0:50</a:t>
                      </a:r>
                    </a:p>
                  </a:txBody>
                  <a:tcPr marL="73152" marT="18288" marB="18288">
                    <a:solidFill>
                      <a:srgbClr val="FFFFFF"/>
                    </a:solidFill>
                  </a:tcPr>
                </a:tc>
                <a:tc>
                  <a:txBody>
                    <a:bodyPr/>
                    <a:lstStyle/>
                    <a:p>
                      <a:r>
                        <a:rPr sz="2700">
                          <a:solidFill>
                            <a:srgbClr val="222222"/>
                          </a:solidFill>
                          <a:latin typeface="Calibri"/>
                        </a:rPr>
                        <a:t>Measuring current without interrupting it</a:t>
                      </a:r>
                    </a:p>
                  </a:txBody>
                  <a:tcPr marL="73152" marT="18288" marB="18288">
                    <a:solidFill>
                      <a:srgbClr val="FFFFFF"/>
                    </a:solidFill>
                  </a:tcPr>
                </a:tc>
              </a:tr>
              <a:tr h="504825">
                <a:tc>
                  <a:txBody>
                    <a:bodyPr/>
                    <a:lstStyle/>
                    <a:p>
                      <a:r>
                        <a:rPr sz="2700">
                          <a:solidFill>
                            <a:srgbClr val="222222"/>
                          </a:solidFill>
                          <a:latin typeface="Calibri"/>
                        </a:rPr>
                        <a:t>1:15</a:t>
                      </a:r>
                    </a:p>
                  </a:txBody>
                  <a:tcPr marL="73152" marT="18288" marB="18288">
                    <a:solidFill>
                      <a:srgbClr val="EEF3F8"/>
                    </a:solidFill>
                  </a:tcPr>
                </a:tc>
                <a:tc>
                  <a:txBody>
                    <a:bodyPr/>
                    <a:lstStyle/>
                    <a:p>
                      <a:r>
                        <a:rPr sz="2700">
                          <a:solidFill>
                            <a:srgbClr val="222222"/>
                          </a:solidFill>
                          <a:latin typeface="Calibri"/>
                        </a:rPr>
                        <a:t>BREAK  (10 minutes)</a:t>
                      </a:r>
                    </a:p>
                  </a:txBody>
                  <a:tcPr marL="73152" marT="18288" marB="18288">
                    <a:solidFill>
                      <a:srgbClr val="EEF3F8"/>
                    </a:solidFill>
                  </a:tcPr>
                </a:tc>
              </a:tr>
              <a:tr h="504825">
                <a:tc>
                  <a:txBody>
                    <a:bodyPr/>
                    <a:lstStyle/>
                    <a:p>
                      <a:r>
                        <a:rPr sz="2700">
                          <a:solidFill>
                            <a:srgbClr val="222222"/>
                          </a:solidFill>
                          <a:latin typeface="Calibri"/>
                        </a:rPr>
                        <a:t>1:25</a:t>
                      </a:r>
                    </a:p>
                  </a:txBody>
                  <a:tcPr marL="73152" marT="18288" marB="18288">
                    <a:solidFill>
                      <a:srgbClr val="FFFFFF"/>
                    </a:solidFill>
                  </a:tcPr>
                </a:tc>
                <a:tc>
                  <a:txBody>
                    <a:bodyPr/>
                    <a:lstStyle/>
                    <a:p>
                      <a:r>
                        <a:rPr sz="2700">
                          <a:solidFill>
                            <a:srgbClr val="222222"/>
                          </a:solidFill>
                          <a:latin typeface="Calibri"/>
                        </a:rPr>
                        <a:t>Driving a chip from its datasheet, with no library</a:t>
                      </a:r>
                    </a:p>
                  </a:txBody>
                  <a:tcPr marL="73152" marT="18288" marB="18288">
                    <a:solidFill>
                      <a:srgbClr val="FFFFFF"/>
                    </a:solidFill>
                  </a:tcPr>
                </a:tc>
              </a:tr>
              <a:tr h="504825">
                <a:tc>
                  <a:txBody>
                    <a:bodyPr/>
                    <a:lstStyle/>
                    <a:p>
                      <a:r>
                        <a:rPr sz="2700">
                          <a:solidFill>
                            <a:srgbClr val="222222"/>
                          </a:solidFill>
                          <a:latin typeface="Calibri"/>
                        </a:rPr>
                        <a:t>1:50</a:t>
                      </a:r>
                    </a:p>
                  </a:txBody>
                  <a:tcPr marL="73152" marT="18288" marB="18288">
                    <a:solidFill>
                      <a:srgbClr val="EEF3F8"/>
                    </a:solidFill>
                  </a:tcPr>
                </a:tc>
                <a:tc>
                  <a:txBody>
                    <a:bodyPr/>
                    <a:lstStyle/>
                    <a:p>
                      <a:r>
                        <a:rPr sz="2700">
                          <a:solidFill>
                            <a:srgbClr val="222222"/>
                          </a:solidFill>
                          <a:latin typeface="Calibri"/>
                        </a:rPr>
                        <a:t>Upload a5b_ina219_current. Measure a motor</a:t>
                      </a:r>
                    </a:p>
                  </a:txBody>
                  <a:tcPr marL="73152" marT="18288" marB="18288">
                    <a:solidFill>
                      <a:srgbClr val="EEF3F8"/>
                    </a:solidFill>
                  </a:tcPr>
                </a:tc>
              </a:tr>
              <a:tr h="504825">
                <a:tc>
                  <a:txBody>
                    <a:bodyPr/>
                    <a:lstStyle/>
                    <a:p>
                      <a:r>
                        <a:rPr sz="2700">
                          <a:solidFill>
                            <a:srgbClr val="222222"/>
                          </a:solidFill>
                          <a:latin typeface="Calibri"/>
                        </a:rPr>
                        <a:t>2:20</a:t>
                      </a:r>
                    </a:p>
                  </a:txBody>
                  <a:tcPr marL="73152" marT="18288" marB="18288">
                    <a:solidFill>
                      <a:srgbClr val="FFFFFF"/>
                    </a:solidFill>
                  </a:tcPr>
                </a:tc>
                <a:tc>
                  <a:txBody>
                    <a:bodyPr/>
                    <a:lstStyle/>
                    <a:p>
                      <a:r>
                        <a:rPr sz="2700">
                          <a:solidFill>
                            <a:srgbClr val="222222"/>
                          </a:solidFill>
                          <a:latin typeface="Calibri"/>
                        </a:rPr>
                        <a:t>BREAK  (10 minutes)</a:t>
                      </a:r>
                    </a:p>
                  </a:txBody>
                  <a:tcPr marL="73152" marT="18288" marB="18288">
                    <a:solidFill>
                      <a:srgbClr val="FFFFFF"/>
                    </a:solidFill>
                  </a:tcPr>
                </a:tc>
              </a:tr>
              <a:tr h="504825">
                <a:tc>
                  <a:txBody>
                    <a:bodyPr/>
                    <a:lstStyle/>
                    <a:p>
                      <a:r>
                        <a:rPr sz="2700">
                          <a:solidFill>
                            <a:srgbClr val="222222"/>
                          </a:solidFill>
                          <a:latin typeface="Calibri"/>
                        </a:rPr>
                        <a:t>2:30</a:t>
                      </a:r>
                    </a:p>
                  </a:txBody>
                  <a:tcPr marL="73152" marT="18288" marB="18288">
                    <a:solidFill>
                      <a:srgbClr val="EEF3F8"/>
                    </a:solidFill>
                  </a:tcPr>
                </a:tc>
                <a:tc>
                  <a:txBody>
                    <a:bodyPr/>
                    <a:lstStyle/>
                    <a:p>
                      <a:r>
                        <a:rPr sz="2700">
                          <a:solidFill>
                            <a:srgbClr val="222222"/>
                          </a:solidFill>
                          <a:latin typeface="Calibri"/>
                        </a:rPr>
                        <a:t>Current signatures, and the self-test state machine</a:t>
                      </a:r>
                    </a:p>
                  </a:txBody>
                  <a:tcPr marL="73152" marT="18288" marB="18288">
                    <a:solidFill>
                      <a:srgbClr val="EEF3F8"/>
                    </a:solidFill>
                  </a:tcPr>
                </a:tc>
              </a:tr>
              <a:tr h="504825">
                <a:tc>
                  <a:txBody>
                    <a:bodyPr/>
                    <a:lstStyle/>
                    <a:p>
                      <a:r>
                        <a:rPr sz="2700">
                          <a:solidFill>
                            <a:srgbClr val="222222"/>
                          </a:solidFill>
                          <a:latin typeface="Calibri"/>
                        </a:rPr>
                        <a:t>2:50</a:t>
                      </a:r>
                    </a:p>
                  </a:txBody>
                  <a:tcPr marL="73152" marT="18288" marB="18288">
                    <a:solidFill>
                      <a:srgbClr val="FFFFFF"/>
                    </a:solidFill>
                  </a:tcPr>
                </a:tc>
                <a:tc>
                  <a:txBody>
                    <a:bodyPr/>
                    <a:lstStyle/>
                    <a:p>
                      <a:r>
                        <a:rPr sz="2700">
                          <a:solidFill>
                            <a:srgbClr val="222222"/>
                          </a:solidFill>
                          <a:latin typeface="Calibri"/>
                        </a:rPr>
                        <a:t>Adding a subsystem of your own, properly</a:t>
                      </a:r>
                    </a:p>
                  </a:txBody>
                  <a:tcPr marL="73152" marT="18288" marB="18288">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I2C in ten lines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4</a:t>
            </a:r>
          </a:p>
        </p:txBody>
      </p:sp>
      <p:sp>
        <p:nvSpPr>
          <p:cNvPr id="6" name="TextBox 5"/>
          <p:cNvSpPr txBox="1"/>
          <p:nvPr/>
        </p:nvSpPr>
        <p:spPr>
          <a:xfrm>
            <a:off x="502920" y="1188720"/>
            <a:ext cx="11185855" cy="3986784"/>
          </a:xfrm>
          <a:prstGeom prst="rect">
            <a:avLst/>
          </a:prstGeom>
          <a:noFill/>
        </p:spPr>
        <p:txBody>
          <a:bodyPr wrap="square" lIns="0" tIns="0" rIns="0" bIns="0">
            <a:spAutoFit/>
          </a:bodyPr>
          <a:lstStyle/>
          <a:p>
            <a:pPr algn="l">
              <a:lnSpc>
                <a:spcPct val="100000"/>
              </a:lnSpc>
              <a:spcAft>
                <a:spcPts val="600"/>
              </a:spcAft>
              <a:defRPr sz="2200" b="0">
                <a:solidFill>
                  <a:srgbClr val="222222"/>
                </a:solidFill>
                <a:latin typeface="Calibri"/>
              </a:defRPr>
            </a:pPr>
            <a:r>
              <a:rPr sz="2200" b="0">
                <a:solidFill>
                  <a:srgbClr val="222222"/>
                </a:solidFill>
                <a:latin typeface="Calibri"/>
              </a:rPr>
              <a:t>Two wires, SDA and SCL, shared by every device on the bus. Each answers to a 7-bit address; 0x00-0x07 and 0x78-0x7F are reserved, leaving 0x08 to 0x77 to scan.</a:t>
            </a:r>
          </a:p>
          <a:p>
            <a:pPr algn="l">
              <a:lnSpc>
                <a:spcPct val="100000"/>
              </a:lnSpc>
              <a:spcAft>
                <a:spcPts val="600"/>
              </a:spcAft>
              <a:defRPr sz="2200" b="0">
                <a:solidFill>
                  <a:srgbClr val="222222"/>
                </a:solidFill>
                <a:latin typeface="Calibri"/>
              </a:defRPr>
            </a:pPr>
            <a:r>
              <a:rPr sz="2200" b="0">
                <a:solidFill>
                  <a:srgbClr val="222222"/>
                </a:solidFill>
                <a:latin typeface="Calibri"/>
              </a:rPr>
              <a:t>To TEST an address, start a transmission to it and end it immediately, sending no data. A device that is there pulls SDA low to acknowledge:</a:t>
            </a:r>
          </a:p>
          <a:p>
            <a:pPr lvl="1" algn="l">
              <a:lnSpc>
                <a:spcPct val="100000"/>
              </a:lnSpc>
              <a:spcAft>
                <a:spcPts val="600"/>
              </a:spcAft>
              <a:defRPr sz="2200" b="0">
                <a:solidFill>
                  <a:srgbClr val="222222"/>
                </a:solidFill>
                <a:latin typeface="Calibri"/>
              </a:defRPr>
            </a:pPr>
            <a:r>
              <a:rPr sz="2200" b="0">
                <a:solidFill>
                  <a:srgbClr val="222222"/>
                </a:solidFill>
                <a:latin typeface="Calibri"/>
              </a:rPr>
              <a:t>0  acknowledged - something is there</a:t>
            </a:r>
          </a:p>
          <a:p>
            <a:pPr lvl="1" algn="l">
              <a:lnSpc>
                <a:spcPct val="100000"/>
              </a:lnSpc>
              <a:spcAft>
                <a:spcPts val="600"/>
              </a:spcAft>
              <a:defRPr sz="2200" b="0">
                <a:solidFill>
                  <a:srgbClr val="222222"/>
                </a:solidFill>
                <a:latin typeface="Calibri"/>
              </a:defRPr>
            </a:pPr>
            <a:r>
              <a:rPr sz="2200" b="0">
                <a:solidFill>
                  <a:srgbClr val="222222"/>
                </a:solidFill>
                <a:latin typeface="Calibri"/>
              </a:rPr>
              <a:t>2  no acknowledge - nothing there</a:t>
            </a:r>
          </a:p>
          <a:p>
            <a:pPr algn="l">
              <a:lnSpc>
                <a:spcPct val="100000"/>
              </a:lnSpc>
              <a:spcAft>
                <a:spcPts val="600"/>
              </a:spcAft>
              <a:defRPr sz="2200" b="0">
                <a:solidFill>
                  <a:srgbClr val="222222"/>
                </a:solidFill>
                <a:latin typeface="Calibri"/>
              </a:defRPr>
            </a:pPr>
            <a:r>
              <a:rPr sz="2200" b="0">
                <a:solidFill>
                  <a:srgbClr val="222222"/>
                </a:solidFill>
                <a:latin typeface="Calibri"/>
              </a:rPr>
              <a:t>PULL-UP RESISTORS. I2C devices can only pull a line DOWN, so something has to pull it back up: a pair of resistors to 3.3 V, usually 4.7k. On the Pathfinder they are on the control board.</a:t>
            </a:r>
          </a:p>
          <a:p>
            <a:pPr algn="l">
              <a:lnSpc>
                <a:spcPct val="100000"/>
              </a:lnSpc>
              <a:spcAft>
                <a:spcPts val="600"/>
              </a:spcAft>
              <a:defRPr sz="2200" b="0">
                <a:solidFill>
                  <a:srgbClr val="222222"/>
                </a:solidFill>
                <a:latin typeface="Calibri"/>
              </a:defRPr>
            </a:pPr>
            <a:r>
              <a:rPr sz="2200" b="0">
                <a:solidFill>
                  <a:srgbClr val="222222"/>
                </a:solidFill>
                <a:latin typeface="Calibri"/>
              </a:rPr>
              <a:t>Nothing at all on EVERY address is the classic missing pull-up.</a:t>
            </a:r>
          </a:p>
        </p:txBody>
      </p:sp>
      <p:sp>
        <p:nvSpPr>
          <p:cNvPr id="7" name="Rounded Rectangle 6"/>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On this board I2C is on GPIO 32 and 33, not the ESP32 defaults.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5</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5</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Finding the sensor</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25 minutes</a:t>
            </a:r>
          </a:p>
        </p:txBody>
      </p:sp>
      <p:sp>
        <p:nvSpPr>
          <p:cNvPr id="7" name="Rounded Rectangle 6"/>
          <p:cNvSpPr/>
          <p:nvPr/>
        </p:nvSpPr>
        <p:spPr>
          <a:xfrm>
            <a:off x="502920" y="3886200"/>
            <a:ext cx="3631082"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I2C</a:t>
            </a:r>
          </a:p>
        </p:txBody>
      </p:sp>
      <p:sp>
        <p:nvSpPr>
          <p:cNvPr id="8" name="TextBox 7"/>
          <p:cNvSpPr txBox="1"/>
          <p:nvPr/>
        </p:nvSpPr>
        <p:spPr>
          <a:xfrm>
            <a:off x="502920" y="3520440"/>
            <a:ext cx="3631082"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9" name="Rounded Rectangle 8"/>
          <p:cNvSpPr/>
          <p:nvPr/>
        </p:nvSpPr>
        <p:spPr>
          <a:xfrm>
            <a:off x="4280306" y="3886200"/>
            <a:ext cx="3631082"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Finding the sensor</a:t>
            </a:r>
          </a:p>
        </p:txBody>
      </p:sp>
      <p:sp>
        <p:nvSpPr>
          <p:cNvPr id="10" name="TextBox 9"/>
          <p:cNvSpPr txBox="1"/>
          <p:nvPr/>
        </p:nvSpPr>
        <p:spPr>
          <a:xfrm>
            <a:off x="4280306" y="3520440"/>
            <a:ext cx="3631082"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
        <p:nvSpPr>
          <p:cNvPr id="11" name="Rounded Rectangle 10"/>
          <p:cNvSpPr/>
          <p:nvPr/>
        </p:nvSpPr>
        <p:spPr>
          <a:xfrm>
            <a:off x="8057692" y="3886200"/>
            <a:ext cx="3631082"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Measuring a motor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Do it now  -  find the sensor</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6</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UPLOAD AND RUN:   </a:t>
            </a:r>
            <a:r>
              <a:rPr sz="1500" b="1">
                <a:solidFill>
                  <a:srgbClr val="FFFFFF"/>
                </a:solidFill>
                <a:latin typeface="Consolas"/>
              </a:rPr>
              <a:t>a5a_i2c_scan</a:t>
            </a:r>
            <a:r>
              <a:rPr sz="1200">
                <a:solidFill>
                  <a:srgbClr val="FFFFFF"/>
                </a:solidFill>
                <a:latin typeface="Calibri"/>
              </a:rPr>
              <a:t>     (25 minutes)</a:t>
            </a:r>
          </a:p>
        </p:txBody>
      </p:sp>
      <p:sp>
        <p:nvSpPr>
          <p:cNvPr id="7" name="TextBox 6"/>
          <p:cNvSpPr txBox="1"/>
          <p:nvPr/>
        </p:nvSpPr>
        <p:spPr>
          <a:xfrm>
            <a:off x="502920" y="1901952"/>
            <a:ext cx="6249137" cy="4361688"/>
          </a:xfrm>
          <a:prstGeom prst="rect">
            <a:avLst/>
          </a:prstGeom>
          <a:noFill/>
        </p:spPr>
        <p:txBody>
          <a:bodyPr wrap="square" lIns="0" tIns="0" rIns="0" bIns="0">
            <a:spAutoFit/>
          </a:bodyPr>
          <a:lstStyle/>
          <a:p>
            <a:pPr algn="l">
              <a:lnSpc>
                <a:spcPct val="100000"/>
              </a:lnSpc>
              <a:spcAft>
                <a:spcPts val="800"/>
              </a:spcAft>
              <a:defRPr sz="1900" b="0">
                <a:solidFill>
                  <a:srgbClr val="222222"/>
                </a:solidFill>
                <a:latin typeface="Calibri"/>
              </a:defRPr>
            </a:pPr>
            <a:r>
              <a:rPr sz="1900" b="0">
                <a:solidFill>
                  <a:srgbClr val="222222"/>
                </a:solidFill>
                <a:latin typeface="Calibri"/>
              </a:rPr>
              <a:t>1.  Upload it to a Gen 3 vehicle. You should find 0x40.</a:t>
            </a:r>
          </a:p>
          <a:p>
            <a:pPr algn="l">
              <a:lnSpc>
                <a:spcPct val="100000"/>
              </a:lnSpc>
              <a:spcAft>
                <a:spcPts val="800"/>
              </a:spcAft>
              <a:defRPr sz="1900" b="0">
                <a:solidFill>
                  <a:srgbClr val="222222"/>
                </a:solidFill>
                <a:latin typeface="Calibri"/>
              </a:defRPr>
            </a:pPr>
            <a:r>
              <a:rPr sz="1900" b="0">
                <a:solidFill>
                  <a:srgbClr val="222222"/>
                </a:solidFill>
                <a:latin typeface="Calibri"/>
              </a:rPr>
              <a:t>2.  Upload it to a Gen 2 vehicle. You should find nothing, and that is the CORRECT answer.</a:t>
            </a:r>
          </a:p>
          <a:p>
            <a:pPr algn="l">
              <a:lnSpc>
                <a:spcPct val="100000"/>
              </a:lnSpc>
              <a:spcAft>
                <a:spcPts val="800"/>
              </a:spcAft>
              <a:defRPr sz="1900" b="0">
                <a:solidFill>
                  <a:srgbClr val="222222"/>
                </a:solidFill>
                <a:latin typeface="Calibri"/>
              </a:defRPr>
            </a:pPr>
            <a:r>
              <a:rPr sz="1900" b="0">
                <a:solidFill>
                  <a:srgbClr val="222222"/>
                </a:solidFill>
                <a:latin typeface="Calibri"/>
              </a:rPr>
              <a:t>3.  Type  watch, then unplug the sensor. How quickly does it notice?</a:t>
            </a:r>
          </a:p>
          <a:p>
            <a:pPr algn="l">
              <a:lnSpc>
                <a:spcPct val="100000"/>
              </a:lnSpc>
              <a:spcAft>
                <a:spcPts val="800"/>
              </a:spcAft>
              <a:defRPr sz="1900" b="0">
                <a:solidFill>
                  <a:srgbClr val="222222"/>
                </a:solidFill>
                <a:latin typeface="Calibri"/>
              </a:defRPr>
            </a:pPr>
            <a:r>
              <a:rPr sz="1900" b="0">
                <a:solidFill>
                  <a:srgbClr val="222222"/>
                </a:solidFill>
                <a:latin typeface="Calibri"/>
              </a:rPr>
              <a:t>4.  Try  pins 21 22, the ESP32 defaults. Does the sensor still answer? Why not?</a:t>
            </a:r>
          </a:p>
          <a:p>
            <a:pPr algn="l">
              <a:lnSpc>
                <a:spcPct val="100000"/>
              </a:lnSpc>
              <a:spcAft>
                <a:spcPts val="800"/>
              </a:spcAft>
              <a:defRPr sz="1900" b="0">
                <a:solidFill>
                  <a:srgbClr val="222222"/>
                </a:solidFill>
                <a:latin typeface="Calibri"/>
              </a:defRPr>
            </a:pPr>
            <a:r>
              <a:rPr sz="1900" b="0">
                <a:solidFill>
                  <a:srgbClr val="222222"/>
                </a:solidFill>
                <a:latin typeface="Calibri"/>
              </a:rPr>
              <a:t>5.  Try  pins 34 35. Read what the sketch tells you.</a:t>
            </a:r>
          </a:p>
          <a:p>
            <a:pPr algn="l">
              <a:lnSpc>
                <a:spcPct val="100000"/>
              </a:lnSpc>
              <a:spcAft>
                <a:spcPts val="800"/>
              </a:spcAft>
              <a:defRPr sz="1900" b="0">
                <a:solidFill>
                  <a:srgbClr val="222222"/>
                </a:solidFill>
                <a:latin typeface="Calibri"/>
              </a:defRPr>
            </a:pPr>
            <a:r>
              <a:rPr sz="1900" b="0">
                <a:solidFill>
                  <a:srgbClr val="222222"/>
                </a:solidFill>
                <a:latin typeface="Calibri"/>
              </a:rPr>
              <a:t>6.  If you have a spare I2C sensor, wire it on the breadboard and find its address.</a:t>
            </a:r>
          </a:p>
        </p:txBody>
      </p:sp>
      <p:sp>
        <p:nvSpPr>
          <p:cNvPr id="8" name="TextBox 7"/>
          <p:cNvSpPr txBox="1"/>
          <p:nvPr/>
        </p:nvSpPr>
        <p:spPr>
          <a:xfrm>
            <a:off x="7163537" y="1901952"/>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What you should see</a:t>
            </a:r>
          </a:p>
        </p:txBody>
      </p:sp>
      <p:sp>
        <p:nvSpPr>
          <p:cNvPr id="9" name="TextBox 8"/>
          <p:cNvSpPr txBox="1"/>
          <p:nvPr/>
        </p:nvSpPr>
        <p:spPr>
          <a:xfrm>
            <a:off x="7163537" y="2304288"/>
            <a:ext cx="4525238" cy="1741932"/>
          </a:xfrm>
          <a:prstGeom prst="rect">
            <a:avLst/>
          </a:prstGeom>
          <a:noFill/>
        </p:spPr>
        <p:txBody>
          <a:bodyPr wrap="square" lIns="0" tIns="0" rIns="0" bIns="0">
            <a:spAutoFit/>
          </a:bodyPr>
          <a:lstStyle/>
          <a:p>
            <a:pPr algn="l">
              <a:lnSpc>
                <a:spcPct val="100000"/>
              </a:lnSpc>
              <a:spcAft>
                <a:spcPts val="300"/>
              </a:spcAft>
              <a:defRPr sz="2600" b="0">
                <a:solidFill>
                  <a:srgbClr val="222222"/>
                </a:solidFill>
                <a:latin typeface="Calibri"/>
              </a:defRPr>
            </a:pPr>
            <a:r>
              <a:rPr sz="2600" b="0">
                <a:solidFill>
                  <a:srgbClr val="222222"/>
                </a:solidFill>
                <a:latin typeface="Calibri"/>
              </a:rPr>
              <a:t>Gen 3: one device at 0x40, named. Gen 2: nothing, with an explanation of why that is fine.</a:t>
            </a:r>
          </a:p>
        </p:txBody>
      </p:sp>
      <p:sp>
        <p:nvSpPr>
          <p:cNvPr id="10" name="TextBox 9"/>
          <p:cNvSpPr txBox="1"/>
          <p:nvPr/>
        </p:nvSpPr>
        <p:spPr>
          <a:xfrm>
            <a:off x="7163537" y="4119372"/>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Answer these</a:t>
            </a:r>
          </a:p>
        </p:txBody>
      </p:sp>
      <p:sp>
        <p:nvSpPr>
          <p:cNvPr id="11" name="TextBox 10"/>
          <p:cNvSpPr txBox="1"/>
          <p:nvPr/>
        </p:nvSpPr>
        <p:spPr>
          <a:xfrm>
            <a:off x="7163537" y="4521708"/>
            <a:ext cx="4525238" cy="1741932"/>
          </a:xfrm>
          <a:prstGeom prst="rect">
            <a:avLst/>
          </a:prstGeom>
          <a:noFill/>
        </p:spPr>
        <p:txBody>
          <a:bodyPr wrap="square" lIns="0" tIns="0" rIns="0" bIns="0">
            <a:spAutoFit/>
          </a:bodyPr>
          <a:lstStyle/>
          <a:p>
            <a:pPr algn="l">
              <a:lnSpc>
                <a:spcPct val="100000"/>
              </a:lnSpc>
              <a:spcAft>
                <a:spcPts val="300"/>
              </a:spcAft>
              <a:defRPr sz="2600" b="0">
                <a:solidFill>
                  <a:srgbClr val="222222"/>
                </a:solidFill>
                <a:latin typeface="Calibri"/>
              </a:defRPr>
            </a:pPr>
            <a:r>
              <a:rPr sz="2600" b="0">
                <a:solidFill>
                  <a:srgbClr val="222222"/>
                </a:solidFill>
                <a:latin typeface="Calibri"/>
              </a:rPr>
              <a:t>This is exactly what is_ina219_present() does in Op 12. What decision does the program make from the answer?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5</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7</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Measuring a motor</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80 minutes</a:t>
            </a:r>
          </a:p>
        </p:txBody>
      </p:sp>
      <p:sp>
        <p:nvSpPr>
          <p:cNvPr id="7" name="Rounded Rectangle 6"/>
          <p:cNvSpPr/>
          <p:nvPr/>
        </p:nvSpPr>
        <p:spPr>
          <a:xfrm>
            <a:off x="502920" y="3886200"/>
            <a:ext cx="3631082"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I2C</a:t>
            </a:r>
          </a:p>
        </p:txBody>
      </p:sp>
      <p:sp>
        <p:nvSpPr>
          <p:cNvPr id="8" name="TextBox 7"/>
          <p:cNvSpPr txBox="1"/>
          <p:nvPr/>
        </p:nvSpPr>
        <p:spPr>
          <a:xfrm>
            <a:off x="502920" y="3520440"/>
            <a:ext cx="3631082"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9" name="Rounded Rectangle 8"/>
          <p:cNvSpPr/>
          <p:nvPr/>
        </p:nvSpPr>
        <p:spPr>
          <a:xfrm>
            <a:off x="4280306" y="3886200"/>
            <a:ext cx="3631082"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Finding the sensor</a:t>
            </a:r>
          </a:p>
        </p:txBody>
      </p:sp>
      <p:sp>
        <p:nvSpPr>
          <p:cNvPr id="10" name="TextBox 9"/>
          <p:cNvSpPr txBox="1"/>
          <p:nvPr/>
        </p:nvSpPr>
        <p:spPr>
          <a:xfrm>
            <a:off x="4280306" y="3520440"/>
            <a:ext cx="3631082"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1" name="Rounded Rectangle 10"/>
          <p:cNvSpPr/>
          <p:nvPr/>
        </p:nvSpPr>
        <p:spPr>
          <a:xfrm>
            <a:off x="8057692" y="3886200"/>
            <a:ext cx="3631082"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Measuring a motor</a:t>
            </a:r>
          </a:p>
        </p:txBody>
      </p:sp>
      <p:sp>
        <p:nvSpPr>
          <p:cNvPr id="12" name="TextBox 11"/>
          <p:cNvSpPr txBox="1"/>
          <p:nvPr/>
        </p:nvSpPr>
        <p:spPr>
          <a:xfrm>
            <a:off x="8057692" y="3520440"/>
            <a:ext cx="3631082"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Measuring current without getting in the way of it</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8</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A tiny resistor, and Ohm's law</a:t>
            </a:r>
          </a:p>
        </p:txBody>
      </p:sp>
      <p:sp>
        <p:nvSpPr>
          <p:cNvPr id="7" name="TextBox 6"/>
          <p:cNvSpPr txBox="1"/>
          <p:nvPr/>
        </p:nvSpPr>
        <p:spPr>
          <a:xfrm>
            <a:off x="502920" y="1755648"/>
            <a:ext cx="11185855" cy="4507992"/>
          </a:xfrm>
          <a:prstGeom prst="rect">
            <a:avLst/>
          </a:prstGeom>
          <a:noFill/>
        </p:spPr>
        <p:txBody>
          <a:bodyPr wrap="square" lIns="0" tIns="0" rIns="0" bIns="0">
            <a:spAutoFit/>
          </a:bodyPr>
          <a:lstStyle/>
          <a:p>
            <a:pPr algn="l">
              <a:lnSpc>
                <a:spcPct val="100000"/>
              </a:lnSpc>
              <a:spcAft>
                <a:spcPts val="600"/>
              </a:spcAft>
              <a:defRPr sz="1800" b="0">
                <a:solidFill>
                  <a:srgbClr val="222222"/>
                </a:solidFill>
                <a:latin typeface="Calibri"/>
              </a:defRPr>
            </a:pPr>
            <a:r>
              <a:rPr sz="1800" b="0">
                <a:solidFill>
                  <a:srgbClr val="222222"/>
                </a:solidFill>
                <a:latin typeface="Calibri"/>
              </a:rPr>
              <a:t>You cannot measure current directly. What the INA219 does is put a very small known resistor - a SHUNT - in the path and measure the voltage across it. Ohm's law does the rest:</a:t>
            </a:r>
          </a:p>
          <a:p>
            <a:pPr lvl="1" algn="l">
              <a:lnSpc>
                <a:spcPct val="100000"/>
              </a:lnSpc>
              <a:spcAft>
                <a:spcPts val="600"/>
              </a:spcAft>
              <a:defRPr sz="1800" b="0">
                <a:solidFill>
                  <a:srgbClr val="222222"/>
                </a:solidFill>
                <a:latin typeface="Calibri"/>
              </a:defRPr>
            </a:pPr>
            <a:r>
              <a:rPr sz="1800" b="0">
                <a:solidFill>
                  <a:srgbClr val="222222"/>
                </a:solidFill>
                <a:latin typeface="Calibri"/>
              </a:rPr>
              <a:t>I = V / R</a:t>
            </a:r>
          </a:p>
          <a:p>
            <a:pPr algn="l">
              <a:lnSpc>
                <a:spcPct val="100000"/>
              </a:lnSpc>
              <a:spcAft>
                <a:spcPts val="600"/>
              </a:spcAft>
              <a:defRPr sz="900" b="0">
                <a:solidFill>
                  <a:srgbClr val="222222"/>
                </a:solidFill>
                <a:latin typeface="Calibri"/>
              </a:defRPr>
            </a:pPr>
          </a:p>
          <a:p>
            <a:pPr algn="l">
              <a:lnSpc>
                <a:spcPct val="100000"/>
              </a:lnSpc>
              <a:spcAft>
                <a:spcPts val="600"/>
              </a:spcAft>
              <a:defRPr sz="1800" b="0">
                <a:solidFill>
                  <a:srgbClr val="222222"/>
                </a:solidFill>
                <a:latin typeface="Calibri"/>
              </a:defRPr>
            </a:pPr>
            <a:r>
              <a:rPr sz="1800" b="0">
                <a:solidFill>
                  <a:srgbClr val="222222"/>
                </a:solidFill>
                <a:latin typeface="Calibri"/>
              </a:rPr>
              <a:t>The shunt on this board is 0.0025 ohms. So two amps drops:</a:t>
            </a:r>
          </a:p>
          <a:p>
            <a:pPr lvl="1" algn="l">
              <a:lnSpc>
                <a:spcPct val="100000"/>
              </a:lnSpc>
              <a:spcAft>
                <a:spcPts val="600"/>
              </a:spcAft>
              <a:defRPr sz="1800" b="0">
                <a:solidFill>
                  <a:srgbClr val="222222"/>
                </a:solidFill>
                <a:latin typeface="Calibri"/>
              </a:defRPr>
            </a:pPr>
            <a:r>
              <a:rPr sz="1800" b="0">
                <a:solidFill>
                  <a:srgbClr val="222222"/>
                </a:solidFill>
                <a:latin typeface="Calibri"/>
              </a:rPr>
              <a:t>V = 2 A x 0.0025 ohm = 0.005 V,  five millivolts</a:t>
            </a:r>
          </a:p>
          <a:p>
            <a:pPr algn="l">
              <a:lnSpc>
                <a:spcPct val="100000"/>
              </a:lnSpc>
              <a:spcAft>
                <a:spcPts val="600"/>
              </a:spcAft>
              <a:defRPr sz="900" b="0">
                <a:solidFill>
                  <a:srgbClr val="222222"/>
                </a:solidFill>
                <a:latin typeface="Calibri"/>
              </a:defRPr>
            </a:pPr>
          </a:p>
          <a:p>
            <a:pPr algn="l">
              <a:lnSpc>
                <a:spcPct val="100000"/>
              </a:lnSpc>
              <a:spcAft>
                <a:spcPts val="600"/>
              </a:spcAft>
              <a:defRPr sz="1800" b="0">
                <a:solidFill>
                  <a:srgbClr val="222222"/>
                </a:solidFill>
                <a:latin typeface="Calibri"/>
              </a:defRPr>
            </a:pPr>
            <a:r>
              <a:rPr sz="1800" b="0">
                <a:solidFill>
                  <a:srgbClr val="222222"/>
                </a:solidFill>
                <a:latin typeface="Calibri"/>
              </a:rPr>
              <a:t>That is deliberate. A bigger resistor would be easier to read, but it would waste power and steal voltage from the motors:</a:t>
            </a:r>
          </a:p>
          <a:p>
            <a:pPr lvl="1" algn="l">
              <a:lnSpc>
                <a:spcPct val="100000"/>
              </a:lnSpc>
              <a:spcAft>
                <a:spcPts val="600"/>
              </a:spcAft>
              <a:defRPr sz="1800" b="0">
                <a:solidFill>
                  <a:srgbClr val="222222"/>
                </a:solidFill>
                <a:latin typeface="Calibri"/>
              </a:defRPr>
            </a:pPr>
            <a:r>
              <a:rPr sz="1800" b="0">
                <a:solidFill>
                  <a:srgbClr val="222222"/>
                </a:solidFill>
                <a:latin typeface="Calibri"/>
              </a:rPr>
              <a:t>P = I^2 x R = 4 x 0.0025 = 0.01 W  at 0.0025 ohm</a:t>
            </a:r>
          </a:p>
          <a:p>
            <a:pPr lvl="1" algn="l">
              <a:lnSpc>
                <a:spcPct val="100000"/>
              </a:lnSpc>
              <a:spcAft>
                <a:spcPts val="600"/>
              </a:spcAft>
              <a:defRPr sz="1800" b="0">
                <a:solidFill>
                  <a:srgbClr val="222222"/>
                </a:solidFill>
                <a:latin typeface="Calibri"/>
              </a:defRPr>
            </a:pPr>
            <a:r>
              <a:rPr sz="1800" b="0">
                <a:solidFill>
                  <a:srgbClr val="222222"/>
                </a:solidFill>
                <a:latin typeface="Calibri"/>
              </a:rPr>
              <a:t>P = I^2 x R = 4 x 0.1    = 0.4 W   at 0.1 ohm</a:t>
            </a:r>
          </a:p>
          <a:p>
            <a:pPr algn="l">
              <a:lnSpc>
                <a:spcPct val="100000"/>
              </a:lnSpc>
              <a:spcAft>
                <a:spcPts val="600"/>
              </a:spcAft>
              <a:defRPr sz="900" b="0">
                <a:solidFill>
                  <a:srgbClr val="222222"/>
                </a:solidFill>
                <a:latin typeface="Calibri"/>
              </a:defRPr>
            </a:pPr>
          </a:p>
          <a:p>
            <a:pPr algn="l">
              <a:lnSpc>
                <a:spcPct val="100000"/>
              </a:lnSpc>
              <a:spcAft>
                <a:spcPts val="600"/>
              </a:spcAft>
              <a:defRPr sz="1800" b="0">
                <a:solidFill>
                  <a:srgbClr val="222222"/>
                </a:solidFill>
                <a:latin typeface="Calibri"/>
              </a:defRPr>
            </a:pPr>
            <a:r>
              <a:rPr sz="1800" b="0">
                <a:solidFill>
                  <a:srgbClr val="222222"/>
                </a:solidFill>
                <a:latin typeface="Calibri"/>
              </a:rPr>
              <a:t>Reading five millivolts accurately is the sensor's entire job. The shunt register reports in units of 10 microvolts, which is where the 0.01 in the math comes from.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two relationships the whole lesson rests on</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9</a:t>
            </a:r>
          </a:p>
        </p:txBody>
      </p:sp>
      <p:sp>
        <p:nvSpPr>
          <p:cNvPr id="6" name="TextBox 5"/>
          <p:cNvSpPr txBox="1"/>
          <p:nvPr/>
        </p:nvSpPr>
        <p:spPr>
          <a:xfrm>
            <a:off x="1143000" y="1124712"/>
            <a:ext cx="2743200" cy="367792"/>
          </a:xfrm>
          <a:prstGeom prst="rect">
            <a:avLst/>
          </a:prstGeom>
          <a:noFill/>
        </p:spPr>
        <p:txBody>
          <a:bodyPr wrap="square" lIns="0" tIns="0" rIns="0" bIns="0">
            <a:spAutoFit/>
          </a:bodyPr>
          <a:lstStyle/>
          <a:p>
            <a:pPr algn="ctr">
              <a:lnSpc>
                <a:spcPct val="100000"/>
              </a:lnSpc>
              <a:spcAft>
                <a:spcPts val="0"/>
              </a:spcAft>
              <a:defRPr sz="1800" b="1">
                <a:solidFill>
                  <a:srgbClr val="0E7C86"/>
                </a:solidFill>
                <a:latin typeface="Calibri"/>
              </a:defRPr>
            </a:pPr>
            <a:r>
              <a:rPr sz="1800" b="1">
                <a:solidFill>
                  <a:srgbClr val="0E7C86"/>
                </a:solidFill>
                <a:latin typeface="Calibri"/>
              </a:rPr>
              <a:t>OHM'S LAW</a:t>
            </a:r>
          </a:p>
        </p:txBody>
      </p:sp>
      <p:sp>
        <p:nvSpPr>
          <p:cNvPr id="7" name="Isosceles Triangle 6"/>
          <p:cNvSpPr/>
          <p:nvPr/>
        </p:nvSpPr>
        <p:spPr>
          <a:xfrm>
            <a:off x="1143000" y="1508760"/>
            <a:ext cx="2743200" cy="2011680"/>
          </a:xfrm>
          <a:prstGeom prst="triangle">
            <a:avLst/>
          </a:prstGeom>
          <a:solidFill>
            <a:srgbClr val="D6ECEE"/>
          </a:solidFill>
          <a:ln w="1905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Aft>
                <a:spcPts val="200"/>
              </a:spcAft>
              <a:defRPr sz="900" b="0">
                <a:solidFill>
                  <a:srgbClr val="222222"/>
                </a:solidFill>
                <a:latin typeface="Calibri"/>
              </a:defRPr>
            </a:pPr>
          </a:p>
        </p:txBody>
      </p:sp>
      <p:cxnSp>
        <p:nvCxnSpPr>
          <p:cNvPr id="8" name="Connector 7"/>
          <p:cNvCxnSpPr/>
          <p:nvPr/>
        </p:nvCxnSpPr>
        <p:spPr>
          <a:xfrm>
            <a:off x="1709928" y="2635300"/>
            <a:ext cx="1609344" cy="0"/>
          </a:xfrm>
          <a:prstGeom prst="line">
            <a:avLst/>
          </a:prstGeom>
          <a:ln w="22225">
            <a:solidFill>
              <a:srgbClr val="0E7C86"/>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143000" y="1892808"/>
            <a:ext cx="2743200" cy="491744"/>
          </a:xfrm>
          <a:prstGeom prst="rect">
            <a:avLst/>
          </a:prstGeom>
          <a:noFill/>
        </p:spPr>
        <p:txBody>
          <a:bodyPr wrap="square" lIns="0" tIns="0" rIns="0" bIns="0">
            <a:spAutoFit/>
          </a:bodyPr>
          <a:lstStyle/>
          <a:p>
            <a:pPr algn="ctr">
              <a:lnSpc>
                <a:spcPct val="100000"/>
              </a:lnSpc>
              <a:spcAft>
                <a:spcPts val="100"/>
              </a:spcAft>
              <a:defRPr sz="2600" b="1">
                <a:solidFill>
                  <a:srgbClr val="1F3A5F"/>
                </a:solidFill>
                <a:latin typeface="Calibri"/>
              </a:defRPr>
            </a:pPr>
            <a:r>
              <a:rPr sz="2600" b="1">
                <a:solidFill>
                  <a:srgbClr val="1F3A5F"/>
                </a:solidFill>
                <a:latin typeface="Calibri"/>
              </a:rPr>
              <a:t>V</a:t>
            </a:r>
          </a:p>
        </p:txBody>
      </p:sp>
      <p:sp>
        <p:nvSpPr>
          <p:cNvPr id="10" name="TextBox 9"/>
          <p:cNvSpPr txBox="1"/>
          <p:nvPr/>
        </p:nvSpPr>
        <p:spPr>
          <a:xfrm>
            <a:off x="1463040" y="2909620"/>
            <a:ext cx="822960" cy="429768"/>
          </a:xfrm>
          <a:prstGeom prst="rect">
            <a:avLst/>
          </a:prstGeom>
          <a:noFill/>
        </p:spPr>
        <p:txBody>
          <a:bodyPr wrap="square" lIns="0" tIns="0" rIns="0" bIns="0">
            <a:spAutoFit/>
          </a:bodyPr>
          <a:lstStyle/>
          <a:p>
            <a:pPr algn="ctr">
              <a:lnSpc>
                <a:spcPct val="100000"/>
              </a:lnSpc>
              <a:spcAft>
                <a:spcPts val="100"/>
              </a:spcAft>
              <a:defRPr sz="2200" b="1">
                <a:solidFill>
                  <a:srgbClr val="1F3A5F"/>
                </a:solidFill>
                <a:latin typeface="Calibri"/>
              </a:defRPr>
            </a:pPr>
            <a:r>
              <a:rPr sz="2200" b="1">
                <a:solidFill>
                  <a:srgbClr val="1F3A5F"/>
                </a:solidFill>
                <a:latin typeface="Calibri"/>
              </a:rPr>
              <a:t>I</a:t>
            </a:r>
          </a:p>
        </p:txBody>
      </p:sp>
      <p:sp>
        <p:nvSpPr>
          <p:cNvPr id="11" name="TextBox 10"/>
          <p:cNvSpPr txBox="1"/>
          <p:nvPr/>
        </p:nvSpPr>
        <p:spPr>
          <a:xfrm>
            <a:off x="2743200" y="2909620"/>
            <a:ext cx="822960" cy="429768"/>
          </a:xfrm>
          <a:prstGeom prst="rect">
            <a:avLst/>
          </a:prstGeom>
          <a:noFill/>
        </p:spPr>
        <p:txBody>
          <a:bodyPr wrap="square" lIns="0" tIns="0" rIns="0" bIns="0">
            <a:spAutoFit/>
          </a:bodyPr>
          <a:lstStyle/>
          <a:p>
            <a:pPr algn="ctr">
              <a:lnSpc>
                <a:spcPct val="100000"/>
              </a:lnSpc>
              <a:spcAft>
                <a:spcPts val="100"/>
              </a:spcAft>
              <a:defRPr sz="2200" b="1">
                <a:solidFill>
                  <a:srgbClr val="1F3A5F"/>
                </a:solidFill>
                <a:latin typeface="Calibri"/>
              </a:defRPr>
            </a:pPr>
            <a:r>
              <a:rPr sz="2200" b="1">
                <a:solidFill>
                  <a:srgbClr val="1F3A5F"/>
                </a:solidFill>
                <a:latin typeface="Calibri"/>
              </a:rPr>
              <a:t>R</a:t>
            </a:r>
          </a:p>
        </p:txBody>
      </p:sp>
      <p:sp>
        <p:nvSpPr>
          <p:cNvPr id="12" name="Rectangle 11"/>
          <p:cNvSpPr/>
          <p:nvPr/>
        </p:nvSpPr>
        <p:spPr>
          <a:xfrm>
            <a:off x="1005840" y="3794760"/>
            <a:ext cx="3017520" cy="914400"/>
          </a:xfrm>
          <a:prstGeom prst="rect">
            <a:avLst/>
          </a:prstGeom>
          <a:solidFill>
            <a:srgbClr val="F4F6F8"/>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0">
                <a:solidFill>
                  <a:srgbClr val="222222"/>
                </a:solidFill>
                <a:latin typeface="Consolas"/>
              </a:defRPr>
            </a:pPr>
            <a:r>
              <a:rPr sz="1400" b="0">
                <a:solidFill>
                  <a:srgbClr val="222222"/>
                </a:solidFill>
                <a:latin typeface="Consolas"/>
              </a:rPr>
              <a:t>V = I x R</a:t>
            </a:r>
          </a:p>
          <a:p>
            <a:pPr algn="ctr">
              <a:lnSpc>
                <a:spcPct val="100000"/>
              </a:lnSpc>
              <a:spcAft>
                <a:spcPts val="0"/>
              </a:spcAft>
              <a:defRPr sz="1400" b="0">
                <a:solidFill>
                  <a:srgbClr val="222222"/>
                </a:solidFill>
                <a:latin typeface="Consolas"/>
              </a:defRPr>
            </a:pPr>
            <a:r>
              <a:rPr sz="1400" b="0">
                <a:solidFill>
                  <a:srgbClr val="222222"/>
                </a:solidFill>
                <a:latin typeface="Consolas"/>
              </a:rPr>
              <a:t>I = V / R</a:t>
            </a:r>
          </a:p>
          <a:p>
            <a:pPr algn="ctr">
              <a:lnSpc>
                <a:spcPct val="100000"/>
              </a:lnSpc>
              <a:spcAft>
                <a:spcPts val="0"/>
              </a:spcAft>
              <a:defRPr sz="1400" b="0">
                <a:solidFill>
                  <a:srgbClr val="222222"/>
                </a:solidFill>
                <a:latin typeface="Consolas"/>
              </a:defRPr>
            </a:pPr>
            <a:r>
              <a:rPr sz="1400" b="0">
                <a:solidFill>
                  <a:srgbClr val="222222"/>
                </a:solidFill>
                <a:latin typeface="Consolas"/>
              </a:rPr>
              <a:t>R = V / I</a:t>
            </a:r>
          </a:p>
        </p:txBody>
      </p:sp>
      <p:sp>
        <p:nvSpPr>
          <p:cNvPr id="13" name="TextBox 12"/>
          <p:cNvSpPr txBox="1"/>
          <p:nvPr/>
        </p:nvSpPr>
        <p:spPr>
          <a:xfrm>
            <a:off x="1005840" y="4818888"/>
            <a:ext cx="3017520" cy="646684"/>
          </a:xfrm>
          <a:prstGeom prst="rect">
            <a:avLst/>
          </a:prstGeom>
          <a:noFill/>
        </p:spPr>
        <p:txBody>
          <a:bodyPr wrap="square" lIns="0" tIns="0" rIns="0" bIns="0">
            <a:spAutoFit/>
          </a:bodyPr>
          <a:lstStyle/>
          <a:p>
            <a:pPr algn="ctr">
              <a:lnSpc>
                <a:spcPct val="100000"/>
              </a:lnSpc>
              <a:spcAft>
                <a:spcPts val="0"/>
              </a:spcAft>
              <a:defRPr sz="1800" b="0">
                <a:solidFill>
                  <a:srgbClr val="666666"/>
                </a:solidFill>
                <a:latin typeface="Calibri"/>
              </a:defRPr>
            </a:pPr>
            <a:r>
              <a:rPr sz="1800" b="0">
                <a:solidFill>
                  <a:srgbClr val="666666"/>
                </a:solidFill>
                <a:latin typeface="Calibri"/>
              </a:rPr>
              <a:t>V  volts     I  amps     R  ohms</a:t>
            </a:r>
          </a:p>
        </p:txBody>
      </p:sp>
      <p:sp>
        <p:nvSpPr>
          <p:cNvPr id="14" name="TextBox 13"/>
          <p:cNvSpPr txBox="1"/>
          <p:nvPr/>
        </p:nvSpPr>
        <p:spPr>
          <a:xfrm>
            <a:off x="6812280" y="1124712"/>
            <a:ext cx="2743200" cy="367792"/>
          </a:xfrm>
          <a:prstGeom prst="rect">
            <a:avLst/>
          </a:prstGeom>
          <a:noFill/>
        </p:spPr>
        <p:txBody>
          <a:bodyPr wrap="square" lIns="0" tIns="0" rIns="0" bIns="0">
            <a:spAutoFit/>
          </a:bodyPr>
          <a:lstStyle/>
          <a:p>
            <a:pPr algn="ctr">
              <a:lnSpc>
                <a:spcPct val="100000"/>
              </a:lnSpc>
              <a:spcAft>
                <a:spcPts val="0"/>
              </a:spcAft>
              <a:defRPr sz="1800" b="1">
                <a:solidFill>
                  <a:srgbClr val="B46A0F"/>
                </a:solidFill>
                <a:latin typeface="Calibri"/>
              </a:defRPr>
            </a:pPr>
            <a:r>
              <a:rPr sz="1800" b="1">
                <a:solidFill>
                  <a:srgbClr val="B46A0F"/>
                </a:solidFill>
                <a:latin typeface="Calibri"/>
              </a:rPr>
              <a:t>POWER LAW</a:t>
            </a:r>
          </a:p>
        </p:txBody>
      </p:sp>
      <p:sp>
        <p:nvSpPr>
          <p:cNvPr id="15" name="Isosceles Triangle 14"/>
          <p:cNvSpPr/>
          <p:nvPr/>
        </p:nvSpPr>
        <p:spPr>
          <a:xfrm>
            <a:off x="6812280" y="1508760"/>
            <a:ext cx="2743200" cy="2011680"/>
          </a:xfrm>
          <a:prstGeom prst="triangle">
            <a:avLst/>
          </a:prstGeom>
          <a:solidFill>
            <a:srgbClr val="FAE6C8"/>
          </a:solidFill>
          <a:ln w="19050">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Aft>
                <a:spcPts val="200"/>
              </a:spcAft>
              <a:defRPr sz="900" b="0">
                <a:solidFill>
                  <a:srgbClr val="222222"/>
                </a:solidFill>
                <a:latin typeface="Calibri"/>
              </a:defRPr>
            </a:pPr>
          </a:p>
        </p:txBody>
      </p:sp>
      <p:cxnSp>
        <p:nvCxnSpPr>
          <p:cNvPr id="16" name="Connector 15"/>
          <p:cNvCxnSpPr/>
          <p:nvPr/>
        </p:nvCxnSpPr>
        <p:spPr>
          <a:xfrm>
            <a:off x="7379208" y="2635300"/>
            <a:ext cx="1609344" cy="0"/>
          </a:xfrm>
          <a:prstGeom prst="line">
            <a:avLst/>
          </a:prstGeom>
          <a:ln w="22225">
            <a:solidFill>
              <a:srgbClr val="B46A0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812280" y="1892808"/>
            <a:ext cx="2743200" cy="491744"/>
          </a:xfrm>
          <a:prstGeom prst="rect">
            <a:avLst/>
          </a:prstGeom>
          <a:noFill/>
        </p:spPr>
        <p:txBody>
          <a:bodyPr wrap="square" lIns="0" tIns="0" rIns="0" bIns="0">
            <a:spAutoFit/>
          </a:bodyPr>
          <a:lstStyle/>
          <a:p>
            <a:pPr algn="ctr">
              <a:lnSpc>
                <a:spcPct val="100000"/>
              </a:lnSpc>
              <a:spcAft>
                <a:spcPts val="100"/>
              </a:spcAft>
              <a:defRPr sz="2600" b="1">
                <a:solidFill>
                  <a:srgbClr val="1F3A5F"/>
                </a:solidFill>
                <a:latin typeface="Calibri"/>
              </a:defRPr>
            </a:pPr>
            <a:r>
              <a:rPr sz="2600" b="1">
                <a:solidFill>
                  <a:srgbClr val="1F3A5F"/>
                </a:solidFill>
                <a:latin typeface="Calibri"/>
              </a:rPr>
              <a:t>P</a:t>
            </a:r>
          </a:p>
        </p:txBody>
      </p:sp>
      <p:sp>
        <p:nvSpPr>
          <p:cNvPr id="18" name="TextBox 17"/>
          <p:cNvSpPr txBox="1"/>
          <p:nvPr/>
        </p:nvSpPr>
        <p:spPr>
          <a:xfrm>
            <a:off x="7132320" y="2909620"/>
            <a:ext cx="822960" cy="429768"/>
          </a:xfrm>
          <a:prstGeom prst="rect">
            <a:avLst/>
          </a:prstGeom>
          <a:noFill/>
        </p:spPr>
        <p:txBody>
          <a:bodyPr wrap="square" lIns="0" tIns="0" rIns="0" bIns="0">
            <a:spAutoFit/>
          </a:bodyPr>
          <a:lstStyle/>
          <a:p>
            <a:pPr algn="ctr">
              <a:lnSpc>
                <a:spcPct val="100000"/>
              </a:lnSpc>
              <a:spcAft>
                <a:spcPts val="100"/>
              </a:spcAft>
              <a:defRPr sz="2200" b="1">
                <a:solidFill>
                  <a:srgbClr val="1F3A5F"/>
                </a:solidFill>
                <a:latin typeface="Calibri"/>
              </a:defRPr>
            </a:pPr>
            <a:r>
              <a:rPr sz="2200" b="1">
                <a:solidFill>
                  <a:srgbClr val="1F3A5F"/>
                </a:solidFill>
                <a:latin typeface="Calibri"/>
              </a:rPr>
              <a:t>I</a:t>
            </a:r>
          </a:p>
        </p:txBody>
      </p:sp>
      <p:sp>
        <p:nvSpPr>
          <p:cNvPr id="19" name="TextBox 18"/>
          <p:cNvSpPr txBox="1"/>
          <p:nvPr/>
        </p:nvSpPr>
        <p:spPr>
          <a:xfrm>
            <a:off x="8412480" y="2909620"/>
            <a:ext cx="822960" cy="429768"/>
          </a:xfrm>
          <a:prstGeom prst="rect">
            <a:avLst/>
          </a:prstGeom>
          <a:noFill/>
        </p:spPr>
        <p:txBody>
          <a:bodyPr wrap="square" lIns="0" tIns="0" rIns="0" bIns="0">
            <a:spAutoFit/>
          </a:bodyPr>
          <a:lstStyle/>
          <a:p>
            <a:pPr algn="ctr">
              <a:lnSpc>
                <a:spcPct val="100000"/>
              </a:lnSpc>
              <a:spcAft>
                <a:spcPts val="100"/>
              </a:spcAft>
              <a:defRPr sz="2200" b="1">
                <a:solidFill>
                  <a:srgbClr val="1F3A5F"/>
                </a:solidFill>
                <a:latin typeface="Calibri"/>
              </a:defRPr>
            </a:pPr>
            <a:r>
              <a:rPr sz="2200" b="1">
                <a:solidFill>
                  <a:srgbClr val="1F3A5F"/>
                </a:solidFill>
                <a:latin typeface="Calibri"/>
              </a:rPr>
              <a:t>V</a:t>
            </a:r>
          </a:p>
        </p:txBody>
      </p:sp>
      <p:sp>
        <p:nvSpPr>
          <p:cNvPr id="20" name="Rectangle 19"/>
          <p:cNvSpPr/>
          <p:nvPr/>
        </p:nvSpPr>
        <p:spPr>
          <a:xfrm>
            <a:off x="6675120" y="3794760"/>
            <a:ext cx="3017520" cy="914400"/>
          </a:xfrm>
          <a:prstGeom prst="rect">
            <a:avLst/>
          </a:prstGeom>
          <a:solidFill>
            <a:srgbClr val="F4F6F8"/>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0">
                <a:solidFill>
                  <a:srgbClr val="222222"/>
                </a:solidFill>
                <a:latin typeface="Consolas"/>
              </a:defRPr>
            </a:pPr>
            <a:r>
              <a:rPr sz="1400" b="0">
                <a:solidFill>
                  <a:srgbClr val="222222"/>
                </a:solidFill>
                <a:latin typeface="Consolas"/>
              </a:rPr>
              <a:t>P = I x V</a:t>
            </a:r>
          </a:p>
          <a:p>
            <a:pPr algn="ctr">
              <a:lnSpc>
                <a:spcPct val="100000"/>
              </a:lnSpc>
              <a:spcAft>
                <a:spcPts val="0"/>
              </a:spcAft>
              <a:defRPr sz="1400" b="0">
                <a:solidFill>
                  <a:srgbClr val="222222"/>
                </a:solidFill>
                <a:latin typeface="Consolas"/>
              </a:defRPr>
            </a:pPr>
            <a:r>
              <a:rPr sz="1400" b="0">
                <a:solidFill>
                  <a:srgbClr val="222222"/>
                </a:solidFill>
                <a:latin typeface="Consolas"/>
              </a:rPr>
              <a:t>I = P / V</a:t>
            </a:r>
          </a:p>
          <a:p>
            <a:pPr algn="ctr">
              <a:lnSpc>
                <a:spcPct val="100000"/>
              </a:lnSpc>
              <a:spcAft>
                <a:spcPts val="0"/>
              </a:spcAft>
              <a:defRPr sz="1400" b="0">
                <a:solidFill>
                  <a:srgbClr val="222222"/>
                </a:solidFill>
                <a:latin typeface="Consolas"/>
              </a:defRPr>
            </a:pPr>
            <a:r>
              <a:rPr sz="1400" b="0">
                <a:solidFill>
                  <a:srgbClr val="222222"/>
                </a:solidFill>
                <a:latin typeface="Consolas"/>
              </a:rPr>
              <a:t>V = P / I</a:t>
            </a:r>
          </a:p>
        </p:txBody>
      </p:sp>
      <p:sp>
        <p:nvSpPr>
          <p:cNvPr id="21" name="TextBox 20"/>
          <p:cNvSpPr txBox="1"/>
          <p:nvPr/>
        </p:nvSpPr>
        <p:spPr>
          <a:xfrm>
            <a:off x="6675120" y="4818888"/>
            <a:ext cx="3017520" cy="646684"/>
          </a:xfrm>
          <a:prstGeom prst="rect">
            <a:avLst/>
          </a:prstGeom>
          <a:noFill/>
        </p:spPr>
        <p:txBody>
          <a:bodyPr wrap="square" lIns="0" tIns="0" rIns="0" bIns="0">
            <a:spAutoFit/>
          </a:bodyPr>
          <a:lstStyle/>
          <a:p>
            <a:pPr algn="ctr">
              <a:lnSpc>
                <a:spcPct val="100000"/>
              </a:lnSpc>
              <a:spcAft>
                <a:spcPts val="0"/>
              </a:spcAft>
              <a:defRPr sz="1800" b="0">
                <a:solidFill>
                  <a:srgbClr val="666666"/>
                </a:solidFill>
                <a:latin typeface="Calibri"/>
              </a:defRPr>
            </a:pPr>
            <a:r>
              <a:rPr sz="1800" b="0">
                <a:solidFill>
                  <a:srgbClr val="666666"/>
                </a:solidFill>
                <a:latin typeface="Calibri"/>
              </a:rPr>
              <a:t>P  watts     I  amps     V  volts</a:t>
            </a:r>
          </a:p>
        </p:txBody>
      </p:sp>
      <p:sp>
        <p:nvSpPr>
          <p:cNvPr id="22" name="Rectangle 21"/>
          <p:cNvSpPr/>
          <p:nvPr/>
        </p:nvSpPr>
        <p:spPr>
          <a:xfrm>
            <a:off x="4297680" y="1325880"/>
            <a:ext cx="2194560" cy="3657600"/>
          </a:xfrm>
          <a:prstGeom prst="rect">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ONE NEOPIXEL</a:t>
            </a:r>
          </a:p>
          <a:p>
            <a:pPr algn="ctr">
              <a:lnSpc>
                <a:spcPct val="100000"/>
              </a:lnSpc>
              <a:spcAft>
                <a:spcPts val="0"/>
              </a:spcAft>
              <a:defRPr sz="1800" b="0">
                <a:solidFill>
                  <a:srgbClr val="222222"/>
                </a:solidFill>
                <a:latin typeface="Calibri"/>
              </a:defRPr>
            </a:pPr>
            <a:r>
              <a:rPr sz="1800" b="0">
                <a:solidFill>
                  <a:srgbClr val="222222"/>
                </a:solidFill>
                <a:latin typeface="Calibri"/>
              </a:rPr>
              <a:t>at full white</a:t>
            </a:r>
          </a:p>
          <a:p>
            <a:pPr algn="ctr">
              <a:lnSpc>
                <a:spcPct val="100000"/>
              </a:lnSpc>
              <a:spcAft>
                <a:spcPts val="0"/>
              </a:spcAft>
              <a:defRPr sz="900" b="0">
                <a:solidFill>
                  <a:srgbClr val="222222"/>
                </a:solidFill>
                <a:latin typeface="Calibri"/>
              </a:defRPr>
            </a:pPr>
          </a:p>
          <a:p>
            <a:pPr algn="ctr">
              <a:lnSpc>
                <a:spcPct val="100000"/>
              </a:lnSpc>
              <a:spcAft>
                <a:spcPts val="0"/>
              </a:spcAft>
              <a:defRPr sz="1800" b="0">
                <a:solidFill>
                  <a:srgbClr val="222222"/>
                </a:solidFill>
                <a:latin typeface="Calibri"/>
              </a:defRPr>
            </a:pPr>
            <a:r>
              <a:rPr sz="1800" b="0">
                <a:solidFill>
                  <a:srgbClr val="222222"/>
                </a:solidFill>
                <a:latin typeface="Calibri"/>
              </a:rPr>
              <a:t>3 LEDs x 20 mA</a:t>
            </a:r>
          </a:p>
          <a:p>
            <a:pPr algn="ctr">
              <a:lnSpc>
                <a:spcPct val="100000"/>
              </a:lnSpc>
              <a:spcAft>
                <a:spcPts val="0"/>
              </a:spcAft>
              <a:defRPr sz="1800" b="0">
                <a:solidFill>
                  <a:srgbClr val="222222"/>
                </a:solidFill>
                <a:latin typeface="Calibri"/>
              </a:defRPr>
            </a:pPr>
            <a:r>
              <a:rPr sz="1800" b="0">
                <a:solidFill>
                  <a:srgbClr val="222222"/>
                </a:solidFill>
                <a:latin typeface="Calibri"/>
              </a:rPr>
              <a:t>= 60 mA</a:t>
            </a:r>
          </a:p>
          <a:p>
            <a:pPr algn="ctr">
              <a:lnSpc>
                <a:spcPct val="100000"/>
              </a:lnSpc>
              <a:spcAft>
                <a:spcPts val="0"/>
              </a:spcAft>
              <a:defRPr sz="900" b="0">
                <a:solidFill>
                  <a:srgbClr val="222222"/>
                </a:solidFill>
                <a:latin typeface="Calibri"/>
              </a:defRPr>
            </a:pPr>
          </a:p>
          <a:p>
            <a:pPr algn="ctr">
              <a:lnSpc>
                <a:spcPct val="100000"/>
              </a:lnSpc>
              <a:spcAft>
                <a:spcPts val="0"/>
              </a:spcAft>
              <a:defRPr sz="1800" b="0">
                <a:solidFill>
                  <a:srgbClr val="222222"/>
                </a:solidFill>
                <a:latin typeface="Calibri"/>
              </a:defRPr>
            </a:pPr>
            <a:r>
              <a:rPr sz="1800" b="0">
                <a:solidFill>
                  <a:srgbClr val="222222"/>
                </a:solidFill>
                <a:latin typeface="Calibri"/>
              </a:rPr>
              <a:t>P = I x V</a:t>
            </a:r>
          </a:p>
          <a:p>
            <a:pPr algn="ctr">
              <a:lnSpc>
                <a:spcPct val="100000"/>
              </a:lnSpc>
              <a:spcAft>
                <a:spcPts val="0"/>
              </a:spcAft>
              <a:defRPr sz="1800" b="0">
                <a:solidFill>
                  <a:srgbClr val="222222"/>
                </a:solidFill>
                <a:latin typeface="Calibri"/>
              </a:defRPr>
            </a:pPr>
            <a:r>
              <a:rPr sz="1800" b="0">
                <a:solidFill>
                  <a:srgbClr val="222222"/>
                </a:solidFill>
                <a:latin typeface="Calibri"/>
              </a:rPr>
              <a:t>= 0.06 x 5</a:t>
            </a:r>
          </a:p>
          <a:p>
            <a:pPr algn="ctr">
              <a:lnSpc>
                <a:spcPct val="100000"/>
              </a:lnSpc>
              <a:spcAft>
                <a:spcPts val="0"/>
              </a:spcAft>
              <a:defRPr sz="1800" b="0">
                <a:solidFill>
                  <a:srgbClr val="222222"/>
                </a:solidFill>
                <a:latin typeface="Calibri"/>
              </a:defRPr>
            </a:pPr>
            <a:r>
              <a:rPr sz="1800" b="0">
                <a:solidFill>
                  <a:srgbClr val="222222"/>
                </a:solidFill>
                <a:latin typeface="Calibri"/>
              </a:rPr>
              <a:t>= 0.3 W</a:t>
            </a:r>
          </a:p>
          <a:p>
            <a:pPr algn="ctr">
              <a:lnSpc>
                <a:spcPct val="100000"/>
              </a:lnSpc>
              <a:spcAft>
                <a:spcPts val="0"/>
              </a:spcAft>
              <a:defRPr sz="900" b="0">
                <a:solidFill>
                  <a:srgbClr val="222222"/>
                </a:solidFill>
                <a:latin typeface="Calibri"/>
              </a:defRPr>
            </a:pPr>
          </a:p>
          <a:p>
            <a:pPr algn="ctr">
              <a:lnSpc>
                <a:spcPct val="100000"/>
              </a:lnSpc>
              <a:spcAft>
                <a:spcPts val="0"/>
              </a:spcAft>
              <a:defRPr sz="1800" b="0">
                <a:solidFill>
                  <a:srgbClr val="222222"/>
                </a:solidFill>
                <a:latin typeface="Calibri"/>
              </a:defRPr>
            </a:pPr>
            <a:r>
              <a:rPr sz="1800" b="0">
                <a:solidFill>
                  <a:srgbClr val="222222"/>
                </a:solidFill>
                <a:latin typeface="Calibri"/>
              </a:rPr>
              <a:t>x 32 pixels</a:t>
            </a:r>
          </a:p>
          <a:p>
            <a:pPr algn="ctr">
              <a:lnSpc>
                <a:spcPct val="100000"/>
              </a:lnSpc>
              <a:spcAft>
                <a:spcPts val="0"/>
              </a:spcAft>
              <a:defRPr sz="1800" b="0">
                <a:solidFill>
                  <a:srgbClr val="222222"/>
                </a:solidFill>
                <a:latin typeface="Calibri"/>
              </a:defRPr>
            </a:pPr>
            <a:r>
              <a:rPr sz="1800" b="0">
                <a:solidFill>
                  <a:srgbClr val="222222"/>
                </a:solidFill>
                <a:latin typeface="Calibri"/>
              </a:rPr>
              <a:t>= 1.92 A</a:t>
            </a:r>
          </a:p>
          <a:p>
            <a:pPr algn="ctr">
              <a:lnSpc>
                <a:spcPct val="100000"/>
              </a:lnSpc>
              <a:spcAft>
                <a:spcPts val="0"/>
              </a:spcAft>
              <a:defRPr sz="1800" b="0">
                <a:solidFill>
                  <a:srgbClr val="222222"/>
                </a:solidFill>
                <a:latin typeface="Calibri"/>
              </a:defRPr>
            </a:pPr>
            <a:r>
              <a:rPr sz="1800" b="0">
                <a:solidFill>
                  <a:srgbClr val="222222"/>
                </a:solidFill>
                <a:latin typeface="Calibri"/>
              </a:rPr>
              <a:t>= 9.6 W</a:t>
            </a:r>
          </a:p>
        </p:txBody>
      </p:sp>
      <p:sp>
        <p:nvSpPr>
          <p:cNvPr id="23" name="Rounded Rectangle 22"/>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Cover the quantity you want with your thumb and the triangle shows you the sum. These two turn up again in the LED budget, the shunt resistor, and how long your battery lasts.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Driving a chip with no library</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10</a:t>
            </a:r>
          </a:p>
        </p:txBody>
      </p:sp>
      <p:sp>
        <p:nvSpPr>
          <p:cNvPr id="6" name="TextBox 5"/>
          <p:cNvSpPr txBox="1"/>
          <p:nvPr/>
        </p:nvSpPr>
        <p:spPr>
          <a:xfrm>
            <a:off x="502920" y="1188720"/>
            <a:ext cx="7047088" cy="274320"/>
          </a:xfrm>
          <a:prstGeom prst="rect">
            <a:avLst/>
          </a:prstGeom>
          <a:noFill/>
        </p:spPr>
        <p:txBody>
          <a:bodyPr wrap="square" lIns="0" tIns="0" rIns="0" bIns="0">
            <a:spAutoFit/>
          </a:bodyPr>
          <a:lstStyle/>
          <a:p>
            <a:pPr algn="l">
              <a:lnSpc>
                <a:spcPct val="100000"/>
              </a:lnSpc>
              <a:spcAft>
                <a:spcPts val="200"/>
              </a:spcAft>
              <a:defRPr sz="1200" b="1">
                <a:solidFill>
                  <a:srgbClr val="0E7C86"/>
                </a:solidFill>
                <a:latin typeface="Consolas"/>
              </a:defRPr>
            </a:pPr>
            <a:r>
              <a:rPr sz="1200" b="1">
                <a:solidFill>
                  <a:srgbClr val="0E7C86"/>
                </a:solidFill>
                <a:latin typeface="Consolas"/>
              </a:rPr>
              <a:t>Sensors.ino</a:t>
            </a:r>
          </a:p>
        </p:txBody>
      </p:sp>
      <p:sp>
        <p:nvSpPr>
          <p:cNvPr id="7" name="CODE_PANEL"/>
          <p:cNvSpPr/>
          <p:nvPr/>
        </p:nvSpPr>
        <p:spPr>
          <a:xfrm>
            <a:off x="502920" y="1517904"/>
            <a:ext cx="7047088" cy="4745736"/>
          </a:xfrm>
          <a:prstGeom prst="roundRect">
            <a:avLst>
              <a:gd name="adj" fmla="val 4000"/>
            </a:avLst>
          </a:prstGeom>
          <a:solidFill>
            <a:srgbClr val="F4F6F8"/>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tIns="91440" bIns="73152"/>
          <a:lstStyle/>
          <a:p>
            <a:pPr algn="l">
              <a:lnSpc>
                <a:spcPct val="100000"/>
              </a:lnSpc>
              <a:spcAft>
                <a:spcPts val="0"/>
              </a:spcAft>
              <a:defRPr sz="1400">
                <a:latin typeface="Consolas"/>
              </a:defRPr>
            </a:pPr>
            <a:r>
              <a:rPr sz="1400">
                <a:solidFill>
                  <a:srgbClr val="222222"/>
                </a:solidFill>
                <a:latin typeface="Consolas"/>
              </a:rPr>
              <a:t>uint16_t ina219_read16(uint8_t reg) {</a:t>
            </a:r>
          </a:p>
          <a:p>
            <a:pPr algn="l">
              <a:lnSpc>
                <a:spcPct val="100000"/>
              </a:lnSpc>
              <a:spcAft>
                <a:spcPts val="0"/>
              </a:spcAft>
              <a:defRPr sz="1400">
                <a:latin typeface="Consolas"/>
              </a:defRPr>
            </a:pPr>
            <a:r>
              <a:rPr sz="1400">
                <a:solidFill>
                  <a:srgbClr val="222222"/>
                </a:solidFill>
                <a:latin typeface="Consolas"/>
              </a:rPr>
              <a:t>  Wire.beginTransmission(INA219_I2C_ADDR);</a:t>
            </a:r>
          </a:p>
          <a:p>
            <a:pPr algn="l">
              <a:lnSpc>
                <a:spcPct val="100000"/>
              </a:lnSpc>
              <a:spcAft>
                <a:spcPts val="0"/>
              </a:spcAft>
              <a:defRPr sz="1400">
                <a:latin typeface="Consolas"/>
              </a:defRPr>
            </a:pPr>
            <a:r>
              <a:rPr sz="1400">
                <a:solidFill>
                  <a:srgbClr val="222222"/>
                </a:solidFill>
                <a:latin typeface="Consolas"/>
              </a:rPr>
              <a:t>  Wire.write(reg);</a:t>
            </a:r>
          </a:p>
          <a:p>
            <a:pPr algn="l">
              <a:lnSpc>
                <a:spcPct val="100000"/>
              </a:lnSpc>
              <a:spcAft>
                <a:spcPts val="0"/>
              </a:spcAft>
              <a:defRPr sz="1400">
                <a:latin typeface="Consolas"/>
              </a:defRPr>
            </a:pPr>
            <a:r>
              <a:rPr sz="1400" b="1">
                <a:solidFill>
                  <a:srgbClr val="0E7C86"/>
                </a:solidFill>
                <a:latin typeface="Consolas"/>
              </a:rPr>
              <a:t>  Wire.endTransmission(false);   // REPEATED START, keep the bus</a:t>
            </a:r>
          </a:p>
          <a:p>
            <a:pPr algn="l">
              <a:lnSpc>
                <a:spcPct val="100000"/>
              </a:lnSpc>
              <a:spcAft>
                <a:spcPts val="0"/>
              </a:spcAft>
              <a:defRPr sz="1400">
                <a:latin typeface="Consolas"/>
              </a:defRPr>
            </a:pPr>
            <a:r>
              <a:rPr sz="1400">
                <a:solidFill>
                  <a:srgbClr val="222222"/>
                </a:solidFill>
                <a:latin typeface="Consolas"/>
              </a:rPr>
              <a:t>  Wire.requestFrom((uint8_t)INA219_I2C_ADDR, (uint8_t)2);</a:t>
            </a:r>
          </a:p>
          <a:p>
            <a:pPr algn="l">
              <a:lnSpc>
                <a:spcPct val="100000"/>
              </a:lnSpc>
              <a:spcAft>
                <a:spcPts val="0"/>
              </a:spcAft>
              <a:defRPr sz="1400">
                <a:latin typeface="Consolas"/>
              </a:defRPr>
            </a:pPr>
            <a:r>
              <a:rPr sz="1400">
                <a:solidFill>
                  <a:srgbClr val="222222"/>
                </a:solidFill>
                <a:latin typeface="Consolas"/>
              </a:rPr>
              <a:t>  if (Wire.available() &lt; 2) return 0;</a:t>
            </a:r>
          </a:p>
          <a:p>
            <a:pPr algn="l">
              <a:lnSpc>
                <a:spcPct val="100000"/>
              </a:lnSpc>
              <a:spcAft>
                <a:spcPts val="0"/>
              </a:spcAft>
              <a:defRPr sz="1400">
                <a:latin typeface="Consolas"/>
              </a:defRPr>
            </a:pPr>
            <a:r>
              <a:rPr sz="1400" b="1">
                <a:solidFill>
                  <a:srgbClr val="0E7C86"/>
                </a:solidFill>
                <a:latin typeface="Consolas"/>
              </a:rPr>
              <a:t>  uint8_t high = Wire.read();</a:t>
            </a:r>
          </a:p>
          <a:p>
            <a:pPr algn="l">
              <a:lnSpc>
                <a:spcPct val="100000"/>
              </a:lnSpc>
              <a:spcAft>
                <a:spcPts val="0"/>
              </a:spcAft>
              <a:defRPr sz="1400">
                <a:latin typeface="Consolas"/>
              </a:defRPr>
            </a:pPr>
            <a:r>
              <a:rPr sz="1400">
                <a:solidFill>
                  <a:srgbClr val="222222"/>
                </a:solidFill>
                <a:latin typeface="Consolas"/>
              </a:rPr>
              <a:t>  uint8_t low  = Wire.read();</a:t>
            </a:r>
          </a:p>
          <a:p>
            <a:pPr algn="l">
              <a:lnSpc>
                <a:spcPct val="100000"/>
              </a:lnSpc>
              <a:spcAft>
                <a:spcPts val="0"/>
              </a:spcAft>
              <a:defRPr sz="1400">
                <a:latin typeface="Consolas"/>
              </a:defRPr>
            </a:pPr>
            <a:r>
              <a:rPr sz="1400">
                <a:solidFill>
                  <a:srgbClr val="222222"/>
                </a:solidFill>
                <a:latin typeface="Consolas"/>
              </a:rPr>
              <a:t>  return (high &lt;&lt; 8) | low;</a:t>
            </a:r>
          </a:p>
          <a:p>
            <a:pPr algn="l">
              <a:lnSpc>
                <a:spcPct val="100000"/>
              </a:lnSpc>
              <a:spcAft>
                <a:spcPts val="0"/>
              </a:spcAft>
              <a:defRPr sz="1400">
                <a:latin typeface="Consolas"/>
              </a:defRPr>
            </a:pPr>
            <a:r>
              <a:rPr sz="1400">
                <a:solidFill>
                  <a:srgbClr val="222222"/>
                </a:solidFill>
                <a:latin typeface="Consolas"/>
              </a:rPr>
              <a:t>}</a:t>
            </a:r>
          </a:p>
          <a:p>
            <a:pPr algn="l">
              <a:lnSpc>
                <a:spcPct val="100000"/>
              </a:lnSpc>
              <a:spcAft>
                <a:spcPts val="0"/>
              </a:spcAft>
              <a:defRPr sz="1400">
                <a:latin typeface="Consolas"/>
              </a:defRPr>
            </a:pPr>
            <a:r>
              <a:rPr sz="1400">
                <a:solidFill>
                  <a:srgbClr val="222222"/>
                </a:solidFill>
                <a:latin typeface="Consolas"/>
              </a:rPr>
              <a:t> </a:t>
            </a:r>
          </a:p>
          <a:p>
            <a:pPr algn="l">
              <a:lnSpc>
                <a:spcPct val="100000"/>
              </a:lnSpc>
              <a:spcAft>
                <a:spcPts val="0"/>
              </a:spcAft>
              <a:defRPr sz="1400">
                <a:latin typeface="Consolas"/>
              </a:defRPr>
            </a:pPr>
            <a:r>
              <a:rPr sz="1400">
                <a:solidFill>
                  <a:srgbClr val="222222"/>
                </a:solidFill>
                <a:latin typeface="Consolas"/>
              </a:rPr>
              <a:t>float readCurrentAmps() {</a:t>
            </a:r>
          </a:p>
          <a:p>
            <a:pPr algn="l">
              <a:lnSpc>
                <a:spcPct val="100000"/>
              </a:lnSpc>
              <a:spcAft>
                <a:spcPts val="0"/>
              </a:spcAft>
              <a:defRPr sz="1400">
                <a:latin typeface="Consolas"/>
              </a:defRPr>
            </a:pPr>
            <a:r>
              <a:rPr sz="1400" b="1">
                <a:solidFill>
                  <a:srgbClr val="0E7C86"/>
                </a:solidFill>
                <a:latin typeface="Consolas"/>
              </a:rPr>
              <a:t>  int16_t raw = (int16_t)ina219_read16(0x01);   // shunt reg, SIGNED</a:t>
            </a:r>
          </a:p>
          <a:p>
            <a:pPr algn="l">
              <a:lnSpc>
                <a:spcPct val="100000"/>
              </a:lnSpc>
              <a:spcAft>
                <a:spcPts val="0"/>
              </a:spcAft>
              <a:defRPr sz="1400">
                <a:latin typeface="Consolas"/>
              </a:defRPr>
            </a:pPr>
            <a:r>
              <a:rPr sz="1400">
                <a:solidFill>
                  <a:srgbClr val="222222"/>
                </a:solidFill>
                <a:latin typeface="Consolas"/>
              </a:rPr>
              <a:t>  return (raw * 0.01f) / (SHUNT_RESISTOR_OHMS * 1000.0f);</a:t>
            </a:r>
          </a:p>
          <a:p>
            <a:pPr algn="l">
              <a:lnSpc>
                <a:spcPct val="100000"/>
              </a:lnSpc>
              <a:spcAft>
                <a:spcPts val="0"/>
              </a:spcAft>
              <a:defRPr sz="1400">
                <a:latin typeface="Consolas"/>
              </a:defRPr>
            </a:pPr>
            <a:r>
              <a:rPr sz="1400">
                <a:solidFill>
                  <a:srgbClr val="222222"/>
                </a:solidFill>
                <a:latin typeface="Consolas"/>
              </a:rPr>
              <a:t>}</a:t>
            </a:r>
          </a:p>
          <a:p>
            <a:pPr algn="l">
              <a:lnSpc>
                <a:spcPct val="100000"/>
              </a:lnSpc>
              <a:spcAft>
                <a:spcPts val="0"/>
              </a:spcAft>
              <a:defRPr sz="1400">
                <a:latin typeface="Consolas"/>
              </a:defRPr>
            </a:pPr>
            <a:r>
              <a:rPr sz="1400">
                <a:solidFill>
                  <a:srgbClr val="222222"/>
                </a:solidFill>
                <a:latin typeface="Consolas"/>
              </a:rPr>
              <a:t> </a:t>
            </a:r>
          </a:p>
          <a:p>
            <a:pPr algn="l">
              <a:lnSpc>
                <a:spcPct val="100000"/>
              </a:lnSpc>
              <a:spcAft>
                <a:spcPts val="0"/>
              </a:spcAft>
              <a:defRPr sz="1400">
                <a:latin typeface="Consolas"/>
              </a:defRPr>
            </a:pPr>
            <a:r>
              <a:rPr sz="1400">
                <a:solidFill>
                  <a:srgbClr val="222222"/>
                </a:solidFill>
                <a:latin typeface="Consolas"/>
              </a:rPr>
              <a:t>float readBusVolts() {</a:t>
            </a:r>
          </a:p>
          <a:p>
            <a:pPr algn="l">
              <a:lnSpc>
                <a:spcPct val="100000"/>
              </a:lnSpc>
              <a:spcAft>
                <a:spcPts val="0"/>
              </a:spcAft>
              <a:defRPr sz="1400">
                <a:latin typeface="Consolas"/>
              </a:defRPr>
            </a:pPr>
            <a:r>
              <a:rPr sz="1400">
                <a:solidFill>
                  <a:srgbClr val="222222"/>
                </a:solidFill>
                <a:latin typeface="Consolas"/>
              </a:rPr>
              <a:t>  uint16_t value = ina219_read16(0x02);</a:t>
            </a:r>
          </a:p>
          <a:p>
            <a:pPr algn="l">
              <a:lnSpc>
                <a:spcPct val="100000"/>
              </a:lnSpc>
              <a:spcAft>
                <a:spcPts val="0"/>
              </a:spcAft>
              <a:defRPr sz="1400">
                <a:latin typeface="Consolas"/>
              </a:defRPr>
            </a:pPr>
            <a:r>
              <a:rPr sz="1400">
                <a:solidFill>
                  <a:srgbClr val="222222"/>
                </a:solidFill>
                <a:latin typeface="Consolas"/>
              </a:rPr>
              <a:t>  return (float)((value &gt;&gt; 3) * 4) * 0.001f;   // top 13 bits, 4 mV/count</a:t>
            </a:r>
          </a:p>
          <a:p>
            <a:pPr algn="l">
              <a:lnSpc>
                <a:spcPct val="100000"/>
              </a:lnSpc>
              <a:spcAft>
                <a:spcPts val="0"/>
              </a:spcAft>
              <a:defRPr sz="1400">
                <a:latin typeface="Consolas"/>
              </a:defRPr>
            </a:pPr>
            <a:r>
              <a:rPr sz="1400">
                <a:solidFill>
                  <a:srgbClr val="222222"/>
                </a:solidFill>
                <a:latin typeface="Consolas"/>
              </a:rPr>
              <a:t>}</a:t>
            </a:r>
          </a:p>
        </p:txBody>
      </p:sp>
      <p:sp>
        <p:nvSpPr>
          <p:cNvPr id="8" name="TextBox 7"/>
          <p:cNvSpPr txBox="1"/>
          <p:nvPr/>
        </p:nvSpPr>
        <p:spPr>
          <a:xfrm>
            <a:off x="7870048" y="1517904"/>
            <a:ext cx="3818727" cy="4745736"/>
          </a:xfrm>
          <a:prstGeom prst="rect">
            <a:avLst/>
          </a:prstGeom>
          <a:noFill/>
        </p:spPr>
        <p:txBody>
          <a:bodyPr wrap="square" lIns="0" tIns="0" rIns="0" bIns="0">
            <a:spAutoFit/>
          </a:bodyPr>
          <a:lstStyle/>
          <a:p>
            <a:pPr algn="l">
              <a:lnSpc>
                <a:spcPct val="100000"/>
              </a:lnSpc>
              <a:spcAft>
                <a:spcPts val="700"/>
              </a:spcAft>
              <a:defRPr sz="1800" b="0">
                <a:solidFill>
                  <a:srgbClr val="222222"/>
                </a:solidFill>
                <a:latin typeface="Calibri"/>
              </a:defRPr>
            </a:pPr>
            <a:r>
              <a:rPr sz="1800" b="0">
                <a:solidFill>
                  <a:srgbClr val="222222"/>
                </a:solidFill>
                <a:latin typeface="Calibri"/>
              </a:rPr>
              <a:t>endTransmission(FALSE) is a repeated start. A full stop would let another master grab the bus mid-read.</a:t>
            </a:r>
          </a:p>
          <a:p>
            <a:pPr algn="l">
              <a:lnSpc>
                <a:spcPct val="100000"/>
              </a:lnSpc>
              <a:spcAft>
                <a:spcPts val="700"/>
              </a:spcAft>
              <a:defRPr sz="1800" b="0">
                <a:solidFill>
                  <a:srgbClr val="222222"/>
                </a:solidFill>
                <a:latin typeface="Calibri"/>
              </a:defRPr>
            </a:pPr>
            <a:r>
              <a:rPr sz="1800" b="0">
                <a:solidFill>
                  <a:srgbClr val="222222"/>
                </a:solidFill>
                <a:latin typeface="Calibri"/>
              </a:rPr>
              <a:t>High byte, then low byte, as two statements. In one expression C++ may call either read() first.</a:t>
            </a:r>
          </a:p>
          <a:p>
            <a:pPr algn="l">
              <a:lnSpc>
                <a:spcPct val="100000"/>
              </a:lnSpc>
              <a:spcAft>
                <a:spcPts val="700"/>
              </a:spcAft>
              <a:defRPr sz="1800" b="0">
                <a:solidFill>
                  <a:srgbClr val="222222"/>
                </a:solidFill>
                <a:latin typeface="Calibri"/>
              </a:defRPr>
            </a:pPr>
            <a:r>
              <a:rPr sz="1800" b="0">
                <a:solidFill>
                  <a:srgbClr val="222222"/>
                </a:solidFill>
                <a:latin typeface="Calibri"/>
              </a:rPr>
              <a:t>The shunt register is SIGNED. Read it unsigned and every braking current becomes a huge positive number.</a:t>
            </a:r>
          </a:p>
          <a:p>
            <a:pPr algn="l">
              <a:lnSpc>
                <a:spcPct val="100000"/>
              </a:lnSpc>
              <a:spcAft>
                <a:spcPts val="700"/>
              </a:spcAft>
              <a:defRPr sz="1800" b="0">
                <a:solidFill>
                  <a:srgbClr val="222222"/>
                </a:solidFill>
                <a:latin typeface="Calibri"/>
              </a:defRPr>
            </a:pPr>
            <a:r>
              <a:rPr sz="1800" b="0">
                <a:solidFill>
                  <a:srgbClr val="222222"/>
                </a:solidFill>
                <a:latin typeface="Calibri"/>
              </a:rPr>
              <a:t>Bus voltage sits in the top 13 bits, so it is shifted down.</a:t>
            </a:r>
          </a:p>
          <a:p>
            <a:pPr algn="l">
              <a:lnSpc>
                <a:spcPct val="100000"/>
              </a:lnSpc>
              <a:spcAft>
                <a:spcPts val="700"/>
              </a:spcAft>
              <a:defRPr sz="1800" b="0">
                <a:solidFill>
                  <a:srgbClr val="222222"/>
                </a:solidFill>
                <a:latin typeface="Calibri"/>
              </a:defRPr>
            </a:pPr>
            <a:r>
              <a:rPr sz="1800" b="0">
                <a:solidFill>
                  <a:srgbClr val="222222"/>
                </a:solidFill>
                <a:latin typeface="Calibri"/>
              </a:rPr>
              <a:t>Forty lines of your own beats a library you cannot read.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Do it now  -  what a motor costs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11</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UPLOAD AND RUN:   </a:t>
            </a:r>
            <a:r>
              <a:rPr sz="1500" b="1">
                <a:solidFill>
                  <a:srgbClr val="FFFFFF"/>
                </a:solidFill>
                <a:latin typeface="Consolas"/>
              </a:rPr>
              <a:t>a5b_ina219_current</a:t>
            </a:r>
            <a:r>
              <a:rPr sz="1200">
                <a:solidFill>
                  <a:srgbClr val="FFFFFF"/>
                </a:solidFill>
                <a:latin typeface="Calibri"/>
              </a:rPr>
              <a:t>     (35 minutes)</a:t>
            </a:r>
          </a:p>
        </p:txBody>
      </p:sp>
      <p:sp>
        <p:nvSpPr>
          <p:cNvPr id="7" name="TextBox 6"/>
          <p:cNvSpPr txBox="1"/>
          <p:nvPr/>
        </p:nvSpPr>
        <p:spPr>
          <a:xfrm>
            <a:off x="502920" y="1901952"/>
            <a:ext cx="6249137" cy="3273552"/>
          </a:xfrm>
          <a:prstGeom prst="rect">
            <a:avLst/>
          </a:prstGeom>
          <a:noFill/>
        </p:spPr>
        <p:txBody>
          <a:bodyPr wrap="square" lIns="0" tIns="0" rIns="0" bIns="0">
            <a:spAutoFit/>
          </a:bodyPr>
          <a:lstStyle/>
          <a:p>
            <a:pPr algn="l">
              <a:lnSpc>
                <a:spcPct val="100000"/>
              </a:lnSpc>
              <a:spcAft>
                <a:spcPts val="400"/>
              </a:spcAft>
              <a:defRPr sz="1800" b="0">
                <a:solidFill>
                  <a:srgbClr val="222222"/>
                </a:solidFill>
                <a:latin typeface="Calibri"/>
              </a:defRPr>
            </a:pPr>
            <a:r>
              <a:rPr sz="1800" b="0">
                <a:solidFill>
                  <a:srgbClr val="222222"/>
                </a:solidFill>
                <a:latin typeface="Calibri"/>
              </a:rPr>
              <a:t>1.  baseline  with everything off, then with the headlights on. Where did the difference go?</a:t>
            </a:r>
          </a:p>
          <a:p>
            <a:pPr algn="l">
              <a:lnSpc>
                <a:spcPct val="100000"/>
              </a:lnSpc>
              <a:spcAft>
                <a:spcPts val="400"/>
              </a:spcAft>
              <a:defRPr sz="1800" b="0">
                <a:solidFill>
                  <a:srgbClr val="222222"/>
                </a:solidFill>
                <a:latin typeface="Calibri"/>
              </a:defRPr>
            </a:pPr>
            <a:r>
              <a:rPr sz="1800" b="0">
                <a:solidFill>
                  <a:srgbClr val="222222"/>
                </a:solidFill>
                <a:latin typeface="Calibri"/>
              </a:rPr>
              <a:t>2.  spin 0  wheel free, then HOLD the wheel. Compare peak and average.</a:t>
            </a:r>
          </a:p>
          <a:p>
            <a:pPr algn="l">
              <a:lnSpc>
                <a:spcPct val="100000"/>
              </a:lnSpc>
              <a:spcAft>
                <a:spcPts val="400"/>
              </a:spcAft>
              <a:defRPr sz="1800" b="0">
                <a:solidFill>
                  <a:srgbClr val="222222"/>
                </a:solidFill>
                <a:latin typeface="Calibri"/>
              </a:defRPr>
            </a:pPr>
            <a:r>
              <a:rPr sz="1800" b="0">
                <a:solidFill>
                  <a:srgbClr val="222222"/>
                </a:solidFill>
                <a:latin typeface="Calibri"/>
              </a:rPr>
              <a:t>3.  Unplug one motor and run  test. What gives it away?</a:t>
            </a:r>
          </a:p>
          <a:p>
            <a:pPr algn="l">
              <a:lnSpc>
                <a:spcPct val="100000"/>
              </a:lnSpc>
              <a:spcAft>
                <a:spcPts val="400"/>
              </a:spcAft>
              <a:defRPr sz="1800" b="0">
                <a:solidFill>
                  <a:srgbClr val="222222"/>
                </a:solidFill>
                <a:latin typeface="Calibri"/>
              </a:defRPr>
            </a:pPr>
            <a:r>
              <a:rPr sz="1800" b="0">
                <a:solidFill>
                  <a:srgbClr val="222222"/>
                </a:solidFill>
                <a:latin typeface="Calibri"/>
              </a:rPr>
              <a:t>4.  regs  - check them against the datasheet comments.</a:t>
            </a:r>
          </a:p>
          <a:p>
            <a:pPr algn="l">
              <a:lnSpc>
                <a:spcPct val="100000"/>
              </a:lnSpc>
              <a:spcAft>
                <a:spcPts val="400"/>
              </a:spcAft>
              <a:defRPr sz="1800" b="0">
                <a:solidFill>
                  <a:srgbClr val="222222"/>
                </a:solidFill>
                <a:latin typeface="Calibri"/>
              </a:defRPr>
            </a:pPr>
            <a:r>
              <a:rPr sz="1800" b="0">
                <a:solidFill>
                  <a:srgbClr val="222222"/>
                </a:solidFill>
                <a:latin typeface="Calibri"/>
              </a:rPr>
              <a:t>5.  How long does a 3300 mAh pack last at your average?</a:t>
            </a:r>
          </a:p>
          <a:p>
            <a:pPr algn="l">
              <a:lnSpc>
                <a:spcPct val="100000"/>
              </a:lnSpc>
              <a:spcAft>
                <a:spcPts val="400"/>
              </a:spcAft>
              <a:defRPr sz="1800" b="0">
                <a:solidFill>
                  <a:srgbClr val="222222"/>
                </a:solidFill>
                <a:latin typeface="Calibri"/>
              </a:defRPr>
            </a:pPr>
            <a:r>
              <a:rPr sz="1800" b="0">
                <a:solidFill>
                  <a:srgbClr val="222222"/>
                </a:solidFill>
                <a:latin typeface="Calibri"/>
              </a:rPr>
              <a:t>6.  Compare with the LED power budget. Which wins?</a:t>
            </a:r>
          </a:p>
        </p:txBody>
      </p:sp>
      <p:sp>
        <p:nvSpPr>
          <p:cNvPr id="8" name="TextBox 7"/>
          <p:cNvSpPr txBox="1"/>
          <p:nvPr/>
        </p:nvSpPr>
        <p:spPr>
          <a:xfrm>
            <a:off x="7163537" y="1901952"/>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What you should see</a:t>
            </a:r>
          </a:p>
        </p:txBody>
      </p:sp>
      <p:sp>
        <p:nvSpPr>
          <p:cNvPr id="9" name="TextBox 8"/>
          <p:cNvSpPr txBox="1"/>
          <p:nvPr/>
        </p:nvSpPr>
        <p:spPr>
          <a:xfrm>
            <a:off x="7163537" y="2304288"/>
            <a:ext cx="4525238" cy="1309195"/>
          </a:xfrm>
          <a:prstGeom prst="rect">
            <a:avLst/>
          </a:prstGeom>
          <a:noFill/>
        </p:spPr>
        <p:txBody>
          <a:bodyPr wrap="square" lIns="0" tIns="0" rIns="0" bIns="0">
            <a:spAutoFit/>
          </a:bodyPr>
          <a:lstStyle/>
          <a:p>
            <a:pPr algn="l">
              <a:lnSpc>
                <a:spcPct val="100000"/>
              </a:lnSpc>
              <a:spcAft>
                <a:spcPts val="300"/>
              </a:spcAft>
              <a:defRPr sz="1900" b="0">
                <a:solidFill>
                  <a:srgbClr val="222222"/>
                </a:solidFill>
                <a:latin typeface="Calibri"/>
              </a:defRPr>
            </a:pPr>
            <a:r>
              <a:rPr sz="1900" b="0">
                <a:solidFill>
                  <a:srgbClr val="222222"/>
                </a:solidFill>
                <a:latin typeface="Calibri"/>
              </a:rPr>
              <a:t>A spike then a settle for a healthy motor. Almost nothing for a disconnected one. A high draw that never settles for a jammed one.</a:t>
            </a:r>
          </a:p>
        </p:txBody>
      </p:sp>
      <p:sp>
        <p:nvSpPr>
          <p:cNvPr id="10" name="TextBox 9"/>
          <p:cNvSpPr txBox="1"/>
          <p:nvPr/>
        </p:nvSpPr>
        <p:spPr>
          <a:xfrm>
            <a:off x="7163537" y="3686635"/>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Answer these</a:t>
            </a:r>
          </a:p>
        </p:txBody>
      </p:sp>
      <p:sp>
        <p:nvSpPr>
          <p:cNvPr id="11" name="TextBox 10"/>
          <p:cNvSpPr txBox="1"/>
          <p:nvPr/>
        </p:nvSpPr>
        <p:spPr>
          <a:xfrm>
            <a:off x="7163537" y="4088971"/>
            <a:ext cx="4525238" cy="1086532"/>
          </a:xfrm>
          <a:prstGeom prst="rect">
            <a:avLst/>
          </a:prstGeom>
          <a:noFill/>
        </p:spPr>
        <p:txBody>
          <a:bodyPr wrap="square" lIns="0" tIns="0" rIns="0" bIns="0">
            <a:spAutoFit/>
          </a:bodyPr>
          <a:lstStyle/>
          <a:p>
            <a:pPr algn="l">
              <a:lnSpc>
                <a:spcPct val="100000"/>
              </a:lnSpc>
              <a:spcAft>
                <a:spcPts val="300"/>
              </a:spcAft>
              <a:defRPr sz="1800" b="0">
                <a:solidFill>
                  <a:srgbClr val="222222"/>
                </a:solidFill>
                <a:latin typeface="Calibri"/>
              </a:defRPr>
            </a:pPr>
            <a:r>
              <a:rPr sz="1800" b="0">
                <a:solidFill>
                  <a:srgbClr val="222222"/>
                </a:solidFill>
                <a:latin typeface="Calibri"/>
              </a:rPr>
              <a:t>What is your vehicle's resting current?</a:t>
            </a:r>
          </a:p>
          <a:p>
            <a:pPr algn="l">
              <a:lnSpc>
                <a:spcPct val="100000"/>
              </a:lnSpc>
              <a:spcAft>
                <a:spcPts val="300"/>
              </a:spcAft>
              <a:defRPr sz="1800" b="0">
                <a:solidFill>
                  <a:srgbClr val="222222"/>
                </a:solidFill>
                <a:latin typeface="Calibri"/>
              </a:defRPr>
            </a:pPr>
            <a:r>
              <a:rPr sz="1800" b="0">
                <a:solidFill>
                  <a:srgbClr val="222222"/>
                </a:solidFill>
                <a:latin typeface="Calibri"/>
              </a:rPr>
              <a:t>How long will your battery last at your measured average?</a:t>
            </a:r>
          </a:p>
        </p:txBody>
      </p:sp>
      <p:sp>
        <p:nvSpPr>
          <p:cNvPr id="12" name="Rounded Rectangle 11"/>
          <p:cNvSpPr/>
          <p:nvPr/>
        </p:nvSpPr>
        <p:spPr>
          <a:xfrm>
            <a:off x="502920" y="5303520"/>
            <a:ext cx="11185855" cy="960120"/>
          </a:xfrm>
          <a:prstGeom prst="roundRect">
            <a:avLst>
              <a:gd name="adj" fmla="val 4000"/>
            </a:avLst>
          </a:prstGeom>
          <a:solidFill>
            <a:srgbClr val="FBECEC"/>
          </a:solidFill>
          <a:ln w="12700">
            <a:solidFill>
              <a:srgbClr val="A32A2A"/>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A32A2A"/>
                </a:solidFill>
                <a:latin typeface="Calibri"/>
              </a:rPr>
              <a:t>SAFETY   </a:t>
            </a:r>
            <a:r>
              <a:rPr sz="1800">
                <a:solidFill>
                  <a:srgbClr val="222222"/>
                </a:solidFill>
                <a:latin typeface="Calibri"/>
              </a:rPr>
              <a:t>Wheels off the ground. The test drives every motor at full power.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Where the current sensor actually is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12</a:t>
            </a:r>
          </a:p>
        </p:txBody>
      </p:sp>
      <p:sp>
        <p:nvSpPr>
          <p:cNvPr id="6" name="TextBox 5"/>
          <p:cNvSpPr txBox="1"/>
          <p:nvPr/>
        </p:nvSpPr>
        <p:spPr>
          <a:xfrm>
            <a:off x="502920" y="1188720"/>
            <a:ext cx="11185855" cy="548640"/>
          </a:xfrm>
          <a:prstGeom prst="rect">
            <a:avLst/>
          </a:prstGeom>
          <a:noFill/>
        </p:spPr>
        <p:txBody>
          <a:bodyPr wrap="square" lIns="0" tIns="0" rIns="0" bIns="0">
            <a:spAutoFit/>
          </a:bodyPr>
          <a:lstStyle/>
          <a:p>
            <a:pPr algn="l">
              <a:lnSpc>
                <a:spcPct val="100000"/>
              </a:lnSpc>
              <a:spcAft>
                <a:spcPts val="200"/>
              </a:spcAft>
              <a:defRPr sz="1800" b="0">
                <a:solidFill>
                  <a:srgbClr val="222222"/>
                </a:solidFill>
                <a:latin typeface="Calibri"/>
              </a:defRPr>
            </a:pPr>
            <a:r>
              <a:rPr sz="1800" b="0">
                <a:solidFill>
                  <a:srgbClr val="222222"/>
                </a:solidFill>
                <a:latin typeface="Calibri"/>
              </a:rPr>
              <a:t>Everything in this lesson depends on one small part that only Gen 3 vehicles carry. Find it before you write code that assumes it.</a:t>
            </a:r>
          </a:p>
        </p:txBody>
      </p:sp>
      <p:pic>
        <p:nvPicPr>
          <p:cNvPr id="7" name="Picture 6" descr="vehicle-gen3-top.jpg"/>
          <p:cNvPicPr>
            <a:picLocks noChangeAspect="1"/>
          </p:cNvPicPr>
          <p:nvPr/>
        </p:nvPicPr>
        <p:blipFill>
          <a:blip r:embed="rId2"/>
          <a:stretch>
            <a:fillRect/>
          </a:stretch>
        </p:blipFill>
        <p:spPr>
          <a:xfrm>
            <a:off x="757351" y="1810512"/>
            <a:ext cx="4901184" cy="3675888"/>
          </a:xfrm>
          <a:prstGeom prst="rect">
            <a:avLst/>
          </a:prstGeom>
        </p:spPr>
      </p:pic>
      <p:pic>
        <p:nvPicPr>
          <p:cNvPr id="8" name="Picture 7" descr="control-board-ina219.jpg"/>
          <p:cNvPicPr>
            <a:picLocks noChangeAspect="1"/>
          </p:cNvPicPr>
          <p:nvPr/>
        </p:nvPicPr>
        <p:blipFill>
          <a:blip r:embed="rId3"/>
          <a:stretch>
            <a:fillRect/>
          </a:stretch>
        </p:blipFill>
        <p:spPr>
          <a:xfrm>
            <a:off x="7067800" y="1810512"/>
            <a:ext cx="3831900" cy="3675888"/>
          </a:xfrm>
          <a:prstGeom prst="rect">
            <a:avLst/>
          </a:prstGeom>
        </p:spPr>
      </p:pic>
      <p:sp>
        <p:nvSpPr>
          <p:cNvPr id="9" name="TextBox 8"/>
          <p:cNvSpPr txBox="1"/>
          <p:nvPr/>
        </p:nvSpPr>
        <p:spPr>
          <a:xfrm>
            <a:off x="502920" y="5559552"/>
            <a:ext cx="5410047" cy="658368"/>
          </a:xfrm>
          <a:prstGeom prst="rect">
            <a:avLst/>
          </a:prstGeom>
          <a:noFill/>
        </p:spPr>
        <p:txBody>
          <a:bodyPr wrap="square" lIns="0" tIns="0" rIns="0" bIns="0">
            <a:spAutoFit/>
          </a:bodyPr>
          <a:lstStyle/>
          <a:p>
            <a:pPr algn="ctr">
              <a:lnSpc>
                <a:spcPct val="100000"/>
              </a:lnSpc>
              <a:spcAft>
                <a:spcPts val="200"/>
              </a:spcAft>
              <a:defRPr sz="1800" b="0">
                <a:solidFill>
                  <a:srgbClr val="666666"/>
                </a:solidFill>
                <a:latin typeface="Calibri"/>
              </a:defRPr>
            </a:pPr>
            <a:r>
              <a:rPr sz="1800" b="0">
                <a:solidFill>
                  <a:srgbClr val="666666"/>
                </a:solidFill>
                <a:latin typeface="Calibri"/>
              </a:rPr>
              <a:t>A Gen 3, looking down through the lexan top plate</a:t>
            </a:r>
          </a:p>
        </p:txBody>
      </p:sp>
      <p:sp>
        <p:nvSpPr>
          <p:cNvPr id="10" name="TextBox 9"/>
          <p:cNvSpPr txBox="1"/>
          <p:nvPr/>
        </p:nvSpPr>
        <p:spPr>
          <a:xfrm>
            <a:off x="6278727" y="5559552"/>
            <a:ext cx="5410047" cy="658368"/>
          </a:xfrm>
          <a:prstGeom prst="rect">
            <a:avLst/>
          </a:prstGeom>
          <a:noFill/>
        </p:spPr>
        <p:txBody>
          <a:bodyPr wrap="square" lIns="0" tIns="0" rIns="0" bIns="0">
            <a:spAutoFit/>
          </a:bodyPr>
          <a:lstStyle/>
          <a:p>
            <a:pPr algn="ctr">
              <a:lnSpc>
                <a:spcPct val="100000"/>
              </a:lnSpc>
              <a:spcAft>
                <a:spcPts val="200"/>
              </a:spcAft>
              <a:defRPr sz="1800" b="0">
                <a:solidFill>
                  <a:srgbClr val="666666"/>
                </a:solidFill>
                <a:latin typeface="Calibri"/>
              </a:defRPr>
            </a:pPr>
            <a:r>
              <a:rPr sz="1800" b="0">
                <a:solidFill>
                  <a:srgbClr val="666666"/>
                </a:solidFill>
                <a:latin typeface="Calibri"/>
              </a:rPr>
              <a:t>Circled: the INA219. Beside it, R7 and R8  -  the shunt it measures across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What a healthy motor looks like to a current sensor</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13</a:t>
            </a:r>
          </a:p>
        </p:txBody>
      </p:sp>
      <p:sp>
        <p:nvSpPr>
          <p:cNvPr id="6" name="Rectangle 5"/>
          <p:cNvSpPr/>
          <p:nvPr/>
        </p:nvSpPr>
        <p:spPr>
          <a:xfrm>
            <a:off x="1554480" y="1645920"/>
            <a:ext cx="3017520" cy="1920240"/>
          </a:xfrm>
          <a:prstGeom prst="rect">
            <a:avLst/>
          </a:prstGeom>
          <a:solidFill>
            <a:srgbClr val="D6ECEE"/>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Aft>
                <a:spcPts val="600"/>
              </a:spcAft>
              <a:defRPr sz="400" b="0">
                <a:solidFill>
                  <a:srgbClr val="222222"/>
                </a:solidFill>
                <a:latin typeface="Calibri"/>
              </a:defRPr>
            </a:pPr>
          </a:p>
        </p:txBody>
      </p:sp>
      <p:cxnSp>
        <p:nvCxnSpPr>
          <p:cNvPr id="7" name="Connector 6"/>
          <p:cNvCxnSpPr/>
          <p:nvPr/>
        </p:nvCxnSpPr>
        <p:spPr>
          <a:xfrm>
            <a:off x="1554480" y="3374136"/>
            <a:ext cx="3017520" cy="0"/>
          </a:xfrm>
          <a:prstGeom prst="line">
            <a:avLst/>
          </a:prstGeom>
          <a:ln w="12700">
            <a:solidFill>
              <a:srgbClr val="6666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554480" y="3424831"/>
            <a:ext cx="431074" cy="0"/>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985554" y="1887871"/>
            <a:ext cx="431074" cy="1536960"/>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416628" y="1887871"/>
            <a:ext cx="431074" cy="582985"/>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847702" y="2470856"/>
            <a:ext cx="431074" cy="300325"/>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78776" y="2771181"/>
            <a:ext cx="431074" cy="88331"/>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709850" y="2859512"/>
            <a:ext cx="431074" cy="35333"/>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140924" y="2894845"/>
            <a:ext cx="431074" cy="0"/>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554480" y="1298448"/>
            <a:ext cx="3017520" cy="367792"/>
          </a:xfrm>
          <a:prstGeom prst="rect">
            <a:avLst/>
          </a:prstGeom>
          <a:noFill/>
        </p:spPr>
        <p:txBody>
          <a:bodyPr wrap="square" lIns="0" tIns="0" rIns="0" bIns="0">
            <a:spAutoFit/>
          </a:bodyPr>
          <a:lstStyle/>
          <a:p>
            <a:pPr algn="ctr">
              <a:lnSpc>
                <a:spcPct val="100000"/>
              </a:lnSpc>
              <a:spcAft>
                <a:spcPts val="0"/>
              </a:spcAft>
              <a:defRPr sz="1800" b="1">
                <a:solidFill>
                  <a:srgbClr val="0E7C86"/>
                </a:solidFill>
                <a:latin typeface="Calibri"/>
              </a:defRPr>
            </a:pPr>
            <a:r>
              <a:rPr sz="1800" b="1">
                <a:solidFill>
                  <a:srgbClr val="0E7C86"/>
                </a:solidFill>
                <a:latin typeface="Calibri"/>
              </a:rPr>
              <a:t>HEALTHY</a:t>
            </a:r>
          </a:p>
        </p:txBody>
      </p:sp>
      <p:sp>
        <p:nvSpPr>
          <p:cNvPr id="16" name="TextBox 15"/>
          <p:cNvSpPr txBox="1"/>
          <p:nvPr/>
        </p:nvSpPr>
        <p:spPr>
          <a:xfrm>
            <a:off x="1554480" y="3657600"/>
            <a:ext cx="3017520" cy="659384"/>
          </a:xfrm>
          <a:prstGeom prst="rect">
            <a:avLst/>
          </a:prstGeom>
          <a:noFill/>
        </p:spPr>
        <p:txBody>
          <a:bodyPr wrap="square" lIns="0" tIns="0" rIns="0" bIns="0">
            <a:spAutoFit/>
          </a:bodyPr>
          <a:lstStyle/>
          <a:p>
            <a:pPr algn="ctr">
              <a:lnSpc>
                <a:spcPct val="100000"/>
              </a:lnSpc>
              <a:spcAft>
                <a:spcPts val="0"/>
              </a:spcAft>
              <a:defRPr sz="1800" b="0">
                <a:solidFill>
                  <a:srgbClr val="222222"/>
                </a:solidFill>
                <a:latin typeface="Calibri"/>
              </a:defRPr>
            </a:pPr>
            <a:r>
              <a:rPr sz="1800" b="0">
                <a:solidFill>
                  <a:srgbClr val="222222"/>
                </a:solidFill>
                <a:latin typeface="Calibri"/>
              </a:rPr>
              <a:t>spikes as it breaks away,</a:t>
            </a:r>
          </a:p>
          <a:p>
            <a:pPr algn="ctr">
              <a:lnSpc>
                <a:spcPct val="100000"/>
              </a:lnSpc>
              <a:spcAft>
                <a:spcPts val="0"/>
              </a:spcAft>
              <a:defRPr sz="1800" b="0">
                <a:solidFill>
                  <a:srgbClr val="222222"/>
                </a:solidFill>
                <a:latin typeface="Calibri"/>
              </a:defRPr>
            </a:pPr>
            <a:r>
              <a:rPr sz="1800" b="0">
                <a:solidFill>
                  <a:srgbClr val="222222"/>
                </a:solidFill>
                <a:latin typeface="Calibri"/>
              </a:rPr>
              <a:t>then settles</a:t>
            </a:r>
          </a:p>
        </p:txBody>
      </p:sp>
      <p:sp>
        <p:nvSpPr>
          <p:cNvPr id="17" name="Rectangle 16"/>
          <p:cNvSpPr/>
          <p:nvPr/>
        </p:nvSpPr>
        <p:spPr>
          <a:xfrm>
            <a:off x="5029200" y="1645920"/>
            <a:ext cx="3017520" cy="1920240"/>
          </a:xfrm>
          <a:prstGeom prst="rect">
            <a:avLst/>
          </a:prstGeom>
          <a:solidFill>
            <a:srgbClr val="E8ECF0"/>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Aft>
                <a:spcPts val="600"/>
              </a:spcAft>
              <a:defRPr sz="400" b="0">
                <a:solidFill>
                  <a:srgbClr val="222222"/>
                </a:solidFill>
                <a:latin typeface="Calibri"/>
              </a:defRPr>
            </a:pPr>
          </a:p>
        </p:txBody>
      </p:sp>
      <p:cxnSp>
        <p:nvCxnSpPr>
          <p:cNvPr id="18" name="Connector 17"/>
          <p:cNvCxnSpPr/>
          <p:nvPr/>
        </p:nvCxnSpPr>
        <p:spPr>
          <a:xfrm>
            <a:off x="5029200" y="3374136"/>
            <a:ext cx="3017520" cy="0"/>
          </a:xfrm>
          <a:prstGeom prst="line">
            <a:avLst/>
          </a:prstGeom>
          <a:ln w="12700">
            <a:solidFill>
              <a:srgbClr val="66666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029200" y="3460163"/>
            <a:ext cx="431074" cy="0"/>
          </a:xfrm>
          <a:prstGeom prst="line">
            <a:avLst/>
          </a:prstGeom>
          <a:ln w="31750">
            <a:solidFill>
              <a:srgbClr val="66666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5460274" y="3424831"/>
            <a:ext cx="431074" cy="35332"/>
          </a:xfrm>
          <a:prstGeom prst="line">
            <a:avLst/>
          </a:prstGeom>
          <a:ln w="31750">
            <a:solidFill>
              <a:srgbClr val="66666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891348" y="3424831"/>
            <a:ext cx="431074" cy="17666"/>
          </a:xfrm>
          <a:prstGeom prst="line">
            <a:avLst/>
          </a:prstGeom>
          <a:ln w="31750">
            <a:solidFill>
              <a:srgbClr val="66666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322422" y="3442497"/>
            <a:ext cx="431074" cy="17666"/>
          </a:xfrm>
          <a:prstGeom prst="line">
            <a:avLst/>
          </a:prstGeom>
          <a:ln w="31750">
            <a:solidFill>
              <a:srgbClr val="66666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6753496" y="3442497"/>
            <a:ext cx="431074" cy="17666"/>
          </a:xfrm>
          <a:prstGeom prst="line">
            <a:avLst/>
          </a:prstGeom>
          <a:ln w="31750">
            <a:solidFill>
              <a:srgbClr val="66666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184570" y="3442497"/>
            <a:ext cx="431074" cy="17666"/>
          </a:xfrm>
          <a:prstGeom prst="line">
            <a:avLst/>
          </a:prstGeom>
          <a:ln w="31750">
            <a:solidFill>
              <a:srgbClr val="66666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615644" y="3460163"/>
            <a:ext cx="431074" cy="0"/>
          </a:xfrm>
          <a:prstGeom prst="line">
            <a:avLst/>
          </a:prstGeom>
          <a:ln w="31750">
            <a:solidFill>
              <a:srgbClr val="666666"/>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029200" y="1298448"/>
            <a:ext cx="3017520" cy="367792"/>
          </a:xfrm>
          <a:prstGeom prst="rect">
            <a:avLst/>
          </a:prstGeom>
          <a:noFill/>
        </p:spPr>
        <p:txBody>
          <a:bodyPr wrap="square" lIns="0" tIns="0" rIns="0" bIns="0">
            <a:spAutoFit/>
          </a:bodyPr>
          <a:lstStyle/>
          <a:p>
            <a:pPr algn="ctr">
              <a:lnSpc>
                <a:spcPct val="100000"/>
              </a:lnSpc>
              <a:spcAft>
                <a:spcPts val="0"/>
              </a:spcAft>
              <a:defRPr sz="1800" b="1">
                <a:solidFill>
                  <a:srgbClr val="666666"/>
                </a:solidFill>
                <a:latin typeface="Calibri"/>
              </a:defRPr>
            </a:pPr>
            <a:r>
              <a:rPr sz="1800" b="1">
                <a:solidFill>
                  <a:srgbClr val="666666"/>
                </a:solidFill>
                <a:latin typeface="Calibri"/>
              </a:rPr>
              <a:t>DISCONNECTED</a:t>
            </a:r>
          </a:p>
        </p:txBody>
      </p:sp>
      <p:sp>
        <p:nvSpPr>
          <p:cNvPr id="27" name="TextBox 26"/>
          <p:cNvSpPr txBox="1"/>
          <p:nvPr/>
        </p:nvSpPr>
        <p:spPr>
          <a:xfrm>
            <a:off x="5029200" y="3657600"/>
            <a:ext cx="3017520" cy="367792"/>
          </a:xfrm>
          <a:prstGeom prst="rect">
            <a:avLst/>
          </a:prstGeom>
          <a:noFill/>
        </p:spPr>
        <p:txBody>
          <a:bodyPr wrap="square" lIns="0" tIns="0" rIns="0" bIns="0">
            <a:spAutoFit/>
          </a:bodyPr>
          <a:lstStyle/>
          <a:p>
            <a:pPr algn="ctr">
              <a:lnSpc>
                <a:spcPct val="100000"/>
              </a:lnSpc>
              <a:spcAft>
                <a:spcPts val="0"/>
              </a:spcAft>
              <a:defRPr sz="1800" b="0">
                <a:solidFill>
                  <a:srgbClr val="222222"/>
                </a:solidFill>
                <a:latin typeface="Calibri"/>
              </a:defRPr>
            </a:pPr>
            <a:r>
              <a:rPr sz="1800" b="0">
                <a:solidFill>
                  <a:srgbClr val="222222"/>
                </a:solidFill>
                <a:latin typeface="Calibri"/>
              </a:rPr>
              <a:t>no spike, almost no draw</a:t>
            </a:r>
          </a:p>
        </p:txBody>
      </p:sp>
      <p:sp>
        <p:nvSpPr>
          <p:cNvPr id="28" name="Rectangle 27"/>
          <p:cNvSpPr/>
          <p:nvPr/>
        </p:nvSpPr>
        <p:spPr>
          <a:xfrm>
            <a:off x="8503920" y="1645920"/>
            <a:ext cx="3017520" cy="1920240"/>
          </a:xfrm>
          <a:prstGeom prst="rect">
            <a:avLst/>
          </a:prstGeom>
          <a:solidFill>
            <a:srgbClr val="F6D8D8"/>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Aft>
                <a:spcPts val="600"/>
              </a:spcAft>
              <a:defRPr sz="400" b="0">
                <a:solidFill>
                  <a:srgbClr val="222222"/>
                </a:solidFill>
                <a:latin typeface="Calibri"/>
              </a:defRPr>
            </a:pPr>
          </a:p>
        </p:txBody>
      </p:sp>
      <p:cxnSp>
        <p:nvCxnSpPr>
          <p:cNvPr id="29" name="Connector 28"/>
          <p:cNvCxnSpPr/>
          <p:nvPr/>
        </p:nvCxnSpPr>
        <p:spPr>
          <a:xfrm>
            <a:off x="8503920" y="3374136"/>
            <a:ext cx="3017520" cy="0"/>
          </a:xfrm>
          <a:prstGeom prst="line">
            <a:avLst/>
          </a:prstGeom>
          <a:ln w="12700">
            <a:solidFill>
              <a:srgbClr val="66666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503920" y="3424831"/>
            <a:ext cx="431074" cy="0"/>
          </a:xfrm>
          <a:prstGeom prst="line">
            <a:avLst/>
          </a:prstGeom>
          <a:ln w="31750">
            <a:solidFill>
              <a:srgbClr val="A32A2A"/>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8934994" y="1834872"/>
            <a:ext cx="431074" cy="1589959"/>
          </a:xfrm>
          <a:prstGeom prst="line">
            <a:avLst/>
          </a:prstGeom>
          <a:ln w="31750">
            <a:solidFill>
              <a:srgbClr val="A32A2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366068" y="1834872"/>
            <a:ext cx="431074" cy="52999"/>
          </a:xfrm>
          <a:prstGeom prst="line">
            <a:avLst/>
          </a:prstGeom>
          <a:ln w="31750">
            <a:solidFill>
              <a:srgbClr val="A32A2A"/>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9797142" y="1887871"/>
            <a:ext cx="431074" cy="17666"/>
          </a:xfrm>
          <a:prstGeom prst="line">
            <a:avLst/>
          </a:prstGeom>
          <a:ln w="31750">
            <a:solidFill>
              <a:srgbClr val="A32A2A"/>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10228216" y="1870205"/>
            <a:ext cx="431074" cy="35332"/>
          </a:xfrm>
          <a:prstGeom prst="line">
            <a:avLst/>
          </a:prstGeom>
          <a:ln w="31750">
            <a:solidFill>
              <a:srgbClr val="A32A2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0659290" y="1870205"/>
            <a:ext cx="431074" cy="17666"/>
          </a:xfrm>
          <a:prstGeom prst="line">
            <a:avLst/>
          </a:prstGeom>
          <a:ln w="31750">
            <a:solidFill>
              <a:srgbClr val="A32A2A"/>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1090364" y="1887871"/>
            <a:ext cx="431074" cy="17666"/>
          </a:xfrm>
          <a:prstGeom prst="line">
            <a:avLst/>
          </a:prstGeom>
          <a:ln w="31750">
            <a:solidFill>
              <a:srgbClr val="A32A2A"/>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8503920" y="1298448"/>
            <a:ext cx="3017520" cy="367792"/>
          </a:xfrm>
          <a:prstGeom prst="rect">
            <a:avLst/>
          </a:prstGeom>
          <a:noFill/>
        </p:spPr>
        <p:txBody>
          <a:bodyPr wrap="square" lIns="0" tIns="0" rIns="0" bIns="0">
            <a:spAutoFit/>
          </a:bodyPr>
          <a:lstStyle/>
          <a:p>
            <a:pPr algn="ctr">
              <a:lnSpc>
                <a:spcPct val="100000"/>
              </a:lnSpc>
              <a:spcAft>
                <a:spcPts val="0"/>
              </a:spcAft>
              <a:defRPr sz="1800" b="1">
                <a:solidFill>
                  <a:srgbClr val="A32A2A"/>
                </a:solidFill>
                <a:latin typeface="Calibri"/>
              </a:defRPr>
            </a:pPr>
            <a:r>
              <a:rPr sz="1800" b="1">
                <a:solidFill>
                  <a:srgbClr val="A32A2A"/>
                </a:solidFill>
                <a:latin typeface="Calibri"/>
              </a:rPr>
              <a:t>JAMMED</a:t>
            </a:r>
          </a:p>
        </p:txBody>
      </p:sp>
      <p:sp>
        <p:nvSpPr>
          <p:cNvPr id="38" name="TextBox 37"/>
          <p:cNvSpPr txBox="1"/>
          <p:nvPr/>
        </p:nvSpPr>
        <p:spPr>
          <a:xfrm>
            <a:off x="8503920" y="3657600"/>
            <a:ext cx="3017520" cy="646684"/>
          </a:xfrm>
          <a:prstGeom prst="rect">
            <a:avLst/>
          </a:prstGeom>
          <a:noFill/>
        </p:spPr>
        <p:txBody>
          <a:bodyPr wrap="square" lIns="0" tIns="0" rIns="0" bIns="0">
            <a:spAutoFit/>
          </a:bodyPr>
          <a:lstStyle/>
          <a:p>
            <a:pPr algn="ctr">
              <a:lnSpc>
                <a:spcPct val="100000"/>
              </a:lnSpc>
              <a:spcAft>
                <a:spcPts val="0"/>
              </a:spcAft>
              <a:defRPr sz="1800" b="0">
                <a:solidFill>
                  <a:srgbClr val="222222"/>
                </a:solidFill>
                <a:latin typeface="Calibri"/>
              </a:defRPr>
            </a:pPr>
            <a:r>
              <a:rPr sz="1800" b="0">
                <a:solidFill>
                  <a:srgbClr val="222222"/>
                </a:solidFill>
                <a:latin typeface="Calibri"/>
              </a:rPr>
              <a:t>draws a lot and never settles</a:t>
            </a:r>
          </a:p>
        </p:txBody>
      </p:sp>
      <p:sp>
        <p:nvSpPr>
          <p:cNvPr id="39" name="TextBox 38"/>
          <p:cNvSpPr txBox="1"/>
          <p:nvPr/>
        </p:nvSpPr>
        <p:spPr>
          <a:xfrm>
            <a:off x="502920" y="3255264"/>
            <a:ext cx="960120" cy="367792"/>
          </a:xfrm>
          <a:prstGeom prst="rect">
            <a:avLst/>
          </a:prstGeom>
          <a:noFill/>
        </p:spPr>
        <p:txBody>
          <a:bodyPr wrap="square" lIns="0" tIns="0" rIns="0" bIns="0">
            <a:spAutoFit/>
          </a:bodyPr>
          <a:lstStyle/>
          <a:p>
            <a:pPr algn="r">
              <a:lnSpc>
                <a:spcPct val="100000"/>
              </a:lnSpc>
              <a:spcAft>
                <a:spcPts val="0"/>
              </a:spcAft>
              <a:defRPr sz="1800" b="0">
                <a:solidFill>
                  <a:srgbClr val="666666"/>
                </a:solidFill>
                <a:latin typeface="Calibri"/>
              </a:defRPr>
            </a:pPr>
            <a:r>
              <a:rPr sz="1800" b="0">
                <a:solidFill>
                  <a:srgbClr val="666666"/>
                </a:solidFill>
                <a:latin typeface="Calibri"/>
              </a:rPr>
              <a:t>baseline</a:t>
            </a:r>
          </a:p>
        </p:txBody>
      </p:sp>
      <p:sp>
        <p:nvSpPr>
          <p:cNvPr id="40" name="Rectangle 39"/>
          <p:cNvSpPr/>
          <p:nvPr/>
        </p:nvSpPr>
        <p:spPr>
          <a:xfrm>
            <a:off x="502920" y="4297680"/>
            <a:ext cx="11185855" cy="731520"/>
          </a:xfrm>
          <a:prstGeom prst="rect">
            <a:avLst/>
          </a:prstGeom>
          <a:solidFill>
            <a:srgbClr val="F4F6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lnSpc>
                <a:spcPct val="100000"/>
              </a:lnSpc>
              <a:spcAft>
                <a:spcPts val="0"/>
              </a:spcAft>
              <a:defRPr sz="1400" b="0">
                <a:solidFill>
                  <a:srgbClr val="222222"/>
                </a:solidFill>
                <a:latin typeface="Consolas"/>
              </a:defRPr>
            </a:pPr>
            <a:r>
              <a:rPr sz="1400" b="0">
                <a:solidFill>
                  <a:srgbClr val="222222"/>
                </a:solidFill>
                <a:latin typeface="Consolas"/>
              </a:rPr>
              <a:t>Both thresholds are measured ABOVE the baseline that was just taken, not as absolute amps:</a:t>
            </a:r>
          </a:p>
          <a:p>
            <a:pPr algn="l">
              <a:lnSpc>
                <a:spcPct val="100000"/>
              </a:lnSpc>
              <a:spcAft>
                <a:spcPts val="0"/>
              </a:spcAft>
              <a:defRPr sz="1400" b="0">
                <a:solidFill>
                  <a:srgbClr val="222222"/>
                </a:solidFill>
                <a:latin typeface="Consolas"/>
              </a:defRPr>
            </a:pPr>
            <a:r>
              <a:rPr sz="1400" b="0">
                <a:solidFill>
                  <a:srgbClr val="222222"/>
                </a:solidFill>
                <a:latin typeface="Consolas"/>
              </a:rPr>
              <a:t>peak - baseline &gt;= 1.500 A     AND     average - baseline &gt;= 1.000 A</a:t>
            </a:r>
          </a:p>
        </p:txBody>
      </p:sp>
      <p:sp>
        <p:nvSpPr>
          <p:cNvPr id="41" name="Rounded Rectangle 40"/>
          <p:cNvSpPr/>
          <p:nvPr/>
        </p:nvSpPr>
        <p:spPr>
          <a:xfrm>
            <a:off x="502920" y="5303520"/>
            <a:ext cx="11185855" cy="960120"/>
          </a:xfrm>
          <a:prstGeom prst="roundRect">
            <a:avLst>
              <a:gd name="adj" fmla="val 4000"/>
            </a:avLst>
          </a:prstGeom>
          <a:solidFill>
            <a:srgbClr val="FDF3E3"/>
          </a:solidFill>
          <a:ln w="12700">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B46A0F"/>
                </a:solidFill>
                <a:latin typeface="Calibri"/>
              </a:rPr>
              <a:t>WATCH OUT   </a:t>
            </a:r>
            <a:r>
              <a:rPr sz="1800">
                <a:solidFill>
                  <a:srgbClr val="222222"/>
                </a:solidFill>
                <a:latin typeface="Calibri"/>
              </a:rPr>
              <a:t>Op 11.2 measured a baseline, printed it, then compared against fixed absolutes anyway - so a vehicle idling at half an amp failed every motor. Op 12 fixed 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self-test as a state machine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14</a:t>
            </a:r>
          </a:p>
        </p:txBody>
      </p:sp>
      <p:sp>
        <p:nvSpPr>
          <p:cNvPr id="6" name="TextBox 5"/>
          <p:cNvSpPr txBox="1"/>
          <p:nvPr/>
        </p:nvSpPr>
        <p:spPr>
          <a:xfrm>
            <a:off x="502920" y="1188720"/>
            <a:ext cx="11185855" cy="3986784"/>
          </a:xfrm>
          <a:prstGeom prst="rect">
            <a:avLst/>
          </a:prstGeom>
          <a:noFill/>
        </p:spPr>
        <p:txBody>
          <a:bodyPr wrap="square" lIns="0" tIns="0" rIns="0" bIns="0">
            <a:spAutoFit/>
          </a:bodyPr>
          <a:lstStyle/>
          <a:p>
            <a:pPr algn="l">
              <a:lnSpc>
                <a:spcPct val="100000"/>
              </a:lnSpc>
              <a:spcAft>
                <a:spcPts val="600"/>
              </a:spcAft>
              <a:defRPr sz="1900" b="0">
                <a:solidFill>
                  <a:srgbClr val="222222"/>
                </a:solidFill>
                <a:latin typeface="Calibri"/>
              </a:defRPr>
            </a:pPr>
            <a:r>
              <a:rPr sz="1900" b="0">
                <a:solidFill>
                  <a:srgbClr val="222222"/>
                </a:solidFill>
                <a:latin typeface="Calibri"/>
              </a:rPr>
              <a:t>Jumper GPIO 34 high at boot. Each motor is driven forward then reverse while the current sensor watches.</a:t>
            </a:r>
          </a:p>
          <a:p>
            <a:pPr lvl="1" algn="l">
              <a:lnSpc>
                <a:spcPct val="100000"/>
              </a:lnSpc>
              <a:spcAft>
                <a:spcPts val="600"/>
              </a:spcAft>
              <a:defRPr sz="1900" b="0">
                <a:solidFill>
                  <a:srgbClr val="222222"/>
                </a:solidFill>
                <a:latin typeface="Calibri"/>
              </a:defRPr>
            </a:pPr>
            <a:r>
              <a:rPr sz="1900" b="0">
                <a:solidFill>
                  <a:srgbClr val="222222"/>
                </a:solidFill>
                <a:latin typeface="Calibri"/>
              </a:rPr>
              <a:t>CHECK_TRIGGER   wait for the pin to settle, then decide</a:t>
            </a:r>
          </a:p>
          <a:p>
            <a:pPr lvl="1" algn="l">
              <a:lnSpc>
                <a:spcPct val="100000"/>
              </a:lnSpc>
              <a:spcAft>
                <a:spcPts val="600"/>
              </a:spcAft>
              <a:defRPr sz="1900" b="0">
                <a:solidFill>
                  <a:srgbClr val="222222"/>
                </a:solidFill>
                <a:latin typeface="Calibri"/>
              </a:defRPr>
            </a:pPr>
            <a:r>
              <a:rPr sz="1900" b="0">
                <a:solidFill>
                  <a:srgbClr val="222222"/>
                </a:solidFill>
                <a:latin typeface="Calibri"/>
              </a:rPr>
              <a:t>BASELINE_CURRENT  measure the resting draw, motors off</a:t>
            </a:r>
          </a:p>
          <a:p>
            <a:pPr lvl="1" algn="l">
              <a:lnSpc>
                <a:spcPct val="100000"/>
              </a:lnSpc>
              <a:spcAft>
                <a:spcPts val="600"/>
              </a:spcAft>
              <a:defRPr sz="1900" b="0">
                <a:solidFill>
                  <a:srgbClr val="222222"/>
                </a:solidFill>
                <a:latin typeface="Calibri"/>
              </a:defRPr>
            </a:pPr>
            <a:r>
              <a:rPr sz="1900" b="0">
                <a:solidFill>
                  <a:srgbClr val="222222"/>
                </a:solidFill>
                <a:latin typeface="Calibri"/>
              </a:rPr>
              <a:t>RUNNING_TESTS     eight steps: four motors, two directions</a:t>
            </a:r>
          </a:p>
          <a:p>
            <a:pPr lvl="1" algn="l">
              <a:lnSpc>
                <a:spcPct val="100000"/>
              </a:lnSpc>
              <a:spcAft>
                <a:spcPts val="600"/>
              </a:spcAft>
              <a:defRPr sz="1900" b="0">
                <a:solidFill>
                  <a:srgbClr val="222222"/>
                </a:solidFill>
                <a:latin typeface="Calibri"/>
              </a:defRPr>
            </a:pPr>
            <a:r>
              <a:rPr sz="1900" b="0">
                <a:solidFill>
                  <a:srgbClr val="222222"/>
                </a:solidFill>
                <a:latin typeface="Calibri"/>
              </a:rPr>
              <a:t>TEST_RESULT       green blinks for pass, red for fail</a:t>
            </a:r>
          </a:p>
          <a:p>
            <a:pPr lvl="1" algn="l">
              <a:lnSpc>
                <a:spcPct val="100000"/>
              </a:lnSpc>
              <a:spcAft>
                <a:spcPts val="600"/>
              </a:spcAft>
              <a:defRPr sz="1900" b="0">
                <a:solidFill>
                  <a:srgbClr val="222222"/>
                </a:solidFill>
                <a:latin typeface="Calibri"/>
              </a:defRPr>
            </a:pPr>
            <a:r>
              <a:rPr sz="1900" b="0">
                <a:solidFill>
                  <a:srgbClr val="222222"/>
                </a:solidFill>
                <a:latin typeface="Calibri"/>
              </a:rPr>
              <a:t>TEST_DISABLED     hand over to normal driving</a:t>
            </a:r>
          </a:p>
          <a:p>
            <a:pPr algn="l">
              <a:lnSpc>
                <a:spcPct val="100000"/>
              </a:lnSpc>
              <a:spcAft>
                <a:spcPts val="600"/>
              </a:spcAft>
              <a:defRPr sz="1900" b="0">
                <a:solidFill>
                  <a:srgbClr val="222222"/>
                </a:solidFill>
                <a:latin typeface="Calibri"/>
              </a:defRPr>
            </a:pPr>
            <a:r>
              <a:rPr sz="1900" b="0">
                <a:solidFill>
                  <a:srgbClr val="222222"/>
                </a:solidFill>
                <a:latin typeface="Calibri"/>
              </a:rPr>
              <a:t>Driven from loop(), not blocking, so the LEDs keep animating and the console keeps responding throughout.</a:t>
            </a:r>
          </a:p>
          <a:p>
            <a:pPr algn="l">
              <a:lnSpc>
                <a:spcPct val="100000"/>
              </a:lnSpc>
              <a:spcAft>
                <a:spcPts val="600"/>
              </a:spcAft>
              <a:defRPr sz="1900" b="0">
                <a:solidFill>
                  <a:srgbClr val="222222"/>
                </a:solidFill>
                <a:latin typeface="Calibri"/>
              </a:defRPr>
            </a:pPr>
            <a:r>
              <a:rPr sz="1900" b="0">
                <a:solidFill>
                  <a:srgbClr val="222222"/>
                </a:solidFill>
                <a:latin typeface="Calibri"/>
              </a:rPr>
              <a:t>GPIO 34 is input-only with NO internal pulls, so the board carries an external pull-down.</a:t>
            </a:r>
          </a:p>
        </p:txBody>
      </p:sp>
      <p:sp>
        <p:nvSpPr>
          <p:cNvPr id="7" name="Rounded Rectangle 6"/>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A test that freezes the machine while it runs is a test nobody will leave enabled.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Diagnostics, and the battery math you can now do</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15</a:t>
            </a:r>
          </a:p>
        </p:txBody>
      </p:sp>
      <p:sp>
        <p:nvSpPr>
          <p:cNvPr id="6" name="TextBox 5"/>
          <p:cNvSpPr txBox="1"/>
          <p:nvPr/>
        </p:nvSpPr>
        <p:spPr>
          <a:xfrm>
            <a:off x="502920" y="1188720"/>
            <a:ext cx="5636183" cy="45720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What  diag  gives you</a:t>
            </a:r>
          </a:p>
        </p:txBody>
      </p:sp>
      <p:sp>
        <p:nvSpPr>
          <p:cNvPr id="7" name="TextBox 6"/>
          <p:cNvSpPr txBox="1"/>
          <p:nvPr/>
        </p:nvSpPr>
        <p:spPr>
          <a:xfrm>
            <a:off x="502920" y="1700784"/>
            <a:ext cx="5636183" cy="3474720"/>
          </a:xfrm>
          <a:prstGeom prst="rect">
            <a:avLst/>
          </a:prstGeom>
          <a:noFill/>
        </p:spPr>
        <p:txBody>
          <a:bodyPr wrap="square" lIns="0" tIns="0" rIns="0" bIns="0">
            <a:spAutoFit/>
          </a:bodyPr>
          <a:lstStyle/>
          <a:p>
            <a:pPr algn="l">
              <a:lnSpc>
                <a:spcPct val="100000"/>
              </a:lnSpc>
              <a:spcAft>
                <a:spcPts val="800"/>
              </a:spcAft>
              <a:defRPr sz="1900" b="0">
                <a:solidFill>
                  <a:srgbClr val="222222"/>
                </a:solidFill>
                <a:latin typeface="Calibri"/>
              </a:defRPr>
            </a:pPr>
            <a:r>
              <a:rPr sz="1900" b="0">
                <a:solidFill>
                  <a:srgbClr val="222222"/>
                </a:solidFill>
                <a:latin typeface="Calibri"/>
              </a:rPr>
              <a:t>Every five seconds, while it is switched on:</a:t>
            </a:r>
          </a:p>
          <a:p>
            <a:pPr lvl="1" algn="l">
              <a:lnSpc>
                <a:spcPct val="100000"/>
              </a:lnSpc>
              <a:spcAft>
                <a:spcPts val="800"/>
              </a:spcAft>
              <a:defRPr sz="1900" b="0">
                <a:solidFill>
                  <a:srgbClr val="222222"/>
                </a:solidFill>
                <a:latin typeface="Calibri"/>
              </a:defRPr>
            </a:pPr>
            <a:r>
              <a:rPr sz="1900" b="0">
                <a:solidFill>
                  <a:srgbClr val="222222"/>
                </a:solidFill>
                <a:latin typeface="Calibri"/>
              </a:rPr>
              <a:t>VBat   - bus voltage, straight from the sensor</a:t>
            </a:r>
          </a:p>
          <a:p>
            <a:pPr lvl="1" algn="l">
              <a:lnSpc>
                <a:spcPct val="100000"/>
              </a:lnSpc>
              <a:spcAft>
                <a:spcPts val="800"/>
              </a:spcAft>
              <a:defRPr sz="1900" b="0">
                <a:solidFill>
                  <a:srgbClr val="222222"/>
                </a:solidFill>
                <a:latin typeface="Calibri"/>
              </a:defRPr>
            </a:pPr>
            <a:r>
              <a:rPr sz="1900" b="0">
                <a:solidFill>
                  <a:srgbClr val="222222"/>
                </a:solidFill>
                <a:latin typeface="Calibri"/>
              </a:rPr>
              <a:t>I-Avg  - mean current since the last report</a:t>
            </a:r>
          </a:p>
          <a:p>
            <a:pPr lvl="1" algn="l">
              <a:lnSpc>
                <a:spcPct val="100000"/>
              </a:lnSpc>
              <a:spcAft>
                <a:spcPts val="800"/>
              </a:spcAft>
              <a:defRPr sz="1900" b="0">
                <a:solidFill>
                  <a:srgbClr val="222222"/>
                </a:solidFill>
                <a:latin typeface="Calibri"/>
              </a:defRPr>
            </a:pPr>
            <a:r>
              <a:rPr sz="1900" b="0">
                <a:solidFill>
                  <a:srgbClr val="222222"/>
                </a:solidFill>
                <a:latin typeface="Calibri"/>
              </a:rPr>
              <a:t>I-Max  - the largest positive spike</a:t>
            </a:r>
          </a:p>
          <a:p>
            <a:pPr lvl="1" algn="l">
              <a:lnSpc>
                <a:spcPct val="100000"/>
              </a:lnSpc>
              <a:spcAft>
                <a:spcPts val="800"/>
              </a:spcAft>
              <a:defRPr sz="1900" b="0">
                <a:solidFill>
                  <a:srgbClr val="222222"/>
                </a:solidFill>
                <a:latin typeface="Calibri"/>
              </a:defRPr>
            </a:pPr>
            <a:r>
              <a:rPr sz="1900" b="0">
                <a:solidFill>
                  <a:srgbClr val="222222"/>
                </a:solidFill>
                <a:latin typeface="Calibri"/>
              </a:rPr>
              <a:t>I-Min  - the largest negative excursion</a:t>
            </a:r>
          </a:p>
          <a:p>
            <a:pPr algn="l">
              <a:lnSpc>
                <a:spcPct val="100000"/>
              </a:lnSpc>
              <a:spcAft>
                <a:spcPts val="800"/>
              </a:spcAft>
              <a:defRPr sz="1900" b="0">
                <a:solidFill>
                  <a:srgbClr val="222222"/>
                </a:solidFill>
                <a:latin typeface="Calibri"/>
              </a:defRPr>
            </a:pPr>
            <a:r>
              <a:rPr sz="1900" b="0">
                <a:solidFill>
                  <a:srgbClr val="222222"/>
                </a:solidFill>
                <a:latin typeface="Calibri"/>
              </a:rPr>
              <a:t>Negative current is real: cut the throttle and a spinning motor becomes a generator. That is why the shunt register is signed.</a:t>
            </a:r>
          </a:p>
        </p:txBody>
      </p:sp>
      <p:sp>
        <p:nvSpPr>
          <p:cNvPr id="8" name="TextBox 7"/>
          <p:cNvSpPr txBox="1"/>
          <p:nvPr/>
        </p:nvSpPr>
        <p:spPr>
          <a:xfrm>
            <a:off x="6596303" y="1188720"/>
            <a:ext cx="5092472" cy="45720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Work it out for your vehicle</a:t>
            </a:r>
          </a:p>
        </p:txBody>
      </p:sp>
      <p:sp>
        <p:nvSpPr>
          <p:cNvPr id="9" name="TextBox 8"/>
          <p:cNvSpPr txBox="1"/>
          <p:nvPr/>
        </p:nvSpPr>
        <p:spPr>
          <a:xfrm>
            <a:off x="6596303" y="1700784"/>
            <a:ext cx="5092472" cy="3474720"/>
          </a:xfrm>
          <a:prstGeom prst="rect">
            <a:avLst/>
          </a:prstGeom>
          <a:noFill/>
        </p:spPr>
        <p:txBody>
          <a:bodyPr wrap="square" lIns="0" tIns="0" rIns="0" bIns="0">
            <a:spAutoFit/>
          </a:bodyPr>
          <a:lstStyle/>
          <a:p>
            <a:pPr algn="l">
              <a:lnSpc>
                <a:spcPct val="100000"/>
              </a:lnSpc>
              <a:spcAft>
                <a:spcPts val="800"/>
              </a:spcAft>
              <a:defRPr sz="1900" b="0">
                <a:solidFill>
                  <a:srgbClr val="222222"/>
                </a:solidFill>
                <a:latin typeface="Calibri"/>
              </a:defRPr>
            </a:pPr>
            <a:r>
              <a:rPr sz="1900" b="0">
                <a:solidFill>
                  <a:srgbClr val="222222"/>
                </a:solidFill>
                <a:latin typeface="Calibri"/>
              </a:rPr>
              <a:t>A 4S 3300 mAh pack holds 3.3 amp hours.</a:t>
            </a:r>
          </a:p>
          <a:p>
            <a:pPr lvl="1" algn="l">
              <a:lnSpc>
                <a:spcPct val="100000"/>
              </a:lnSpc>
              <a:spcAft>
                <a:spcPts val="800"/>
              </a:spcAft>
              <a:defRPr sz="1900" b="0">
                <a:solidFill>
                  <a:srgbClr val="222222"/>
                </a:solidFill>
                <a:latin typeface="Calibri"/>
              </a:defRPr>
            </a:pPr>
            <a:r>
              <a:rPr sz="1900" b="0">
                <a:solidFill>
                  <a:srgbClr val="222222"/>
                </a:solidFill>
                <a:latin typeface="Calibri"/>
              </a:rPr>
              <a:t>hours = 3.3 / average current in amps</a:t>
            </a:r>
          </a:p>
          <a:p>
            <a:pPr lvl="1" algn="l">
              <a:lnSpc>
                <a:spcPct val="100000"/>
              </a:lnSpc>
              <a:spcAft>
                <a:spcPts val="800"/>
              </a:spcAft>
              <a:defRPr sz="1900" b="0">
                <a:solidFill>
                  <a:srgbClr val="222222"/>
                </a:solidFill>
                <a:latin typeface="Calibri"/>
              </a:defRPr>
            </a:pPr>
            <a:r>
              <a:rPr sz="1900" b="0">
                <a:solidFill>
                  <a:srgbClr val="222222"/>
                </a:solidFill>
                <a:latin typeface="Calibri"/>
              </a:rPr>
              <a:t>At 2.0 A:  3.3 / 2.0 = 1.65 h, 99 min</a:t>
            </a:r>
          </a:p>
          <a:p>
            <a:pPr lvl="1" algn="l">
              <a:lnSpc>
                <a:spcPct val="100000"/>
              </a:lnSpc>
              <a:spcAft>
                <a:spcPts val="800"/>
              </a:spcAft>
              <a:defRPr sz="1900" b="0">
                <a:solidFill>
                  <a:srgbClr val="222222"/>
                </a:solidFill>
                <a:latin typeface="Calibri"/>
              </a:defRPr>
            </a:pPr>
            <a:r>
              <a:rPr sz="1900" b="0">
                <a:solidFill>
                  <a:srgbClr val="222222"/>
                </a:solidFill>
                <a:latin typeface="Calibri"/>
              </a:rPr>
              <a:t>At 6.0 A:  3.3 / 6.0 = 0.55 h, 33 min</a:t>
            </a:r>
          </a:p>
          <a:p>
            <a:pPr algn="l">
              <a:lnSpc>
                <a:spcPct val="100000"/>
              </a:lnSpc>
              <a:spcAft>
                <a:spcPts val="800"/>
              </a:spcAft>
              <a:defRPr sz="1900" b="0">
                <a:solidFill>
                  <a:srgbClr val="222222"/>
                </a:solidFill>
                <a:latin typeface="Calibri"/>
              </a:defRPr>
            </a:pPr>
            <a:r>
              <a:rPr sz="1900" b="0">
                <a:solidFill>
                  <a:srgbClr val="222222"/>
                </a:solidFill>
                <a:latin typeface="Calibri"/>
              </a:rPr>
              <a:t>Now add the LEDs: 32 pixels at full white is nearly 2 A, moving or not.</a:t>
            </a:r>
          </a:p>
          <a:p>
            <a:pPr algn="l">
              <a:lnSpc>
                <a:spcPct val="100000"/>
              </a:lnSpc>
              <a:spcAft>
                <a:spcPts val="800"/>
              </a:spcAft>
              <a:defRPr sz="1900" b="0">
                <a:solidFill>
                  <a:srgbClr val="222222"/>
                </a:solidFill>
                <a:latin typeface="Calibri"/>
              </a:defRPr>
            </a:pPr>
            <a:r>
              <a:rPr sz="1900" b="0">
                <a:solidFill>
                  <a:srgbClr val="222222"/>
                </a:solidFill>
                <a:latin typeface="Calibri"/>
              </a:rPr>
              <a:t>Measure yours, then decide what you can afford.</a:t>
            </a:r>
          </a:p>
        </p:txBody>
      </p:sp>
      <p:sp>
        <p:nvSpPr>
          <p:cNvPr id="10" name="Rounded Rectangle 9"/>
          <p:cNvSpPr/>
          <p:nvPr/>
        </p:nvSpPr>
        <p:spPr>
          <a:xfrm>
            <a:off x="502920" y="5303520"/>
            <a:ext cx="11185855" cy="960120"/>
          </a:xfrm>
          <a:prstGeom prst="roundRect">
            <a:avLst>
              <a:gd name="adj" fmla="val 4000"/>
            </a:avLst>
          </a:prstGeom>
          <a:solidFill>
            <a:srgbClr val="FBECEC"/>
          </a:solidFill>
          <a:ln w="12700">
            <a:solidFill>
              <a:srgbClr val="A32A2A"/>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A32A2A"/>
                </a:solidFill>
                <a:latin typeface="Calibri"/>
              </a:rPr>
              <a:t>SAFETY   </a:t>
            </a:r>
            <a:r>
              <a:rPr sz="1800">
                <a:solidFill>
                  <a:srgbClr val="222222"/>
                </a:solidFill>
                <a:latin typeface="Calibri"/>
              </a:rPr>
              <a:t>Never run a lithium pack flat. Below about 3.0 V per cell - 12 V for a 4S - you are damaging 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Adding a subsystem of your own</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16</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The seven things that keep a program from rotting</a:t>
            </a:r>
          </a:p>
        </p:txBody>
      </p:sp>
      <p:sp>
        <p:nvSpPr>
          <p:cNvPr id="7" name="TextBox 6"/>
          <p:cNvSpPr txBox="1"/>
          <p:nvPr/>
        </p:nvSpPr>
        <p:spPr>
          <a:xfrm>
            <a:off x="502920" y="1755648"/>
            <a:ext cx="5364327" cy="4507992"/>
          </a:xfrm>
          <a:prstGeom prst="rect">
            <a:avLst/>
          </a:prstGeom>
          <a:noFill/>
        </p:spPr>
        <p:txBody>
          <a:bodyPr wrap="square" lIns="0" tIns="0" rIns="0" bIns="0">
            <a:spAutoFit/>
          </a:bodyPr>
          <a:lstStyle/>
          <a:p>
            <a:pPr algn="l">
              <a:lnSpc>
                <a:spcPct val="100000"/>
              </a:lnSpc>
              <a:spcAft>
                <a:spcPts val="900"/>
              </a:spcAft>
              <a:defRPr sz="2000" b="0">
                <a:solidFill>
                  <a:srgbClr val="222222"/>
                </a:solidFill>
                <a:latin typeface="Calibri"/>
              </a:defRPr>
            </a:pPr>
            <a:r>
              <a:rPr sz="2000" b="0">
                <a:solidFill>
                  <a:srgbClr val="222222"/>
                </a:solidFill>
                <a:latin typeface="Calibri"/>
              </a:rPr>
              <a:t>Say you want a range finder that stops the vehicle before it hits something. Do it the way the program is already built:</a:t>
            </a:r>
          </a:p>
          <a:p>
            <a:pPr algn="l">
              <a:lnSpc>
                <a:spcPct val="100000"/>
              </a:lnSpc>
              <a:spcAft>
                <a:spcPts val="900"/>
              </a:spcAft>
              <a:defRPr sz="1000" b="0">
                <a:solidFill>
                  <a:srgbClr val="222222"/>
                </a:solidFill>
                <a:latin typeface="Calibri"/>
              </a:defRPr>
            </a:pPr>
          </a:p>
          <a:p>
            <a:pPr algn="l">
              <a:lnSpc>
                <a:spcPct val="100000"/>
              </a:lnSpc>
              <a:spcAft>
                <a:spcPts val="900"/>
              </a:spcAft>
              <a:defRPr sz="2000" b="0">
                <a:solidFill>
                  <a:srgbClr val="222222"/>
                </a:solidFill>
                <a:latin typeface="Calibri"/>
              </a:defRPr>
            </a:pPr>
            <a:r>
              <a:rPr sz="2000" b="0">
                <a:solidFill>
                  <a:srgbClr val="222222"/>
                </a:solidFill>
                <a:latin typeface="Calibri"/>
              </a:rPr>
              <a:t>1.  Every tunable number goes in Config.h. Pins, thresholds, timings. Nothing hard-coded in the logic.</a:t>
            </a:r>
          </a:p>
          <a:p>
            <a:pPr algn="l">
              <a:lnSpc>
                <a:spcPct val="100000"/>
              </a:lnSpc>
              <a:spcAft>
                <a:spcPts val="900"/>
              </a:spcAft>
              <a:defRPr sz="2000" b="0">
                <a:solidFill>
                  <a:srgbClr val="222222"/>
                </a:solidFill>
                <a:latin typeface="Calibri"/>
              </a:defRPr>
            </a:pPr>
            <a:r>
              <a:rPr sz="2000" b="0">
                <a:solidFill>
                  <a:srgbClr val="222222"/>
                </a:solidFill>
                <a:latin typeface="Calibri"/>
              </a:rPr>
              <a:t>2.  One new tab, RangeFinder.ino, owning all of it.</a:t>
            </a:r>
          </a:p>
          <a:p>
            <a:pPr algn="l">
              <a:lnSpc>
                <a:spcPct val="100000"/>
              </a:lnSpc>
              <a:spcAft>
                <a:spcPts val="900"/>
              </a:spcAft>
              <a:defRPr sz="2000" b="0">
                <a:solidFill>
                  <a:srgbClr val="222222"/>
                </a:solidFill>
                <a:latin typeface="Calibri"/>
              </a:defRPr>
            </a:pPr>
            <a:r>
              <a:rPr sz="2000" b="0">
                <a:solidFill>
                  <a:srgbClr val="222222"/>
                </a:solidFill>
                <a:latin typeface="Calibri"/>
              </a:rPr>
              <a:t>3.  A setup_rangefinder() called from setup(), after the motors.</a:t>
            </a:r>
          </a:p>
        </p:txBody>
      </p:sp>
      <p:sp>
        <p:nvSpPr>
          <p:cNvPr id="8" name="TextBox 7"/>
          <p:cNvSpPr txBox="1"/>
          <p:nvPr/>
        </p:nvSpPr>
        <p:spPr>
          <a:xfrm>
            <a:off x="6324447" y="1755648"/>
            <a:ext cx="5364327" cy="4507992"/>
          </a:xfrm>
          <a:prstGeom prst="rect">
            <a:avLst/>
          </a:prstGeom>
          <a:noFill/>
        </p:spPr>
        <p:txBody>
          <a:bodyPr wrap="square" lIns="0" tIns="0" rIns="0" bIns="0">
            <a:spAutoFit/>
          </a:bodyPr>
          <a:lstStyle/>
          <a:p>
            <a:pPr algn="l">
              <a:lnSpc>
                <a:spcPct val="100000"/>
              </a:lnSpc>
              <a:spcAft>
                <a:spcPts val="900"/>
              </a:spcAft>
              <a:defRPr sz="1900" b="0">
                <a:solidFill>
                  <a:srgbClr val="222222"/>
                </a:solidFill>
                <a:latin typeface="Calibri"/>
              </a:defRPr>
            </a:pPr>
            <a:r>
              <a:rPr sz="1900" b="0">
                <a:solidFill>
                  <a:srgbClr val="222222"/>
                </a:solidFill>
                <a:latin typeface="Calibri"/>
              </a:rPr>
              <a:t>4.  An update_rangefinder(now) called every pass, that returns immediately if it is not time. No delay(), ever.</a:t>
            </a:r>
          </a:p>
          <a:p>
            <a:pPr algn="l">
              <a:lnSpc>
                <a:spcPct val="100000"/>
              </a:lnSpc>
              <a:spcAft>
                <a:spcPts val="900"/>
              </a:spcAft>
              <a:defRPr sz="1900" b="0">
                <a:solidFill>
                  <a:srgbClr val="222222"/>
                </a:solidFill>
                <a:latin typeface="Calibri"/>
              </a:defRPr>
            </a:pPr>
            <a:r>
              <a:rPr sz="1900" b="0">
                <a:solidFill>
                  <a:srgbClr val="222222"/>
                </a:solidFill>
                <a:latin typeface="Calibri"/>
              </a:rPr>
              <a:t>5.  A capability flag, so a vehicle without the sensor still runs this binary.</a:t>
            </a:r>
          </a:p>
          <a:p>
            <a:pPr algn="l">
              <a:lnSpc>
                <a:spcPct val="100000"/>
              </a:lnSpc>
              <a:spcAft>
                <a:spcPts val="900"/>
              </a:spcAft>
              <a:defRPr sz="1900" b="0">
                <a:solidFill>
                  <a:srgbClr val="222222"/>
                </a:solidFill>
                <a:latin typeface="Calibri"/>
              </a:defRPr>
            </a:pPr>
            <a:r>
              <a:rPr sz="1900" b="0">
                <a:solidFill>
                  <a:srgbClr val="222222"/>
                </a:solidFill>
                <a:latin typeface="Calibri"/>
              </a:rPr>
              <a:t>6.  A console command, so it can be tested and tuned without recompiling.</a:t>
            </a:r>
          </a:p>
          <a:p>
            <a:pPr algn="l">
              <a:lnSpc>
                <a:spcPct val="100000"/>
              </a:lnSpc>
              <a:spcAft>
                <a:spcPts val="900"/>
              </a:spcAft>
              <a:defRPr sz="1900" b="0">
                <a:solidFill>
                  <a:srgbClr val="222222"/>
                </a:solidFill>
                <a:latin typeface="Calibri"/>
              </a:defRPr>
            </a:pPr>
            <a:r>
              <a:rPr sz="1900" b="0">
                <a:solidFill>
                  <a:srgbClr val="222222"/>
                </a:solidFill>
                <a:latin typeface="Calibri"/>
              </a:rPr>
              <a:t>7.  Keep its state in static file-scope variables. Expose functions, not variables.</a:t>
            </a:r>
          </a:p>
          <a:p>
            <a:pPr algn="l">
              <a:lnSpc>
                <a:spcPct val="100000"/>
              </a:lnSpc>
              <a:spcAft>
                <a:spcPts val="900"/>
              </a:spcAft>
              <a:defRPr sz="950" b="0">
                <a:solidFill>
                  <a:srgbClr val="222222"/>
                </a:solidFill>
                <a:latin typeface="Calibri"/>
              </a:defRPr>
            </a:pPr>
          </a:p>
          <a:p>
            <a:pPr algn="l">
              <a:lnSpc>
                <a:spcPct val="100000"/>
              </a:lnSpc>
              <a:spcAft>
                <a:spcPts val="900"/>
              </a:spcAft>
              <a:defRPr sz="1900" b="0">
                <a:solidFill>
                  <a:srgbClr val="222222"/>
                </a:solidFill>
                <a:latin typeface="Calibri"/>
              </a:defRPr>
            </a:pPr>
            <a:r>
              <a:rPr sz="1900" b="0">
                <a:solidFill>
                  <a:srgbClr val="222222"/>
                </a:solidFill>
                <a:latin typeface="Calibri"/>
              </a:rPr>
              <a:t>If you can do those seven things, you can extend this program without making it worse. That is the actual skill.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Where this goes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17</a:t>
            </a:r>
          </a:p>
        </p:txBody>
      </p:sp>
      <p:sp>
        <p:nvSpPr>
          <p:cNvPr id="6" name="TextBox 5"/>
          <p:cNvSpPr txBox="1"/>
          <p:nvPr/>
        </p:nvSpPr>
        <p:spPr>
          <a:xfrm>
            <a:off x="502920" y="1188720"/>
            <a:ext cx="5112207" cy="45720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On the vehicle</a:t>
            </a:r>
          </a:p>
        </p:txBody>
      </p:sp>
      <p:sp>
        <p:nvSpPr>
          <p:cNvPr id="7" name="TextBox 6"/>
          <p:cNvSpPr txBox="1"/>
          <p:nvPr/>
        </p:nvSpPr>
        <p:spPr>
          <a:xfrm>
            <a:off x="502920" y="1700784"/>
            <a:ext cx="5112207" cy="3474720"/>
          </a:xfrm>
          <a:prstGeom prst="rect">
            <a:avLst/>
          </a:prstGeom>
          <a:noFill/>
        </p:spPr>
        <p:txBody>
          <a:bodyPr wrap="square" lIns="0" tIns="0" rIns="0" bIns="0">
            <a:spAutoFit/>
          </a:bodyPr>
          <a:lstStyle/>
          <a:p>
            <a:pPr algn="l">
              <a:lnSpc>
                <a:spcPct val="100000"/>
              </a:lnSpc>
              <a:spcAft>
                <a:spcPts val="800"/>
              </a:spcAft>
              <a:defRPr sz="1800" b="0">
                <a:solidFill>
                  <a:srgbClr val="222222"/>
                </a:solidFill>
                <a:latin typeface="Calibri"/>
              </a:defRPr>
            </a:pPr>
            <a:r>
              <a:rPr sz="1800" b="0">
                <a:solidFill>
                  <a:srgbClr val="222222"/>
                </a:solidFill>
                <a:latin typeface="Calibri"/>
              </a:rPr>
              <a:t>Obstacle avoidance from the range finder.</a:t>
            </a:r>
          </a:p>
          <a:p>
            <a:pPr algn="l">
              <a:lnSpc>
                <a:spcPct val="100000"/>
              </a:lnSpc>
              <a:spcAft>
                <a:spcPts val="800"/>
              </a:spcAft>
              <a:defRPr sz="1800" b="0">
                <a:solidFill>
                  <a:srgbClr val="222222"/>
                </a:solidFill>
                <a:latin typeface="Calibri"/>
              </a:defRPr>
            </a:pPr>
            <a:r>
              <a:rPr sz="1800" b="0">
                <a:solidFill>
                  <a:srgbClr val="222222"/>
                </a:solidFill>
                <a:latin typeface="Calibri"/>
              </a:rPr>
              <a:t>Line following.</a:t>
            </a:r>
          </a:p>
          <a:p>
            <a:pPr algn="l">
              <a:lnSpc>
                <a:spcPct val="100000"/>
              </a:lnSpc>
              <a:spcAft>
                <a:spcPts val="800"/>
              </a:spcAft>
              <a:defRPr sz="1800" b="0">
                <a:solidFill>
                  <a:srgbClr val="222222"/>
                </a:solidFill>
                <a:latin typeface="Calibri"/>
              </a:defRPr>
            </a:pPr>
            <a:r>
              <a:rPr sz="1800" b="0">
                <a:solidFill>
                  <a:srgbClr val="222222"/>
                </a:solidFill>
                <a:latin typeface="Calibri"/>
              </a:rPr>
              <a:t>Battery protection - the current sensor already knows the voltage, so flashing amber below 12 V and red below 10 V is a short job.</a:t>
            </a:r>
          </a:p>
          <a:p>
            <a:pPr algn="l">
              <a:lnSpc>
                <a:spcPct val="100000"/>
              </a:lnSpc>
              <a:spcAft>
                <a:spcPts val="800"/>
              </a:spcAft>
              <a:defRPr sz="1800" b="0">
                <a:solidFill>
                  <a:srgbClr val="222222"/>
                </a:solidFill>
                <a:latin typeface="Calibri"/>
              </a:defRPr>
            </a:pPr>
            <a:r>
              <a:rPr sz="1800" b="0">
                <a:solidFill>
                  <a:srgbClr val="222222"/>
                </a:solidFill>
                <a:latin typeface="Calibri"/>
              </a:rPr>
              <a:t>Stall detection while driving, using the same current signature logic as the self-test.</a:t>
            </a:r>
          </a:p>
          <a:p>
            <a:pPr algn="l">
              <a:lnSpc>
                <a:spcPct val="100000"/>
              </a:lnSpc>
              <a:spcAft>
                <a:spcPts val="800"/>
              </a:spcAft>
              <a:defRPr sz="1800" b="0">
                <a:solidFill>
                  <a:srgbClr val="222222"/>
                </a:solidFill>
                <a:latin typeface="Calibri"/>
              </a:defRPr>
            </a:pPr>
            <a:r>
              <a:rPr sz="1800" b="0">
                <a:solidFill>
                  <a:srgbClr val="222222"/>
                </a:solidFill>
                <a:latin typeface="Calibri"/>
              </a:rPr>
              <a:t>ESP-NOW, so vehicles talk to each other with no router.</a:t>
            </a:r>
          </a:p>
        </p:txBody>
      </p:sp>
      <p:sp>
        <p:nvSpPr>
          <p:cNvPr id="8" name="TextBox 7"/>
          <p:cNvSpPr txBox="1"/>
          <p:nvPr/>
        </p:nvSpPr>
        <p:spPr>
          <a:xfrm>
            <a:off x="6072327" y="1188720"/>
            <a:ext cx="5616448" cy="45720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Beyond it</a:t>
            </a:r>
          </a:p>
        </p:txBody>
      </p:sp>
      <p:sp>
        <p:nvSpPr>
          <p:cNvPr id="9" name="TextBox 8"/>
          <p:cNvSpPr txBox="1"/>
          <p:nvPr/>
        </p:nvSpPr>
        <p:spPr>
          <a:xfrm>
            <a:off x="6072327" y="1700784"/>
            <a:ext cx="5616448" cy="3474720"/>
          </a:xfrm>
          <a:prstGeom prst="rect">
            <a:avLst/>
          </a:prstGeom>
          <a:noFill/>
        </p:spPr>
        <p:txBody>
          <a:bodyPr wrap="square" lIns="0" tIns="0" rIns="0" bIns="0">
            <a:spAutoFit/>
          </a:bodyPr>
          <a:lstStyle/>
          <a:p>
            <a:pPr algn="l">
              <a:lnSpc>
                <a:spcPct val="100000"/>
              </a:lnSpc>
              <a:spcAft>
                <a:spcPts val="800"/>
              </a:spcAft>
              <a:defRPr sz="1800" b="0">
                <a:solidFill>
                  <a:srgbClr val="222222"/>
                </a:solidFill>
                <a:latin typeface="Calibri"/>
              </a:defRPr>
            </a:pPr>
            <a:r>
              <a:rPr sz="1800" b="0">
                <a:solidFill>
                  <a:srgbClr val="222222"/>
                </a:solidFill>
                <a:latin typeface="Calibri"/>
              </a:rPr>
              <a:t>Everything here is how embedded software is written generally: subsystem separation, non-blocking state machines, defensive loading, capability detection, self-test, and a console.</a:t>
            </a:r>
          </a:p>
          <a:p>
            <a:pPr algn="l">
              <a:lnSpc>
                <a:spcPct val="100000"/>
              </a:lnSpc>
              <a:spcAft>
                <a:spcPts val="800"/>
              </a:spcAft>
              <a:defRPr sz="900" b="0">
                <a:solidFill>
                  <a:srgbClr val="222222"/>
                </a:solidFill>
                <a:latin typeface="Calibri"/>
              </a:defRPr>
            </a:pPr>
          </a:p>
          <a:p>
            <a:pPr algn="l">
              <a:lnSpc>
                <a:spcPct val="100000"/>
              </a:lnSpc>
              <a:spcAft>
                <a:spcPts val="800"/>
              </a:spcAft>
              <a:defRPr sz="1800" b="0">
                <a:solidFill>
                  <a:srgbClr val="222222"/>
                </a:solidFill>
                <a:latin typeface="Calibri"/>
              </a:defRPr>
            </a:pPr>
            <a:r>
              <a:rPr sz="1800" b="0">
                <a:solidFill>
                  <a:srgbClr val="222222"/>
                </a:solidFill>
                <a:latin typeface="Calibri"/>
              </a:rPr>
              <a:t>The same patterns run cars, medical devices, satellites and industrial controllers.</a:t>
            </a:r>
          </a:p>
          <a:p>
            <a:pPr algn="l">
              <a:lnSpc>
                <a:spcPct val="100000"/>
              </a:lnSpc>
              <a:spcAft>
                <a:spcPts val="800"/>
              </a:spcAft>
              <a:defRPr sz="900" b="0">
                <a:solidFill>
                  <a:srgbClr val="222222"/>
                </a:solidFill>
                <a:latin typeface="Calibri"/>
              </a:defRPr>
            </a:pPr>
          </a:p>
          <a:p>
            <a:pPr algn="l">
              <a:lnSpc>
                <a:spcPct val="100000"/>
              </a:lnSpc>
              <a:spcAft>
                <a:spcPts val="800"/>
              </a:spcAft>
              <a:defRPr sz="1800" b="0">
                <a:solidFill>
                  <a:srgbClr val="222222"/>
                </a:solidFill>
                <a:latin typeface="Calibri"/>
              </a:defRPr>
            </a:pPr>
            <a:r>
              <a:rPr sz="1800" b="0">
                <a:solidFill>
                  <a:srgbClr val="222222"/>
                </a:solidFill>
                <a:latin typeface="Calibri"/>
              </a:rPr>
              <a:t>Six of the ideas in this course exist because somebody shipped the bug first. That is also how it works in industry.</a:t>
            </a:r>
          </a:p>
        </p:txBody>
      </p:sp>
      <p:sp>
        <p:nvSpPr>
          <p:cNvPr id="10" name="Rounded Rectangle 9"/>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Read the change log at the top of Pathfinder_Op_Program12.ino again now. It should read very differently than it did in Lesson 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same test, done twice: on the bench and in software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18</a:t>
            </a:r>
          </a:p>
        </p:txBody>
      </p:sp>
      <p:sp>
        <p:nvSpPr>
          <p:cNvPr id="6" name="TextBox 5"/>
          <p:cNvSpPr txBox="1"/>
          <p:nvPr/>
        </p:nvSpPr>
        <p:spPr>
          <a:xfrm>
            <a:off x="502920" y="1188720"/>
            <a:ext cx="5219607" cy="45720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The factory bench test</a:t>
            </a:r>
          </a:p>
        </p:txBody>
      </p:sp>
      <p:sp>
        <p:nvSpPr>
          <p:cNvPr id="7" name="TextBox 6"/>
          <p:cNvSpPr txBox="1"/>
          <p:nvPr/>
        </p:nvSpPr>
        <p:spPr>
          <a:xfrm>
            <a:off x="502920" y="1700784"/>
            <a:ext cx="5219607" cy="3474720"/>
          </a:xfrm>
          <a:prstGeom prst="rect">
            <a:avLst/>
          </a:prstGeom>
          <a:noFill/>
        </p:spPr>
        <p:txBody>
          <a:bodyPr wrap="square" lIns="0" tIns="0" rIns="0" bIns="0">
            <a:spAutoFit/>
          </a:bodyPr>
          <a:lstStyle/>
          <a:p>
            <a:pPr algn="l">
              <a:lnSpc>
                <a:spcPct val="100000"/>
              </a:lnSpc>
              <a:spcAft>
                <a:spcPts val="400"/>
              </a:spcAft>
              <a:defRPr sz="1800" b="0">
                <a:solidFill>
                  <a:srgbClr val="222222"/>
                </a:solidFill>
                <a:latin typeface="Calibri"/>
              </a:defRPr>
            </a:pPr>
            <a:r>
              <a:rPr sz="1800" b="0">
                <a:solidFill>
                  <a:srgbClr val="222222"/>
                </a:solidFill>
                <a:latin typeface="Calibri"/>
              </a:rPr>
              <a:t>Before a control board leaves the factory:</a:t>
            </a:r>
          </a:p>
          <a:p>
            <a:pPr lvl="1" algn="l">
              <a:lnSpc>
                <a:spcPct val="100000"/>
              </a:lnSpc>
              <a:spcAft>
                <a:spcPts val="400"/>
              </a:spcAft>
              <a:defRPr sz="1800" b="0">
                <a:solidFill>
                  <a:srgbClr val="222222"/>
                </a:solidFill>
                <a:latin typeface="Calibri"/>
              </a:defRPr>
            </a:pPr>
            <a:r>
              <a:rPr sz="1800" b="0">
                <a:solidFill>
                  <a:srgbClr val="222222"/>
                </a:solidFill>
                <a:latin typeface="Calibri"/>
              </a:rPr>
              <a:t>Check 15 V, 5 V and 3.3 V rails</a:t>
            </a:r>
          </a:p>
          <a:p>
            <a:pPr lvl="1" algn="l">
              <a:lnSpc>
                <a:spcPct val="100000"/>
              </a:lnSpc>
              <a:spcAft>
                <a:spcPts val="400"/>
              </a:spcAft>
              <a:defRPr sz="1800" b="0">
                <a:solidFill>
                  <a:srgbClr val="222222"/>
                </a:solidFill>
                <a:latin typeface="Calibri"/>
              </a:defRPr>
            </a:pPr>
            <a:r>
              <a:rPr sz="1800" b="0">
                <a:solidFill>
                  <a:srgbClr val="222222"/>
                </a:solidFill>
                <a:latin typeface="Calibri"/>
              </a:rPr>
              <a:t>Break the motor 1 high side into an ammeter</a:t>
            </a:r>
          </a:p>
          <a:p>
            <a:pPr lvl="1" algn="l">
              <a:lnSpc>
                <a:spcPct val="100000"/>
              </a:lnSpc>
              <a:spcAft>
                <a:spcPts val="400"/>
              </a:spcAft>
              <a:defRPr sz="1800" b="0">
                <a:solidFill>
                  <a:srgbClr val="222222"/>
                </a:solidFill>
                <a:latin typeface="Calibri"/>
              </a:defRPr>
            </a:pPr>
            <a:r>
              <a:rPr sz="1800" b="0">
                <a:solidFill>
                  <a:srgbClr val="222222"/>
                </a:solidFill>
                <a:latin typeface="Calibri"/>
              </a:rPr>
              <a:t>Issue a full throttle 255 command</a:t>
            </a:r>
          </a:p>
          <a:p>
            <a:pPr lvl="1" algn="l">
              <a:lnSpc>
                <a:spcPct val="100000"/>
              </a:lnSpc>
              <a:spcAft>
                <a:spcPts val="400"/>
              </a:spcAft>
              <a:defRPr sz="1800" b="0">
                <a:solidFill>
                  <a:srgbClr val="222222"/>
                </a:solidFill>
                <a:latin typeface="Calibri"/>
              </a:defRPr>
            </a:pPr>
            <a:r>
              <a:rPr sz="1800" b="0">
                <a:solidFill>
                  <a:srgbClr val="222222"/>
                </a:solidFill>
                <a:latin typeface="Calibri"/>
              </a:rPr>
              <a:t>Measure current at no load, then at stall</a:t>
            </a:r>
          </a:p>
          <a:p>
            <a:pPr lvl="1" algn="l">
              <a:lnSpc>
                <a:spcPct val="100000"/>
              </a:lnSpc>
              <a:spcAft>
                <a:spcPts val="400"/>
              </a:spcAft>
              <a:defRPr sz="1800" b="0">
                <a:solidFill>
                  <a:srgbClr val="222222"/>
                </a:solidFill>
                <a:latin typeface="Calibri"/>
              </a:defRPr>
            </a:pPr>
            <a:r>
              <a:rPr sz="1800" b="0">
                <a:solidFill>
                  <a:srgbClr val="222222"/>
                </a:solidFill>
                <a:latin typeface="Calibri"/>
              </a:rPr>
              <a:t>Repeat for motors 2, 3 and 4, then reconnect</a:t>
            </a:r>
          </a:p>
          <a:p>
            <a:pPr lvl="1" algn="l">
              <a:lnSpc>
                <a:spcPct val="100000"/>
              </a:lnSpc>
              <a:spcAft>
                <a:spcPts val="400"/>
              </a:spcAft>
              <a:defRPr sz="1800" b="0">
                <a:solidFill>
                  <a:srgbClr val="222222"/>
                </a:solidFill>
                <a:latin typeface="Calibri"/>
              </a:defRPr>
            </a:pPr>
            <a:r>
              <a:rPr sz="1800" b="0">
                <a:solidFill>
                  <a:srgbClr val="222222"/>
                </a:solidFill>
                <a:latin typeface="Calibri"/>
              </a:rPr>
              <a:t>Calibrate and test the I2C devices</a:t>
            </a:r>
          </a:p>
          <a:p>
            <a:pPr algn="l">
              <a:lnSpc>
                <a:spcPct val="100000"/>
              </a:lnSpc>
              <a:spcAft>
                <a:spcPts val="400"/>
              </a:spcAft>
              <a:defRPr sz="1800" b="0">
                <a:solidFill>
                  <a:srgbClr val="222222"/>
                </a:solidFill>
                <a:latin typeface="Calibri"/>
              </a:defRPr>
            </a:pPr>
            <a:r>
              <a:rPr sz="1800" b="0">
                <a:solidFill>
                  <a:srgbClr val="222222"/>
                </a:solidFill>
                <a:latin typeface="Calibri"/>
              </a:rPr>
              <a:t>Accurate. Needs a meter, a bench and a person.</a:t>
            </a:r>
          </a:p>
        </p:txBody>
      </p:sp>
      <p:sp>
        <p:nvSpPr>
          <p:cNvPr id="8" name="TextBox 7"/>
          <p:cNvSpPr txBox="1"/>
          <p:nvPr/>
        </p:nvSpPr>
        <p:spPr>
          <a:xfrm>
            <a:off x="6179727" y="1188720"/>
            <a:ext cx="5509048" cy="45720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The self-test in the program</a:t>
            </a:r>
          </a:p>
        </p:txBody>
      </p:sp>
      <p:sp>
        <p:nvSpPr>
          <p:cNvPr id="9" name="TextBox 8"/>
          <p:cNvSpPr txBox="1"/>
          <p:nvPr/>
        </p:nvSpPr>
        <p:spPr>
          <a:xfrm>
            <a:off x="6179727" y="1700784"/>
            <a:ext cx="5509048" cy="3474720"/>
          </a:xfrm>
          <a:prstGeom prst="rect">
            <a:avLst/>
          </a:prstGeom>
          <a:noFill/>
        </p:spPr>
        <p:txBody>
          <a:bodyPr wrap="square" lIns="0" tIns="0" rIns="0" bIns="0">
            <a:spAutoFit/>
          </a:bodyPr>
          <a:lstStyle/>
          <a:p>
            <a:pPr algn="l">
              <a:lnSpc>
                <a:spcPct val="100000"/>
              </a:lnSpc>
              <a:spcAft>
                <a:spcPts val="800"/>
              </a:spcAft>
              <a:defRPr sz="1800" b="0">
                <a:solidFill>
                  <a:srgbClr val="222222"/>
                </a:solidFill>
                <a:latin typeface="Calibri"/>
              </a:defRPr>
            </a:pPr>
            <a:r>
              <a:rPr sz="1800" b="0">
                <a:solidFill>
                  <a:srgbClr val="222222"/>
                </a:solidFill>
                <a:latin typeface="Calibri"/>
              </a:rPr>
              <a:t>Jumper GPIO 34 high at boot and the vehicle does the same to itself:</a:t>
            </a:r>
          </a:p>
          <a:p>
            <a:pPr lvl="1" algn="l">
              <a:lnSpc>
                <a:spcPct val="100000"/>
              </a:lnSpc>
              <a:spcAft>
                <a:spcPts val="800"/>
              </a:spcAft>
              <a:defRPr sz="1800" b="0">
                <a:solidFill>
                  <a:srgbClr val="222222"/>
                </a:solidFill>
                <a:latin typeface="Calibri"/>
              </a:defRPr>
            </a:pPr>
            <a:r>
              <a:rPr sz="1800" b="0">
                <a:solidFill>
                  <a:srgbClr val="222222"/>
                </a:solidFill>
                <a:latin typeface="Calibri"/>
              </a:rPr>
              <a:t>Measure the resting current, motors off</a:t>
            </a:r>
          </a:p>
          <a:p>
            <a:pPr lvl="1" algn="l">
              <a:lnSpc>
                <a:spcPct val="100000"/>
              </a:lnSpc>
              <a:spcAft>
                <a:spcPts val="800"/>
              </a:spcAft>
              <a:defRPr sz="1800" b="0">
                <a:solidFill>
                  <a:srgbClr val="222222"/>
                </a:solidFill>
                <a:latin typeface="Calibri"/>
              </a:defRPr>
            </a:pPr>
            <a:r>
              <a:rPr sz="1800" b="0">
                <a:solidFill>
                  <a:srgbClr val="222222"/>
                </a:solidFill>
                <a:latin typeface="Calibri"/>
              </a:rPr>
              <a:t>Drive each motor full throttle, both ways</a:t>
            </a:r>
          </a:p>
          <a:p>
            <a:pPr lvl="1" algn="l">
              <a:lnSpc>
                <a:spcPct val="100000"/>
              </a:lnSpc>
              <a:spcAft>
                <a:spcPts val="800"/>
              </a:spcAft>
              <a:defRPr sz="1800" b="0">
                <a:solidFill>
                  <a:srgbClr val="222222"/>
                </a:solidFill>
                <a:latin typeface="Calibri"/>
              </a:defRPr>
            </a:pPr>
            <a:r>
              <a:rPr sz="1800" b="0">
                <a:solidFill>
                  <a:srgbClr val="222222"/>
                </a:solidFill>
                <a:latin typeface="Calibri"/>
              </a:rPr>
              <a:t>Watch peak and average against that baseline</a:t>
            </a:r>
          </a:p>
          <a:p>
            <a:pPr lvl="1" algn="l">
              <a:lnSpc>
                <a:spcPct val="100000"/>
              </a:lnSpc>
              <a:spcAft>
                <a:spcPts val="800"/>
              </a:spcAft>
              <a:defRPr sz="1800" b="0">
                <a:solidFill>
                  <a:srgbClr val="222222"/>
                </a:solidFill>
                <a:latin typeface="Calibri"/>
              </a:defRPr>
            </a:pPr>
            <a:r>
              <a:rPr sz="1800" b="0">
                <a:solidFill>
                  <a:srgbClr val="222222"/>
                </a:solidFill>
                <a:latin typeface="Calibri"/>
              </a:rPr>
              <a:t>Blink green for pass, red for fail</a:t>
            </a:r>
          </a:p>
          <a:p>
            <a:pPr algn="l">
              <a:lnSpc>
                <a:spcPct val="100000"/>
              </a:lnSpc>
              <a:spcAft>
                <a:spcPts val="800"/>
              </a:spcAft>
              <a:defRPr sz="1800" b="0">
                <a:solidFill>
                  <a:srgbClr val="222222"/>
                </a:solidFill>
                <a:latin typeface="Calibri"/>
              </a:defRPr>
            </a:pPr>
            <a:r>
              <a:rPr sz="1800" b="0">
                <a:solidFill>
                  <a:srgbClr val="222222"/>
                </a:solidFill>
                <a:latin typeface="Calibri"/>
              </a:rPr>
              <a:t>Less accurate. Runs in ten seconds, in a classroom, with no equipment and nobody who can use a multimeter.</a:t>
            </a:r>
          </a:p>
        </p:txBody>
      </p:sp>
      <p:sp>
        <p:nvSpPr>
          <p:cNvPr id="10" name="Rounded Rectangle 9"/>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That is usually the trade with built-in test: you give up precision to get a check that will actually be run. A test that needs a bench is a test that happens once.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Capstone  -  choose one, and build it properly</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19</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One subsystem, done to the standard of the rest of the program</a:t>
            </a:r>
          </a:p>
        </p:txBody>
      </p:sp>
      <p:sp>
        <p:nvSpPr>
          <p:cNvPr id="7" name="TextBox 6"/>
          <p:cNvSpPr txBox="1"/>
          <p:nvPr/>
        </p:nvSpPr>
        <p:spPr>
          <a:xfrm>
            <a:off x="502920" y="1755648"/>
            <a:ext cx="11185855" cy="4507992"/>
          </a:xfrm>
          <a:prstGeom prst="rect">
            <a:avLst/>
          </a:prstGeom>
          <a:noFill/>
        </p:spPr>
        <p:txBody>
          <a:bodyPr wrap="square" lIns="0" tIns="0" rIns="0" bIns="0">
            <a:spAutoFit/>
          </a:bodyPr>
          <a:lstStyle/>
          <a:p>
            <a:pPr algn="l">
              <a:lnSpc>
                <a:spcPct val="100000"/>
              </a:lnSpc>
              <a:spcAft>
                <a:spcPts val="600"/>
              </a:spcAft>
              <a:defRPr sz="1800" b="0">
                <a:solidFill>
                  <a:srgbClr val="222222"/>
                </a:solidFill>
                <a:latin typeface="Calibri"/>
              </a:defRPr>
            </a:pPr>
            <a:r>
              <a:rPr sz="1800" b="0">
                <a:solidFill>
                  <a:srgbClr val="222222"/>
                </a:solidFill>
                <a:latin typeface="Calibri"/>
              </a:rPr>
              <a:t>The rest of the course is yours. Pick one and apply the seven rules from the previous slide.</a:t>
            </a:r>
          </a:p>
          <a:p>
            <a:pPr algn="l">
              <a:lnSpc>
                <a:spcPct val="100000"/>
              </a:lnSpc>
              <a:spcAft>
                <a:spcPts val="600"/>
              </a:spcAft>
              <a:defRPr sz="900" b="0">
                <a:solidFill>
                  <a:srgbClr val="222222"/>
                </a:solidFill>
                <a:latin typeface="Calibri"/>
              </a:defRPr>
            </a:pPr>
          </a:p>
          <a:p>
            <a:pPr algn="l">
              <a:lnSpc>
                <a:spcPct val="100000"/>
              </a:lnSpc>
              <a:spcAft>
                <a:spcPts val="600"/>
              </a:spcAft>
              <a:defRPr sz="1800" b="0">
                <a:solidFill>
                  <a:srgbClr val="222222"/>
                </a:solidFill>
                <a:latin typeface="Calibri"/>
              </a:defRPr>
            </a:pPr>
            <a:r>
              <a:rPr sz="1800" b="0">
                <a:solidFill>
                  <a:srgbClr val="222222"/>
                </a:solidFill>
                <a:latin typeface="Calibri"/>
              </a:rPr>
              <a:t>LOW BATTERY WARNING. The vehicle already knows its voltage. Flash amber below 12 V, red below 10 V, and make it a lighting mode rather than something bolted on the side.</a:t>
            </a:r>
          </a:p>
          <a:p>
            <a:pPr algn="l">
              <a:lnSpc>
                <a:spcPct val="100000"/>
              </a:lnSpc>
              <a:spcAft>
                <a:spcPts val="600"/>
              </a:spcAft>
              <a:defRPr sz="900" b="0">
                <a:solidFill>
                  <a:srgbClr val="222222"/>
                </a:solidFill>
                <a:latin typeface="Calibri"/>
              </a:defRPr>
            </a:pPr>
          </a:p>
          <a:p>
            <a:pPr algn="l">
              <a:lnSpc>
                <a:spcPct val="100000"/>
              </a:lnSpc>
              <a:spcAft>
                <a:spcPts val="600"/>
              </a:spcAft>
              <a:defRPr sz="1800" b="0">
                <a:solidFill>
                  <a:srgbClr val="222222"/>
                </a:solidFill>
                <a:latin typeface="Calibri"/>
              </a:defRPr>
            </a:pPr>
            <a:r>
              <a:rPr sz="1800" b="0">
                <a:solidFill>
                  <a:srgbClr val="222222"/>
                </a:solidFill>
                <a:latin typeface="Calibri"/>
              </a:rPr>
              <a:t>STALL DETECTION. You have the current signature logic from the self-test. Apply it while driving: if a motor draws a jammed signature for more than half a second, cut it and say so.</a:t>
            </a:r>
          </a:p>
          <a:p>
            <a:pPr algn="l">
              <a:lnSpc>
                <a:spcPct val="100000"/>
              </a:lnSpc>
              <a:spcAft>
                <a:spcPts val="600"/>
              </a:spcAft>
              <a:defRPr sz="900" b="0">
                <a:solidFill>
                  <a:srgbClr val="222222"/>
                </a:solidFill>
                <a:latin typeface="Calibri"/>
              </a:defRPr>
            </a:pPr>
          </a:p>
          <a:p>
            <a:pPr algn="l">
              <a:lnSpc>
                <a:spcPct val="100000"/>
              </a:lnSpc>
              <a:spcAft>
                <a:spcPts val="600"/>
              </a:spcAft>
              <a:defRPr sz="1800" b="0">
                <a:solidFill>
                  <a:srgbClr val="222222"/>
                </a:solidFill>
                <a:latin typeface="Calibri"/>
              </a:defRPr>
            </a:pPr>
            <a:r>
              <a:rPr sz="1800" b="0">
                <a:solidFill>
                  <a:srgbClr val="222222"/>
                </a:solidFill>
                <a:latin typeface="Calibri"/>
              </a:rPr>
              <a:t>OBSTACLE STOP. An ultrasonic range finder, a threshold in Config.h, and a rule that overrides the throttle. Think hard about what happens when the sensor gives one bad reading.</a:t>
            </a:r>
          </a:p>
          <a:p>
            <a:pPr algn="l">
              <a:lnSpc>
                <a:spcPct val="100000"/>
              </a:lnSpc>
              <a:spcAft>
                <a:spcPts val="600"/>
              </a:spcAft>
              <a:defRPr sz="900" b="0">
                <a:solidFill>
                  <a:srgbClr val="222222"/>
                </a:solidFill>
                <a:latin typeface="Calibri"/>
              </a:defRPr>
            </a:pPr>
          </a:p>
          <a:p>
            <a:pPr algn="l">
              <a:lnSpc>
                <a:spcPct val="100000"/>
              </a:lnSpc>
              <a:spcAft>
                <a:spcPts val="600"/>
              </a:spcAft>
              <a:defRPr sz="1800" b="0">
                <a:solidFill>
                  <a:srgbClr val="222222"/>
                </a:solidFill>
                <a:latin typeface="Calibri"/>
              </a:defRPr>
            </a:pPr>
            <a:r>
              <a:rPr sz="1800" b="0">
                <a:solidFill>
                  <a:srgbClr val="222222"/>
                </a:solidFill>
                <a:latin typeface="Calibri"/>
              </a:rPr>
              <a:t>TELEMETRY. Stream voltage, current and speed over ESP-NOW to a second ESP32 with its own LED bar.</a:t>
            </a:r>
          </a:p>
          <a:p>
            <a:pPr algn="l">
              <a:lnSpc>
                <a:spcPct val="100000"/>
              </a:lnSpc>
              <a:spcAft>
                <a:spcPts val="600"/>
              </a:spcAft>
              <a:defRPr sz="900" b="0">
                <a:solidFill>
                  <a:srgbClr val="222222"/>
                </a:solidFill>
                <a:latin typeface="Calibri"/>
              </a:defRPr>
            </a:pPr>
          </a:p>
          <a:p>
            <a:pPr algn="l">
              <a:lnSpc>
                <a:spcPct val="100000"/>
              </a:lnSpc>
              <a:spcAft>
                <a:spcPts val="600"/>
              </a:spcAft>
              <a:defRPr sz="1800" b="0">
                <a:solidFill>
                  <a:srgbClr val="222222"/>
                </a:solidFill>
                <a:latin typeface="Calibri"/>
              </a:defRPr>
            </a:pPr>
            <a:r>
              <a:rPr sz="1800" b="0">
                <a:solidFill>
                  <a:srgbClr val="222222"/>
                </a:solidFill>
                <a:latin typeface="Calibri"/>
              </a:rPr>
              <a:t>You will be marked on whether somebody else can find your code, tune it without recompiling, and run the binary on a vehicle that does not have your hardware fitted.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Check yourself</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20</a:t>
            </a:r>
          </a:p>
        </p:txBody>
      </p:sp>
      <p:sp>
        <p:nvSpPr>
          <p:cNvPr id="6" name="TextBox 5"/>
          <p:cNvSpPr txBox="1"/>
          <p:nvPr/>
        </p:nvSpPr>
        <p:spPr>
          <a:xfrm>
            <a:off x="502920" y="1188720"/>
            <a:ext cx="11185855" cy="411480"/>
          </a:xfrm>
          <a:prstGeom prst="rect">
            <a:avLst/>
          </a:prstGeom>
          <a:noFill/>
        </p:spPr>
        <p:txBody>
          <a:bodyPr wrap="square" lIns="0" tIns="0" rIns="0" bIns="0">
            <a:spAutoFit/>
          </a:bodyPr>
          <a:lstStyle/>
          <a:p>
            <a:pPr algn="l">
              <a:lnSpc>
                <a:spcPct val="100000"/>
              </a:lnSpc>
              <a:spcAft>
                <a:spcPts val="600"/>
              </a:spcAft>
              <a:defRPr sz="1600" b="0">
                <a:solidFill>
                  <a:srgbClr val="666666"/>
                </a:solidFill>
                <a:latin typeface="Calibri"/>
              </a:defRPr>
            </a:pPr>
            <a:r>
              <a:rPr sz="1600" b="0">
                <a:solidFill>
                  <a:srgbClr val="666666"/>
                </a:solidFill>
                <a:latin typeface="Calibri"/>
              </a:rPr>
              <a:t>That is the course. Go and add something.</a:t>
            </a:r>
          </a:p>
        </p:txBody>
      </p:sp>
      <p:sp>
        <p:nvSpPr>
          <p:cNvPr id="7" name="TextBox 6"/>
          <p:cNvSpPr txBox="1"/>
          <p:nvPr/>
        </p:nvSpPr>
        <p:spPr>
          <a:xfrm>
            <a:off x="502920" y="1664208"/>
            <a:ext cx="11185855" cy="4599432"/>
          </a:xfrm>
          <a:prstGeom prst="rect">
            <a:avLst/>
          </a:prstGeom>
          <a:noFill/>
        </p:spPr>
        <p:txBody>
          <a:bodyPr wrap="square" lIns="0" tIns="0" rIns="0" bIns="0">
            <a:spAutoFit/>
          </a:bodyPr>
          <a:lstStyle/>
          <a:p>
            <a:pPr algn="l">
              <a:lnSpc>
                <a:spcPct val="100000"/>
              </a:lnSpc>
              <a:spcAft>
                <a:spcPts val="1100"/>
              </a:spcAft>
              <a:defRPr sz="1900" b="0">
                <a:solidFill>
                  <a:srgbClr val="222222"/>
                </a:solidFill>
                <a:latin typeface="Calibri"/>
              </a:defRPr>
            </a:pPr>
            <a:r>
              <a:rPr sz="1900" b="0">
                <a:solidFill>
                  <a:srgbClr val="222222"/>
                </a:solidFill>
                <a:latin typeface="Calibri"/>
              </a:rPr>
              <a:t>1.  How do you test whether an I2C device exists at an address?</a:t>
            </a:r>
          </a:p>
          <a:p>
            <a:pPr algn="l">
              <a:lnSpc>
                <a:spcPct val="100000"/>
              </a:lnSpc>
              <a:spcAft>
                <a:spcPts val="1100"/>
              </a:spcAft>
              <a:defRPr sz="1900" b="0">
                <a:solidFill>
                  <a:srgbClr val="222222"/>
                </a:solidFill>
                <a:latin typeface="Calibri"/>
              </a:defRPr>
            </a:pPr>
            <a:r>
              <a:rPr sz="1900" b="0">
                <a:solidFill>
                  <a:srgbClr val="222222"/>
                </a:solidFill>
                <a:latin typeface="Calibri"/>
              </a:rPr>
              <a:t>2.  A scan finds nothing on any address. What is the classic cause?</a:t>
            </a:r>
          </a:p>
          <a:p>
            <a:pPr algn="l">
              <a:lnSpc>
                <a:spcPct val="100000"/>
              </a:lnSpc>
              <a:spcAft>
                <a:spcPts val="1100"/>
              </a:spcAft>
              <a:defRPr sz="1900" b="0">
                <a:solidFill>
                  <a:srgbClr val="222222"/>
                </a:solidFill>
                <a:latin typeface="Calibri"/>
              </a:defRPr>
            </a:pPr>
            <a:r>
              <a:rPr sz="1900" b="0">
                <a:solidFill>
                  <a:srgbClr val="222222"/>
                </a:solidFill>
                <a:latin typeface="Calibri"/>
              </a:rPr>
              <a:t>3.  Why is the shunt resistor 0.0025 ohms and not 0.1?</a:t>
            </a:r>
          </a:p>
          <a:p>
            <a:pPr algn="l">
              <a:lnSpc>
                <a:spcPct val="100000"/>
              </a:lnSpc>
              <a:spcAft>
                <a:spcPts val="1100"/>
              </a:spcAft>
              <a:defRPr sz="1900" b="0">
                <a:solidFill>
                  <a:srgbClr val="222222"/>
                </a:solidFill>
                <a:latin typeface="Calibri"/>
              </a:defRPr>
            </a:pPr>
            <a:r>
              <a:rPr sz="1900" b="0">
                <a:solidFill>
                  <a:srgbClr val="222222"/>
                </a:solidFill>
                <a:latin typeface="Calibri"/>
              </a:rPr>
              <a:t>4.  Why must the shunt register be read as SIGNED?</a:t>
            </a:r>
          </a:p>
          <a:p>
            <a:pPr algn="l">
              <a:lnSpc>
                <a:spcPct val="100000"/>
              </a:lnSpc>
              <a:spcAft>
                <a:spcPts val="1100"/>
              </a:spcAft>
              <a:defRPr sz="1900" b="0">
                <a:solidFill>
                  <a:srgbClr val="222222"/>
                </a:solidFill>
                <a:latin typeface="Calibri"/>
              </a:defRPr>
            </a:pPr>
            <a:r>
              <a:rPr sz="1900" b="0">
                <a:solidFill>
                  <a:srgbClr val="222222"/>
                </a:solidFill>
                <a:latin typeface="Calibri"/>
              </a:rPr>
              <a:t>5.  What is a repeated start, and why not just stop and start again?</a:t>
            </a:r>
          </a:p>
          <a:p>
            <a:pPr algn="l">
              <a:lnSpc>
                <a:spcPct val="100000"/>
              </a:lnSpc>
              <a:spcAft>
                <a:spcPts val="1100"/>
              </a:spcAft>
              <a:defRPr sz="1900" b="0">
                <a:solidFill>
                  <a:srgbClr val="222222"/>
                </a:solidFill>
                <a:latin typeface="Calibri"/>
              </a:defRPr>
            </a:pPr>
            <a:r>
              <a:rPr sz="1900" b="0">
                <a:solidFill>
                  <a:srgbClr val="222222"/>
                </a:solidFill>
                <a:latin typeface="Calibri"/>
              </a:rPr>
              <a:t>6.  Describe the current signature of a healthy motor, a disconnected one, and a jammed one.</a:t>
            </a:r>
          </a:p>
          <a:p>
            <a:pPr algn="l">
              <a:lnSpc>
                <a:spcPct val="100000"/>
              </a:lnSpc>
              <a:spcAft>
                <a:spcPts val="1100"/>
              </a:spcAft>
              <a:defRPr sz="1900" b="0">
                <a:solidFill>
                  <a:srgbClr val="222222"/>
                </a:solidFill>
                <a:latin typeface="Calibri"/>
              </a:defRPr>
            </a:pPr>
            <a:r>
              <a:rPr sz="1900" b="0">
                <a:solidFill>
                  <a:srgbClr val="222222"/>
                </a:solidFill>
                <a:latin typeface="Calibri"/>
              </a:rPr>
              <a:t>7.  Why are the self-test thresholds measured above the baseline rather than as absolute amps?</a:t>
            </a:r>
          </a:p>
          <a:p>
            <a:pPr algn="l">
              <a:lnSpc>
                <a:spcPct val="100000"/>
              </a:lnSpc>
              <a:spcAft>
                <a:spcPts val="1100"/>
              </a:spcAft>
              <a:defRPr sz="1900" b="0">
                <a:solidFill>
                  <a:srgbClr val="222222"/>
                </a:solidFill>
                <a:latin typeface="Calibri"/>
              </a:defRPr>
            </a:pPr>
            <a:r>
              <a:rPr sz="1900" b="0">
                <a:solidFill>
                  <a:srgbClr val="222222"/>
                </a:solidFill>
                <a:latin typeface="Calibri"/>
              </a:rPr>
              <a:t>8.  Why is the self-test a state machine rather than a blocking routine?</a:t>
            </a:r>
          </a:p>
          <a:p>
            <a:pPr algn="l">
              <a:lnSpc>
                <a:spcPct val="100000"/>
              </a:lnSpc>
              <a:spcAft>
                <a:spcPts val="1100"/>
              </a:spcAft>
              <a:defRPr sz="1900" b="0">
                <a:solidFill>
                  <a:srgbClr val="222222"/>
                </a:solidFill>
                <a:latin typeface="Calibri"/>
              </a:defRPr>
            </a:pPr>
            <a:r>
              <a:rPr sz="1900" b="0">
                <a:solidFill>
                  <a:srgbClr val="222222"/>
                </a:solidFill>
                <a:latin typeface="Calibri"/>
              </a:rPr>
              <a:t>9.  List the seven things you would do to add a range finder.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