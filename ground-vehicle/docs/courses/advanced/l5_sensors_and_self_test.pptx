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Sensors, Self-Test and 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I2C, shunt resistors, current signatures, and a vehicle that can tell you which motor is unplugged.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Gen 3 vehicles for the sensor work.</a:t>
            </a:r>
          </a:p>
        </p:txBody>
      </p:sp>
      <p:pic>
        <p:nvPicPr>
          <p:cNvPr id="7" name="Picture 6" descr="vehicle-with-rangefi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I2C addressing, acknowledgement, pull-ups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a5a_i2c_scan. Find the sensor, then lose it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Measuring current without interrupting it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a chip from its datasheet, with no library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a5b_ina219_current. Measure a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Current signatures, and the self-test state machine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Adding a subsystem of your own, properly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I2C in ten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Two wires, 120 possible devices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Two wires, SDA and SCL, shared by every device on the bus.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Each device answers to a 7-bit address. 0x00-0x07 and 0x78-0x7F are reserved, leaving 0x08 to 0x77 to scan.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To TEST an address you start a transmission to it and end it immediately, sending no data. If a device is there it pulls SDA low to acknowledge: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0  acknowledged - something is there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2  no acknowledge for the address - nothing there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PULL-UP RESISTORS. I2C devices can only pull a line DOWN. Something has to pull it back up, and that is a pair of resistors to 3.3 V, usually 4.7k. On the Pathfinder they are on the control board.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A scan that returns absolutely nothing on EVERY address is the classic symptom of a missing pull-up. That matters the moment you add your own sensor on the breadboard.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On this board I2C is on GPIO 32 and 33, not the ESP32 defaults. GPIO 34-39 are input-only and cannot drive a bus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find the sensor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a5a_i2c_scan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 to a Gen 3 vehicle. You should find 0x40.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Upload it to a Gen 2 vehicle. You should find nothing, and that is the CORRECT answer.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Type  watch, then unplug the sensor. How quickly does it notice?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Try  pins 21 22, the ESP32 defaults. Does the sensor still answer? Why not?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Try  pins 34 35. Read what the sketch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If you have a spare I2C sensor, wire it on the breadboard and find its address.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Gen 3: one device at 0x40, named. Gen 2: nothing, with an explanation of why that is fine.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is exactly what is_ina219_present() does in Op 12. What decision does the program make from the answer?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Measuring current without getting in the way of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A tiny resistor, and Ohm's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cannot measure current directly. What the INA219 does is put a very small known resistor - a SHUNT - in the path and measure the voltage across it. Ohm's law does the rest: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 = V / R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shunt on this board is 0.0025 ohms. So two amps drops: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V = 2 A x 0.0025 ohm = 0.005 V,  five millivolts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That is deliberate. A bigger resistor would be easier to read, but it would waste power and steal voltage from the motors: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 = I^2 x R = 4 x 0.0025 = 0.01 W  at 0.0025 ohm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 = I^2 x R = 4 x 0.1    = 0.4 W   at 0.1 ohm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Reading five millivolts accurately is the sensor's entire job. The shunt register reports in units of 10 microvolts, which is where the 0.01 in the maths comes from.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Driving a chip with no library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Sensors.ino  /  a5b_ina219_current.ino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uint16_t ina219_read16(uint8_t reg)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Wire.beginTransmission(INA219_I2C_ADDR);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Wire.write(reg);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Wire.endTransmission(false);   // REPEATED START, keep the bus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Wire.requestFrom((uint8_t)INA219_I2C_ADDR, (uint8_t)2);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return Wire.available() &gt;= 2 ? (Wire.read() &lt;&lt; 8) | Wire.read() :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float readCurrentAmps()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int16_t raw = (int16_t)ina219_read16(REG_SHUNT);   // SIGNED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return (raw * 0.01f) / (SHUNT_RESISTOR_OHMS * 1000.0f);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float readBusVolts()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uint16_t value = ina219_read16(REG_BUS);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return (float)((value &gt;&gt; 3) * 4) * 0.001f;   // top 13 bits, 4 mV/count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endTransmission(FALSE) is a repeated start. A full stop in the middle would let another master grab the bus between the two halves of one logical read.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shunt register is SIGNED - current can flow both ways. Read it as unsigned and every regenerative braking current becomes a huge positive number.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bus voltage sits in the TOP 13 bits with status bits below, so it has to be shifted down before it means anything.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There is a perfectly good Adafruit library. Forty lines of your own makes the datasheet readable instead of mysterious.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what a motor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a5b_ina219_current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1.  baseline  with everything off. Now switch the headlights on and take another. Where did the difference go?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2.  spin 0  with the wheel free. Then HOLD the wheel and do it again. Compare peak and average.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3.  Unplug one motor and run  test. Which numbers give it away?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4.  regs  - read the raw registers and check them against the datasheet values in the comments.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5.  Work out how long a 3300 mAh pack lasts at the average you measured while driving.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6.  Compare that with the LED power budget from the beginner course. Which dominates?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clear spike then a settle for a healthy motor. Almost nothing for a disconnected one. A high draw that never settles for a jammed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is your vehicle's resting current?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long will your battery last at your measured average?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The test drives every motor at full power.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healthy motor looks like to a current sensor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1691640"/>
            <a:ext cx="3017520" cy="228600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defRPr sz="800" b="0">
                <a:solidFill>
                  <a:srgbClr val="222222"/>
                </a:solidFill>
                <a:latin typeface="Calibri"/>
              </a:defRPr>
            </a:pPr>
          </a:p>
        </p:txBody>
      </p:sp>
      <p:cxnSp>
        <p:nvCxnSpPr>
          <p:cNvPr id="7" name="Connector 6"/>
          <p:cNvCxnSpPr/>
          <p:nvPr/>
        </p:nvCxnSpPr>
        <p:spPr>
          <a:xfrm>
            <a:off x="1325880" y="3749040"/>
            <a:ext cx="301752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25880" y="3809391"/>
            <a:ext cx="431074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756954" y="1979676"/>
            <a:ext cx="431074" cy="1829715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88028" y="1979676"/>
            <a:ext cx="431074" cy="69403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619102" y="2673706"/>
            <a:ext cx="431074" cy="35753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50176" y="3031236"/>
            <a:ext cx="431074" cy="105156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481250" y="3136392"/>
            <a:ext cx="431074" cy="42063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912324" y="3178455"/>
            <a:ext cx="431074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25880" y="1344168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06908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spikes as it breaks away,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then settles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1691640"/>
            <a:ext cx="3017520" cy="2286000"/>
          </a:xfrm>
          <a:prstGeom prst="rect">
            <a:avLst/>
          </a:prstGeom>
          <a:solidFill>
            <a:srgbClr val="E8ECF0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defRPr sz="800" b="0">
                <a:solidFill>
                  <a:srgbClr val="222222"/>
                </a:solidFill>
                <a:latin typeface="Calibri"/>
              </a:defRPr>
            </a:pPr>
          </a:p>
        </p:txBody>
      </p:sp>
      <p:cxnSp>
        <p:nvCxnSpPr>
          <p:cNvPr id="18" name="Connector 17"/>
          <p:cNvCxnSpPr/>
          <p:nvPr/>
        </p:nvCxnSpPr>
        <p:spPr>
          <a:xfrm>
            <a:off x="4846320" y="3749040"/>
            <a:ext cx="301752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46320" y="3851453"/>
            <a:ext cx="431074" cy="0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277394" y="3809391"/>
            <a:ext cx="431074" cy="42062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08468" y="3809391"/>
            <a:ext cx="431074" cy="21031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39542" y="3830422"/>
            <a:ext cx="431074" cy="21031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570616" y="3830422"/>
            <a:ext cx="431074" cy="21031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01690" y="3830422"/>
            <a:ext cx="431074" cy="21031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32764" y="3851453"/>
            <a:ext cx="431074" cy="0"/>
          </a:xfrm>
          <a:prstGeom prst="line">
            <a:avLst/>
          </a:prstGeom>
          <a:ln w="317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846320" y="1344168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666666"/>
                </a:solidFill>
                <a:latin typeface="Calibri"/>
              </a:defRPr>
            </a:pPr>
            <a:r>
              <a:rPr sz="1100" b="1">
                <a:solidFill>
                  <a:srgbClr val="666666"/>
                </a:solidFill>
                <a:latin typeface="Calibri"/>
              </a:rPr>
              <a:t>DISCONNECTED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06908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no spike, almost no draw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1691640"/>
            <a:ext cx="3017520" cy="228600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0000"/>
              </a:lnSpc>
              <a:spcAft>
                <a:spcPts val="600"/>
              </a:spcAft>
              <a:defRPr sz="800" b="0">
                <a:solidFill>
                  <a:srgbClr val="222222"/>
                </a:solidFill>
                <a:latin typeface="Calibri"/>
              </a:defRPr>
            </a:pPr>
          </a:p>
        </p:txBody>
      </p:sp>
      <p:cxnSp>
        <p:nvCxnSpPr>
          <p:cNvPr id="29" name="Connector 28"/>
          <p:cNvCxnSpPr/>
          <p:nvPr/>
        </p:nvCxnSpPr>
        <p:spPr>
          <a:xfrm>
            <a:off x="8366760" y="3749040"/>
            <a:ext cx="301752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66760" y="3809391"/>
            <a:ext cx="431074" cy="0"/>
          </a:xfrm>
          <a:prstGeom prst="line">
            <a:avLst/>
          </a:prstGeom>
          <a:ln w="31750">
            <a:solidFill>
              <a:srgbClr val="A3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797834" y="1916583"/>
            <a:ext cx="431074" cy="1892808"/>
          </a:xfrm>
          <a:prstGeom prst="line">
            <a:avLst/>
          </a:prstGeom>
          <a:ln w="31750">
            <a:solidFill>
              <a:srgbClr val="A3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28908" y="1916583"/>
            <a:ext cx="431074" cy="63093"/>
          </a:xfrm>
          <a:prstGeom prst="line">
            <a:avLst/>
          </a:prstGeom>
          <a:ln w="31750">
            <a:solidFill>
              <a:srgbClr val="A3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659982" y="1979676"/>
            <a:ext cx="431074" cy="21032"/>
          </a:xfrm>
          <a:prstGeom prst="line">
            <a:avLst/>
          </a:prstGeom>
          <a:ln w="31750">
            <a:solidFill>
              <a:srgbClr val="A3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091056" y="1958645"/>
            <a:ext cx="431074" cy="42063"/>
          </a:xfrm>
          <a:prstGeom prst="line">
            <a:avLst/>
          </a:prstGeom>
          <a:ln w="31750">
            <a:solidFill>
              <a:srgbClr val="A3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22130" y="1958645"/>
            <a:ext cx="431074" cy="21031"/>
          </a:xfrm>
          <a:prstGeom prst="line">
            <a:avLst/>
          </a:prstGeom>
          <a:ln w="31750">
            <a:solidFill>
              <a:srgbClr val="A3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953204" y="1979676"/>
            <a:ext cx="431074" cy="21032"/>
          </a:xfrm>
          <a:prstGeom prst="line">
            <a:avLst/>
          </a:prstGeom>
          <a:ln w="31750">
            <a:solidFill>
              <a:srgbClr val="A32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6760" y="1344168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A32A2A"/>
                </a:solidFill>
                <a:latin typeface="Calibri"/>
              </a:defRPr>
            </a:pPr>
            <a:r>
              <a:rPr sz="1100" b="1">
                <a:solidFill>
                  <a:srgbClr val="A32A2A"/>
                </a:solidFill>
                <a:latin typeface="Calibri"/>
              </a:rPr>
              <a:t>JAMMED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06908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draws a lot and never settles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566159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baseline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74920"/>
            <a:ext cx="11185855" cy="91440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thresholds are measured ABOVE the baseline that was just taken, not as absolute amps: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peak - baseline &gt;= 1.500 A     AND     average - baseline &gt;= 1.000 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Op 11.2 measured a baseline, printed it, then compared against fixed absolutes anyway - so a vehicle idling at half an amp failed every motor. Op 12 fixed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self-test as a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Five states, no blocking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Jumper GPIO 34 high at boot. Each motor is driven forward then reverse while the current sensor watches.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CHECK_TRIGGER   wait for the pin to settle, then decide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BASELINE_CURRENT  measure the resting draw, motors off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RUNNING_TESTS     eight steps: four motors, two directions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TEST_RESULT       green blinks for pass, red for fail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TEST_DISABLED     hand over to normal driving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It is a state machine driven from loop(), not a blocking routine. So the LEDs keep animating and the serial console keeps responding throughout - and any button press clears the result screen.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Note GPIO 34 is input-only and has NO internal pull resistors. The board carries an external pull-down. Read a floating input-only pin and you get whatever the room's electrical noise suggests.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 test that freezes the machine while it runs is a test nobody will leave enabled.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Diagnostics, and the battery maths you can now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What  diag  gives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Every five seconds, while it is switched on: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VBat   - bus voltage, straight from the sensor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I-Avg  - mean current since the last report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I-Max  - the largest positive spike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I-Min  - the largest negative excursion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Negative current is real. When you cut the throttle, a spinning motor becomes a generator and pushes current BACK. That is why the shunt register is signed.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The tracking is reset after each report, so each line describes the last five seconds rather than all of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Work it out for your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A 4S 3300 mAh pack holds 3.3 amp hours.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runtime (hours) = 3.3 / average current in amps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So at a measured 2.0 A average: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3.3 / 2.0 = 1.65 hours, about 99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At 6.0 A of hard driving: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3.3 / 6.0 = 0.55 hours, about 33 minutes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Now add the LEDs. 32 pixels at full white is nearly 2 A on its own - and that is a constant drain whether you are moving or not.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Measure yours. Then decide what LED brightness you can actually afford for a two-hour class.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Never run a lithium pack flat. Below about 3.0 V per cell - 12 V for a 4S - you are damaging it. The vehicle knows its own voltage, so a low-battery warning is a short job and a good exercise.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Adding a subsystem of your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seven things that keep a program from rotting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Say you want a range finder that stops the vehicle before it hits something. Do it the way the program is already built: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Every tunable number goes in Config.h. Pins, thresholds, timings. Nothing hard-coded in the logic.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One new tab, RangeFinder.ino, owning all of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A setup_rangefinder() called from setup(), after the motors.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An update_rangefinder(now) called every pass, that returns immediately if it is not time. No delay(), ever.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A capability flag, so a vehicle without the sensor still runs this binary.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6.  A console command, so it can be tested and tuned without recompiling.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7.  Keep its state in static file-scope variables. Expose functions, not variables.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If you can do those seven things, you can extend this program without making it worse. That is the actual skill.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On 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Obstacle avoidance from the range finder.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Line following.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Battery protection - the current sensor already knows the voltage, so flashing amber below 12 V and red below 10 V is a short job.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Stall detection while driving, using the same current signature logic as the self-test.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ESP-NOW, so vehicles talk to each other with no router.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Beyond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Everything here is how embedded software is written generally: subsystem separation, non-blocking state machines, defensive loading, capability detection, self-test, and a console.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same patterns run cars, medical devices, satellites and industrial controllers.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Six of the ideas in this course exist because somebody shipped the bug first. That is also how it works in industry.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change log at the top of Pathfinder_Op_Program12.ino again now. It should read very differently than it did in Lesson 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Capstone  -  choose one, and build it properly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One subsystem, done to the standard of the rest of the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rest of the course is yours. Pick one and apply the seven rules from the previous slide.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LOW BATTERY WARNING. The vehicle already knows its voltage. Flash amber below 12 V, red below 10 V, and make it a lighting mode rather than something bolted on the side.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STALL DETECTION. You have the current signature logic from the self-test. Apply it while driving: if a motor draws a jammed signature for more than half a second, cut it and say so.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OBSTACLE STOP. An ultrasonic range finder, a threshold in Config.h, and a rule that overrides the throttle. Think hard about what happens when the sensor gives one bad reading.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TELEMETRY. Stream voltage, current and speed over ESP-NOW to a second ESP32 with its own LED bar.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will be marked on whether somebody else can find your code, tune it without recompiling, and run the binary on a vehicle that does not have your hardware fitted.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That is the course. Go and add something.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How do you test whether an I2C device exists at an address?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A scan finds nothing on any address. What is the classic cause?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is the shunt resistor 0.0025 ohms and not 0.1?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must the shunt register be read as SIGNED?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What is a repeated start, and why not just stop and start again?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Describe the current signature of a healthy motor, a disconnected one, and a jammed one.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Why are the self-test thresholds measured above the baseline rather than as absolute amps?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Why is the self-test a state machine rather than a blocking routine?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9.  List the seven things you would do to add a range finder.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