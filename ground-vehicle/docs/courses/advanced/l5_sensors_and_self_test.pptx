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Two wires, SDA and SCL, shared by every device on the bus.</a:t>
            </a:r>
          </a:p>
          <a:p>
            <a:pPr algn="l">
              <a:lnSpc>
                <a:spcPct val="100000"/>
              </a:lnSpc>
              <a:spcAft>
                <a:spcPts val="600"/>
              </a:spcAft>
              <a:defRPr sz="2700" b="0">
                <a:solidFill>
                  <a:srgbClr val="222222"/>
                </a:solidFill>
                <a:latin typeface="Calibri"/>
              </a:defRPr>
            </a:pPr>
            <a:r>
              <a:rPr sz="2700" b="0">
                <a:solidFill>
                  <a:srgbClr val="222222"/>
                </a:solidFill>
                <a:latin typeface="Calibri"/>
              </a:rPr>
              <a:t>Each device answers to a 7-bit address. 0x00-0x07 and 0x78-0x7F are reserved, leaving 0x08 to 0x77 to scan.</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600"/>
              </a:spcAft>
              <a:defRPr sz="2700" b="0">
                <a:solidFill>
                  <a:srgbClr val="222222"/>
                </a:solidFill>
                <a:latin typeface="Calibri"/>
              </a:defRPr>
            </a:pPr>
            <a:r>
              <a:rPr sz="2700" b="0">
                <a:solidFill>
                  <a:srgbClr val="222222"/>
                </a:solidFill>
                <a:latin typeface="Calibri"/>
              </a:rPr>
              <a:t>0  acknowledged - something is there</a:t>
            </a:r>
          </a:p>
          <a:p>
            <a:pPr lvl="1" algn="l">
              <a:lnSpc>
                <a:spcPct val="100000"/>
              </a:lnSpc>
              <a:spcAft>
                <a:spcPts val="600"/>
              </a:spcAft>
              <a:defRPr sz="2700" b="0">
                <a:solidFill>
                  <a:srgbClr val="222222"/>
                </a:solidFill>
                <a:latin typeface="Calibri"/>
              </a:defRPr>
            </a:pPr>
            <a:r>
              <a:rPr sz="2700" b="0">
                <a:solidFill>
                  <a:srgbClr val="222222"/>
                </a:solidFill>
                <a:latin typeface="Calibri"/>
              </a:rPr>
              <a:t>2  no acknowledge for the address - nothing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900"/>
              </a:spcAft>
              <a:defRPr sz="2000" b="0">
                <a:solidFill>
                  <a:srgbClr val="222222"/>
                </a:solidFill>
                <a:latin typeface="Calibri"/>
              </a:defRPr>
            </a:pPr>
            <a:r>
              <a:rPr sz="2000" b="0">
                <a:solidFill>
                  <a:srgbClr val="222222"/>
                </a:solidFill>
                <a:latin typeface="Calibri"/>
              </a:rPr>
              <a:t>I = V / 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shunt on this board is 0.0025 ohms. So two amps drops:</a:t>
            </a:r>
          </a:p>
          <a:p>
            <a:pPr lvl="1" algn="l">
              <a:lnSpc>
                <a:spcPct val="100000"/>
              </a:lnSpc>
              <a:spcAft>
                <a:spcPts val="900"/>
              </a:spcAft>
              <a:defRPr sz="2000" b="0">
                <a:solidFill>
                  <a:srgbClr val="222222"/>
                </a:solidFill>
                <a:latin typeface="Calibri"/>
              </a:defRPr>
            </a:pPr>
            <a:r>
              <a:rPr sz="2000" b="0">
                <a:solidFill>
                  <a:srgbClr val="222222"/>
                </a:solidFill>
                <a:latin typeface="Calibri"/>
              </a:rPr>
              <a:t>V = 2 A x 0.0025 ohm = 0.005 V,  five millivolts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That is deliberate. A bigger resistor would be easier to read, but it would waste power and steal voltage from the motors:</a:t>
            </a:r>
          </a:p>
          <a:p>
            <a:pPr lvl="1" algn="l">
              <a:lnSpc>
                <a:spcPct val="100000"/>
              </a:lnSpc>
              <a:spcAft>
                <a:spcPts val="900"/>
              </a:spcAft>
              <a:defRPr sz="2000" b="0">
                <a:solidFill>
                  <a:srgbClr val="222222"/>
                </a:solidFill>
                <a:latin typeface="Calibri"/>
              </a:defRPr>
            </a:pPr>
            <a:r>
              <a:rPr sz="2000" b="0">
                <a:solidFill>
                  <a:srgbClr val="222222"/>
                </a:solidFill>
                <a:latin typeface="Calibri"/>
              </a:rPr>
              <a:t>P = I^2 x R = 4 x 0.0025 = 0.01 W  at 0.0025 ohm</a:t>
            </a:r>
          </a:p>
          <a:p>
            <a:pPr lvl="1" algn="l">
              <a:lnSpc>
                <a:spcPct val="100000"/>
              </a:lnSpc>
              <a:spcAft>
                <a:spcPts val="900"/>
              </a:spcAft>
              <a:defRPr sz="2000" b="0">
                <a:solidFill>
                  <a:srgbClr val="222222"/>
                </a:solidFill>
                <a:latin typeface="Calibri"/>
              </a:defRPr>
            </a:pPr>
            <a:r>
              <a:rPr sz="2000" b="0">
                <a:solidFill>
                  <a:srgbClr val="222222"/>
                </a:solidFill>
                <a:latin typeface="Calibri"/>
              </a:rPr>
              <a:t>P = I^2 x R = 4 x 0.1    = 0.4 W   at 0.1 ohm</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8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8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What is your vehicle's resting current?</a:t>
            </a:r>
          </a:p>
          <a:p>
            <a:pPr algn="l">
              <a:lnSpc>
                <a:spcPct val="100000"/>
              </a:lnSpc>
              <a:spcAft>
                <a:spcPts val="300"/>
              </a:spcAft>
              <a:defRPr sz="2300" b="0">
                <a:solidFill>
                  <a:srgbClr val="222222"/>
                </a:solidFill>
                <a:latin typeface="Calibri"/>
              </a:defRPr>
            </a:pPr>
            <a:r>
              <a:rPr sz="2300" b="0">
                <a:solidFill>
                  <a:srgbClr val="222222"/>
                </a:solidFill>
                <a:latin typeface="Calibri"/>
              </a:rPr>
              <a:t>How long will your battery last at your measured average?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8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8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Jumper GPIO 34 high at boot. Each motor is driven forward then reverse while the current sensor watches.</a:t>
            </a:r>
          </a:p>
          <a:p>
            <a:pPr algn="l">
              <a:lnSpc>
                <a:spcPct val="100000"/>
              </a:lnSpc>
              <a:spcAft>
                <a:spcPts val="900"/>
              </a:spcAft>
              <a:defRPr sz="2900" b="0">
                <a:solidFill>
                  <a:srgbClr val="222222"/>
                </a:solidFill>
                <a:latin typeface="Calibri"/>
              </a:defRPr>
            </a:pPr>
          </a:p>
          <a:p>
            <a:pPr lvl="1" algn="l">
              <a:lnSpc>
                <a:spcPct val="100000"/>
              </a:lnSpc>
              <a:spcAft>
                <a:spcPts val="900"/>
              </a:spcAft>
              <a:defRPr sz="2900" b="0">
                <a:solidFill>
                  <a:srgbClr val="222222"/>
                </a:solidFill>
                <a:latin typeface="Calibri"/>
              </a:defRPr>
            </a:pPr>
            <a:r>
              <a:rPr sz="2900" b="0">
                <a:solidFill>
                  <a:srgbClr val="222222"/>
                </a:solidFill>
                <a:latin typeface="Calibri"/>
              </a:rPr>
              <a:t>CHECK_TRIGGER   wait for the pin to settle, then decide</a:t>
            </a:r>
          </a:p>
          <a:p>
            <a:pPr lvl="1" algn="l">
              <a:lnSpc>
                <a:spcPct val="100000"/>
              </a:lnSpc>
              <a:spcAft>
                <a:spcPts val="900"/>
              </a:spcAft>
              <a:defRPr sz="2900" b="0">
                <a:solidFill>
                  <a:srgbClr val="222222"/>
                </a:solidFill>
                <a:latin typeface="Calibri"/>
              </a:defRPr>
            </a:pPr>
            <a:r>
              <a:rPr sz="2900" b="0">
                <a:solidFill>
                  <a:srgbClr val="222222"/>
                </a:solidFill>
                <a:latin typeface="Calibri"/>
              </a:rPr>
              <a:t>BASELINE_CURRENT  measure the resting draw, motors off</a:t>
            </a:r>
          </a:p>
          <a:p>
            <a:pPr lvl="1" algn="l">
              <a:lnSpc>
                <a:spcPct val="100000"/>
              </a:lnSpc>
              <a:spcAft>
                <a:spcPts val="900"/>
              </a:spcAft>
              <a:defRPr sz="2900" b="0">
                <a:solidFill>
                  <a:srgbClr val="222222"/>
                </a:solidFill>
                <a:latin typeface="Calibri"/>
              </a:defRPr>
            </a:pPr>
            <a:r>
              <a:rPr sz="2900" b="0">
                <a:solidFill>
                  <a:srgbClr val="222222"/>
                </a:solidFill>
                <a:latin typeface="Calibri"/>
              </a:rPr>
              <a:t>RUNNING_TESTS     eight steps: four motors, two directions</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TEST_RESULT       green blinks for pass, red for fail</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TEST_DISABLED     hand over to normal driving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8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8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8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8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800"/>
              </a:spcAft>
              <a:defRPr sz="1800" b="0">
                <a:solidFill>
                  <a:srgbClr val="222222"/>
                </a:solidFill>
                <a:latin typeface="Calibri"/>
              </a:defRPr>
            </a:pPr>
            <a:r>
              <a:rPr sz="1800" b="0">
                <a:solidFill>
                  <a:srgbClr val="222222"/>
                </a:solidFill>
                <a:latin typeface="Calibri"/>
              </a:rPr>
              <a:t>3.3 / 2.0 = 1.65 hours, about 99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At 6.0 A of hard driving:</a:t>
            </a:r>
          </a:p>
          <a:p>
            <a:pPr lvl="1" algn="l">
              <a:lnSpc>
                <a:spcPct val="100000"/>
              </a:lnSpc>
              <a:spcAft>
                <a:spcPts val="800"/>
              </a:spcAft>
              <a:defRPr sz="1800" b="0">
                <a:solidFill>
                  <a:srgbClr val="222222"/>
                </a:solidFill>
                <a:latin typeface="Calibri"/>
              </a:defRPr>
            </a:pPr>
            <a:r>
              <a:rPr sz="1800" b="0">
                <a:solidFill>
                  <a:srgbClr val="222222"/>
                </a:solidFill>
                <a:latin typeface="Calibri"/>
              </a:rPr>
              <a:t>3.3 / 6.0 = 0.55 hours, about 33 minutes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1.  Every tunable number goes in Config.h. Pins, thresholds, timings. Nothing hard-coded in the logic.</a:t>
            </a:r>
          </a:p>
          <a:p>
            <a:pPr algn="l">
              <a:lnSpc>
                <a:spcPct val="100000"/>
              </a:lnSpc>
              <a:spcAft>
                <a:spcPts val="900"/>
              </a:spcAft>
              <a:defRPr sz="1900" b="0">
                <a:solidFill>
                  <a:srgbClr val="222222"/>
                </a:solidFill>
                <a:latin typeface="Calibri"/>
              </a:defRPr>
            </a:pPr>
            <a:r>
              <a:rPr sz="1900" b="0">
                <a:solidFill>
                  <a:srgbClr val="222222"/>
                </a:solidFill>
                <a:latin typeface="Calibri"/>
              </a:rPr>
              <a:t>2.  One new tab, RangeFinder.ino, owning all of it.</a:t>
            </a:r>
          </a:p>
          <a:p>
            <a:pPr algn="l">
              <a:lnSpc>
                <a:spcPct val="100000"/>
              </a:lnSpc>
              <a:spcAft>
                <a:spcPts val="900"/>
              </a:spcAft>
              <a:defRPr sz="1900" b="0">
                <a:solidFill>
                  <a:srgbClr val="222222"/>
                </a:solidFill>
                <a:latin typeface="Calibri"/>
              </a:defRPr>
            </a:pPr>
            <a:r>
              <a:rPr sz="19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An update_rangefinder(now) called every pass, that returns immediately if it is not time. No delay(), ever.</a:t>
            </a:r>
          </a:p>
          <a:p>
            <a:pPr algn="l">
              <a:lnSpc>
                <a:spcPct val="100000"/>
              </a:lnSpc>
              <a:spcAft>
                <a:spcPts val="900"/>
              </a:spcAft>
              <a:defRPr sz="1800" b="0">
                <a:solidFill>
                  <a:srgbClr val="222222"/>
                </a:solidFill>
                <a:latin typeface="Calibri"/>
              </a:defRPr>
            </a:pPr>
            <a:r>
              <a:rPr sz="1800" b="0">
                <a:solidFill>
                  <a:srgbClr val="222222"/>
                </a:solidFill>
                <a:latin typeface="Calibri"/>
              </a:rPr>
              <a:t>5.  A capability flag, so a vehicle without the sensor still runs this binary.</a:t>
            </a:r>
          </a:p>
          <a:p>
            <a:pPr algn="l">
              <a:lnSpc>
                <a:spcPct val="100000"/>
              </a:lnSpc>
              <a:spcAft>
                <a:spcPts val="900"/>
              </a:spcAft>
              <a:defRPr sz="1800" b="0">
                <a:solidFill>
                  <a:srgbClr val="222222"/>
                </a:solidFill>
                <a:latin typeface="Calibri"/>
              </a:defRPr>
            </a:pPr>
            <a:r>
              <a:rPr sz="1800" b="0">
                <a:solidFill>
                  <a:srgbClr val="222222"/>
                </a:solidFill>
                <a:latin typeface="Calibri"/>
              </a:rPr>
              <a:t>6.  A console command, so it can be tested and tuned without recompiling.</a:t>
            </a:r>
          </a:p>
          <a:p>
            <a:pPr algn="l">
              <a:lnSpc>
                <a:spcPct val="100000"/>
              </a:lnSpc>
              <a:spcAft>
                <a:spcPts val="900"/>
              </a:spcAft>
              <a:defRPr sz="1800" b="0">
                <a:solidFill>
                  <a:srgbClr val="222222"/>
                </a:solidFill>
                <a:latin typeface="Calibri"/>
              </a:defRPr>
            </a:pPr>
            <a:r>
              <a:rPr sz="1800" b="0">
                <a:solidFill>
                  <a:srgbClr val="222222"/>
                </a:solidFill>
                <a:latin typeface="Calibri"/>
              </a:rPr>
              <a:t>7.  Keep its state in static file-scope variables. Expose functions, not variables.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8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8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8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8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8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