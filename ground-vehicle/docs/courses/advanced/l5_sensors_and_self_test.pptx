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Two facts that were on the slide and are now yours to say: GPIO 34-39 are input-only and cannot drive a bus at all, and the missing pull-up matters the moment they add their own sensor on the breadboard.</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The close-up photograph is still outstanding for this deck. Until it arrives, pass a board round.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Also worth saying, and no longer on the slide: any button press clears the pass/fail screen and hands over to normal driving.</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a:p>
            <a:r>
              <a:rPr sz="1200">
                <a:latin typeface="Calibri"/>
              </a:rPr>
              <a:t>The vehicle knows its own voltage, so a low-battery warning is a short job and a good exercise. Suggest it to anybody looking for a project.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I2C addressing, acknowledgement, pull-ups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Upload a5a_i2c_scan. Find the sensor, then lose it</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Measuring current without interrupting it</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Driving a chip from its datasheet, with no library</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Upload a5b_ina219_current. Measure a motor</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Current signatures, and the self-test state machine</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Two wires, SDA and SCL, shared by every device on the bus. Each answers to a 7-bit address; 0x00-0x07 and 0x78-0x7F are reserved, leaving 0x08 to 0x77 to scan.</a:t>
            </a:r>
          </a:p>
          <a:p>
            <a:pPr algn="l">
              <a:lnSpc>
                <a:spcPct val="100000"/>
              </a:lnSpc>
              <a:spcAft>
                <a:spcPts val="600"/>
              </a:spcAft>
              <a:defRPr sz="2200" b="0">
                <a:solidFill>
                  <a:srgbClr val="222222"/>
                </a:solidFill>
                <a:latin typeface="Calibri"/>
              </a:defRPr>
            </a:pPr>
            <a:r>
              <a:rPr sz="2200" b="0">
                <a:solidFill>
                  <a:srgbClr val="222222"/>
                </a:solidFill>
                <a:latin typeface="Calibri"/>
              </a:rPr>
              <a:t>To TEST an address, start a transmission to it and end it immediately, sending no data. A device that is there pulls SDA low to acknowledge:</a:t>
            </a:r>
          </a:p>
          <a:p>
            <a:pPr lvl="1" algn="l">
              <a:lnSpc>
                <a:spcPct val="100000"/>
              </a:lnSpc>
              <a:spcAft>
                <a:spcPts val="600"/>
              </a:spcAft>
              <a:defRPr sz="2200" b="0">
                <a:solidFill>
                  <a:srgbClr val="222222"/>
                </a:solidFill>
                <a:latin typeface="Calibri"/>
              </a:defRPr>
            </a:pPr>
            <a:r>
              <a:rPr sz="2200" b="0">
                <a:solidFill>
                  <a:srgbClr val="222222"/>
                </a:solidFill>
                <a:latin typeface="Calibri"/>
              </a:rPr>
              <a:t>0  acknowledged - something is there</a:t>
            </a:r>
          </a:p>
          <a:p>
            <a:pPr lvl="1" algn="l">
              <a:lnSpc>
                <a:spcPct val="100000"/>
              </a:lnSpc>
              <a:spcAft>
                <a:spcPts val="600"/>
              </a:spcAft>
              <a:defRPr sz="2200" b="0">
                <a:solidFill>
                  <a:srgbClr val="222222"/>
                </a:solidFill>
                <a:latin typeface="Calibri"/>
              </a:defRPr>
            </a:pPr>
            <a:r>
              <a:rPr sz="2200" b="0">
                <a:solidFill>
                  <a:srgbClr val="222222"/>
                </a:solidFill>
                <a:latin typeface="Calibri"/>
              </a:rPr>
              <a:t>2  no acknowledge - nothing there</a:t>
            </a:r>
          </a:p>
          <a:p>
            <a:pPr algn="l">
              <a:lnSpc>
                <a:spcPct val="100000"/>
              </a:lnSpc>
              <a:spcAft>
                <a:spcPts val="600"/>
              </a:spcAft>
              <a:defRPr sz="2200" b="0">
                <a:solidFill>
                  <a:srgbClr val="222222"/>
                </a:solidFill>
                <a:latin typeface="Calibri"/>
              </a:defRPr>
            </a:pPr>
            <a:r>
              <a:rPr sz="2200" b="0">
                <a:solidFill>
                  <a:srgbClr val="222222"/>
                </a:solidFill>
                <a:latin typeface="Calibri"/>
              </a:rPr>
              <a:t>PULL-UP RESISTORS. I2C devices can only pull a line DOWN, so something has to pull it back up: a pair of resistors to 3.3 V, usually 4.7k. On the Pathfinder they are on the control board.</a:t>
            </a:r>
          </a:p>
          <a:p>
            <a:pPr algn="l">
              <a:lnSpc>
                <a:spcPct val="100000"/>
              </a:lnSpc>
              <a:spcAft>
                <a:spcPts val="600"/>
              </a:spcAft>
              <a:defRPr sz="2200" b="0">
                <a:solidFill>
                  <a:srgbClr val="222222"/>
                </a:solidFill>
                <a:latin typeface="Calibri"/>
              </a:defRPr>
            </a:pPr>
            <a:r>
              <a:rPr sz="2200" b="0">
                <a:solidFill>
                  <a:srgbClr val="222222"/>
                </a:solidFill>
                <a:latin typeface="Calibri"/>
              </a:rPr>
              <a:t>Nothing at all on EVERY address is the classic missing pull-up.</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On this board I2C is on GPIO 32 and 33, not the ESP32 defaults.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Finding the sensor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to a Gen 3 vehicle. You should find 0x40.</a:t>
            </a:r>
          </a:p>
          <a:p>
            <a:pPr algn="l">
              <a:lnSpc>
                <a:spcPct val="100000"/>
              </a:lnSpc>
              <a:spcAft>
                <a:spcPts val="800"/>
              </a:spcAft>
              <a:defRPr sz="1900" b="0">
                <a:solidFill>
                  <a:srgbClr val="222222"/>
                </a:solidFill>
                <a:latin typeface="Calibri"/>
              </a:defRPr>
            </a:pPr>
            <a:r>
              <a:rPr sz="1900" b="0">
                <a:solidFill>
                  <a:srgbClr val="222222"/>
                </a:solidFill>
                <a:latin typeface="Calibri"/>
              </a:rPr>
              <a:t>2.  Upload it to a Gen 2 vehicle. You should find nothing, and that is the CORRECT answer.</a:t>
            </a:r>
          </a:p>
          <a:p>
            <a:pPr algn="l">
              <a:lnSpc>
                <a:spcPct val="100000"/>
              </a:lnSpc>
              <a:spcAft>
                <a:spcPts val="800"/>
              </a:spcAft>
              <a:defRPr sz="1900" b="0">
                <a:solidFill>
                  <a:srgbClr val="222222"/>
                </a:solidFill>
                <a:latin typeface="Calibri"/>
              </a:defRPr>
            </a:pPr>
            <a:r>
              <a:rPr sz="1900" b="0">
                <a:solidFill>
                  <a:srgbClr val="222222"/>
                </a:solidFill>
                <a:latin typeface="Calibri"/>
              </a:rPr>
              <a:t>3.  Type  watch, then unplug the sensor. How quickly does it notice?</a:t>
            </a:r>
          </a:p>
          <a:p>
            <a:pPr algn="l">
              <a:lnSpc>
                <a:spcPct val="100000"/>
              </a:lnSpc>
              <a:spcAft>
                <a:spcPts val="800"/>
              </a:spcAft>
              <a:defRPr sz="1900" b="0">
                <a:solidFill>
                  <a:srgbClr val="222222"/>
                </a:solidFill>
                <a:latin typeface="Calibri"/>
              </a:defRPr>
            </a:pPr>
            <a:r>
              <a:rPr sz="1900" b="0">
                <a:solidFill>
                  <a:srgbClr val="222222"/>
                </a:solidFill>
                <a:latin typeface="Calibri"/>
              </a:rPr>
              <a:t>4.  Try  pins 21 22, the ESP32 defaults. Does the sensor still answer? Why not?</a:t>
            </a:r>
          </a:p>
          <a:p>
            <a:pPr algn="l">
              <a:lnSpc>
                <a:spcPct val="100000"/>
              </a:lnSpc>
              <a:spcAft>
                <a:spcPts val="800"/>
              </a:spcAft>
              <a:defRPr sz="1900" b="0">
                <a:solidFill>
                  <a:srgbClr val="222222"/>
                </a:solidFill>
                <a:latin typeface="Calibri"/>
              </a:defRPr>
            </a:pPr>
            <a:r>
              <a:rPr sz="1900" b="0">
                <a:solidFill>
                  <a:srgbClr val="222222"/>
                </a:solidFill>
                <a:latin typeface="Calibri"/>
              </a:rPr>
              <a:t>5.  Try  pins 34 35. Read what the sketch tells you.</a:t>
            </a:r>
          </a:p>
          <a:p>
            <a:pPr algn="l">
              <a:lnSpc>
                <a:spcPct val="100000"/>
              </a:lnSpc>
              <a:spcAft>
                <a:spcPts val="800"/>
              </a:spcAft>
              <a:defRPr sz="1900" b="0">
                <a:solidFill>
                  <a:srgbClr val="222222"/>
                </a:solidFill>
                <a:latin typeface="Calibri"/>
              </a:defRPr>
            </a:pPr>
            <a:r>
              <a:rPr sz="1900" b="0">
                <a:solidFill>
                  <a:srgbClr val="222222"/>
                </a:solidFill>
                <a:latin typeface="Calibri"/>
              </a:rPr>
              <a:t>6.  If you have a spare I2C sensor, wire it on the breadboard and find its address.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Gen 3: one device at 0x40, named. Gen 2: nothing, with an explanation of why that is fine.</a:t>
            </a:r>
          </a:p>
        </p:txBody>
      </p:sp>
      <p:sp>
        <p:nvSpPr>
          <p:cNvPr id="10" name="TextBox 9"/>
          <p:cNvSpPr txBox="1"/>
          <p:nvPr/>
        </p:nvSpPr>
        <p:spPr>
          <a:xfrm>
            <a:off x="7163537" y="411937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521708"/>
            <a:ext cx="4525238" cy="1741932"/>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Measuring a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80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600"/>
              </a:spcAft>
              <a:defRPr sz="1800" b="0">
                <a:solidFill>
                  <a:srgbClr val="222222"/>
                </a:solidFill>
                <a:latin typeface="Calibri"/>
              </a:defRPr>
            </a:pPr>
            <a:r>
              <a:rPr sz="1800" b="0">
                <a:solidFill>
                  <a:srgbClr val="222222"/>
                </a:solidFill>
                <a:latin typeface="Calibri"/>
              </a:rPr>
              <a:t>I = V / 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shunt on this board is 0.0025 ohms. So two amps drops:</a:t>
            </a:r>
          </a:p>
          <a:p>
            <a:pPr lvl="1" algn="l">
              <a:lnSpc>
                <a:spcPct val="100000"/>
              </a:lnSpc>
              <a:spcAft>
                <a:spcPts val="600"/>
              </a:spcAft>
              <a:defRPr sz="1800" b="0">
                <a:solidFill>
                  <a:srgbClr val="222222"/>
                </a:solidFill>
                <a:latin typeface="Calibri"/>
              </a:defRPr>
            </a:pPr>
            <a:r>
              <a:rPr sz="1800" b="0">
                <a:solidFill>
                  <a:srgbClr val="222222"/>
                </a:solidFill>
                <a:latin typeface="Calibri"/>
              </a:rPr>
              <a:t>V = 2 A x 0.0025 ohm = 0.005 V,  five millivolts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is deliberate. A bigger resistor would be easier to read, but it would waste power and steal voltage from the motors:</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0.0025 = 0.01 W  at 0.0025 ohm</a:t>
            </a:r>
          </a:p>
          <a:p>
            <a:pPr lvl="1" algn="l">
              <a:lnSpc>
                <a:spcPct val="100000"/>
              </a:lnSpc>
              <a:spcAft>
                <a:spcPts val="600"/>
              </a:spcAft>
              <a:defRPr sz="1800" b="0">
                <a:solidFill>
                  <a:srgbClr val="222222"/>
                </a:solidFill>
                <a:latin typeface="Calibri"/>
              </a:defRPr>
            </a:pPr>
            <a:r>
              <a:rPr sz="1800" b="0">
                <a:solidFill>
                  <a:srgbClr val="222222"/>
                </a:solidFill>
                <a:latin typeface="Calibri"/>
              </a:rPr>
              <a:t>P = I^2 x R = 4 x 0.1    = 0.4 W   at 0.1 ohm</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Reading five millivolts accurately is the sensor's entire job. The shunt register reports in units of 10 microvolts, which is where the 0.01 in the math comes from.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uint16_t ina219_read16(uint8_t reg) {</a:t>
            </a:r>
          </a:p>
          <a:p>
            <a:pPr algn="l">
              <a:lnSpc>
                <a:spcPct val="100000"/>
              </a:lnSpc>
              <a:spcAft>
                <a:spcPts val="0"/>
              </a:spcAft>
              <a:defRPr sz="1400">
                <a:latin typeface="Consolas"/>
              </a:defRPr>
            </a:pPr>
            <a:r>
              <a:rPr sz="1400">
                <a:solidFill>
                  <a:srgbClr val="222222"/>
                </a:solidFill>
                <a:latin typeface="Consolas"/>
              </a:rPr>
              <a:t>  Wire.beginTransmission(INA219_I2C_ADDR);</a:t>
            </a:r>
          </a:p>
          <a:p>
            <a:pPr algn="l">
              <a:lnSpc>
                <a:spcPct val="100000"/>
              </a:lnSpc>
              <a:spcAft>
                <a:spcPts val="0"/>
              </a:spcAft>
              <a:defRPr sz="1400">
                <a:latin typeface="Consolas"/>
              </a:defRPr>
            </a:pPr>
            <a:r>
              <a:rPr sz="1400">
                <a:solidFill>
                  <a:srgbClr val="222222"/>
                </a:solidFill>
                <a:latin typeface="Consolas"/>
              </a:rPr>
              <a:t>  Wire.write(reg);</a:t>
            </a:r>
          </a:p>
          <a:p>
            <a:pPr algn="l">
              <a:lnSpc>
                <a:spcPct val="100000"/>
              </a:lnSpc>
              <a:spcAft>
                <a:spcPts val="0"/>
              </a:spcAft>
              <a:defRPr sz="1400">
                <a:latin typeface="Consolas"/>
              </a:defRPr>
            </a:pPr>
            <a:r>
              <a:rPr sz="1400" b="1">
                <a:solidFill>
                  <a:srgbClr val="0E7C86"/>
                </a:solidFill>
                <a:latin typeface="Consolas"/>
              </a:rPr>
              <a:t>  Wire.endTransmission(false);   // REPEATED START, keep the bus</a:t>
            </a:r>
          </a:p>
          <a:p>
            <a:pPr algn="l">
              <a:lnSpc>
                <a:spcPct val="100000"/>
              </a:lnSpc>
              <a:spcAft>
                <a:spcPts val="0"/>
              </a:spcAft>
              <a:defRPr sz="1400">
                <a:latin typeface="Consolas"/>
              </a:defRPr>
            </a:pPr>
            <a:r>
              <a:rPr sz="1400">
                <a:solidFill>
                  <a:srgbClr val="222222"/>
                </a:solidFill>
                <a:latin typeface="Consolas"/>
              </a:rPr>
              <a:t>  Wire.requestFrom((uint8_t)INA219_I2C_ADDR, (uint8_t)2);</a:t>
            </a:r>
          </a:p>
          <a:p>
            <a:pPr algn="l">
              <a:lnSpc>
                <a:spcPct val="100000"/>
              </a:lnSpc>
              <a:spcAft>
                <a:spcPts val="0"/>
              </a:spcAft>
              <a:defRPr sz="1400">
                <a:latin typeface="Consolas"/>
              </a:defRPr>
            </a:pPr>
            <a:r>
              <a:rPr sz="1400">
                <a:solidFill>
                  <a:srgbClr val="222222"/>
                </a:solidFill>
                <a:latin typeface="Consolas"/>
              </a:rPr>
              <a:t>  return Wire.available() &gt;= 2 ? (Wire.read() &lt;&lt; 8) | Wire.read() : 0;</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readCurrentAmps() {</a:t>
            </a:r>
          </a:p>
          <a:p>
            <a:pPr algn="l">
              <a:lnSpc>
                <a:spcPct val="100000"/>
              </a:lnSpc>
              <a:spcAft>
                <a:spcPts val="0"/>
              </a:spcAft>
              <a:defRPr sz="1400">
                <a:latin typeface="Consolas"/>
              </a:defRPr>
            </a:pPr>
            <a:r>
              <a:rPr sz="1400" b="1">
                <a:solidFill>
                  <a:srgbClr val="0E7C86"/>
                </a:solidFill>
                <a:latin typeface="Consolas"/>
              </a:rPr>
              <a:t>  int16_t raw = (int16_t)ina219_read16(0x01);   // shunt reg, SIGNED</a:t>
            </a:r>
          </a:p>
          <a:p>
            <a:pPr algn="l">
              <a:lnSpc>
                <a:spcPct val="100000"/>
              </a:lnSpc>
              <a:spcAft>
                <a:spcPts val="0"/>
              </a:spcAft>
              <a:defRPr sz="1400">
                <a:latin typeface="Consolas"/>
              </a:defRPr>
            </a:pPr>
            <a:r>
              <a:rPr sz="1400">
                <a:solidFill>
                  <a:srgbClr val="222222"/>
                </a:solidFill>
                <a:latin typeface="Consolas"/>
              </a:rPr>
              <a:t>  return (raw * 0.01f) / (SHUNT_RESISTOR_OHMS * 1000.0f);</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readBusVolts() {</a:t>
            </a:r>
          </a:p>
          <a:p>
            <a:pPr algn="l">
              <a:lnSpc>
                <a:spcPct val="100000"/>
              </a:lnSpc>
              <a:spcAft>
                <a:spcPts val="0"/>
              </a:spcAft>
              <a:defRPr sz="1400">
                <a:latin typeface="Consolas"/>
              </a:defRPr>
            </a:pPr>
            <a:r>
              <a:rPr sz="1400">
                <a:solidFill>
                  <a:srgbClr val="222222"/>
                </a:solidFill>
                <a:latin typeface="Consolas"/>
              </a:rPr>
              <a:t>  uint16_t value = ina219_read16(0x02);</a:t>
            </a:r>
          </a:p>
          <a:p>
            <a:pPr algn="l">
              <a:lnSpc>
                <a:spcPct val="100000"/>
              </a:lnSpc>
              <a:spcAft>
                <a:spcPts val="0"/>
              </a:spcAft>
              <a:defRPr sz="1400">
                <a:latin typeface="Consolas"/>
              </a:defRPr>
            </a:pPr>
            <a:r>
              <a:rPr sz="1400">
                <a:solidFill>
                  <a:srgbClr val="222222"/>
                </a:solidFill>
                <a:latin typeface="Consolas"/>
              </a:rPr>
              <a:t>  return (float)((value &gt;&gt; 3) * 4) * 0.001f;   // top 13 bits, 4 mV/count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endTransmission(FALSE) is a repeated start. A full stop would let another master grab the bus mid-read.</a:t>
            </a:r>
          </a:p>
          <a:p>
            <a:pPr algn="l">
              <a:lnSpc>
                <a:spcPct val="100000"/>
              </a:lnSpc>
              <a:spcAft>
                <a:spcPts val="700"/>
              </a:spcAft>
              <a:defRPr sz="2100" b="0">
                <a:solidFill>
                  <a:srgbClr val="222222"/>
                </a:solidFill>
                <a:latin typeface="Calibri"/>
              </a:defRPr>
            </a:pPr>
            <a:r>
              <a:rPr sz="2100" b="0">
                <a:solidFill>
                  <a:srgbClr val="222222"/>
                </a:solidFill>
                <a:latin typeface="Calibri"/>
              </a:rPr>
              <a:t>The shunt register is SIGNED. Read it unsigned and every braking current becomes a huge positive number.</a:t>
            </a:r>
          </a:p>
          <a:p>
            <a:pPr algn="l">
              <a:lnSpc>
                <a:spcPct val="100000"/>
              </a:lnSpc>
              <a:spcAft>
                <a:spcPts val="700"/>
              </a:spcAft>
              <a:defRPr sz="2100" b="0">
                <a:solidFill>
                  <a:srgbClr val="222222"/>
                </a:solidFill>
                <a:latin typeface="Calibri"/>
              </a:defRPr>
            </a:pPr>
            <a:r>
              <a:rPr sz="2100" b="0">
                <a:solidFill>
                  <a:srgbClr val="222222"/>
                </a:solidFill>
                <a:latin typeface="Calibri"/>
              </a:rPr>
              <a:t>Bus voltage sits in the top 13 bits, so it is shifted down.</a:t>
            </a:r>
          </a:p>
          <a:p>
            <a:pPr algn="l">
              <a:lnSpc>
                <a:spcPct val="100000"/>
              </a:lnSpc>
              <a:spcAft>
                <a:spcPts val="700"/>
              </a:spcAft>
              <a:defRPr sz="2100" b="0">
                <a:solidFill>
                  <a:srgbClr val="222222"/>
                </a:solidFill>
                <a:latin typeface="Calibri"/>
              </a:defRPr>
            </a:pPr>
            <a:r>
              <a:rPr sz="2100" b="0">
                <a:solidFill>
                  <a:srgbClr val="222222"/>
                </a:solidFill>
                <a:latin typeface="Calibri"/>
              </a:rPr>
              <a:t>Forty lines of your own beats a library you cannot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baseline  with everything off, then with the headlights on. Where did the difference go?</a:t>
            </a:r>
          </a:p>
          <a:p>
            <a:pPr algn="l">
              <a:lnSpc>
                <a:spcPct val="100000"/>
              </a:lnSpc>
              <a:spcAft>
                <a:spcPts val="400"/>
              </a:spcAft>
              <a:defRPr sz="1800" b="0">
                <a:solidFill>
                  <a:srgbClr val="222222"/>
                </a:solidFill>
                <a:latin typeface="Calibri"/>
              </a:defRPr>
            </a:pPr>
            <a:r>
              <a:rPr sz="1800" b="0">
                <a:solidFill>
                  <a:srgbClr val="222222"/>
                </a:solidFill>
                <a:latin typeface="Calibri"/>
              </a:rPr>
              <a:t>2.  spin 0  wheel free, then HOLD the wheel. Compare peak and average.</a:t>
            </a:r>
          </a:p>
          <a:p>
            <a:pPr algn="l">
              <a:lnSpc>
                <a:spcPct val="100000"/>
              </a:lnSpc>
              <a:spcAft>
                <a:spcPts val="400"/>
              </a:spcAft>
              <a:defRPr sz="1800" b="0">
                <a:solidFill>
                  <a:srgbClr val="222222"/>
                </a:solidFill>
                <a:latin typeface="Calibri"/>
              </a:defRPr>
            </a:pPr>
            <a:r>
              <a:rPr sz="1800" b="0">
                <a:solidFill>
                  <a:srgbClr val="222222"/>
                </a:solidFill>
                <a:latin typeface="Calibri"/>
              </a:rPr>
              <a:t>3.  Unplug one motor and run  test. What gives it away?</a:t>
            </a:r>
          </a:p>
          <a:p>
            <a:pPr algn="l">
              <a:lnSpc>
                <a:spcPct val="100000"/>
              </a:lnSpc>
              <a:spcAft>
                <a:spcPts val="400"/>
              </a:spcAft>
              <a:defRPr sz="1800" b="0">
                <a:solidFill>
                  <a:srgbClr val="222222"/>
                </a:solidFill>
                <a:latin typeface="Calibri"/>
              </a:defRPr>
            </a:pPr>
            <a:r>
              <a:rPr sz="1800" b="0">
                <a:solidFill>
                  <a:srgbClr val="222222"/>
                </a:solidFill>
                <a:latin typeface="Calibri"/>
              </a:rPr>
              <a:t>4.  regs  - check them against the datasheet comments.</a:t>
            </a:r>
          </a:p>
          <a:p>
            <a:pPr algn="l">
              <a:lnSpc>
                <a:spcPct val="100000"/>
              </a:lnSpc>
              <a:spcAft>
                <a:spcPts val="400"/>
              </a:spcAft>
              <a:defRPr sz="1800" b="0">
                <a:solidFill>
                  <a:srgbClr val="222222"/>
                </a:solidFill>
                <a:latin typeface="Calibri"/>
              </a:defRPr>
            </a:pPr>
            <a:r>
              <a:rPr sz="1800" b="0">
                <a:solidFill>
                  <a:srgbClr val="222222"/>
                </a:solidFill>
                <a:latin typeface="Calibri"/>
              </a:rPr>
              <a:t>5.  How long does a 3300 mAh pack last at your average?</a:t>
            </a:r>
          </a:p>
          <a:p>
            <a:pPr algn="l">
              <a:lnSpc>
                <a:spcPct val="100000"/>
              </a:lnSpc>
              <a:spcAft>
                <a:spcPts val="400"/>
              </a:spcAft>
              <a:defRPr sz="1800" b="0">
                <a:solidFill>
                  <a:srgbClr val="222222"/>
                </a:solidFill>
                <a:latin typeface="Calibri"/>
              </a:defRPr>
            </a:pPr>
            <a:r>
              <a:rPr sz="1800" b="0">
                <a:solidFill>
                  <a:srgbClr val="222222"/>
                </a:solidFill>
                <a:latin typeface="Calibri"/>
              </a:rPr>
              <a:t>6.  Compare with the LED power budget. Which wins?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0919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spike then a settle for a healthy motor. Almost nothing for a disconnected one. A high draw that never settles for a jammed one.</a:t>
            </a:r>
          </a:p>
        </p:txBody>
      </p:sp>
      <p:sp>
        <p:nvSpPr>
          <p:cNvPr id="10" name="TextBox 9"/>
          <p:cNvSpPr txBox="1"/>
          <p:nvPr/>
        </p:nvSpPr>
        <p:spPr>
          <a:xfrm>
            <a:off x="7163537" y="368663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88971"/>
            <a:ext cx="4525238" cy="108653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What is your vehicle's resting current?</a:t>
            </a:r>
          </a:p>
          <a:p>
            <a:pPr algn="l">
              <a:lnSpc>
                <a:spcPct val="100000"/>
              </a:lnSpc>
              <a:spcAft>
                <a:spcPts val="300"/>
              </a:spcAft>
              <a:defRPr sz="1800" b="0">
                <a:solidFill>
                  <a:srgbClr val="222222"/>
                </a:solidFill>
                <a:latin typeface="Calibri"/>
              </a:defRPr>
            </a:pPr>
            <a:r>
              <a:rPr sz="1800" b="0">
                <a:solidFill>
                  <a:srgbClr val="222222"/>
                </a:solidFill>
                <a:latin typeface="Calibri"/>
              </a:rPr>
              <a:t>How long will your battery last at your measured average?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The test drives every motor at full power.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the INA219 on a Gen 3 board,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Close enough to read the part, with the shunt and the two I2C wires to GPIO 32 and 33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INA219, and the shunt it measures across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Jumper GPIO 34 high at boot. Each motor is driven forward then reverse while the current sensor watches.</a:t>
            </a:r>
          </a:p>
          <a:p>
            <a:pPr lvl="1" algn="l">
              <a:lnSpc>
                <a:spcPct val="100000"/>
              </a:lnSpc>
              <a:spcAft>
                <a:spcPts val="600"/>
              </a:spcAft>
              <a:defRPr sz="1900" b="0">
                <a:solidFill>
                  <a:srgbClr val="222222"/>
                </a:solidFill>
                <a:latin typeface="Calibri"/>
              </a:defRPr>
            </a:pPr>
            <a:r>
              <a:rPr sz="1900" b="0">
                <a:solidFill>
                  <a:srgbClr val="222222"/>
                </a:solidFill>
                <a:latin typeface="Calibri"/>
              </a:rPr>
              <a:t>CHECK_TRIGGER   wait for the pin to settle, then decide</a:t>
            </a:r>
          </a:p>
          <a:p>
            <a:pPr lvl="1" algn="l">
              <a:lnSpc>
                <a:spcPct val="100000"/>
              </a:lnSpc>
              <a:spcAft>
                <a:spcPts val="600"/>
              </a:spcAft>
              <a:defRPr sz="1900" b="0">
                <a:solidFill>
                  <a:srgbClr val="222222"/>
                </a:solidFill>
                <a:latin typeface="Calibri"/>
              </a:defRPr>
            </a:pPr>
            <a:r>
              <a:rPr sz="1900" b="0">
                <a:solidFill>
                  <a:srgbClr val="222222"/>
                </a:solidFill>
                <a:latin typeface="Calibri"/>
              </a:rPr>
              <a:t>BASELINE_CURRENT  measure the resting draw, motors off</a:t>
            </a:r>
          </a:p>
          <a:p>
            <a:pPr lvl="1" algn="l">
              <a:lnSpc>
                <a:spcPct val="100000"/>
              </a:lnSpc>
              <a:spcAft>
                <a:spcPts val="600"/>
              </a:spcAft>
              <a:defRPr sz="1900" b="0">
                <a:solidFill>
                  <a:srgbClr val="222222"/>
                </a:solidFill>
                <a:latin typeface="Calibri"/>
              </a:defRPr>
            </a:pPr>
            <a:r>
              <a:rPr sz="1900" b="0">
                <a:solidFill>
                  <a:srgbClr val="222222"/>
                </a:solidFill>
                <a:latin typeface="Calibri"/>
              </a:rPr>
              <a:t>RUNNING_TESTS     eight steps: four motors, two directions</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TEST_RESULT       green blinks for pass, red for fail</a:t>
            </a:r>
          </a:p>
          <a:p>
            <a:pPr lvl="1" algn="l">
              <a:lnSpc>
                <a:spcPct val="100000"/>
              </a:lnSpc>
              <a:spcAft>
                <a:spcPts val="600"/>
              </a:spcAft>
              <a:defRPr sz="1900" b="0">
                <a:solidFill>
                  <a:srgbClr val="222222"/>
                </a:solidFill>
                <a:latin typeface="Calibri"/>
              </a:defRPr>
            </a:pPr>
            <a:r>
              <a:rPr sz="1900" b="0">
                <a:solidFill>
                  <a:srgbClr val="222222"/>
                </a:solidFill>
                <a:latin typeface="Calibri"/>
              </a:rPr>
              <a:t>TEST_DISABLED     hand over to normal driving</a:t>
            </a:r>
          </a:p>
          <a:p>
            <a:pPr algn="l">
              <a:lnSpc>
                <a:spcPct val="100000"/>
              </a:lnSpc>
              <a:spcAft>
                <a:spcPts val="600"/>
              </a:spcAft>
              <a:defRPr sz="1900" b="0">
                <a:solidFill>
                  <a:srgbClr val="222222"/>
                </a:solidFill>
                <a:latin typeface="Calibri"/>
              </a:defRPr>
            </a:pPr>
            <a:r>
              <a:rPr sz="1900" b="0">
                <a:solidFill>
                  <a:srgbClr val="222222"/>
                </a:solidFill>
                <a:latin typeface="Calibri"/>
              </a:rPr>
              <a:t>Driven from loop(), not blocking, so the LEDs keep animating and the console keeps responding throughout.</a:t>
            </a:r>
          </a:p>
          <a:p>
            <a:pPr algn="l">
              <a:lnSpc>
                <a:spcPct val="100000"/>
              </a:lnSpc>
              <a:spcAft>
                <a:spcPts val="600"/>
              </a:spcAft>
              <a:defRPr sz="1900" b="0">
                <a:solidFill>
                  <a:srgbClr val="222222"/>
                </a:solidFill>
                <a:latin typeface="Calibri"/>
              </a:defRPr>
            </a:pPr>
            <a:r>
              <a:rPr sz="1900" b="0">
                <a:solidFill>
                  <a:srgbClr val="222222"/>
                </a:solidFill>
                <a:latin typeface="Calibri"/>
              </a:rPr>
              <a:t>GPIO 34 is input-only with NO internal pulls, so the board carries an external pull-down.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test that freezes the machine while it runs is a test nobody will leave enabled.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563618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a:t>
            </a:r>
          </a:p>
        </p:txBody>
      </p:sp>
      <p:sp>
        <p:nvSpPr>
          <p:cNvPr id="7" name="TextBox 6"/>
          <p:cNvSpPr txBox="1"/>
          <p:nvPr/>
        </p:nvSpPr>
        <p:spPr>
          <a:xfrm>
            <a:off x="502920" y="1700784"/>
            <a:ext cx="563618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Every five seconds, while it is switched on:</a:t>
            </a:r>
          </a:p>
          <a:p>
            <a:pPr lvl="1" algn="l">
              <a:lnSpc>
                <a:spcPct val="100000"/>
              </a:lnSpc>
              <a:spcAft>
                <a:spcPts val="800"/>
              </a:spcAft>
              <a:defRPr sz="1900" b="0">
                <a:solidFill>
                  <a:srgbClr val="222222"/>
                </a:solidFill>
                <a:latin typeface="Calibri"/>
              </a:defRPr>
            </a:pPr>
            <a:r>
              <a:rPr sz="1900" b="0">
                <a:solidFill>
                  <a:srgbClr val="222222"/>
                </a:solidFill>
                <a:latin typeface="Calibri"/>
              </a:rPr>
              <a:t>VBat   - bus voltage, straight from the sensor</a:t>
            </a:r>
          </a:p>
          <a:p>
            <a:pPr lvl="1" algn="l">
              <a:lnSpc>
                <a:spcPct val="100000"/>
              </a:lnSpc>
              <a:spcAft>
                <a:spcPts val="800"/>
              </a:spcAft>
              <a:defRPr sz="1900" b="0">
                <a:solidFill>
                  <a:srgbClr val="222222"/>
                </a:solidFill>
                <a:latin typeface="Calibri"/>
              </a:defRPr>
            </a:pPr>
            <a:r>
              <a:rPr sz="1900" b="0">
                <a:solidFill>
                  <a:srgbClr val="222222"/>
                </a:solidFill>
                <a:latin typeface="Calibri"/>
              </a:rPr>
              <a:t>I-Avg  - mean current since the last report</a:t>
            </a:r>
          </a:p>
          <a:p>
            <a:pPr lvl="1" algn="l">
              <a:lnSpc>
                <a:spcPct val="100000"/>
              </a:lnSpc>
              <a:spcAft>
                <a:spcPts val="800"/>
              </a:spcAft>
              <a:defRPr sz="1900" b="0">
                <a:solidFill>
                  <a:srgbClr val="222222"/>
                </a:solidFill>
                <a:latin typeface="Calibri"/>
              </a:defRPr>
            </a:pPr>
            <a:r>
              <a:rPr sz="1900" b="0">
                <a:solidFill>
                  <a:srgbClr val="222222"/>
                </a:solidFill>
                <a:latin typeface="Calibri"/>
              </a:rPr>
              <a:t>I-Max  - the largest positive spike</a:t>
            </a:r>
          </a:p>
          <a:p>
            <a:pPr lvl="1" algn="l">
              <a:lnSpc>
                <a:spcPct val="100000"/>
              </a:lnSpc>
              <a:spcAft>
                <a:spcPts val="800"/>
              </a:spcAft>
              <a:defRPr sz="1900" b="0">
                <a:solidFill>
                  <a:srgbClr val="222222"/>
                </a:solidFill>
                <a:latin typeface="Calibri"/>
              </a:defRPr>
            </a:pPr>
            <a:r>
              <a:rPr sz="1900" b="0">
                <a:solidFill>
                  <a:srgbClr val="222222"/>
                </a:solidFill>
                <a:latin typeface="Calibri"/>
              </a:rPr>
              <a:t>I-Min  - the largest negative excursion</a:t>
            </a:r>
          </a:p>
          <a:p>
            <a:pPr algn="l">
              <a:lnSpc>
                <a:spcPct val="100000"/>
              </a:lnSpc>
              <a:spcAft>
                <a:spcPts val="800"/>
              </a:spcAft>
              <a:defRPr sz="1900" b="0">
                <a:solidFill>
                  <a:srgbClr val="222222"/>
                </a:solidFill>
                <a:latin typeface="Calibri"/>
              </a:defRPr>
            </a:pPr>
            <a:r>
              <a:rPr sz="1900" b="0">
                <a:solidFill>
                  <a:srgbClr val="222222"/>
                </a:solidFill>
                <a:latin typeface="Calibri"/>
              </a:rPr>
              <a:t>Negative current is real: cut the throttle and a spinning motor becomes a generator. That is why the shunt register is signed.</a:t>
            </a:r>
          </a:p>
        </p:txBody>
      </p:sp>
      <p:sp>
        <p:nvSpPr>
          <p:cNvPr id="8" name="TextBox 7"/>
          <p:cNvSpPr txBox="1"/>
          <p:nvPr/>
        </p:nvSpPr>
        <p:spPr>
          <a:xfrm>
            <a:off x="6596303" y="1188720"/>
            <a:ext cx="509247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a:t>
            </a:r>
          </a:p>
        </p:txBody>
      </p:sp>
      <p:sp>
        <p:nvSpPr>
          <p:cNvPr id="9" name="TextBox 8"/>
          <p:cNvSpPr txBox="1"/>
          <p:nvPr/>
        </p:nvSpPr>
        <p:spPr>
          <a:xfrm>
            <a:off x="6596303" y="1700784"/>
            <a:ext cx="509247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4S 3300 mAh pack holds 3.3 amp hours.</a:t>
            </a:r>
          </a:p>
          <a:p>
            <a:pPr lvl="1" algn="l">
              <a:lnSpc>
                <a:spcPct val="100000"/>
              </a:lnSpc>
              <a:spcAft>
                <a:spcPts val="800"/>
              </a:spcAft>
              <a:defRPr sz="1900" b="0">
                <a:solidFill>
                  <a:srgbClr val="222222"/>
                </a:solidFill>
                <a:latin typeface="Calibri"/>
              </a:defRPr>
            </a:pPr>
            <a:r>
              <a:rPr sz="1900" b="0">
                <a:solidFill>
                  <a:srgbClr val="222222"/>
                </a:solidFill>
                <a:latin typeface="Calibri"/>
              </a:rPr>
              <a:t>hours = 3.3 / average current in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2.0 A:  3.3 / 2.0 = 1.65 h, 99 min</a:t>
            </a:r>
          </a:p>
          <a:p>
            <a:pPr lvl="1" algn="l">
              <a:lnSpc>
                <a:spcPct val="100000"/>
              </a:lnSpc>
              <a:spcAft>
                <a:spcPts val="800"/>
              </a:spcAft>
              <a:defRPr sz="1900" b="0">
                <a:solidFill>
                  <a:srgbClr val="222222"/>
                </a:solidFill>
                <a:latin typeface="Calibri"/>
              </a:defRPr>
            </a:pPr>
            <a:r>
              <a:rPr sz="1900" b="0">
                <a:solidFill>
                  <a:srgbClr val="222222"/>
                </a:solidFill>
                <a:latin typeface="Calibri"/>
              </a:rPr>
              <a:t>At 6.0 A:  3.3 / 6.0 = 0.55 h, 33 min</a:t>
            </a:r>
          </a:p>
          <a:p>
            <a:pPr algn="l">
              <a:lnSpc>
                <a:spcPct val="100000"/>
              </a:lnSpc>
              <a:spcAft>
                <a:spcPts val="800"/>
              </a:spcAft>
              <a:defRPr sz="1900" b="0">
                <a:solidFill>
                  <a:srgbClr val="222222"/>
                </a:solidFill>
                <a:latin typeface="Calibri"/>
              </a:defRPr>
            </a:pPr>
            <a:r>
              <a:rPr sz="1900" b="0">
                <a:solidFill>
                  <a:srgbClr val="222222"/>
                </a:solidFill>
                <a:latin typeface="Calibri"/>
              </a:rPr>
              <a:t>Now add the LEDs: 32 pixels at full white is nearly 2 A, moving or not.</a:t>
            </a:r>
          </a:p>
          <a:p>
            <a:pPr algn="l">
              <a:lnSpc>
                <a:spcPct val="100000"/>
              </a:lnSpc>
              <a:spcAft>
                <a:spcPts val="800"/>
              </a:spcAft>
              <a:defRPr sz="1900" b="0">
                <a:solidFill>
                  <a:srgbClr val="222222"/>
                </a:solidFill>
                <a:latin typeface="Calibri"/>
              </a:defRPr>
            </a:pPr>
            <a:r>
              <a:rPr sz="1900" b="0">
                <a:solidFill>
                  <a:srgbClr val="222222"/>
                </a:solidFill>
                <a:latin typeface="Calibri"/>
              </a:rPr>
              <a:t>Measure yours, then decide what you can afford.</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Never run a lithium pack flat. Below about 3.0 V per cell - 12 V for a 4S - you are damaging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1.  Every tunable number goes in Config.h. Pins, thresholds, timings. Nothing hard-coded in the logic.</a:t>
            </a:r>
          </a:p>
          <a:p>
            <a:pPr algn="l">
              <a:lnSpc>
                <a:spcPct val="100000"/>
              </a:lnSpc>
              <a:spcAft>
                <a:spcPts val="900"/>
              </a:spcAft>
              <a:defRPr sz="2000" b="0">
                <a:solidFill>
                  <a:srgbClr val="222222"/>
                </a:solidFill>
                <a:latin typeface="Calibri"/>
              </a:defRPr>
            </a:pPr>
            <a:r>
              <a:rPr sz="2000" b="0">
                <a:solidFill>
                  <a:srgbClr val="222222"/>
                </a:solidFill>
                <a:latin typeface="Calibri"/>
              </a:rPr>
              <a:t>2.  One new tab, RangeFinder.ino, owning all of it.</a:t>
            </a:r>
          </a:p>
          <a:p>
            <a:pPr algn="l">
              <a:lnSpc>
                <a:spcPct val="100000"/>
              </a:lnSpc>
              <a:spcAft>
                <a:spcPts val="900"/>
              </a:spcAft>
              <a:defRPr sz="2000" b="0">
                <a:solidFill>
                  <a:srgbClr val="222222"/>
                </a:solidFill>
                <a:latin typeface="Calibri"/>
              </a:defRPr>
            </a:pPr>
            <a:r>
              <a:rPr sz="2000" b="0">
                <a:solidFill>
                  <a:srgbClr val="222222"/>
                </a:solidFill>
                <a:latin typeface="Calibri"/>
              </a:rPr>
              <a:t>3.  A setup_rangefinder() called from setup(), after the motors.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4.  An update_rangefinder(now) called every pass, that returns immediately if it is not time. No delay(), ever.</a:t>
            </a:r>
          </a:p>
          <a:p>
            <a:pPr algn="l">
              <a:lnSpc>
                <a:spcPct val="100000"/>
              </a:lnSpc>
              <a:spcAft>
                <a:spcPts val="900"/>
              </a:spcAft>
              <a:defRPr sz="1900" b="0">
                <a:solidFill>
                  <a:srgbClr val="222222"/>
                </a:solidFill>
                <a:latin typeface="Calibri"/>
              </a:defRPr>
            </a:pPr>
            <a:r>
              <a:rPr sz="1900" b="0">
                <a:solidFill>
                  <a:srgbClr val="222222"/>
                </a:solidFill>
                <a:latin typeface="Calibri"/>
              </a:rPr>
              <a:t>5.  A capability flag, so a vehicle without the sensor still runs this binary.</a:t>
            </a:r>
          </a:p>
          <a:p>
            <a:pPr algn="l">
              <a:lnSpc>
                <a:spcPct val="100000"/>
              </a:lnSpc>
              <a:spcAft>
                <a:spcPts val="900"/>
              </a:spcAft>
              <a:defRPr sz="1900" b="0">
                <a:solidFill>
                  <a:srgbClr val="222222"/>
                </a:solidFill>
                <a:latin typeface="Calibri"/>
              </a:defRPr>
            </a:pPr>
            <a:r>
              <a:rPr sz="1900" b="0">
                <a:solidFill>
                  <a:srgbClr val="222222"/>
                </a:solidFill>
                <a:latin typeface="Calibri"/>
              </a:rPr>
              <a:t>6.  A console command, so it can be tested and tuned without recompiling.</a:t>
            </a:r>
          </a:p>
          <a:p>
            <a:pPr algn="l">
              <a:lnSpc>
                <a:spcPct val="100000"/>
              </a:lnSpc>
              <a:spcAft>
                <a:spcPts val="900"/>
              </a:spcAft>
              <a:defRPr sz="1900" b="0">
                <a:solidFill>
                  <a:srgbClr val="222222"/>
                </a:solidFill>
                <a:latin typeface="Calibri"/>
              </a:defRPr>
            </a:pPr>
            <a:r>
              <a:rPr sz="1900" b="0">
                <a:solidFill>
                  <a:srgbClr val="222222"/>
                </a:solidFill>
                <a:latin typeface="Calibri"/>
              </a:rPr>
              <a:t>7.  Keep its state in static file-scope variables. Expose functions, not variables.</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1122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 the vehicle</a:t>
            </a:r>
          </a:p>
        </p:txBody>
      </p:sp>
      <p:sp>
        <p:nvSpPr>
          <p:cNvPr id="7" name="TextBox 6"/>
          <p:cNvSpPr txBox="1"/>
          <p:nvPr/>
        </p:nvSpPr>
        <p:spPr>
          <a:xfrm>
            <a:off x="502920" y="1700784"/>
            <a:ext cx="511220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8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8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8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072327" y="1188720"/>
            <a:ext cx="56164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Beyond it</a:t>
            </a:r>
          </a:p>
        </p:txBody>
      </p:sp>
      <p:sp>
        <p:nvSpPr>
          <p:cNvPr id="9" name="TextBox 8"/>
          <p:cNvSpPr txBox="1"/>
          <p:nvPr/>
        </p:nvSpPr>
        <p:spPr>
          <a:xfrm>
            <a:off x="6072327" y="1700784"/>
            <a:ext cx="56164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800"/>
              </a:spcAft>
              <a:defRPr sz="9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21960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factory bench test</a:t>
            </a:r>
          </a:p>
        </p:txBody>
      </p:sp>
      <p:sp>
        <p:nvSpPr>
          <p:cNvPr id="7" name="TextBox 6"/>
          <p:cNvSpPr txBox="1"/>
          <p:nvPr/>
        </p:nvSpPr>
        <p:spPr>
          <a:xfrm>
            <a:off x="502920" y="1700784"/>
            <a:ext cx="521960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4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4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4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4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4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400"/>
              </a:spcAft>
              <a:defRPr sz="1800" b="0">
                <a:solidFill>
                  <a:srgbClr val="222222"/>
                </a:solidFill>
                <a:latin typeface="Calibri"/>
              </a:defRPr>
            </a:pPr>
            <a:r>
              <a:rPr sz="1800" b="0">
                <a:solidFill>
                  <a:srgbClr val="222222"/>
                </a:solidFill>
                <a:latin typeface="Calibri"/>
              </a:rPr>
              <a:t>Calibrate and test the I2C devices</a:t>
            </a:r>
          </a:p>
          <a:p>
            <a:pPr algn="l">
              <a:lnSpc>
                <a:spcPct val="100000"/>
              </a:lnSpc>
              <a:spcAft>
                <a:spcPts val="400"/>
              </a:spcAft>
              <a:defRPr sz="1800" b="0">
                <a:solidFill>
                  <a:srgbClr val="222222"/>
                </a:solidFill>
                <a:latin typeface="Calibri"/>
              </a:defRPr>
            </a:pPr>
            <a:r>
              <a:rPr sz="1800" b="0">
                <a:solidFill>
                  <a:srgbClr val="222222"/>
                </a:solidFill>
                <a:latin typeface="Calibri"/>
              </a:rPr>
              <a:t>Accurate. Needs a meter, a bench and a person.</a:t>
            </a:r>
          </a:p>
        </p:txBody>
      </p:sp>
      <p:sp>
        <p:nvSpPr>
          <p:cNvPr id="8" name="TextBox 7"/>
          <p:cNvSpPr txBox="1"/>
          <p:nvPr/>
        </p:nvSpPr>
        <p:spPr>
          <a:xfrm>
            <a:off x="6179727" y="1188720"/>
            <a:ext cx="550904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a:t>
            </a:r>
          </a:p>
        </p:txBody>
      </p:sp>
      <p:sp>
        <p:nvSpPr>
          <p:cNvPr id="9" name="TextBox 8"/>
          <p:cNvSpPr txBox="1"/>
          <p:nvPr/>
        </p:nvSpPr>
        <p:spPr>
          <a:xfrm>
            <a:off x="6179727" y="1700784"/>
            <a:ext cx="5509048"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Jumper GPIO 34 high at boot and the vehicle does the same to itself:</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the resting current, motors off</a:t>
            </a:r>
          </a:p>
          <a:p>
            <a:pPr lvl="1" algn="l">
              <a:lnSpc>
                <a:spcPct val="100000"/>
              </a:lnSpc>
              <a:spcAft>
                <a:spcPts val="8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800"/>
              </a:spcAft>
              <a:defRPr sz="1800" b="0">
                <a:solidFill>
                  <a:srgbClr val="222222"/>
                </a:solidFill>
                <a:latin typeface="Calibri"/>
              </a:defRPr>
            </a:pPr>
            <a:r>
              <a:rPr sz="1800" b="0">
                <a:solidFill>
                  <a:srgbClr val="222222"/>
                </a:solidFill>
                <a:latin typeface="Calibri"/>
              </a:rPr>
              <a:t>Watch peak and average against that baseline</a:t>
            </a:r>
          </a:p>
          <a:p>
            <a:pPr lvl="1" algn="l">
              <a:lnSpc>
                <a:spcPct val="100000"/>
              </a:lnSpc>
              <a:spcAft>
                <a:spcPts val="800"/>
              </a:spcAft>
              <a:defRPr sz="1800" b="0">
                <a:solidFill>
                  <a:srgbClr val="222222"/>
                </a:solidFill>
                <a:latin typeface="Calibri"/>
              </a:defRPr>
            </a:pPr>
            <a:r>
              <a:rPr sz="1800" b="0">
                <a:solidFill>
                  <a:srgbClr val="222222"/>
                </a:solidFill>
                <a:latin typeface="Calibri"/>
              </a:rPr>
              <a:t>Blink green for pass, red for fail</a:t>
            </a:r>
          </a:p>
          <a:p>
            <a:pPr algn="l">
              <a:lnSpc>
                <a:spcPct val="100000"/>
              </a:lnSpc>
              <a:spcAft>
                <a:spcPts val="800"/>
              </a:spcAft>
              <a:defRPr sz="1800" b="0">
                <a:solidFill>
                  <a:srgbClr val="222222"/>
                </a:solidFill>
                <a:latin typeface="Calibri"/>
              </a:defRPr>
            </a:pPr>
            <a:r>
              <a:rPr sz="1800" b="0">
                <a:solidFill>
                  <a:srgbClr val="222222"/>
                </a:solidFill>
                <a:latin typeface="Calibri"/>
              </a:rPr>
              <a:t>Less accurate. Runs in ten seconds, in a classroom, with no equipment and nobody who can use a multimeter.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How do you test whether an I2C device exists at an address?</a:t>
            </a:r>
          </a:p>
          <a:p>
            <a:pPr algn="l">
              <a:lnSpc>
                <a:spcPct val="100000"/>
              </a:lnSpc>
              <a:spcAft>
                <a:spcPts val="1100"/>
              </a:spcAft>
              <a:defRPr sz="1900" b="0">
                <a:solidFill>
                  <a:srgbClr val="222222"/>
                </a:solidFill>
                <a:latin typeface="Calibri"/>
              </a:defRPr>
            </a:pPr>
            <a:r>
              <a:rPr sz="1900" b="0">
                <a:solidFill>
                  <a:srgbClr val="222222"/>
                </a:solidFill>
                <a:latin typeface="Calibri"/>
              </a:rPr>
              <a:t>2.  A scan finds nothing on any address. What is the classic cause?</a:t>
            </a:r>
          </a:p>
          <a:p>
            <a:pPr algn="l">
              <a:lnSpc>
                <a:spcPct val="100000"/>
              </a:lnSpc>
              <a:spcAft>
                <a:spcPts val="1100"/>
              </a:spcAft>
              <a:defRPr sz="1900" b="0">
                <a:solidFill>
                  <a:srgbClr val="222222"/>
                </a:solidFill>
                <a:latin typeface="Calibri"/>
              </a:defRPr>
            </a:pPr>
            <a:r>
              <a:rPr sz="1900" b="0">
                <a:solidFill>
                  <a:srgbClr val="222222"/>
                </a:solidFill>
                <a:latin typeface="Calibri"/>
              </a:rPr>
              <a:t>3.  Why is the shunt resistor 0.0025 ohms and not 0.1?</a:t>
            </a:r>
          </a:p>
          <a:p>
            <a:pPr algn="l">
              <a:lnSpc>
                <a:spcPct val="100000"/>
              </a:lnSpc>
              <a:spcAft>
                <a:spcPts val="1100"/>
              </a:spcAft>
              <a:defRPr sz="1900" b="0">
                <a:solidFill>
                  <a:srgbClr val="222222"/>
                </a:solidFill>
                <a:latin typeface="Calibri"/>
              </a:defRPr>
            </a:pPr>
            <a:r>
              <a:rPr sz="1900" b="0">
                <a:solidFill>
                  <a:srgbClr val="222222"/>
                </a:solidFill>
                <a:latin typeface="Calibri"/>
              </a:rPr>
              <a:t>4.  Why must the shunt register be read as SIGNED?</a:t>
            </a:r>
          </a:p>
          <a:p>
            <a:pPr algn="l">
              <a:lnSpc>
                <a:spcPct val="100000"/>
              </a:lnSpc>
              <a:spcAft>
                <a:spcPts val="1100"/>
              </a:spcAft>
              <a:defRPr sz="1900" b="0">
                <a:solidFill>
                  <a:srgbClr val="222222"/>
                </a:solidFill>
                <a:latin typeface="Calibri"/>
              </a:defRPr>
            </a:pPr>
            <a:r>
              <a:rPr sz="1900" b="0">
                <a:solidFill>
                  <a:srgbClr val="222222"/>
                </a:solidFill>
                <a:latin typeface="Calibri"/>
              </a:rPr>
              <a:t>5.  What is a repeated start, and why not just stop and start again?</a:t>
            </a:r>
          </a:p>
          <a:p>
            <a:pPr algn="l">
              <a:lnSpc>
                <a:spcPct val="100000"/>
              </a:lnSpc>
              <a:spcAft>
                <a:spcPts val="1100"/>
              </a:spcAft>
              <a:defRPr sz="1900" b="0">
                <a:solidFill>
                  <a:srgbClr val="222222"/>
                </a:solidFill>
                <a:latin typeface="Calibri"/>
              </a:defRPr>
            </a:pPr>
            <a:r>
              <a:rPr sz="1900" b="0">
                <a:solidFill>
                  <a:srgbClr val="222222"/>
                </a:solidFill>
                <a:latin typeface="Calibri"/>
              </a:rPr>
              <a:t>6.  Describe the current signature of a healthy motor, a disconnected one, and a jammed one.</a:t>
            </a:r>
          </a:p>
          <a:p>
            <a:pPr algn="l">
              <a:lnSpc>
                <a:spcPct val="100000"/>
              </a:lnSpc>
              <a:spcAft>
                <a:spcPts val="1100"/>
              </a:spcAft>
              <a:defRPr sz="1900" b="0">
                <a:solidFill>
                  <a:srgbClr val="222222"/>
                </a:solidFill>
                <a:latin typeface="Calibri"/>
              </a:defRPr>
            </a:pPr>
            <a:r>
              <a:rPr sz="1900" b="0">
                <a:solidFill>
                  <a:srgbClr val="222222"/>
                </a:solidFill>
                <a:latin typeface="Calibri"/>
              </a:rPr>
              <a:t>7.  Why are the self-test thresholds measured above the baseline rather than as absolute amps?</a:t>
            </a:r>
          </a:p>
          <a:p>
            <a:pPr algn="l">
              <a:lnSpc>
                <a:spcPct val="100000"/>
              </a:lnSpc>
              <a:spcAft>
                <a:spcPts val="1100"/>
              </a:spcAft>
              <a:defRPr sz="1900" b="0">
                <a:solidFill>
                  <a:srgbClr val="222222"/>
                </a:solidFill>
                <a:latin typeface="Calibri"/>
              </a:defRPr>
            </a:pPr>
            <a:r>
              <a:rPr sz="1900" b="0">
                <a:solidFill>
                  <a:srgbClr val="222222"/>
                </a:solidFill>
                <a:latin typeface="Calibri"/>
              </a:rPr>
              <a:t>8.  Why is the self-test a state machine rather than a blocking routine?</a:t>
            </a:r>
          </a:p>
          <a:p>
            <a:pPr algn="l">
              <a:lnSpc>
                <a:spcPct val="100000"/>
              </a:lnSpc>
              <a:spcAft>
                <a:spcPts val="1100"/>
              </a:spcAft>
              <a:defRPr sz="1900" b="0">
                <a:solidFill>
                  <a:srgbClr val="222222"/>
                </a:solidFill>
                <a:latin typeface="Calibri"/>
              </a:defRPr>
            </a:pPr>
            <a:r>
              <a:rPr sz="19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