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You need at least one Gen 3 vehicle per two groups for the sensor work. A Gen 2 is still useful - the second step of the first activity needs one.</a:t>
            </a:r>
          </a:p>
          <a:p>
            <a:r>
              <a:rPr sz="1200">
                <a:latin typeface="Calibri"/>
              </a:rPr>
              <a:t>Blocks out again. The current measurements need a motor spinning freely and then held.</a:t>
            </a:r>
          </a:p>
          <a:p>
            <a:r>
              <a:rPr sz="1200">
                <a:latin typeface="Calibri"/>
              </a:rPr>
              <a:t>This is the last lesson. Leave time at the end for the capstone slide - it is what they take away.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is the real one. Everything before it is groundwork for being able to extend the program without making it worse.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capstone discussion at 2:50 will overrun if you let the measurement activity run long.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Ten lines, and it covers what they need. Do not turn this into a bus protocol lecture.</a:t>
            </a:r>
          </a:p>
          <a:p>
            <a:r>
              <a:rPr sz="1200">
                <a:latin typeface="Calibri"/>
              </a:rPr>
              <a:t>The acknowledge mechanism is the clever bit: address it, send nothing, and see whether anything pulls SDA low.</a:t>
            </a:r>
          </a:p>
          <a:p>
            <a:r>
              <a:rPr sz="1200">
                <a:latin typeface="Calibri"/>
              </a:rPr>
              <a:t>The pull-up point is the one that will save them an afternoon. Devices can only pull a line DOWN, so something has to pull it back up.</a:t>
            </a:r>
          </a:p>
          <a:p>
            <a:r>
              <a:rPr sz="1200">
                <a:latin typeface="Calibri"/>
              </a:rPr>
              <a:t>Nothing on every address is the classic missing-pull-up symptom. It matters the moment they wire their own sensor on the breadboard.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Ten lines, and it covers what they need. Do not turn this into a bus protocol lecture.</a:t>
            </a:r>
          </a:p>
          <a:p>
            <a:r>
              <a:rPr sz="1200">
                <a:latin typeface="Calibri"/>
              </a:rPr>
              <a:t>The acknowledge mechanism is the clever bit: address it, send nothing, and see whether anything pulls SDA low.</a:t>
            </a:r>
          </a:p>
          <a:p>
            <a:r>
              <a:rPr sz="1200">
                <a:latin typeface="Calibri"/>
              </a:rPr>
              <a:t>The pull-up point is the one that will save them an afternoon. Devices can only pull a line DOWN, so something has to pull it back up.</a:t>
            </a:r>
          </a:p>
          <a:p>
            <a:r>
              <a:rPr sz="1200">
                <a:latin typeface="Calibri"/>
              </a:rPr>
              <a:t>Nothing on every address is the classic missing-pull-up symptom. It matters the moment they wire their own sensor on the breadboard.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the important one and it is counter-intuitive: finding nothing on a Gen 2 is the CORRECT answer, not a failure.</a:t>
            </a:r>
          </a:p>
          <a:p>
            <a:r>
              <a:rPr sz="1200">
                <a:latin typeface="Calibri"/>
              </a:rPr>
              <a:t>Step 4 uses the ESP32 default pins, which are not the ones this board wires the sensor to. Nothing answers, and that is the point.</a:t>
            </a:r>
          </a:p>
          <a:p>
            <a:r>
              <a:rPr sz="1200">
                <a:latin typeface="Calibri"/>
              </a:rPr>
              <a:t>Step 5 tries input-only pins. The sketch explains why that cannot work.</a:t>
            </a:r>
          </a:p>
          <a:p>
            <a:r>
              <a:rPr sz="1200">
                <a:latin typeface="Calibri"/>
              </a:rPr>
              <a:t>The question ties it back: this is exactly what is_ina219_present() does in Op 12, and the decision it drives is which capability flags get set.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You cannot measure current directly. Say that first - it is the reason the whole shunt idea exists.</a:t>
            </a:r>
          </a:p>
          <a:p>
            <a:r>
              <a:rPr sz="1200">
                <a:latin typeface="Calibri"/>
              </a:rPr>
              <a:t>Do both power calculations on the board. 0.01 W against 0.4 W is the whole argument for a tiny resistor.</a:t>
            </a:r>
          </a:p>
          <a:p>
            <a:r>
              <a:rPr sz="1200">
                <a:latin typeface="Calibri"/>
              </a:rPr>
              <a:t>Five millivolts at two amps. Reading that accurately is the sensor's entire job, and it is why an INA219 exists rather than an analog input.</a:t>
            </a:r>
          </a:p>
          <a:p>
            <a:r>
              <a:rPr sz="1200">
                <a:latin typeface="Calibri"/>
              </a:rPr>
              <a:t>This is Ohm's law from the beginner course doing real work. Point back at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 library. Two functions and a datasheet. That is the point of the slide.</a:t>
            </a:r>
          </a:p>
          <a:p>
            <a:r>
              <a:rPr sz="1200">
                <a:latin typeface="Calibri"/>
              </a:rPr>
              <a:t>The repeated start matters: a full stop would let another master grab the bus between writing the register number and reading the answer.</a:t>
            </a:r>
          </a:p>
          <a:p>
            <a:r>
              <a:rPr sz="1200">
                <a:latin typeface="Calibri"/>
              </a:rPr>
              <a:t>The signed read is the trap. Read the shunt register unsigned and every regenerative spike comes back as a huge positive number.</a:t>
            </a:r>
          </a:p>
          <a:p>
            <a:r>
              <a:rPr sz="1200">
                <a:latin typeface="Calibri"/>
              </a:rPr>
              <a:t>The bus voltage register keeps flags in the bottom three bits, which is why it shifts right by three. That is normal for register maps, and reading a datasheet is a skill worth naming.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needs care: hold the wheel firmly but keep fingers out of the spokes, and do not hold a stalled motor for more than a second or two.</a:t>
            </a:r>
          </a:p>
          <a:p>
            <a:r>
              <a:rPr sz="1200">
                <a:latin typeface="Calibri"/>
              </a:rPr>
              <a:t>Step 3 is the diagnostic payoff - an unplugged motor draws almost nothing, and that is unmistakable in the numbers.</a:t>
            </a:r>
          </a:p>
          <a:p>
            <a:r>
              <a:rPr sz="1200">
                <a:latin typeface="Calibri"/>
              </a:rPr>
              <a:t>Steps 5 and 6 connect this to the beginner course. Get them to compare the motor draw with the LED power budget and say which dominates.</a:t>
            </a:r>
          </a:p>
          <a:p>
            <a:r>
              <a:rPr sz="1200">
                <a:latin typeface="Calibri"/>
              </a:rPr>
              <a:t>Collect resting currents from a few groups. They vary, and the variation is itself interesting.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Step 2 needs care: hold the wheel firmly but keep fingers out of the spokes, and do not hold a stalled motor for more than a second or two.</a:t>
            </a:r>
          </a:p>
          <a:p>
            <a:r>
              <a:rPr sz="1200">
                <a:latin typeface="Calibri"/>
              </a:rPr>
              <a:t>Step 3 is the diagnostic payoff - an unplugged motor draws almost nothing, and that is unmistakable in the numbers.</a:t>
            </a:r>
          </a:p>
          <a:p>
            <a:r>
              <a:rPr sz="1200">
                <a:latin typeface="Calibri"/>
              </a:rPr>
              <a:t>Steps 5 and 6 connect this to the beginner course. Get them to compare the motor draw with the LED power budget and say which dominates.</a:t>
            </a:r>
          </a:p>
          <a:p>
            <a:r>
              <a:rPr sz="1200">
                <a:latin typeface="Calibri"/>
              </a:rPr>
              <a:t>Collect resting currents from a few groups. They vary, and the variation is itself interesting.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a Gen 3 open on the desk and let people look at the actual part before the theory starts.</a:t>
            </a:r>
          </a:p>
          <a:p>
            <a:r>
              <a:rPr sz="1200">
                <a:latin typeface="Calibri"/>
              </a:rPr>
              <a:t>The shunt is the small, low-value resistor next to it. That is what the whole measurement happens across.</a:t>
            </a:r>
          </a:p>
          <a:p>
            <a:r>
              <a:rPr sz="1200">
                <a:latin typeface="Calibri"/>
              </a:rPr>
              <a:t>Two wires to GPIO 32 and 33 is the entire electrical interface. Everything else is I2C protocol.</a:t>
            </a:r>
          </a:p>
          <a:p>
            <a:r>
              <a:rPr sz="1200">
                <a:latin typeface="Calibri"/>
              </a:rPr>
              <a:t>The close-up photograph is still outstanding for this deck. Until it arrives, pass a board round.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Current is the cheapest sensor on the vehicle, because it is already there. Every fault has a shape.</a:t>
            </a:r>
          </a:p>
          <a:p>
            <a:r>
              <a:rPr sz="1200">
                <a:latin typeface="Calibri"/>
              </a:rPr>
              <a:t>Walk the three regions: no load, working, stalled. A stalled motor draws the most and moves the least, which is the worst of both.</a:t>
            </a:r>
          </a:p>
          <a:p>
            <a:r>
              <a:rPr sz="1200">
                <a:latin typeface="Calibri"/>
              </a:rPr>
              <a:t>Ask what a broken wire looks like. Near zero current with the command still on - and the vehicle limping in a circle.</a:t>
            </a:r>
          </a:p>
          <a:p>
            <a:r>
              <a:rPr sz="1200">
                <a:latin typeface="Calibri"/>
              </a:rPr>
              <a:t>This is the foundation of the powered self-test later in the lesson.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Five states, and it is driven from loop() rather than blocking. That is the same discipline as the lighting lesson.</a:t>
            </a:r>
          </a:p>
          <a:p>
            <a:r>
              <a:rPr sz="1200">
                <a:latin typeface="Calibri"/>
              </a:rPr>
              <a:t>So the LEDs keep animating and the console keeps responding while the test runs. Ask why that matters - because a machine that goes deaf during a self-test cannot be interrupted.</a:t>
            </a:r>
          </a:p>
          <a:p>
            <a:r>
              <a:rPr sz="1200">
                <a:latin typeface="Calibri"/>
              </a:rPr>
              <a:t>The GPIO 34 note is a real hardware trap. Input-only, no internal pulls, so the board carries an external pull-down.</a:t>
            </a:r>
          </a:p>
          <a:p>
            <a:r>
              <a:rPr sz="1200">
                <a:latin typeface="Calibri"/>
              </a:rPr>
              <a:t>A floating input-only pin reads whatever the room's electrical noise says. Worth saying, because somebody will try this on a breadboard.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Five states, and it is driven from loop() rather than blocking. That is the same discipline as the lighting lesson.</a:t>
            </a:r>
          </a:p>
          <a:p>
            <a:r>
              <a:rPr sz="1200">
                <a:latin typeface="Calibri"/>
              </a:rPr>
              <a:t>So the LEDs keep animating and the console keeps responding while the test runs. Ask why that matters - because a machine that goes deaf during a self-test cannot be interrupted.</a:t>
            </a:r>
          </a:p>
          <a:p>
            <a:r>
              <a:rPr sz="1200">
                <a:latin typeface="Calibri"/>
              </a:rPr>
              <a:t>The GPIO 34 note is a real hardware trap. Input-only, no internal pulls, so the board carries an external pull-down.</a:t>
            </a:r>
          </a:p>
          <a:p>
            <a:r>
              <a:rPr sz="1200">
                <a:latin typeface="Calibri"/>
              </a:rPr>
              <a:t>A floating input-only pin reads whatever the room's electrical noise says. Worth saying, because somebody will try this on a breadboard.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negative current is the interesting column. A spinning motor with the throttle cut becomes a generator and pushes current back.</a:t>
            </a:r>
          </a:p>
          <a:p>
            <a:r>
              <a:rPr sz="1200">
                <a:latin typeface="Calibri"/>
              </a:rPr>
              <a:t>That is why the shunt register is signed, and it links straight back to the previous code slide.</a:t>
            </a:r>
          </a:p>
          <a:p>
            <a:r>
              <a:rPr sz="1200">
                <a:latin typeface="Calibri"/>
              </a:rPr>
              <a:t>The right column is arithmetic they can do for their own vehicle. Get everybody to compute a runtime from their own measured average.</a:t>
            </a:r>
          </a:p>
          <a:p>
            <a:r>
              <a:rPr sz="1200">
                <a:latin typeface="Calibri"/>
              </a:rPr>
              <a:t>Point out that the tracking resets after each report, so each line describes the last five seconds, not the whole session.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The negative current is the interesting column. A spinning motor with the throttle cut becomes a generator and pushes current back.</a:t>
            </a:r>
          </a:p>
          <a:p>
            <a:r>
              <a:rPr sz="1200">
                <a:latin typeface="Calibri"/>
              </a:rPr>
              <a:t>That is why the shunt register is signed, and it links straight back to the previous code slide.</a:t>
            </a:r>
          </a:p>
          <a:p>
            <a:r>
              <a:rPr sz="1200">
                <a:latin typeface="Calibri"/>
              </a:rPr>
              <a:t>The right column is arithmetic they can do for their own vehicle. Get everybody to compute a runtime from their own measured average.</a:t>
            </a:r>
          </a:p>
          <a:p>
            <a:r>
              <a:rPr sz="1200">
                <a:latin typeface="Calibri"/>
              </a:rPr>
              <a:t>Point out that the tracking resets after each report, so each line describes the last five seconds, not the whole session.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Seven rules, and they are the summary of the whole course. Read them slowly.</a:t>
            </a:r>
          </a:p>
          <a:p>
            <a:r>
              <a:rPr sz="1200">
                <a:latin typeface="Calibri"/>
              </a:rPr>
              <a:t>Every one of them is something Op 12 already does, so they can check each against the real program.</a:t>
            </a:r>
          </a:p>
          <a:p>
            <a:r>
              <a:rPr sz="1200">
                <a:latin typeface="Calibri"/>
              </a:rPr>
              <a:t>Rule seven is the one people skip: expose functions, not variables. Ask what goes wrong when another tab writes your state directly.</a:t>
            </a:r>
          </a:p>
          <a:p>
            <a:r>
              <a:rPr sz="1200">
                <a:latin typeface="Calibri"/>
              </a:rPr>
              <a:t>If they can do these seven things, they can extend this program without making it worse. That is the whole point of five lessons.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concrete next steps. The right column is why any of it mattered.</a:t>
            </a:r>
          </a:p>
          <a:p>
            <a:r>
              <a:rPr sz="1200">
                <a:latin typeface="Calibri"/>
              </a:rPr>
              <a:t>Say the last line plainly: six of the ideas in this course exist because somebody shipped the bug first. That is also how it works in industry, and it is not a shameful thing.</a:t>
            </a:r>
          </a:p>
          <a:p>
            <a:r>
              <a:rPr sz="1200">
                <a:latin typeface="Calibri"/>
              </a:rPr>
              <a:t>The same patterns run cars, medical devices, satellites and industrial controllers. That is not hyperbole.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versions of the same test, and the comparison is the lesson.</a:t>
            </a:r>
          </a:p>
          <a:p>
            <a:r>
              <a:rPr sz="1200">
                <a:latin typeface="Calibri"/>
              </a:rPr>
              <a:t>The bench test is more accurate and needs a meter, a bench and a person. The self-test is less accurate and runs in ten seconds, anywhere, on every vehicle.</a:t>
            </a:r>
          </a:p>
          <a:p>
            <a:r>
              <a:rPr sz="1200">
                <a:latin typeface="Calibri"/>
              </a:rPr>
              <a:t>Ask which one you would want in a classroom of thirty vehicles. Then ask which one you would want before a board ships.</a:t>
            </a:r>
          </a:p>
          <a:p>
            <a:r>
              <a:rPr sz="1200">
                <a:latin typeface="Calibri"/>
              </a:rPr>
              <a:t>The answer is both, for different reasons. That is a real engineering judgement rather than a right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Two versions of the same test, and the comparison is the lesson.</a:t>
            </a:r>
          </a:p>
          <a:p>
            <a:r>
              <a:rPr sz="1200">
                <a:latin typeface="Calibri"/>
              </a:rPr>
              <a:t>The bench test is more accurate and needs a meter, a bench and a person. The self-test is less accurate and runs in ten seconds, anywhere, on every vehicle.</a:t>
            </a:r>
          </a:p>
          <a:p>
            <a:r>
              <a:rPr sz="1200">
                <a:latin typeface="Calibri"/>
              </a:rPr>
              <a:t>Ask which one you would want in a classroom of thirty vehicles. Then ask which one you would want before a board ships.</a:t>
            </a:r>
          </a:p>
          <a:p>
            <a:r>
              <a:rPr sz="1200">
                <a:latin typeface="Calibri"/>
              </a:rPr>
              <a:t>The answer is both, for different reasons. That is a real engineering judgement rather than a right answer.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last teaching slide. Give it proper time.</a:t>
            </a:r>
          </a:p>
          <a:p>
            <a:r>
              <a:rPr sz="1200">
                <a:latin typeface="Calibri"/>
              </a:rPr>
              <a:t>Insist on the seven rules from the earlier slide. A capstone built badly teaches the wrong thing.</a:t>
            </a:r>
          </a:p>
          <a:p>
            <a:r>
              <a:rPr sz="1200">
                <a:latin typeface="Calibri"/>
              </a:rPr>
              <a:t>The obstacle-stop option has the best hidden question in it: what happens when the sensor gives one bad reading? Push whoever picks it.</a:t>
            </a:r>
          </a:p>
          <a:p>
            <a:r>
              <a:rPr sz="1200">
                <a:latin typeface="Calibri"/>
              </a:rPr>
              <a:t>If anybody is continuing after the course, get them to commit to one today while the enthusiasm is still there.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This is the last thing they do.</a:t>
            </a:r>
          </a:p>
          <a:p>
            <a:r>
              <a:rPr sz="1200">
                <a:latin typeface="Calibri"/>
              </a:rPr>
              <a:t>Answers: address it and end the transmission with no data, then check the acknowledgement; nothing on any address means a missing pull-up; a small shunt wastes less power and steals less voltage from the motors.</a:t>
            </a:r>
          </a:p>
          <a:p>
            <a:r>
              <a:rPr sz="1200">
                <a:latin typeface="Calibri"/>
              </a:rPr>
              <a:t>Signed, because a motor pushes current back when the throttle is cut.</a:t>
            </a:r>
          </a:p>
          <a:p>
            <a:r>
              <a:rPr sz="1200">
                <a:latin typeface="Calibri"/>
              </a:rPr>
              <a:t>A repeated start keeps the bus so no other master can take it mid-read.</a:t>
            </a:r>
          </a:p>
          <a:p>
            <a:r>
              <a:rPr sz="1200">
                <a:latin typeface="Calibri"/>
              </a:rPr>
              <a:t>Healthy: a spike then a settle. Disconnected: almost nothing. Jammed: high and never settling.</a:t>
            </a:r>
          </a:p>
          <a:p>
            <a:r>
              <a:rPr sz="1200">
                <a:latin typeface="Calibri"/>
              </a:rPr>
              <a:t>Thresholds sit above a measured baseline because the resting draw differs between vehicles and with battery charge.</a:t>
            </a:r>
          </a:p>
          <a:p>
            <a:r>
              <a:rPr sz="1200">
                <a:latin typeface="Calibri"/>
              </a:rPr>
              <a:t>The self-test is a state machine so the LEDs and console keep working.</a:t>
            </a:r>
          </a:p>
          <a:p>
            <a:r>
              <a:rPr sz="1200">
                <a:latin typeface="Calibri"/>
              </a:rPr>
              <a:t>Question 9 is the seven rules. If they can list them, the course did its job.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Sensors, Self-Test and Diagnostics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I2C, shunt resistors, current signatures, and a vehicle that can tell you which motor is unplugged.</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Gen 3 vehicles for the sensor work.</a:t>
            </a:r>
          </a:p>
        </p:txBody>
      </p:sp>
      <p:pic>
        <p:nvPicPr>
          <p:cNvPr id="8" name="Picture 7" descr="vehicle-with-rangefind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Test whether a device is present on an I2C bus, and diagnose an empty scan</a:t>
            </a:r>
          </a:p>
          <a:p>
            <a:pPr algn="l">
              <a:lnSpc>
                <a:spcPct val="100000"/>
              </a:lnSpc>
              <a:spcAft>
                <a:spcPts val="1300"/>
              </a:spcAft>
              <a:defRPr sz="1900" b="0">
                <a:solidFill>
                  <a:srgbClr val="222222"/>
                </a:solidFill>
                <a:latin typeface="Calibri"/>
              </a:defRPr>
            </a:pPr>
            <a:r>
              <a:rPr sz="1900" b="0">
                <a:solidFill>
                  <a:srgbClr val="222222"/>
                </a:solidFill>
                <a:latin typeface="Calibri"/>
              </a:rPr>
              <a:t>2.   Explain how a shunt resistor measures current, and why it is small</a:t>
            </a:r>
          </a:p>
          <a:p>
            <a:pPr algn="l">
              <a:lnSpc>
                <a:spcPct val="100000"/>
              </a:lnSpc>
              <a:spcAft>
                <a:spcPts val="1300"/>
              </a:spcAft>
              <a:defRPr sz="1900" b="0">
                <a:solidFill>
                  <a:srgbClr val="222222"/>
                </a:solidFill>
                <a:latin typeface="Calibri"/>
              </a:defRPr>
            </a:pPr>
            <a:r>
              <a:rPr sz="1900" b="0">
                <a:solidFill>
                  <a:srgbClr val="222222"/>
                </a:solidFill>
                <a:latin typeface="Calibri"/>
              </a:rPr>
              <a:t>3.   Read a chip register from its datasheet with no library</a:t>
            </a:r>
          </a:p>
          <a:p>
            <a:pPr algn="l">
              <a:lnSpc>
                <a:spcPct val="100000"/>
              </a:lnSpc>
              <a:spcAft>
                <a:spcPts val="1300"/>
              </a:spcAft>
              <a:defRPr sz="1900" b="0">
                <a:solidFill>
                  <a:srgbClr val="222222"/>
                </a:solidFill>
                <a:latin typeface="Calibri"/>
              </a:defRPr>
            </a:pPr>
            <a:r>
              <a:rPr sz="1900" b="0">
                <a:solidFill>
                  <a:srgbClr val="222222"/>
                </a:solidFill>
                <a:latin typeface="Calibri"/>
              </a:rPr>
              <a:t>4.   Recognise the current signature of a healthy, disconnected and jammed motor</a:t>
            </a:r>
          </a:p>
          <a:p>
            <a:pPr algn="l">
              <a:lnSpc>
                <a:spcPct val="100000"/>
              </a:lnSpc>
              <a:spcAft>
                <a:spcPts val="1300"/>
              </a:spcAft>
              <a:defRPr sz="1900" b="0">
                <a:solidFill>
                  <a:srgbClr val="222222"/>
                </a:solidFill>
                <a:latin typeface="Calibri"/>
              </a:defRPr>
            </a:pPr>
            <a:r>
              <a:rPr sz="1900" b="0">
                <a:solidFill>
                  <a:srgbClr val="222222"/>
                </a:solidFill>
                <a:latin typeface="Calibri"/>
              </a:rPr>
              <a:t>5.   Say why self-test thresholds are measured against a baseline</a:t>
            </a:r>
          </a:p>
          <a:p>
            <a:pPr algn="l">
              <a:lnSpc>
                <a:spcPct val="100000"/>
              </a:lnSpc>
              <a:spcAft>
                <a:spcPts val="1300"/>
              </a:spcAft>
              <a:defRPr sz="1900" b="0">
                <a:solidFill>
                  <a:srgbClr val="222222"/>
                </a:solidFill>
                <a:latin typeface="Calibri"/>
              </a:defRPr>
            </a:pPr>
            <a:r>
              <a:rPr sz="1900" b="0">
                <a:solidFill>
                  <a:srgbClr val="222222"/>
                </a:solidFill>
                <a:latin typeface="Calibri"/>
              </a:rPr>
              <a:t>6.   Add a subsystem to Op Program 12 without making it worse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I2C addressing, acknowledgement, pull-ups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Upload a5a_i2c_scan. Find the sensor, then lose it</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Measuring current without interrupting it</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Driving a chip from its datasheet, with no library</a:t>
                      </a:r>
                    </a:p>
                  </a:txBody>
                  <a:tcPr marL="73152" marT="18288" marB="18288">
                    <a:solidFill>
                      <a:srgbClr val="FFFFFF"/>
                    </a:solidFill>
                  </a:tcPr>
                </a:tc>
              </a:tr>
              <a:tr h="504825">
                <a:tc>
                  <a:txBody>
                    <a:bodyPr/>
                    <a:lstStyle/>
                    <a:p>
                      <a:r>
                        <a:rPr sz="2700">
                          <a:solidFill>
                            <a:srgbClr val="222222"/>
                          </a:solidFill>
                          <a:latin typeface="Calibri"/>
                        </a:rPr>
                        <a:t>1:50</a:t>
                      </a:r>
                    </a:p>
                  </a:txBody>
                  <a:tcPr marL="73152" marT="18288" marB="18288">
                    <a:solidFill>
                      <a:srgbClr val="EEF3F8"/>
                    </a:solidFill>
                  </a:tcPr>
                </a:tc>
                <a:tc>
                  <a:txBody>
                    <a:bodyPr/>
                    <a:lstStyle/>
                    <a:p>
                      <a:r>
                        <a:rPr sz="2700">
                          <a:solidFill>
                            <a:srgbClr val="222222"/>
                          </a:solidFill>
                          <a:latin typeface="Calibri"/>
                        </a:rPr>
                        <a:t>Upload a5b_ina219_current. Measure a motor</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Current signatures, and the self-test state machine</a:t>
                      </a:r>
                    </a:p>
                  </a:txBody>
                  <a:tcPr marL="73152" marT="18288" marB="18288">
                    <a:solidFill>
                      <a:srgbClr val="EEF3F8"/>
                    </a:solidFill>
                  </a:tcPr>
                </a:tc>
              </a:tr>
              <a:tr h="504825">
                <a:tc>
                  <a:txBody>
                    <a:bodyPr/>
                    <a:lstStyle/>
                    <a:p>
                      <a:r>
                        <a:rPr sz="2700">
                          <a:solidFill>
                            <a:srgbClr val="222222"/>
                          </a:solidFill>
                          <a:latin typeface="Calibri"/>
                        </a:rPr>
                        <a:t>2:50</a:t>
                      </a:r>
                    </a:p>
                  </a:txBody>
                  <a:tcPr marL="73152" marT="18288" marB="18288">
                    <a:solidFill>
                      <a:srgbClr val="FFFFFF"/>
                    </a:solidFill>
                  </a:tcPr>
                </a:tc>
                <a:tc>
                  <a:txBody>
                    <a:bodyPr/>
                    <a:lstStyle/>
                    <a:p>
                      <a:r>
                        <a:rPr sz="2700">
                          <a:solidFill>
                            <a:srgbClr val="222222"/>
                          </a:solidFill>
                          <a:latin typeface="Calibri"/>
                        </a:rPr>
                        <a:t>Adding a subsystem of your own, properly</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I2C in ten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wires, 120 possible devices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Two wires, SDA and SCL, shared by every device on the bus.</a:t>
            </a:r>
          </a:p>
          <a:p>
            <a:pPr algn="l">
              <a:lnSpc>
                <a:spcPct val="100000"/>
              </a:lnSpc>
              <a:spcAft>
                <a:spcPts val="600"/>
              </a:spcAft>
              <a:defRPr sz="2700" b="0">
                <a:solidFill>
                  <a:srgbClr val="222222"/>
                </a:solidFill>
                <a:latin typeface="Calibri"/>
              </a:defRPr>
            </a:pPr>
            <a:r>
              <a:rPr sz="2700" b="0">
                <a:solidFill>
                  <a:srgbClr val="222222"/>
                </a:solidFill>
                <a:latin typeface="Calibri"/>
              </a:rPr>
              <a:t>Each device answers to a 7-bit address. 0x00-0x07 and 0x78-0x7F are reserved, leaving 0x08 to 0x77 to scan.</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 TEST an address you start a transmission to it and end it immediately, sending no data. If a device is there it pulls SDA low to acknowledge:</a:t>
            </a:r>
          </a:p>
          <a:p>
            <a:pPr lvl="1" algn="l">
              <a:lnSpc>
                <a:spcPct val="100000"/>
              </a:lnSpc>
              <a:spcAft>
                <a:spcPts val="600"/>
              </a:spcAft>
              <a:defRPr sz="2700" b="0">
                <a:solidFill>
                  <a:srgbClr val="222222"/>
                </a:solidFill>
                <a:latin typeface="Calibri"/>
              </a:defRPr>
            </a:pPr>
            <a:r>
              <a:rPr sz="2700" b="0">
                <a:solidFill>
                  <a:srgbClr val="222222"/>
                </a:solidFill>
                <a:latin typeface="Calibri"/>
              </a:rPr>
              <a:t>0  acknowledged - something is there</a:t>
            </a:r>
          </a:p>
          <a:p>
            <a:pPr lvl="1" algn="l">
              <a:lnSpc>
                <a:spcPct val="100000"/>
              </a:lnSpc>
              <a:spcAft>
                <a:spcPts val="600"/>
              </a:spcAft>
              <a:defRPr sz="2700" b="0">
                <a:solidFill>
                  <a:srgbClr val="222222"/>
                </a:solidFill>
                <a:latin typeface="Calibri"/>
              </a:defRPr>
            </a:pPr>
            <a:r>
              <a:rPr sz="2700" b="0">
                <a:solidFill>
                  <a:srgbClr val="222222"/>
                </a:solidFill>
                <a:latin typeface="Calibri"/>
              </a:rPr>
              <a:t>2  no acknowledge for the address - nothing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I2C in ten lines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PULL-UP RESISTORS. I2C devices can only pull a line DOWN. Something has to pull it back up, and that is a pair of resistors to 3.3 V, usually 4.7k. On the Pathfinder they are on the control board.</a:t>
            </a:r>
          </a:p>
          <a:p>
            <a:pPr algn="l">
              <a:lnSpc>
                <a:spcPct val="100000"/>
              </a:lnSpc>
              <a:spcAft>
                <a:spcPts val="600"/>
              </a:spcAft>
              <a:defRPr sz="26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A scan that returns absolutely nothing on EVERY address is the classic symptom of a missing pull-up. That matters the moment you add your own sensor on the breadboard.</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On this board I2C is on GPIO 32 and 33, not the ESP32 defaults. GPIO 34-39 are input-only and cannot drive a bus at all.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I2C</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Finding the sensor</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8057692" y="2240280"/>
            <a:ext cx="3631082"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Measuring a motor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find the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a5a_i2c_scan</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to a Gen 3 vehicle. You should find 0x40.</a:t>
            </a:r>
          </a:p>
          <a:p>
            <a:pPr algn="l">
              <a:lnSpc>
                <a:spcPct val="100000"/>
              </a:lnSpc>
              <a:spcAft>
                <a:spcPts val="800"/>
              </a:spcAft>
              <a:defRPr sz="1800" b="0">
                <a:solidFill>
                  <a:srgbClr val="222222"/>
                </a:solidFill>
                <a:latin typeface="Calibri"/>
              </a:defRPr>
            </a:pPr>
            <a:r>
              <a:rPr sz="1800" b="0">
                <a:solidFill>
                  <a:srgbClr val="222222"/>
                </a:solidFill>
                <a:latin typeface="Calibri"/>
              </a:rPr>
              <a:t>2.  Upload it to a Gen 2 vehicle. You should find nothing, and that is the CORRECT answer.</a:t>
            </a:r>
          </a:p>
          <a:p>
            <a:pPr algn="l">
              <a:lnSpc>
                <a:spcPct val="100000"/>
              </a:lnSpc>
              <a:spcAft>
                <a:spcPts val="800"/>
              </a:spcAft>
              <a:defRPr sz="1800" b="0">
                <a:solidFill>
                  <a:srgbClr val="222222"/>
                </a:solidFill>
                <a:latin typeface="Calibri"/>
              </a:defRPr>
            </a:pPr>
            <a:r>
              <a:rPr sz="1800" b="0">
                <a:solidFill>
                  <a:srgbClr val="222222"/>
                </a:solidFill>
                <a:latin typeface="Calibri"/>
              </a:rPr>
              <a:t>3.  Type  watch, then unplug the sensor. How quickly does it notice?</a:t>
            </a:r>
          </a:p>
          <a:p>
            <a:pPr algn="l">
              <a:lnSpc>
                <a:spcPct val="100000"/>
              </a:lnSpc>
              <a:spcAft>
                <a:spcPts val="800"/>
              </a:spcAft>
              <a:defRPr sz="1800" b="0">
                <a:solidFill>
                  <a:srgbClr val="222222"/>
                </a:solidFill>
                <a:latin typeface="Calibri"/>
              </a:defRPr>
            </a:pPr>
            <a:r>
              <a:rPr sz="1800" b="0">
                <a:solidFill>
                  <a:srgbClr val="222222"/>
                </a:solidFill>
                <a:latin typeface="Calibri"/>
              </a:rPr>
              <a:t>4.  Try  pins 21 22, the ESP32 defaults. Does the sensor still answer? Why not?</a:t>
            </a:r>
          </a:p>
          <a:p>
            <a:pPr algn="l">
              <a:lnSpc>
                <a:spcPct val="100000"/>
              </a:lnSpc>
              <a:spcAft>
                <a:spcPts val="800"/>
              </a:spcAft>
              <a:defRPr sz="1800" b="0">
                <a:solidFill>
                  <a:srgbClr val="222222"/>
                </a:solidFill>
                <a:latin typeface="Calibri"/>
              </a:defRPr>
            </a:pPr>
            <a:r>
              <a:rPr sz="1800" b="0">
                <a:solidFill>
                  <a:srgbClr val="222222"/>
                </a:solidFill>
                <a:latin typeface="Calibri"/>
              </a:rPr>
              <a:t>5.  Try  pins 34 35. Read what the sketch tells you.</a:t>
            </a:r>
          </a:p>
          <a:p>
            <a:pPr algn="l">
              <a:lnSpc>
                <a:spcPct val="100000"/>
              </a:lnSpc>
              <a:spcAft>
                <a:spcPts val="800"/>
              </a:spcAft>
              <a:defRPr sz="1800" b="0">
                <a:solidFill>
                  <a:srgbClr val="222222"/>
                </a:solidFill>
                <a:latin typeface="Calibri"/>
              </a:defRPr>
            </a:pPr>
            <a:r>
              <a:rPr sz="1800" b="0">
                <a:solidFill>
                  <a:srgbClr val="222222"/>
                </a:solidFill>
                <a:latin typeface="Calibri"/>
              </a:rPr>
              <a:t>6.  If you have a spare I2C sensor, wire it on the breadboard and find its address.</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600"/>
              </a:spcAft>
              <a:defRPr sz="2800" b="0">
                <a:solidFill>
                  <a:srgbClr val="222222"/>
                </a:solidFill>
                <a:latin typeface="Calibri"/>
              </a:defRPr>
            </a:pPr>
            <a:r>
              <a:rPr sz="2800" b="0">
                <a:solidFill>
                  <a:srgbClr val="222222"/>
                </a:solidFill>
                <a:latin typeface="Calibri"/>
              </a:rPr>
              <a:t>Gen 3: one device at 0x40, named. Gen 2: nothing, with an explanation of why that is fine.</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This is exactly what is_ina219_present() does in Op 12. What decision does the program make from the answer?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Measuring current without getting in the way of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tiny resistor, and Ohm's law</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You cannot measure current directly. What the INA219 does is put a very small known resistor - a SHUNT - in the path and measure the voltage across it. Ohm's law does the rest:</a:t>
            </a:r>
          </a:p>
          <a:p>
            <a:pPr lvl="1" algn="l">
              <a:lnSpc>
                <a:spcPct val="100000"/>
              </a:lnSpc>
              <a:spcAft>
                <a:spcPts val="900"/>
              </a:spcAft>
              <a:defRPr sz="2000" b="0">
                <a:solidFill>
                  <a:srgbClr val="222222"/>
                </a:solidFill>
                <a:latin typeface="Calibri"/>
              </a:defRPr>
            </a:pPr>
            <a:r>
              <a:rPr sz="2000" b="0">
                <a:solidFill>
                  <a:srgbClr val="222222"/>
                </a:solidFill>
                <a:latin typeface="Calibri"/>
              </a:rPr>
              <a:t>I = V / R</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The shunt on this board is 0.0025 ohms. So two amps drops:</a:t>
            </a:r>
          </a:p>
          <a:p>
            <a:pPr lvl="1" algn="l">
              <a:lnSpc>
                <a:spcPct val="100000"/>
              </a:lnSpc>
              <a:spcAft>
                <a:spcPts val="900"/>
              </a:spcAft>
              <a:defRPr sz="2000" b="0">
                <a:solidFill>
                  <a:srgbClr val="222222"/>
                </a:solidFill>
                <a:latin typeface="Calibri"/>
              </a:defRPr>
            </a:pPr>
            <a:r>
              <a:rPr sz="2000" b="0">
                <a:solidFill>
                  <a:srgbClr val="222222"/>
                </a:solidFill>
                <a:latin typeface="Calibri"/>
              </a:rPr>
              <a:t>V = 2 A x 0.0025 ohm = 0.005 V,  five millivolts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That is deliberate. A bigger resistor would be easier to read, but it would waste power and steal voltage from the motors:</a:t>
            </a:r>
          </a:p>
          <a:p>
            <a:pPr lvl="1" algn="l">
              <a:lnSpc>
                <a:spcPct val="100000"/>
              </a:lnSpc>
              <a:spcAft>
                <a:spcPts val="900"/>
              </a:spcAft>
              <a:defRPr sz="2000" b="0">
                <a:solidFill>
                  <a:srgbClr val="222222"/>
                </a:solidFill>
                <a:latin typeface="Calibri"/>
              </a:defRPr>
            </a:pPr>
            <a:r>
              <a:rPr sz="2000" b="0">
                <a:solidFill>
                  <a:srgbClr val="222222"/>
                </a:solidFill>
                <a:latin typeface="Calibri"/>
              </a:rPr>
              <a:t>P = I^2 x R = 4 x 0.0025 = 0.01 W  at 0.0025 ohm</a:t>
            </a:r>
          </a:p>
          <a:p>
            <a:pPr lvl="1" algn="l">
              <a:lnSpc>
                <a:spcPct val="100000"/>
              </a:lnSpc>
              <a:spcAft>
                <a:spcPts val="900"/>
              </a:spcAft>
              <a:defRPr sz="2000" b="0">
                <a:solidFill>
                  <a:srgbClr val="222222"/>
                </a:solidFill>
                <a:latin typeface="Calibri"/>
              </a:defRPr>
            </a:pPr>
            <a:r>
              <a:rPr sz="2000" b="0">
                <a:solidFill>
                  <a:srgbClr val="222222"/>
                </a:solidFill>
                <a:latin typeface="Calibri"/>
              </a:rPr>
              <a:t>P = I^2 x R = 4 x 0.1    = 0.4 W   at 0.1 ohm</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Reading five millivolts accurately is the sensor's entire job. The shunt register reports in units of 10 microvolts, which is where the 0.01 in the maths comes from.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two relationships the whole lesson rests 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Driving a chip with no library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Sensors.ino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uint16_t ina219_read16(uint8_t reg) {</a:t>
            </a:r>
          </a:p>
          <a:p>
            <a:pPr algn="l">
              <a:lnSpc>
                <a:spcPct val="100000"/>
              </a:lnSpc>
              <a:spcAft>
                <a:spcPts val="0"/>
              </a:spcAft>
              <a:defRPr sz="1400">
                <a:latin typeface="Consolas"/>
              </a:defRPr>
            </a:pPr>
            <a:r>
              <a:rPr sz="1400">
                <a:solidFill>
                  <a:srgbClr val="222222"/>
                </a:solidFill>
                <a:latin typeface="Consolas"/>
              </a:rPr>
              <a:t>  Wire.beginTransmission(INA219_I2C_ADDR);</a:t>
            </a:r>
          </a:p>
          <a:p>
            <a:pPr algn="l">
              <a:lnSpc>
                <a:spcPct val="100000"/>
              </a:lnSpc>
              <a:spcAft>
                <a:spcPts val="0"/>
              </a:spcAft>
              <a:defRPr sz="1400">
                <a:latin typeface="Consolas"/>
              </a:defRPr>
            </a:pPr>
            <a:r>
              <a:rPr sz="1400">
                <a:solidFill>
                  <a:srgbClr val="222222"/>
                </a:solidFill>
                <a:latin typeface="Consolas"/>
              </a:rPr>
              <a:t>  Wire.write(reg);</a:t>
            </a:r>
          </a:p>
          <a:p>
            <a:pPr algn="l">
              <a:lnSpc>
                <a:spcPct val="100000"/>
              </a:lnSpc>
              <a:spcAft>
                <a:spcPts val="0"/>
              </a:spcAft>
              <a:defRPr sz="1400">
                <a:latin typeface="Consolas"/>
              </a:defRPr>
            </a:pPr>
            <a:r>
              <a:rPr sz="1400" b="1">
                <a:solidFill>
                  <a:srgbClr val="0E7C86"/>
                </a:solidFill>
                <a:latin typeface="Consolas"/>
              </a:rPr>
              <a:t>  Wire.endTransmission(false);   // REPEATED START, keep the bus</a:t>
            </a:r>
          </a:p>
          <a:p>
            <a:pPr algn="l">
              <a:lnSpc>
                <a:spcPct val="100000"/>
              </a:lnSpc>
              <a:spcAft>
                <a:spcPts val="0"/>
              </a:spcAft>
              <a:defRPr sz="1400">
                <a:latin typeface="Consolas"/>
              </a:defRPr>
            </a:pPr>
            <a:r>
              <a:rPr sz="1400">
                <a:solidFill>
                  <a:srgbClr val="222222"/>
                </a:solidFill>
                <a:latin typeface="Consolas"/>
              </a:rPr>
              <a:t>  Wire.requestFrom((uint8_t)INA219_I2C_ADDR, (uint8_t)2);</a:t>
            </a:r>
          </a:p>
          <a:p>
            <a:pPr algn="l">
              <a:lnSpc>
                <a:spcPct val="100000"/>
              </a:lnSpc>
              <a:spcAft>
                <a:spcPts val="0"/>
              </a:spcAft>
              <a:defRPr sz="1400">
                <a:latin typeface="Consolas"/>
              </a:defRPr>
            </a:pPr>
            <a:r>
              <a:rPr sz="1400">
                <a:solidFill>
                  <a:srgbClr val="222222"/>
                </a:solidFill>
                <a:latin typeface="Consolas"/>
              </a:rPr>
              <a:t>  return Wire.available() &gt;= 2 ? (Wire.read() &lt;&lt; 8) | Wire.read() : 0;</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float readCurrentAmps() {</a:t>
            </a:r>
          </a:p>
          <a:p>
            <a:pPr algn="l">
              <a:lnSpc>
                <a:spcPct val="100000"/>
              </a:lnSpc>
              <a:spcAft>
                <a:spcPts val="0"/>
              </a:spcAft>
              <a:defRPr sz="1400">
                <a:latin typeface="Consolas"/>
              </a:defRPr>
            </a:pPr>
            <a:r>
              <a:rPr sz="1400" b="1">
                <a:solidFill>
                  <a:srgbClr val="0E7C86"/>
                </a:solidFill>
                <a:latin typeface="Consolas"/>
              </a:rPr>
              <a:t>  int16_t raw = (int16_t)ina219_read16(0x01);   // shunt reg, SIGNED</a:t>
            </a:r>
          </a:p>
          <a:p>
            <a:pPr algn="l">
              <a:lnSpc>
                <a:spcPct val="100000"/>
              </a:lnSpc>
              <a:spcAft>
                <a:spcPts val="0"/>
              </a:spcAft>
              <a:defRPr sz="1400">
                <a:latin typeface="Consolas"/>
              </a:defRPr>
            </a:pPr>
            <a:r>
              <a:rPr sz="1400">
                <a:solidFill>
                  <a:srgbClr val="222222"/>
                </a:solidFill>
                <a:latin typeface="Consolas"/>
              </a:rPr>
              <a:t>  return (raw * 0.01f) / (SHUNT_RESISTOR_OHMS * 1000.0f);</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float readBusVolts() {</a:t>
            </a:r>
          </a:p>
          <a:p>
            <a:pPr algn="l">
              <a:lnSpc>
                <a:spcPct val="100000"/>
              </a:lnSpc>
              <a:spcAft>
                <a:spcPts val="0"/>
              </a:spcAft>
              <a:defRPr sz="1400">
                <a:latin typeface="Consolas"/>
              </a:defRPr>
            </a:pPr>
            <a:r>
              <a:rPr sz="1400">
                <a:solidFill>
                  <a:srgbClr val="222222"/>
                </a:solidFill>
                <a:latin typeface="Consolas"/>
              </a:rPr>
              <a:t>  uint16_t value = ina219_read16(0x02);</a:t>
            </a:r>
          </a:p>
          <a:p>
            <a:pPr algn="l">
              <a:lnSpc>
                <a:spcPct val="100000"/>
              </a:lnSpc>
              <a:spcAft>
                <a:spcPts val="0"/>
              </a:spcAft>
              <a:defRPr sz="1400">
                <a:latin typeface="Consolas"/>
              </a:defRPr>
            </a:pPr>
            <a:r>
              <a:rPr sz="1400">
                <a:solidFill>
                  <a:srgbClr val="222222"/>
                </a:solidFill>
                <a:latin typeface="Consolas"/>
              </a:rPr>
              <a:t>  return (float)((value &gt;&gt; 3) * 4) * 0.001f;   // top 13 bits, 4 mV/count</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endTransmission(FALSE) is a repeated start. A full stop would let another master grab the bus mid-read.</a:t>
            </a:r>
          </a:p>
          <a:p>
            <a:pPr algn="l">
              <a:lnSpc>
                <a:spcPct val="100000"/>
              </a:lnSpc>
              <a:spcAft>
                <a:spcPts val="700"/>
              </a:spcAft>
              <a:defRPr sz="2100" b="0">
                <a:solidFill>
                  <a:srgbClr val="222222"/>
                </a:solidFill>
                <a:latin typeface="Calibri"/>
              </a:defRPr>
            </a:pPr>
            <a:r>
              <a:rPr sz="2100" b="0">
                <a:solidFill>
                  <a:srgbClr val="222222"/>
                </a:solidFill>
                <a:latin typeface="Calibri"/>
              </a:rPr>
              <a:t>The shunt register is SIGNED. Read it unsigned and every braking current becomes a huge positive number.</a:t>
            </a:r>
          </a:p>
          <a:p>
            <a:pPr algn="l">
              <a:lnSpc>
                <a:spcPct val="100000"/>
              </a:lnSpc>
              <a:spcAft>
                <a:spcPts val="700"/>
              </a:spcAft>
              <a:defRPr sz="2100" b="0">
                <a:solidFill>
                  <a:srgbClr val="222222"/>
                </a:solidFill>
                <a:latin typeface="Calibri"/>
              </a:defRPr>
            </a:pPr>
            <a:r>
              <a:rPr sz="2100" b="0">
                <a:solidFill>
                  <a:srgbClr val="222222"/>
                </a:solidFill>
                <a:latin typeface="Calibri"/>
              </a:rPr>
              <a:t>Bus voltage sits in the top 13 bits, so it is shifted down.</a:t>
            </a:r>
          </a:p>
          <a:p>
            <a:pPr algn="l">
              <a:lnSpc>
                <a:spcPct val="100000"/>
              </a:lnSpc>
              <a:spcAft>
                <a:spcPts val="700"/>
              </a:spcAft>
              <a:defRPr sz="2100" b="0">
                <a:solidFill>
                  <a:srgbClr val="222222"/>
                </a:solidFill>
                <a:latin typeface="Calibri"/>
              </a:defRPr>
            </a:pPr>
            <a:r>
              <a:rPr sz="2100" b="0">
                <a:solidFill>
                  <a:srgbClr val="222222"/>
                </a:solidFill>
                <a:latin typeface="Calibri"/>
              </a:rPr>
              <a:t>Forty lines of your own beats a library you cannot read.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I2C</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Finding the sensor</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8057692"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Measuring a motor</a:t>
            </a:r>
          </a:p>
        </p:txBody>
      </p:sp>
      <p:sp>
        <p:nvSpPr>
          <p:cNvPr id="11" name="TextBox 10"/>
          <p:cNvSpPr txBox="1"/>
          <p:nvPr/>
        </p:nvSpPr>
        <p:spPr>
          <a:xfrm>
            <a:off x="8057692"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a motor costs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a5b_ina219_current</a:t>
            </a:r>
            <a:r>
              <a:rPr sz="1200">
                <a:solidFill>
                  <a:srgbClr val="FFFFFF"/>
                </a:solidFill>
                <a:latin typeface="Calibri"/>
              </a:rPr>
              <a:t>     (35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baseline  with everything off. Now switch the headlights on and take another. Where did the difference go?</a:t>
            </a:r>
          </a:p>
          <a:p>
            <a:pPr algn="l">
              <a:lnSpc>
                <a:spcPct val="100000"/>
              </a:lnSpc>
              <a:spcAft>
                <a:spcPts val="800"/>
              </a:spcAft>
              <a:defRPr sz="1800" b="0">
                <a:solidFill>
                  <a:srgbClr val="222222"/>
                </a:solidFill>
                <a:latin typeface="Calibri"/>
              </a:defRPr>
            </a:pPr>
            <a:r>
              <a:rPr sz="1800" b="0">
                <a:solidFill>
                  <a:srgbClr val="222222"/>
                </a:solidFill>
                <a:latin typeface="Calibri"/>
              </a:rPr>
              <a:t>2.  spin 0  with the wheel free. Then HOLD the wheel and do it again. Compare peak and average.</a:t>
            </a:r>
          </a:p>
          <a:p>
            <a:pPr algn="l">
              <a:lnSpc>
                <a:spcPct val="100000"/>
              </a:lnSpc>
              <a:spcAft>
                <a:spcPts val="800"/>
              </a:spcAft>
              <a:defRPr sz="1800" b="0">
                <a:solidFill>
                  <a:srgbClr val="222222"/>
                </a:solidFill>
                <a:latin typeface="Calibri"/>
              </a:defRPr>
            </a:pPr>
            <a:r>
              <a:rPr sz="1800" b="0">
                <a:solidFill>
                  <a:srgbClr val="222222"/>
                </a:solidFill>
                <a:latin typeface="Calibri"/>
              </a:rPr>
              <a:t>3.  Unplug one motor and run  test. Which numbers give it away?</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A clear spike then a settle for a healthy motor. Almost nothing for a disconnected one. A high draw that never settles for a jammed one.</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What is your vehicle's resting current?</a:t>
            </a:r>
          </a:p>
          <a:p>
            <a:pPr algn="l">
              <a:lnSpc>
                <a:spcPct val="100000"/>
              </a:lnSpc>
              <a:spcAft>
                <a:spcPts val="300"/>
              </a:spcAft>
              <a:defRPr sz="2600" b="0">
                <a:solidFill>
                  <a:srgbClr val="222222"/>
                </a:solidFill>
                <a:latin typeface="Calibri"/>
              </a:defRPr>
            </a:pPr>
            <a:r>
              <a:rPr sz="2600" b="0">
                <a:solidFill>
                  <a:srgbClr val="222222"/>
                </a:solidFill>
                <a:latin typeface="Calibri"/>
              </a:rPr>
              <a:t>How long will your battery last at your measured average?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a motor costs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a5b_ina219_current</a:t>
            </a:r>
          </a:p>
        </p:txBody>
      </p:sp>
      <p:sp>
        <p:nvSpPr>
          <p:cNvPr id="7" name="TextBox 6"/>
          <p:cNvSpPr txBox="1"/>
          <p:nvPr/>
        </p:nvSpPr>
        <p:spPr>
          <a:xfrm>
            <a:off x="502920" y="1901952"/>
            <a:ext cx="11185855" cy="317296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4.  regs  - read the raw registers and check them against the datasheet values in the comments.</a:t>
            </a:r>
          </a:p>
          <a:p>
            <a:pPr algn="l">
              <a:lnSpc>
                <a:spcPct val="100000"/>
              </a:lnSpc>
              <a:spcAft>
                <a:spcPts val="800"/>
              </a:spcAft>
              <a:defRPr sz="1800" b="0">
                <a:solidFill>
                  <a:srgbClr val="222222"/>
                </a:solidFill>
                <a:latin typeface="Calibri"/>
              </a:defRPr>
            </a:pPr>
            <a:r>
              <a:rPr sz="1800" b="0">
                <a:solidFill>
                  <a:srgbClr val="222222"/>
                </a:solidFill>
                <a:latin typeface="Calibri"/>
              </a:rPr>
              <a:t>5.  Work out how long a 3300 mAh pack lasts at the average you measured while driving.</a:t>
            </a:r>
          </a:p>
          <a:p>
            <a:pPr algn="l">
              <a:lnSpc>
                <a:spcPct val="100000"/>
              </a:lnSpc>
              <a:spcAft>
                <a:spcPts val="800"/>
              </a:spcAft>
              <a:defRPr sz="1800" b="0">
                <a:solidFill>
                  <a:srgbClr val="222222"/>
                </a:solidFill>
                <a:latin typeface="Calibri"/>
              </a:defRPr>
            </a:pPr>
            <a:r>
              <a:rPr sz="1800" b="0">
                <a:solidFill>
                  <a:srgbClr val="222222"/>
                </a:solidFill>
                <a:latin typeface="Calibri"/>
              </a:rPr>
              <a:t>6.  Compare that with the LED power budget from the beginner course. Which dominates?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The test drives every motor at full power.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the current sensor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Everything in this lesson depends on one small part that only Gen 3 vehicles carry. Find it before you write code that assumes it.</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Gen 3, looking down through the lexan top plate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the INA219 on a Gen 3 board, close up</a:t>
            </a:r>
          </a:p>
          <a:p>
            <a:pPr algn="ctr">
              <a:lnSpc>
                <a:spcPct val="100000"/>
              </a:lnSpc>
              <a:spcAft>
                <a:spcPts val="700"/>
              </a:spcAft>
              <a:defRPr sz="1600" b="0">
                <a:solidFill>
                  <a:srgbClr val="0E7C86"/>
                </a:solidFill>
                <a:latin typeface="Calibri"/>
              </a:defRPr>
            </a:pPr>
            <a:r>
              <a:rPr sz="1600" b="0">
                <a:solidFill>
                  <a:srgbClr val="0E7C86"/>
                </a:solidFill>
                <a:latin typeface="Calibri"/>
              </a:rPr>
              <a:t>Close enough to read the part, with the shunt and the two I2C wires to GPIO 32 and 33 visible.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INA219, and the shunt it measures across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healthy motor looks like to a current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ectangle 5"/>
          <p:cNvSpPr/>
          <p:nvPr/>
        </p:nvSpPr>
        <p:spPr>
          <a:xfrm>
            <a:off x="1554480" y="1645920"/>
            <a:ext cx="3017520" cy="192024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cxnSp>
        <p:nvCxnSpPr>
          <p:cNvPr id="7" name="Connector 6"/>
          <p:cNvCxnSpPr/>
          <p:nvPr/>
        </p:nvCxnSpPr>
        <p:spPr>
          <a:xfrm>
            <a:off x="155448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554480" y="3424831"/>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85554" y="1887871"/>
            <a:ext cx="431074" cy="153696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16628" y="1887871"/>
            <a:ext cx="431074" cy="582985"/>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7702" y="2470856"/>
            <a:ext cx="431074" cy="300325"/>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278776" y="2771181"/>
            <a:ext cx="431074" cy="88331"/>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709850" y="2859512"/>
            <a:ext cx="431074" cy="35333"/>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40924" y="2894845"/>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55448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HEALTHY</a:t>
            </a:r>
          </a:p>
        </p:txBody>
      </p:sp>
      <p:sp>
        <p:nvSpPr>
          <p:cNvPr id="16" name="TextBox 15"/>
          <p:cNvSpPr txBox="1"/>
          <p:nvPr/>
        </p:nvSpPr>
        <p:spPr>
          <a:xfrm>
            <a:off x="1554480" y="3657600"/>
            <a:ext cx="301752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spikes as it breaks away,</a:t>
            </a:r>
          </a:p>
          <a:p>
            <a:pPr algn="ctr">
              <a:lnSpc>
                <a:spcPct val="100000"/>
              </a:lnSpc>
              <a:spcAft>
                <a:spcPts val="0"/>
              </a:spcAft>
              <a:defRPr sz="1800" b="0">
                <a:solidFill>
                  <a:srgbClr val="222222"/>
                </a:solidFill>
                <a:latin typeface="Calibri"/>
              </a:defRPr>
            </a:pPr>
            <a:r>
              <a:rPr sz="1800" b="0">
                <a:solidFill>
                  <a:srgbClr val="222222"/>
                </a:solidFill>
                <a:latin typeface="Calibri"/>
              </a:rPr>
              <a:t>then settles</a:t>
            </a:r>
          </a:p>
        </p:txBody>
      </p:sp>
      <p:sp>
        <p:nvSpPr>
          <p:cNvPr id="17" name="Rectangle 16"/>
          <p:cNvSpPr/>
          <p:nvPr/>
        </p:nvSpPr>
        <p:spPr>
          <a:xfrm>
            <a:off x="5029200" y="1645920"/>
            <a:ext cx="3017520" cy="1920240"/>
          </a:xfrm>
          <a:prstGeom prst="rect">
            <a:avLst/>
          </a:prstGeom>
          <a:solidFill>
            <a:srgbClr val="E8ECF0"/>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cxnSp>
        <p:nvCxnSpPr>
          <p:cNvPr id="18" name="Connector 17"/>
          <p:cNvCxnSpPr/>
          <p:nvPr/>
        </p:nvCxnSpPr>
        <p:spPr>
          <a:xfrm>
            <a:off x="502920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029200" y="346016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5460274" y="3424831"/>
            <a:ext cx="431074" cy="35332"/>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891348" y="3424831"/>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322422"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753496"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184570"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15644" y="346016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02920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DISCONNECTED</a:t>
            </a:r>
          </a:p>
        </p:txBody>
      </p:sp>
      <p:sp>
        <p:nvSpPr>
          <p:cNvPr id="27" name="TextBox 26"/>
          <p:cNvSpPr txBox="1"/>
          <p:nvPr/>
        </p:nvSpPr>
        <p:spPr>
          <a:xfrm>
            <a:off x="5029200" y="36576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no spike, almost no draw</a:t>
            </a:r>
          </a:p>
        </p:txBody>
      </p:sp>
      <p:sp>
        <p:nvSpPr>
          <p:cNvPr id="28" name="Rectangle 27"/>
          <p:cNvSpPr/>
          <p:nvPr/>
        </p:nvSpPr>
        <p:spPr>
          <a:xfrm>
            <a:off x="8503920" y="1645920"/>
            <a:ext cx="3017520" cy="192024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cxnSp>
        <p:nvCxnSpPr>
          <p:cNvPr id="29" name="Connector 28"/>
          <p:cNvCxnSpPr/>
          <p:nvPr/>
        </p:nvCxnSpPr>
        <p:spPr>
          <a:xfrm>
            <a:off x="850392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503920" y="3424831"/>
            <a:ext cx="431074" cy="0"/>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934994" y="1834872"/>
            <a:ext cx="431074" cy="1589959"/>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366068" y="1834872"/>
            <a:ext cx="431074" cy="52999"/>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97142" y="1887871"/>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0228216" y="1870205"/>
            <a:ext cx="431074" cy="35332"/>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659290" y="1870205"/>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1090364" y="1887871"/>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50392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JAMMED</a:t>
            </a:r>
          </a:p>
        </p:txBody>
      </p:sp>
      <p:sp>
        <p:nvSpPr>
          <p:cNvPr id="38" name="TextBox 37"/>
          <p:cNvSpPr txBox="1"/>
          <p:nvPr/>
        </p:nvSpPr>
        <p:spPr>
          <a:xfrm>
            <a:off x="8503920" y="3657600"/>
            <a:ext cx="3017520" cy="6466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draws a lot and never settles</a:t>
            </a:r>
          </a:p>
        </p:txBody>
      </p:sp>
      <p:sp>
        <p:nvSpPr>
          <p:cNvPr id="39" name="TextBox 38"/>
          <p:cNvSpPr txBox="1"/>
          <p:nvPr/>
        </p:nvSpPr>
        <p:spPr>
          <a:xfrm>
            <a:off x="502920" y="3255264"/>
            <a:ext cx="96012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baseline</a:t>
            </a:r>
          </a:p>
        </p:txBody>
      </p:sp>
      <p:sp>
        <p:nvSpPr>
          <p:cNvPr id="40" name="Rectangle 39"/>
          <p:cNvSpPr/>
          <p:nvPr/>
        </p:nvSpPr>
        <p:spPr>
          <a:xfrm>
            <a:off x="502920" y="4297680"/>
            <a:ext cx="11185855" cy="73152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Both thresholds are measured ABOVE the baseline that was just taken, not as absolute amps:</a:t>
            </a:r>
          </a:p>
          <a:p>
            <a:pPr algn="l">
              <a:lnSpc>
                <a:spcPct val="100000"/>
              </a:lnSpc>
              <a:spcAft>
                <a:spcPts val="0"/>
              </a:spcAft>
              <a:defRPr sz="1400" b="0">
                <a:solidFill>
                  <a:srgbClr val="222222"/>
                </a:solidFill>
                <a:latin typeface="Consolas"/>
              </a:defRPr>
            </a:pPr>
            <a:r>
              <a:rPr sz="1400" b="0">
                <a:solidFill>
                  <a:srgbClr val="222222"/>
                </a:solidFill>
                <a:latin typeface="Consolas"/>
              </a:rPr>
              <a:t>peak - baseline &gt;= 1.500 A     AND     average - baseline &gt;= 1.000 A</a:t>
            </a:r>
          </a:p>
        </p:txBody>
      </p:sp>
      <p:sp>
        <p:nvSpPr>
          <p:cNvPr id="41" name="Rounded Rectangle 4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Op 11.2 measured a baseline, printed it, then compared against fixed absolutes anyway - so a vehicle idling at half an amp failed every motor. Op 12 fixed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self-test as a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Five states, no blocking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2900" b="0">
                <a:solidFill>
                  <a:srgbClr val="222222"/>
                </a:solidFill>
                <a:latin typeface="Calibri"/>
              </a:defRPr>
            </a:pPr>
            <a:r>
              <a:rPr sz="2900" b="0">
                <a:solidFill>
                  <a:srgbClr val="222222"/>
                </a:solidFill>
                <a:latin typeface="Calibri"/>
              </a:rPr>
              <a:t>Jumper GPIO 34 high at boot. Each motor is driven forward then reverse while the current sensor watches.</a:t>
            </a:r>
          </a:p>
          <a:p>
            <a:pPr algn="l">
              <a:lnSpc>
                <a:spcPct val="100000"/>
              </a:lnSpc>
              <a:spcAft>
                <a:spcPts val="900"/>
              </a:spcAft>
              <a:defRPr sz="2900" b="0">
                <a:solidFill>
                  <a:srgbClr val="222222"/>
                </a:solidFill>
                <a:latin typeface="Calibri"/>
              </a:defRPr>
            </a:pPr>
          </a:p>
          <a:p>
            <a:pPr lvl="1" algn="l">
              <a:lnSpc>
                <a:spcPct val="100000"/>
              </a:lnSpc>
              <a:spcAft>
                <a:spcPts val="900"/>
              </a:spcAft>
              <a:defRPr sz="2900" b="0">
                <a:solidFill>
                  <a:srgbClr val="222222"/>
                </a:solidFill>
                <a:latin typeface="Calibri"/>
              </a:defRPr>
            </a:pPr>
            <a:r>
              <a:rPr sz="2900" b="0">
                <a:solidFill>
                  <a:srgbClr val="222222"/>
                </a:solidFill>
                <a:latin typeface="Calibri"/>
              </a:rPr>
              <a:t>CHECK_TRIGGER   wait for the pin to settle, then decide</a:t>
            </a:r>
          </a:p>
          <a:p>
            <a:pPr lvl="1" algn="l">
              <a:lnSpc>
                <a:spcPct val="100000"/>
              </a:lnSpc>
              <a:spcAft>
                <a:spcPts val="900"/>
              </a:spcAft>
              <a:defRPr sz="2900" b="0">
                <a:solidFill>
                  <a:srgbClr val="222222"/>
                </a:solidFill>
                <a:latin typeface="Calibri"/>
              </a:defRPr>
            </a:pPr>
            <a:r>
              <a:rPr sz="2900" b="0">
                <a:solidFill>
                  <a:srgbClr val="222222"/>
                </a:solidFill>
                <a:latin typeface="Calibri"/>
              </a:rPr>
              <a:t>BASELINE_CURRENT  measure the resting draw, motors off</a:t>
            </a:r>
          </a:p>
          <a:p>
            <a:pPr lvl="1" algn="l">
              <a:lnSpc>
                <a:spcPct val="100000"/>
              </a:lnSpc>
              <a:spcAft>
                <a:spcPts val="900"/>
              </a:spcAft>
              <a:defRPr sz="2900" b="0">
                <a:solidFill>
                  <a:srgbClr val="222222"/>
                </a:solidFill>
                <a:latin typeface="Calibri"/>
              </a:defRPr>
            </a:pPr>
            <a:r>
              <a:rPr sz="2900" b="0">
                <a:solidFill>
                  <a:srgbClr val="222222"/>
                </a:solidFill>
                <a:latin typeface="Calibri"/>
              </a:rPr>
              <a:t>RUNNING_TESTS     eight steps: four motors, two directions</a:t>
            </a:r>
          </a:p>
          <a:p>
            <a:pPr lvl="1" algn="l">
              <a:lnSpc>
                <a:spcPct val="100000"/>
              </a:lnSpc>
              <a:spcAft>
                <a:spcPts val="900"/>
              </a:spcAft>
              <a:defRPr sz="2900" b="0">
                <a:solidFill>
                  <a:srgbClr val="222222"/>
                </a:solidFill>
                <a:latin typeface="Calibri"/>
              </a:defRPr>
            </a:pPr>
            <a:r>
              <a:rPr sz="2900" b="0">
                <a:solidFill>
                  <a:srgbClr val="222222"/>
                </a:solidFill>
                <a:latin typeface="Calibri"/>
              </a:rPr>
              <a:t>TEST_RESULT       green blinks for pass, red for fail</a:t>
            </a:r>
          </a:p>
          <a:p>
            <a:pPr lvl="1" algn="l">
              <a:lnSpc>
                <a:spcPct val="100000"/>
              </a:lnSpc>
              <a:spcAft>
                <a:spcPts val="900"/>
              </a:spcAft>
              <a:defRPr sz="2900" b="0">
                <a:solidFill>
                  <a:srgbClr val="222222"/>
                </a:solidFill>
                <a:latin typeface="Calibri"/>
              </a:defRPr>
            </a:pPr>
            <a:r>
              <a:rPr sz="2900" b="0">
                <a:solidFill>
                  <a:srgbClr val="222222"/>
                </a:solidFill>
                <a:latin typeface="Calibri"/>
              </a:rPr>
              <a:t>TEST_DISABLED     hand over to normal driving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self-test as a state machine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It is a state machine driven from loop(), not a blocking routine. So the LEDs keep animating and the serial console keeps responding throughout - and any button press clears the result screen.</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Note GPIO 34 is input-only and has NO internal pull resistors. The board carries an external pull-down. Read a floating input-only pin and you get whatever the room's electrical noise suggests.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test that freezes the machine while it runs is a test nobody will leave enabled.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Diagnostics, and the battery maths you can now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diag  gives you</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Every five seconds, while it is switched on:</a:t>
            </a:r>
          </a:p>
          <a:p>
            <a:pPr lvl="1" algn="l">
              <a:lnSpc>
                <a:spcPct val="100000"/>
              </a:lnSpc>
              <a:spcAft>
                <a:spcPts val="800"/>
              </a:spcAft>
              <a:defRPr sz="1800" b="0">
                <a:solidFill>
                  <a:srgbClr val="222222"/>
                </a:solidFill>
                <a:latin typeface="Calibri"/>
              </a:defRPr>
            </a:pPr>
            <a:r>
              <a:rPr sz="1800" b="0">
                <a:solidFill>
                  <a:srgbClr val="222222"/>
                </a:solidFill>
                <a:latin typeface="Calibri"/>
              </a:rPr>
              <a:t>VBat   - bus voltage, straight from the sensor</a:t>
            </a:r>
          </a:p>
          <a:p>
            <a:pPr lvl="1" algn="l">
              <a:lnSpc>
                <a:spcPct val="100000"/>
              </a:lnSpc>
              <a:spcAft>
                <a:spcPts val="800"/>
              </a:spcAft>
              <a:defRPr sz="1800" b="0">
                <a:solidFill>
                  <a:srgbClr val="222222"/>
                </a:solidFill>
                <a:latin typeface="Calibri"/>
              </a:defRPr>
            </a:pPr>
            <a:r>
              <a:rPr sz="1800" b="0">
                <a:solidFill>
                  <a:srgbClr val="222222"/>
                </a:solidFill>
                <a:latin typeface="Calibri"/>
              </a:rPr>
              <a:t>I-Avg  - mean current since the last report</a:t>
            </a:r>
          </a:p>
          <a:p>
            <a:pPr lvl="1" algn="l">
              <a:lnSpc>
                <a:spcPct val="100000"/>
              </a:lnSpc>
              <a:spcAft>
                <a:spcPts val="800"/>
              </a:spcAft>
              <a:defRPr sz="1800" b="0">
                <a:solidFill>
                  <a:srgbClr val="222222"/>
                </a:solidFill>
                <a:latin typeface="Calibri"/>
              </a:defRPr>
            </a:pPr>
            <a:r>
              <a:rPr sz="1800" b="0">
                <a:solidFill>
                  <a:srgbClr val="222222"/>
                </a:solidFill>
                <a:latin typeface="Calibri"/>
              </a:rPr>
              <a:t>I-Max  - the largest positive spike</a:t>
            </a:r>
          </a:p>
          <a:p>
            <a:pPr lvl="1" algn="l">
              <a:lnSpc>
                <a:spcPct val="100000"/>
              </a:lnSpc>
              <a:spcAft>
                <a:spcPts val="800"/>
              </a:spcAft>
              <a:defRPr sz="1800" b="0">
                <a:solidFill>
                  <a:srgbClr val="222222"/>
                </a:solidFill>
                <a:latin typeface="Calibri"/>
              </a:defRPr>
            </a:pPr>
            <a:r>
              <a:rPr sz="1800" b="0">
                <a:solidFill>
                  <a:srgbClr val="222222"/>
                </a:solidFill>
                <a:latin typeface="Calibri"/>
              </a:rPr>
              <a:t>I-Min  - the largest negative excursion</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Work it out for your vehicle</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A 4S 3300 mAh pack holds 3.3 amp hours.</a:t>
            </a:r>
          </a:p>
          <a:p>
            <a:pPr algn="l">
              <a:lnSpc>
                <a:spcPct val="100000"/>
              </a:lnSpc>
              <a:spcAft>
                <a:spcPts val="800"/>
              </a:spcAft>
              <a:defRPr sz="1800" b="0">
                <a:solidFill>
                  <a:srgbClr val="222222"/>
                </a:solidFill>
                <a:latin typeface="Calibri"/>
              </a:defRPr>
            </a:pPr>
          </a:p>
          <a:p>
            <a:pPr lvl="1" algn="l">
              <a:lnSpc>
                <a:spcPct val="100000"/>
              </a:lnSpc>
              <a:spcAft>
                <a:spcPts val="800"/>
              </a:spcAft>
              <a:defRPr sz="1800" b="0">
                <a:solidFill>
                  <a:srgbClr val="222222"/>
                </a:solidFill>
                <a:latin typeface="Calibri"/>
              </a:defRPr>
            </a:pPr>
            <a:r>
              <a:rPr sz="1800" b="0">
                <a:solidFill>
                  <a:srgbClr val="222222"/>
                </a:solidFill>
                <a:latin typeface="Calibri"/>
              </a:rPr>
              <a:t>runtime (hours) = 3.3 / average current in amps</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So at a measured 2.0 A average:</a:t>
            </a:r>
          </a:p>
          <a:p>
            <a:pPr lvl="1" algn="l">
              <a:lnSpc>
                <a:spcPct val="100000"/>
              </a:lnSpc>
              <a:spcAft>
                <a:spcPts val="800"/>
              </a:spcAft>
              <a:defRPr sz="1800" b="0">
                <a:solidFill>
                  <a:srgbClr val="222222"/>
                </a:solidFill>
                <a:latin typeface="Calibri"/>
              </a:defRPr>
            </a:pPr>
            <a:r>
              <a:rPr sz="1800" b="0">
                <a:solidFill>
                  <a:srgbClr val="222222"/>
                </a:solidFill>
                <a:latin typeface="Calibri"/>
              </a:rPr>
              <a:t>3.3 / 2.0 = 1.65 hours, about 99 minutes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Diagnostics, and the battery maths you can now do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diag  gives you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Negative current is real. When you cut the throttle, a spinning motor becomes a generator and pushes current BACK. That is why the shunt register is signed.</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The tracking is reset after each report, so each line describes the last five seconds rather than all of time.</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Work it out for your vehicle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At 6.0 A of hard driving:</a:t>
            </a:r>
          </a:p>
          <a:p>
            <a:pPr lvl="1" algn="l">
              <a:lnSpc>
                <a:spcPct val="100000"/>
              </a:lnSpc>
              <a:spcAft>
                <a:spcPts val="800"/>
              </a:spcAft>
              <a:defRPr sz="1800" b="0">
                <a:solidFill>
                  <a:srgbClr val="222222"/>
                </a:solidFill>
                <a:latin typeface="Calibri"/>
              </a:defRPr>
            </a:pPr>
            <a:r>
              <a:rPr sz="1800" b="0">
                <a:solidFill>
                  <a:srgbClr val="222222"/>
                </a:solidFill>
                <a:latin typeface="Calibri"/>
              </a:rPr>
              <a:t>3.3 / 6.0 = 0.55 hours, about 33 minutes</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Now add the LEDs. 32 pixels at full white is nearly 2 A on its own - and that is a constant drain whether you are moving or not.</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Measure yours. Then decide what LED brightness you can actually afford for a two-hour class.</a:t>
            </a:r>
          </a:p>
        </p:txBody>
      </p:sp>
      <p:sp>
        <p:nvSpPr>
          <p:cNvPr id="10" name="Rounded Rectangle 9"/>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Never run a lithium pack flat. Below about 3.0 V per cell - 12 V for a 4S - you are damaging it. The vehicle knows its own voltage, so a low-battery warning is a short job and a good exercise.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Adding a subsystem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seven things that keep a program from rotting</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Say you want a range finder that stops the vehicle before it hits something. Do it the way the program is already built:</a:t>
            </a:r>
          </a:p>
          <a:p>
            <a:pPr algn="l">
              <a:lnSpc>
                <a:spcPct val="100000"/>
              </a:lnSpc>
              <a:spcAft>
                <a:spcPts val="900"/>
              </a:spcAft>
              <a:defRPr sz="190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1.  Every tunable number goes in Config.h. Pins, thresholds, timings. Nothing hard-coded in the logic.</a:t>
            </a:r>
          </a:p>
          <a:p>
            <a:pPr algn="l">
              <a:lnSpc>
                <a:spcPct val="100000"/>
              </a:lnSpc>
              <a:spcAft>
                <a:spcPts val="900"/>
              </a:spcAft>
              <a:defRPr sz="1900" b="0">
                <a:solidFill>
                  <a:srgbClr val="222222"/>
                </a:solidFill>
                <a:latin typeface="Calibri"/>
              </a:defRPr>
            </a:pPr>
            <a:r>
              <a:rPr sz="1900" b="0">
                <a:solidFill>
                  <a:srgbClr val="222222"/>
                </a:solidFill>
                <a:latin typeface="Calibri"/>
              </a:rPr>
              <a:t>2.  One new tab, RangeFinder.ino, owning all of it.</a:t>
            </a:r>
          </a:p>
          <a:p>
            <a:pPr algn="l">
              <a:lnSpc>
                <a:spcPct val="100000"/>
              </a:lnSpc>
              <a:spcAft>
                <a:spcPts val="900"/>
              </a:spcAft>
              <a:defRPr sz="1900" b="0">
                <a:solidFill>
                  <a:srgbClr val="222222"/>
                </a:solidFill>
                <a:latin typeface="Calibri"/>
              </a:defRPr>
            </a:pPr>
            <a:r>
              <a:rPr sz="1900" b="0">
                <a:solidFill>
                  <a:srgbClr val="222222"/>
                </a:solidFill>
                <a:latin typeface="Calibri"/>
              </a:rPr>
              <a:t>3.  A setup_rangefinder() called from setup(), after the motors.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4.  An update_rangefinder(now) called every pass, that returns immediately if it is not time. No delay(), ever.</a:t>
            </a:r>
          </a:p>
          <a:p>
            <a:pPr algn="l">
              <a:lnSpc>
                <a:spcPct val="100000"/>
              </a:lnSpc>
              <a:spcAft>
                <a:spcPts val="900"/>
              </a:spcAft>
              <a:defRPr sz="1800" b="0">
                <a:solidFill>
                  <a:srgbClr val="222222"/>
                </a:solidFill>
                <a:latin typeface="Calibri"/>
              </a:defRPr>
            </a:pPr>
            <a:r>
              <a:rPr sz="1800" b="0">
                <a:solidFill>
                  <a:srgbClr val="222222"/>
                </a:solidFill>
                <a:latin typeface="Calibri"/>
              </a:rPr>
              <a:t>5.  A capability flag, so a vehicle without the sensor still runs this binary.</a:t>
            </a:r>
          </a:p>
          <a:p>
            <a:pPr algn="l">
              <a:lnSpc>
                <a:spcPct val="100000"/>
              </a:lnSpc>
              <a:spcAft>
                <a:spcPts val="900"/>
              </a:spcAft>
              <a:defRPr sz="1800" b="0">
                <a:solidFill>
                  <a:srgbClr val="222222"/>
                </a:solidFill>
                <a:latin typeface="Calibri"/>
              </a:defRPr>
            </a:pPr>
            <a:r>
              <a:rPr sz="1800" b="0">
                <a:solidFill>
                  <a:srgbClr val="222222"/>
                </a:solidFill>
                <a:latin typeface="Calibri"/>
              </a:rPr>
              <a:t>6.  A console command, so it can be tested and tuned without recompiling.</a:t>
            </a:r>
          </a:p>
          <a:p>
            <a:pPr algn="l">
              <a:lnSpc>
                <a:spcPct val="100000"/>
              </a:lnSpc>
              <a:spcAft>
                <a:spcPts val="900"/>
              </a:spcAft>
              <a:defRPr sz="1800" b="0">
                <a:solidFill>
                  <a:srgbClr val="222222"/>
                </a:solidFill>
                <a:latin typeface="Calibri"/>
              </a:defRPr>
            </a:pPr>
            <a:r>
              <a:rPr sz="1800" b="0">
                <a:solidFill>
                  <a:srgbClr val="222222"/>
                </a:solidFill>
                <a:latin typeface="Calibri"/>
              </a:rPr>
              <a:t>7.  Keep its state in static file-scope variables. Expose functions, not variables.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If you can do those seven things, you can extend this program without making it worse. That is the actual skill.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 the vehicle</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Obstacle avoidance from the range finder.</a:t>
            </a:r>
          </a:p>
          <a:p>
            <a:pPr algn="l">
              <a:lnSpc>
                <a:spcPct val="100000"/>
              </a:lnSpc>
              <a:spcAft>
                <a:spcPts val="800"/>
              </a:spcAft>
              <a:defRPr sz="1800" b="0">
                <a:solidFill>
                  <a:srgbClr val="222222"/>
                </a:solidFill>
                <a:latin typeface="Calibri"/>
              </a:defRPr>
            </a:pPr>
            <a:r>
              <a:rPr sz="1800" b="0">
                <a:solidFill>
                  <a:srgbClr val="222222"/>
                </a:solidFill>
                <a:latin typeface="Calibri"/>
              </a:rPr>
              <a:t>Line following.</a:t>
            </a:r>
          </a:p>
          <a:p>
            <a:pPr algn="l">
              <a:lnSpc>
                <a:spcPct val="100000"/>
              </a:lnSpc>
              <a:spcAft>
                <a:spcPts val="800"/>
              </a:spcAft>
              <a:defRPr sz="1800" b="0">
                <a:solidFill>
                  <a:srgbClr val="222222"/>
                </a:solidFill>
                <a:latin typeface="Calibri"/>
              </a:defRPr>
            </a:pPr>
            <a:r>
              <a:rPr sz="1800" b="0">
                <a:solidFill>
                  <a:srgbClr val="222222"/>
                </a:solidFill>
                <a:latin typeface="Calibri"/>
              </a:rPr>
              <a:t>Battery protection - the current sensor already knows the voltage, so flashing amber below 12 V and red below 10 V is a short job.</a:t>
            </a:r>
          </a:p>
          <a:p>
            <a:pPr algn="l">
              <a:lnSpc>
                <a:spcPct val="100000"/>
              </a:lnSpc>
              <a:spcAft>
                <a:spcPts val="800"/>
              </a:spcAft>
              <a:defRPr sz="1800" b="0">
                <a:solidFill>
                  <a:srgbClr val="222222"/>
                </a:solidFill>
                <a:latin typeface="Calibri"/>
              </a:defRPr>
            </a:pPr>
            <a:r>
              <a:rPr sz="1800" b="0">
                <a:solidFill>
                  <a:srgbClr val="222222"/>
                </a:solidFill>
                <a:latin typeface="Calibri"/>
              </a:rPr>
              <a:t>Stall detection while driving, using the same current signature logic as the self-test.</a:t>
            </a:r>
          </a:p>
          <a:p>
            <a:pPr algn="l">
              <a:lnSpc>
                <a:spcPct val="100000"/>
              </a:lnSpc>
              <a:spcAft>
                <a:spcPts val="800"/>
              </a:spcAft>
              <a:defRPr sz="1800" b="0">
                <a:solidFill>
                  <a:srgbClr val="222222"/>
                </a:solidFill>
                <a:latin typeface="Calibri"/>
              </a:defRPr>
            </a:pPr>
            <a:r>
              <a:rPr sz="1800" b="0">
                <a:solidFill>
                  <a:srgbClr val="222222"/>
                </a:solidFill>
                <a:latin typeface="Calibri"/>
              </a:rPr>
              <a:t>ESP-NOW, so vehicles talk to each other with no router.</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Beyond it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Everything here is how embedded software is written generally: subsystem separation, non-blocking state machines, defensive loading, capability detection, self-test, and a console.</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The same patterns run cars, medical devices, satellites and industrial controllers.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Six of the ideas in this course exist because somebody shipped the bug first. That is also how it works in industry.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Read the change log at the top of Pathfinder_Op_Program12.ino again now. It should read very differently than it did in Lesson 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test, done twice: on the bench and in software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factory bench test</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Before a control board leaves the factory:</a:t>
            </a:r>
          </a:p>
          <a:p>
            <a:pPr lvl="1" algn="l">
              <a:lnSpc>
                <a:spcPct val="100000"/>
              </a:lnSpc>
              <a:spcAft>
                <a:spcPts val="800"/>
              </a:spcAft>
              <a:defRPr sz="1800" b="0">
                <a:solidFill>
                  <a:srgbClr val="222222"/>
                </a:solidFill>
                <a:latin typeface="Calibri"/>
              </a:defRPr>
            </a:pPr>
            <a:r>
              <a:rPr sz="1800" b="0">
                <a:solidFill>
                  <a:srgbClr val="222222"/>
                </a:solidFill>
                <a:latin typeface="Calibri"/>
              </a:rPr>
              <a:t>Check 15 V, 5 V and 3.3 V rails</a:t>
            </a:r>
          </a:p>
          <a:p>
            <a:pPr lvl="1" algn="l">
              <a:lnSpc>
                <a:spcPct val="100000"/>
              </a:lnSpc>
              <a:spcAft>
                <a:spcPts val="800"/>
              </a:spcAft>
              <a:defRPr sz="1800" b="0">
                <a:solidFill>
                  <a:srgbClr val="222222"/>
                </a:solidFill>
                <a:latin typeface="Calibri"/>
              </a:defRPr>
            </a:pPr>
            <a:r>
              <a:rPr sz="1800" b="0">
                <a:solidFill>
                  <a:srgbClr val="222222"/>
                </a:solidFill>
                <a:latin typeface="Calibri"/>
              </a:rPr>
              <a:t>Break the motor 1 high side into an ammeter</a:t>
            </a:r>
          </a:p>
          <a:p>
            <a:pPr lvl="1" algn="l">
              <a:lnSpc>
                <a:spcPct val="100000"/>
              </a:lnSpc>
              <a:spcAft>
                <a:spcPts val="800"/>
              </a:spcAft>
              <a:defRPr sz="1800" b="0">
                <a:solidFill>
                  <a:srgbClr val="222222"/>
                </a:solidFill>
                <a:latin typeface="Calibri"/>
              </a:defRPr>
            </a:pPr>
            <a:r>
              <a:rPr sz="1800" b="0">
                <a:solidFill>
                  <a:srgbClr val="222222"/>
                </a:solidFill>
                <a:latin typeface="Calibri"/>
              </a:rPr>
              <a:t>Issue a full throttle 255 command</a:t>
            </a:r>
          </a:p>
          <a:p>
            <a:pPr lvl="1" algn="l">
              <a:lnSpc>
                <a:spcPct val="100000"/>
              </a:lnSpc>
              <a:spcAft>
                <a:spcPts val="800"/>
              </a:spcAft>
              <a:defRPr sz="1800" b="0">
                <a:solidFill>
                  <a:srgbClr val="222222"/>
                </a:solidFill>
                <a:latin typeface="Calibri"/>
              </a:defRPr>
            </a:pPr>
            <a:r>
              <a:rPr sz="1800" b="0">
                <a:solidFill>
                  <a:srgbClr val="222222"/>
                </a:solidFill>
                <a:latin typeface="Calibri"/>
              </a:rPr>
              <a:t>Measure current at no load, then at stall</a:t>
            </a:r>
          </a:p>
          <a:p>
            <a:pPr lvl="1" algn="l">
              <a:lnSpc>
                <a:spcPct val="100000"/>
              </a:lnSpc>
              <a:spcAft>
                <a:spcPts val="800"/>
              </a:spcAft>
              <a:defRPr sz="1800" b="0">
                <a:solidFill>
                  <a:srgbClr val="222222"/>
                </a:solidFill>
                <a:latin typeface="Calibri"/>
              </a:defRPr>
            </a:pPr>
            <a:r>
              <a:rPr sz="1800" b="0">
                <a:solidFill>
                  <a:srgbClr val="222222"/>
                </a:solidFill>
                <a:latin typeface="Calibri"/>
              </a:rPr>
              <a:t>Repeat for motors 2, 3 and 4, then reconnect</a:t>
            </a:r>
          </a:p>
          <a:p>
            <a:pPr lvl="1" algn="l">
              <a:lnSpc>
                <a:spcPct val="100000"/>
              </a:lnSpc>
              <a:spcAft>
                <a:spcPts val="800"/>
              </a:spcAft>
              <a:defRPr sz="1800" b="0">
                <a:solidFill>
                  <a:srgbClr val="222222"/>
                </a:solidFill>
                <a:latin typeface="Calibri"/>
              </a:defRPr>
            </a:pPr>
            <a:r>
              <a:rPr sz="1800" b="0">
                <a:solidFill>
                  <a:srgbClr val="222222"/>
                </a:solidFill>
                <a:latin typeface="Calibri"/>
              </a:rPr>
              <a:t>Calibrate and test the I2C devices</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Accurate, and it needs a meter, a bench and a person.</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self-test in the program</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Jumper GPIO 34 high at boot and the vehicle does the same thing to itself:</a:t>
            </a:r>
          </a:p>
          <a:p>
            <a:pPr lvl="1" algn="l">
              <a:lnSpc>
                <a:spcPct val="100000"/>
              </a:lnSpc>
              <a:spcAft>
                <a:spcPts val="800"/>
              </a:spcAft>
              <a:defRPr sz="1800" b="0">
                <a:solidFill>
                  <a:srgbClr val="222222"/>
                </a:solidFill>
                <a:latin typeface="Calibri"/>
              </a:defRPr>
            </a:pPr>
            <a:r>
              <a:rPr sz="1800" b="0">
                <a:solidFill>
                  <a:srgbClr val="222222"/>
                </a:solidFill>
                <a:latin typeface="Calibri"/>
              </a:rPr>
              <a:t>Measure the resting current with the motors off</a:t>
            </a:r>
          </a:p>
          <a:p>
            <a:pPr lvl="1" algn="l">
              <a:lnSpc>
                <a:spcPct val="100000"/>
              </a:lnSpc>
              <a:spcAft>
                <a:spcPts val="800"/>
              </a:spcAft>
              <a:defRPr sz="1800" b="0">
                <a:solidFill>
                  <a:srgbClr val="222222"/>
                </a:solidFill>
                <a:latin typeface="Calibri"/>
              </a:defRPr>
            </a:pPr>
            <a:r>
              <a:rPr sz="1800" b="0">
                <a:solidFill>
                  <a:srgbClr val="222222"/>
                </a:solidFill>
                <a:latin typeface="Calibri"/>
              </a:rPr>
              <a:t>Drive each motor full throttle, both ways</a:t>
            </a:r>
          </a:p>
          <a:p>
            <a:pPr lvl="1" algn="l">
              <a:lnSpc>
                <a:spcPct val="100000"/>
              </a:lnSpc>
              <a:spcAft>
                <a:spcPts val="800"/>
              </a:spcAft>
              <a:defRPr sz="1800" b="0">
                <a:solidFill>
                  <a:srgbClr val="222222"/>
                </a:solidFill>
                <a:latin typeface="Calibri"/>
              </a:defRPr>
            </a:pPr>
            <a:r>
              <a:rPr sz="1800" b="0">
                <a:solidFill>
                  <a:srgbClr val="222222"/>
                </a:solidFill>
                <a:latin typeface="Calibri"/>
              </a:rPr>
              <a:t>Watch the peak and the average against that baseline</a:t>
            </a:r>
          </a:p>
          <a:p>
            <a:pPr lvl="1" algn="l">
              <a:lnSpc>
                <a:spcPct val="100000"/>
              </a:lnSpc>
              <a:spcAft>
                <a:spcPts val="800"/>
              </a:spcAft>
              <a:defRPr sz="1800" b="0">
                <a:solidFill>
                  <a:srgbClr val="222222"/>
                </a:solidFill>
                <a:latin typeface="Calibri"/>
              </a:defRPr>
            </a:pPr>
            <a:r>
              <a:rPr sz="1800" b="0">
                <a:solidFill>
                  <a:srgbClr val="222222"/>
                </a:solidFill>
                <a:latin typeface="Calibri"/>
              </a:rPr>
              <a:t>Blink green for pass, red for fail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500" b="1">
                <a:solidFill>
                  <a:srgbClr val="1F3A5F"/>
                </a:solidFill>
                <a:latin typeface="Calibri"/>
              </a:defRPr>
            </a:pPr>
            <a:r>
              <a:rPr sz="2500" b="1">
                <a:solidFill>
                  <a:srgbClr val="1F3A5F"/>
                </a:solidFill>
                <a:latin typeface="Calibri"/>
              </a:rPr>
              <a:t>The same test, done twice: on the bench and in software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self-test in the program (cont.)</a:t>
            </a:r>
          </a:p>
        </p:txBody>
      </p:sp>
      <p:sp>
        <p:nvSpPr>
          <p:cNvPr id="7" name="TextBox 6"/>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Less accurate than a meter. But it runs in ten seconds, in a classroom, with no equipment and nobody who knows how to use a multimeter.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That is usually the trade with built-in test: you give up precision to get a check that will actually be run. A test that needs a bench is a test that happens once.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Capstone  -  choose one, and build it properly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subsystem, done to the standard of the rest of the program</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rest of the course is yours. Pick one and apply the seven rules from the previous slide.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LOW BATTERY WARNING. The vehicle already knows its voltage. Flash amber below 12 V, red below 10 V, and make it a lighting mode rather than something bolted on the side.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STALL DETECTION. You have the current signature logic from the self-test. Apply it while driving: if a motor draws a jammed signature for more than half a second, cut it and say so.</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OBSTACLE STOP. An ultrasonic range finder, a threshold in Config.h, and a rule that overrides the throttle. Think hard about what happens when the sensor gives one bad reading.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TELEMETRY. Stream voltage, current and speed over ESP-NOW to a second ESP32 with its own LED bar.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will be marked on whether somebody else can find your code, tune it without recompiling, and run the binary on a vehicle that does not have your hardware fitted.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That is the course. Go and add something.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How do you test whether an I2C device exists at an address?</a:t>
            </a:r>
          </a:p>
          <a:p>
            <a:pPr algn="l">
              <a:lnSpc>
                <a:spcPct val="100000"/>
              </a:lnSpc>
              <a:spcAft>
                <a:spcPts val="1100"/>
              </a:spcAft>
              <a:defRPr sz="1900" b="0">
                <a:solidFill>
                  <a:srgbClr val="222222"/>
                </a:solidFill>
                <a:latin typeface="Calibri"/>
              </a:defRPr>
            </a:pPr>
            <a:r>
              <a:rPr sz="1900" b="0">
                <a:solidFill>
                  <a:srgbClr val="222222"/>
                </a:solidFill>
                <a:latin typeface="Calibri"/>
              </a:rPr>
              <a:t>2.  A scan finds nothing on any address. What is the classic cause?</a:t>
            </a:r>
          </a:p>
          <a:p>
            <a:pPr algn="l">
              <a:lnSpc>
                <a:spcPct val="100000"/>
              </a:lnSpc>
              <a:spcAft>
                <a:spcPts val="1100"/>
              </a:spcAft>
              <a:defRPr sz="1900" b="0">
                <a:solidFill>
                  <a:srgbClr val="222222"/>
                </a:solidFill>
                <a:latin typeface="Calibri"/>
              </a:defRPr>
            </a:pPr>
            <a:r>
              <a:rPr sz="1900" b="0">
                <a:solidFill>
                  <a:srgbClr val="222222"/>
                </a:solidFill>
                <a:latin typeface="Calibri"/>
              </a:rPr>
              <a:t>3.  Why is the shunt resistor 0.0025 ohms and not 0.1?</a:t>
            </a:r>
          </a:p>
          <a:p>
            <a:pPr algn="l">
              <a:lnSpc>
                <a:spcPct val="100000"/>
              </a:lnSpc>
              <a:spcAft>
                <a:spcPts val="1100"/>
              </a:spcAft>
              <a:defRPr sz="1900" b="0">
                <a:solidFill>
                  <a:srgbClr val="222222"/>
                </a:solidFill>
                <a:latin typeface="Calibri"/>
              </a:defRPr>
            </a:pPr>
            <a:r>
              <a:rPr sz="1900" b="0">
                <a:solidFill>
                  <a:srgbClr val="222222"/>
                </a:solidFill>
                <a:latin typeface="Calibri"/>
              </a:rPr>
              <a:t>4.  Why must the shunt register be read as SIGNED?</a:t>
            </a:r>
          </a:p>
          <a:p>
            <a:pPr algn="l">
              <a:lnSpc>
                <a:spcPct val="100000"/>
              </a:lnSpc>
              <a:spcAft>
                <a:spcPts val="1100"/>
              </a:spcAft>
              <a:defRPr sz="1900" b="0">
                <a:solidFill>
                  <a:srgbClr val="222222"/>
                </a:solidFill>
                <a:latin typeface="Calibri"/>
              </a:defRPr>
            </a:pPr>
            <a:r>
              <a:rPr sz="1900" b="0">
                <a:solidFill>
                  <a:srgbClr val="222222"/>
                </a:solidFill>
                <a:latin typeface="Calibri"/>
              </a:rPr>
              <a:t>5.  What is a repeated start, and why not just stop and start again?</a:t>
            </a:r>
          </a:p>
          <a:p>
            <a:pPr algn="l">
              <a:lnSpc>
                <a:spcPct val="100000"/>
              </a:lnSpc>
              <a:spcAft>
                <a:spcPts val="1100"/>
              </a:spcAft>
              <a:defRPr sz="1900" b="0">
                <a:solidFill>
                  <a:srgbClr val="222222"/>
                </a:solidFill>
                <a:latin typeface="Calibri"/>
              </a:defRPr>
            </a:pPr>
            <a:r>
              <a:rPr sz="1900" b="0">
                <a:solidFill>
                  <a:srgbClr val="222222"/>
                </a:solidFill>
                <a:latin typeface="Calibri"/>
              </a:rPr>
              <a:t>6.  Describe the current signature of a healthy motor, a disconnected one, and a jammed one.</a:t>
            </a:r>
          </a:p>
          <a:p>
            <a:pPr algn="l">
              <a:lnSpc>
                <a:spcPct val="100000"/>
              </a:lnSpc>
              <a:spcAft>
                <a:spcPts val="1100"/>
              </a:spcAft>
              <a:defRPr sz="1900" b="0">
                <a:solidFill>
                  <a:srgbClr val="222222"/>
                </a:solidFill>
                <a:latin typeface="Calibri"/>
              </a:defRPr>
            </a:pPr>
            <a:r>
              <a:rPr sz="1900" b="0">
                <a:solidFill>
                  <a:srgbClr val="222222"/>
                </a:solidFill>
                <a:latin typeface="Calibri"/>
              </a:rPr>
              <a:t>7.  Why are the self-test thresholds measured above the baseline rather than as absolute amps?</a:t>
            </a:r>
          </a:p>
          <a:p>
            <a:pPr algn="l">
              <a:lnSpc>
                <a:spcPct val="100000"/>
              </a:lnSpc>
              <a:spcAft>
                <a:spcPts val="1100"/>
              </a:spcAft>
              <a:defRPr sz="1900" b="0">
                <a:solidFill>
                  <a:srgbClr val="222222"/>
                </a:solidFill>
                <a:latin typeface="Calibri"/>
              </a:defRPr>
            </a:pPr>
            <a:r>
              <a:rPr sz="1900" b="0">
                <a:solidFill>
                  <a:srgbClr val="222222"/>
                </a:solidFill>
                <a:latin typeface="Calibri"/>
              </a:rPr>
              <a:t>8.  Why is the self-test a state machine rather than a blocking routine?</a:t>
            </a:r>
          </a:p>
          <a:p>
            <a:pPr algn="l">
              <a:lnSpc>
                <a:spcPct val="100000"/>
              </a:lnSpc>
              <a:spcAft>
                <a:spcPts val="1100"/>
              </a:spcAft>
              <a:defRPr sz="1900" b="0">
                <a:solidFill>
                  <a:srgbClr val="222222"/>
                </a:solidFill>
                <a:latin typeface="Calibri"/>
              </a:defRPr>
            </a:pPr>
            <a:r>
              <a:rPr sz="1900" b="0">
                <a:solidFill>
                  <a:srgbClr val="222222"/>
                </a:solidFill>
                <a:latin typeface="Calibri"/>
              </a:rPr>
              <a:t>9.  List the seven things you would do to add a range finder.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