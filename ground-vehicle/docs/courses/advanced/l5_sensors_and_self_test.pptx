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Two wires, SDA and SCL, shared by every device on the bus.</a:t>
            </a:r>
          </a:p>
          <a:p>
            <a:pPr algn="l">
              <a:lnSpc>
                <a:spcPct val="100000"/>
              </a:lnSpc>
              <a:spcAft>
                <a:spcPts val="900"/>
              </a:spcAft>
              <a:defRPr sz="2800" b="0">
                <a:solidFill>
                  <a:srgbClr val="222222"/>
                </a:solidFill>
                <a:latin typeface="Calibri"/>
              </a:defRPr>
            </a:pPr>
            <a:r>
              <a:rPr sz="2800" b="0">
                <a:solidFill>
                  <a:srgbClr val="222222"/>
                </a:solidFill>
                <a:latin typeface="Calibri"/>
              </a:rPr>
              <a:t>Each device answers to a 7-bit address. 0x00-0x07 and 0x78-0x7F are reserved, leaving 0x08 to 0x77 to scan.</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900"/>
              </a:spcAft>
              <a:defRPr sz="2800" b="0">
                <a:solidFill>
                  <a:srgbClr val="222222"/>
                </a:solidFill>
                <a:latin typeface="Calibri"/>
              </a:defRPr>
            </a:pPr>
            <a:r>
              <a:rPr sz="2800" b="0">
                <a:solidFill>
                  <a:srgbClr val="222222"/>
                </a:solidFill>
                <a:latin typeface="Calibri"/>
              </a:rPr>
              <a:t>0  acknowledged - something is there</a:t>
            </a:r>
          </a:p>
          <a:p>
            <a:pPr lvl="1" algn="l">
              <a:lnSpc>
                <a:spcPct val="100000"/>
              </a:lnSpc>
              <a:spcAft>
                <a:spcPts val="900"/>
              </a:spcAft>
              <a:defRPr sz="2800" b="0">
                <a:solidFill>
                  <a:srgbClr val="222222"/>
                </a:solidFill>
                <a:latin typeface="Calibri"/>
              </a:defRPr>
            </a:pPr>
            <a:r>
              <a:rPr sz="2800" b="0">
                <a:solidFill>
                  <a:srgbClr val="222222"/>
                </a:solidFill>
                <a:latin typeface="Calibri"/>
              </a:rPr>
              <a:t>2  no acknowledge for the address - nothing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800" b="0">
                <a:solidFill>
                  <a:srgbClr val="222222"/>
                </a:solidFill>
                <a:latin typeface="Calibri"/>
              </a:defRPr>
            </a:pPr>
            <a:r>
              <a:rPr sz="1800" b="0">
                <a:solidFill>
                  <a:srgbClr val="222222"/>
                </a:solidFill>
                <a:latin typeface="Calibri"/>
              </a:rPr>
              <a:t>I = V / 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6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baseline  with everything off. Now switch the headlights on and take another. Where did the difference go?</a:t>
            </a:r>
          </a:p>
          <a:p>
            <a:pPr algn="l">
              <a:lnSpc>
                <a:spcPct val="100000"/>
              </a:lnSpc>
              <a:spcAft>
                <a:spcPts val="800"/>
              </a:spcAft>
              <a:defRPr sz="1800" b="0">
                <a:solidFill>
                  <a:srgbClr val="222222"/>
                </a:solidFill>
                <a:latin typeface="Calibri"/>
              </a:defRPr>
            </a:pPr>
            <a:r>
              <a:rPr sz="1800" b="0">
                <a:solidFill>
                  <a:srgbClr val="222222"/>
                </a:solidFill>
                <a:latin typeface="Calibri"/>
              </a:rPr>
              <a:t>2.  spin 0  with the wheel free. Then HOLD the wheel and do it again. Compare peak and average.</a:t>
            </a:r>
          </a:p>
          <a:p>
            <a:pPr algn="l">
              <a:lnSpc>
                <a:spcPct val="100000"/>
              </a:lnSpc>
              <a:spcAft>
                <a:spcPts val="800"/>
              </a:spcAft>
              <a:defRPr sz="1800" b="0">
                <a:solidFill>
                  <a:srgbClr val="222222"/>
                </a:solidFill>
                <a:latin typeface="Calibri"/>
              </a:defRPr>
            </a:pPr>
            <a:r>
              <a:rPr sz="1800" b="0">
                <a:solidFill>
                  <a:srgbClr val="222222"/>
                </a:solidFill>
                <a:latin typeface="Calibri"/>
              </a:rPr>
              <a:t>3.  Unplug one motor and run  test. Which numbers give it away?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What is your vehicle's resting current?</a:t>
            </a:r>
          </a:p>
          <a:p>
            <a:pPr algn="l">
              <a:lnSpc>
                <a:spcPct val="100000"/>
              </a:lnSpc>
              <a:spcAft>
                <a:spcPts val="300"/>
              </a:spcAft>
              <a:defRPr sz="2300" b="0">
                <a:solidFill>
                  <a:srgbClr val="222222"/>
                </a:solidFill>
                <a:latin typeface="Calibri"/>
              </a:defRPr>
            </a:pPr>
            <a:r>
              <a:rPr sz="2300" b="0">
                <a:solidFill>
                  <a:srgbClr val="222222"/>
                </a:solidFill>
                <a:latin typeface="Calibri"/>
              </a:rPr>
              <a:t>How long will your battery last at your measured average?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p>
        </p:txBody>
      </p:sp>
      <p:sp>
        <p:nvSpPr>
          <p:cNvPr id="7" name="TextBox 6"/>
          <p:cNvSpPr txBox="1"/>
          <p:nvPr/>
        </p:nvSpPr>
        <p:spPr>
          <a:xfrm>
            <a:off x="502920" y="1901952"/>
            <a:ext cx="11185855"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regs  - read the raw registers and check them against the datasheet values in the comments.</a:t>
            </a:r>
          </a:p>
          <a:p>
            <a:pPr algn="l">
              <a:lnSpc>
                <a:spcPct val="100000"/>
              </a:lnSpc>
              <a:spcAft>
                <a:spcPts val="800"/>
              </a:spcAft>
              <a:defRPr sz="1800" b="0">
                <a:solidFill>
                  <a:srgbClr val="222222"/>
                </a:solidFill>
                <a:latin typeface="Calibri"/>
              </a:defRPr>
            </a:pPr>
            <a:r>
              <a:rPr sz="1800" b="0">
                <a:solidFill>
                  <a:srgbClr val="222222"/>
                </a:solidFill>
                <a:latin typeface="Calibri"/>
              </a:rPr>
              <a:t>5.  Work out how long a 3300 mAh pack lasts at the average you measured while driving.</a:t>
            </a:r>
          </a:p>
          <a:p>
            <a:pPr algn="l">
              <a:lnSpc>
                <a:spcPct val="100000"/>
              </a:lnSpc>
              <a:spcAft>
                <a:spcPts val="800"/>
              </a:spcAft>
              <a:defRPr sz="1800" b="0">
                <a:solidFill>
                  <a:srgbClr val="222222"/>
                </a:solidFill>
                <a:latin typeface="Calibri"/>
              </a:defRPr>
            </a:pPr>
            <a:r>
              <a:rPr sz="1800" b="0">
                <a:solidFill>
                  <a:srgbClr val="222222"/>
                </a:solidFill>
                <a:latin typeface="Calibri"/>
              </a:rPr>
              <a:t>6.  Compare that with the LED power budget from the beginner course. Which dominates?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Jumper GPIO 34 high at boot. Each motor is driven forward then reverse while the current sensor watches.</a:t>
            </a:r>
          </a:p>
          <a:p>
            <a:pPr algn="l">
              <a:lnSpc>
                <a:spcPct val="100000"/>
              </a:lnSpc>
              <a:spcAft>
                <a:spcPts val="900"/>
              </a:spcAft>
              <a:defRPr sz="1450" b="0">
                <a:solidFill>
                  <a:srgbClr val="222222"/>
                </a:solidFill>
                <a:latin typeface="Calibri"/>
              </a:defRPr>
            </a:pPr>
          </a:p>
          <a:p>
            <a:pPr lvl="1" algn="l">
              <a:lnSpc>
                <a:spcPct val="100000"/>
              </a:lnSpc>
              <a:spcAft>
                <a:spcPts val="900"/>
              </a:spcAft>
              <a:defRPr sz="2900" b="0">
                <a:solidFill>
                  <a:srgbClr val="222222"/>
                </a:solidFill>
                <a:latin typeface="Calibri"/>
              </a:defRPr>
            </a:pPr>
            <a:r>
              <a:rPr sz="2900" b="0">
                <a:solidFill>
                  <a:srgbClr val="222222"/>
                </a:solidFill>
                <a:latin typeface="Calibri"/>
              </a:rPr>
              <a:t>CHECK_TRIGGER   wait for the pin to settle, then decide</a:t>
            </a:r>
          </a:p>
          <a:p>
            <a:pPr lvl="1" algn="l">
              <a:lnSpc>
                <a:spcPct val="100000"/>
              </a:lnSpc>
              <a:spcAft>
                <a:spcPts val="900"/>
              </a:spcAft>
              <a:defRPr sz="2900" b="0">
                <a:solidFill>
                  <a:srgbClr val="222222"/>
                </a:solidFill>
                <a:latin typeface="Calibri"/>
              </a:defRPr>
            </a:pPr>
            <a:r>
              <a:rPr sz="2900" b="0">
                <a:solidFill>
                  <a:srgbClr val="222222"/>
                </a:solidFill>
                <a:latin typeface="Calibri"/>
              </a:rPr>
              <a:t>BASELINE_CURRENT  measure the resting draw, motors off</a:t>
            </a:r>
          </a:p>
          <a:p>
            <a:pPr lvl="1" algn="l">
              <a:lnSpc>
                <a:spcPct val="100000"/>
              </a:lnSpc>
              <a:spcAft>
                <a:spcPts val="900"/>
              </a:spcAft>
              <a:defRPr sz="2900" b="0">
                <a:solidFill>
                  <a:srgbClr val="222222"/>
                </a:solidFill>
                <a:latin typeface="Calibri"/>
              </a:defRPr>
            </a:pPr>
            <a:r>
              <a:rPr sz="2900" b="0">
                <a:solidFill>
                  <a:srgbClr val="222222"/>
                </a:solidFill>
                <a:latin typeface="Calibri"/>
              </a:rPr>
              <a:t>RUNNING_TESTS     eight steps: four motors, two directions</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TEST_RESULT       green blinks for pass, red for fail</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TEST_DISABLED     hand over to normal driving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 five seconds, while it is switched on:</a:t>
            </a:r>
          </a:p>
          <a:p>
            <a:pPr lvl="1" algn="l">
              <a:lnSpc>
                <a:spcPct val="100000"/>
              </a:lnSpc>
              <a:spcAft>
                <a:spcPts val="800"/>
              </a:spcAft>
              <a:defRPr sz="1800" b="0">
                <a:solidFill>
                  <a:srgbClr val="222222"/>
                </a:solidFill>
                <a:latin typeface="Calibri"/>
              </a:defRPr>
            </a:pPr>
            <a:r>
              <a:rPr sz="1800" b="0">
                <a:solidFill>
                  <a:srgbClr val="222222"/>
                </a:solidFill>
                <a:latin typeface="Calibri"/>
              </a:rPr>
              <a:t>VBat   - bus voltage, straight from the sensor</a:t>
            </a:r>
          </a:p>
          <a:p>
            <a:pPr lvl="1" algn="l">
              <a:lnSpc>
                <a:spcPct val="100000"/>
              </a:lnSpc>
              <a:spcAft>
                <a:spcPts val="800"/>
              </a:spcAft>
              <a:defRPr sz="1800" b="0">
                <a:solidFill>
                  <a:srgbClr val="222222"/>
                </a:solidFill>
                <a:latin typeface="Calibri"/>
              </a:defRPr>
            </a:pPr>
            <a:r>
              <a:rPr sz="1800" b="0">
                <a:solidFill>
                  <a:srgbClr val="222222"/>
                </a:solidFill>
                <a:latin typeface="Calibri"/>
              </a:rPr>
              <a:t>I-Avg  - mean current since the last report</a:t>
            </a:r>
          </a:p>
          <a:p>
            <a:pPr lvl="1" algn="l">
              <a:lnSpc>
                <a:spcPct val="100000"/>
              </a:lnSpc>
              <a:spcAft>
                <a:spcPts val="800"/>
              </a:spcAft>
              <a:defRPr sz="1800" b="0">
                <a:solidFill>
                  <a:srgbClr val="222222"/>
                </a:solidFill>
                <a:latin typeface="Calibri"/>
              </a:defRPr>
            </a:pPr>
            <a:r>
              <a:rPr sz="1800" b="0">
                <a:solidFill>
                  <a:srgbClr val="222222"/>
                </a:solidFill>
                <a:latin typeface="Calibri"/>
              </a:rPr>
              <a:t>I-Max  - the largest positive spike</a:t>
            </a:r>
          </a:p>
          <a:p>
            <a:pPr lvl="1" algn="l">
              <a:lnSpc>
                <a:spcPct val="100000"/>
              </a:lnSpc>
              <a:spcAft>
                <a:spcPts val="800"/>
              </a:spcAft>
              <a:defRPr sz="1800" b="0">
                <a:solidFill>
                  <a:srgbClr val="222222"/>
                </a:solidFill>
                <a:latin typeface="Calibri"/>
              </a:defRPr>
            </a:pPr>
            <a:r>
              <a:rPr sz="1800" b="0">
                <a:solidFill>
                  <a:srgbClr val="222222"/>
                </a:solidFill>
                <a:latin typeface="Calibri"/>
              </a:rPr>
              <a:t>I-Min  - the largest negative excursion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4S 3300 mAh pack holds 3.3 amp hours.</a:t>
            </a:r>
          </a:p>
          <a:p>
            <a:pPr algn="l">
              <a:lnSpc>
                <a:spcPct val="100000"/>
              </a:lnSpc>
              <a:spcAft>
                <a:spcPts val="800"/>
              </a:spcAft>
              <a:defRPr sz="9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runtime (hours) = 3.3 / average current in amps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at a measured 2.0 A average:</a:t>
            </a:r>
          </a:p>
          <a:p>
            <a:pPr lvl="1" algn="l">
              <a:lnSpc>
                <a:spcPct val="100000"/>
              </a:lnSpc>
              <a:spcAft>
                <a:spcPts val="800"/>
              </a:spcAft>
              <a:defRPr sz="1800" b="0">
                <a:solidFill>
                  <a:srgbClr val="222222"/>
                </a:solidFill>
                <a:latin typeface="Calibri"/>
              </a:defRPr>
            </a:pPr>
            <a:r>
              <a:rPr sz="1800" b="0">
                <a:solidFill>
                  <a:srgbClr val="222222"/>
                </a:solidFill>
                <a:latin typeface="Calibri"/>
              </a:rPr>
              <a:t>3.3 / 2.0 = 1.65 hours, about 99 minutes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At 6.0 A of hard driving:</a:t>
            </a:r>
          </a:p>
          <a:p>
            <a:pPr lvl="1" algn="l">
              <a:lnSpc>
                <a:spcPct val="100000"/>
              </a:lnSpc>
              <a:spcAft>
                <a:spcPts val="800"/>
              </a:spcAft>
              <a:defRPr sz="1800" b="0">
                <a:solidFill>
                  <a:srgbClr val="222222"/>
                </a:solidFill>
                <a:latin typeface="Calibri"/>
              </a:defRPr>
            </a:pPr>
            <a:r>
              <a:rPr sz="1800" b="0">
                <a:solidFill>
                  <a:srgbClr val="222222"/>
                </a:solidFill>
                <a:latin typeface="Calibri"/>
              </a:rPr>
              <a:t>3.3 / 6.0 = 0.55 hours, about 33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Now add the LEDs. 32 pixels at full white is nearly 2 A on its own - and that is a constant drain whether you are moving or not.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Measure yours. Then decide what LED brightness you can actually afford for a two-hour class.</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1.  Every tunable number goes in Config.h. Pins, thresholds, timings. Nothing hard-coded in the logic.</a:t>
            </a:r>
          </a:p>
          <a:p>
            <a:pPr algn="l">
              <a:lnSpc>
                <a:spcPct val="100000"/>
              </a:lnSpc>
              <a:spcAft>
                <a:spcPts val="900"/>
              </a:spcAft>
              <a:defRPr sz="2000" b="0">
                <a:solidFill>
                  <a:srgbClr val="222222"/>
                </a:solidFill>
                <a:latin typeface="Calibri"/>
              </a:defRPr>
            </a:pPr>
            <a:r>
              <a:rPr sz="2000" b="0">
                <a:solidFill>
                  <a:srgbClr val="222222"/>
                </a:solidFill>
                <a:latin typeface="Calibri"/>
              </a:rPr>
              <a:t>2.  One new tab, RangeFinder.ino, owning all of it.</a:t>
            </a:r>
          </a:p>
          <a:p>
            <a:pPr algn="l">
              <a:lnSpc>
                <a:spcPct val="100000"/>
              </a:lnSpc>
              <a:spcAft>
                <a:spcPts val="900"/>
              </a:spcAft>
              <a:defRPr sz="2000" b="0">
                <a:solidFill>
                  <a:srgbClr val="222222"/>
                </a:solidFill>
                <a:latin typeface="Calibri"/>
              </a:defRPr>
            </a:pPr>
            <a:r>
              <a:rPr sz="20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4.  An update_rangefinder(now) called every pass, that returns immediately if it is not time. No delay(), ever.</a:t>
            </a:r>
          </a:p>
          <a:p>
            <a:pPr algn="l">
              <a:lnSpc>
                <a:spcPct val="100000"/>
              </a:lnSpc>
              <a:spcAft>
                <a:spcPts val="900"/>
              </a:spcAft>
              <a:defRPr sz="1900" b="0">
                <a:solidFill>
                  <a:srgbClr val="222222"/>
                </a:solidFill>
                <a:latin typeface="Calibri"/>
              </a:defRPr>
            </a:pPr>
            <a:r>
              <a:rPr sz="1900" b="0">
                <a:solidFill>
                  <a:srgbClr val="222222"/>
                </a:solidFill>
                <a:latin typeface="Calibri"/>
              </a:rPr>
              <a:t>5.  A capability flag, so a vehicle without the sensor still runs this binary.</a:t>
            </a:r>
          </a:p>
          <a:p>
            <a:pPr algn="l">
              <a:lnSpc>
                <a:spcPct val="100000"/>
              </a:lnSpc>
              <a:spcAft>
                <a:spcPts val="900"/>
              </a:spcAft>
              <a:defRPr sz="1900" b="0">
                <a:solidFill>
                  <a:srgbClr val="222222"/>
                </a:solidFill>
                <a:latin typeface="Calibri"/>
              </a:defRPr>
            </a:pPr>
            <a:r>
              <a:rPr sz="1900" b="0">
                <a:solidFill>
                  <a:srgbClr val="222222"/>
                </a:solidFill>
                <a:latin typeface="Calibri"/>
              </a:rPr>
              <a:t>6.  A console command, so it can be tested and tuned without recompiling.</a:t>
            </a:r>
          </a:p>
          <a:p>
            <a:pPr algn="l">
              <a:lnSpc>
                <a:spcPct val="100000"/>
              </a:lnSpc>
              <a:spcAft>
                <a:spcPts val="900"/>
              </a:spcAft>
              <a:defRPr sz="1900" b="0">
                <a:solidFill>
                  <a:srgbClr val="222222"/>
                </a:solidFill>
                <a:latin typeface="Calibri"/>
              </a:defRPr>
            </a:pPr>
            <a:r>
              <a:rPr sz="1900" b="0">
                <a:solidFill>
                  <a:srgbClr val="222222"/>
                </a:solidFill>
                <a:latin typeface="Calibri"/>
              </a:rPr>
              <a:t>7.  Keep its state in static file-scope variables. Expose functions, not variables.</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8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8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8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8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8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Accurate, and it needs a meter, a bench and a person.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thing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with the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the peak and the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The same test, done twice: on the bench and in software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 (cont.)</a:t>
            </a:r>
          </a:p>
        </p:txBody>
      </p:sp>
      <p:sp>
        <p:nvSpPr>
          <p:cNvPr id="7" name="TextBox 6"/>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than a meter. But it runs in ten seconds, in a classroom, with no equipment and nobody who knows how to use a multimeter.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