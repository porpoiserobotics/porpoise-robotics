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I2C addressing, acknowledgement, pull-ups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Upload a5a_i2c_scan. Find the sensor, then lose it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Measuring current without interrupting it</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Driving a chip from its datasheet, with no library</a:t>
                      </a:r>
                    </a:p>
                  </a:txBody>
                  <a:tcPr marL="73152" marT="18288" marB="18288">
                    <a:solidFill>
                      <a:srgbClr val="FFFFFF"/>
                    </a:solidFill>
                  </a:tcPr>
                </a:tc>
              </a:tr>
              <a:tr h="298450">
                <a:tc>
                  <a:txBody>
                    <a:bodyPr/>
                    <a:lstStyle/>
                    <a:p>
                      <a:r>
                        <a:rPr sz="1400">
                          <a:solidFill>
                            <a:srgbClr val="222222"/>
                          </a:solidFill>
                          <a:latin typeface="Calibri"/>
                        </a:rPr>
                        <a:t>1:50</a:t>
                      </a:r>
                    </a:p>
                  </a:txBody>
                  <a:tcPr marL="73152" marT="18288" marB="18288">
                    <a:solidFill>
                      <a:srgbClr val="EEF3F8"/>
                    </a:solidFill>
                  </a:tcPr>
                </a:tc>
                <a:tc>
                  <a:txBody>
                    <a:bodyPr/>
                    <a:lstStyle/>
                    <a:p>
                      <a:r>
                        <a:rPr sz="1400">
                          <a:solidFill>
                            <a:srgbClr val="222222"/>
                          </a:solidFill>
                          <a:latin typeface="Calibri"/>
                        </a:rPr>
                        <a:t>Upload a5b_ina219_current. Measure a motor</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Current signatures, and the self-test state machine</a:t>
                      </a:r>
                    </a:p>
                  </a:txBody>
                  <a:tcPr marL="73152" marT="18288" marB="18288">
                    <a:solidFill>
                      <a:srgbClr val="FFFFFF"/>
                    </a:solidFill>
                  </a:tcPr>
                </a:tc>
              </a:tr>
              <a:tr h="298450">
                <a:tc>
                  <a:txBody>
                    <a:bodyPr/>
                    <a:lstStyle/>
                    <a:p>
                      <a:r>
                        <a:rPr sz="1400">
                          <a:solidFill>
                            <a:srgbClr val="222222"/>
                          </a:solidFill>
                          <a:latin typeface="Calibri"/>
                        </a:rPr>
                        <a:t>2:45</a:t>
                      </a:r>
                    </a:p>
                  </a:txBody>
                  <a:tcPr marL="73152" marT="18288" marB="18288">
                    <a:solidFill>
                      <a:srgbClr val="EEF3F8"/>
                    </a:solidFill>
                  </a:tcPr>
                </a:tc>
                <a:tc>
                  <a:txBody>
                    <a:bodyPr/>
                    <a:lstStyle/>
                    <a:p>
                      <a:r>
                        <a:rPr sz="1400">
                          <a:solidFill>
                            <a:srgbClr val="222222"/>
                          </a:solidFill>
                          <a:latin typeface="Calibri"/>
                        </a:rPr>
                        <a:t>Adding a subsystem of your own, properly</a:t>
                      </a:r>
                    </a:p>
                  </a:txBody>
                  <a:tcPr marL="73152" marT="18288" marB="18288">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200" b="0">
                <a:solidFill>
                  <a:srgbClr val="222222"/>
                </a:solidFill>
                <a:latin typeface="Calibri"/>
              </a:defRPr>
            </a:pPr>
            <a:r>
              <a:rPr sz="1200" b="0">
                <a:solidFill>
                  <a:srgbClr val="222222"/>
                </a:solidFill>
                <a:latin typeface="Calibri"/>
              </a:rPr>
              <a:t>Two wires, SDA and SCL, shared by every device on the bus.</a:t>
            </a:r>
          </a:p>
          <a:p>
            <a:pPr algn="l">
              <a:lnSpc>
                <a:spcPct val="100000"/>
              </a:lnSpc>
              <a:spcAft>
                <a:spcPts val="600"/>
              </a:spcAft>
              <a:defRPr sz="1200" b="0">
                <a:solidFill>
                  <a:srgbClr val="222222"/>
                </a:solidFill>
                <a:latin typeface="Calibri"/>
              </a:defRPr>
            </a:pPr>
            <a:r>
              <a:rPr sz="1200" b="0">
                <a:solidFill>
                  <a:srgbClr val="222222"/>
                </a:solidFill>
                <a:latin typeface="Calibri"/>
              </a:rPr>
              <a:t>Each device answers to a 7-bit address. 0x00-0x07 and 0x78-0x7F are reserved, leaving 0x08 to 0x77 to scan.</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600"/>
              </a:spcAft>
              <a:defRPr sz="1200" b="0">
                <a:solidFill>
                  <a:srgbClr val="222222"/>
                </a:solidFill>
                <a:latin typeface="Calibri"/>
              </a:defRPr>
            </a:pPr>
            <a:r>
              <a:rPr sz="1200" b="0">
                <a:solidFill>
                  <a:srgbClr val="222222"/>
                </a:solidFill>
                <a:latin typeface="Calibri"/>
              </a:rPr>
              <a:t>0  acknowledged - something is there</a:t>
            </a:r>
          </a:p>
          <a:p>
            <a:pPr lvl="1" algn="l">
              <a:lnSpc>
                <a:spcPct val="100000"/>
              </a:lnSpc>
              <a:spcAft>
                <a:spcPts val="600"/>
              </a:spcAft>
              <a:defRPr sz="1200" b="0">
                <a:solidFill>
                  <a:srgbClr val="222222"/>
                </a:solidFill>
                <a:latin typeface="Calibri"/>
              </a:defRPr>
            </a:pPr>
            <a:r>
              <a:rPr sz="1200" b="0">
                <a:solidFill>
                  <a:srgbClr val="222222"/>
                </a:solidFill>
                <a:latin typeface="Calibri"/>
              </a:rPr>
              <a:t>2  no acknowledge for the address - nothing there</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to a Gen 3 vehicle. You should find 0x40.</a:t>
            </a:r>
          </a:p>
          <a:p>
            <a:pPr algn="l">
              <a:lnSpc>
                <a:spcPct val="100000"/>
              </a:lnSpc>
              <a:spcAft>
                <a:spcPts val="800"/>
              </a:spcAft>
              <a:defRPr sz="1600" b="0">
                <a:solidFill>
                  <a:srgbClr val="222222"/>
                </a:solidFill>
                <a:latin typeface="Calibri"/>
              </a:defRPr>
            </a:pPr>
            <a:r>
              <a:rPr sz="1600" b="0">
                <a:solidFill>
                  <a:srgbClr val="222222"/>
                </a:solidFill>
                <a:latin typeface="Calibri"/>
              </a:rPr>
              <a:t>2.  Upload it to a Gen 2 vehicle. You should find nothing, and that is the CORRECT answer.</a:t>
            </a:r>
          </a:p>
          <a:p>
            <a:pPr algn="l">
              <a:lnSpc>
                <a:spcPct val="100000"/>
              </a:lnSpc>
              <a:spcAft>
                <a:spcPts val="800"/>
              </a:spcAft>
              <a:defRPr sz="1600" b="0">
                <a:solidFill>
                  <a:srgbClr val="222222"/>
                </a:solidFill>
                <a:latin typeface="Calibri"/>
              </a:defRPr>
            </a:pPr>
            <a:r>
              <a:rPr sz="1600" b="0">
                <a:solidFill>
                  <a:srgbClr val="222222"/>
                </a:solidFill>
                <a:latin typeface="Calibri"/>
              </a:rPr>
              <a:t>3.  Type  watch, then unplug the sensor. How quickly does it notice?</a:t>
            </a:r>
          </a:p>
          <a:p>
            <a:pPr algn="l">
              <a:lnSpc>
                <a:spcPct val="100000"/>
              </a:lnSpc>
              <a:spcAft>
                <a:spcPts val="800"/>
              </a:spcAft>
              <a:defRPr sz="1600" b="0">
                <a:solidFill>
                  <a:srgbClr val="222222"/>
                </a:solidFill>
                <a:latin typeface="Calibri"/>
              </a:defRPr>
            </a:pPr>
            <a:r>
              <a:rPr sz="1600" b="0">
                <a:solidFill>
                  <a:srgbClr val="222222"/>
                </a:solidFill>
                <a:latin typeface="Calibri"/>
              </a:rPr>
              <a:t>4.  Try  pins 21 22, the ESP32 defaults. Does the sensor still answer? Why not?</a:t>
            </a:r>
          </a:p>
          <a:p>
            <a:pPr algn="l">
              <a:lnSpc>
                <a:spcPct val="100000"/>
              </a:lnSpc>
              <a:spcAft>
                <a:spcPts val="800"/>
              </a:spcAft>
              <a:defRPr sz="1600" b="0">
                <a:solidFill>
                  <a:srgbClr val="222222"/>
                </a:solidFill>
                <a:latin typeface="Calibri"/>
              </a:defRPr>
            </a:pPr>
            <a:r>
              <a:rPr sz="1600" b="0">
                <a:solidFill>
                  <a:srgbClr val="222222"/>
                </a:solidFill>
                <a:latin typeface="Calibri"/>
              </a:rPr>
              <a:t>5.  Try  pins 34 35. Read what the sketch tells you.</a:t>
            </a:r>
          </a:p>
          <a:p>
            <a:pPr algn="l">
              <a:lnSpc>
                <a:spcPct val="100000"/>
              </a:lnSpc>
              <a:spcAft>
                <a:spcPts val="800"/>
              </a:spcAft>
              <a:defRPr sz="1600" b="0">
                <a:solidFill>
                  <a:srgbClr val="222222"/>
                </a:solidFill>
                <a:latin typeface="Calibri"/>
              </a:defRPr>
            </a:pPr>
            <a:r>
              <a:rPr sz="1600" b="0">
                <a:solidFill>
                  <a:srgbClr val="222222"/>
                </a:solidFill>
                <a:latin typeface="Calibri"/>
              </a:rPr>
              <a:t>6.  If you have a spare I2C sensor, wire it on the breadboard and find its address.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Gen 3: one device at 0x40, named. Gen 2: nothing, with an explanation of why that is fine.</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500" b="0">
                <a:solidFill>
                  <a:srgbClr val="222222"/>
                </a:solidFill>
                <a:latin typeface="Calibri"/>
              </a:defRPr>
            </a:pPr>
            <a:r>
              <a:rPr sz="1500" b="0">
                <a:solidFill>
                  <a:srgbClr val="222222"/>
                </a:solidFill>
                <a:latin typeface="Calibri"/>
              </a:rPr>
              <a:t>I = V / 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shunt on this board is 0.0025 ohms. So two amps drops:</a:t>
            </a:r>
          </a:p>
          <a:p>
            <a:pPr lvl="1" algn="l">
              <a:lnSpc>
                <a:spcPct val="100000"/>
              </a:lnSpc>
              <a:spcAft>
                <a:spcPts val="600"/>
              </a:spcAft>
              <a:defRPr sz="1500" b="0">
                <a:solidFill>
                  <a:srgbClr val="222222"/>
                </a:solidFill>
                <a:latin typeface="Calibri"/>
              </a:defRPr>
            </a:pPr>
            <a:r>
              <a:rPr sz="1500" b="0">
                <a:solidFill>
                  <a:srgbClr val="222222"/>
                </a:solidFill>
                <a:latin typeface="Calibri"/>
              </a:rPr>
              <a:t>V = 2 A x 0.0025 ohm = 0.005 V,  five millivolts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500" b="0">
                <a:solidFill>
                  <a:srgbClr val="222222"/>
                </a:solidFill>
                <a:latin typeface="Calibri"/>
              </a:defRPr>
            </a:pPr>
            <a:r>
              <a:rPr sz="1500" b="0">
                <a:solidFill>
                  <a:srgbClr val="222222"/>
                </a:solidFill>
                <a:latin typeface="Calibri"/>
              </a:rPr>
              <a:t>P = I^2 x R = 4 x 0.0025 = 0.01 W  at 0.0025 ohm</a:t>
            </a:r>
          </a:p>
          <a:p>
            <a:pPr lvl="1" algn="l">
              <a:lnSpc>
                <a:spcPct val="100000"/>
              </a:lnSpc>
              <a:spcAft>
                <a:spcPts val="600"/>
              </a:spcAft>
              <a:defRPr sz="1500" b="0">
                <a:solidFill>
                  <a:srgbClr val="222222"/>
                </a:solidFill>
                <a:latin typeface="Calibri"/>
              </a:defRPr>
            </a:pPr>
            <a:r>
              <a:rPr sz="1500" b="0">
                <a:solidFill>
                  <a:srgbClr val="222222"/>
                </a:solidFill>
                <a:latin typeface="Calibri"/>
              </a:rPr>
              <a:t>P = I^2 x R = 4 x 0.1    = 0.4 W   at 0.1 ohm</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Reading five millivolts accurately is the sensor's entire job. The shunt register reports in units of 10 microvolts, which is where the 0.01 in the maths comes from.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114300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V</a:t>
            </a:r>
          </a:p>
        </p:txBody>
      </p:sp>
      <p:sp>
        <p:nvSpPr>
          <p:cNvPr id="10" name="TextBox 9"/>
          <p:cNvSpPr txBox="1"/>
          <p:nvPr/>
        </p:nvSpPr>
        <p:spPr>
          <a:xfrm>
            <a:off x="146304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1" name="TextBox 10"/>
          <p:cNvSpPr txBox="1"/>
          <p:nvPr/>
        </p:nvSpPr>
        <p:spPr>
          <a:xfrm>
            <a:off x="274320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V  volts     I  amps     R  ohms</a:t>
            </a:r>
          </a:p>
        </p:txBody>
      </p:sp>
      <p:sp>
        <p:nvSpPr>
          <p:cNvPr id="14" name="TextBox 13"/>
          <p:cNvSpPr txBox="1"/>
          <p:nvPr/>
        </p:nvSpPr>
        <p:spPr>
          <a:xfrm>
            <a:off x="6812280" y="1124712"/>
            <a:ext cx="2743200" cy="27432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2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45770"/>
          </a:xfrm>
          <a:prstGeom prst="rect">
            <a:avLst/>
          </a:prstGeom>
          <a:noFill/>
        </p:spPr>
        <p:txBody>
          <a:bodyPr wrap="square" lIns="0" tIns="0" rIns="0" bIns="0">
            <a:spAutoFit/>
          </a:bodyPr>
          <a:lstStyle/>
          <a:p>
            <a:pPr algn="ctr">
              <a:lnSpc>
                <a:spcPct val="100000"/>
              </a:lnSpc>
              <a:spcAft>
                <a:spcPts val="100"/>
              </a:spcAft>
              <a:defRPr sz="2300" b="1">
                <a:solidFill>
                  <a:srgbClr val="1F3A5F"/>
                </a:solidFill>
                <a:latin typeface="Calibri"/>
              </a:defRPr>
            </a:pPr>
            <a:r>
              <a:rPr sz="2300" b="1">
                <a:solidFill>
                  <a:srgbClr val="1F3A5F"/>
                </a:solidFill>
                <a:latin typeface="Calibri"/>
              </a:rPr>
              <a:t>P</a:t>
            </a:r>
          </a:p>
        </p:txBody>
      </p:sp>
      <p:sp>
        <p:nvSpPr>
          <p:cNvPr id="18" name="TextBox 17"/>
          <p:cNvSpPr txBox="1"/>
          <p:nvPr/>
        </p:nvSpPr>
        <p:spPr>
          <a:xfrm>
            <a:off x="713232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I</a:t>
            </a:r>
          </a:p>
        </p:txBody>
      </p:sp>
      <p:sp>
        <p:nvSpPr>
          <p:cNvPr id="19" name="TextBox 18"/>
          <p:cNvSpPr txBox="1"/>
          <p:nvPr/>
        </p:nvSpPr>
        <p:spPr>
          <a:xfrm>
            <a:off x="8412480" y="2909620"/>
            <a:ext cx="822960" cy="377190"/>
          </a:xfrm>
          <a:prstGeom prst="rect">
            <a:avLst/>
          </a:prstGeom>
          <a:noFill/>
        </p:spPr>
        <p:txBody>
          <a:bodyPr wrap="square" lIns="0" tIns="0" rIns="0" bIns="0">
            <a:spAutoFit/>
          </a:bodyPr>
          <a:lstStyle/>
          <a:p>
            <a:pPr algn="ctr">
              <a:lnSpc>
                <a:spcPct val="100000"/>
              </a:lnSpc>
              <a:spcAft>
                <a:spcPts val="100"/>
              </a:spcAft>
              <a:defRPr sz="1800" b="1">
                <a:solidFill>
                  <a:srgbClr val="1F3A5F"/>
                </a:solidFill>
                <a:latin typeface="Calibri"/>
              </a:defRPr>
            </a:pPr>
            <a:r>
              <a:rPr sz="18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alibri"/>
              </a:defRPr>
            </a:pPr>
            <a:r>
              <a:rPr sz="1300" b="0">
                <a:solidFill>
                  <a:srgbClr val="222222"/>
                </a:solidFill>
                <a:latin typeface="Calibri"/>
              </a:rPr>
              <a:t>ONE NEOPIXEL</a:t>
            </a:r>
          </a:p>
          <a:p>
            <a:pPr algn="ctr">
              <a:lnSpc>
                <a:spcPct val="100000"/>
              </a:lnSpc>
              <a:spcAft>
                <a:spcPts val="0"/>
              </a:spcAft>
              <a:defRPr sz="1300" b="0">
                <a:solidFill>
                  <a:srgbClr val="222222"/>
                </a:solidFill>
                <a:latin typeface="Calibri"/>
              </a:defRPr>
            </a:pPr>
            <a:r>
              <a:rPr sz="1300" b="0">
                <a:solidFill>
                  <a:srgbClr val="222222"/>
                </a:solidFill>
                <a:latin typeface="Calibri"/>
              </a:rPr>
              <a:t>at full white</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3 LEDs x 20 mA</a:t>
            </a:r>
          </a:p>
          <a:p>
            <a:pPr algn="ctr">
              <a:lnSpc>
                <a:spcPct val="100000"/>
              </a:lnSpc>
              <a:spcAft>
                <a:spcPts val="0"/>
              </a:spcAft>
              <a:defRPr sz="1300" b="0">
                <a:solidFill>
                  <a:srgbClr val="222222"/>
                </a:solidFill>
                <a:latin typeface="Calibri"/>
              </a:defRPr>
            </a:pPr>
            <a:r>
              <a:rPr sz="1300" b="0">
                <a:solidFill>
                  <a:srgbClr val="222222"/>
                </a:solidFill>
                <a:latin typeface="Calibri"/>
              </a:rPr>
              <a:t>= 60 mA</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P = I x V</a:t>
            </a:r>
          </a:p>
          <a:p>
            <a:pPr algn="ctr">
              <a:lnSpc>
                <a:spcPct val="100000"/>
              </a:lnSpc>
              <a:spcAft>
                <a:spcPts val="0"/>
              </a:spcAft>
              <a:defRPr sz="1300" b="0">
                <a:solidFill>
                  <a:srgbClr val="222222"/>
                </a:solidFill>
                <a:latin typeface="Calibri"/>
              </a:defRPr>
            </a:pPr>
            <a:r>
              <a:rPr sz="1300" b="0">
                <a:solidFill>
                  <a:srgbClr val="222222"/>
                </a:solidFill>
                <a:latin typeface="Calibri"/>
              </a:rPr>
              <a:t>= 0.06 x 5</a:t>
            </a:r>
          </a:p>
          <a:p>
            <a:pPr algn="ctr">
              <a:lnSpc>
                <a:spcPct val="100000"/>
              </a:lnSpc>
              <a:spcAft>
                <a:spcPts val="0"/>
              </a:spcAft>
              <a:defRPr sz="1300" b="0">
                <a:solidFill>
                  <a:srgbClr val="222222"/>
                </a:solidFill>
                <a:latin typeface="Calibri"/>
              </a:defRPr>
            </a:pPr>
            <a:r>
              <a:rPr sz="1300" b="0">
                <a:solidFill>
                  <a:srgbClr val="222222"/>
                </a:solidFill>
                <a:latin typeface="Calibri"/>
              </a:rPr>
              <a:t>= 0.3 W</a:t>
            </a:r>
          </a:p>
          <a:p>
            <a:pPr algn="ctr">
              <a:lnSpc>
                <a:spcPct val="100000"/>
              </a:lnSpc>
              <a:spcAft>
                <a:spcPts val="0"/>
              </a:spcAft>
              <a:defRPr sz="1300" b="0">
                <a:solidFill>
                  <a:srgbClr val="222222"/>
                </a:solidFill>
                <a:latin typeface="Calibri"/>
              </a:defRPr>
            </a:pPr>
          </a:p>
          <a:p>
            <a:pPr algn="ctr">
              <a:lnSpc>
                <a:spcPct val="100000"/>
              </a:lnSpc>
              <a:spcAft>
                <a:spcPts val="0"/>
              </a:spcAft>
              <a:defRPr sz="1300" b="0">
                <a:solidFill>
                  <a:srgbClr val="222222"/>
                </a:solidFill>
                <a:latin typeface="Calibri"/>
              </a:defRPr>
            </a:pPr>
            <a:r>
              <a:rPr sz="1300" b="0">
                <a:solidFill>
                  <a:srgbClr val="222222"/>
                </a:solidFill>
                <a:latin typeface="Calibri"/>
              </a:rPr>
              <a:t>x 32 pixels</a:t>
            </a:r>
          </a:p>
          <a:p>
            <a:pPr algn="ctr">
              <a:lnSpc>
                <a:spcPct val="100000"/>
              </a:lnSpc>
              <a:spcAft>
                <a:spcPts val="0"/>
              </a:spcAft>
              <a:defRPr sz="1300" b="0">
                <a:solidFill>
                  <a:srgbClr val="222222"/>
                </a:solidFill>
                <a:latin typeface="Calibri"/>
              </a:defRPr>
            </a:pPr>
            <a:r>
              <a:rPr sz="1300" b="0">
                <a:solidFill>
                  <a:srgbClr val="222222"/>
                </a:solidFill>
                <a:latin typeface="Calibri"/>
              </a:rPr>
              <a:t>= 1.92 A</a:t>
            </a:r>
          </a:p>
          <a:p>
            <a:pPr algn="ctr">
              <a:lnSpc>
                <a:spcPct val="100000"/>
              </a:lnSpc>
              <a:spcAft>
                <a:spcPts val="0"/>
              </a:spcAft>
              <a:defRPr sz="1300" b="0">
                <a:solidFill>
                  <a:srgbClr val="222222"/>
                </a:solidFill>
                <a:latin typeface="Calibri"/>
              </a:defRPr>
            </a:pPr>
            <a:r>
              <a:rPr sz="13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Sensors.ino  /  a5b_ina219_current.ino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200">
                <a:latin typeface="Consolas"/>
              </a:defRPr>
            </a:pPr>
            <a:r>
              <a:rPr sz="1200">
                <a:solidFill>
                  <a:srgbClr val="222222"/>
                </a:solidFill>
                <a:latin typeface="Consolas"/>
              </a:rPr>
              <a:t>uint16_t ina219_read16(uint8_t reg) {</a:t>
            </a:r>
          </a:p>
          <a:p>
            <a:pPr algn="l">
              <a:lnSpc>
                <a:spcPct val="100000"/>
              </a:lnSpc>
              <a:spcAft>
                <a:spcPts val="0"/>
              </a:spcAft>
              <a:defRPr sz="1200">
                <a:latin typeface="Consolas"/>
              </a:defRPr>
            </a:pPr>
            <a:r>
              <a:rPr sz="1200">
                <a:solidFill>
                  <a:srgbClr val="222222"/>
                </a:solidFill>
                <a:latin typeface="Consolas"/>
              </a:rPr>
              <a:t>  Wire.beginTransmission(INA219_I2C_ADDR);</a:t>
            </a:r>
          </a:p>
          <a:p>
            <a:pPr algn="l">
              <a:lnSpc>
                <a:spcPct val="100000"/>
              </a:lnSpc>
              <a:spcAft>
                <a:spcPts val="0"/>
              </a:spcAft>
              <a:defRPr sz="1200">
                <a:latin typeface="Consolas"/>
              </a:defRPr>
            </a:pPr>
            <a:r>
              <a:rPr sz="1200">
                <a:solidFill>
                  <a:srgbClr val="222222"/>
                </a:solidFill>
                <a:latin typeface="Consolas"/>
              </a:rPr>
              <a:t>  Wire.write(reg);</a:t>
            </a:r>
          </a:p>
          <a:p>
            <a:pPr algn="l">
              <a:lnSpc>
                <a:spcPct val="100000"/>
              </a:lnSpc>
              <a:spcAft>
                <a:spcPts val="0"/>
              </a:spcAft>
              <a:defRPr sz="1200">
                <a:latin typeface="Consolas"/>
              </a:defRPr>
            </a:pPr>
            <a:r>
              <a:rPr sz="1200" b="1">
                <a:solidFill>
                  <a:srgbClr val="0E7C86"/>
                </a:solidFill>
                <a:latin typeface="Consolas"/>
              </a:rPr>
              <a:t>  Wire.endTransmission(false);   // REPEATED START, keep the bus</a:t>
            </a:r>
          </a:p>
          <a:p>
            <a:pPr algn="l">
              <a:lnSpc>
                <a:spcPct val="100000"/>
              </a:lnSpc>
              <a:spcAft>
                <a:spcPts val="0"/>
              </a:spcAft>
              <a:defRPr sz="1200">
                <a:latin typeface="Consolas"/>
              </a:defRPr>
            </a:pPr>
            <a:r>
              <a:rPr sz="1200">
                <a:solidFill>
                  <a:srgbClr val="222222"/>
                </a:solidFill>
                <a:latin typeface="Consolas"/>
              </a:rPr>
              <a:t>  Wire.requestFrom((uint8_t)INA219_I2C_ADDR, (uint8_t)2);</a:t>
            </a:r>
          </a:p>
          <a:p>
            <a:pPr algn="l">
              <a:lnSpc>
                <a:spcPct val="100000"/>
              </a:lnSpc>
              <a:spcAft>
                <a:spcPts val="0"/>
              </a:spcAft>
              <a:defRPr sz="1200">
                <a:latin typeface="Consolas"/>
              </a:defRPr>
            </a:pPr>
            <a:r>
              <a:rPr sz="1200">
                <a:solidFill>
                  <a:srgbClr val="222222"/>
                </a:solidFill>
                <a:latin typeface="Consolas"/>
              </a:rPr>
              <a:t>  return Wire.available() &gt;= 2 ? (Wire.read() &lt;&lt; 8) | Wire.read() : 0;</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readCurrentAmps() {</a:t>
            </a:r>
          </a:p>
          <a:p>
            <a:pPr algn="l">
              <a:lnSpc>
                <a:spcPct val="100000"/>
              </a:lnSpc>
              <a:spcAft>
                <a:spcPts val="0"/>
              </a:spcAft>
              <a:defRPr sz="1200">
                <a:latin typeface="Consolas"/>
              </a:defRPr>
            </a:pPr>
            <a:r>
              <a:rPr sz="1200" b="1">
                <a:solidFill>
                  <a:srgbClr val="0E7C86"/>
                </a:solidFill>
                <a:latin typeface="Consolas"/>
              </a:rPr>
              <a:t>  int16_t raw = (int16_t)ina219_read16(REG_SHUNT);   // SIGNED</a:t>
            </a:r>
          </a:p>
          <a:p>
            <a:pPr algn="l">
              <a:lnSpc>
                <a:spcPct val="100000"/>
              </a:lnSpc>
              <a:spcAft>
                <a:spcPts val="0"/>
              </a:spcAft>
              <a:defRPr sz="1200">
                <a:latin typeface="Consolas"/>
              </a:defRPr>
            </a:pPr>
            <a:r>
              <a:rPr sz="1200">
                <a:solidFill>
                  <a:srgbClr val="222222"/>
                </a:solidFill>
                <a:latin typeface="Consolas"/>
              </a:rPr>
              <a:t>  return (raw * 0.01f) / (SHUNT_RESISTOR_OHMS * 1000.0f);</a:t>
            </a:r>
          </a:p>
          <a:p>
            <a:pPr algn="l">
              <a:lnSpc>
                <a:spcPct val="100000"/>
              </a:lnSpc>
              <a:spcAft>
                <a:spcPts val="0"/>
              </a:spcAft>
              <a:defRPr sz="1200">
                <a:latin typeface="Consolas"/>
              </a:defRPr>
            </a:pPr>
            <a:r>
              <a:rPr sz="1200">
                <a:solidFill>
                  <a:srgbClr val="222222"/>
                </a:solidFill>
                <a:latin typeface="Consolas"/>
              </a:rPr>
              <a:t>}</a:t>
            </a:r>
          </a:p>
          <a:p>
            <a:pPr algn="l">
              <a:lnSpc>
                <a:spcPct val="100000"/>
              </a:lnSpc>
              <a:spcAft>
                <a:spcPts val="0"/>
              </a:spcAft>
              <a:defRPr sz="1200">
                <a:latin typeface="Consolas"/>
              </a:defRPr>
            </a:pPr>
            <a:r>
              <a:rPr sz="1200">
                <a:solidFill>
                  <a:srgbClr val="222222"/>
                </a:solidFill>
                <a:latin typeface="Consolas"/>
              </a:rPr>
              <a:t> </a:t>
            </a:r>
          </a:p>
          <a:p>
            <a:pPr algn="l">
              <a:lnSpc>
                <a:spcPct val="100000"/>
              </a:lnSpc>
              <a:spcAft>
                <a:spcPts val="0"/>
              </a:spcAft>
              <a:defRPr sz="1200">
                <a:latin typeface="Consolas"/>
              </a:defRPr>
            </a:pPr>
            <a:r>
              <a:rPr sz="1200">
                <a:solidFill>
                  <a:srgbClr val="222222"/>
                </a:solidFill>
                <a:latin typeface="Consolas"/>
              </a:rPr>
              <a:t>float readBusVolts() {</a:t>
            </a:r>
          </a:p>
          <a:p>
            <a:pPr algn="l">
              <a:lnSpc>
                <a:spcPct val="100000"/>
              </a:lnSpc>
              <a:spcAft>
                <a:spcPts val="0"/>
              </a:spcAft>
              <a:defRPr sz="1200">
                <a:latin typeface="Consolas"/>
              </a:defRPr>
            </a:pPr>
            <a:r>
              <a:rPr sz="1200">
                <a:solidFill>
                  <a:srgbClr val="222222"/>
                </a:solidFill>
                <a:latin typeface="Consolas"/>
              </a:rPr>
              <a:t>  uint16_t value = ina219_read16(REG_BUS);</a:t>
            </a:r>
          </a:p>
          <a:p>
            <a:pPr algn="l">
              <a:lnSpc>
                <a:spcPct val="100000"/>
              </a:lnSpc>
              <a:spcAft>
                <a:spcPts val="0"/>
              </a:spcAft>
              <a:defRPr sz="1200">
                <a:latin typeface="Consolas"/>
              </a:defRPr>
            </a:pPr>
            <a:r>
              <a:rPr sz="1200">
                <a:solidFill>
                  <a:srgbClr val="222222"/>
                </a:solidFill>
                <a:latin typeface="Consolas"/>
              </a:rPr>
              <a:t>  return (float)((value &gt;&gt; 3) * 4) * 0.001f;   // top 13 bits, 4 mV/count</a:t>
            </a:r>
          </a:p>
          <a:p>
            <a:pPr algn="l">
              <a:lnSpc>
                <a:spcPct val="100000"/>
              </a:lnSpc>
              <a:spcAft>
                <a:spcPts val="0"/>
              </a:spcAft>
              <a:defRPr sz="1200">
                <a:latin typeface="Consolas"/>
              </a:defRPr>
            </a:pPr>
            <a:r>
              <a:rPr sz="12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endTransmission(FALSE) is a repeated start. A full stop in the middle would let another master grab the bus between the two halves of one logical read.</a:t>
            </a:r>
          </a:p>
          <a:p>
            <a:pPr algn="l">
              <a:lnSpc>
                <a:spcPct val="100000"/>
              </a:lnSpc>
              <a:spcAft>
                <a:spcPts val="1100"/>
              </a:spcAft>
              <a:defRPr sz="1500" b="0">
                <a:solidFill>
                  <a:srgbClr val="222222"/>
                </a:solidFill>
                <a:latin typeface="Calibri"/>
              </a:defRPr>
            </a:pPr>
            <a:r>
              <a:rPr sz="1500" b="0">
                <a:solidFill>
                  <a:srgbClr val="222222"/>
                </a:solidFill>
                <a:latin typeface="Calibri"/>
              </a:rPr>
              <a:t>The shunt register is SIGNED - current can flow both ways. Read it as unsigned and every regenerative braking current becomes a huge positive number.</a:t>
            </a:r>
          </a:p>
          <a:p>
            <a:pPr algn="l">
              <a:lnSpc>
                <a:spcPct val="100000"/>
              </a:lnSpc>
              <a:spcAft>
                <a:spcPts val="1100"/>
              </a:spcAft>
              <a:defRPr sz="1500" b="0">
                <a:solidFill>
                  <a:srgbClr val="222222"/>
                </a:solidFill>
                <a:latin typeface="Calibri"/>
              </a:defRPr>
            </a:pPr>
            <a:r>
              <a:rPr sz="1500" b="0">
                <a:solidFill>
                  <a:srgbClr val="222222"/>
                </a:solidFill>
                <a:latin typeface="Calibri"/>
              </a:rPr>
              <a:t>The bus voltage sits in the TOP 13 bits with status bits below, so it has to be shifted down before it means anything.</a:t>
            </a:r>
          </a:p>
          <a:p>
            <a:pPr algn="l">
              <a:lnSpc>
                <a:spcPct val="100000"/>
              </a:lnSpc>
              <a:spcAft>
                <a:spcPts val="1100"/>
              </a:spcAft>
              <a:defRPr sz="1500" b="0">
                <a:solidFill>
                  <a:srgbClr val="222222"/>
                </a:solidFill>
                <a:latin typeface="Calibri"/>
              </a:defRPr>
            </a:pPr>
            <a:r>
              <a:rPr sz="1500" b="0">
                <a:solidFill>
                  <a:srgbClr val="222222"/>
                </a:solidFill>
                <a:latin typeface="Calibri"/>
              </a:rPr>
              <a:t>There is a perfectly good Adafruit library. Forty lines of your own makes the datasheet readable instead of mysterious.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500"/>
              </a:spcAft>
              <a:defRPr sz="1300" b="0">
                <a:solidFill>
                  <a:srgbClr val="222222"/>
                </a:solidFill>
                <a:latin typeface="Calibri"/>
              </a:defRPr>
            </a:pPr>
            <a:r>
              <a:rPr sz="1300" b="0">
                <a:solidFill>
                  <a:srgbClr val="222222"/>
                </a:solidFill>
                <a:latin typeface="Calibri"/>
              </a:rPr>
              <a:t>1.  baseline  with everything off. Now switch the headlights on and take another. Where did the difference go?</a:t>
            </a:r>
          </a:p>
          <a:p>
            <a:pPr algn="l">
              <a:lnSpc>
                <a:spcPct val="100000"/>
              </a:lnSpc>
              <a:spcAft>
                <a:spcPts val="500"/>
              </a:spcAft>
              <a:defRPr sz="1300" b="0">
                <a:solidFill>
                  <a:srgbClr val="222222"/>
                </a:solidFill>
                <a:latin typeface="Calibri"/>
              </a:defRPr>
            </a:pPr>
            <a:r>
              <a:rPr sz="1300" b="0">
                <a:solidFill>
                  <a:srgbClr val="222222"/>
                </a:solidFill>
                <a:latin typeface="Calibri"/>
              </a:rPr>
              <a:t>2.  spin 0  with the wheel free. Then HOLD the wheel and do it again. Compare peak and average.</a:t>
            </a:r>
          </a:p>
          <a:p>
            <a:pPr algn="l">
              <a:lnSpc>
                <a:spcPct val="100000"/>
              </a:lnSpc>
              <a:spcAft>
                <a:spcPts val="500"/>
              </a:spcAft>
              <a:defRPr sz="1300" b="0">
                <a:solidFill>
                  <a:srgbClr val="222222"/>
                </a:solidFill>
                <a:latin typeface="Calibri"/>
              </a:defRPr>
            </a:pPr>
            <a:r>
              <a:rPr sz="1300" b="0">
                <a:solidFill>
                  <a:srgbClr val="222222"/>
                </a:solidFill>
                <a:latin typeface="Calibri"/>
              </a:rPr>
              <a:t>3.  Unplug one motor and run  test. Which numbers give it away?</a:t>
            </a:r>
          </a:p>
          <a:p>
            <a:pPr algn="l">
              <a:lnSpc>
                <a:spcPct val="100000"/>
              </a:lnSpc>
              <a:spcAft>
                <a:spcPts val="500"/>
              </a:spcAft>
              <a:defRPr sz="1300" b="0">
                <a:solidFill>
                  <a:srgbClr val="222222"/>
                </a:solidFill>
                <a:latin typeface="Calibri"/>
              </a:defRPr>
            </a:pPr>
            <a:r>
              <a:rPr sz="1300" b="0">
                <a:solidFill>
                  <a:srgbClr val="222222"/>
                </a:solidFill>
                <a:latin typeface="Calibri"/>
              </a:rPr>
              <a:t>4.  regs  - read the raw registers and check them against the datasheet values in the comments.</a:t>
            </a:r>
          </a:p>
          <a:p>
            <a:pPr algn="l">
              <a:lnSpc>
                <a:spcPct val="100000"/>
              </a:lnSpc>
              <a:spcAft>
                <a:spcPts val="500"/>
              </a:spcAft>
              <a:defRPr sz="1300" b="0">
                <a:solidFill>
                  <a:srgbClr val="222222"/>
                </a:solidFill>
                <a:latin typeface="Calibri"/>
              </a:defRPr>
            </a:pPr>
            <a:r>
              <a:rPr sz="1300" b="0">
                <a:solidFill>
                  <a:srgbClr val="222222"/>
                </a:solidFill>
                <a:latin typeface="Calibri"/>
              </a:rPr>
              <a:t>5.  Work out how long a 3300 mAh pack lasts at the average you measured while driving.</a:t>
            </a:r>
          </a:p>
          <a:p>
            <a:pPr algn="l">
              <a:lnSpc>
                <a:spcPct val="100000"/>
              </a:lnSpc>
              <a:spcAft>
                <a:spcPts val="500"/>
              </a:spcAft>
              <a:defRPr sz="1300" b="0">
                <a:solidFill>
                  <a:srgbClr val="222222"/>
                </a:solidFill>
                <a:latin typeface="Calibri"/>
              </a:defRPr>
            </a:pPr>
            <a:r>
              <a:rPr sz="1300" b="0">
                <a:solidFill>
                  <a:srgbClr val="222222"/>
                </a:solidFill>
                <a:latin typeface="Calibri"/>
              </a:rPr>
              <a:t>6.  Compare that with the LED power budget from the beginner course. Which dominates?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your vehicle's resting current?</a:t>
            </a:r>
          </a:p>
          <a:p>
            <a:pPr algn="l">
              <a:lnSpc>
                <a:spcPct val="100000"/>
              </a:lnSpc>
              <a:spcAft>
                <a:spcPts val="600"/>
              </a:spcAft>
              <a:defRPr sz="1500" b="0">
                <a:solidFill>
                  <a:srgbClr val="222222"/>
                </a:solidFill>
                <a:latin typeface="Calibri"/>
              </a:defRPr>
            </a:pPr>
            <a:r>
              <a:rPr sz="1500" b="0">
                <a:solidFill>
                  <a:srgbClr val="222222"/>
                </a:solidFill>
                <a:latin typeface="Calibri"/>
              </a:rPr>
              <a:t>How long will your battery last at your measured average?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Rectangle 5"/>
          <p:cNvSpPr/>
          <p:nvPr/>
        </p:nvSpPr>
        <p:spPr>
          <a:xfrm>
            <a:off x="1325880" y="1691640"/>
            <a:ext cx="3017520" cy="228600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7" name="Connector 6"/>
          <p:cNvCxnSpPr/>
          <p:nvPr/>
        </p:nvCxnSpPr>
        <p:spPr>
          <a:xfrm>
            <a:off x="132588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325880" y="380939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756954" y="1979676"/>
            <a:ext cx="431074" cy="182971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88028" y="1979676"/>
            <a:ext cx="431074" cy="69403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619102" y="2673706"/>
            <a:ext cx="431074" cy="35753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0176" y="3031236"/>
            <a:ext cx="431074" cy="105156"/>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481250" y="3136392"/>
            <a:ext cx="431074" cy="4206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912324" y="317845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325880" y="1344168"/>
            <a:ext cx="301752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HEALTHY</a:t>
            </a:r>
          </a:p>
        </p:txBody>
      </p:sp>
      <p:sp>
        <p:nvSpPr>
          <p:cNvPr id="16" name="TextBox 15"/>
          <p:cNvSpPr txBox="1"/>
          <p:nvPr/>
        </p:nvSpPr>
        <p:spPr>
          <a:xfrm>
            <a:off x="1325880" y="406908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222222"/>
                </a:solidFill>
                <a:latin typeface="Calibri"/>
              </a:defRPr>
            </a:pPr>
            <a:r>
              <a:rPr sz="1200" b="0">
                <a:solidFill>
                  <a:srgbClr val="222222"/>
                </a:solidFill>
                <a:latin typeface="Calibri"/>
              </a:rPr>
              <a:t>spikes as it breaks away,</a:t>
            </a:r>
          </a:p>
          <a:p>
            <a:pPr algn="ctr">
              <a:lnSpc>
                <a:spcPct val="100000"/>
              </a:lnSpc>
              <a:spcAft>
                <a:spcPts val="100"/>
              </a:spcAft>
              <a:defRPr sz="1200" b="0">
                <a:solidFill>
                  <a:srgbClr val="222222"/>
                </a:solidFill>
                <a:latin typeface="Calibri"/>
              </a:defRPr>
            </a:pPr>
            <a:r>
              <a:rPr sz="1200" b="0">
                <a:solidFill>
                  <a:srgbClr val="222222"/>
                </a:solidFill>
                <a:latin typeface="Calibri"/>
              </a:rPr>
              <a:t>then settles</a:t>
            </a:r>
          </a:p>
        </p:txBody>
      </p:sp>
      <p:sp>
        <p:nvSpPr>
          <p:cNvPr id="17" name="Rectangle 16"/>
          <p:cNvSpPr/>
          <p:nvPr/>
        </p:nvSpPr>
        <p:spPr>
          <a:xfrm>
            <a:off x="4846320" y="1691640"/>
            <a:ext cx="3017520" cy="228600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18" name="Connector 17"/>
          <p:cNvCxnSpPr/>
          <p:nvPr/>
        </p:nvCxnSpPr>
        <p:spPr>
          <a:xfrm>
            <a:off x="484632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846320" y="385145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277394" y="3809391"/>
            <a:ext cx="431074" cy="4206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08468" y="3809391"/>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39542"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570616"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001690" y="3830422"/>
            <a:ext cx="431074" cy="21031"/>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32764" y="385145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846320" y="1344168"/>
            <a:ext cx="301752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DISCONNECTED</a:t>
            </a:r>
          </a:p>
        </p:txBody>
      </p:sp>
      <p:sp>
        <p:nvSpPr>
          <p:cNvPr id="27" name="TextBox 26"/>
          <p:cNvSpPr txBox="1"/>
          <p:nvPr/>
        </p:nvSpPr>
        <p:spPr>
          <a:xfrm>
            <a:off x="4846320" y="406908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222222"/>
                </a:solidFill>
                <a:latin typeface="Calibri"/>
              </a:defRPr>
            </a:pPr>
            <a:r>
              <a:rPr sz="1200" b="0">
                <a:solidFill>
                  <a:srgbClr val="222222"/>
                </a:solidFill>
                <a:latin typeface="Calibri"/>
              </a:rPr>
              <a:t>no spike, almost no draw</a:t>
            </a:r>
          </a:p>
        </p:txBody>
      </p:sp>
      <p:sp>
        <p:nvSpPr>
          <p:cNvPr id="28" name="Rectangle 27"/>
          <p:cNvSpPr/>
          <p:nvPr/>
        </p:nvSpPr>
        <p:spPr>
          <a:xfrm>
            <a:off x="8366760" y="1691640"/>
            <a:ext cx="3017520" cy="228600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29" name="Connector 28"/>
          <p:cNvCxnSpPr/>
          <p:nvPr/>
        </p:nvCxnSpPr>
        <p:spPr>
          <a:xfrm>
            <a:off x="8366760" y="3749040"/>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366760" y="380939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797834" y="1916583"/>
            <a:ext cx="431074" cy="1892808"/>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28908" y="1916583"/>
            <a:ext cx="431074" cy="63093"/>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659982" y="1979676"/>
            <a:ext cx="431074" cy="210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091056" y="1958645"/>
            <a:ext cx="431074" cy="42063"/>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522130" y="1958645"/>
            <a:ext cx="431074" cy="21031"/>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953204" y="1979676"/>
            <a:ext cx="431074" cy="210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366760" y="1344168"/>
            <a:ext cx="3017520" cy="274320"/>
          </a:xfrm>
          <a:prstGeom prst="rect">
            <a:avLst/>
          </a:prstGeom>
          <a:noFill/>
        </p:spPr>
        <p:txBody>
          <a:bodyPr wrap="square" lIns="0" tIns="0" rIns="0" bIns="0">
            <a:spAutoFit/>
          </a:bodyPr>
          <a:lstStyle/>
          <a:p>
            <a:pPr algn="ctr">
              <a:lnSpc>
                <a:spcPct val="100000"/>
              </a:lnSpc>
              <a:spcAft>
                <a:spcPts val="100"/>
              </a:spcAft>
              <a:defRPr sz="1100" b="1">
                <a:solidFill>
                  <a:srgbClr val="A32A2A"/>
                </a:solidFill>
                <a:latin typeface="Calibri"/>
              </a:defRPr>
            </a:pPr>
            <a:r>
              <a:rPr sz="1100" b="1">
                <a:solidFill>
                  <a:srgbClr val="A32A2A"/>
                </a:solidFill>
                <a:latin typeface="Calibri"/>
              </a:rPr>
              <a:t>JAMMED</a:t>
            </a:r>
          </a:p>
        </p:txBody>
      </p:sp>
      <p:sp>
        <p:nvSpPr>
          <p:cNvPr id="38" name="TextBox 37"/>
          <p:cNvSpPr txBox="1"/>
          <p:nvPr/>
        </p:nvSpPr>
        <p:spPr>
          <a:xfrm>
            <a:off x="8366760" y="406908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222222"/>
                </a:solidFill>
                <a:latin typeface="Calibri"/>
              </a:defRPr>
            </a:pPr>
            <a:r>
              <a:rPr sz="1200" b="0">
                <a:solidFill>
                  <a:srgbClr val="222222"/>
                </a:solidFill>
                <a:latin typeface="Calibri"/>
              </a:rPr>
              <a:t>draws a lot and never settles</a:t>
            </a:r>
          </a:p>
        </p:txBody>
      </p:sp>
      <p:sp>
        <p:nvSpPr>
          <p:cNvPr id="39" name="TextBox 38"/>
          <p:cNvSpPr txBox="1"/>
          <p:nvPr/>
        </p:nvSpPr>
        <p:spPr>
          <a:xfrm>
            <a:off x="548640" y="3566159"/>
            <a:ext cx="731520" cy="274320"/>
          </a:xfrm>
          <a:prstGeom prst="rect">
            <a:avLst/>
          </a:prstGeom>
          <a:noFill/>
        </p:spPr>
        <p:txBody>
          <a:bodyPr wrap="square" lIns="0" tIns="0" rIns="0" bIns="0">
            <a:spAutoFit/>
          </a:bodyPr>
          <a:lstStyle/>
          <a:p>
            <a:pPr algn="r">
              <a:lnSpc>
                <a:spcPct val="100000"/>
              </a:lnSpc>
              <a:spcAft>
                <a:spcPts val="100"/>
              </a:spcAft>
              <a:defRPr sz="900" b="0">
                <a:solidFill>
                  <a:srgbClr val="666666"/>
                </a:solidFill>
                <a:latin typeface="Calibri"/>
              </a:defRPr>
            </a:pPr>
            <a:r>
              <a:rPr sz="900" b="0">
                <a:solidFill>
                  <a:srgbClr val="666666"/>
                </a:solidFill>
                <a:latin typeface="Calibri"/>
              </a:rPr>
              <a:t>baseline</a:t>
            </a:r>
          </a:p>
        </p:txBody>
      </p:sp>
      <p:sp>
        <p:nvSpPr>
          <p:cNvPr id="40" name="Rectangle 39"/>
          <p:cNvSpPr/>
          <p:nvPr/>
        </p:nvSpPr>
        <p:spPr>
          <a:xfrm>
            <a:off x="502920" y="5074920"/>
            <a:ext cx="11185855"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200" b="0">
                <a:solidFill>
                  <a:srgbClr val="222222"/>
                </a:solidFill>
                <a:latin typeface="Calibri"/>
              </a:defRPr>
            </a:pPr>
            <a:r>
              <a:rPr sz="1200" b="0">
                <a:solidFill>
                  <a:srgbClr val="222222"/>
                </a:solidFill>
                <a:latin typeface="Calibri"/>
              </a:rPr>
              <a:t>Jumper GPIO 34 high at boot. Each motor is driven forward then reverse while the current sensor watches.</a:t>
            </a:r>
          </a:p>
          <a:p>
            <a:pPr algn="l">
              <a:lnSpc>
                <a:spcPct val="100000"/>
              </a:lnSpc>
              <a:spcAft>
                <a:spcPts val="600"/>
              </a:spcAft>
              <a:defRPr sz="1200" b="0">
                <a:solidFill>
                  <a:srgbClr val="222222"/>
                </a:solidFill>
                <a:latin typeface="Calibri"/>
              </a:defRPr>
            </a:pPr>
          </a:p>
          <a:p>
            <a:pPr lvl="1" algn="l">
              <a:lnSpc>
                <a:spcPct val="100000"/>
              </a:lnSpc>
              <a:spcAft>
                <a:spcPts val="600"/>
              </a:spcAft>
              <a:defRPr sz="1200" b="0">
                <a:solidFill>
                  <a:srgbClr val="222222"/>
                </a:solidFill>
                <a:latin typeface="Calibri"/>
              </a:defRPr>
            </a:pPr>
            <a:r>
              <a:rPr sz="1200" b="0">
                <a:solidFill>
                  <a:srgbClr val="222222"/>
                </a:solidFill>
                <a:latin typeface="Calibri"/>
              </a:rPr>
              <a:t>CHECK_TRIGGER   wait for the pin to settle, then decide</a:t>
            </a:r>
          </a:p>
          <a:p>
            <a:pPr lvl="1" algn="l">
              <a:lnSpc>
                <a:spcPct val="100000"/>
              </a:lnSpc>
              <a:spcAft>
                <a:spcPts val="600"/>
              </a:spcAft>
              <a:defRPr sz="1200" b="0">
                <a:solidFill>
                  <a:srgbClr val="222222"/>
                </a:solidFill>
                <a:latin typeface="Calibri"/>
              </a:defRPr>
            </a:pPr>
            <a:r>
              <a:rPr sz="1200" b="0">
                <a:solidFill>
                  <a:srgbClr val="222222"/>
                </a:solidFill>
                <a:latin typeface="Calibri"/>
              </a:rPr>
              <a:t>BASELINE_CURRENT  measure the resting draw, motors off</a:t>
            </a:r>
          </a:p>
          <a:p>
            <a:pPr lvl="1" algn="l">
              <a:lnSpc>
                <a:spcPct val="100000"/>
              </a:lnSpc>
              <a:spcAft>
                <a:spcPts val="600"/>
              </a:spcAft>
              <a:defRPr sz="1200" b="0">
                <a:solidFill>
                  <a:srgbClr val="222222"/>
                </a:solidFill>
                <a:latin typeface="Calibri"/>
              </a:defRPr>
            </a:pPr>
            <a:r>
              <a:rPr sz="1200" b="0">
                <a:solidFill>
                  <a:srgbClr val="222222"/>
                </a:solidFill>
                <a:latin typeface="Calibri"/>
              </a:rPr>
              <a:t>RUNNING_TESTS     eight steps: four motors, two directions</a:t>
            </a:r>
          </a:p>
          <a:p>
            <a:pPr lvl="1" algn="l">
              <a:lnSpc>
                <a:spcPct val="100000"/>
              </a:lnSpc>
              <a:spcAft>
                <a:spcPts val="600"/>
              </a:spcAft>
              <a:defRPr sz="1200" b="0">
                <a:solidFill>
                  <a:srgbClr val="222222"/>
                </a:solidFill>
                <a:latin typeface="Calibri"/>
              </a:defRPr>
            </a:pPr>
            <a:r>
              <a:rPr sz="1200" b="0">
                <a:solidFill>
                  <a:srgbClr val="222222"/>
                </a:solidFill>
                <a:latin typeface="Calibri"/>
              </a:rPr>
              <a:t>TEST_RESULT       green blinks for pass, red for fail</a:t>
            </a:r>
          </a:p>
          <a:p>
            <a:pPr lvl="1" algn="l">
              <a:lnSpc>
                <a:spcPct val="100000"/>
              </a:lnSpc>
              <a:spcAft>
                <a:spcPts val="600"/>
              </a:spcAft>
              <a:defRPr sz="1200" b="0">
                <a:solidFill>
                  <a:srgbClr val="222222"/>
                </a:solidFill>
                <a:latin typeface="Calibri"/>
              </a:defRPr>
            </a:pPr>
            <a:r>
              <a:rPr sz="1200" b="0">
                <a:solidFill>
                  <a:srgbClr val="222222"/>
                </a:solidFill>
                <a:latin typeface="Calibri"/>
              </a:rPr>
              <a:t>TEST_DISABLED     hand over to normal driving</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600"/>
              </a:spcAft>
              <a:defRPr sz="1200" b="0">
                <a:solidFill>
                  <a:srgbClr val="222222"/>
                </a:solidFill>
                <a:latin typeface="Calibri"/>
              </a:defRPr>
            </a:pPr>
          </a:p>
          <a:p>
            <a:pPr algn="l">
              <a:lnSpc>
                <a:spcPct val="100000"/>
              </a:lnSpc>
              <a:spcAft>
                <a:spcPts val="600"/>
              </a:spcAft>
              <a:defRPr sz="1200" b="0">
                <a:solidFill>
                  <a:srgbClr val="222222"/>
                </a:solidFill>
                <a:latin typeface="Calibri"/>
              </a:defRPr>
            </a:pPr>
            <a:r>
              <a:rPr sz="12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maths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What  diag  gives you</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300" b="0">
                <a:solidFill>
                  <a:srgbClr val="222222"/>
                </a:solidFill>
                <a:latin typeface="Calibri"/>
              </a:defRPr>
            </a:pPr>
            <a:r>
              <a:rPr sz="1300" b="0">
                <a:solidFill>
                  <a:srgbClr val="222222"/>
                </a:solidFill>
                <a:latin typeface="Calibri"/>
              </a:rPr>
              <a:t>Every five seconds, while it is switched on:</a:t>
            </a:r>
          </a:p>
          <a:p>
            <a:pPr lvl="1" algn="l">
              <a:lnSpc>
                <a:spcPct val="100000"/>
              </a:lnSpc>
              <a:spcAft>
                <a:spcPts val="800"/>
              </a:spcAft>
              <a:defRPr sz="1300" b="0">
                <a:solidFill>
                  <a:srgbClr val="222222"/>
                </a:solidFill>
                <a:latin typeface="Calibri"/>
              </a:defRPr>
            </a:pPr>
            <a:r>
              <a:rPr sz="1300" b="0">
                <a:solidFill>
                  <a:srgbClr val="222222"/>
                </a:solidFill>
                <a:latin typeface="Calibri"/>
              </a:rPr>
              <a:t>VBat   - bus voltage, straight from the sensor</a:t>
            </a:r>
          </a:p>
          <a:p>
            <a:pPr lvl="1" algn="l">
              <a:lnSpc>
                <a:spcPct val="100000"/>
              </a:lnSpc>
              <a:spcAft>
                <a:spcPts val="800"/>
              </a:spcAft>
              <a:defRPr sz="1300" b="0">
                <a:solidFill>
                  <a:srgbClr val="222222"/>
                </a:solidFill>
                <a:latin typeface="Calibri"/>
              </a:defRPr>
            </a:pPr>
            <a:r>
              <a:rPr sz="1300" b="0">
                <a:solidFill>
                  <a:srgbClr val="222222"/>
                </a:solidFill>
                <a:latin typeface="Calibri"/>
              </a:rPr>
              <a:t>I-Avg  - mean current since the last report</a:t>
            </a:r>
          </a:p>
          <a:p>
            <a:pPr lvl="1" algn="l">
              <a:lnSpc>
                <a:spcPct val="100000"/>
              </a:lnSpc>
              <a:spcAft>
                <a:spcPts val="800"/>
              </a:spcAft>
              <a:defRPr sz="1300" b="0">
                <a:solidFill>
                  <a:srgbClr val="222222"/>
                </a:solidFill>
                <a:latin typeface="Calibri"/>
              </a:defRPr>
            </a:pPr>
            <a:r>
              <a:rPr sz="1300" b="0">
                <a:solidFill>
                  <a:srgbClr val="222222"/>
                </a:solidFill>
                <a:latin typeface="Calibri"/>
              </a:rPr>
              <a:t>I-Max  - the largest positive spike</a:t>
            </a:r>
          </a:p>
          <a:p>
            <a:pPr lvl="1" algn="l">
              <a:lnSpc>
                <a:spcPct val="100000"/>
              </a:lnSpc>
              <a:spcAft>
                <a:spcPts val="800"/>
              </a:spcAft>
              <a:defRPr sz="1300" b="0">
                <a:solidFill>
                  <a:srgbClr val="222222"/>
                </a:solidFill>
                <a:latin typeface="Calibri"/>
              </a:defRPr>
            </a:pPr>
            <a:r>
              <a:rPr sz="1300" b="0">
                <a:solidFill>
                  <a:srgbClr val="222222"/>
                </a:solidFill>
                <a:latin typeface="Calibri"/>
              </a:rPr>
              <a:t>I-Min  - the largest negative excursion</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Work it out for your vehicle</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400"/>
              </a:spcAft>
              <a:defRPr sz="1200" b="0">
                <a:solidFill>
                  <a:srgbClr val="222222"/>
                </a:solidFill>
                <a:latin typeface="Calibri"/>
              </a:defRPr>
            </a:pPr>
            <a:r>
              <a:rPr sz="1200" b="0">
                <a:solidFill>
                  <a:srgbClr val="222222"/>
                </a:solidFill>
                <a:latin typeface="Calibri"/>
              </a:rPr>
              <a:t>A 4S 3300 mAh pack holds 3.3 amp hours.</a:t>
            </a:r>
          </a:p>
          <a:p>
            <a:pPr algn="l">
              <a:lnSpc>
                <a:spcPct val="100000"/>
              </a:lnSpc>
              <a:spcAft>
                <a:spcPts val="400"/>
              </a:spcAft>
              <a:defRPr sz="1200" b="0">
                <a:solidFill>
                  <a:srgbClr val="222222"/>
                </a:solidFill>
                <a:latin typeface="Calibri"/>
              </a:defRPr>
            </a:pPr>
          </a:p>
          <a:p>
            <a:pPr lvl="1" algn="l">
              <a:lnSpc>
                <a:spcPct val="100000"/>
              </a:lnSpc>
              <a:spcAft>
                <a:spcPts val="400"/>
              </a:spcAft>
              <a:defRPr sz="1200" b="0">
                <a:solidFill>
                  <a:srgbClr val="222222"/>
                </a:solidFill>
                <a:latin typeface="Calibri"/>
              </a:defRPr>
            </a:pPr>
            <a:r>
              <a:rPr sz="1200" b="0">
                <a:solidFill>
                  <a:srgbClr val="222222"/>
                </a:solidFill>
                <a:latin typeface="Calibri"/>
              </a:rPr>
              <a:t>runtime (hours) = 3.3 / average current in amps</a:t>
            </a:r>
          </a:p>
          <a:p>
            <a:pPr algn="l">
              <a:lnSpc>
                <a:spcPct val="100000"/>
              </a:lnSpc>
              <a:spcAft>
                <a:spcPts val="400"/>
              </a:spcAft>
              <a:defRPr sz="1200" b="0">
                <a:solidFill>
                  <a:srgbClr val="222222"/>
                </a:solidFill>
                <a:latin typeface="Calibri"/>
              </a:defRPr>
            </a:pPr>
          </a:p>
          <a:p>
            <a:pPr algn="l">
              <a:lnSpc>
                <a:spcPct val="100000"/>
              </a:lnSpc>
              <a:spcAft>
                <a:spcPts val="400"/>
              </a:spcAft>
              <a:defRPr sz="1200" b="0">
                <a:solidFill>
                  <a:srgbClr val="222222"/>
                </a:solidFill>
                <a:latin typeface="Calibri"/>
              </a:defRPr>
            </a:pPr>
            <a:r>
              <a:rPr sz="1200" b="0">
                <a:solidFill>
                  <a:srgbClr val="222222"/>
                </a:solidFill>
                <a:latin typeface="Calibri"/>
              </a:rPr>
              <a:t>So at a measured 2.0 A average:</a:t>
            </a:r>
          </a:p>
          <a:p>
            <a:pPr lvl="1" algn="l">
              <a:lnSpc>
                <a:spcPct val="100000"/>
              </a:lnSpc>
              <a:spcAft>
                <a:spcPts val="400"/>
              </a:spcAft>
              <a:defRPr sz="1200" b="0">
                <a:solidFill>
                  <a:srgbClr val="222222"/>
                </a:solidFill>
                <a:latin typeface="Calibri"/>
              </a:defRPr>
            </a:pPr>
            <a:r>
              <a:rPr sz="1200" b="0">
                <a:solidFill>
                  <a:srgbClr val="222222"/>
                </a:solidFill>
                <a:latin typeface="Calibri"/>
              </a:rPr>
              <a:t>3.3 / 2.0 = 1.65 hours, about 99 minutes</a:t>
            </a:r>
          </a:p>
          <a:p>
            <a:pPr algn="l">
              <a:lnSpc>
                <a:spcPct val="100000"/>
              </a:lnSpc>
              <a:spcAft>
                <a:spcPts val="400"/>
              </a:spcAft>
              <a:defRPr sz="1200" b="0">
                <a:solidFill>
                  <a:srgbClr val="222222"/>
                </a:solidFill>
                <a:latin typeface="Calibri"/>
              </a:defRPr>
            </a:pPr>
          </a:p>
          <a:p>
            <a:pPr algn="l">
              <a:lnSpc>
                <a:spcPct val="100000"/>
              </a:lnSpc>
              <a:spcAft>
                <a:spcPts val="400"/>
              </a:spcAft>
              <a:defRPr sz="1200" b="0">
                <a:solidFill>
                  <a:srgbClr val="222222"/>
                </a:solidFill>
                <a:latin typeface="Calibri"/>
              </a:defRPr>
            </a:pPr>
            <a:r>
              <a:rPr sz="1200" b="0">
                <a:solidFill>
                  <a:srgbClr val="222222"/>
                </a:solidFill>
                <a:latin typeface="Calibri"/>
              </a:rPr>
              <a:t>At 6.0 A of hard driving:</a:t>
            </a:r>
          </a:p>
          <a:p>
            <a:pPr lvl="1" algn="l">
              <a:lnSpc>
                <a:spcPct val="100000"/>
              </a:lnSpc>
              <a:spcAft>
                <a:spcPts val="400"/>
              </a:spcAft>
              <a:defRPr sz="1200" b="0">
                <a:solidFill>
                  <a:srgbClr val="222222"/>
                </a:solidFill>
                <a:latin typeface="Calibri"/>
              </a:defRPr>
            </a:pPr>
            <a:r>
              <a:rPr sz="1200" b="0">
                <a:solidFill>
                  <a:srgbClr val="222222"/>
                </a:solidFill>
                <a:latin typeface="Calibri"/>
              </a:rPr>
              <a:t>3.3 / 6.0 = 0.55 hours, about 33 minutes</a:t>
            </a:r>
          </a:p>
          <a:p>
            <a:pPr algn="l">
              <a:lnSpc>
                <a:spcPct val="100000"/>
              </a:lnSpc>
              <a:spcAft>
                <a:spcPts val="400"/>
              </a:spcAft>
              <a:defRPr sz="1200" b="0">
                <a:solidFill>
                  <a:srgbClr val="222222"/>
                </a:solidFill>
                <a:latin typeface="Calibri"/>
              </a:defRPr>
            </a:pPr>
          </a:p>
          <a:p>
            <a:pPr algn="l">
              <a:lnSpc>
                <a:spcPct val="100000"/>
              </a:lnSpc>
              <a:spcAft>
                <a:spcPts val="400"/>
              </a:spcAft>
              <a:defRPr sz="1200" b="0">
                <a:solidFill>
                  <a:srgbClr val="222222"/>
                </a:solidFill>
                <a:latin typeface="Calibri"/>
              </a:defRPr>
            </a:pPr>
            <a:r>
              <a:rPr sz="1200" b="0">
                <a:solidFill>
                  <a:srgbClr val="222222"/>
                </a:solidFill>
                <a:latin typeface="Calibri"/>
              </a:rPr>
              <a:t>Now add the LEDs. 32 pixels at full white is nearly 2 A on its own - and that is a constant drain whether you are moving or not.</a:t>
            </a:r>
          </a:p>
          <a:p>
            <a:pPr algn="l">
              <a:lnSpc>
                <a:spcPct val="100000"/>
              </a:lnSpc>
              <a:spcAft>
                <a:spcPts val="400"/>
              </a:spcAft>
              <a:defRPr sz="1200" b="0">
                <a:solidFill>
                  <a:srgbClr val="222222"/>
                </a:solidFill>
                <a:latin typeface="Calibri"/>
              </a:defRPr>
            </a:pPr>
          </a:p>
          <a:p>
            <a:pPr algn="l">
              <a:lnSpc>
                <a:spcPct val="100000"/>
              </a:lnSpc>
              <a:spcAft>
                <a:spcPts val="400"/>
              </a:spcAft>
              <a:defRPr sz="1200" b="0">
                <a:solidFill>
                  <a:srgbClr val="222222"/>
                </a:solidFill>
                <a:latin typeface="Calibri"/>
              </a:defRPr>
            </a:pPr>
            <a:r>
              <a:rPr sz="1200" b="0">
                <a:solidFill>
                  <a:srgbClr val="222222"/>
                </a:solidFill>
                <a:latin typeface="Calibri"/>
              </a:rPr>
              <a:t>Measure yours. Then decide what LED brightness you can actually afford for a two-hour class.</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Say you want a range finder that stops the vehicle before it hits something. Do it the way the program is already built: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1.  Every tunable number goes in Config.h. Pins, thresholds, timings. Nothing hard-coded in the logic.</a:t>
            </a:r>
          </a:p>
          <a:p>
            <a:pPr algn="l">
              <a:lnSpc>
                <a:spcPct val="100000"/>
              </a:lnSpc>
              <a:spcAft>
                <a:spcPts val="600"/>
              </a:spcAft>
              <a:defRPr sz="1500" b="0">
                <a:solidFill>
                  <a:srgbClr val="222222"/>
                </a:solidFill>
                <a:latin typeface="Calibri"/>
              </a:defRPr>
            </a:pPr>
            <a:r>
              <a:rPr sz="1500" b="0">
                <a:solidFill>
                  <a:srgbClr val="222222"/>
                </a:solidFill>
                <a:latin typeface="Calibri"/>
              </a:rPr>
              <a:t>2.  One new tab, RangeFinder.ino, owning all of it.</a:t>
            </a:r>
          </a:p>
          <a:p>
            <a:pPr algn="l">
              <a:lnSpc>
                <a:spcPct val="100000"/>
              </a:lnSpc>
              <a:spcAft>
                <a:spcPts val="600"/>
              </a:spcAft>
              <a:defRPr sz="1500" b="0">
                <a:solidFill>
                  <a:srgbClr val="222222"/>
                </a:solidFill>
                <a:latin typeface="Calibri"/>
              </a:defRPr>
            </a:pPr>
            <a:r>
              <a:rPr sz="1500" b="0">
                <a:solidFill>
                  <a:srgbClr val="222222"/>
                </a:solidFill>
                <a:latin typeface="Calibri"/>
              </a:rPr>
              <a:t>3.  A setup_rangefinder() called from setup(), after the motors.</a:t>
            </a:r>
          </a:p>
          <a:p>
            <a:pPr algn="l">
              <a:lnSpc>
                <a:spcPct val="100000"/>
              </a:lnSpc>
              <a:spcAft>
                <a:spcPts val="600"/>
              </a:spcAft>
              <a:defRPr sz="1500" b="0">
                <a:solidFill>
                  <a:srgbClr val="222222"/>
                </a:solidFill>
                <a:latin typeface="Calibri"/>
              </a:defRPr>
            </a:pPr>
            <a:r>
              <a:rPr sz="1500" b="0">
                <a:solidFill>
                  <a:srgbClr val="222222"/>
                </a:solidFill>
                <a:latin typeface="Calibri"/>
              </a:rPr>
              <a:t>4.  An update_rangefinder(now) called every pass, that returns immediately if it is not time. No delay(), ever.</a:t>
            </a:r>
          </a:p>
          <a:p>
            <a:pPr algn="l">
              <a:lnSpc>
                <a:spcPct val="100000"/>
              </a:lnSpc>
              <a:spcAft>
                <a:spcPts val="600"/>
              </a:spcAft>
              <a:defRPr sz="1500" b="0">
                <a:solidFill>
                  <a:srgbClr val="222222"/>
                </a:solidFill>
                <a:latin typeface="Calibri"/>
              </a:defRPr>
            </a:pPr>
            <a:r>
              <a:rPr sz="1500" b="0">
                <a:solidFill>
                  <a:srgbClr val="222222"/>
                </a:solidFill>
                <a:latin typeface="Calibri"/>
              </a:rPr>
              <a:t>5.  A capability flag, so a vehicle without the sensor still runs this binary.</a:t>
            </a:r>
          </a:p>
          <a:p>
            <a:pPr algn="l">
              <a:lnSpc>
                <a:spcPct val="100000"/>
              </a:lnSpc>
              <a:spcAft>
                <a:spcPts val="600"/>
              </a:spcAft>
              <a:defRPr sz="1500" b="0">
                <a:solidFill>
                  <a:srgbClr val="222222"/>
                </a:solidFill>
                <a:latin typeface="Calibri"/>
              </a:defRPr>
            </a:pPr>
            <a:r>
              <a:rPr sz="1500" b="0">
                <a:solidFill>
                  <a:srgbClr val="222222"/>
                </a:solidFill>
                <a:latin typeface="Calibri"/>
              </a:rPr>
              <a:t>6.  A console command, so it can be tested and tuned without recompiling.</a:t>
            </a:r>
          </a:p>
          <a:p>
            <a:pPr algn="l">
              <a:lnSpc>
                <a:spcPct val="100000"/>
              </a:lnSpc>
              <a:spcAft>
                <a:spcPts val="600"/>
              </a:spcAft>
              <a:defRPr sz="1500" b="0">
                <a:solidFill>
                  <a:srgbClr val="222222"/>
                </a:solidFill>
                <a:latin typeface="Calibri"/>
              </a:defRPr>
            </a:pPr>
            <a:r>
              <a:rPr sz="1500" b="0">
                <a:solidFill>
                  <a:srgbClr val="222222"/>
                </a:solidFill>
                <a:latin typeface="Calibri"/>
              </a:rPr>
              <a:t>7.  Keep its state in static file-scope variables. Expose functions, not variables.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On the vehicle</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Obstacle avoidance from the range finder.</a:t>
            </a:r>
          </a:p>
          <a:p>
            <a:pPr algn="l">
              <a:lnSpc>
                <a:spcPct val="100000"/>
              </a:lnSpc>
              <a:spcAft>
                <a:spcPts val="800"/>
              </a:spcAft>
              <a:defRPr sz="1600" b="0">
                <a:solidFill>
                  <a:srgbClr val="222222"/>
                </a:solidFill>
                <a:latin typeface="Calibri"/>
              </a:defRPr>
            </a:pPr>
            <a:r>
              <a:rPr sz="1600" b="0">
                <a:solidFill>
                  <a:srgbClr val="222222"/>
                </a:solidFill>
                <a:latin typeface="Calibri"/>
              </a:rPr>
              <a:t>Line following.</a:t>
            </a:r>
          </a:p>
          <a:p>
            <a:pPr algn="l">
              <a:lnSpc>
                <a:spcPct val="100000"/>
              </a:lnSpc>
              <a:spcAft>
                <a:spcPts val="800"/>
              </a:spcAft>
              <a:defRPr sz="1600" b="0">
                <a:solidFill>
                  <a:srgbClr val="222222"/>
                </a:solidFill>
                <a:latin typeface="Calibri"/>
              </a:defRPr>
            </a:pPr>
            <a:r>
              <a:rPr sz="16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600" b="0">
                <a:solidFill>
                  <a:srgbClr val="222222"/>
                </a:solidFill>
                <a:latin typeface="Calibri"/>
              </a:defRPr>
            </a:pPr>
            <a:r>
              <a:rPr sz="1600" b="0">
                <a:solidFill>
                  <a:srgbClr val="222222"/>
                </a:solidFill>
                <a:latin typeface="Calibri"/>
              </a:rPr>
              <a:t>Stall detection while driving, using the same current signature logic as the self-test.</a:t>
            </a:r>
          </a:p>
          <a:p>
            <a:pPr algn="l">
              <a:lnSpc>
                <a:spcPct val="100000"/>
              </a:lnSpc>
              <a:spcAft>
                <a:spcPts val="800"/>
              </a:spcAft>
              <a:defRPr sz="1600" b="0">
                <a:solidFill>
                  <a:srgbClr val="222222"/>
                </a:solidFill>
                <a:latin typeface="Calibri"/>
              </a:defRPr>
            </a:pPr>
            <a:r>
              <a:rPr sz="1600" b="0">
                <a:solidFill>
                  <a:srgbClr val="222222"/>
                </a:solidFill>
                <a:latin typeface="Calibri"/>
              </a:rPr>
              <a:t>ESP-NOW, so vehicles talk to each other with no router.</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Beyond it</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The same patterns run cars, medical devices, satellites and industrial controllers.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factory bench test</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Before a control board leaves the factory:</a:t>
            </a:r>
          </a:p>
          <a:p>
            <a:pPr lvl="1" algn="l">
              <a:lnSpc>
                <a:spcPct val="100000"/>
              </a:lnSpc>
              <a:spcAft>
                <a:spcPts val="800"/>
              </a:spcAft>
              <a:defRPr sz="1600" b="0">
                <a:solidFill>
                  <a:srgbClr val="222222"/>
                </a:solidFill>
                <a:latin typeface="Calibri"/>
              </a:defRPr>
            </a:pPr>
            <a:r>
              <a:rPr sz="1600" b="0">
                <a:solidFill>
                  <a:srgbClr val="222222"/>
                </a:solidFill>
                <a:latin typeface="Calibri"/>
              </a:rPr>
              <a:t>Check 15 V, 5 V and 3.3 V rails</a:t>
            </a:r>
          </a:p>
          <a:p>
            <a:pPr lvl="1" algn="l">
              <a:lnSpc>
                <a:spcPct val="100000"/>
              </a:lnSpc>
              <a:spcAft>
                <a:spcPts val="800"/>
              </a:spcAft>
              <a:defRPr sz="1600" b="0">
                <a:solidFill>
                  <a:srgbClr val="222222"/>
                </a:solidFill>
                <a:latin typeface="Calibri"/>
              </a:defRPr>
            </a:pPr>
            <a:r>
              <a:rPr sz="1600" b="0">
                <a:solidFill>
                  <a:srgbClr val="222222"/>
                </a:solidFill>
                <a:latin typeface="Calibri"/>
              </a:rPr>
              <a:t>Break the motor 1 high side into an ammeter</a:t>
            </a:r>
          </a:p>
          <a:p>
            <a:pPr lvl="1" algn="l">
              <a:lnSpc>
                <a:spcPct val="100000"/>
              </a:lnSpc>
              <a:spcAft>
                <a:spcPts val="800"/>
              </a:spcAft>
              <a:defRPr sz="1600" b="0">
                <a:solidFill>
                  <a:srgbClr val="222222"/>
                </a:solidFill>
                <a:latin typeface="Calibri"/>
              </a:defRPr>
            </a:pPr>
            <a:r>
              <a:rPr sz="1600" b="0">
                <a:solidFill>
                  <a:srgbClr val="222222"/>
                </a:solidFill>
                <a:latin typeface="Calibri"/>
              </a:rPr>
              <a:t>Issue a full throttle 255 command</a:t>
            </a:r>
          </a:p>
          <a:p>
            <a:pPr lvl="1" algn="l">
              <a:lnSpc>
                <a:spcPct val="100000"/>
              </a:lnSpc>
              <a:spcAft>
                <a:spcPts val="800"/>
              </a:spcAft>
              <a:defRPr sz="1600" b="0">
                <a:solidFill>
                  <a:srgbClr val="222222"/>
                </a:solidFill>
                <a:latin typeface="Calibri"/>
              </a:defRPr>
            </a:pPr>
            <a:r>
              <a:rPr sz="1600" b="0">
                <a:solidFill>
                  <a:srgbClr val="222222"/>
                </a:solidFill>
                <a:latin typeface="Calibri"/>
              </a:rPr>
              <a:t>Measure current at no load, then at stall</a:t>
            </a:r>
          </a:p>
          <a:p>
            <a:pPr lvl="1" algn="l">
              <a:lnSpc>
                <a:spcPct val="100000"/>
              </a:lnSpc>
              <a:spcAft>
                <a:spcPts val="800"/>
              </a:spcAft>
              <a:defRPr sz="1600" b="0">
                <a:solidFill>
                  <a:srgbClr val="222222"/>
                </a:solidFill>
                <a:latin typeface="Calibri"/>
              </a:defRPr>
            </a:pPr>
            <a:r>
              <a:rPr sz="1600" b="0">
                <a:solidFill>
                  <a:srgbClr val="222222"/>
                </a:solidFill>
                <a:latin typeface="Calibri"/>
              </a:rPr>
              <a:t>Repeat for motors 2, 3 and 4, then reconnect</a:t>
            </a:r>
          </a:p>
          <a:p>
            <a:pPr lvl="1" algn="l">
              <a:lnSpc>
                <a:spcPct val="100000"/>
              </a:lnSpc>
              <a:spcAft>
                <a:spcPts val="800"/>
              </a:spcAft>
              <a:defRPr sz="1600" b="0">
                <a:solidFill>
                  <a:srgbClr val="222222"/>
                </a:solidFill>
                <a:latin typeface="Calibri"/>
              </a:defRPr>
            </a:pPr>
            <a:r>
              <a:rPr sz="1600" b="0">
                <a:solidFill>
                  <a:srgbClr val="222222"/>
                </a:solidFill>
                <a:latin typeface="Calibri"/>
              </a:rPr>
              <a:t>Calibrate and test the I2C devices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Accurate, and it needs a meter, a bench and a person.</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self-test in the program</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Jumper GPIO 34 high at boot and the vehicle does the same thing to itself:</a:t>
            </a:r>
          </a:p>
          <a:p>
            <a:pPr lvl="1" algn="l">
              <a:lnSpc>
                <a:spcPct val="100000"/>
              </a:lnSpc>
              <a:spcAft>
                <a:spcPts val="800"/>
              </a:spcAft>
              <a:defRPr sz="1500" b="0">
                <a:solidFill>
                  <a:srgbClr val="222222"/>
                </a:solidFill>
                <a:latin typeface="Calibri"/>
              </a:defRPr>
            </a:pPr>
            <a:r>
              <a:rPr sz="1500" b="0">
                <a:solidFill>
                  <a:srgbClr val="222222"/>
                </a:solidFill>
                <a:latin typeface="Calibri"/>
              </a:rPr>
              <a:t>Measure the resting current with the motors off</a:t>
            </a:r>
          </a:p>
          <a:p>
            <a:pPr lvl="1" algn="l">
              <a:lnSpc>
                <a:spcPct val="100000"/>
              </a:lnSpc>
              <a:spcAft>
                <a:spcPts val="800"/>
              </a:spcAft>
              <a:defRPr sz="1500" b="0">
                <a:solidFill>
                  <a:srgbClr val="222222"/>
                </a:solidFill>
                <a:latin typeface="Calibri"/>
              </a:defRPr>
            </a:pPr>
            <a:r>
              <a:rPr sz="1500" b="0">
                <a:solidFill>
                  <a:srgbClr val="222222"/>
                </a:solidFill>
                <a:latin typeface="Calibri"/>
              </a:rPr>
              <a:t>Drive each motor full throttle, both ways</a:t>
            </a:r>
          </a:p>
          <a:p>
            <a:pPr lvl="1" algn="l">
              <a:lnSpc>
                <a:spcPct val="100000"/>
              </a:lnSpc>
              <a:spcAft>
                <a:spcPts val="800"/>
              </a:spcAft>
              <a:defRPr sz="1500" b="0">
                <a:solidFill>
                  <a:srgbClr val="222222"/>
                </a:solidFill>
                <a:latin typeface="Calibri"/>
              </a:defRPr>
            </a:pPr>
            <a:r>
              <a:rPr sz="1500" b="0">
                <a:solidFill>
                  <a:srgbClr val="222222"/>
                </a:solidFill>
                <a:latin typeface="Calibri"/>
              </a:rPr>
              <a:t>Watch the peak and the average against that baseline</a:t>
            </a:r>
          </a:p>
          <a:p>
            <a:pPr lvl="1" algn="l">
              <a:lnSpc>
                <a:spcPct val="100000"/>
              </a:lnSpc>
              <a:spcAft>
                <a:spcPts val="800"/>
              </a:spcAft>
              <a:defRPr sz="1500" b="0">
                <a:solidFill>
                  <a:srgbClr val="222222"/>
                </a:solidFill>
                <a:latin typeface="Calibri"/>
              </a:defRPr>
            </a:pPr>
            <a:r>
              <a:rPr sz="1500" b="0">
                <a:solidFill>
                  <a:srgbClr val="222222"/>
                </a:solidFill>
                <a:latin typeface="Calibri"/>
              </a:rPr>
              <a:t>Blink green for pass, red for fail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Less accurate than a meter. But it runs in ten seconds, in a classroom, with no equipment and nobody who knows how to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 rest of the course is yours. Pick one and apply the seven rules from the previous slide.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TELEMETRY. Stream voltage, current and speed over ESP-NOW to a second ESP32 with its own LED bar.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How do you test whether an I2C device exists at an address?</a:t>
            </a:r>
          </a:p>
          <a:p>
            <a:pPr algn="l">
              <a:lnSpc>
                <a:spcPct val="100000"/>
              </a:lnSpc>
              <a:spcAft>
                <a:spcPts val="1400"/>
              </a:spcAft>
              <a:defRPr sz="1700" b="0">
                <a:solidFill>
                  <a:srgbClr val="222222"/>
                </a:solidFill>
                <a:latin typeface="Calibri"/>
              </a:defRPr>
            </a:pPr>
            <a:r>
              <a:rPr sz="1700" b="0">
                <a:solidFill>
                  <a:srgbClr val="222222"/>
                </a:solidFill>
                <a:latin typeface="Calibri"/>
              </a:rPr>
              <a:t>2.  A scan finds nothing on any address. What is the classic cause?</a:t>
            </a:r>
          </a:p>
          <a:p>
            <a:pPr algn="l">
              <a:lnSpc>
                <a:spcPct val="100000"/>
              </a:lnSpc>
              <a:spcAft>
                <a:spcPts val="1400"/>
              </a:spcAft>
              <a:defRPr sz="1700" b="0">
                <a:solidFill>
                  <a:srgbClr val="222222"/>
                </a:solidFill>
                <a:latin typeface="Calibri"/>
              </a:defRPr>
            </a:pPr>
            <a:r>
              <a:rPr sz="1700" b="0">
                <a:solidFill>
                  <a:srgbClr val="222222"/>
                </a:solidFill>
                <a:latin typeface="Calibri"/>
              </a:rPr>
              <a:t>3.  Why is the shunt resistor 0.0025 ohms and not 0.1?</a:t>
            </a:r>
          </a:p>
          <a:p>
            <a:pPr algn="l">
              <a:lnSpc>
                <a:spcPct val="100000"/>
              </a:lnSpc>
              <a:spcAft>
                <a:spcPts val="1400"/>
              </a:spcAft>
              <a:defRPr sz="1700" b="0">
                <a:solidFill>
                  <a:srgbClr val="222222"/>
                </a:solidFill>
                <a:latin typeface="Calibri"/>
              </a:defRPr>
            </a:pPr>
            <a:r>
              <a:rPr sz="1700" b="0">
                <a:solidFill>
                  <a:srgbClr val="222222"/>
                </a:solidFill>
                <a:latin typeface="Calibri"/>
              </a:rPr>
              <a:t>4.  Why must the shunt register be read as SIGNED?</a:t>
            </a:r>
          </a:p>
          <a:p>
            <a:pPr algn="l">
              <a:lnSpc>
                <a:spcPct val="100000"/>
              </a:lnSpc>
              <a:spcAft>
                <a:spcPts val="1400"/>
              </a:spcAft>
              <a:defRPr sz="1700" b="0">
                <a:solidFill>
                  <a:srgbClr val="222222"/>
                </a:solidFill>
                <a:latin typeface="Calibri"/>
              </a:defRPr>
            </a:pPr>
            <a:r>
              <a:rPr sz="1700" b="0">
                <a:solidFill>
                  <a:srgbClr val="222222"/>
                </a:solidFill>
                <a:latin typeface="Calibri"/>
              </a:rPr>
              <a:t>5.  What is a repeated start, and why not just stop and start again?</a:t>
            </a:r>
          </a:p>
          <a:p>
            <a:pPr algn="l">
              <a:lnSpc>
                <a:spcPct val="100000"/>
              </a:lnSpc>
              <a:spcAft>
                <a:spcPts val="1400"/>
              </a:spcAft>
              <a:defRPr sz="1700" b="0">
                <a:solidFill>
                  <a:srgbClr val="222222"/>
                </a:solidFill>
                <a:latin typeface="Calibri"/>
              </a:defRPr>
            </a:pPr>
            <a:r>
              <a:rPr sz="1700" b="0">
                <a:solidFill>
                  <a:srgbClr val="222222"/>
                </a:solidFill>
                <a:latin typeface="Calibri"/>
              </a:rPr>
              <a:t>6.  Describe the current signature of a healthy motor, a disconnected one, and a jammed one.</a:t>
            </a:r>
          </a:p>
          <a:p>
            <a:pPr algn="l">
              <a:lnSpc>
                <a:spcPct val="100000"/>
              </a:lnSpc>
              <a:spcAft>
                <a:spcPts val="1400"/>
              </a:spcAft>
              <a:defRPr sz="1700" b="0">
                <a:solidFill>
                  <a:srgbClr val="222222"/>
                </a:solidFill>
                <a:latin typeface="Calibri"/>
              </a:defRPr>
            </a:pPr>
            <a:r>
              <a:rPr sz="1700" b="0">
                <a:solidFill>
                  <a:srgbClr val="222222"/>
                </a:solidFill>
                <a:latin typeface="Calibri"/>
              </a:rPr>
              <a:t>7.  Why are the self-test thresholds measured above the baseline rather than as absolute amps?</a:t>
            </a:r>
          </a:p>
          <a:p>
            <a:pPr algn="l">
              <a:lnSpc>
                <a:spcPct val="100000"/>
              </a:lnSpc>
              <a:spcAft>
                <a:spcPts val="1400"/>
              </a:spcAft>
              <a:defRPr sz="1700" b="0">
                <a:solidFill>
                  <a:srgbClr val="222222"/>
                </a:solidFill>
                <a:latin typeface="Calibri"/>
              </a:defRPr>
            </a:pPr>
            <a:r>
              <a:rPr sz="1700" b="0">
                <a:solidFill>
                  <a:srgbClr val="222222"/>
                </a:solidFill>
                <a:latin typeface="Calibri"/>
              </a:rPr>
              <a:t>8.  Why is the self-test a state machine rather than a blocking routine?</a:t>
            </a:r>
          </a:p>
          <a:p>
            <a:pPr algn="l">
              <a:lnSpc>
                <a:spcPct val="100000"/>
              </a:lnSpc>
              <a:spcAft>
                <a:spcPts val="1400"/>
              </a:spcAft>
              <a:defRPr sz="1700" b="0">
                <a:solidFill>
                  <a:srgbClr val="222222"/>
                </a:solidFill>
                <a:latin typeface="Calibri"/>
              </a:defRPr>
            </a:pPr>
            <a:r>
              <a:rPr sz="17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