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I2C addressing, acknowledgement, pull-ups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Upload a5a_i2c_scan. Find the sensor, then lose it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Measuring current without interrupting it</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Driving a chip from its datasheet, with no library</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a5b_ina219_current. Measure a motor</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Current signatures, and the self-test state machine</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wires, SDA and SCL, shared by every device on the bus.</a:t>
            </a:r>
          </a:p>
          <a:p>
            <a:pPr algn="l">
              <a:lnSpc>
                <a:spcPct val="100000"/>
              </a:lnSpc>
              <a:spcAft>
                <a:spcPts val="900"/>
              </a:spcAft>
              <a:defRPr sz="1800" b="0">
                <a:solidFill>
                  <a:srgbClr val="222222"/>
                </a:solidFill>
                <a:latin typeface="Calibri"/>
              </a:defRPr>
            </a:pPr>
            <a:r>
              <a:rPr sz="1800" b="0">
                <a:solidFill>
                  <a:srgbClr val="222222"/>
                </a:solidFill>
                <a:latin typeface="Calibri"/>
              </a:rPr>
              <a:t>Each device answers to a 7-bit address. 0x00-0x07 and 0x78-0x7F are reserved, leaving 0x08 to 0x77 to scan.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900"/>
              </a:spcAft>
              <a:defRPr sz="1800" b="0">
                <a:solidFill>
                  <a:srgbClr val="222222"/>
                </a:solidFill>
                <a:latin typeface="Calibri"/>
              </a:defRPr>
            </a:pPr>
            <a:r>
              <a:rPr sz="1800" b="0">
                <a:solidFill>
                  <a:srgbClr val="222222"/>
                </a:solidFill>
                <a:latin typeface="Calibri"/>
              </a:rPr>
              <a:t>0  acknowledged - something is there</a:t>
            </a:r>
          </a:p>
          <a:p>
            <a:pPr lvl="1" algn="l">
              <a:lnSpc>
                <a:spcPct val="100000"/>
              </a:lnSpc>
              <a:spcAft>
                <a:spcPts val="900"/>
              </a:spcAft>
              <a:defRPr sz="1800" b="0">
                <a:solidFill>
                  <a:srgbClr val="222222"/>
                </a:solidFill>
                <a:latin typeface="Calibri"/>
              </a:defRPr>
            </a:pPr>
            <a:r>
              <a:rPr sz="1800" b="0">
                <a:solidFill>
                  <a:srgbClr val="222222"/>
                </a:solidFill>
                <a:latin typeface="Calibri"/>
              </a:rPr>
              <a:t>2  no acknowledge for the address - nothing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to a Gen 3 vehicle. You should find 0x40.</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to a Gen 2 vehicle. You should find nothing, and that is the CORRECT answer.</a:t>
            </a:r>
          </a:p>
          <a:p>
            <a:pPr algn="l">
              <a:lnSpc>
                <a:spcPct val="100000"/>
              </a:lnSpc>
              <a:spcAft>
                <a:spcPts val="400"/>
              </a:spcAft>
              <a:defRPr sz="1800" b="0">
                <a:solidFill>
                  <a:srgbClr val="222222"/>
                </a:solidFill>
                <a:latin typeface="Calibri"/>
              </a:defRPr>
            </a:pPr>
            <a:r>
              <a:rPr sz="1800" b="0">
                <a:solidFill>
                  <a:srgbClr val="222222"/>
                </a:solidFill>
                <a:latin typeface="Calibri"/>
              </a:rPr>
              <a:t>3.  Type  watch, then unplug the sensor. How quickly does it notice?</a:t>
            </a:r>
          </a:p>
          <a:p>
            <a:pPr algn="l">
              <a:lnSpc>
                <a:spcPct val="100000"/>
              </a:lnSpc>
              <a:spcAft>
                <a:spcPts val="400"/>
              </a:spcAft>
              <a:defRPr sz="1800" b="0">
                <a:solidFill>
                  <a:srgbClr val="222222"/>
                </a:solidFill>
                <a:latin typeface="Calibri"/>
              </a:defRPr>
            </a:pPr>
            <a:r>
              <a:rPr sz="1800" b="0">
                <a:solidFill>
                  <a:srgbClr val="222222"/>
                </a:solidFill>
                <a:latin typeface="Calibri"/>
              </a:rPr>
              <a:t>4.  Try  pins 21 22, the ESP32 defaults. Does the sensor still answer? Why not?</a:t>
            </a:r>
          </a:p>
          <a:p>
            <a:pPr algn="l">
              <a:lnSpc>
                <a:spcPct val="100000"/>
              </a:lnSpc>
              <a:spcAft>
                <a:spcPts val="400"/>
              </a:spcAft>
              <a:defRPr sz="1800" b="0">
                <a:solidFill>
                  <a:srgbClr val="222222"/>
                </a:solidFill>
                <a:latin typeface="Calibri"/>
              </a:defRPr>
            </a:pPr>
            <a:r>
              <a:rPr sz="1800" b="0">
                <a:solidFill>
                  <a:srgbClr val="222222"/>
                </a:solidFill>
                <a:latin typeface="Calibri"/>
              </a:rPr>
              <a:t>5.  Try  pins 34 35. Read what the sketch tells you.</a:t>
            </a:r>
          </a:p>
          <a:p>
            <a:pPr algn="l">
              <a:lnSpc>
                <a:spcPct val="100000"/>
              </a:lnSpc>
              <a:spcAft>
                <a:spcPts val="400"/>
              </a:spcAft>
              <a:defRPr sz="1800" b="0">
                <a:solidFill>
                  <a:srgbClr val="222222"/>
                </a:solidFill>
                <a:latin typeface="Calibri"/>
              </a:defRPr>
            </a:pPr>
            <a:r>
              <a:rPr sz="18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Gen 3: one device at 0x40, named. Gen 2: nothing, with an explanation of why that is fine.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900"/>
              </a:spcAft>
              <a:defRPr sz="1800" b="0">
                <a:solidFill>
                  <a:srgbClr val="222222"/>
                </a:solidFill>
                <a:latin typeface="Calibri"/>
              </a:defRPr>
            </a:pPr>
            <a:r>
              <a:rPr sz="1800" b="0">
                <a:solidFill>
                  <a:srgbClr val="222222"/>
                </a:solidFill>
                <a:latin typeface="Calibri"/>
              </a:rPr>
              <a:t>I = V / 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9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9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900"/>
              </a:spcAft>
              <a:defRPr sz="1800" b="0">
                <a:solidFill>
                  <a:srgbClr val="222222"/>
                </a:solidFill>
                <a:latin typeface="Calibri"/>
              </a:defRPr>
            </a:pPr>
            <a:r>
              <a:rPr sz="1800" b="0">
                <a:solidFill>
                  <a:srgbClr val="222222"/>
                </a:solidFill>
                <a:latin typeface="Calibri"/>
              </a:rPr>
              <a:t>P = I^2 x R = 4 x 0.1    = 0.4 W   at 0.1 ohm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Measuring current without getting in the way of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maths comes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uint16_t ina219_read16(uint8_t reg) {</a:t>
            </a:r>
          </a:p>
          <a:p>
            <a:pPr algn="l">
              <a:lnSpc>
                <a:spcPct val="100000"/>
              </a:lnSpc>
              <a:spcAft>
                <a:spcPts val="0"/>
              </a:spcAft>
              <a:defRPr sz="1200">
                <a:latin typeface="Consolas"/>
              </a:defRPr>
            </a:pPr>
            <a:r>
              <a:rPr sz="1200">
                <a:solidFill>
                  <a:srgbClr val="222222"/>
                </a:solidFill>
                <a:latin typeface="Consolas"/>
              </a:rPr>
              <a:t>  Wire.beginTransmission(INA219_I2C_ADDR);</a:t>
            </a:r>
          </a:p>
          <a:p>
            <a:pPr algn="l">
              <a:lnSpc>
                <a:spcPct val="100000"/>
              </a:lnSpc>
              <a:spcAft>
                <a:spcPts val="0"/>
              </a:spcAft>
              <a:defRPr sz="1200">
                <a:latin typeface="Consolas"/>
              </a:defRPr>
            </a:pPr>
            <a:r>
              <a:rPr sz="1200">
                <a:solidFill>
                  <a:srgbClr val="222222"/>
                </a:solidFill>
                <a:latin typeface="Consolas"/>
              </a:rPr>
              <a:t>  Wire.write(reg);</a:t>
            </a:r>
          </a:p>
          <a:p>
            <a:pPr algn="l">
              <a:lnSpc>
                <a:spcPct val="100000"/>
              </a:lnSpc>
              <a:spcAft>
                <a:spcPts val="0"/>
              </a:spcAft>
              <a:defRPr sz="1200">
                <a:latin typeface="Consolas"/>
              </a:defRPr>
            </a:pPr>
            <a:r>
              <a:rPr sz="1200" b="1">
                <a:solidFill>
                  <a:srgbClr val="0E7C86"/>
                </a:solidFill>
                <a:latin typeface="Consolas"/>
              </a:rPr>
              <a:t>  Wire.endTransmission(false);   // REPEATED START, keep the bus</a:t>
            </a:r>
          </a:p>
          <a:p>
            <a:pPr algn="l">
              <a:lnSpc>
                <a:spcPct val="100000"/>
              </a:lnSpc>
              <a:spcAft>
                <a:spcPts val="0"/>
              </a:spcAft>
              <a:defRPr sz="1200">
                <a:latin typeface="Consolas"/>
              </a:defRPr>
            </a:pPr>
            <a:r>
              <a:rPr sz="1200">
                <a:solidFill>
                  <a:srgbClr val="222222"/>
                </a:solidFill>
                <a:latin typeface="Consolas"/>
              </a:rPr>
              <a:t>  Wire.requestFrom((uint8_t)INA219_I2C_ADDR, (uint8_t)2);</a:t>
            </a:r>
          </a:p>
          <a:p>
            <a:pPr algn="l">
              <a:lnSpc>
                <a:spcPct val="100000"/>
              </a:lnSpc>
              <a:spcAft>
                <a:spcPts val="0"/>
              </a:spcAft>
              <a:defRPr sz="1200">
                <a:latin typeface="Consolas"/>
              </a:defRPr>
            </a:pPr>
            <a:r>
              <a:rPr sz="1200">
                <a:solidFill>
                  <a:srgbClr val="222222"/>
                </a:solidFill>
                <a:latin typeface="Consolas"/>
              </a:rPr>
              <a:t>  return Wire.available() &gt;= 2 ? (Wire.read() &lt;&lt; 8) | Wire.read() : 0;</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readCurrentAmps() {</a:t>
            </a:r>
          </a:p>
          <a:p>
            <a:pPr algn="l">
              <a:lnSpc>
                <a:spcPct val="100000"/>
              </a:lnSpc>
              <a:spcAft>
                <a:spcPts val="0"/>
              </a:spcAft>
              <a:defRPr sz="1200">
                <a:latin typeface="Consolas"/>
              </a:defRPr>
            </a:pPr>
            <a:r>
              <a:rPr sz="1200" b="1">
                <a:solidFill>
                  <a:srgbClr val="0E7C86"/>
                </a:solidFill>
                <a:latin typeface="Consolas"/>
              </a:rPr>
              <a:t>  int16_t raw = (int16_t)ina219_read16(0x01);   // shunt reg, SIGNED</a:t>
            </a:r>
          </a:p>
          <a:p>
            <a:pPr algn="l">
              <a:lnSpc>
                <a:spcPct val="100000"/>
              </a:lnSpc>
              <a:spcAft>
                <a:spcPts val="0"/>
              </a:spcAft>
              <a:defRPr sz="1200">
                <a:latin typeface="Consolas"/>
              </a:defRPr>
            </a:pPr>
            <a:r>
              <a:rPr sz="1200">
                <a:solidFill>
                  <a:srgbClr val="222222"/>
                </a:solidFill>
                <a:latin typeface="Consolas"/>
              </a:rPr>
              <a:t>  return (raw * 0.01f) / (SHUNT_RESISTOR_OHMS * 1000.0f);</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readBusVolts() {</a:t>
            </a:r>
          </a:p>
          <a:p>
            <a:pPr algn="l">
              <a:lnSpc>
                <a:spcPct val="100000"/>
              </a:lnSpc>
              <a:spcAft>
                <a:spcPts val="0"/>
              </a:spcAft>
              <a:defRPr sz="1200">
                <a:latin typeface="Consolas"/>
              </a:defRPr>
            </a:pPr>
            <a:r>
              <a:rPr sz="1200">
                <a:solidFill>
                  <a:srgbClr val="222222"/>
                </a:solidFill>
                <a:latin typeface="Consolas"/>
              </a:rPr>
              <a:t>  uint16_t value = ina219_read16(0x02);</a:t>
            </a:r>
          </a:p>
          <a:p>
            <a:pPr algn="l">
              <a:lnSpc>
                <a:spcPct val="100000"/>
              </a:lnSpc>
              <a:spcAft>
                <a:spcPts val="0"/>
              </a:spcAft>
              <a:defRPr sz="1200">
                <a:latin typeface="Consolas"/>
              </a:defRPr>
            </a:pPr>
            <a:r>
              <a:rPr sz="1200">
                <a:solidFill>
                  <a:srgbClr val="222222"/>
                </a:solidFill>
                <a:latin typeface="Consolas"/>
              </a:rPr>
              <a:t>  return (float)((value &gt;&gt; 3) * 4) * 0.001f;   // top 13 bits, 4 mV/count</a:t>
            </a:r>
          </a:p>
          <a:p>
            <a:pPr algn="l">
              <a:lnSpc>
                <a:spcPct val="100000"/>
              </a:lnSpc>
              <a:spcAft>
                <a:spcPts val="0"/>
              </a:spcAft>
              <a:defRPr sz="1200">
                <a:latin typeface="Consolas"/>
              </a:defRPr>
            </a:pPr>
            <a:r>
              <a:rPr sz="12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endTransmission(FALSE) is a repeated start. A full stop would let another master grab the bus mid-read.</a:t>
            </a:r>
          </a:p>
          <a:p>
            <a:pPr algn="l">
              <a:lnSpc>
                <a:spcPct val="100000"/>
              </a:lnSpc>
              <a:spcAft>
                <a:spcPts val="600"/>
              </a:spcAft>
              <a:defRPr sz="1800" b="0">
                <a:solidFill>
                  <a:srgbClr val="222222"/>
                </a:solidFill>
                <a:latin typeface="Calibri"/>
              </a:defRPr>
            </a:pPr>
            <a:r>
              <a:rPr sz="1800" b="0">
                <a:solidFill>
                  <a:srgbClr val="222222"/>
                </a:solidFill>
                <a:latin typeface="Calibri"/>
              </a:rPr>
              <a:t>The shunt register is SIGNED. Read it unsigned and every braking current becomes a huge positive number.</a:t>
            </a:r>
          </a:p>
          <a:p>
            <a:pPr algn="l">
              <a:lnSpc>
                <a:spcPct val="100000"/>
              </a:lnSpc>
              <a:spcAft>
                <a:spcPts val="600"/>
              </a:spcAft>
              <a:defRPr sz="1800" b="0">
                <a:solidFill>
                  <a:srgbClr val="222222"/>
                </a:solidFill>
                <a:latin typeface="Calibri"/>
              </a:defRPr>
            </a:pPr>
            <a:r>
              <a:rPr sz="1800" b="0">
                <a:solidFill>
                  <a:srgbClr val="222222"/>
                </a:solidFill>
                <a:latin typeface="Calibri"/>
              </a:rPr>
              <a:t>Bus voltage sits in the top 13 bits, so it is shifted down.</a:t>
            </a:r>
          </a:p>
          <a:p>
            <a:pPr algn="l">
              <a:lnSpc>
                <a:spcPct val="100000"/>
              </a:lnSpc>
              <a:spcAft>
                <a:spcPts val="600"/>
              </a:spcAft>
              <a:defRPr sz="1800" b="0">
                <a:solidFill>
                  <a:srgbClr val="222222"/>
                </a:solidFill>
                <a:latin typeface="Calibri"/>
              </a:defRPr>
            </a:pPr>
            <a:r>
              <a:rPr sz="1800" b="0">
                <a:solidFill>
                  <a:srgbClr val="222222"/>
                </a:solidFill>
                <a:latin typeface="Calibri"/>
              </a:rPr>
              <a:t>Forty lines of your own beats a library you cannot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200"/>
              </a:spcAft>
              <a:defRPr sz="1800" b="0">
                <a:solidFill>
                  <a:srgbClr val="222222"/>
                </a:solidFill>
                <a:latin typeface="Calibri"/>
              </a:defRPr>
            </a:pPr>
            <a:r>
              <a:rPr sz="1800" b="0">
                <a:solidFill>
                  <a:srgbClr val="222222"/>
                </a:solidFill>
                <a:latin typeface="Calibri"/>
              </a:rPr>
              <a:t>How long will your battery last at your measured average?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ectangle 5"/>
          <p:cNvSpPr/>
          <p:nvPr/>
        </p:nvSpPr>
        <p:spPr>
          <a:xfrm>
            <a:off x="1325880" y="1691640"/>
            <a:ext cx="3017520" cy="228600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32588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25880" y="380939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56954" y="1979676"/>
            <a:ext cx="431074" cy="182971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88028" y="1979676"/>
            <a:ext cx="431074" cy="6940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619102" y="2673706"/>
            <a:ext cx="431074" cy="3575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0176" y="3031236"/>
            <a:ext cx="431074" cy="105156"/>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481250" y="3136392"/>
            <a:ext cx="431074" cy="4206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912324" y="317845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25880" y="134416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325880" y="406908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4846320" y="1691640"/>
            <a:ext cx="3017520" cy="228600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484632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846320"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77394" y="3809391"/>
            <a:ext cx="431074" cy="4206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08468" y="3809391"/>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39542"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70616"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01690"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32764"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846320" y="134416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4846320" y="406908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366760" y="1691640"/>
            <a:ext cx="3017520" cy="228600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36676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66760" y="380939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797834" y="1916583"/>
            <a:ext cx="431074" cy="1892808"/>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28908" y="1916583"/>
            <a:ext cx="431074" cy="6309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659982"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091056" y="1958645"/>
            <a:ext cx="431074" cy="4206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522130" y="1958645"/>
            <a:ext cx="431074" cy="21031"/>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953204"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66760" y="134416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366760" y="406908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48640" y="3566159"/>
            <a:ext cx="73152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5074920"/>
            <a:ext cx="11185855"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Jumper GPIO 34 high at boot. Each motor is driven forward then reverse while the current sensor watches.</a:t>
            </a:r>
          </a:p>
          <a:p>
            <a:pPr algn="l">
              <a:lnSpc>
                <a:spcPct val="100000"/>
              </a:lnSpc>
              <a:spcAft>
                <a:spcPts val="900"/>
              </a:spcAft>
              <a:defRPr sz="1800" b="0">
                <a:solidFill>
                  <a:srgbClr val="222222"/>
                </a:solidFill>
                <a:latin typeface="Calibri"/>
              </a:defRPr>
            </a:pPr>
          </a:p>
          <a:p>
            <a:pPr lvl="1" algn="l">
              <a:lnSpc>
                <a:spcPct val="100000"/>
              </a:lnSpc>
              <a:spcAft>
                <a:spcPts val="900"/>
              </a:spcAft>
              <a:defRPr sz="1800" b="0">
                <a:solidFill>
                  <a:srgbClr val="222222"/>
                </a:solidFill>
                <a:latin typeface="Calibri"/>
              </a:defRPr>
            </a:pPr>
            <a:r>
              <a:rPr sz="1800" b="0">
                <a:solidFill>
                  <a:srgbClr val="222222"/>
                </a:solidFill>
                <a:latin typeface="Calibri"/>
              </a:rPr>
              <a:t>CHECK_TRIGGER   wait for the pin to settle, then decide</a:t>
            </a:r>
          </a:p>
          <a:p>
            <a:pPr lvl="1" algn="l">
              <a:lnSpc>
                <a:spcPct val="100000"/>
              </a:lnSpc>
              <a:spcAft>
                <a:spcPts val="900"/>
              </a:spcAft>
              <a:defRPr sz="1800" b="0">
                <a:solidFill>
                  <a:srgbClr val="222222"/>
                </a:solidFill>
                <a:latin typeface="Calibri"/>
              </a:defRPr>
            </a:pPr>
            <a:r>
              <a:rPr sz="1800" b="0">
                <a:solidFill>
                  <a:srgbClr val="222222"/>
                </a:solidFill>
                <a:latin typeface="Calibri"/>
              </a:rPr>
              <a:t>BASELINE_CURRENT  measure the resting draw, motors off</a:t>
            </a:r>
          </a:p>
          <a:p>
            <a:pPr lvl="1" algn="l">
              <a:lnSpc>
                <a:spcPct val="100000"/>
              </a:lnSpc>
              <a:spcAft>
                <a:spcPts val="900"/>
              </a:spcAft>
              <a:defRPr sz="1800" b="0">
                <a:solidFill>
                  <a:srgbClr val="222222"/>
                </a:solidFill>
                <a:latin typeface="Calibri"/>
              </a:defRPr>
            </a:pPr>
            <a:r>
              <a:rPr sz="1800" b="0">
                <a:solidFill>
                  <a:srgbClr val="222222"/>
                </a:solidFill>
                <a:latin typeface="Calibri"/>
              </a:rPr>
              <a:t>RUNNING_TESTS     eight steps: four motors, two directions</a:t>
            </a:r>
          </a:p>
          <a:p>
            <a:pPr lvl="1" algn="l">
              <a:lnSpc>
                <a:spcPct val="100000"/>
              </a:lnSpc>
              <a:spcAft>
                <a:spcPts val="900"/>
              </a:spcAft>
              <a:defRPr sz="1800" b="0">
                <a:solidFill>
                  <a:srgbClr val="222222"/>
                </a:solidFill>
                <a:latin typeface="Calibri"/>
              </a:defRPr>
            </a:pPr>
            <a:r>
              <a:rPr sz="1800" b="0">
                <a:solidFill>
                  <a:srgbClr val="222222"/>
                </a:solidFill>
                <a:latin typeface="Calibri"/>
              </a:rPr>
              <a:t>TEST_RESULT       green blinks for pass, red for fail</a:t>
            </a:r>
          </a:p>
          <a:p>
            <a:pPr lvl="1" algn="l">
              <a:lnSpc>
                <a:spcPct val="100000"/>
              </a:lnSpc>
              <a:spcAft>
                <a:spcPts val="900"/>
              </a:spcAft>
              <a:defRPr sz="1800" b="0">
                <a:solidFill>
                  <a:srgbClr val="222222"/>
                </a:solidFill>
                <a:latin typeface="Calibri"/>
              </a:defRPr>
            </a:pPr>
            <a:r>
              <a:rPr sz="1800" b="0">
                <a:solidFill>
                  <a:srgbClr val="222222"/>
                </a:solidFill>
                <a:latin typeface="Calibri"/>
              </a:rPr>
              <a:t>TEST_DISABLED     hand over to normal driving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maths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4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4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4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4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400"/>
              </a:spcAft>
              <a:defRPr sz="1800" b="0">
                <a:solidFill>
                  <a:srgbClr val="222222"/>
                </a:solidFill>
                <a:latin typeface="Calibri"/>
              </a:defRPr>
            </a:pPr>
            <a:r>
              <a:rPr sz="1800" b="0">
                <a:solidFill>
                  <a:srgbClr val="222222"/>
                </a:solidFill>
                <a:latin typeface="Calibri"/>
              </a:rPr>
              <a:t>3.3 / 2.0 = 1.65 hours, about 99 minutes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At 6.0 A of hard driving: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Diagnostics, and the battery maths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diag  gives you (cont.)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 (cont.)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3.3 / 6.0 = 0.55 hours, about 33 minutes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Diagnostics, and the battery maths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Work it out for your vehicle (cont.)</a:t>
            </a:r>
          </a:p>
        </p:txBody>
      </p:sp>
      <p:sp>
        <p:nvSpPr>
          <p:cNvPr id="7" name="TextBox 6"/>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Every tunable number goes in Config.h. Pins, thresholds, timings. Nothing hard-coded in the logic.</a:t>
            </a:r>
          </a:p>
          <a:p>
            <a:pPr algn="l">
              <a:lnSpc>
                <a:spcPct val="100000"/>
              </a:lnSpc>
              <a:spcAft>
                <a:spcPts val="900"/>
              </a:spcAft>
              <a:defRPr sz="1800" b="0">
                <a:solidFill>
                  <a:srgbClr val="222222"/>
                </a:solidFill>
                <a:latin typeface="Calibri"/>
              </a:defRPr>
            </a:pPr>
            <a:r>
              <a:rPr sz="1800" b="0">
                <a:solidFill>
                  <a:srgbClr val="222222"/>
                </a:solidFill>
                <a:latin typeface="Calibri"/>
              </a:rPr>
              <a:t>2.  One new tab, RangeFinder.ino, owning all of it.</a:t>
            </a:r>
          </a:p>
          <a:p>
            <a:pPr algn="l">
              <a:lnSpc>
                <a:spcPct val="100000"/>
              </a:lnSpc>
              <a:spcAft>
                <a:spcPts val="900"/>
              </a:spcAft>
              <a:defRPr sz="1800" b="0">
                <a:solidFill>
                  <a:srgbClr val="222222"/>
                </a:solidFill>
                <a:latin typeface="Calibri"/>
              </a:defRPr>
            </a:pPr>
            <a:r>
              <a:rPr sz="1800" b="0">
                <a:solidFill>
                  <a:srgbClr val="222222"/>
                </a:solidFill>
                <a:latin typeface="Calibri"/>
              </a:rPr>
              <a:t>3.  A setup_rangefinder() called from setup(), after the motors.</a:t>
            </a:r>
          </a:p>
          <a:p>
            <a:pPr algn="l">
              <a:lnSpc>
                <a:spcPct val="100000"/>
              </a:lnSpc>
              <a:spcAft>
                <a:spcPts val="900"/>
              </a:spcAft>
              <a:defRPr sz="1800" b="0">
                <a:solidFill>
                  <a:srgbClr val="222222"/>
                </a:solidFill>
                <a:latin typeface="Calibri"/>
              </a:defRPr>
            </a:pPr>
            <a:r>
              <a:rPr sz="1800" b="0">
                <a:solidFill>
                  <a:srgbClr val="222222"/>
                </a:solidFill>
                <a:latin typeface="Calibri"/>
              </a:rPr>
              <a:t>4.  An update_rangefinder(now) called every pass, that returns immediately if it is not time. No delay(), ever.</a:t>
            </a:r>
          </a:p>
          <a:p>
            <a:pPr algn="l">
              <a:lnSpc>
                <a:spcPct val="100000"/>
              </a:lnSpc>
              <a:spcAft>
                <a:spcPts val="900"/>
              </a:spcAft>
              <a:defRPr sz="1800" b="0">
                <a:solidFill>
                  <a:srgbClr val="222222"/>
                </a:solidFill>
                <a:latin typeface="Calibri"/>
              </a:defRPr>
            </a:pPr>
            <a:r>
              <a:rPr sz="1800" b="0">
                <a:solidFill>
                  <a:srgbClr val="222222"/>
                </a:solidFill>
                <a:latin typeface="Calibri"/>
              </a:rPr>
              <a:t>5.  A capability flag, so a vehicle without the sensor still runs this binary.</a:t>
            </a:r>
          </a:p>
          <a:p>
            <a:pPr algn="l">
              <a:lnSpc>
                <a:spcPct val="100000"/>
              </a:lnSpc>
              <a:spcAft>
                <a:spcPts val="900"/>
              </a:spcAft>
              <a:defRPr sz="1800" b="0">
                <a:solidFill>
                  <a:srgbClr val="222222"/>
                </a:solidFill>
                <a:latin typeface="Calibri"/>
              </a:defRPr>
            </a:pPr>
            <a:r>
              <a:rPr sz="1800" b="0">
                <a:solidFill>
                  <a:srgbClr val="222222"/>
                </a:solidFill>
                <a:latin typeface="Calibri"/>
              </a:rPr>
              <a:t>6.  A console command, so it can be tested and tuned without recompiling.</a:t>
            </a:r>
          </a:p>
          <a:p>
            <a:pPr algn="l">
              <a:lnSpc>
                <a:spcPct val="100000"/>
              </a:lnSpc>
              <a:spcAft>
                <a:spcPts val="900"/>
              </a:spcAft>
              <a:defRPr sz="1800" b="0">
                <a:solidFill>
                  <a:srgbClr val="222222"/>
                </a:solidFill>
                <a:latin typeface="Calibri"/>
              </a:defRPr>
            </a:pPr>
            <a:r>
              <a:rPr sz="1800" b="0">
                <a:solidFill>
                  <a:srgbClr val="222222"/>
                </a:solidFill>
                <a:latin typeface="Calibri"/>
              </a:rPr>
              <a:t>7.  Keep its state in static file-scope variables. Expose functions, not variables.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On the vehicle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4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4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4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4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Beyond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Beyond it (cont.)</a:t>
            </a:r>
          </a:p>
        </p:txBody>
      </p:sp>
      <p:sp>
        <p:nvSpPr>
          <p:cNvPr id="7" name="TextBox 6"/>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4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4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4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factory bench test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self-test in the program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do you test whether an I2C device exists at an address?</a:t>
            </a:r>
          </a:p>
          <a:p>
            <a:pPr algn="l">
              <a:lnSpc>
                <a:spcPct val="100000"/>
              </a:lnSpc>
              <a:spcAft>
                <a:spcPts val="1000"/>
              </a:spcAft>
              <a:defRPr sz="1800" b="0">
                <a:solidFill>
                  <a:srgbClr val="222222"/>
                </a:solidFill>
                <a:latin typeface="Calibri"/>
              </a:defRPr>
            </a:pPr>
            <a:r>
              <a:rPr sz="1800" b="0">
                <a:solidFill>
                  <a:srgbClr val="222222"/>
                </a:solidFill>
                <a:latin typeface="Calibri"/>
              </a:rPr>
              <a:t>2.  A scan finds nothing on any address. What is the classic cause?</a:t>
            </a:r>
          </a:p>
          <a:p>
            <a:pPr algn="l">
              <a:lnSpc>
                <a:spcPct val="100000"/>
              </a:lnSpc>
              <a:spcAft>
                <a:spcPts val="1000"/>
              </a:spcAft>
              <a:defRPr sz="1800" b="0">
                <a:solidFill>
                  <a:srgbClr val="222222"/>
                </a:solidFill>
                <a:latin typeface="Calibri"/>
              </a:defRPr>
            </a:pPr>
            <a:r>
              <a:rPr sz="1800" b="0">
                <a:solidFill>
                  <a:srgbClr val="222222"/>
                </a:solidFill>
                <a:latin typeface="Calibri"/>
              </a:rPr>
              <a:t>3.  Why is the shunt resistor 0.0025 ohms and not 0.1?</a:t>
            </a:r>
          </a:p>
          <a:p>
            <a:pPr algn="l">
              <a:lnSpc>
                <a:spcPct val="100000"/>
              </a:lnSpc>
              <a:spcAft>
                <a:spcPts val="1000"/>
              </a:spcAft>
              <a:defRPr sz="1800" b="0">
                <a:solidFill>
                  <a:srgbClr val="222222"/>
                </a:solidFill>
                <a:latin typeface="Calibri"/>
              </a:defRPr>
            </a:pPr>
            <a:r>
              <a:rPr sz="1800" b="0">
                <a:solidFill>
                  <a:srgbClr val="222222"/>
                </a:solidFill>
                <a:latin typeface="Calibri"/>
              </a:rPr>
              <a:t>4.  Why must the shunt register be read as SIGNED?</a:t>
            </a:r>
          </a:p>
          <a:p>
            <a:pPr algn="l">
              <a:lnSpc>
                <a:spcPct val="100000"/>
              </a:lnSpc>
              <a:spcAft>
                <a:spcPts val="1000"/>
              </a:spcAft>
              <a:defRPr sz="1800" b="0">
                <a:solidFill>
                  <a:srgbClr val="222222"/>
                </a:solidFill>
                <a:latin typeface="Calibri"/>
              </a:defRPr>
            </a:pPr>
            <a:r>
              <a:rPr sz="1800" b="0">
                <a:solidFill>
                  <a:srgbClr val="222222"/>
                </a:solidFill>
                <a:latin typeface="Calibri"/>
              </a:rPr>
              <a:t>5.  What is a repeated start, and why not just stop and start again?</a:t>
            </a:r>
          </a:p>
          <a:p>
            <a:pPr algn="l">
              <a:lnSpc>
                <a:spcPct val="100000"/>
              </a:lnSpc>
              <a:spcAft>
                <a:spcPts val="1000"/>
              </a:spcAft>
              <a:defRPr sz="1800" b="0">
                <a:solidFill>
                  <a:srgbClr val="222222"/>
                </a:solidFill>
                <a:latin typeface="Calibri"/>
              </a:defRPr>
            </a:pPr>
            <a:r>
              <a:rPr sz="1800" b="0">
                <a:solidFill>
                  <a:srgbClr val="222222"/>
                </a:solidFill>
                <a:latin typeface="Calibri"/>
              </a:rPr>
              <a:t>6.  Describe the current signature of a healthy motor, a disconnected one, and a jammed one.</a:t>
            </a:r>
          </a:p>
          <a:p>
            <a:pPr algn="l">
              <a:lnSpc>
                <a:spcPct val="100000"/>
              </a:lnSpc>
              <a:spcAft>
                <a:spcPts val="1000"/>
              </a:spcAft>
              <a:defRPr sz="1800" b="0">
                <a:solidFill>
                  <a:srgbClr val="222222"/>
                </a:solidFill>
                <a:latin typeface="Calibri"/>
              </a:defRPr>
            </a:pPr>
            <a:r>
              <a:rPr sz="1800" b="0">
                <a:solidFill>
                  <a:srgbClr val="222222"/>
                </a:solidFill>
                <a:latin typeface="Calibri"/>
              </a:rPr>
              <a:t>7.  Why are the self-test thresholds measured above the baseline rather than as absolute amps?</a:t>
            </a:r>
          </a:p>
          <a:p>
            <a:pPr algn="l">
              <a:lnSpc>
                <a:spcPct val="100000"/>
              </a:lnSpc>
              <a:spcAft>
                <a:spcPts val="1000"/>
              </a:spcAft>
              <a:defRPr sz="1800" b="0">
                <a:solidFill>
                  <a:srgbClr val="222222"/>
                </a:solidFill>
                <a:latin typeface="Calibri"/>
              </a:defRPr>
            </a:pPr>
            <a:r>
              <a:rPr sz="1800" b="0">
                <a:solidFill>
                  <a:srgbClr val="222222"/>
                </a:solidFill>
                <a:latin typeface="Calibri"/>
              </a:rPr>
              <a:t>8.  Why is the self-test a state machine rather than a blocking routine?</a:t>
            </a:r>
          </a:p>
          <a:p>
            <a:pPr algn="l">
              <a:lnSpc>
                <a:spcPct val="100000"/>
              </a:lnSpc>
              <a:spcAft>
                <a:spcPts val="1000"/>
              </a:spcAft>
              <a:defRPr sz="1800" b="0">
                <a:solidFill>
                  <a:srgbClr val="222222"/>
                </a:solidFill>
                <a:latin typeface="Calibri"/>
              </a:defRPr>
            </a:pPr>
            <a:r>
              <a:rPr sz="18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